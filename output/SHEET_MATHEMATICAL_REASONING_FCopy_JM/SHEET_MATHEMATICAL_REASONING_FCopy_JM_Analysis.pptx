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  <p:sldId id="555" r:id="rId307"/>
    <p:sldId id="556" r:id="rId308"/>
    <p:sldId id="557" r:id="rId309"/>
    <p:sldId id="558" r:id="rId310"/>
    <p:sldId id="559" r:id="rId311"/>
    <p:sldId id="560" r:id="rId312"/>
    <p:sldId id="561" r:id="rId313"/>
    <p:sldId id="562" r:id="rId314"/>
    <p:sldId id="563" r:id="rId315"/>
    <p:sldId id="564" r:id="rId316"/>
    <p:sldId id="565" r:id="rId317"/>
    <p:sldId id="566" r:id="rId318"/>
    <p:sldId id="567" r:id="rId319"/>
    <p:sldId id="568" r:id="rId320"/>
    <p:sldId id="569" r:id="rId321"/>
    <p:sldId id="570" r:id="rId322"/>
    <p:sldId id="571" r:id="rId323"/>
    <p:sldId id="572" r:id="rId324"/>
    <p:sldId id="573" r:id="rId325"/>
    <p:sldId id="574" r:id="rId326"/>
    <p:sldId id="575" r:id="rId327"/>
    <p:sldId id="576" r:id="rId328"/>
    <p:sldId id="577" r:id="rId329"/>
    <p:sldId id="578" r:id="rId330"/>
    <p:sldId id="579" r:id="rId331"/>
    <p:sldId id="580" r:id="rId332"/>
    <p:sldId id="581" r:id="rId333"/>
    <p:sldId id="582" r:id="rId334"/>
    <p:sldId id="583" r:id="rId335"/>
    <p:sldId id="584" r:id="rId336"/>
    <p:sldId id="585" r:id="rId337"/>
    <p:sldId id="586" r:id="rId338"/>
    <p:sldId id="587" r:id="rId339"/>
    <p:sldId id="588" r:id="rId340"/>
    <p:sldId id="589" r:id="rId341"/>
    <p:sldId id="590" r:id="rId342"/>
    <p:sldId id="591" r:id="rId343"/>
    <p:sldId id="592" r:id="rId344"/>
    <p:sldId id="593" r:id="rId345"/>
    <p:sldId id="594" r:id="rId346"/>
    <p:sldId id="595" r:id="rId347"/>
    <p:sldId id="596" r:id="rId348"/>
    <p:sldId id="597" r:id="rId349"/>
    <p:sldId id="598" r:id="rId350"/>
    <p:sldId id="599" r:id="rId351"/>
    <p:sldId id="600" r:id="rId352"/>
    <p:sldId id="601" r:id="rId353"/>
    <p:sldId id="602" r:id="rId354"/>
    <p:sldId id="603" r:id="rId355"/>
    <p:sldId id="604" r:id="rId356"/>
    <p:sldId id="605" r:id="rId357"/>
    <p:sldId id="606" r:id="rId358"/>
    <p:sldId id="607" r:id="rId359"/>
    <p:sldId id="608" r:id="rId360"/>
    <p:sldId id="609" r:id="rId361"/>
    <p:sldId id="610" r:id="rId362"/>
    <p:sldId id="611" r:id="rId363"/>
    <p:sldId id="612" r:id="rId364"/>
    <p:sldId id="613" r:id="rId365"/>
    <p:sldId id="614" r:id="rId366"/>
    <p:sldId id="615" r:id="rId367"/>
    <p:sldId id="616" r:id="rId368"/>
    <p:sldId id="617" r:id="rId369"/>
    <p:sldId id="618" r:id="rId370"/>
    <p:sldId id="619" r:id="rId371"/>
    <p:sldId id="620" r:id="rId372"/>
    <p:sldId id="621" r:id="rId373"/>
    <p:sldId id="622" r:id="rId374"/>
    <p:sldId id="623" r:id="rId375"/>
    <p:sldId id="624" r:id="rId376"/>
    <p:sldId id="625" r:id="rId377"/>
    <p:sldId id="626" r:id="rId378"/>
    <p:sldId id="627" r:id="rId379"/>
    <p:sldId id="628" r:id="rId380"/>
    <p:sldId id="629" r:id="rId381"/>
    <p:sldId id="630" r:id="rId382"/>
    <p:sldId id="631" r:id="rId383"/>
    <p:sldId id="632" r:id="rId384"/>
    <p:sldId id="633" r:id="rId385"/>
    <p:sldId id="634" r:id="rId386"/>
    <p:sldId id="635" r:id="rId387"/>
    <p:sldId id="636" r:id="rId388"/>
    <p:sldId id="637" r:id="rId389"/>
    <p:sldId id="638" r:id="rId390"/>
    <p:sldId id="639" r:id="rId391"/>
    <p:sldId id="640" r:id="rId392"/>
    <p:sldId id="641" r:id="rId393"/>
    <p:sldId id="642" r:id="rId394"/>
    <p:sldId id="643" r:id="rId395"/>
    <p:sldId id="644" r:id="rId396"/>
    <p:sldId id="645" r:id="rId397"/>
    <p:sldId id="646" r:id="rId398"/>
    <p:sldId id="647" r:id="rId399"/>
    <p:sldId id="648" r:id="rId400"/>
    <p:sldId id="649" r:id="rId401"/>
    <p:sldId id="650" r:id="rId402"/>
    <p:sldId id="651" r:id="rId403"/>
    <p:sldId id="652" r:id="rId404"/>
    <p:sldId id="653" r:id="rId405"/>
    <p:sldId id="654" r:id="rId406"/>
    <p:sldId id="655" r:id="rId407"/>
    <p:sldId id="656" r:id="rId408"/>
    <p:sldId id="657" r:id="rId409"/>
    <p:sldId id="658" r:id="rId410"/>
    <p:sldId id="659" r:id="rId411"/>
    <p:sldId id="660" r:id="rId412"/>
    <p:sldId id="661" r:id="rId413"/>
    <p:sldId id="662" r:id="rId414"/>
    <p:sldId id="663" r:id="rId415"/>
    <p:sldId id="664" r:id="rId416"/>
    <p:sldId id="665" r:id="rId417"/>
    <p:sldId id="666" r:id="rId418"/>
    <p:sldId id="667" r:id="rId419"/>
    <p:sldId id="668" r:id="rId420"/>
    <p:sldId id="669" r:id="rId421"/>
    <p:sldId id="670" r:id="rId422"/>
    <p:sldId id="671" r:id="rId423"/>
    <p:sldId id="672" r:id="rId424"/>
    <p:sldId id="673" r:id="rId425"/>
    <p:sldId id="674" r:id="rId426"/>
    <p:sldId id="675" r:id="rId427"/>
    <p:sldId id="676" r:id="rId428"/>
    <p:sldId id="677" r:id="rId429"/>
    <p:sldId id="678" r:id="rId430"/>
    <p:sldId id="679" r:id="rId431"/>
    <p:sldId id="680" r:id="rId432"/>
    <p:sldId id="681" r:id="rId433"/>
    <p:sldId id="682" r:id="rId434"/>
    <p:sldId id="683" r:id="rId435"/>
    <p:sldId id="684" r:id="rId436"/>
    <p:sldId id="685" r:id="rId437"/>
    <p:sldId id="686" r:id="rId438"/>
    <p:sldId id="687" r:id="rId439"/>
    <p:sldId id="688" r:id="rId440"/>
    <p:sldId id="689" r:id="rId441"/>
    <p:sldId id="690" r:id="rId442"/>
    <p:sldId id="691" r:id="rId443"/>
    <p:sldId id="692" r:id="rId444"/>
    <p:sldId id="693" r:id="rId445"/>
    <p:sldId id="694" r:id="rId446"/>
    <p:sldId id="695" r:id="rId447"/>
    <p:sldId id="696" r:id="rId448"/>
    <p:sldId id="697" r:id="rId449"/>
    <p:sldId id="698" r:id="rId450"/>
    <p:sldId id="699" r:id="rId451"/>
    <p:sldId id="700" r:id="rId452"/>
    <p:sldId id="701" r:id="rId453"/>
    <p:sldId id="702" r:id="rId454"/>
    <p:sldId id="703" r:id="rId455"/>
    <p:sldId id="704" r:id="rId456"/>
    <p:sldId id="705" r:id="rId457"/>
    <p:sldId id="706" r:id="rId458"/>
    <p:sldId id="707" r:id="rId459"/>
    <p:sldId id="708" r:id="rId460"/>
    <p:sldId id="709" r:id="rId461"/>
    <p:sldId id="710" r:id="rId462"/>
    <p:sldId id="711" r:id="rId463"/>
    <p:sldId id="712" r:id="rId464"/>
    <p:sldId id="713" r:id="rId465"/>
    <p:sldId id="714" r:id="rId466"/>
    <p:sldId id="715" r:id="rId467"/>
    <p:sldId id="716" r:id="rId468"/>
    <p:sldId id="717" r:id="rId469"/>
    <p:sldId id="718" r:id="rId470"/>
    <p:sldId id="719" r:id="rId4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Relationship Id="rId307" Type="http://schemas.openxmlformats.org/officeDocument/2006/relationships/slide" Target="slides/slide300.xml"/><Relationship Id="rId308" Type="http://schemas.openxmlformats.org/officeDocument/2006/relationships/slide" Target="slides/slide301.xml"/><Relationship Id="rId309" Type="http://schemas.openxmlformats.org/officeDocument/2006/relationships/slide" Target="slides/slide302.xml"/><Relationship Id="rId310" Type="http://schemas.openxmlformats.org/officeDocument/2006/relationships/slide" Target="slides/slide303.xml"/><Relationship Id="rId311" Type="http://schemas.openxmlformats.org/officeDocument/2006/relationships/slide" Target="slides/slide304.xml"/><Relationship Id="rId312" Type="http://schemas.openxmlformats.org/officeDocument/2006/relationships/slide" Target="slides/slide305.xml"/><Relationship Id="rId313" Type="http://schemas.openxmlformats.org/officeDocument/2006/relationships/slide" Target="slides/slide306.xml"/><Relationship Id="rId314" Type="http://schemas.openxmlformats.org/officeDocument/2006/relationships/slide" Target="slides/slide307.xml"/><Relationship Id="rId315" Type="http://schemas.openxmlformats.org/officeDocument/2006/relationships/slide" Target="slides/slide308.xml"/><Relationship Id="rId316" Type="http://schemas.openxmlformats.org/officeDocument/2006/relationships/slide" Target="slides/slide309.xml"/><Relationship Id="rId317" Type="http://schemas.openxmlformats.org/officeDocument/2006/relationships/slide" Target="slides/slide310.xml"/><Relationship Id="rId318" Type="http://schemas.openxmlformats.org/officeDocument/2006/relationships/slide" Target="slides/slide311.xml"/><Relationship Id="rId319" Type="http://schemas.openxmlformats.org/officeDocument/2006/relationships/slide" Target="slides/slide312.xml"/><Relationship Id="rId320" Type="http://schemas.openxmlformats.org/officeDocument/2006/relationships/slide" Target="slides/slide313.xml"/><Relationship Id="rId321" Type="http://schemas.openxmlformats.org/officeDocument/2006/relationships/slide" Target="slides/slide314.xml"/><Relationship Id="rId322" Type="http://schemas.openxmlformats.org/officeDocument/2006/relationships/slide" Target="slides/slide315.xml"/><Relationship Id="rId323" Type="http://schemas.openxmlformats.org/officeDocument/2006/relationships/slide" Target="slides/slide316.xml"/><Relationship Id="rId324" Type="http://schemas.openxmlformats.org/officeDocument/2006/relationships/slide" Target="slides/slide317.xml"/><Relationship Id="rId325" Type="http://schemas.openxmlformats.org/officeDocument/2006/relationships/slide" Target="slides/slide318.xml"/><Relationship Id="rId326" Type="http://schemas.openxmlformats.org/officeDocument/2006/relationships/slide" Target="slides/slide319.xml"/><Relationship Id="rId327" Type="http://schemas.openxmlformats.org/officeDocument/2006/relationships/slide" Target="slides/slide320.xml"/><Relationship Id="rId328" Type="http://schemas.openxmlformats.org/officeDocument/2006/relationships/slide" Target="slides/slide321.xml"/><Relationship Id="rId329" Type="http://schemas.openxmlformats.org/officeDocument/2006/relationships/slide" Target="slides/slide322.xml"/><Relationship Id="rId330" Type="http://schemas.openxmlformats.org/officeDocument/2006/relationships/slide" Target="slides/slide323.xml"/><Relationship Id="rId331" Type="http://schemas.openxmlformats.org/officeDocument/2006/relationships/slide" Target="slides/slide324.xml"/><Relationship Id="rId332" Type="http://schemas.openxmlformats.org/officeDocument/2006/relationships/slide" Target="slides/slide325.xml"/><Relationship Id="rId333" Type="http://schemas.openxmlformats.org/officeDocument/2006/relationships/slide" Target="slides/slide326.xml"/><Relationship Id="rId334" Type="http://schemas.openxmlformats.org/officeDocument/2006/relationships/slide" Target="slides/slide327.xml"/><Relationship Id="rId335" Type="http://schemas.openxmlformats.org/officeDocument/2006/relationships/slide" Target="slides/slide328.xml"/><Relationship Id="rId336" Type="http://schemas.openxmlformats.org/officeDocument/2006/relationships/slide" Target="slides/slide329.xml"/><Relationship Id="rId337" Type="http://schemas.openxmlformats.org/officeDocument/2006/relationships/slide" Target="slides/slide330.xml"/><Relationship Id="rId338" Type="http://schemas.openxmlformats.org/officeDocument/2006/relationships/slide" Target="slides/slide331.xml"/><Relationship Id="rId339" Type="http://schemas.openxmlformats.org/officeDocument/2006/relationships/slide" Target="slides/slide332.xml"/><Relationship Id="rId340" Type="http://schemas.openxmlformats.org/officeDocument/2006/relationships/slide" Target="slides/slide333.xml"/><Relationship Id="rId341" Type="http://schemas.openxmlformats.org/officeDocument/2006/relationships/slide" Target="slides/slide334.xml"/><Relationship Id="rId342" Type="http://schemas.openxmlformats.org/officeDocument/2006/relationships/slide" Target="slides/slide335.xml"/><Relationship Id="rId343" Type="http://schemas.openxmlformats.org/officeDocument/2006/relationships/slide" Target="slides/slide336.xml"/><Relationship Id="rId344" Type="http://schemas.openxmlformats.org/officeDocument/2006/relationships/slide" Target="slides/slide337.xml"/><Relationship Id="rId345" Type="http://schemas.openxmlformats.org/officeDocument/2006/relationships/slide" Target="slides/slide338.xml"/><Relationship Id="rId346" Type="http://schemas.openxmlformats.org/officeDocument/2006/relationships/slide" Target="slides/slide339.xml"/><Relationship Id="rId347" Type="http://schemas.openxmlformats.org/officeDocument/2006/relationships/slide" Target="slides/slide340.xml"/><Relationship Id="rId348" Type="http://schemas.openxmlformats.org/officeDocument/2006/relationships/slide" Target="slides/slide341.xml"/><Relationship Id="rId349" Type="http://schemas.openxmlformats.org/officeDocument/2006/relationships/slide" Target="slides/slide342.xml"/><Relationship Id="rId350" Type="http://schemas.openxmlformats.org/officeDocument/2006/relationships/slide" Target="slides/slide343.xml"/><Relationship Id="rId351" Type="http://schemas.openxmlformats.org/officeDocument/2006/relationships/slide" Target="slides/slide344.xml"/><Relationship Id="rId352" Type="http://schemas.openxmlformats.org/officeDocument/2006/relationships/slide" Target="slides/slide345.xml"/><Relationship Id="rId353" Type="http://schemas.openxmlformats.org/officeDocument/2006/relationships/slide" Target="slides/slide346.xml"/><Relationship Id="rId354" Type="http://schemas.openxmlformats.org/officeDocument/2006/relationships/slide" Target="slides/slide347.xml"/><Relationship Id="rId355" Type="http://schemas.openxmlformats.org/officeDocument/2006/relationships/slide" Target="slides/slide348.xml"/><Relationship Id="rId356" Type="http://schemas.openxmlformats.org/officeDocument/2006/relationships/slide" Target="slides/slide349.xml"/><Relationship Id="rId357" Type="http://schemas.openxmlformats.org/officeDocument/2006/relationships/slide" Target="slides/slide350.xml"/><Relationship Id="rId358" Type="http://schemas.openxmlformats.org/officeDocument/2006/relationships/slide" Target="slides/slide351.xml"/><Relationship Id="rId359" Type="http://schemas.openxmlformats.org/officeDocument/2006/relationships/slide" Target="slides/slide352.xml"/><Relationship Id="rId360" Type="http://schemas.openxmlformats.org/officeDocument/2006/relationships/slide" Target="slides/slide353.xml"/><Relationship Id="rId361" Type="http://schemas.openxmlformats.org/officeDocument/2006/relationships/slide" Target="slides/slide354.xml"/><Relationship Id="rId362" Type="http://schemas.openxmlformats.org/officeDocument/2006/relationships/slide" Target="slides/slide355.xml"/><Relationship Id="rId363" Type="http://schemas.openxmlformats.org/officeDocument/2006/relationships/slide" Target="slides/slide356.xml"/><Relationship Id="rId364" Type="http://schemas.openxmlformats.org/officeDocument/2006/relationships/slide" Target="slides/slide357.xml"/><Relationship Id="rId365" Type="http://schemas.openxmlformats.org/officeDocument/2006/relationships/slide" Target="slides/slide358.xml"/><Relationship Id="rId366" Type="http://schemas.openxmlformats.org/officeDocument/2006/relationships/slide" Target="slides/slide359.xml"/><Relationship Id="rId367" Type="http://schemas.openxmlformats.org/officeDocument/2006/relationships/slide" Target="slides/slide360.xml"/><Relationship Id="rId368" Type="http://schemas.openxmlformats.org/officeDocument/2006/relationships/slide" Target="slides/slide361.xml"/><Relationship Id="rId369" Type="http://schemas.openxmlformats.org/officeDocument/2006/relationships/slide" Target="slides/slide362.xml"/><Relationship Id="rId370" Type="http://schemas.openxmlformats.org/officeDocument/2006/relationships/slide" Target="slides/slide363.xml"/><Relationship Id="rId371" Type="http://schemas.openxmlformats.org/officeDocument/2006/relationships/slide" Target="slides/slide364.xml"/><Relationship Id="rId372" Type="http://schemas.openxmlformats.org/officeDocument/2006/relationships/slide" Target="slides/slide365.xml"/><Relationship Id="rId373" Type="http://schemas.openxmlformats.org/officeDocument/2006/relationships/slide" Target="slides/slide366.xml"/><Relationship Id="rId374" Type="http://schemas.openxmlformats.org/officeDocument/2006/relationships/slide" Target="slides/slide367.xml"/><Relationship Id="rId375" Type="http://schemas.openxmlformats.org/officeDocument/2006/relationships/slide" Target="slides/slide368.xml"/><Relationship Id="rId376" Type="http://schemas.openxmlformats.org/officeDocument/2006/relationships/slide" Target="slides/slide369.xml"/><Relationship Id="rId377" Type="http://schemas.openxmlformats.org/officeDocument/2006/relationships/slide" Target="slides/slide370.xml"/><Relationship Id="rId378" Type="http://schemas.openxmlformats.org/officeDocument/2006/relationships/slide" Target="slides/slide371.xml"/><Relationship Id="rId379" Type="http://schemas.openxmlformats.org/officeDocument/2006/relationships/slide" Target="slides/slide372.xml"/><Relationship Id="rId380" Type="http://schemas.openxmlformats.org/officeDocument/2006/relationships/slide" Target="slides/slide373.xml"/><Relationship Id="rId381" Type="http://schemas.openxmlformats.org/officeDocument/2006/relationships/slide" Target="slides/slide374.xml"/><Relationship Id="rId382" Type="http://schemas.openxmlformats.org/officeDocument/2006/relationships/slide" Target="slides/slide375.xml"/><Relationship Id="rId383" Type="http://schemas.openxmlformats.org/officeDocument/2006/relationships/slide" Target="slides/slide376.xml"/><Relationship Id="rId384" Type="http://schemas.openxmlformats.org/officeDocument/2006/relationships/slide" Target="slides/slide377.xml"/><Relationship Id="rId385" Type="http://schemas.openxmlformats.org/officeDocument/2006/relationships/slide" Target="slides/slide378.xml"/><Relationship Id="rId386" Type="http://schemas.openxmlformats.org/officeDocument/2006/relationships/slide" Target="slides/slide379.xml"/><Relationship Id="rId387" Type="http://schemas.openxmlformats.org/officeDocument/2006/relationships/slide" Target="slides/slide380.xml"/><Relationship Id="rId388" Type="http://schemas.openxmlformats.org/officeDocument/2006/relationships/slide" Target="slides/slide381.xml"/><Relationship Id="rId389" Type="http://schemas.openxmlformats.org/officeDocument/2006/relationships/slide" Target="slides/slide382.xml"/><Relationship Id="rId390" Type="http://schemas.openxmlformats.org/officeDocument/2006/relationships/slide" Target="slides/slide383.xml"/><Relationship Id="rId391" Type="http://schemas.openxmlformats.org/officeDocument/2006/relationships/slide" Target="slides/slide384.xml"/><Relationship Id="rId392" Type="http://schemas.openxmlformats.org/officeDocument/2006/relationships/slide" Target="slides/slide385.xml"/><Relationship Id="rId393" Type="http://schemas.openxmlformats.org/officeDocument/2006/relationships/slide" Target="slides/slide386.xml"/><Relationship Id="rId394" Type="http://schemas.openxmlformats.org/officeDocument/2006/relationships/slide" Target="slides/slide387.xml"/><Relationship Id="rId395" Type="http://schemas.openxmlformats.org/officeDocument/2006/relationships/slide" Target="slides/slide388.xml"/><Relationship Id="rId396" Type="http://schemas.openxmlformats.org/officeDocument/2006/relationships/slide" Target="slides/slide389.xml"/><Relationship Id="rId397" Type="http://schemas.openxmlformats.org/officeDocument/2006/relationships/slide" Target="slides/slide390.xml"/><Relationship Id="rId398" Type="http://schemas.openxmlformats.org/officeDocument/2006/relationships/slide" Target="slides/slide391.xml"/><Relationship Id="rId399" Type="http://schemas.openxmlformats.org/officeDocument/2006/relationships/slide" Target="slides/slide392.xml"/><Relationship Id="rId400" Type="http://schemas.openxmlformats.org/officeDocument/2006/relationships/slide" Target="slides/slide393.xml"/><Relationship Id="rId401" Type="http://schemas.openxmlformats.org/officeDocument/2006/relationships/slide" Target="slides/slide394.xml"/><Relationship Id="rId402" Type="http://schemas.openxmlformats.org/officeDocument/2006/relationships/slide" Target="slides/slide395.xml"/><Relationship Id="rId403" Type="http://schemas.openxmlformats.org/officeDocument/2006/relationships/slide" Target="slides/slide396.xml"/><Relationship Id="rId404" Type="http://schemas.openxmlformats.org/officeDocument/2006/relationships/slide" Target="slides/slide397.xml"/><Relationship Id="rId405" Type="http://schemas.openxmlformats.org/officeDocument/2006/relationships/slide" Target="slides/slide398.xml"/><Relationship Id="rId406" Type="http://schemas.openxmlformats.org/officeDocument/2006/relationships/slide" Target="slides/slide399.xml"/><Relationship Id="rId407" Type="http://schemas.openxmlformats.org/officeDocument/2006/relationships/slide" Target="slides/slide400.xml"/><Relationship Id="rId408" Type="http://schemas.openxmlformats.org/officeDocument/2006/relationships/slide" Target="slides/slide401.xml"/><Relationship Id="rId409" Type="http://schemas.openxmlformats.org/officeDocument/2006/relationships/slide" Target="slides/slide402.xml"/><Relationship Id="rId410" Type="http://schemas.openxmlformats.org/officeDocument/2006/relationships/slide" Target="slides/slide403.xml"/><Relationship Id="rId411" Type="http://schemas.openxmlformats.org/officeDocument/2006/relationships/slide" Target="slides/slide404.xml"/><Relationship Id="rId412" Type="http://schemas.openxmlformats.org/officeDocument/2006/relationships/slide" Target="slides/slide405.xml"/><Relationship Id="rId413" Type="http://schemas.openxmlformats.org/officeDocument/2006/relationships/slide" Target="slides/slide406.xml"/><Relationship Id="rId414" Type="http://schemas.openxmlformats.org/officeDocument/2006/relationships/slide" Target="slides/slide407.xml"/><Relationship Id="rId415" Type="http://schemas.openxmlformats.org/officeDocument/2006/relationships/slide" Target="slides/slide408.xml"/><Relationship Id="rId416" Type="http://schemas.openxmlformats.org/officeDocument/2006/relationships/slide" Target="slides/slide409.xml"/><Relationship Id="rId417" Type="http://schemas.openxmlformats.org/officeDocument/2006/relationships/slide" Target="slides/slide410.xml"/><Relationship Id="rId418" Type="http://schemas.openxmlformats.org/officeDocument/2006/relationships/slide" Target="slides/slide411.xml"/><Relationship Id="rId419" Type="http://schemas.openxmlformats.org/officeDocument/2006/relationships/slide" Target="slides/slide412.xml"/><Relationship Id="rId420" Type="http://schemas.openxmlformats.org/officeDocument/2006/relationships/slide" Target="slides/slide413.xml"/><Relationship Id="rId421" Type="http://schemas.openxmlformats.org/officeDocument/2006/relationships/slide" Target="slides/slide414.xml"/><Relationship Id="rId422" Type="http://schemas.openxmlformats.org/officeDocument/2006/relationships/slide" Target="slides/slide415.xml"/><Relationship Id="rId423" Type="http://schemas.openxmlformats.org/officeDocument/2006/relationships/slide" Target="slides/slide416.xml"/><Relationship Id="rId424" Type="http://schemas.openxmlformats.org/officeDocument/2006/relationships/slide" Target="slides/slide417.xml"/><Relationship Id="rId425" Type="http://schemas.openxmlformats.org/officeDocument/2006/relationships/slide" Target="slides/slide418.xml"/><Relationship Id="rId426" Type="http://schemas.openxmlformats.org/officeDocument/2006/relationships/slide" Target="slides/slide419.xml"/><Relationship Id="rId427" Type="http://schemas.openxmlformats.org/officeDocument/2006/relationships/slide" Target="slides/slide420.xml"/><Relationship Id="rId428" Type="http://schemas.openxmlformats.org/officeDocument/2006/relationships/slide" Target="slides/slide421.xml"/><Relationship Id="rId429" Type="http://schemas.openxmlformats.org/officeDocument/2006/relationships/slide" Target="slides/slide422.xml"/><Relationship Id="rId430" Type="http://schemas.openxmlformats.org/officeDocument/2006/relationships/slide" Target="slides/slide423.xml"/><Relationship Id="rId431" Type="http://schemas.openxmlformats.org/officeDocument/2006/relationships/slide" Target="slides/slide424.xml"/><Relationship Id="rId432" Type="http://schemas.openxmlformats.org/officeDocument/2006/relationships/slide" Target="slides/slide425.xml"/><Relationship Id="rId433" Type="http://schemas.openxmlformats.org/officeDocument/2006/relationships/slide" Target="slides/slide426.xml"/><Relationship Id="rId434" Type="http://schemas.openxmlformats.org/officeDocument/2006/relationships/slide" Target="slides/slide427.xml"/><Relationship Id="rId435" Type="http://schemas.openxmlformats.org/officeDocument/2006/relationships/slide" Target="slides/slide428.xml"/><Relationship Id="rId436" Type="http://schemas.openxmlformats.org/officeDocument/2006/relationships/slide" Target="slides/slide429.xml"/><Relationship Id="rId437" Type="http://schemas.openxmlformats.org/officeDocument/2006/relationships/slide" Target="slides/slide430.xml"/><Relationship Id="rId438" Type="http://schemas.openxmlformats.org/officeDocument/2006/relationships/slide" Target="slides/slide431.xml"/><Relationship Id="rId439" Type="http://schemas.openxmlformats.org/officeDocument/2006/relationships/slide" Target="slides/slide432.xml"/><Relationship Id="rId440" Type="http://schemas.openxmlformats.org/officeDocument/2006/relationships/slide" Target="slides/slide433.xml"/><Relationship Id="rId441" Type="http://schemas.openxmlformats.org/officeDocument/2006/relationships/slide" Target="slides/slide434.xml"/><Relationship Id="rId442" Type="http://schemas.openxmlformats.org/officeDocument/2006/relationships/slide" Target="slides/slide435.xml"/><Relationship Id="rId443" Type="http://schemas.openxmlformats.org/officeDocument/2006/relationships/slide" Target="slides/slide436.xml"/><Relationship Id="rId444" Type="http://schemas.openxmlformats.org/officeDocument/2006/relationships/slide" Target="slides/slide437.xml"/><Relationship Id="rId445" Type="http://schemas.openxmlformats.org/officeDocument/2006/relationships/slide" Target="slides/slide438.xml"/><Relationship Id="rId446" Type="http://schemas.openxmlformats.org/officeDocument/2006/relationships/slide" Target="slides/slide439.xml"/><Relationship Id="rId447" Type="http://schemas.openxmlformats.org/officeDocument/2006/relationships/slide" Target="slides/slide440.xml"/><Relationship Id="rId448" Type="http://schemas.openxmlformats.org/officeDocument/2006/relationships/slide" Target="slides/slide441.xml"/><Relationship Id="rId449" Type="http://schemas.openxmlformats.org/officeDocument/2006/relationships/slide" Target="slides/slide442.xml"/><Relationship Id="rId450" Type="http://schemas.openxmlformats.org/officeDocument/2006/relationships/slide" Target="slides/slide443.xml"/><Relationship Id="rId451" Type="http://schemas.openxmlformats.org/officeDocument/2006/relationships/slide" Target="slides/slide444.xml"/><Relationship Id="rId452" Type="http://schemas.openxmlformats.org/officeDocument/2006/relationships/slide" Target="slides/slide445.xml"/><Relationship Id="rId453" Type="http://schemas.openxmlformats.org/officeDocument/2006/relationships/slide" Target="slides/slide446.xml"/><Relationship Id="rId454" Type="http://schemas.openxmlformats.org/officeDocument/2006/relationships/slide" Target="slides/slide447.xml"/><Relationship Id="rId455" Type="http://schemas.openxmlformats.org/officeDocument/2006/relationships/slide" Target="slides/slide448.xml"/><Relationship Id="rId456" Type="http://schemas.openxmlformats.org/officeDocument/2006/relationships/slide" Target="slides/slide449.xml"/><Relationship Id="rId457" Type="http://schemas.openxmlformats.org/officeDocument/2006/relationships/slide" Target="slides/slide450.xml"/><Relationship Id="rId458" Type="http://schemas.openxmlformats.org/officeDocument/2006/relationships/slide" Target="slides/slide451.xml"/><Relationship Id="rId459" Type="http://schemas.openxmlformats.org/officeDocument/2006/relationships/slide" Target="slides/slide452.xml"/><Relationship Id="rId460" Type="http://schemas.openxmlformats.org/officeDocument/2006/relationships/slide" Target="slides/slide453.xml"/><Relationship Id="rId461" Type="http://schemas.openxmlformats.org/officeDocument/2006/relationships/slide" Target="slides/slide454.xml"/><Relationship Id="rId462" Type="http://schemas.openxmlformats.org/officeDocument/2006/relationships/slide" Target="slides/slide455.xml"/><Relationship Id="rId463" Type="http://schemas.openxmlformats.org/officeDocument/2006/relationships/slide" Target="slides/slide456.xml"/><Relationship Id="rId464" Type="http://schemas.openxmlformats.org/officeDocument/2006/relationships/slide" Target="slides/slide457.xml"/><Relationship Id="rId465" Type="http://schemas.openxmlformats.org/officeDocument/2006/relationships/slide" Target="slides/slide458.xml"/><Relationship Id="rId466" Type="http://schemas.openxmlformats.org/officeDocument/2006/relationships/slide" Target="slides/slide459.xml"/><Relationship Id="rId467" Type="http://schemas.openxmlformats.org/officeDocument/2006/relationships/slide" Target="slides/slide460.xml"/><Relationship Id="rId468" Type="http://schemas.openxmlformats.org/officeDocument/2006/relationships/slide" Target="slides/slide461.xml"/><Relationship Id="rId469" Type="http://schemas.openxmlformats.org/officeDocument/2006/relationships/slide" Target="slides/slide462.xml"/><Relationship Id="rId470" Type="http://schemas.openxmlformats.org/officeDocument/2006/relationships/slide" Target="slides/slide463.xml"/><Relationship Id="rId471" Type="http://schemas.openxmlformats.org/officeDocument/2006/relationships/slide" Target="slides/slide46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38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5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9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4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6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7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8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Sheet1!$A$2:$A$84</c:f>
              <c:strCache>
                <c:ptCount val="83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  <c:pt idx="20">
                  <c:v>Q21</c:v>
                </c:pt>
                <c:pt idx="21">
                  <c:v>Q22</c:v>
                </c:pt>
                <c:pt idx="22">
                  <c:v>Q23</c:v>
                </c:pt>
                <c:pt idx="23">
                  <c:v>Q24</c:v>
                </c:pt>
                <c:pt idx="24">
                  <c:v>Q25</c:v>
                </c:pt>
                <c:pt idx="25">
                  <c:v>Q26</c:v>
                </c:pt>
                <c:pt idx="26">
                  <c:v>Q27</c:v>
                </c:pt>
                <c:pt idx="27">
                  <c:v>Q28</c:v>
                </c:pt>
                <c:pt idx="28">
                  <c:v>Q29</c:v>
                </c:pt>
                <c:pt idx="29">
                  <c:v>Q30</c:v>
                </c:pt>
                <c:pt idx="30">
                  <c:v>Q31</c:v>
                </c:pt>
                <c:pt idx="31">
                  <c:v>Q32</c:v>
                </c:pt>
                <c:pt idx="32">
                  <c:v>Q33</c:v>
                </c:pt>
                <c:pt idx="33">
                  <c:v>Q34</c:v>
                </c:pt>
                <c:pt idx="34">
                  <c:v>Q35</c:v>
                </c:pt>
                <c:pt idx="35">
                  <c:v>Q36</c:v>
                </c:pt>
                <c:pt idx="36">
                  <c:v>Q37</c:v>
                </c:pt>
                <c:pt idx="37">
                  <c:v>Q38</c:v>
                </c:pt>
                <c:pt idx="38">
                  <c:v>Q39</c:v>
                </c:pt>
                <c:pt idx="39">
                  <c:v>Q40</c:v>
                </c:pt>
                <c:pt idx="40">
                  <c:v>Q41</c:v>
                </c:pt>
                <c:pt idx="41">
                  <c:v>Q42</c:v>
                </c:pt>
                <c:pt idx="42">
                  <c:v>Q43</c:v>
                </c:pt>
                <c:pt idx="43">
                  <c:v>Q44</c:v>
                </c:pt>
                <c:pt idx="44">
                  <c:v>Q45</c:v>
                </c:pt>
                <c:pt idx="45">
                  <c:v>Q46</c:v>
                </c:pt>
                <c:pt idx="46">
                  <c:v>Q47</c:v>
                </c:pt>
                <c:pt idx="47">
                  <c:v>Q48</c:v>
                </c:pt>
                <c:pt idx="48">
                  <c:v>Q49</c:v>
                </c:pt>
                <c:pt idx="49">
                  <c:v>Q50</c:v>
                </c:pt>
                <c:pt idx="50">
                  <c:v>Q51</c:v>
                </c:pt>
                <c:pt idx="51">
                  <c:v>Q52</c:v>
                </c:pt>
                <c:pt idx="52">
                  <c:v>Q53</c:v>
                </c:pt>
                <c:pt idx="53">
                  <c:v>Q54</c:v>
                </c:pt>
                <c:pt idx="54">
                  <c:v>Q55</c:v>
                </c:pt>
                <c:pt idx="55">
                  <c:v>Q56</c:v>
                </c:pt>
                <c:pt idx="56">
                  <c:v>Q57</c:v>
                </c:pt>
                <c:pt idx="57">
                  <c:v>Q58</c:v>
                </c:pt>
                <c:pt idx="58">
                  <c:v>Q59</c:v>
                </c:pt>
                <c:pt idx="59">
                  <c:v>Q60</c:v>
                </c:pt>
                <c:pt idx="60">
                  <c:v>Q61</c:v>
                </c:pt>
                <c:pt idx="61">
                  <c:v>Q62</c:v>
                </c:pt>
                <c:pt idx="62">
                  <c:v>Q63</c:v>
                </c:pt>
                <c:pt idx="63">
                  <c:v>Q64</c:v>
                </c:pt>
                <c:pt idx="64">
                  <c:v>Q65</c:v>
                </c:pt>
                <c:pt idx="65">
                  <c:v>Q66</c:v>
                </c:pt>
                <c:pt idx="66">
                  <c:v>Q67</c:v>
                </c:pt>
                <c:pt idx="67">
                  <c:v>Q68</c:v>
                </c:pt>
                <c:pt idx="68">
                  <c:v>Q69</c:v>
                </c:pt>
                <c:pt idx="69">
                  <c:v>Q70</c:v>
                </c:pt>
                <c:pt idx="70">
                  <c:v>Q71</c:v>
                </c:pt>
                <c:pt idx="71">
                  <c:v>Q72</c:v>
                </c:pt>
                <c:pt idx="72">
                  <c:v>Q73</c:v>
                </c:pt>
                <c:pt idx="73">
                  <c:v>Q74</c:v>
                </c:pt>
                <c:pt idx="74">
                  <c:v>Q75</c:v>
                </c:pt>
                <c:pt idx="75">
                  <c:v>Q76</c:v>
                </c:pt>
                <c:pt idx="76">
                  <c:v>Q77</c:v>
                </c:pt>
                <c:pt idx="77">
                  <c:v>Q78</c:v>
                </c:pt>
                <c:pt idx="78">
                  <c:v>Q79</c:v>
                </c:pt>
                <c:pt idx="79">
                  <c:v>Q80</c:v>
                </c:pt>
                <c:pt idx="80">
                  <c:v>Q81</c:v>
                </c:pt>
                <c:pt idx="81">
                  <c:v>Q82</c:v>
                </c:pt>
                <c:pt idx="82">
                  <c:v>Q83</c:v>
                </c:pt>
              </c:strCache>
            </c:strRef>
          </c:cat>
          <c:val>
            <c:numRef>
              <c:f>Sheet1!$B$2:$B$84</c:f>
              <c:numCache>
                <c:formatCode>General</c:formatCode>
                <c:ptCount val="83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2.0</c:v>
                </c:pt>
                <c:pt idx="5">
                  <c:v>1.0</c:v>
                </c:pt>
                <c:pt idx="6">
                  <c:v>1.0</c:v>
                </c:pt>
                <c:pt idx="7">
                  <c:v>1.0</c:v>
                </c:pt>
                <c:pt idx="8">
                  <c:v>1.0</c:v>
                </c:pt>
                <c:pt idx="9">
                  <c:v>1.0</c:v>
                </c:pt>
                <c:pt idx="10">
                  <c:v>2.0</c:v>
                </c:pt>
                <c:pt idx="11">
                  <c:v>1.0</c:v>
                </c:pt>
                <c:pt idx="12">
                  <c:v>1.0</c:v>
                </c:pt>
                <c:pt idx="13">
                  <c:v>1.0</c:v>
                </c:pt>
                <c:pt idx="14">
                  <c:v>1.0</c:v>
                </c:pt>
                <c:pt idx="15">
                  <c:v>2.0</c:v>
                </c:pt>
                <c:pt idx="16">
                  <c:v>1.0</c:v>
                </c:pt>
                <c:pt idx="17">
                  <c:v>1.0</c:v>
                </c:pt>
                <c:pt idx="18">
                  <c:v>2.0</c:v>
                </c:pt>
                <c:pt idx="19">
                  <c:v>1.0</c:v>
                </c:pt>
                <c:pt idx="20">
                  <c:v>1.0</c:v>
                </c:pt>
                <c:pt idx="21">
                  <c:v>2.0</c:v>
                </c:pt>
                <c:pt idx="22">
                  <c:v>1.0</c:v>
                </c:pt>
                <c:pt idx="23">
                  <c:v>1.0</c:v>
                </c:pt>
                <c:pt idx="24">
                  <c:v>1.0</c:v>
                </c:pt>
                <c:pt idx="25">
                  <c:v>2.0</c:v>
                </c:pt>
                <c:pt idx="26">
                  <c:v>2.0</c:v>
                </c:pt>
                <c:pt idx="27">
                  <c:v>2.0</c:v>
                </c:pt>
                <c:pt idx="28">
                  <c:v>2.0</c:v>
                </c:pt>
                <c:pt idx="29">
                  <c:v>1.0</c:v>
                </c:pt>
                <c:pt idx="30">
                  <c:v>2.0</c:v>
                </c:pt>
                <c:pt idx="31">
                  <c:v>1.0</c:v>
                </c:pt>
                <c:pt idx="32">
                  <c:v>2.0</c:v>
                </c:pt>
                <c:pt idx="33">
                  <c:v>2.0</c:v>
                </c:pt>
                <c:pt idx="34">
                  <c:v>2.0</c:v>
                </c:pt>
                <c:pt idx="35">
                  <c:v>2.0</c:v>
                </c:pt>
                <c:pt idx="36">
                  <c:v>1.0</c:v>
                </c:pt>
                <c:pt idx="37">
                  <c:v>2.0</c:v>
                </c:pt>
                <c:pt idx="38">
                  <c:v>1.0</c:v>
                </c:pt>
                <c:pt idx="39">
                  <c:v>2.0</c:v>
                </c:pt>
                <c:pt idx="40">
                  <c:v>1.0</c:v>
                </c:pt>
                <c:pt idx="41">
                  <c:v>2.0</c:v>
                </c:pt>
                <c:pt idx="42">
                  <c:v>2.0</c:v>
                </c:pt>
                <c:pt idx="43">
                  <c:v>1.0</c:v>
                </c:pt>
                <c:pt idx="44">
                  <c:v>1.0</c:v>
                </c:pt>
                <c:pt idx="45">
                  <c:v>2.0</c:v>
                </c:pt>
                <c:pt idx="46">
                  <c:v>2.0</c:v>
                </c:pt>
                <c:pt idx="47">
                  <c:v>2.0</c:v>
                </c:pt>
                <c:pt idx="48">
                  <c:v>3.0</c:v>
                </c:pt>
                <c:pt idx="49">
                  <c:v>1.0</c:v>
                </c:pt>
                <c:pt idx="50">
                  <c:v>2.0</c:v>
                </c:pt>
                <c:pt idx="51">
                  <c:v>1.0</c:v>
                </c:pt>
                <c:pt idx="52">
                  <c:v>2.0</c:v>
                </c:pt>
                <c:pt idx="53">
                  <c:v>2.0</c:v>
                </c:pt>
                <c:pt idx="54">
                  <c:v>2.0</c:v>
                </c:pt>
                <c:pt idx="55">
                  <c:v>2.0</c:v>
                </c:pt>
                <c:pt idx="56">
                  <c:v>1.0</c:v>
                </c:pt>
                <c:pt idx="57">
                  <c:v>2.0</c:v>
                </c:pt>
                <c:pt idx="58">
                  <c:v>2.0</c:v>
                </c:pt>
                <c:pt idx="59">
                  <c:v>2.0</c:v>
                </c:pt>
                <c:pt idx="60">
                  <c:v>1.0</c:v>
                </c:pt>
                <c:pt idx="61">
                  <c:v>1.0</c:v>
                </c:pt>
                <c:pt idx="62">
                  <c:v>1.0</c:v>
                </c:pt>
                <c:pt idx="63">
                  <c:v>2.0</c:v>
                </c:pt>
                <c:pt idx="64">
                  <c:v>2.0</c:v>
                </c:pt>
                <c:pt idx="65">
                  <c:v>2.0</c:v>
                </c:pt>
                <c:pt idx="66">
                  <c:v>2.0</c:v>
                </c:pt>
                <c:pt idx="67">
                  <c:v>2.0</c:v>
                </c:pt>
                <c:pt idx="68">
                  <c:v>2.0</c:v>
                </c:pt>
                <c:pt idx="69">
                  <c:v>1.0</c:v>
                </c:pt>
                <c:pt idx="70">
                  <c:v>2.0</c:v>
                </c:pt>
                <c:pt idx="71">
                  <c:v>1.0</c:v>
                </c:pt>
                <c:pt idx="72">
                  <c:v>2.0</c:v>
                </c:pt>
                <c:pt idx="73">
                  <c:v>2.0</c:v>
                </c:pt>
                <c:pt idx="74">
                  <c:v>1.0</c:v>
                </c:pt>
                <c:pt idx="75">
                  <c:v>2.0</c:v>
                </c:pt>
                <c:pt idx="76">
                  <c:v>1.0</c:v>
                </c:pt>
                <c:pt idx="77">
                  <c:v>2.0</c:v>
                </c:pt>
                <c:pt idx="78">
                  <c:v>2.0</c:v>
                </c:pt>
                <c:pt idx="79">
                  <c:v>2.0</c:v>
                </c:pt>
                <c:pt idx="80">
                  <c:v>2.0</c:v>
                </c:pt>
                <c:pt idx="81">
                  <c:v>1.0</c:v>
                </c:pt>
                <c:pt idx="82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0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5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7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2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0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5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1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8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3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9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9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4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9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3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1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6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1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6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5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third line replaces (~p v p) v ~q by ~p v p v q; that is not an equivalence step (both sides just happen to be tautologies). Rewritten so the step is justified, and options B-D are explicitly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begins 'Given r : ~p &lt;-&gt; q'. The statement r is 'x irrational iff y transcendental', i.e. p &lt;-&gt; q (the PDF's own table uses p &lt;-&gt; q). Corrected.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the statement as 'brilliant and honest iff rich' and the negation as ~[(P ^ ~R) &lt;-&gt; Q], which mixes honest/dishonest. The statement is (P ^ ~R) &lt;-&gt; Q; the answer B is unaffected. Written out the steps that show B equals the negation.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check of options (iii) and (iv) is garbled/unfinished: (iii) is printed as ((~A)vA)^((~A)vB) and (iv) stops after '(~A) v (A^B)'. Both reduce to ~A v B (not a tautology); written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second table head reads '(A ^ ~B) v [~C ^ (A ^ ~B)] v ~A' (an A^~B typo in place of A v B); its printed column of values is nevertheless that of the real F1. Also 'A v B' for rows FFF/FFT is F, shown explicitly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working for option (B) is written with a disjunction, '(p^q) v (~p v q) = ~p v q', which is option (D)'s expression, so (B)=(p^q)^(p-&gt;q) (which is p^q) was never evaluated, and (D) is not shown. Both written correctly here; the answer C is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option (d) reads '~(q-&gt;p) =&gt; ~(~q v p) =&gt; q v ~p'; but ~(~q v p) = q ^ ~p (De Morgan), not q v ~p. The conclusion (D not equivalent) still 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working says '(p v q) v ~p = p' and concludes '~p =&gt; p = tautology'. Both are wrong: (p ^ q) v ~p equals ~p v q, and ~p =&gt; p is equivalent to p, not a tautology. The correct statement is ~p =&gt; (~p v q), a tautology. Answer C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check of option (D) expands ~(p^q) as '~p ^ ~q' (it is ~p v ~q); the final value F is the same because X ^ ~X is false, so shown here with X = p ^ q.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labels the statement p -&gt; (q v r) as 'S1' and then shows it equals S1; it is S2 (the line 'S1: p-&gt;(q v r)' should read 'S2'). Meaning and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third line prints (~p v q) v (p v ~r); the De Morgan result is (~p ^ ~q) v (p v ~r). Corrected; the PDF also stops before simplifying the final negation, which is completed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check of option (A) writes (p v q) ^ (p v ~q) = p; with the operations of option (A) the second bracket is p ^ ~q (since the second operation is also AND), giving p ^ ~q. Neither is a tautology so the conclusion stands. PDF proves (B) by a Venn diagram; algebraic proof given.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closing line 'Option (3) (p v q) ^ (~q v r) -&gt; (~p v r) will be False' prints a different expression from the question (the premise and conclusion are transposed). The truth-table columns it prints, (p v q) ^ (~p v r) and ~q v r, are correct and give option (A).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ANSWER KEY WRONG: the PDF gives (A) 'both correct', but its own second table has T in the rows (T,T) and (F,F) for ((~p)=&gt;(~q)) ^ ((~p) v q), so S2 is not a contradiction (it equals p&lt;-&gt;q). Correct answer: (C) only (S1)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first line is written as 'p v q -&gt; (r v q) ^ ((p ^ r) -&gt; q)', i.e. with a v and wrong bracketing (the conjunction is made part of the conclusion). Read correctly the statement is [(p^q)-&gt;(r v q)] ^ [(p^r)-&gt;q]; the PDF's later lines reach the same conclusion. It names only r = ~p and r = q, and does not examine r = p and r = ~q, which are added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table for (S2) has the header '(p=&gt;q) =&gt; (~p ^ q)' where the statement is (q=&gt;p) =&gt; (~p ^ q); the printed values F,F,T,F are those of the correct statement.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 writes converse = r =&gt; (~p ^ q) = ~r v (~p ^ q) and then '= ~r v (p v ~q) = (p v ~q) =&gt; ~r'. The step ~r v (~p ^ q) -&gt; ~r v (p v ~q) is wrong (it negates the bracket without the matching negation of the implication); the correct step is the contraposition r =&gt; X = ~X =&gt; ~r with ~X = p v ~q. The final option (A)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PDF's table for S2 labels the second and third columns both as (p ^ ~q); the second must be (~p ^ q) (its values F,F,T,F are those of ~p ^ q). Result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Mathematical Reasoning (JM)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J-II (Mathematical Reasoning, AIEEE / JEE Main PYQs 2008-2023)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Q48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correct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(q \to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\vee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\wedge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\leftrightarrow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\to  q)$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Logical equivalence and tautology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to a tautology.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 \vee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 \to  (q \to  p)$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to a tautology.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implication as an 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true, so the whole statement is a tautology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implication as an 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(q \to  p) \equiv  {\sim}p \vee  (q \to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  {\sim}p \vee  ({\sim}q \vee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  ({\sim}p \vee  p)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true, so the whole statement is a tautology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it is also a tautology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tautologies are always equivalent, so the given statement is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rest: (B), (C), (D) all reduce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not tautologies.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\vee  q) \equiv  {\sim}p \vee  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it is also a tautology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tautologies are always equivalent, so the given statement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of the rest: (B), (C), (D) all reduce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not tautologies.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\to  (p \vee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conditional is false in exactly one way, so look only for the assignment that makes it false.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false.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false: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(A),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it is also never false: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 false.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(q \to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false: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(A),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= 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it is also never false: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(B), (C), (D)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false, so each conditional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is equivalent to the given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(B), (C), (D)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false, so each conditional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is equivalent to the given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\to  (p \vee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(a standard axiom: a true statement is implied by anything).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leading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absorbed.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iff no assignment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'addition' rule of inference.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(q \to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(a standard axiom: a true statement is implied by anything).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\wedge  q)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\leftrightarrow  q)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\to  q)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leading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absorbed.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iff no assignment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'addition' rule of inference.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921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statement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irrational number',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statement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transcendental number',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statement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irrational number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transcendental number'.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Statement-1: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Statement-2: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Statement-1 is true, Statement-2 is true; Statement-2 is a correct explanation for Statement-1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Statement-1 is true, Statement-2 is true; Statement-2 is not a correct explanation for Statement-1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Statement-1 is true, Statement-2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Statement-1 is false, Statement-2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99211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statement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irrational number',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statement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transcendental number',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statement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irrational number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transcendental number'.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Statement-1 is true, Statement-2 is true; Statement-2 is a correct explanation for Statement-1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Statement-1 is true, Statement-2 is true; Statement-2 is not a correct explanation for Statement-1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Statement-1 is true, Statement-2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Statement-1 is false, Statement-2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Biconditional, logical equivalence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its truth table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compare its truth table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 \vee 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${\sim}(p \leftrightarrow  {\sim}q)$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(x irrational iff y transcendental).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Statement-1 claims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Statement-2 claims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 : 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(x irrational iff y transcendental).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Statement-1 claims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 \equiv  q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Statement-2 claims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 \equiv  {\sim}(p \leftrightarrow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 in the order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row TF (F against T): Statement-1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 four rows: Statement-2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 in the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row TF (F against T): Statement-1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all four rows: Statement-2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Negating one side of a biconditional flips it,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at once; one counter-example kills Statement-1.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Negating one side of a biconditional flips it,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${\sim}(p \leftrightarrow  {\sim}q)$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at once; one counter-example kills Statement-1.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differ',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Statement-2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Statement-1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differ',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{\sim}q) \equiv  {\sim}{\sim}(p \leftrightarrow  q) \equiv  p \leftrightarrow  q =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Statement-2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Statement-1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 = 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Statement-1 is false. (Same verdict if 'either...or' is read as exclusive or: that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opposite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Statement-1 is false. (Same verdict if 'either...or' is read as exclusive or: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opposite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(negate either one side),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truth value;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also when they differ,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trust a statement of the form 'either ... or' without deciding whether it is inclusive or exclusive.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q) \equiv  p \leftrightarrow  {\sim}q \equiv  {\sim}p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(negate either one side),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\leftrightarrow  {\sim}q \equiv  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 \equiv  (p \to  q) \wedge  (q \to  p) \equiv  (p \wedge  q) \vee  ({\sim}p \wedge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truth value;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also when they differ,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 \not\equiv  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trust a statement of the form 'either ... or' without deciding whether it is inclusive or exclusive.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49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Statement-1 is true, Statement-2 is true; Statement-2 is not a correct explanation for Statement-1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Statement-1 is true, Statement-2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Statement-1 is false, Statement-2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Statement-1 is true, Statement-2 is true; Statement-2 is a correct explanation for Statement-1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1849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Statement-1 is true, Statement-2 is true; Statement-2 is not a correct explanation for Statement-1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Statement-1 is true, Statement-2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Statement-1 is false, Statement-2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Statement-1 is true, Statement-2 is true; Statement-2 is a correct explanation for Statement-1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Biconditional, logical equivalence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Build one truth table with columns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Build one truth table with columns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$p\leftrightarrow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 \leftrightarrow 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${\sim}(p \leftrightarrow  {\sim}q)$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in the order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Compute in the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column is identical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Statement-1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column is not all T (rows TF and FT are F), so it is not a tautology: Statement-2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column is identical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Statement-1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column is not all T (rows TF and FT are F), so it is not a tautology: Statement-2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biconditional as 'same truth value';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says 'different values', whose negation is 'same values'.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biconditional as 'same truth value';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 \leftrightarrow 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says 'different values', whose negation is 'same values'.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truth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agree, i.e.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disagree.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negation is true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agree: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Statement-1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truth value.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agree, i.e.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disagree.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negation is true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agree: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Statement-1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tautology must be true for every assignment, but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values disagree,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 Statement-2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tautology must be true for every assignment, but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values disagree,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 Statement-2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negating one side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toggles it, and doing it twice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equivalent to a non-tautology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never be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'Statement-1 / Statement-2' items, check each statement on its own first; the 'correct explanation' option only matters when both are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{\sim}q) \equiv  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negating one side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toggles it, and doing it twice cancels.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equivalent to a non-tautology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never be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'Statement-1 / Statement-2' items, check each statement on its own first; the 'correct explanation' option only matters when both are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non-empty subset of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statement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 is a rational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the negation of the statement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There is a rational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There is no rational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Every rational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rational number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non-empty subset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$\mathbb{R}$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Consider 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 is a rational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Which of the following statements is the negation of 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There is a rational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\le 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There is no rational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\le 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Every rational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\le 0$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\le 0 \Rightarrow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rational number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8864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quantified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negation of 'there exists' is 'for every', and the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negated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negation of 'there exists' is 'for every', and the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negated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 \le 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 exists a rational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false that such 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exists, i.e. every rational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still asserts existence, so it is not the negation.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there exists a 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false that such 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exists, i.e. every rational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\le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still asserts existence, so it is not the negation.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says no rational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has nothing to do with the positive ones (take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yet (B) is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says every non-positive element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vacuously true although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says no 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has nothing to do with the positive ones (take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yet (B) is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says every non-positive element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vacuously true although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Every rational number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Every rational number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 \in 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satisfies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 \le 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four options on small 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negation must be false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 and true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four options on small sets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negation must be false whenever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 and true whenever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its negation must be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 (no rational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(D) is true (vacuous). So (B), (D) are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the negation must be false. Here (A) is true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(A) is out.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its negation must be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(B) is true (no rational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(D) is true (vacuous). So (B), (D) are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the negation must be false. Here (A) is true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(A) is out.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false for both sets (because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true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false: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false for both sets (because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true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$S=\{-1\}$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false: consistent.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Every rational number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Every rational number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 \in S$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satisfies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 \le 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restricted quantifier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negation; the restriction stays.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counter-example set (like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quickly kills wrong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${\sim}(\exists x\ P(x)) \equiv  \forall x\ {\sim}P(x)$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${\sim}(\forall x\ P(x)) \equiv  \exists x\ {\sim}P(x)$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\le 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restricted quantifier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$\exists x 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x 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negation; the restriction stays.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counter-example set (like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quickly kills wrong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statements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Suman is brilliant;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Suman is rich;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Suman is honest. The negation of the statement 'Suman is brilliant and dishonest if and only if Suman is rich' can be expressed as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statements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Suman is brilliant;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Suman is rich;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Suman is honest. The negation of the statement 'Suman is brilliant and dishonest if and only if Suman is rich' can be expressed as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\leftrightarrow  {\sim}P \wedge  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{\sim}R) \leftrightarrow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(Q \leftrightarrow  {\sim}R)$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${\sim}(Q \leftrightarrow  (P \wedge  R))$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Translate first: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negating one side of a biconditional negates the whole biconditional.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Translate first: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 \wedge  {\sim}R) \leftrightarrow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negating one side of a biconditional negates the whole biconditional.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'Brilliant and dishonest'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negation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'Brilliant and dishonest'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{\sim}R)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negation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${\sim}[(P \wedge  {\sim}R) \leftrightarrow  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Negating a biconditional: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others: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statement is true so its negation is false, but (A) is true and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negation is true, but (C)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Negating a biconditional: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${\sim}(X \leftrightarrow  Y) \equiv  ({\sim}X) \leftrightarrow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 \wedge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{\sim}R)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others: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$P=T,R=F,Q=T$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statement is true so its negation is false, but (A) is true and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$P=F,R=T,Q=T$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negation is true, but (C)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${\sim}(P \wedge  {\sim}R) \leftrightarrow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Test assignments: pick truth values where the original statement has a known value and see which options match the negation.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negation is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options: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F;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T. So (A), (D) are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statement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so the negation is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R=F,\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{\sim}R)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 \leftrightarrow  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negation is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options: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\leftrightarrow  ({\sim}P 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 \leftrightarrow 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T;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{\sim}R)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 \leftrightarrow 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(\dots)$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${\sim}(Q \leftrightarrow  (P \wedge  R))$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${\sim}(T \leftrightarrow  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T. So (A), (D) are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$P=F,\ R=T,\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 \leftrightarrow 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so the negation is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T. (C):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F. So (C) is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survives.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${\sim}(F) \leftrightarrow 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 \leftrightarrow 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T.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(Q \leftrightarrow  {\sim}R)$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 \wedge  (T \leftrightarrow  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F. So (C) is out.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survives.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${\sim}(P \wedge  {\sim}R) \leftrightarrow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Translate English carefully: 'dishonest'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'A and B if and only if C'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well-chosen test assignments usually eliminate all wrong options in an equivalence MCQ.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${\sim}(X \leftrightarrow  Y) \equiv  X \leftrightarrow  {\sim}Y \equiv  {\sim}X \leftrightarrow  Y \equiv  (X \wedge  {\sim}Y) \vee  ({\sim}X \wedge 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Translate English carefully: 'dishonest'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'A and B if and only if C'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 \wedge  B) \leftrightarrow 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well-chosen test assignments usually eliminate all wrong options in an equivalence MCQ.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statement among the following that is a tautology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only statement among the following that is a tautology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[A \wedge  (A \to  B)]$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(A \vee  B)$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\vee  (A \wedge  B)$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 \wedge  (A \to  B)] \to  B$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Option (D) is the rule of inference 'modus ponens':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Option (D) is the rule of inference 'modus ponens':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$A\to 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force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 in the order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T. Every value is true, so (D)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T. The row FT is false,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 in the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(A \to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 \wedge  (A \to  B)] 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T. Every value is true, so (D)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[A \wedge  (A \to  B)]$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T. The row FT is false,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F, which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(absorption),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F, again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(absorption),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\vee  (A \wedge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F, which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(absorption),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(A \vee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F, again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(absorption),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$[A \wedge  (A \to  B)] \to  B$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Modus ponens: if the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both true, which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Modus ponens: if the premise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$A\wedge (A\to 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$A\to 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both true, which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implication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never goes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(D),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 Hence (D) can never be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absorption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lone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(B), (C) fail.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implication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never goes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(D),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 \wedge  (A \to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 Hence (D) can never be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absorption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(A \vee  B) \equiv 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\vee  (A \wedge  B) \equiv 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lone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(B), (C) fail.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$A=F,\ B=T$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(A\to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[\dots]$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$[A \wedge  (A \to  B)] \to  B$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Modus ponens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modus tollens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tautologies.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Absorption: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Hypothetical syllogism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an implication tautology by trying to make the left side true and the right side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Modus ponens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 \wedge  (A \to  B)] 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modus tollens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$[(A \to  B) \wedge  {\sim}B] \to  {\sim}A$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tautologies.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Absorption: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(A \vee  B) \equiv  A \equiv  A \vee  (A \wedge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Hypothetical syllogism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$[(A \to  B) \wedge  (B \to  C)] \to  (A \to 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an implication tautology by trying to make the left side true and the right side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3377691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The negation of the statement 'If I become a teacher, then I will open a school' is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(A) I will not become a teacher or I will open a school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(B) I will become a teacher and I will not open a school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(C) Either I will not become a teacher or I will not open a school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(D) Neither I will become a teacher nor I will open a school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48864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only way a promise 'if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fails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${\sim}(p \to  q) \equiv  p \wedge 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only way a promise 'if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fails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 become a teacher;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 will open a school. The statement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negation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 Morgan: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 become a teacher;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 will open a school.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negation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q) \equiv  {\sim}({\sim}p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De Morgan: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${\sim}({\sim}p \vee  q) \equiv  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In words: I will become a teacher and I will not open a school.</a:t>
            </a:r>
            <a:endParaRPr sz="2400">
              <a:solidFill>
                <a:srgbClr val="111827"/>
              </a:solidFill>
            </a:endParaRPr>
          </a:p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Answer: (B).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I will become a teacher and I will not open a school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conditional fails in exactly one row,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the option true only in that row.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conditional fails in exactly one row,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find the option true only in that row.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negation is true only for that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conditional itself (true in three rows).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in three rows.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required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negation is true only for that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conditional itself (true in three rows).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in three rows.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$p=F,q=F$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required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I will become a teacher and I will not open a school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counter-example to 'if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a case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'Neither ... nor'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whereas 'not both'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q) \equiv  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 counter-example to 'if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a case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q) \equiv  {\sim}p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\vee  q) \equiv  {\sim}p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'Neither ... nor'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whereas 'not both'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202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fallacy.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Statement-1 is true, Statement-2 is true; Statement-2 is a correct explanation for Statement-1.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Statement-1 is true, Statement-2 is true; Statement-2 is not a correct explanation for Statement-1.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Statement-1 is true; Statement-2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Statement-1 is false, Statement-2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62025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\wedge  ({\sim}p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fallacy.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\leftrightarrow  ({\sim}q \to  {\sim}p)$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Statement-1 is true, Statement-2 is true; Statement-2 is a correct explanation for Statement-1.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Statement-1 is true, Statement-2 is true; Statement-2 is not a correct explanation for Statement-1.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Statement-1 is true; Statement-2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Statement-1 is false, Statement-2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Fallacy, tautology and contrapositive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conjunction containing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fallacy;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contrapositive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conjunction containing both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fallacy;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${\sim}q\to 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contrapositive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Statement-1: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Statement-1: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\wedge  ({\sim}p \wedge  q) = p \wedge  {\sim}q \wedge  {\sim}p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(p \wedge  {\sim}p) \wedge  ({\sim}q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(always false).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it is a fallacy: Statement-1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Statement-2: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contrapositive).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{\sim}p \equiv 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\wedge  q \equiv 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$\mathrm{c} \wedge  \mathrm{c} \equiv 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(always false).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it is a fallacy: Statement-1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Statement-2: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\to  {\sim}p \equiv  q \vee  {\sim}p \equiv  {\sim}p \vee  q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contrapositive).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Statement-2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always true: Statement-2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statements are unrelated facts, so Statement-2 does not explain Statement-1.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Statement-2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\leftrightarrow  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always true: Statement-2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statements are unrelated facts, so Statement-2 does not explain Statement-1.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Argue with the truth values themselves: the two conjuncts of Statement-1 demand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simultaneously.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Argue with the truth values themselves: the two conjuncts of Statement-1 demand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simultaneously.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assignment makes both true, so Statement-1 is a fallacy.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single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 assignment makes both true, so Statement-1 is a fallacy.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\to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$q=F,\ 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single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Two statements false in exactly the same row are equivalent, so their biconditional is true in all rows: Statement-2 is a tautology.</a:t>
            </a:r>
            <a:endParaRPr sz="2400">
              <a:solidFill>
                <a:srgbClr val="111827"/>
              </a:solidFill>
            </a:endParaRPr>
          </a:p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Answer: (B).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contrapositive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converse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inverse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equivalent to each other but not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fallacy (always false);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statements are equivalent iff they are false in exactly the same rows.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contrapositive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\to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converse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\to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equivalent to each other but not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\wedge  {\sim}X$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fallacy (always false);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\vee  {\sim}X$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statements are equivalent iff they are false in exactly the same rows.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fallacy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fallacy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\leftrightarrow  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Biconditional, logical equivalence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Negating one side of a biconditional negates it; negating it twice returns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Negating one side of a biconditional negates it; negating it twice returns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$p\leftrightarrow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 in the order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 in the order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T, identical to the column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F, which differs, so (D) is false; the column has both T and F, so (A), (B)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T, identical to the column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F, which differs, so (D) is false; the column has both T and F, so (A), (B)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equivalent to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equivalent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\leftrightarrow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biconditional is true iff the two sides agree, so work with the 'disagree' reading.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disagree; its negation says they agree.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'They agree'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true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statement is neither a tautology nor a fallacy.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disagree; its negation says they agree.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'They agree'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true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statement is neither a tautology nor a fallacy.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disagree, which is the opposite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disagree, which is the opposite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(D)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equivalent to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equivalent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\leftrightarrow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truth value; its negation is the exclusive 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that takes both values is neither a tautology nor a fallacy (it is a contingency).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{\sim}q) \equiv  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q) \equiv  {\sim}p \leftrightarrow  q \equiv  p \leftrightarrow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the same truth value; its negation is the exclusive OR.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that takes both values is neither a tautology nor a fallacy (it is a contingency).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${\sim}s \vee  ({\sim}r \wedge  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 \wedge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 \wedge  (r \wedge  {\sim}s)$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 \vee  (r \vee  {\sim}s)$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 \wedge  r$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and simplification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De Morgan twice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kill the contradiction.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Apply De Morgan twice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 \wedge  {\sim}s \equiv  \mathrm{c}$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kill the contradiction.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${\sim}({\sim}s \vee  ({\sim}r \wedge  s))$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s \wedge  {\sim}(({\sim}r) \wedge  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s \wedge  (r \vee  ({\sim}s))$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(s \wedge  r) \vee  (s \wedge  ({\sim}s))$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negation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 \wedge  {\sim}s \equiv 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(s \wedge  r) \vee 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\vee  \mathrm{c} \equiv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negation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 \wedge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 \wedge  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disjunction is false in exactly one way; find the rows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disjunction is false in exactly one way; find the rows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${\sim}s \vee  ({\sim}r \wedge  s)$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when both parts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given statement is false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its negation is true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${\sim}s \vee  ({\sim}r \wedge  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when both parts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 \wedge 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given statement is false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$s=T,\ 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its negation is true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$s=T,\ 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 \wedge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 \wedge  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negated term is redundant).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is false only when every disjunct is false; a conjunction is true only when every conjunct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\vee  ({\sim}X \wedge  Y) \equiv  X \vee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\wedge  ({\sim}X \vee  Y) \equiv  X \wedge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negated term is redundant).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${\sim}s \vee  ({\sim}r \wedge  s) \equiv  {\sim}s \vee  {\sim}r \equiv  {\sim}(s 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is false only when every disjunct is false; a conjunction is true only when every conjunct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Boolean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Boolean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\vee  q \vee  ({\sim}p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Simplification of Boolean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Distribute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drop the tautology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Distribute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 \wedge  {\sim}q)\vee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$(p\vee  q)\wedge ({\sim}q \vee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drop the tautology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 again: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\vee  q \vee  ({\sim}p \wedge  q) \equiv  [(p \wedge  {\sim}q) \vee  q] \vee  ({\sim}p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$[(p \wedge  {\sim}q) \vee  q] \equiv  (p \vee  q) \wedge  ({\sim}q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\vee  q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$[(p\vee  q) \wedge  \mathrm{t}] \vee  ({\sim}p \wedge  q) \equiv  (p \vee  q) \vee  ({\sim}p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\vee  ({\sim}p \wedge  q) \equiv  (p \vee  q \vee  {\sim}p) \wedge  (p \vee  q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 \vee  {\sim}p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 \vee  q \equiv  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$\mathrm{t} \wedge  (p \vee  q) \equiv  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\vee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expression is a disjunction, so it is false only when every disjunct is false: solve for that single row.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must be false: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must be false: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as well, so all three disjuncts are false: the expression is false exactly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exactly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equivalent.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as well, so all three disjuncts are false: the expression is false exactly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exactly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they are equivalent.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\vee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of terms is false in exactly the rows where every term is false: list those rows to identify the expression.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whole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of terms is false in exactly the rows where every term is false: list those rows to identify the expression.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 \wedge  {\sim}Y) \vee  Y \equiv  X \vee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$({\sim}X \wedge  Y) \vee  X \equiv  X \vee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\vee  (p \wedge  {\sim}q) \equiv  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\vee  ({\sim}p \wedge  q) \equiv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whole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  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following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fallacy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following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\to  [({\sim}p \to  q) \to  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{\sim}q$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fallacy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\to  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whole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$({\sim}p\to  q)\to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whole statement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$(p\to  q)\to (p\to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\to  q)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 (T\to  T, F\to  F, T\to  T, T\to  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values are T, so the statement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\to  [({\sim}p \to  q) \to  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 (T\to  T, F\to  F, T\to  T, T\to  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All four values are T, so the statement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a tautology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inner part algebraically: the statement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inner part algebraically: the statement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 \to 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\to  q \equiv  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\to  q) \to  q \equiv  (p \vee  q) \to  q \equiv  {\sim}(p \vee  q) \vee  q \equiv  ({\sim}p \wedge  {\sim}q)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\wedge  {\sim}q) \vee  q \equiv  ({\sim}p \vee  q) \wedge  ({\sim}q \vee  q) \equiv  {\sim}p \vee  q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\to  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X \equiv  {\sim}X \vee  X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a tautology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for every statement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(proof by cases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used above.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for every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\to  q) \to  q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(proof by cases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 \to  B) \to  B \equiv  A \vee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$A={\sim}p,\ B=q$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q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used above.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Boolean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Boolean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\vee  q) \vee  ({\sim}p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Simplification of Boolean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De Morgan the two terms share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factor it out: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After De Morgan the two terms share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factor it out: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 \wedge  ({\sim}q \vee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column is the same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\vee  q) \vee  ({\sim}p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column is the same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${\sim}p$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 Morgan, then factor out the common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 Morgan, then factor out the common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\vee  q) \equiv  {\sim}p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\wedge  {\sim}q) \vee  ({\sim}p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({\sim}q \vee  q) \equiv  {\sim}p \wedge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\mathrm{t} \equiv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${\sim}p$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'splitting' or 'combining' law).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 \wedge  Y) \vee  (X \wedge  {\sim}Y) \equiv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'splitting' or 'combining' law).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 \vee  Y) \wedge  (X \vee  {\sim}Y) \equiv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dual.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\vee  q) \equiv  {\sim}p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among the following that is a tautology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among the following that is a tautology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\vee  (A \wedge  B)$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[A \wedge  (A \to  B)]$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(A \vee  B)$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 \wedge  (A \to  B)] \to  B$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 holds.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$A\wedge (A\to 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$A\wedge 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$(A\wedge  B)\to 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 holds.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F: not a tautology.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F: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\vee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\vee  (A \wedge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F: not a tautology.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(A \vee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F: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(A \to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T: the third row is F,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[A \wedge  (A \to  B)]$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T: the third row is F,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$[A \wedge  (A \to  B)] 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$[A \wedge  (A \to  B)] \to  B$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(D) is 'a conjunction implies its conjunct'.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 \wedge  (A \to 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 \wedge 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(D) is 'a conjunction implies its conjunct'.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(D)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(A \to  B) \equiv  A \wedge  ({\sim}A \vee  B) \equiv  (A \wedge  {\sim}A) \vee  (A \wedge  B) \equiv  A \wedge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(D)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 \wedge  B) \to  B \equiv  {\sim}(A \wedge  B) \vee  B \equiv  {\sim}A \vee  {\sim}B \vee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${\sim}B \vee  B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(D) is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others fail: (A), (C) both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(absorption),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is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others fail: (A), (C) both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(absorption),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$A=F,\ B=T$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$[A \wedge  (A \to  B)] \to  B$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(simplification) are tautologies, as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Absorption: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(A \to  B) \equiv  A \wedge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\vee  (A \wedge  {\sim}B) \equiv 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 \wedge  B) \to 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 \wedge  B) 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(simplification) are tautologies, as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\vee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Absorption: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\vee  (A \wedge  B) \equiv  A \wedge  (A \vee  B) \equiv 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(p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{\sim}q$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and simplification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 Morgan,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 Morgan,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$p\vee ({\sim}p \wedge  {\sim}q)$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$(p\vee {\sim}p)\wedge (p\vee {\sim}q)$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${\sim}({\sim}p \wedge  (p \vee  q)) \equiv  p \vee  {\sim}(p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\vee  q) \equiv  {\sim}p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({\sim}p \wedge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{\sim}p) \wedge  (p \vee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result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{\sim}p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result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$\mathrm{t} \wedge  (p \vee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\vee  {\sim}q$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Simplify the statement first with the distributive law, then negate once.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De Morgan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(p \vee  q) \equiv  ({\sim}p \wedge  p) \vee  ({\sim}p \wedge  q) \equiv  \mathrm{c} \vee  ({\sim}p \wedge  q) \equiv  {\sim}p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De Morgan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\vee  {\sim}q$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is redundant next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(p \vee  q) \equiv  {\sim}p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 is redundant next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${\sim}({\sim}p \wedge  q) \equiv  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{\sim}q) \equiv  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\wedge  ({\sim}X \vee  Y) \equiv  X \wedge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\vee  ({\sim}X \wedge  Y) \equiv  X \vee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119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statements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following compound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which of the following statements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(a) is a tautology but not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(b) is a tautology but not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(a) and (b) both are not tautologies.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(a) and (b) both are tautologies.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119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statements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consider the following compound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$({\sim}q \wedge  (p \to  q)) \to  {\sim}p$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 \vee  q) \wedge  {\sim}p) \to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which of the following statements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(a) is a tautology but not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(b) is a tautology but not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(a) and (b) both are not tautologies.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(a) and (b) both are tautologies.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438144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(a) is modus tollens and (b) is disjunctive syllogism; both are valid arguments, hence tautologies.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$({\sim}q \wedge  (p \to  q)) \to  {\sim}p \equiv  {\sim}({\sim}q \wedge  (p \to  q)) \vee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(q \vee  {\sim}(p \to  q)) \vee  {\sim}p = (q \vee  (p \wedge  {\sim}q)) \vee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\vee  (p \wedge  {\sim}q) \equiv  (q \vee  p) \wedge  (q \vee  {\sim}q) \equiv  (q \vee  p) \wedge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(q \vee  p) \vee  {\sim}p = q \vee  (p \vee  {\sim}p) = q \vee  \mathrm{t}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 \vee  q) \wedge  {\sim}p) \to  q \equiv  {\sim}((p \vee  q) \wedge  {\sim}p) \vee  q = ({\sim}(p \vee  q) \vee  p)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are tautologies.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\vee  q) \vee  p = ({\sim}p \wedge  {\sim}q) \vee  p = ({\sim}p \vee  p) \wedge  ({\sim}q \vee  p) = \mathrm{t} \wedge  ({\sim}q \vee  p) = 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p \vee  {\sim}q \vee  q = p \vee  ({\sim}q \vee  q) = p \vee  \mathrm{t}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are tautologies.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Argue by falsifying assignments: each statement is an implication, so look for premise true and conclusion false.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false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so the premise is false. No falsifying row: (a)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false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false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\wedge  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so the premise is false. No falsifying row: (a)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false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\wedge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so the premise fails. No falsifying row: (b)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so the premise fails. No falsifying row: (b)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Modus tollens: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Disjunctive syllogism: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argument forms (modus ponens, modus tollens, hypothetical syllogism, disjunctive syllogism) are exactly tautologies of the form premises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conclusion.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Modus tollens: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$[(p \to  q) \wedge  {\sim}q] \to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Disjunctive syllogism: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$[(p \vee  q) \wedge  {\sim}p]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argument forms (modus ponens, modus tollens, hypothetical syllogism, disjunctive syllogism) are exactly tautologies of the form premises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conclusion.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(B \to 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\vee  B)$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\to  B)$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\leftrightarrow  B)$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\wedge  B)$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Logical equivalence and tautology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tautology, so the equivalent option is the only tautologous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$A\to (B\to  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tautology, so the equivalent option is the only tautologous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tautology, hence equivalent to the given statement.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(B \to  A) \equiv  {\sim}A \vee  (B \to 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  {\sim}A \vee  ({\sim}B \vee  A) \equiv  ({\sim}A \vee  A) \vee  {\sim}B$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${\sim}A \vee  A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$\mathrm{t} \vee  {\sim}B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\vee  B) \equiv  {\sim}A \vee  (A \vee  B) \equiv  ({\sim}A \vee  A) \vee  B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tautology, hence equivalent to the given statement.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tautology (false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is a tautology.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\to  B) \equiv  {\sim}A \vee  ({\sim}A \vee  B) \equiv  {\sim}A \vee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tautology (false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$A=T,\ B=F$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\leftrightarrow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\leftrightarrow  B) \equiv  {\sim}A \vee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$A=T,\ B=F$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\wedge  B) \equiv  {\sim}A \vee  (A \wedge  B) \equiv  ({\sim}A \vee  A) \wedge  ({\sim}A \vee  B) \equiv  {\sim}A \vee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is a tautology.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 \to  (A \vee  B)$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Exportation: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the simple fact that a conjunction implies its conjunct.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Exportation: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 \to  (B \to  A) \equiv  (A \wedge  B) \to  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the simple fact that a conjunction implies its conjunct.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Exportation law: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this implication can never be false: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Exportation law: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(Y \to  Z) \equiv  (X \wedge  Y) \to 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(B \to  A) \equiv  (A \wedge  B) \to 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this implication can never be false: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options,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tautology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three equal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options,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\vee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also a tautology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\vee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three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${\sim}A \vee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$A=T,\ B=F$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 \to  (A \vee  B)$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Exportation: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leading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second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tautologies.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Exportation: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(Y \to  Z) \equiv  (X \wedge  Y) \to 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\to  B) \equiv  A 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\wedge  B) \equiv  A 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\leftrightarrow  B) \equiv  A 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leading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second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\vee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(B \to 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tautologies.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3005836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The contrapositive of the statement 'If you will work, you will earn money' is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(A) If you will earn money, you will work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(B) To earn money, you need to work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(C) If you will not earn money, you will not work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(D) You will earn money, if you will not work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Contrapositive, converse and inverse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contrapositive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(negate and swap).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contrapositive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${\sim}q \to  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(negate and swap).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you will work;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you will earn money.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contrapositive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you will work;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you will earn money.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contrapositive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\to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words: if you will not earn money, you will not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and (B) say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converse); (D) says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Neither is the contrapositive.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words: if you will not earn money, you will not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and (B) say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converse); (D)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Neither is the contrapositive.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If you will not earn money, you will not work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Think of who breaks each promise: an equivalent statement must be broken by exactly the same people.</a:t>
            </a:r>
            <a:endParaRPr sz="2400">
              <a:solidFill>
                <a:srgbClr val="78350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2526792"/>
            <a:ext cx="10725912" cy="414832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'If you work you earn money' is broken only by someone who works but earns nothing.</a:t>
            </a:r>
            <a:endParaRPr sz="2400">
              <a:solidFill>
                <a:srgbClr val="111827"/>
              </a:solidFill>
            </a:endParaRPr>
          </a:p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(C) 'if you do not earn, you do not work' is broken only by someone who earns nothing but works: the same person.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(A) is broken by someone who earns but does not work, which does not break the original: not equivalent.</a:t>
            </a:r>
            <a:endParaRPr sz="2400">
              <a:solidFill>
                <a:srgbClr val="111827"/>
              </a:solidFill>
            </a:endParaRPr>
          </a:p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(D) is broken by someone who does not work and earns nothing: not equivalent either. Answer: (C).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If you will not earn money, you will not work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(contrapositive); the converse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inverse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equivalent to each other but not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'to earn money you need to work'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the given statement.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a statement by proving its contrapositive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easier.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 \equiv  {\sim}q \to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(contrapositive); the converse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inverse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\to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equivalent to each other but not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necessary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'to earn money you need to work'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the given statement.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a statement by proving its contrapositive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\to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easier.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logical expressions.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tautology but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tautologies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tautologies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but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tautology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$F_1(A,B,C)=(A \wedge  {\sim}B) \vee  [{\sim}C \wedge  (A \vee  B)] \vee  {\sim}A$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$F_2(A,B)=(A \vee  B) \vee  (B \to  {\sim}A)$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logical expressions. Then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tautology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tautologies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are tautologies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tautology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falsifying row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refutes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One falsifying row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$A=B=C=T$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refutes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contains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 \vee  {\sim}A$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Tabulate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8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TTT, TFF, TTF, TFT, FTT, FFF, FTF, FFT.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T, F, F, F, F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F, F, T, T, T,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Tabulate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8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TTT, TFF, TTF, TFT, FTT, FFF, FTF, FFT.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{\sim}B$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T, F, F, F, F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F, F, T, T, T,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T, T, F, T, F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F, F, T,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F, F, F,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T, T, T,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row (all true) gives F,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\vee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T, T, F, T, F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F, F, T,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${\sim}C \wedge  (A \vee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F, F, F,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 = (A \wedge  {\sim}B) \vee  [{\sim}C \wedge  (A \vee  B)] \vee  {\sim}A$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T, T, T,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row (all true) gives F,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{\sim}A \equiv  {\sim}B \vee  {\sim}A$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 = A \vee  B \vee  {\sim}B \vee  {\sim}A$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\vee  {\sim}A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Answer: (A).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disjunction is false only if all disjuncts are false: solve for the single falsifying row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disjunction is false only if all disjuncts are false: solve for the single falsifying row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{\sim}B$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${\sim}C \wedge  (A \vee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{\sim}B$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\vee  B=T$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${\sim}C \wedge  (A \vee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disjuncts: always true.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{\sim}A \equiv  {\sim}B \vee  {\sim}A$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disjuncts: always true.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is a tautology as soon as it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disjuncts.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refute a tautology claim for a disjunction, force every disjunct false and solve successively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(NAND).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is a tautology as soon as it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disjuncts.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refute a tautology claim for a disjunction, force every disjunct false and solve successively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$A=B=C=T$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{\sim}A \equiv  {\sim}(A \wedge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(NAND).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statements, then which of the following compound statements is a tautology?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two statements, then which of the following compound statements is a tautology?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 \to  Q) \wedge  {\sim}Q) \to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 \to  Q) \wedge  {\sim}Q) \to  (P \wedge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 \to  Q) \wedge  {\sim}Q) \to  {\sim}P$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 \to  Q) \wedge  {\sim}Q) \to  {\sim}P$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modus tollens.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$((P\to  Q)\wedge {\sim}Q)\to 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modus tollens.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F,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F,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 (in the only true-premise row FF,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option (C) is a tautology (modus tollens).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premise is 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F, so it is false. (B):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F, so it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 \to  Q) \wedge  {\sim}Q) \to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 (in the only true-premise row FF,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option (C) is a tautology (modus tollens).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premise is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F, so it is false. (B):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F, so it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Modus tollens in words: if the premise holds,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be true,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would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against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Modus tollens in words: if the premise holds,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be true, because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would force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against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true,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make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true: a contradiction.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were true,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would make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true: a contradiction.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whenever the premise is true the conclusion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true: the implication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(A) and (B) the premise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false.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whenever the premise is true the conclusion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true: the implication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(A) and (B) the premise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false.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Modus tollens: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premise of an implication is true in only one row, just evaluate the conclusion in that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Modus tollens: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$[(P \to  Q) \wedge  {\sim}Q] \to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premise of an implication is true in only one row, just evaluate the conclusion in that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{\sim}Q \equiv  {\sim}P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Boolean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given by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Boolean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\circledast (p \otimes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$\circledast$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given by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 ,\ 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$\wedge ,\ 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$\wedge ,\ 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$\wedge ,\ \to$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never be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$(p\wedge  q)\to (p\to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never be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option (A):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T: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option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T: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(C), (D) (identical as printed):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gives a tautology.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\wedge  (p \vee  q) \equiv  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(C), (D) (identical as printed):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\wedge  (p \to  q) \equiv  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(A) gives a tautology.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 ,\ \to$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Choose the connectives by logic: to make a conjunction-premise safe, use an implication and check the one row where the premise is true.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tautology needs no false row.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outermost, the only possible falsifier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that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 No falsifying row: (A)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at most as true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(B), (C), (D) fail.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tautology needs no false row.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outermost, the only possible falsifier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that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 No falsifying row: (A) works.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$\circledast=\wedge$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at most as true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so (B), (C), (D) fail.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 ,\ \to$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implied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a tautology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is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 \wedge  Y) \to 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\wedge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particular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\wedge 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a tautology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is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Boolean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tautology, then the Boolean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Boolean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\leftrightarrow  (q * ({\sim}p))$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tautology, then the Boolean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* ({\sim}q)$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{\sim}q$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Logical equivalence and tautology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*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 q \equiv  {\sim}p \vee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$*$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$p*({\sim}q)=p\vee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$q\to 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tautology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table,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 They agree.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 connectives fail: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F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tautology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\leftrightarrow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\equiv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* ({\sim}p)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 \equiv  {\sim}p \vee  q \equiv  q \vee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table,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\vee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 They agree.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 connectives fail: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\wedge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\leftrightarrow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F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 = 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* ({\sim}q) = 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{\sim}q \equiv  {\sim}q \vee  p \equiv  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$q \to  p$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truth table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*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off the tautology condition instead of guessing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the truth table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$*$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off the tautology condition instead of guessing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each row.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* ({\sim}p)$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each row.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$x=q,\ y={\sim}p$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$(p,q)=(T,T)$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$T*F=T$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$F*F=F$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table T,T,T,F for TT, TF, FT, FF is that of OR,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$T*T=T$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$(x,y)=(F,T)$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$F*T=T$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table T,T,T,F for TT, TF, FT, FF is that of OR,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 = 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* {\sim}q = p \vee  {\sim}q \equiv  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$q \to  p$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(note the order of the disjuncts is irrelevant).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identify an unknown connective, read its truth table row by row from the tautology condition.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 \equiv  {\sim}p \vee  q \equiv  q \vee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(note the order of the disjuncts is irrelevant).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{\sim}q \equiv  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converse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identify an unknown connective, read its truth table row by row from the tautology condition.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Boolean expressions is a tautology?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Boolean expressions is a tautology?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\vee  (p \vee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\wedge  (p \to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(p \to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\vee  (p \to  q)$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(C) is guaranteed true: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(C) is guaranteed true: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\vee  (p \vee  q) \equiv  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 \equiv  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\wedge  ({\sim}p \vee  q) \equiv  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({\sim}p\vee  q) \equiv  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(p \to  q) \equiv  {\sim}(p \wedge  q) \vee  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({\sim}p \vee  {\sim}q) \vee  ({\sim}p \vee  q) \equiv  ({\sim}p \vee  {\sim}p) \vee  ({\sim}q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(C)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absorbed),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{\sim}p \vee  \mathrm{t}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(C)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\vee  ({\sim}p \vee  q) \equiv  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absorbed),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\wedge  q) \to  (p \to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Falsifier search: an implication fails only when the premise is true and the conclusion false.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can fail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 So (C) never fails: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three are false in some row: (A)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false); (D)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can fail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 So (C) never fails: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three are false in some row: (A)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false); (D)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\wedge  q) \to  (p \to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conjunction is a tautology only if all conjuncts are; a conjunction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\wedge  (p \to  q) \equiv  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\vee  (p \to  q)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conjunction is a tautology only if all conjuncts are; a conjunction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cannot be.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Boolean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Boolean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\to  (q \vee  {\sim}p)$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\to  p$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Logical equivalence and tautology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the conditional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repeat.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the conditional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${\sim}(\cdot)\vee (\cdot)$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terms repeat.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\to  (q \vee  {\sim}p) \equiv  {\sim}(p \wedge  {\sim}q) \vee  (q \vee  {\sim}p)$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({\sim}p \vee  q) \vee  (q \vee  {\sim}p)$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({\sim}p \vee  {\sim}p) \vee  (q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q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\to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conditional is false only when its premise is true and its conclusion false: find that single row.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conclusion is indeed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false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also the only falsifying row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\vee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\vee  {\sim}p = F \vee  F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conclusion is indeed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false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also the only falsifying row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\to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{\sim}q)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 \equiv  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\to  (q \vee  {\sim}p)$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${\sim}X \to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${\sim}X \to  X \equiv  X \vee  X \equiv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${\sim}X \equiv  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\equiv  q\vee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${\sim}X \to  Y \equiv  X \vee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Y \equiv  {\sim}Y \to  {\sim}X$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75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three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earth is flat.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both (A) and (B) are true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Then, which of the following statements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(A) is false, but (B) and (C)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(A) is true while (B) and (C)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(A) and (C) are true while (B)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(A) and (B) are false while (C)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3754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three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earth is flat.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both (A) and (B) are true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$5+6=17$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Then, which of the following statements is correct?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(A) is false, but (B) and (C)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(A) is true while (B) and (C)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(A) and (C) are true while (B)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(A) and (B) are false while (C)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Truth value of conditional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false; a false premise makes the conditional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 only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false; a false premise makes the conditional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Recall: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so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conclusion 'earth is flat' is false, so (B)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Recall: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premise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so (A)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premise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conclusion 'earth is flat' is false, so (B)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(C): the premise '(A) and (B) are both true' is false (since (B) is false), so (C) is true.</a:t>
            </a:r>
            <a:endParaRPr sz="2400">
              <a:solidFill>
                <a:srgbClr val="111827"/>
              </a:solidFill>
            </a:endParaRPr>
          </a:p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So (A) is true, (B) is false, (C) is true.</a:t>
            </a:r>
            <a:endParaRPr sz="2400">
              <a:solidFill>
                <a:srgbClr val="111827"/>
              </a:solidFill>
            </a:endParaRPr>
          </a:p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Answer: (C).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conditional with a false premise is true (vacuous truth); it is false only for (true premise, false conclusion).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nested statements from the inside out: decide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truth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nothing to do with any 'cause' linking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conditional with a false premise is true (vacuous truth); it is false only for (true premise, false conclusion).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nested statements from the inside out: decide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truth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nothing to do with any 'cause' linking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Boolean expressions is not a tautology?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Boolean expressions is not a tautology?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 \to  p) \vee  ({\sim}q \to  p)$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{\sim}q) \vee  ({\sim}q \to  p)$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\to  q) \vee  ({\sim}q \to  p)$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\vee  ({\sim}q \to  p)$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look for a complementary pair.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Convert each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 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${\sim}X\vee 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look for a complementary pair.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 \to  p) \vee  ({\sim}q \to  p) \equiv  ({\sim}q \vee  p) \vee  (q \vee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({\sim}q \vee  q) \vee  (p \vee  p) = \mathrm{t} \vee  p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{\sim}q) \vee  ({\sim}q \to  p) \equiv  ({\sim}p \vee  {\sim}q) \vee  (q \vee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(p \vee  {\sim}p) \vee  (q \vee  {\sim}q) = \mathrm{t} \vee  \mathrm{t}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\to  q) \vee  ({\sim}q \to  p) \equiv  (p \vee  q) \vee  (q \vee  p) = (p \vee  p) \vee  (q \vee  q) = 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\vee  ({\sim}q \to  p) \equiv  ({\sim}p \vee  q) \vee  (q \vee  p) = ({\sim}p \vee  p) \vee  q = \mathrm{t} \vee  q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$({\sim}p \to  q) \vee  ({\sim}q \to  p)$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Case-split on one variable: in each case one of the two disjuncts is automatically true.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disjunct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 disjunct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(false premise).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(conclusion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true).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disjunct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second disjunct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(false premise).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(conclusion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true).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whole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 \to  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 \to  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whole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$({\sim}p \to  q) \vee  ({\sim}q \to  p)$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patterns: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(any two statements are comparable in one direction).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each conditional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disguise.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Case-splitting on one variable settles many tautology checks in one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 \to  Y) \vee  ({\sim}X \to 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type patterns: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 \to  B) \vee  (B \to  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(any two statements are comparable in one direction).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\to  q) \vee  ({\sim}q \to  p) \equiv  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each conditional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disguise.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Case-splitting on one variable settles many tautology checks in one line.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Boolean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Boolean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(q \to  {\sim}p)$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Logical equivalence and tautology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were true, the two conditionals would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together; so the conjunction is true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were true, the two conditionals would force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together; so the conjunction is true only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column equals that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(F, F, T, 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(q \to  {\sim}p)$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column equals that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(F, F, T, 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${\sim}p$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1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Case analysis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Case analysis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true premise and false conclusion, so it is false: the conjunction is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true (false premise, true conclusion respectively): the conjunction is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T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F, i.e.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 true premise and false conclusion, so it is false: the conjunction is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true (false premise, true conclusion respectively): the conjunction is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is T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F, i.e.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${\sim}p$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 2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Convert to a disjunction and factor.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\vee  q) \wedge  ({\sim}q \vee  {\sim}p)$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{\sim}p \vee  (q \wedge  {\sim}q) = {\sim}p \vee  \mathrm{c} =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${\sim}p$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opposite consequences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(reductio).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contraposition, so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(p \to  {\sim}q) \equiv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two opposite consequences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refute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(reductio).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{\sim}p \equiv  p \to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contraposition,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 q)\wedge (p\to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 \vee  Y) \wedge  (X \vee  {\sim}Y) \equiv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4865115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Consider the statement 'The match will be played only if the weather is good and ground is not wet'. Select the correct negation from the following: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(A) The match will not be played or weather is good and ground is not wet.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(B) The match will be played and weather is not good or ground is wet.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(C) The match will not be played and weather is not good and ground is wet.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5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(D) If the match will not be played, then either weather is not good or ground is wet.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negation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its negation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 \wedge  {\sim}r$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${\sim}(q \wedge  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${\sim}q \vee  {\sim}r$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match will be played;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weather is good;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ground is not wet.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match will be played;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weather is good;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ground is not wet.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(q 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(q 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 again: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words: the match will be played and the weather is not good or the ground is wet.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${\sim}[{\sim}p \vee  (q \wedge  r)]$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{\sim}(q 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 again: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({\sim}q \vee  {\sim}r)$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words: the match will be played and the weather is not good or the ground is wet.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List the situations in which the promise is broken.</a:t>
            </a:r>
            <a:endParaRPr sz="2400">
              <a:solidFill>
                <a:srgbClr val="78350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2154936"/>
            <a:ext cx="10725912" cy="4520184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The promise 'played only if (good weather and dry ground)' is broken only when the match is played although the weather is bad or the ground is wet.</a:t>
            </a:r>
            <a:endParaRPr sz="2400">
              <a:solidFill>
                <a:srgbClr val="111827"/>
              </a:solidFill>
            </a:endParaRPr>
          </a:p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That situation is: played, and (weather not good or ground wet): option (B).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5912" cy="443484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(A) contains 'will not be played or ...', which is the promise itself (true when not played). (C) needs both conditions to fail. (D) is again an implication, not a breach.</a:t>
            </a:r>
            <a:endParaRPr sz="2400">
              <a:solidFill>
                <a:srgbClr val="111827"/>
              </a:solidFill>
            </a:endParaRPr>
          </a:p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Answer: (B).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whereas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negation of a promise is a breach: the condition happens and the result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whereas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(q \wedge  r)) \equiv  p \wedge  ({\sim}q \vee  {\sim}r)$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negation of a promise is a breach: the condition happens and the result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compound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compound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\wedge  ({\sim}P)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Q) \leftrightarrow  P \wedge  {\sim}Q$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logical equivalence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statement is disjunctive syllogism (a tautology), so it is equivalent to the only tautologous option.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\wedge  {\sim}P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$[(P \vee  Q) \wedge  {\sim}P]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\wedge  {\sim}P = (P \wedge  {\sim}P) \vee  (Q \wedge  {\sim}P) = \mathrm{c} \vee  (Q \wedge  {\sim}P) = Q \wedge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(Q \wedge  {\sim}P) \to  Q = {\sim}(Q \wedge  {\sim}P)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${\sim}(Q \wedge  {\sim}P) = {\sim}Q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({\sim}Q \vee  P) \vee  Q = ({\sim}Q \vee  Q)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statement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reads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(B), (C) are false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(D) is false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only (A) is equivalent to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\mathrm{t} \vee  P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statement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Q) = {\sim}({\sim}P \vee  Q) = 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(A)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\leftrightarrow  (P \wedge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(B), (C) are false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(D) is false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only (A) is equivalent to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${\sim}(P \to  Q) \leftrightarrow  P \wedge  {\sim}Q$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Semantic argument: assume the premise holds and deduce the conclusion.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true disjunction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whenever the premise is true,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true: the implication is a tautology (disjunctive syllogism).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it is equivalent to the only tautologous option, (A),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\wedge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true disjunction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whenever the premise is true,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true: the implication is a tautology (disjunctive syllogism).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it is equivalent to the only tautologous option, (A),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Q) \equiv  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${\sim}(P \to  Q) \leftrightarrow  P \wedge  {\sim}Q$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Disjunctive syllogism: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tautology is equivalent to every other tautology, so 'equivalent to' a tautology means 'is itself a tautology'.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Disjunctive syllogism: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$[(P \vee  Q) \wedge  {\sim}P]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Q) \equiv  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Q) \leftrightarrow  (P \wedge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Every tautology is equivalent to every other tautology, so 'equivalent to' a tautology means 'is itself a tautology'.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is the negation of the statement 'for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there 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there 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there 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there 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there 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is the negation of the statement 'for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\ge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$x&lt;M$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\in 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 M$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\ge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S$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8864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quantified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Negating swaps each quantifier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in turn and negates the final 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Negating swaps each quantifier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$\forall\leftrightarrow\exists$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in turn and negates the final condition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 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$x&lt;M$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'for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'there 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'there 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'for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Statement: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M&gt;0\ \ \exists x\in S:\ x\ge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'for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'there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'there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'for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negation is: there exists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negation is: there exists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there exists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there exists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such that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$x&lt;M$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all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$x\in S$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options on two sets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truth value for the original statement is 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Test the options on two sets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whose truth value for the original statement is 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each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true and its negation must be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(A) and (C) are true (take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(A);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(C)), so (A) and (C) are not the negation.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each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true and its negation must be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(A) and (C) are true (take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$M=1,\ 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(A);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$M=1,\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(C)), so (A) and (C) are not the negation.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statement fails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negation must be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says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arbitrarily small; (B) holds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statement fails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negation must be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says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below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arbitrarily small; (B) holds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there exists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there exists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such that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$x&lt;M$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all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$x\in S$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negation flips every quantifier and the innermost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'for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unbounded above; its negation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above by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 of quantifiers matters: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different claims.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${\sim}(\forall M\ \exists x\ P) \equiv  \exists M\ \forall x\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negation flips every quantifier and the innermost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'for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unbounded above; its negation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bounded above by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Order of quantifiers matters: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$\forall M\,\exists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$\exists x\,\forall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different claims.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truth value of the Boolean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then the truth values of the statements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can be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 T F   (B) T F T   (C) F F T   (D) T F F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truth value of the Boolean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 \vee  q) \wedge  (q \to  r) \wedge  ({\sim}r)) \to  (p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then the truth values of the statements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$p,\ q,\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can be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 T F   (B) T F T   (C) F F T   (D) T F F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Truth values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conditional is false only if its premise is true and its conclusion false; this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one by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conditional is false only if its premise is true and its conclusion false; this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one by 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conditional is false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conditional is false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\wedge  (q \to  r) \wedge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conclusion is false,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T, F,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 = T\wedge  F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conclusion is false,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T, F,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T F F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the four options directly and see which makes the premise true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the four options directly and see which makes the premise true while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premise is false and the whole conditional is true. Reject.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premise false, conditional true. Reject.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premise false. Reject.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premise true,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conditional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$p,q,r=F,T,F$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r = T \to  F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premise is false and the whole conditional is true. Reject.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$T,F,T$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premise false, conditional true. Reject.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$F,F,T$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premise false. Reject.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$T,F,F$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$q\to  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premise true,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conditional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T F F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in exactly one way: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 Setting up the conditions for that single case fixes the truth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conjunction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iff each factor is true, so each factor gives a separate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equations in the order that forces values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in exactly one way: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 Setting up the conditions for that single case fixes the truth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conjunction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B \wedge 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iff each factor is true, so each factor gives a separate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equations in the order that forces values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first).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400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two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fallacy.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(S1) and (S2)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(S1) and (S2) are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400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two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\vee  ({\sim}q \to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\wedge  ({\sim}p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fallacy.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(S1) and (S2)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(S1) and (S2) are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together, which contradict each other.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$(S1)$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splits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$(S2)$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${\sim}p\vee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together, which contradict each other.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T: a tautology, so (S1)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\vee  ({\sim}q \to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T: a tautology, so (S1)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F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F, F: always false, a fallacy, so (S2)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are true.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F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\wedge  ({\sim}p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F, F: always false, a fallacy, so (S2)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are true.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Argue by cases rather than a table.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true;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(conclusion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true). So the disjunction is always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two conjuncts are never true together: (S2) is a fallacy.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true;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(conclusion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true). So the disjunction is always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q = F \vee  F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two conjuncts are never true together: (S2) is a fallacy.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tautologies: a disjunction of two conditionals that cover both cases of one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fallacy;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\vee  (q \to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\vee  ({\sim}q \to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tautologies: a disjunction of two conditionals that cover both cases of one variable.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\wedge  ({\sim}p \vee  q) \equiv 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 \equiv  {\sim}(p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q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${\sim}X \wedge  X \equiv 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${\sim}X \wedge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fallacy;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${\sim}X \vee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fallacy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 tautology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(p \to  q) \wedge  (q \to  r)) 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{\sim}r$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fallacy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{\sim}r$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 tautology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It is two successive modus ponens: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It is two successive modus ponens: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$q\to 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conditionals as disjunctions: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premise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conditionals as disjunctions: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 \wedge  ({\sim}p \vee  q)] \wedge  ({\sim}q \vee  r) 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({\sim}p \vee  q) = (p \wedge  {\sim}p) \vee  (p \wedge  q) = \mathrm{c} \vee  (p \wedge  q) = 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premise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\wedge  ({\sim}q \vee  r) = p \wedge  [q \wedge  ({\sim}q \vee  r)]$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\wedge  ({\sim}q \vee  r) = (q \wedge  {\sim}q) \vee  (q \wedge  r) = \mathrm{c} \vee  (q \wedge  r) = q \wedge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premise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whole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premise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q \wedge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 \wedge  r) 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{\sim}(p \wedge  q \wedge  r) \vee  r = {\sim}p \vee  {\sim}q \vee  {\sim}r 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 \vee  r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whole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\vee  {\sim}q) \vee  \mathrm{t}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 a tautology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Chain of inferences: assume the premise true and derive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(hypothetical syllogism).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Chain of inferences: assume the premise true and derive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(hypothetical syllogism).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Assume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(modus ponens).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(modus ponens again).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whenever the premise is true,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true: the implication can never be false, a tautology.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Assume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(modus ponens).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get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(modus ponens again).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whenever the premise is true,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true: the implication can never be false, a tautology.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 a tautology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Hypothetical syllogism: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added,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long chain of implications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yields every later statement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Hypothetical syllogism: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$[(p \to  q) \wedge  (q \to  r)] \to  (p \to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 \wedge  (p \to  q) \wedge  (q \to  r)] 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long chain of implications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q,\ q\to  r,\ r\to  s,\dots$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yields every later statement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\wedge  ({\sim}X \vee  Y) \equiv  X \wedge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Boolean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Boolean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((r \wedge  q) \wedge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 \wedge  r) \to  (p \wedge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(r \vee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r) \to  (p \wedge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(r \wedge  q)$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Logical equivalence and tautology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same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repeated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right are redundant.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 (X\wedge  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same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 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repeated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right are redundant.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 appears).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((r \wedge  q) \wedge  p) \equiv  {\sim}(p \wedge  q) \vee  [(r \wedge  q) \wedge  p]$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 \wedge  q) \wedge  p = (r \wedge  q) \wedge  (p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already appears).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q) \vee  [(r \wedge  q) \wedge  (p \wedge  q)] = [{\sim}(p \wedge  q) \vee  (p \wedge  q)] \wedge  [{\sim}(p \wedge  q) \vee  (r \wedge  q)]$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q) \vee  (p \wedge  q)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$\mathrm{t} \wedge  [{\sim}(p \wedge  q) \vee  (r \wedge  q)]$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{\sim}(p \wedge  q) \vee  (r \wedge  q) \equiv  (p \wedge  q) \to  (r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\wedge  q) \to  (r \wedge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sides are conditionals with the same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compare them only in the rows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sides are conditionals with the same premise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compare them only in the rows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it is false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single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false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is a tautology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is), (C) is false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 matches.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$(r \wedge  q) \wedge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it is false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$(p,q,r)=(T,T,F)$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single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$(p,q,r)=(F,T,T)$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is a tautology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is), (C)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none matches.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\wedge  q) \to  (r \wedge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premise can be repeated for free in the conclusion.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statements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true, so they can be inserted into or deleted from the conclusion.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conditionals with the same premise are equivalent iff their conclusions agree wherever the premise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(X \wedge  Y) \equiv  X \to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premise can be repeated for free in the conclusion.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premise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statements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true, so they can be inserted into or deleted from the conclusion.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conditionals with the same premise are equivalent iff their conclusions agree wherever the premise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the Boolean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$*,\ \square \in \{\wedge ,\ \vee 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the Boolean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* {\sim}q) \to  (p \square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 = \wedge ,\ \square = \vee$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 = \wedge ,\ \square = \wedge$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 = \vee ,\ \square = \wedge$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 = \vee ,\ \square = \vee$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Check the four combinations;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implies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implies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Check the four combinations;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implies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implies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$p\vee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 = \wedge ,\ \square=\vee$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\to  (p \vee  q) \equiv  {\sim}(p \wedge  {\sim}q) \vee  (p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({\sim}p \vee  q) \vee  (p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({\sim}p \vee  p) \vee  (q \vee  q) = \mathrm{t} \vee  q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 = \wedge ,\ \square=\wedge$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 = \vee ,\ \square=\wedge$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 = \vee ,\ \square = 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{\sim}q=T$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$(*,\square)=(\wedge ,\vee 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▫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$* = \wedge ,\ \square = \vee$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Search for falsifying rows: premise true, conclusion false.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premise is true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▫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(rules out (B)).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false; so no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▫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(rules out (C), (D)).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Remaining: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premise is true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$\square$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(rules out (B)).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premise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false; so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$\square$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(rules out (C), (D)).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Remaining: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$*=\wedge ,\ \square=\vee$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▫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$* = \wedge ,\ \square = \vee$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premise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hence the conclusion.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stronger statement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'which connective' problems, test a connective by hunting for a falsifying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X) \to  (p \vee 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premise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hence the conclusion.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stronger statement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{\sim}q)\to (p\vee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'which connective' problems, test a connective by hunting for a falsifying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r) \to  (q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q \wedge  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q \wedge  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q \wedge  {\sim}r$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 \wedge  {\sim}r$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${\sim}(X\to  Y)=X\wedge {\sim}Y$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${\sim}(q\vee  r)={\sim}q\wedge {\sim}r$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$p\vee 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negation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r) \to  (q \vee  r) \equiv  {\sim}(p \vee  r) \vee  (q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negation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${\sim}[{\sim}(p \vee  r) \vee  (q \vee  r)] = (p \vee  r) \wedge  {\sim}(q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${\sim}(q \vee  r) = {\sim}q \wedge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r) \wedge  ({\sim}q \wedge  {\sim}r)$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$[(p \vee  r) \wedge  {\sim}r]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$[(p \wedge  {\sim}r) \vee  (r \wedge  {\sim}r)] \wedge  {\sim}q = [(p \wedge  {\sim}r) \vee  \mathrm{c}]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(p \wedge  {\sim}r) \wedge  {\sim}q = p \wedge  {\sim}q \wedge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\wedge  {\sim}q \wedge  {\sim}r$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Find the only row where the conditional is false.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true: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negation is true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r) \to  (q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r =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true: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negation is true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$(p,q,r)=(T,F,F)$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 \wedge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\wedge  {\sim}q \wedge  {\sim}r$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killed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conjunction of literals describes exactly one assignment of its variables.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${\sim}(X \to  Y) \equiv  X \wedge  {\sim}Y$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r) \wedge  {\sim}r \equiv  p \wedge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killed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conjunction of literals describes exactly one assignment of its variables.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is equivalent to the Boolean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is equivalent to the Boolean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\to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${\sim}(q \to  p)$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${\sim}(p\to  q)\equiv  p\wedge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equivalent.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 \equiv  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q) = {\sim}({\sim}p \vee  q) = 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{\sim}q) = {\sim}({\sim}p \vee  {\sim}q) = 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\to  {\sim}q = {\sim}({\sim}p) \vee  {\sim}q = 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equivalent.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${\sim}(q \to  p) = {\sim}({\sim}q \vee  p) = q \wedge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${\sim}(p \to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two test assignments: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two test assignments: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 only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leaves (A) and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${\sim}(T\to  F)=T$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${\sim}(T\to  T)=F$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${\sim}p\to {\sim}q=F\to  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${\sim}(F\to  T)=F$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leaves (A) and (C).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$(p,q)=(F,F)$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\to  {\sim}q = T \to  T =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(C)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${\sim}(F\to  F)=F$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required.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${\sim}(p \to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statements are equivalent iff they agree in every row: test them at the rows where the target is true or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q) \equiv  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${\sim}(q \to  p) \equiv  q \wedge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{\sim}q) \equiv  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\to  {\sim}q \equiv  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statements are equivalent iff they agree in every row: test them at the rows where the target is true or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choices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tautology,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   (B) 2   (C) 3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choices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 \in \{\wedge ,\ \vee ,\ \to ,\ \leftrightarrow 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$(p\,\Delta\, q) \to  ((p\,\Delta\, {\sim}q) \vee  (({\sim}p)\,\Delta\, q))$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tautology,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1   (B) 2   (C) 3   (D) 4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conditional fails only when the premise is true and the conclusion false; test each of the four connectives for such a row.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the conclusion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conclusion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always true.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conclusion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true.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while the conclusion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{\sim}q)\vee ({\sim}p\wedge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$F\vee  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{\sim}q)\vee ({\sim}p\vee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always true.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{\sim}q)\vee ({\sim}p\to  q) = ({\sim}p\vee {\sim}q)\vee (p\vee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true.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conclusion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example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exactly two choices,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 2.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$p\leftrightarrow {\sim}q \equiv  {\sim}(p\leftrightarrow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${\sim}p\leftrightarrow  q \equiv  {\sim}(p\leftrightarrow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conclusion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${\sim}(p\leftrightarrow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$(p\leftrightarrow  q) \to  {\sim}(p\leftrightarrow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example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exactly two choices,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 2.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Think of the conclusion as 'the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equal-valued in a certain sense' and count rows where each connective's premise holds.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Think of the conclusion as 'the 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not equal-valued in a certain sense' and count rows where each connective's premise holds.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pieces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read row by row. Rows: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premise true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conclusion pieces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overlap,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premise true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conclusion pieces true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overlap,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premise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$p\Delta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two pieces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$p\Delta{\sim}q$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${\sim}p\Delta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read row by row. Rows: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$(T,T),(T,F),(F,T),(F,F)$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premise true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only, conclusion pieces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overlap,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premise true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conclusion pieces true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 overlap,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conclusion is true in every row.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again true in every row. Both conditionals never fail.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2.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conclusion is true in every row.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again true in every row. Both conditionals never fail.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2.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holds: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cover all four rows;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cover exactly the rows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'how many connectives make a form a tautology' is done by testing each connective against its falsifier.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$p\Delta{\sim}q$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${\sim}p\Delta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cover all four rows;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they cover exactly the rows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$p\ne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{\sim}q \equiv  {\sim}p \leftrightarrow  q \equiv  {\sim}(p \leftrightarrow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Counting 'how many connectives make a form a tautology' is done by testing each connective against its falsifier.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statements: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Rishi is a judge.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Rishi is honest.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Rishi is not arrogant. The negation of the statement 'if Rishi is a judge and he is not arrogant, then he is honest'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statements: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Rishi is a judge.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Rishi is honest.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Rishi is not arrogant. The negation of the statement 'if Rishi is a judge and he is not arrogant, then he is honest'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(A \vee  C)$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$({\sim}B) \wedge  (A \wedge  C)$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(({\sim}A) \vee  ({\sim}C))$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(A \wedge  C)$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Translate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Translate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$(A\wedge  C)\to 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${\sim}(X\to  Y)=X\wedge {\sim}Y$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'Judge and not arrogant'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'Judge and not arrogant'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 \wedge  C) 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 \wedge  C) \to  B \equiv  {\sim}(A \wedge  C) \vee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${\sim}[{\sim}(A \wedge  C) \vee  B] = (A \wedge  C) \wedge  {\sim}B$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Reordering,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Reordering,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$(A\wedge  C)\wedge {\sim}B = ({\sim}B) \wedge  (A \wedge 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$({\sim}B) \wedge  (A \wedge  C)$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conditional promise is broken exactly when its hypothesis holds and its conclusion fails; describe that situation.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claim 'judge and not arrogant implies honest' is refuted by a Rishi who is a judge, is not arrogant, and is not honest.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(A), (C), (D) are conditionals; the negation of a conditional is never a conditional.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claim 'judge and not arrogant implies honest' is refuted by a Rishi who is a judge, is not arrogant, and is not honest.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C \wedge  {\sim}B$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$({\sim}B)\wedge (A\wedge 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(B).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(A), (C), (D) are conditionals; the negation of a conditional is never a conditional.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$({\sim}B) \wedge  (A \wedge  C)$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39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negation of an implication is a conjunction, never an implication.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Translate 'not arrogant' as a statement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its own right; do not negate it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that are themselves conditionals can be rejected immediately.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${\sim}(X \to  Y) \equiv  X \wedge  {\sim}Y$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negation of an implication is a conjunction, never an implication.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Translate 'not arrogant' as a statement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 its own right; do not negate it twice.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Options that are themselves conditionals can be rejected immediately.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two propositions: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proposition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evaluated as False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two propositions: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\wedge  (({\sim}p)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proposition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(({\sim}p)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evaluated as False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Truth values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false conditional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false, which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false conditional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 \vee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false, which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(({\sim}p)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are false.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{\sim}q = T \to  T =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 = {\sim}(T)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 =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$({\sim}p)\vee  q = F\vee  F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 = T \wedge  F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are false.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Simplify the two propositions symbolically; both are fallacies-or-nearly, so their values do not even depend on the data.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condition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regardless.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are false.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 = {\sim}(p \to  {\sim}q) = 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 = (p \wedge  {\sim}q) \wedge  ({\sim}p \vee  q) = {\sim}(p \to  q) \wedge  (p \to  q) \equiv 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always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condition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$P_1 = p\wedge  q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regardless.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are false.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given proposition is false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false: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({\sim}p \vee  q) \equiv  {\sim}p \vee  q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given proposition is false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{\sim}q) \equiv  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\wedge  {\sim}X$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false: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$P_2 = {\sim}(p\to  q) \wedge  (p\to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the Boolean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logically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the Boolean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$(({\sim}q) \wedge  p) \to  (({\sim}p)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logically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${\sim}(q \to  p)$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expression first: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negation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expression first: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negation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${\sim}(p\to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the conditional: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 inside: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the repeats: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negation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${\sim}[(({\sim}q) \wedge  p) \to  (({\sim}p) \vee  q)]$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the conditional: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{\sim}[{\sim}({\sim}q \wedge  p) \vee  ({\sim}p \vee  q)]$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 inside: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{\sim}[(q \vee  {\sim}p) \vee  ({\sim}p \vee  q)]$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 the repeats: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{\sim}({\sim}p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q =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negation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${\sim}(p \to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Observe that the premise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conclusion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Observe that the premise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${\sim}q\wedge 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${\sim}(p\to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conclusion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${\sim}p\vee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 negatives: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negation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\wedge  p \equiv  {\sim}({\sim}p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exact negatives: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${\sim}X \to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${\sim}X \to  X \equiv  X \vee  X \equiv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negation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${\sim}(p \to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('if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true' just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tautology: it is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${\sim}X \to  X \equiv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('if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true' just says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 \equiv  {\sim}(p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$({\sim}q \wedge  p) \to  ({\sim}p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tautology: it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logically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$\Delta,\nabla \in \{\wedge ,\ \vee 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\nabla q \to  ((p\,\Delta\, q)\nabla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\nabla q)\,\Delta\,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logically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$(p\,\Delta\, r) \vee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$(p\,\Delta\, r) \wedge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r)\,\Delta\,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r) \wedge  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logical equivalence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tautology;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a regrouping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$\Delta=\nabla=\vee$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a tautology;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$(p\vee  q)\vee 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a regrouping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$(p\vee  r)\vee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$\Delta=\nabla=\wedge$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 \to  ((p\wedge  q)\wedge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$p=q=T,\ 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$\Delta=\nabla=\vee$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q) \to  ((p\vee  q)\vee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(X\vee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IV,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by regrouping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$\Delta=\vee ,\ \nabla=\wedge$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 \to  ((p\vee  q)\wedge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$p=q=T,\ 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IV,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$\Delta=\wedge ,\ \nabla=\vee$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q) \to  ((p\wedge  q)\vee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q=F,\ 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$\Delta=\nabla=\vee$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$(p\nabla q)\Delta r = (p\vee  q)\vee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by regrouping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r)\vee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$(p\,\Delta\, r) \vee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shape of the tautology: the premise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conclusion must contain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shape of the tautology: the premise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conclusion must contain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statement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this to hold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we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true: fails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= p\nabla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(X' \nabla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$X'=p\Delta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this to hold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 \nabla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$p\nabla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$\nabla=\wedge$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$(p\Delta q)\wedge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true: fails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$\nabla=\vee$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but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$\nabla=\vee$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$p=T,q=F,r=F$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premise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q)\vee  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$\Delta=\nabla=\vee$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q)\vee  r \equiv  (p\vee  r)\vee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$(p\,\Delta\, r) \vee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(addition);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associative and commutative,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connective-identification questions, eliminate options with a single falsifying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(X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(addition);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(X 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associative and commutative,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q)\vee  r \equiv  (p\vee  r)\vee  q \equiv  p\vee  (q\vee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connective-identification questions, eliminate options with a single falsifying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the logical statement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 \in \{p, q, {\sim}p, {\sim}q\}$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the logical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 \vee  ({\sim}p) \to  (p \wedge  q) 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logical equivalence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premise and the conclusion both reduce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premise and the conclusion both reduce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${\sim}p\,$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 \vee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 \to  ({\sim}p\vee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Conclusion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tautology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conclusion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$r\vee ({\sim}p) = {\sim}p \vee  {\sim}p =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q)\vee  r = (p\wedge  q)\vee  {\sim}p = (p\vee  {\sim}p)\wedge (q\vee  {\sim}p) = \mathrm{t} \wedge  ({\sim}p \vee  q) = 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\to  ({\sim}p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a tautology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(X\vee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{\sim}p=\mathrm{t}$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q)\vee  p =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$\mathrm{t}\to  p =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conclusion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conclusion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premise is true, the conclusion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$q\vee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q)\vee  q =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$({\sim}p\vee  q)\to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premise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${\sim}q\vee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conclusion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q)\vee  {\sim}q = p\vee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$p=F,\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premise is true, the conclusion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${\sim}p$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read off what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satisfy.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read off what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satisfy.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premise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conclusion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true: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F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they fail.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conclusion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constraint is broken because the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premise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$r\vee {\sim}p=T$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q)\vee  r =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true: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$p,q,{\sim}p,{\sim}q$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 be F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they fail.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conclusion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constraint is broken because the premise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$r\vee {\sim}p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${\sim}p$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(addition).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unknown statement must make an implication true, look at the rows where the premise holds and see what the conclusion forces on the unknown.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(X \vee 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(addition).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\vee  {\sim}p \equiv  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an unknown statement must make an implication true, look at the rows where the premise holds and see what the conclusion forces on the unknown.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Boolean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Boolean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$({\sim}(p \wedge  q))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(p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\vee  q)$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logical equivalence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expression is a tautology, so the equivalent option is the tautologous one.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is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q) \vee  q = ({\sim}p \vee  {\sim}q)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{\sim}p \vee  ({\sim}q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\vee  q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\mathrm{t}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expression is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 (see the truth table: T, T, T, 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tautologies.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p \vee  q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 (see the truth table: T, T, T, 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(p \wedge  q) = {\sim}q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 = 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\to  q) = 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tautologies.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\to  (p \vee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disjunction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 the second term is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disjunction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${\sim}(p\wedge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 the second term is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true because of the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it is true in all cases, a tautology. The only tautologous option is (D),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true because of the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${\sim}(p\wedge  q)=T$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expression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it is true in all cases, a tautology. The only tautologous option is (D),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(p\vee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\to  (p \vee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statement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negation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 all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(addition).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expression is a tautology, 'equivalent to' means 'also a tautology'.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${\sim}(X \wedge  Y) \vee  Y \equiv  {\sim}X \vee  {\sim}Y \vee  Y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negation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$X\wedge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cover all cases.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(addition).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expression is a tautology, 'equivalent to' means 'also a tautology'.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statements is a tautology?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statements is a tautology?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$(({\sim}q) \wedge  p) \wedge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$(({\sim}q) \wedge  p) \wedge  (p \wedge  ({\sim}p))$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$(({\sim}q) \wedge  p) \vee  (p \vee  ({\sim}p))$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\wedge  ({\sim}(p \wedge  q))$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fallacy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tautology; spot which options contain which.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$X\wedge {\sim}X$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fallacy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$X\vee {\sim}X$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tautology; spot which options contain which.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$({\sim}q \wedge  p) \wedge  q = ({\sim}q \wedge  q) \wedge  p = \mathrm{c} \wedge  p =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$({\sim}q \wedge  p) \wedge  (p \wedge  {\sim}p) = ({\sim}q \wedge  p) \wedge  \mathrm{c} =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$({\sim}q \wedge  p) \vee  (p \vee  {\sim}p) = ({\sim}q \wedge  p) \vee  \mathrm{t}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\wedge  {\sim}(p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\wedge  {\sim}X =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$(({\sim}q) \wedge  p) \vee  (p \vee  ({\sim}p))$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Label each option by its outer connective and the complementary pair it contains.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(A), (B), (D) are conjunctions, so each is true only if every conjunct is true. (A)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together; (B)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a disjunction one of whose parts,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always true, so it is always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(A), (B), (D) are conjunctions, so each is true only if every conjunct is true. (A)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together; (B)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impossible.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a disjunction one of whose parts,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always true, so it is always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$(({\sim}q) \wedge  p) \vee  (p \vee  ({\sim}p))$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conjunction containing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fallacy; a disjunction containing both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options by looking for complementary pairs before any table.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conjunction containing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fallacy; a disjunction containing both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q) \equiv  {\sim}p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options by looking for complementary pairs before any table.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logical statements. Consider the compound statements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377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three logical statements. Consider the compound statements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$S_1: (({\sim}p) \vee  q) \vee  (({\sim}p)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$S_2: p \to  (q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Then, which of the following is NOT true?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Logical equivalence and tautology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logically equivalent, so they always have the same truth 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logically equivalent, so they always have the same truth value.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repeated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merges).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 = p \to  (q \vee  r) \equiv  {\sim}p \vee  (q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 = ({\sim}p \vee  q) \vee  ({\sim}p \vee  r) = {\sim}p \vee  q 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repeated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merges).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same statement: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statements always have equal truth values. Hence (A) is true, (B) is true,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says that when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True; but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also False. So (C) is NOT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same statement: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 \equiv  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statements always have equal truth values. Hence (A) is true, (B) is true,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says that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True;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then also False. So (C) is NOT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Find the single row where each statement is false and compare.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disjunction, so it is false iff all three disjuncts are false: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single row, so the two statements always agree.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'If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True' cannot hold.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$(p,q,r)=(T,F,F)$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 = {\sim}p \vee  q 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disjunction, so it is false iff all three disjuncts are false: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q=F,\ 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single row, so the two statements always agree.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'If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True' cannot hold.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literals is false in exactly one assignment of those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variables.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statements are equivalent, 'if one is true then the other is true' and 'if one is false then the other is false' both hold.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(q \vee  r) \equiv  (p \to  q) \vee  (p \to  r) \equiv  {\sim}p \vee  q 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literals is false in exactly one assignment of those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variables.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two statements are equivalent, 'if one is true then the other is true' and 'if one is false then the other is false' both hold.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 \in \{\wedge ,\ \vee ,\ \to ,\ \leftrightarrow 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q)\,\Delta\,((p \vee  q)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$\leftrightarrow$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fail.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$(p\vee  q)\to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$(p\wedge  q)\to ((p\vee  q)\to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cannot fail.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T.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F.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 \to  ((p\vee  q)\to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T.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q)\wedge ((p\vee  q)\to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F.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 Not a tautology (row TF).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F.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q)\vee ((p\vee  q)\to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 Not a tautology (row TF).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$\Delta=\leftrightarrow$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q)\leftrightarrow ((p\vee  q)\to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F.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Argue with the single row where the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Argue with the single row where the premise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conditional fails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making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 So it never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 at the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F;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conditional fails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q)\to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q)\to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 So it never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$\Delta=\wedge ,\vee ,\leftrightarrow$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 at the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$p=F,\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q)\to  q = T\to  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F;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$\leftrightarrow$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F.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look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q)\to  q=T\to  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F.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$\to$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already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as Q23(C).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already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\to  q \equiv  {\sim}p \vee  q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as Q23(C).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the boolean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the boolean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\to  (({\sim}r) \vee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({\sim}q) \wedge  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\wedge  ({\sim}q) \wedge  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\wedge  q \wedge  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q \wedge  ({\sim}r)$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${\sim}(X\to  Y)=X\wedge {\sim}Y$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$(p\vee  q)\wedge  r\wedge  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$(p\vee  q)\wedge 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$q\wedge 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\to  (({\sim}r) \vee  p) \equiv  {\sim}(p \vee  q) \vee  ({\sim}r \vee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({\sim}p \wedge  {\sim}q) \vee  (p \vee  {\sim}r)$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$[({\sim}p \vee  p) \wedge  ({\sim}q \vee  p)] \vee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(\mathrm{t} \wedge  ({\sim}q \vee  p)) \vee  {\sim}r = (p \vee  {\sim}q) \vee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${\sim}[({\sim}q \vee  p) \vee  {\sim}r] = q \wedge  {\sim}p \wedge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({\sim}p) \wedge  q \wedge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$({\sim}p) \wedge  q \wedge  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conditional is false in exactly one way; solve for it.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true: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negation is true only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q)\to ({\sim}r\vee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 =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true: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negation is true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$(p,q,r)=(F,T,T)$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q \wedge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$({\sim}p) \wedge  q \wedge  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conjunction of literals pins down one row, so the answer can be read off that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(used in the main solution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${\sim}(X \to  Y) \equiv  X \wedge  {\sim}Y$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conjunction of literals pins down one row, so the answer can be read off that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\wedge  {\sim}p \equiv  {\sim}p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\vee  ({\sim}X \wedge  Y) \equiv  X \vee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(used in the main solution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Q49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number of compound propositions, out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can be made simultaneously true by an assignment of the truth values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1236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number of compound propositions, out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r \vee  s,\ p \vee  r \vee  {\sim}s,\ p \vee  {\sim}q \vee  s,\ {\sim}p \vee  {\sim}r \vee  s,\ {\sim}p \vee  {\sim}r \vee  {\sim}s,\ {\sim}p \vee  q \vee  {\sim}s,\ q \vee  r \vee  {\sim}s,\ q \vee  {\sim}r \vee  {\sim}s,\ {\sim}p \vee  {\sim}q \vee  {\sim}s$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that can be made simultaneously true by an assignment of the truth values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$p,\ q,\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63245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Truth values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all six propositions containing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true; the other three then only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all six propositions containing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true; the other three then only need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$p\vee 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$p\vee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${\sim}p\vee {\sim}r$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9 propositions, each a disjunction of three literals.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Six of them contain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these six are all true whatever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three,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9 propositions, each a disjunction of three literals.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Six of them contain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r\vee {\sim}s$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{\sim}r\vee {\sim}s$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q\vee {\sim}s$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$q\vee  r\vee {\sim}s$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$q\vee {\sim}r\vee {\sim}s$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{\sim}q\vee {\sim}s$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${\sim}s=T$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these six are all true whatever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three,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r\vee 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{\sim}q\vee 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{\sim}r\vee 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any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all nine propositions are true at, e.g.,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cannot exceed the total 9, so it is 9. Answer: 9.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{\sim}q=T$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{\sim}r=F\vee  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all nine propositions are true at, e.g.,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$(p,q,r,s)=(T,T,F,F)$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maximum cannot exceed the total 9, so it is 9. Answer: 9.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Try the other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clauses without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 2-literal conditions that can be solved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Try the other value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clauses without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become 2-literal conditions that can be solved directly.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three propositions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true; the other six become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true force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three propositions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true; the other six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$q\vee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true force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$q\vee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six true, so all nine are true again.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9 propositions are simultaneously true by a second, independent assignment. Answer: 9.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$(p,q,r,s)=(F,T,T,T)$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{\sim}r=T$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$q\vee  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$q\vee {\sim}r=T$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{\sim}q=T$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All six true, so all nine are true again.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9 propositions are simultaneously true by a second, independent assignment. Answer: 9.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9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49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1520" y="1353312"/>
            <a:ext cx="10725912" cy="532180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A set of disjunctions (clauses) is simultaneously satisfiable iff some assignment makes every clause true; fixing one variable to satisfy many clauses at once is the standard first move.</a:t>
            </a:r>
            <a:endParaRPr sz="2400">
              <a:solidFill>
                <a:srgbClr val="111827"/>
              </a:solidFill>
            </a:endParaRPr>
          </a:p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A clause containing a literal is satisfied outright once that literal is made true.</a:t>
            </a:r>
            <a:endParaRPr sz="2400">
              <a:solidFill>
                <a:srgbClr val="111827"/>
              </a:solidFill>
            </a:endParaRPr>
          </a:p>
          <a:p>
            <a:pPr algn="l" marL="274320" indent="-274320">
              <a:spcAft>
                <a:spcPts val="600"/>
              </a:spcAft>
              <a:buFont typeface="Arial"/>
              <a:buChar char="•"/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Here the four variables give 16 assignments; exactly 4 of them satisfy all nine clauses (checked by listing).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Q50 – Q64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correct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statements is a tautology?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statements is a tautology?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$(({\sim}p) \vee  q) \to  p$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(({\sim}p) \vee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$(({\sim}p) \vee  q) \to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(({\sim}p) \vee  q)$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'addition' rule: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 then any disjunction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$q\to (X\vee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'addition' rule: 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 then any disjunction containing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F: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T: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\vee  q)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F: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({\sim}p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T: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F: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\vee  q)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F: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({\sim}p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$q \to  (({\sim}p) \vee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Argue with the premise: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 makes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true, so (D) cannot fail; find a failing row for each other option.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Argue with the premise: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${\sim}p\vee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true, so (D) cannot fail; find a failing row for each other option.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fails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disjunction true. So (D) never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fails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(B) fails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(C) fails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fails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disjunction true. So (D) never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fails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$p=F,\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(B) fails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(C) fails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$q \to  (({\sim}p) \vee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tautologies.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implication is a tautology iff its premise implies its conclusion in every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(X \vee 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 \to  (X \vee 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tautologies.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({\sim}p \vee  q) \equiv  p \to  (p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 implication is a tautology iff its premise implies its conclusion in every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statements: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Ramu is intelligent.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Ramu is rich.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Ramu is not honest. The negation of the statement 'Ramu is intelligent and honest if and only if Ramu is not rich' can be expressed 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statements: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Ramu is intelligent.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Ramu is rich.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Ramu is not honest. The negation of the statement 'Ramu is intelligent and honest if and only if Ramu is not rich' can be expressed 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 \wedge  ({\sim}R)) \wedge  Q) \wedge  (({\sim}Q) \wedge  (({\sim}P) \vee  R))$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 \wedge  R) \wedge  Q) \vee  (({\sim}Q) \wedge  (({\sim}P) \vee  ({\sim}R)))$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 \wedge  R) \wedge  Q) \wedge  (({\sim}Q) \wedge  (({\sim}P) \vee  ({\sim}R)))$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 \wedge  ({\sim}R)) \wedge  Q) \vee  (({\sim}Q) \wedge  (({\sim}P) \vee  R))$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'Honest'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negating one side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both true or both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'Honest'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statement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$(P\wedge {\sim}R)\leftrightarrow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negating one side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$\leftrightarrow$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$(P\wedge {\sim}R)\leftrightarrow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both true or both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'Intelligent and honest'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(honest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'not rich'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'Intelligent and honest'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(honest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'not rich'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{\sim}R) \leftrightarrow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(D).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${\sim}[(P \wedge  {\sim}R) \leftrightarrow  {\sim}Q]$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$X\leftrightarrow  Y \equiv  ({\sim}X \vee  Y) \wedge  (X \vee  {\sim}Y)$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${\sim}[(X\leftrightarrow  Y)] = (X \wedge  {\sim}Y) \vee  ({\sim}X \wedge 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$X=P\wedge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((P \wedge  {\sim}R) \wedge  Q) \vee  ({\sim}(P \wedge  {\sim}R) \wedge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{\sim}R) = {\sim}P 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((P \wedge  {\sim}R) \wedge  Q) \vee  (({\sim}Q) \wedge  (({\sim}P) \vee  R))$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(D).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Evaluate the statement at one convenient assignment and eliminate options.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negation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contains the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conjunction: False. (B) first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second part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 (C) False similarly.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disjunction is True. Only (D) matches.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$(P,Q,R)=(T,T,F)$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$T\leftrightarrow  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negation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contains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$(({\sim}Q)\wedge 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conjunction: False. (B) first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R)\wedge 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second part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False. (C) False similarly.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$((P\wedge {\sim}R)\wedge  Q) =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disjunction is True. Only (D) matches.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itself the negative statement 'Ramu is not honest', so 'honest'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read each definition before translating.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single well-chosen assignment can eliminate all but one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${\sim}(X \leftrightarrow  Y) \equiv  (X \wedge  {\sim}Y) \vee  ({\sim}X \wedge  Y) \equiv  X \leftrightarrow  {\sim}Y$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itself the negative statement 'Ramu is not honest', so 'honest'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read each definition before translating.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single well-chosen assignment can eliminate all but one option.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contradiction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$({\sim}(p \leftrightarrow  {\sim}q))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contradiction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p$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Logical equivalence and tautology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${\sim}(p\leftrightarrow {\sim}q)=p\leftrightarrow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$(p\leftrightarrow  q)\wedge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also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$(p\to  q)\wedge 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F (differs in row FT): not equivalent, so (C)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{\sim}q) \equiv  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\leftrightarrow  q)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\leftrightarrow  q)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F (differs in row FT): not equivalent, so (C)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F: identical to the given column, so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column has both T and F, so (A) and (B)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F: identical to the given column, so (D)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column has both T and F, so (A) and (B) are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equivalent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\to  q) \wedge  p$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the known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the biconditional and the conditional.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the known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the biconditional and the conditional.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true,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statement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true,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agree;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$(p\leftrightarrow  q)\wedge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true,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$p\leftrightarrow  T =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 q)\wedge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true,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  q =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They agree;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 q)\wedge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instead.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equivalent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\to  q) \wedge  p$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(modus-ponens flavour).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Inside a conjunction, each factor may be assumed true when simplifying the others.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\leftrightarrow  {\sim}q) \equiv  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 \leftrightarrow  Y) \wedge  Y \equiv  X \wedge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 \to  Y) \wedge  X \equiv  X \wedge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(modus-ponens flavour).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Inside a conjunction, each factor may be assumed true when simplifying the others.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the Boolean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the Boolean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(q \to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\wedge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({\sim}q)$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\vee  ({\sim}q)$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\wedge  ({\sim}q)$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one of the two pieces is a contradiction.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${\sim}(X\leftrightarrow  Y)=(X\wedge {\sim}Y)\vee ({\sim}X\wedge  Y)$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one of the two pieces is a contradiction.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${\sim}(X \leftrightarrow  Y) \equiv  (X \wedge  {\sim}Y) \vee  ({\sim}X \wedge 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$X=p,\ Y=q\to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{\sim}(q \to  p) = p \wedge  (q \wedge  {\sim}p) = (p \wedge  {\sim}p) \wedge  q =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 \to  p) \wedge  {\sim}p = ({\sim}q \vee  p) \wedge  {\sim}p = ({\sim}q \wedge  {\sim}p) \vee  (p \wedge  {\sim}p) = {\sim}p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\mathrm{c} \vee  ({\sim}p \wedge  {\sim}q) = {\sim}p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$({\sim}p) \wedge  ({\sim}q)$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on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on the value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false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negation is true only there: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$p\leftrightarrow (q\to  p)=T\leftrightarrow  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$q\to  p={\sim}q$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$p\leftrightarrow (q\to  p)=F\leftrightarrow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expression is false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negation is true only there: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$({\sim}p) \wedge  ({\sim}q)$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biconditional is true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holds; so its negation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splitting on one variable is often the quickest way to evaluate a biconditional.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(q \to  p) \equiv  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biconditional is true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holds; so its negation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${\sim}(X \leftrightarrow  Y) \equiv  (X \wedge  {\sim}Y) \vee  ({\sim}X \wedge 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splitting on one variable is often the quickest way to evaluate a biconditional.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r) \leftrightarrow  (p \wedge  ({\sim}q))$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Logical equivalence and tautology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sides are false and the biconditional is true;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biconditional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must be false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both sides are false and the biconditional is true;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biconditional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$r\leftrightarrow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must be false for all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biconditional is F, F, T,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q)\leftrightarrow (p\wedge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biconditional is F, F, T,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T: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 choices: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T (not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tautology;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T: equal.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Other choices: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$p\leftrightarrow (p\wedge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T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{\sim}q)\leftrightarrow (p\wedge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tautology;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$\mathrm{c}\leftrightarrow (p\wedge {\sim}q)={\sim}(p\wedge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see what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do.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see what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do.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false, so the biconditional is true;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Consistent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biconditional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must equal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always differ: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false, so the biconditional is true;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Consistent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biconditional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$r\leftrightarrow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must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always differ: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$r\leftrightarrow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$q\leftrightarrow {\sim}q=F$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biconditional between a statement and its negation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conjunction with a true factor disappears.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an unknown statement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split on the other variables and solve the resulting condition.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\leftrightarrow  {\sim}X \equiv 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\leftrightarrow  X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biconditional between a statement and its negation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conjunction with a true factor disappears.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find an unknown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split on the other variables and solve the resulting condition.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truth value of 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F, then the truth value of which of the following is F?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truth value of 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({\sim}R)) \to  (({\sim}R)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F, then the truth value of which of the following is F?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 \to  {\sim}R$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 \vee  Q \to  {\sim}P$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\vee  Q) \to  {\sim}R$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${\sim}(R \vee  Q) \to  {\sim}P$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Truth values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false conditional pins down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evaluate the four options at that single row.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false conditional pins down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$P=T,\ R=F$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evaluate the four options at that single row.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= P \wedge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 = {\sim}R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$(P,Q,R)=(T,F,F)$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 \to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 \to  T =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$R\vee  Q \to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 \to  F =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${\sim}(P\vee  Q) \to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 \to  T =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${\sim}(R\vee  Q) \to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 \to  F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option find its own single falsifying row and compare it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each option find its own single falsifying row and compare it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$(T,F,F)$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cannot be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not our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cannot be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$R\vee 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not our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$R=Q=F,\ 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conditional has exactly one falsifying row condition: premise true, conclusion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a compound statement is false, extract the truth values of the variables first, then evaluate.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conditional has exactly one falsifying row condition: premise true, conclusion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Given that a compound statement is false, extract the truth values of the variables first, then evaluate.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${\sim}(R \vee  Q) \to  {\sim}P \equiv  (R \vee  Q) \vee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$R=Q=F,\ 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operations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tautology, then the ordered pair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operations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$*,\ \odot \in \{\wedge ,\ \vee 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* q) \odot (p \odot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tautology, then the ordered pair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$(*,\ \odot)$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$(\vee ,\ \wedge 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$(\vee ,\ \vee 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$(\wedge ,\ \wedge 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$(\wedge ,\ \vee 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expression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conjunct and is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$\odot=\vee$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expression contains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$q\vee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$\odot=\wedge$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it contains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conjunct and is false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$*=\vee ,\ \odot=\wedge$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q)\wedge (p\wedge {\sim}q) = 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(B),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$*=\vee ,\ \odot=\vee$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q)\vee (p\vee {\sim}q) = p\vee (q\vee {\sim}q) = p\vee \mathrm{t}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(C),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$*=\wedge ,\ \odot=\wedge$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q)\wedge (p\wedge {\sim}q) = p\wedge (q\wedge {\sim}q) =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(D),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works.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(D),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$*=\wedge ,\ \odot=\vee$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q)\vee (p\vee {\sim}q) = p\vee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$p=F,\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(B) works.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$(\vee ,\ \vee 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Search for falsifying rows by the shape of the outer connective.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expression has the conjunct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never a tautology (rules out (A), (C)).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second part is false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$\odot=\wedge$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expression has the conjunct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never a tautology (rules out (A), (C)).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$\odot=\vee$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$(p*q)\vee (p\vee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second part is false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$p=F,\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that 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 (so the whole is true),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F (the whole is false).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that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$p*q = F*T$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T (so the whole is true),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$*=\wedge$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F (the whole is false).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$(\vee ,\vee 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$(\wedge ,\vee 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$(\vee ,\ \vee 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conjunction is a tautology only if every conjunct is; a conjunction containing a non-tautology like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only if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as soon as one of them 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conjunction is a tautology only if every conjunct is; a conjunction containing a non-tautology like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\vee  (p \vee  {\sim}q) \equiv  p \vee  (q \vee  {\sim}q)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\wedge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only if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\vee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as soon as one of them 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Ramesh listens to music.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Ramesh is out of his village.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Sunday.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Saturday. Then the statement 'Ramesh listens to music only if he is in his village and it is Sunday or Saturday' can be expressed 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Ramesh listens to music.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Ramesh is out of his village.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Sunday.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is Saturday. Then the statement 'Ramesh listens to music only if he is in his village and it is Sunday or Saturday' can be expressed as: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$(({\sim}q) \wedge  (r \vee  s)) \to  p$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 \wedge  (r \vee  s)) \to  p$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(q \wedge  (r \vee  s))$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(({\sim}q) \wedge  (r \vee  s))$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Translation of statements into symbolic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'in his village'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'Sunday or Saturday'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066288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 means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$A\to  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'in his village'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'Sunday or Saturday'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$r\vee  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Ramesh listens to music;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 is in his village;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Sunday or Saturday.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'in his village and it is Sunday or Saturday'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312920"/>
                <a:ext cx="10725912" cy="23621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Ramesh listens to music;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 is in his village;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$r\vee 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Sunday or Saturday.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'in his village and it is Sunday or Saturday'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$({\sim}q) \wedge  (r \vee  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(({\sim}q) \wedge  (r \vee  s))$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\to  (({\sim}q) \wedge  (r \vee  s))$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Test the options at one assignment where the promise is clearly broken.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 listens),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 is out of his village),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promise is broken, so the statement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only option that is False.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 listens),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 is out of his village),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promise is broken, so the statement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$({\sim}q\wedge (r\vee  s))\to  p = F\to  T =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$(q\wedge (r\vee  s))\to  p = T\to  T =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(q\wedge (r\vee  s)) = T\to  T =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({\sim}q\wedge (r\vee  s)) = T\to  F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only option that is False.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\to  (({\sim}q) \wedge  (r \vee  s))$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'in the village' is the negation of 'out of the village',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read the defined statements before translating.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'Sunday or Saturday' is a plain (inclusive) disjunction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$=B\to 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and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$=A\leftrightarrow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'in the village' is the negation of 'out of the village',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read the defined statements before translating.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'Sunday or Saturday' is a plain (inclusive) disjunction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$r\vee 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(p 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\to  (p \wedge  r)$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\wedge  r)$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r) \to  (p \wedge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r$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Logical equivalence and tautology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already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repeated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redundant.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 (p\wedge  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$X=p\wedge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already containing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repeated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redundant.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(p \wedge  r) \equiv  {\sim}(p \wedge  q) \vee  (p \wedge  r) \equiv  ({\sim}p \vee  {\sim}q) \vee  (p 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Regroup: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\vee  (p \wedge  r))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\vee  p) \wedge  ({\sim}p \vee  r) \vee  {\sim}q = (\mathrm{t} \wedge  ({\sim}p \vee  r))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({\sim}p \vee  r) \vee  {\sim}q = ({\sim}p \vee  {\sim}q) 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{\sim}(p \wedge  q) 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${\sim}(p\wedge  q) \vee  r \equiv  (p \wedge  q) 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\wedge  q) \to  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Both sides are conditionals; compare their falsifying rows.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single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q)\to (p\wedge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same single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is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arbitrary, e.g.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given statement is true; (C) is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given statement is true.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$q=T,\ 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arbitrary,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given statement is true; (C)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$p=r=T,\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the given statement is true.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\wedge  q) \to  r$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premise, any statement already implied by it can be added to or dropped from the conclusion.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conditionals by their falsifying rows.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(X \wedge  Y) \equiv  X \to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 \to  (p \wedge  r) \equiv  (p \wedge  q) 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the premise, any statement already implied by it can be added to or dropped from the conclusion.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conditionals by their falsifying rows.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\vee  (p \to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({\sim}r)) \to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$({\sim}q) \to  (({\sim}r) \vee  p)$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(q \vee  r)$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({\sim}q)) \to  r$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Logical equivalence and tautology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false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check which option is not false exactly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$(p\to  q)\vee (p\to  r) \equiv  {\sim}p\vee  q\vee 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false only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$(T,F,F)$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check which option is not false exactly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(C):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equivalent.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 q)\vee (p\to  r) = ({\sim}p\vee  q)\vee ({\sim}p\vee  r) = {\sim}p \vee  (q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(q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(C):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{\sim}r)\to  q = {\sim}(p\wedge {\sim}r)\vee  q = ({\sim}p\vee  r)\vee  q = {\sim}p\vee  q\vee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equivalent.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equivalent (they differ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is false, (B) is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{\sim}q)\to  r = ({\sim}p\vee  q)\vee  r = {\sim}p\vee  q\vee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$({\sim}q)\to (({\sim}r)\vee  p) = q \vee  {\sim}r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q\vee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q\vee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equivalent (they differ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q=F,\ 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first is false, (B) is true).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$({\sim}q) \to  (({\sim}r) \vee  p)$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given statement is false only at one row; test the four options at that row.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False: (B) is not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q\vee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q=F,\ 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$(T\wedge  T)\to  F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  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$(T\wedge  T)\to  F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${\sim}r\vee  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(B)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  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False: (B) is not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$({\sim}q) \to  (({\sim}r) \vee  p)$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59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moving a negated literal to the other side of a conditional.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of three literals is false in exactly one row; two such statements are equivalent iff they use the same literals.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\vee  (p \to  r) \equiv  p \to  (q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(p \to  r) \equiv  p \to  (q 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{\sim}r) \to  q \equiv  {\sim}p \vee  r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\to  r \equiv  {\sim}p \vee  q 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moving a negated literal to the other side of a conditional.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of three literals is false in exactly one row; two such statements are equivalent iff they use the same literals.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compound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compound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$({\sim}(P \wedge  Q)) \vee  (({\sim}P) \wedge  Q) \to  (({\sim}P) \wedge  ({\sim}Q))$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\vee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$(({\sim}P) \vee  Q) \wedge  ({\sim}Q)$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$({\sim}Q) \vee  P$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$(({\sim}P) \vee  Q) \wedge  (({\sim}Q) \vee  P)$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Logical equivalence and tautology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premise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says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premise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${\sim}(P\wedge  Q)\vee ({\sim}P\wedge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${\sim}(P\wedge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statement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${\sim}(P\wedge  Q)\to ({\sim}P\wedge {\sim}Q)$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says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$P\leftrightarrow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statement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$r={\sim}(P\wedge  Q)\vee ({\sim}P\wedge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$s={\sim}P\wedge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 \to 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Truth table,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T,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 \to 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column is the truth table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(D):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T; (B) = F, F, F, T;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T. None of them equals the column T,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column is the truth table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$(({\sim}P)\vee  Q)\wedge (({\sim}Q)\vee  P) = (P\to  Q)\wedge (Q\to  P) = P\leftrightarrow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(equivalent).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T; (B) = F, F, F, T;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T. None of them equals the column T,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$(({\sim}P) \vee  Q) \wedge  (({\sim}Q) \vee  P)$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algebraically: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already inside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algebraically: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already inside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${\sim}(P\wedge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$r={\sim}(P\wedge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implies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('both true or both false'), and option (D)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implies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 = {\sim}(P\wedge  Q)\vee ({\sim}P\wedge  Q) = {\sim}(P\wedge  Q) = {\sim}P\vee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$({\sim}P\vee {\sim}Q)\to ({\sim}P\wedge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(P\wedge  Q)\vee ({\sim}P\wedge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Q)\vee ({\sim}P\wedge {\sim}Q) = P\leftrightarrow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('both true or both false'), and option (D)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 Q)\wedge (Q\to  P)=P\leftrightarrow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$(({\sim}P) \vee  Q) \wedge  (({\sim}Q) \vee  P)$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'if not both, then neither' holds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\leftrightarrow  Q \equiv  (P \wedge  Q) \vee  ({\sim}P \wedge  {\sim}Q) \equiv  (P \to  Q) \wedge  (Q \to  P) \equiv  ({\sim}P \vee  Q) \wedge  ({\sim}Q \vee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\vee  ({\sim}X \wedge  Y) \equiv  X \vee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${\sim}(P\wedge  Q) \vee  ({\sim}P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Q) \to  ({\sim}P \wedge  {\sim}Q) \equiv  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'if not both, then neither' holds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agree.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statements.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statements.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(p \to  {\sim}q))$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(p \wedge  ({\sim}q))$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(p \wedge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(({\sim}p) \wedge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\vee  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(modus ponens), so its negation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(p\to {\sim}q)$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(modus ponens), so its negation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${\sim}p\vee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expression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(p \to  {\sim}q)) = {\sim}p \vee  {\sim}(p \to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{\sim}q \equiv  {\sim}p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\to  {\sim}q) = 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(p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\vee  p) \wedge  ({\sim}p \vee  q) = \mathrm{t} \wedge  ({\sim}p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$({\sim}p) \vee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inside first: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conditional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the inside first: given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conditional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true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None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(p \to  {\sim}q) \equiv  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true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${\sim}(p\wedge {\sim}q) = 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(p\wedge {\sim}q)=p$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(p\wedge  q)=p$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({\sim}p\wedge  q)=p\vee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None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$({\sim}p) \vee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(modus-ponens simplification).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\wedge  (X \to  Y) \equiv  X \wedge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(modus-ponens simplification).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\vee  (X \wedge  Y) \equiv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\vee  ({\sim}X \wedge  Y) \equiv  X \vee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{\sim}q)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 contradiction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({\sim}q)) \to  (p \to  ({\sim}q))$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\vee  ({\sim}q)$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a contradiction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holds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holds,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holds.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holds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holds,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holds.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so the conditional is true (false premise).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conditional is true (true conclusion).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both cases the statement is true: it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so the conditional is true (false premise).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{\sim}q=p\to  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conditional is true (true conclusion).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both cases the statement is true: it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a tautology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Algebra: remove the conditionals.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tautology, so (A).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{\sim}q)\to (p\to {\sim}q) = {\sim}(p\wedge {\sim}q) \vee  ({\sim}p \vee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({\sim}p \vee  q) \vee  ({\sim}p \vee  {\sim}q) = {\sim}p \vee  (q \vee  {\sim}q) = {\sim}p \vee  \mathrm{t}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tautology, so (A).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a tautology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for every statement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that is true whether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or false (case split)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tautology is not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false in some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X) \to  (p \to 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for every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that is true whether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or false (case split)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tautology is not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false in some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$\Delta,\nabla \in \{\wedge ,\ \vee 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q)\,\Delta\,(p\,\nabla\,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 = \wedge ,\ \nabla = \wedge$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 = \wedge ,\ \nabla = \vee$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 = \vee ,\ \nabla = \vee$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 = \vee ,\ \nabla = \wedge$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second part must be true there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 only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$(T,F)$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second part must be true there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be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$\vee$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F; conjunction = T, F, T, F.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F; disjunction = T, F, T, T.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$\Delta=\wedge ,\ \nabla=\vee$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F; conjunction = T, F, T, F.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$\Delta=\vee ,\ \nabla=\wedge$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F; disjunction = T, F, T, T.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T.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$\Delta=\vee ,\ \nabla=\vee$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 q)\vee (p\vee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T.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$\Delta=\wedge ,\ \nabla=\wedge$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 q)\wedge (p\wedge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F.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$\Delta = \vee ,\ \nabla = \vee$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only row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fails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track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only row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fails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$(T,F)$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track it.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conjunction is false wherever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i.e.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 (rules out (A), (B)).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disjunction can fail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$\Delta=\wedge$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conjunction is false wherever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i.e.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 (rules out (A), (B)).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disjunction can fail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$p\nabla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 =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$\nabla=\vee$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∇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$\Delta = \vee ,\ \nabla = \vee$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conjunction with a non-tautology is never a tautology; a disjunction repairs the one failing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conjunction with a non-tautology is never a tautology; a disjunction repairs the one failing row.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\vee  (p \vee  q) \equiv  {\sim}p \vee  q \vee  p \vee  q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three propositions, then which of the following combinations of truth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logical expression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$p,\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three propositions, then which of the following combinations of truth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$p,\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logical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$\{(p \vee  q) \wedge  (({\sim}p) \vee  r)\} \to  (({\sim}q)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$p=F,\ q=T,\ r=F$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q=F,\ r=T$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q=T,\ r=F$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q=F,\ r=F$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Truth values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false conditional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false,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the premise 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false conditional needs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$({\sim}q)\vee 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false, i.e.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$q=T,\ r=F$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then the premise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conditional is false only if the premise is true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conditional is false only if the premise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$({\sim}q)\vee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$({\sim}q)\vee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$q=T,\ 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Premise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premise to be true,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only false row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others: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gives a true conditional.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Premise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$q=T,\ 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T)\wedge ({\sim}p\vee  F) = T \wedge  {\sim}p =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the premise to be true,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only false row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$(p,q,r)=(F,T,F)$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others: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${\sim}q\vee  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premise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$T\wedge (F\vee  F)=F$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Each gives a true conditional.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$p=F,\ q=T,\ r=F$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Substitute the four options.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Conditional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conclusion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conditional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premise false, conditional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conclusion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conditional true.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premise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${\sim}q\vee  r = F\vee  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Conditional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  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${\sim}q\vee  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conditional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r=F\vee  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premise false, conditional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${\sim}q\vee  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conditional true.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$p=F,\ q=T,\ r=F$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conditional is false iff premise true and conclusion false; start from the conclusion when it is a short disjunction (false in exactly one way).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resolution rule, a tautology; here the conclusion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set up a table with the sub-statements as columns.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conditional is false iff premise true and conclusion false; start from the conclusion when it is a short disjunction (false in exactly one way).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\wedge  ({\sim}p \vee  r) \to  (q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resolution rule, a tautology; here the conclusion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set up a table with the sub-statements as columns.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One or more than one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Q65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or more options may be correct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(({\sim}A) \vee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(A \to  B)$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\leftrightarrow  B)$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(({\sim}A) \to  B)$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(({\sim}A) \to  B)$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One or more than one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logical equivalence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tautology; so the equivalent options are exactly the tautologous ones.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$B\to (\cdot\vee 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tautology; so the equivalent options are exactly the tautologous ones.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given statement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an option is equivalent to it iff it is also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Tautology,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tautology, not equivalent.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({\sim}A \vee  B) \equiv  {\sim}B \vee  ({\sim}A \vee  B) = ({\sim}B \vee  B) \vee  {\sim}A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given statement is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an option is equivalent to it iff it is also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(A \to  B) = {\sim}B \vee  ({\sim}A \vee  B)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Tautology,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\leftrightarrow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$A\leftrightarrow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B = {\sim}A \vee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$A=T,\ B=F$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tautology, not equivalent.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Tautology,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Tautology,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({\sim}A \to  B) = {\sim}B \vee  (A \vee  B)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Tautology,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({\sim}A \to  B) = {\sim}A \vee  (A \vee  B)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Tautology, equivalent.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Correct options: (A),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Argue with the premise of each implication instead of algebra.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option is an implication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can only fail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(true conclusion). Never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 Never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option is an implication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can only fail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$B\to (A\to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(true conclusion). Never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$B\to ({\sim}A\to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${\sim}A\to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 Never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(false premise). Never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conclusion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 Fails. Hence (A),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({\sim}A\to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${\sim}A\to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(false premise). Never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$A\to (A\leftrightarrow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$A=T,\ B=F$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conclusion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$A\leftrightarrow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 Fails. Hence (A), (C),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(A, C, D)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tautologies.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leading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inner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to a tautology means being a tautology: tabulating the options as tautology or not is enough.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(X \vee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\to  (A \to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({\sim}A \to  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all tautologies.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\to  (A \leftrightarrow  B) \equiv  A \to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leading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inner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 to a tautology means being a tautology: tabulating the options as tautology or not is enough.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Q66 – Q82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correct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04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neither (S1) nor (S2) is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(S1) is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(S1) and (S2) are tautologies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(S2) is a tautology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04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statements: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 \vee  q) \to  r) \leftrightarrow  (p \to  r)$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 \vee  q) \to  r) \leftrightarrow  ((p \to  r) \vee  (q \to  r))$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neither (S1) nor (S2) is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only (S1) is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(S1) and (S2) are tautologies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(S2) is a tautology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single counter-row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breaks both statements.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$(p\vee  q)\to 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$(p\to  r)\wedge (q\to  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a single counter-row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$p=F,\ q=T,\ r=F$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breaks both statements.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$p=F,\ q=T,\ 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 =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q)\to  r = T\to  F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r = F\to  F =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(S1) is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(S2) is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is a tautology.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 \leftrightarrow  T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(S1) is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$q\to  r = T\to  F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 r)\vee (q\to  r) = T\vee  F =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 \leftrightarrow  T =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(S2) is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is a tautology.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with the claimed forms.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$(p\vee  q)\to  r \equiv  (p\to  r)\wedge (q\to  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compare with the claimed forms.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 claims this equals just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 claims the AND equals the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 when exactly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fail, e.g.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q)\to  r = {\sim}(p\vee  q)\vee  r = ({\sim}p\wedge {\sim}q)\vee  r = ({\sim}p\vee  r)\wedge ({\sim}q\vee  r) = (p\to  r)\wedge (q\to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 claims this equals just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but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 claims the AND equals the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 r)\vee (q\to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false when exactly one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fail, e.g.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$p=F,\ q=T,\ 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conjunction is generally not equivalent to a single conjunct or to the disjunction of the conjuncts.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counter-row suffices to show a statement is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\to  r \equiv  (p \to  r) \wedge  (q \to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r \equiv  (p \to  r) \vee  (q \to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conjunction is generally not equivalent to a single conjunct or to the disjunction of the conjuncts.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One counter-row suffices to show a statement is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statements: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 have fever.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 will not take medicine.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 will take rest. The statement 'If I have fever, then I will take medicine and I will take rest'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749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the following statements: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 have fever.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 will not take medicine.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 will take rest. The statement 'If I have fever, then I will take medicine and I will take rest'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$(({\sim}P) \vee  Q) \wedge  (({\sim}P) \vee  ({\sim}R))$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({\sim}Q)) \wedge  (P \vee  ({\sim}R))$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$(({\sim}P) \vee  ({\sim}Q)) \wedge  (({\sim}P) \vee  R)$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\wedge  (({\sim}P) \vee  R)$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Translation of statements into symbolic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'Take medicine'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'will not take'), so the statement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'Take medicine'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says 'will not take'), so the statement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({\sim}Q\wedge  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 will take medicine'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'I will take rest'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the conditional: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'I will take medicine'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'I will take rest'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({\sim}Q 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Remove the conditional: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({\sim}Q 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(C).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\vee  {\sim}Q) \wedge  ({\sim}P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option (C).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$(({\sim}P) \vee  ({\sim}Q)) \wedge  (({\sim}P) \vee  R)$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Eliminate options with two test assignments.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 does not take medicine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statement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this row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(B), (D) are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 takes medicine and rest, so the statement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$(P,Q,R)=(T,T,T)$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 does not take medicine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  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this row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$=(F\vee  T)\wedge (F\vee  F)=F$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$=(T\vee  F)\wedge (T\vee  F)=T$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$=(F\vee  F)\wedge (F\vee  T)=F$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$=(T\vee  T)\wedge (F\vee  T)=T$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(B), (D) are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$(P,Q,R)=(T,F,T)$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he takes medicine and rest, so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  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this row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(wrong) and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(right). So (A)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(C).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this row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$=(F\vee  F)\wedge (F\vee  F)=F$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(wrong) and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$=(F\vee  T)\wedge (F\vee  T)=T$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(right). So (A)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(C).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$(({\sim}P) \vee  ({\sim}Q)) \wedge  (({\sim}P) \vee  R)$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negative statement ('will not'), its negation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positive action: translate carefully.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is true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whatever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(Y \wedge  Z) \equiv  (X \to  Y) \wedge  (X \to  Z) \equiv  ({\sim}X \vee  Y) \wedge  ({\sim}X \vee  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negative statement ('will not'), its negation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positive action: translate carefully.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is true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whatever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contradiction.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(S1) and (S2) are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(S1) and (S2) are wrong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(S1)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(S2) is correct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119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\vee  (p \wedge  ({\sim}q))$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$(({\sim}p) \to  ({\sim}q)) \wedge  (({\sim}p)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contradiction. Then: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both (S1) and (S2) are correct.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(S1) and (S2) are wrong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(S1) is correct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(S2) is correct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(S1)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(S2)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true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not a contradiction.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${\sim}(p\to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(S1)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$X\vee {\sim}X$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(S2)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$p\leftrightarrow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true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hence not a contradiction.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F,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T: a tautology. (S1)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F,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 q)\vee (p\wedge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T: a tautology. (S1) is correct.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true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is not a contradiction. (S2)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(S1) is correct.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${\sim}p\to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$(({\sim}p)\to ({\sim}q))\wedge (({\sim}p)\vee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F,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is true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it is not a contradiction. (S2) is wrong.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(S1) is correct.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only (S1) is correct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Reduce both statements to something recognisable.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(S1)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(S2)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(S2) is not a contradiction.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 \equiv  {\sim}(p\to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(S1)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$X\vee {\sim}X$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${\sim}p\to {\sim}q \equiv  q\to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 q \equiv  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(S2)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$(q\to  p)\wedge (p\to  q) = p\leftrightarrow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(S2) is not a contradiction.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only (S1) is correct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contradiction;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(contrapositive).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trust a key without checking: here the printed table contradicts the printed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\vee  {\sim}X$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\wedge  {\sim}X$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contradiction;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 q) \wedge  (q\to  p) \equiv  p \leftrightarrow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\to  {\sim}q \equiv  q 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(contrapositive).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Never trust a key without checking: here the printed table contradicts the printed answer.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2   (C) 4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 \in \{p, q, {\sim}p, {\sim}q\}$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$((p \wedge  q) \to  (r \vee  q)) \wedge  ((p \wedge  r)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tautology,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3   (B) 2   (C) 4   (D) 1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true (the conclusion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only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matters, and it fails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$(p\wedge  q)\to (r\vee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true (the conclusion contains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$(p\wedge  r)\to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matters, and it fails only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$p=T,\ q=F,\ r=T$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whole statement is a tautology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fails.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q)\to (r\vee  q) \equiv  {\sim}(p\wedge  q) \vee  r \vee  q = {\sim}p \vee  {\sim}q \vee  q \vee  r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whole statement is a tautology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r)\to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r)\to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r=T,\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fails.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fails.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exactly two values,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 2.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{\sim}p)\to  q=\mathrm{c}\to  q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exactly two values,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 2.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single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cause trouble: require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be false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Only the single row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$(p,q)=(T,F)$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can cause trouble: require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be false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F in the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rows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automatically safe).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each candidate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two candidates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F. Answer: (B) 2.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r)\to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only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F in the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rows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automatically safe).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Evaluate each candidate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$r=p\to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$r=q\to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$r={\sim}p\to 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$r={\sim}q\to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two candidates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give F. Answer: (B) 2.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69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its conclusion already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in exactly one row: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repair it choose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in the 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counting questions on a statement with an unknown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reduce the check to the failing rows.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(r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its conclusion already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r)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fails in exactly one row: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r=T,\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repair it choose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in the 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counting questions on a statement with an unknown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reduce the check to the failing rows.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the expression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\vee  (({\sim}q) \wedge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({\sim}q)$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\wedge  ({\sim}q)$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\vee  ({\sim}q)$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\times 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and simplification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negation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$q\vee ({\sim}q\wedge  p)$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$q\vee 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negation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${\sim}p\wedge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${\sim}(q \vee  (({\sim}q) \wedge  p)) = {\sim}q \wedge  {\sim}(({\sim}q) \wedge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${\sim}(({\sim}q) \wedge  p) = q \vee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\wedge  (q \vee  {\sim}p)$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$({\sim}q \wedge  q) \vee  ({\sim}q \wedge  {\sim}p)$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result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\wedge  q \equiv 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result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$\mathrm{c} \vee  ({\sim}q \wedge  {\sim}p) = {\sim}p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$({\sim}p) \wedge  ({\sim}q)$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before negating: the term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helps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before negating: the term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${\sim}q\wedge  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only helps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$q\vee \cdot$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\vee  ({\sim}q \wedge  p) \equiv  (q \vee  {\sim}q) \wedge  (q \vee  p) \equiv  q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${\sim}(q\vee  p) = {\sim}p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$({\sim}p) \wedge  ({\sim}q)$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 of the negated term).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is false only when every disjunct is false: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\vee  ({\sim}X \wedge  Y) \equiv  X \vee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 of the negated term).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${\sim}(X \vee  Y) \equiv  {\sim}X \wedge  {\sim}Y$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is false only when every disjunct is false: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statements is a tautology?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Which of the following statements is a tautology?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\wedge  (p \to  q))$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(p \wedge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(({\sim}p) \to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(p \to  q)) \to  {\sim}q$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implied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$({\sim}p)\to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$p\vee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implied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(absorption),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154936"/>
                <a:ext cx="10725912" cy="45201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\wedge  (p \to  q)) = {\sim}p \vee  (p \wedge  ({\sim}p \vee  q)) = {\sim}p \vee  ((p \wedge  {\sim}p) \vee  (p \wedge  q)) = {\sim}p \vee  (p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(p \wedge  q) = ({\sim}p \vee  p) \wedge  ({\sim}p \vee  q) = 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(p \wedge  q) =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(absorption),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({\sim}p \to  q) = {\sim}(p \wedge  q) \vee  (p \vee  q) = ({\sim}p \vee  {\sim}q) \vee  (p \vee  q)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(p \to  q)) \to  {\sim}q = {\sim}(p \wedge  q) \vee  {\sim}q = {\sim}p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\wedge  q) \to  (({\sim}p) \to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Falsifier search for (C): the premise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everything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Falsifier search for (C): the premise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everything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fails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(C) never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options have easy counter-rows: (A)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*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fails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${\sim}p\to  q=F\to  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(C) never fails.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options have easy counter-rows: (A)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(B)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$(F,*)$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(D)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\wedge  q) \to  (({\sim}p) \to  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(conjunction implies disjunction);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Absorption: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\to  (p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(conjunction implies disjunction);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\to  q \equiv  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(p \to  q) \equiv  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(p \wedge  q) \equiv  p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Absorption: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(p \wedge  q) \equiv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logically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(R 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logically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R) \to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R) \to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R) \vee  (Q \to  R)$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R) \wedge  (Q \to  R)$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Logical equivalence and tautology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conditionals with the same conclusion combine through the premises' disjunction: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Two conditionals with the same conclusion combine through the premises' disjunction: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$(P\to  Q)\wedge (R\to  Q)\equiv (P\vee  R)\to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\to  Q \equiv  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\vee  Q) \wedge  ({\sim}R \vee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({\sim}P \wedge  {\sim}R)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 Morgan: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{\sim}R = {\sim}(P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\vee  R) \vee  Q = (P \vee  R)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\vee  R) \to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statement is false in exactly the rows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 and at least one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true; compare with each option.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statement is false in exactly the rows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 and at least one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$P,R$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true; compare with each option.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false: the same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false only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(fewer rows); (C), (D) are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conclusion, not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 Q)\wedge (R\to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R)\to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false: the same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is false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$P=R=T,\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(fewer rows); (C), (D) are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conclusion,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\vee  R) \to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Rule of thumb: a common premise turns into a conjunction/disjunction of conclusions, a common conclusion turns into the opposite connective of premises.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(R \to  Q) \equiv  (P \vee  R)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\vee  (R \to  Q) \equiv  (P \wedge  R) 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(P \to  R) \equiv  P \to  (Q 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\vee  (P \to  R) \equiv  P \to  (Q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Rule of thumb: a common premise turns into a conjunction/disjunction of conclusions, a common conclusion turns into the opposite connective of premises.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04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statements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contradiction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neither (S1) nor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(S1) and (S2)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(S2)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046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statements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\vee  (({\sim}p)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 \to  p) \to  (({\sim}p)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contradiction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neither (S1) nor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both (S1) and (S2)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only (S2) is True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(S1)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(false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(S2)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(true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neither claim holds.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(S1)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${\sim}p\vee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(false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$(T,F)$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(S2)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(true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$(F,T)$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): neither claim holds.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F,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 The row TF is F, so (S1) is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F,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 q)\vee ({\sim}p\wedge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T. The row TF is F, so (S1) is not a tautology.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T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row FT is T, so (S2) is not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claim is true.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F,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$(q\to  p)\to ({\sim}p\wedge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T,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row FT is T, so (S2) is not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Neither claim is true.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Simplify each statement algebraically.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$({\sim}p\vee  q)\vee ({\sim}p\wedge  q) = {\sim}p\vee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false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$p=T,\ 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Not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$(q\to  p)\to ({\sim}p\wedge  q) = {\sim}(q\to  p)\vee ({\sim}p\wedge  q) = (q\wedge {\sim}p)\vee ({\sim}p\wedge  q) = {\sim}p\wedge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$p=F,\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not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simplification: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is a tautology iff it is true in every row and a contradiction iff it is false in every row; a single row refutes each claim.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\vee  ({\sim}X \wedge  Y) \equiv  X \vee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${\sim}(q \to  p) \equiv  q \wedge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simplification: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$(q \to  p) \to  ({\sim}p \wedge  q) \equiv  {\sim}p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is a tautology iff it is true in every row and a contradiction iff it is false in every row; a single row refutes each claim.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\to  (q \to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({\sim}q)$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$({\sim}q) \wedge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\wedge  ({\sim}p)$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\vee  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negation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already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${\sim}(X\to  Y) = X\wedge {\sim}Y$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negation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$(p\to  q)\wedge (q\wedge {\sim}p)$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$q\wedge 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already makes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contained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negation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\to  (q \to  p) \equiv  {\sim}(p \to  q) \vee  (q \to  p) = (p \wedge  {\sim}q) \vee  ({\sim}q \vee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contained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\vee  {\sim}q) = {\sim}p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negation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\wedge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$q \wedge  ({\sim}p)$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Find the only row where the conditional fails.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negation is true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 q)\to (q\to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$q\to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$q=T,\ 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 = F\to  T =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required.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negation is true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$p=F,\ 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$q\wedge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$q \wedge  ({\sim}p)$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false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'conditional negation' into a one-row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extra conditional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premise adds no information.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\to  (q \to  p) \equiv  q \to  p \equiv  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false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${\sim}(X \to  Y) \equiv  X \wedge  {\sim}Y$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'conditional negation' into a one-row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 \to  Y) \to  (Y \to  X) \equiv  Y \to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extra conditional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premise adds no information.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({\sim}q)) \vee  ({\sim}p)$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({\sim}q)$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(q \wedge  ({\sim}p))$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(q \vee  ({\sim}p))$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negation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$(p\wedge {\sim}q)\vee 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simplifies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${\sim}p\vee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its negation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${\sim}[(p \wedge  {\sim}q) \vee  {\sim}p] = {\sim}(p \wedge  {\sim}q) \wedge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{\sim}q) = {\sim}p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\vee  q) \wedge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\wedge  p) \vee  (q \wedge  p) = \mathrm{c} \vee  (q \wedge  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\wedge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A disjunction is false only if both disjuncts are false.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negation is true exactly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{\sim}q)\vee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negation is true exactly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$p \wedge  q$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-pattern: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of literals/terms is false in the rows where every disjunct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\vee  {\sim}p \equiv  {\sim}p \vee  {\sim}q \equiv  {\sim}(p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\vee  ({\sim}X \wedge  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-pattern: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(p \wedge  {\sim}q) = {\sim}p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of literals/terms is false in the rows where every disjunct is false.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\wedge  (q \vee  ({\sim}r))$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$(({\sim}p) \vee  ({\sim}q)) \wedge  ({\sim}r)$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$(({\sim}p) \vee  ({\sim}q)) \vee  ({\sim}r)$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$(({\sim}p) \vee  r) \wedge  ({\sim}q)$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r) \wedge  ({\sim}q)$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 Morgan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common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De Morgan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$({\sim}p\wedge {\sim}q)\vee ({\sim}q\wedge  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common factor.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${\sim}((p \vee  q) \wedge  (q \vee  {\sim}r)) = {\sim}(p \vee  q) \vee  {\sim}(q \vee  {\sim}r)$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({\sim}p \wedge  {\sim}q) \vee  ({\sim}q 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{\sim}q \wedge  ({\sim}p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({\sim}p \vee  r) \wedge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$(({\sim}p) \vee  r) \wedge  ({\sim}q)$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Test assignments to eliminate the three wrong options.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statement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negation is True.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statement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negation is False.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negation is True.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agrees on all three rows.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$T\wedge (F\vee  F)=F$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negation is True.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$=(F\vee  T)\wedge  F=F$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$T\wedge (T\vee  T)=T$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negation is False.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$=(F\vee  F)\vee  T=T$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$(F\vee  F)\wedge (\dots)=F$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negation is True.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$=(F\vee  F)\wedge  T=F$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agrees on all three rows.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$(({\sim}p) \vee  r) \wedge  ({\sim}q)$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Factoring a common literal out of a disjunction of conjunctions saves a long distribution.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well-chosen rows can eliminate three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${\sim}[(X \vee  Y) \wedge  (Y \vee  Z)] \equiv  ({\sim}X \wedge  {\sim}Y) \vee  ({\sim}Y \wedge  {\sim}Z) \equiv  {\sim}Y \wedge  ({\sim}X \vee  {\sim}Z)$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Factoring a common literal out of a disjunction of conjunctions saves a long distribution.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Three well-chosen rows can eliminate three options.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${\sim}[p \vee  ({\sim}(p \wedge  q))]$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\wedge  ({\sim}p)$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\vee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$({\sim}(p \wedge  q)) \wedge  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and simplification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tautology, so its negation is a contradiction; only (A) is a contradiction.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$p\vee {\sim}(p\wedge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tautology, so its negation is a contradiction; only (A) is a contradiction.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 (a contradiction since it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${\sim}[p \vee  {\sim}(p \wedge  q)] = {\sim}p \wedge  {\sim}{\sim}(p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${\sim}{\sim}(p \wedge  q) = p 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\wedge  (p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(p \wedge  q) \wedge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 (a contradiction since it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options are not contradictions: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options are not contradictions: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${\sim}p\vee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\wedge  q) \wedge  ({\sim}p)$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Show that the inside is a tautology.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a tautology is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conjunction: a contradiction. The others are true in some row.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{\sim}(p \wedge  q) = p \vee  {\sim}p \vee  {\sim}q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a tautology is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Option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$(p\wedge  q)\wedge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 conjunction: a contradiction. The others are true in some row.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\wedge  q) \wedge  ({\sim}p)$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a tautology is a contradiction (fallacy), and vice versa.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contradictions are equivalent to each other.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{\sim}(p \wedge  q)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a tautology is a contradiction (fallacy), and vice versa.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contradictions are equivalent to each other.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converse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$(({\sim}p) \wedge  q) 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({\sim}q)) \to  ({\sim}r)$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$({\sim}r) \to  p \wedge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$({\sim}r) \to  (({\sim}p) \wedge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$(({\sim}p) \vee  q) \to  r$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Contrapositive, converse and inverse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by contraposition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converse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 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$r\to 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$X={\sim}p\wedge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by contraposition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${\sim}X\to {\sim}r = (p\vee {\sim}q)\to {\sim}r$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converse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its contrapositive: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converse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 \to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 \to  (({\sim}p)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its contrapositive: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 \to  X \equiv  {\sim}X \to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${\sim}X = {\sim}({\sim}p \wedge  q) = 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converse is logically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rest: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converse is logically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{\sim}q) \to 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rest: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${\sim}r\to (p\wedge  q) = r\vee (p\wedge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${\sim}r\to ({\sim}p\wedge  q) = r\vee ({\sim}p\wedge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$({\sim}p\vee  q)\to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${\sim}r\vee ({\sim}p\wedge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\vee  ({\sim}q)) \to  ({\sim}r)$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Compare the falsifying rows of the converse and of option (A).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Same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$r\to ({\sim}p\wedge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{\sim}q)\to 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Same rows.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$(p \vee  ({\sim}q)) \to  ({\sim}r)$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converse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inverse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contrapositive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Converse and inverse are equivalent; the contrapositive equals the original.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'converse' written in contrapositive form is the standard way JEE options disguise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 \to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inverse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${\sim}X \to  {\sim}Y$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contrapositive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${\sim}Y \to  {\sim}X$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Converse and inverse are equivalent; the contrapositive equals the original.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'converse' written in contrapositive form is the standard way JEE options disguise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 \to  X \equiv  {\sim}X \to  {\sim}Y$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76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two statements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contradiction and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are false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765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Among the two statements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(p \wedge  ({\sim}q))$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contradiction and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q) \vee  (({\sim}p) \wedge  q) \vee  (p \wedge  ({\sim}q)) \vee  (({\sim}p) \wedge  ({\sim}q))$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only (S2)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both are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only (S1) is true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both are false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Tautology and fallacy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(S1)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(S2) lists all four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exactly one disjunct is true each time.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(S1)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${\sim}X\wedge 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$X=p\to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(S2) lists all four rows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exactly one disjunct is true each time.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rows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F, F. Always false: (S1) is a contradiction.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rows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TT, TF, FT, FF: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F, T, 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T, F,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$(p\to  q)\wedge (p\wedge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F, F, F, F. Always false: (S1) is a contradiction.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the four disjuncts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truth values by row are TT: T,F,F,F; TF: F,F,T,F; FT: F,T,F,F; FF: F,F,F,T.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row makes exactly one disjunct true, so (S2) is true in every row: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are true.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the four disjuncts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Their truth values by row are TT: T,F,F,F; TF: F,F,T,F; FT: F,T,F,F; FF: F,F,F,T.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row makes exactly one disjunct true, so (S2) is true in every row: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statements are true. 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both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Logical reasoning without a table.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(S1)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for any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one of the four conjunctions describes the actual truth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disjunction is always true: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${\sim}(p\to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(S1)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\wedge  {\sim}X$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$X=p\to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(S2): 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one of the four conjunctions describes the actual truth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disjunction is always true: a tautology.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both are true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79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'minterms'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 all rows, so their disjunction is a tautology; any proper subset of them is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of 3 of the 4 minterms is equivalent to the negation of the missing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'minterms'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q,\ {\sim}p\wedge  q,\ p\wedge {\sim}q,\ {\sim}p\wedge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partition all rows, so their disjunction is a tautology; any proper subset of them is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\to  q) \wedge  (p \wedge  {\sim}q) \equiv 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of 3 of the 4 minterms is equivalent to the negation of the missing one.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fallacy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equivalent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0058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$((A \wedge  (B \vee  C)) \to  (A \vee  B)) \to 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${\sim}C$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a fallacy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${\sim}A$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equivalent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 \vee  {\sim}C$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514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and simplification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true, so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negation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$A\wedge (B\vee  C)\to (A\vee  B)$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always true, so the statement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$\mathrm{t}\to  A=A$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its negation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$X=A\wedge (B\vee 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$Y=A\vee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$(X\to  Y)\to 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$(X\to  Y)\to  A \equiv  {\sim}({\sim}X\vee  Y)\vee  A = (X \wedge  {\sim}Y) \vee 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\wedge  {\sim}Y = A \wedge  (B \vee  C) \wedge  {\sim}A \wedge  {\sim}B =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statement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$\mathrm{c} \vee  A =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equivalent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Semantic argument: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73761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Semantic argument: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  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tautology.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which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'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', which has the truth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negation has the truth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$A\wedge (B\vee  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true, which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$A\vee 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true.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$(X\to  Y)\to 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 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', which has the truth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negation has the truth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equivalent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equivalent to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${\sim}A$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true: a conjunction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a disjunction containing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\to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 \to  Y) \to  Z \equiv 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 \wedge  (\dots) \to  (A \vee  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always true: a conjunction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implies a disjunction containing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${\sim}((X \to  Y) \to  A) \equiv  (X \to  Y) \wedge  {\sim}A$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({\sim}q)) \vee  (({\sim}p) \wedge  q) \vee  (({\sim}p) \wedge  ({\sim}q))$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equivalent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({\sim}q)$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$({\sim}p) \vee  ({\sim}q)$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Simplification of Boolean expressions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$({\sim}p\wedge  q)\vee ({\sim}p\wedge {\sim}q)={\sim}p$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${\sim}p\vee (p\wedge {\sim}q)={\sim}p\vee {\sim}q$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last two terms: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Group the last two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\wedge  q) \vee  ({\sim}p \wedge  {\sim}q) = {\sim}p \wedge  (q \vee  {\sim}q) =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statement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\wedge  {\sim}q) \vee  {\sim}p$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Distribute: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{\sim}p) \wedge  ({\sim}q \vee  {\sim}p) = \mathrm{t} \wedge  ({\sim}p \vee  {\sim}q)$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 {\sim}p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$({\sim}p) \vee  ({\sim}q)$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Complement: the expression is the disjunction of three of the four rows, so it is the negation of the missing one.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possible rows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exactly one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expression contains the last three, so it is false exactly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possible rows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correspond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${\sim}p\wedge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exactly one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given expression contains the last three, so it is false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${\sim}(p\wedge  q) = {\sim}p\vee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Answer: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$({\sim}p) \vee  ({\sim}q)$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(splitting).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minterms is the negation of the disjunction of the remaining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 of the negated term).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 \wedge  Y) \vee  (X \wedge  {\sim}Y) \equiv 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(splitting).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disjunction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minterms is the negation of the disjunction of the remaining ones.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(p \wedge  {\sim}q) \equiv  {\sim}p \vee  {\sim}q$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(absorption of the negated term).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33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Negation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(q \wedge  {\sim}(p \wedge  q))$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$({\sim}(p \wedge  q)) \vee  p$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\vee  q)$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\vee  q$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$({\sim}(p \wedge  q)) \wedge  q$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42739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Negation and simplification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false, i.e. never with the extra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inside is a contradiction, the negation a tautology.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$q\wedge {\sim}(p\wedge  q)$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 whenever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false, i.e. never with the extra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inside is a contradiction, the negation a tautology.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negation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${\sim}[p \wedge  (q \wedge  {\sim}(p \wedge  q))] = {\sim}p \vee  ({\sim}q \vee  (p \wedge  q))$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${\sim}q \vee  (p \wedge  q) = ({\sim}q \vee  p) \wedge  ({\sim}q \vee  q) = ({\sim}q \vee  p) \wedge  \mathrm{t} = {\sim}q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negation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({\sim}q \vee  p) = {\sim}p \vee  {\sim}q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${\sim}p \vee  {\sim}q \vee  p = {\sim}(p \wedge  q) 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option (A).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$({\sim}p \vee  p) \vee  {\sim}q =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$({\sim}(p \wedge  q)) \vee  p$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Show the inside is a contradiction.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extra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false: it is false in every row,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negation is a tautology;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 (B), (C), (D) are not tautologies.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 \wedge  {\sim}(p 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$q=T,\ p=F$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extra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 \wedge  (\dots)$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false: it is false in every row,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negation is a tautology;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${\sim}(p\wedge  q)\vee  p = {\sim}p\vee {\sim}q\vee 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tautology. (B), (C), (D) are not tautologies. Answer: (A).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$({\sim}(p \wedge  q)) \vee  p$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its parts: a conjunction with a hidden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a contradiction is a tautology, so the answer must be the tautologous option.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 \wedge  {\sim}X \equiv  \mathrm{c}$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its parts: a conjunction with a hidden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$p\wedge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${\sim}(p\wedge 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contradiction.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negation of a contradiction is a tautology, so the answer must be the tautologous option.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${\sim}(p \wedge  q) \vee  p \equiv  \mathrm{t}$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Q83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ordered triplets of the truth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truth value of the statement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ordered triplets of the truth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$p,\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the truth value of the statement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\wedge  (p \vee  r) \to  (q 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Truth values of compound statements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statement fails only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 but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$(p\vee  q)\wedge (p\vee  r)=p\vee (q\wedge  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statement fails only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$q\vee  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false but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true.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triplets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 all eight: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T, T, T, F, F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T, T, F, T, F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TTT, TTF, TFT, TFF, FTT, FTF, FFT, FFF.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premise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T, T, F, F,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conclusion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F, T, T, T, 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triplets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List all eight: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T, T, T, F, F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T, T, F, T, F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TTT, TTF, TFT, TFF, FTT, FTF, FFT, FFF.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premise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q)\wedge (p\vee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T, T, F, F, 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conclusion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T, T, T, F, T, T, T, 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conditional is F only where the premise is T and the conclusion F: row TFF.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it is true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7.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conditional is F only where the premise is T and the conclusion F: row TFF.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it is true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7.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737616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Count the failing rows directly.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conditional is false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and the premise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premise becomes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is exactly one failing triplet,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triplets make the statement true. Answer: 7.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154936"/>
                <a:ext cx="10725912" cy="36332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conditional is false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 and the premise is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$q\vee 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false forces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$q=F,\ r=F$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the premise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$(p\vee  F)\wedge (p\vee  F)=p$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true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there is exactly one failing triplet,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$(T,F,F)$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$8-1=7$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triplets make the statement true. Answer: 7.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83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∨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(distribution).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rows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number of rows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is true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rows iff it is false in exactly one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 \vee  q) \wedge  (p \vee  r) \equiv  p \vee  (q \wedge  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(distribution).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rows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minus the number of rows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true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false.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statement is true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rows iff it is false in exactly one row.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(5/17)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(6/17)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(7/17)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(8/17)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(9/17)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(10/17)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(11/17)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(12/17)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(13/17)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One or More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(14/17)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(15/17)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74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(16/17)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(17/17)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1.55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44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83 questions, 332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Mathematical Reasoning Sheet JM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1.55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