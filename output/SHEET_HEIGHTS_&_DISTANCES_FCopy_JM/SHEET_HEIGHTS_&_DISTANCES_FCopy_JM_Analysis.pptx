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B6D7A8"/>
              </a:solidFill>
              <a:ln w="9525">
                <a:solidFill>
                  <a:srgbClr val="111827"/>
                </a:solidFill>
              </a:ln>
            </c:spPr>
          </c:dPt>
          <c:dPt>
            <c:idx val="2"/>
            <c:spPr>
              <a:solidFill>
                <a:srgbClr val="FFD966"/>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6B26B"/>
              </a:solidFill>
              <a:ln w="9525">
                <a:solidFill>
                  <a:srgbClr val="111827"/>
                </a:solidFill>
              </a:ln>
            </c:spPr>
          </c:dPt>
          <c:dPt>
            <c:idx val="13"/>
            <c:spPr>
              <a:solidFill>
                <a:srgbClr val="F6B26B"/>
              </a:solidFill>
              <a:ln w="9525">
                <a:solidFill>
                  <a:srgbClr val="111827"/>
                </a:solidFill>
              </a:ln>
            </c:spPr>
          </c:dPt>
          <c:dPt>
            <c:idx val="14"/>
            <c:spPr>
              <a:solidFill>
                <a:srgbClr val="B6D7A8"/>
              </a:solidFill>
              <a:ln w="9525">
                <a:solidFill>
                  <a:srgbClr val="111827"/>
                </a:solidFill>
              </a:ln>
            </c:spPr>
          </c:dPt>
          <c:dPt>
            <c:idx val="15"/>
            <c:spPr>
              <a:solidFill>
                <a:srgbClr val="FFD966"/>
              </a:solidFill>
              <a:ln w="9525">
                <a:solidFill>
                  <a:srgbClr val="111827"/>
                </a:solidFill>
              </a:ln>
            </c:spPr>
          </c:dPt>
          <c:dPt>
            <c:idx val="16"/>
            <c:spPr>
              <a:solidFill>
                <a:srgbClr val="B6D7A8"/>
              </a:solidFill>
              <a:ln w="9525">
                <a:solidFill>
                  <a:srgbClr val="111827"/>
                </a:solidFill>
              </a:ln>
            </c:spPr>
          </c:dPt>
          <c:cat>
            <c:strRef>
              <c:f>Sheet1!$A$2:$A$18</c:f>
              <c:strCache>
                <c:ptCount val="17"/>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strCache>
            </c:strRef>
          </c:cat>
          <c:val>
            <c:numRef>
              <c:f>Sheet1!$B$2:$B$18</c:f>
              <c:numCache>
                <c:formatCode>General</c:formatCode>
                <c:ptCount val="17"/>
                <c:pt idx="0">
                  <c:v>1.0</c:v>
                </c:pt>
                <c:pt idx="1">
                  <c:v>1.0</c:v>
                </c:pt>
                <c:pt idx="2">
                  <c:v>2.0</c:v>
                </c:pt>
                <c:pt idx="3">
                  <c:v>1.0</c:v>
                </c:pt>
                <c:pt idx="4">
                  <c:v>2.0</c:v>
                </c:pt>
                <c:pt idx="5">
                  <c:v>2.0</c:v>
                </c:pt>
                <c:pt idx="6">
                  <c:v>2.0</c:v>
                </c:pt>
                <c:pt idx="7">
                  <c:v>2.0</c:v>
                </c:pt>
                <c:pt idx="8">
                  <c:v>1.0</c:v>
                </c:pt>
                <c:pt idx="9">
                  <c:v>1.0</c:v>
                </c:pt>
                <c:pt idx="10">
                  <c:v>2.0</c:v>
                </c:pt>
                <c:pt idx="11">
                  <c:v>3.0</c:v>
                </c:pt>
                <c:pt idx="12">
                  <c:v>3.0</c:v>
                </c:pt>
                <c:pt idx="13">
                  <c:v>3.0</c:v>
                </c:pt>
                <c:pt idx="14">
                  <c:v>1.0</c:v>
                </c:pt>
                <c:pt idx="15">
                  <c:v>2.0</c:v>
                </c:pt>
                <c:pt idx="16">
                  <c:v>1.0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'BE = BO + OA = 8√2(√3+1) + 16', but OA = 32; the 16 added is the radius OE. Label corrected to BE = BO + OE (the numbers and the answer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stops at 'Put tan α = t &amp; simplify' and states tan α = √7 − 2. The algebra (quadratic t² − 2√7 t + 3 = 0) and the rejection of the second root √7 + 2 (&gt; 1, impossible since 2α &lt; 90°) were added. The answer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SHEET Heights &amp; Distances (JM) — Paper Analysis</a:t>
            </a:r>
            <a:endParaRPr sz="4000">
              <a:solidFill>
                <a:srgbClr val="FFFFFF"/>
              </a:solidFill>
            </a:endParaRPr>
          </a:p>
          <a:p>
            <a:pPr algn="ctr"/>
            <a:r>
              <a:rPr sz="2200">
                <a:solidFill>
                  <a:srgbClr val="FFFFFF"/>
                </a:solidFill>
                <a:latin typeface="Arial"/>
              </a:rPr>
              <a:t>Exercise II (JEE Main PYQs 2021-2023)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One correct option; JEE Main Feb 2021 - Apr 2023 questions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vertical poles are </a:t>
                </a:r>
                <a14:m>
                  <m:oMath xmlns:m="http://schemas.openxmlformats.org/officeDocument/2006/math">
                    <m:r>
                      <a:rPr lang="en-IN" sz="2400" i="1">
                        <a:solidFill>
                          <a:srgbClr val="111827"/>
                        </a:solidFill>
                        <a:latin typeface="Cambria Math" panose="02040503050406030204" pitchFamily="18" charset="0"/>
                      </a:rPr>
                      <m:t>150</m:t>
                    </m:r>
                  </m:oMath>
                </a14:m>
                <a:r>
                  <a:rPr sz="2400" b="0">
                    <a:solidFill>
                      <a:srgbClr val="111827"/>
                    </a:solidFill>
                    <a:latin typeface="Arial"/>
                  </a:rPr>
                  <a:t> m apart and the height of one is three times that of the other. If from the middle point of the line joining their feet, an observer finds the angles of elevation of their tops to be complementary, then the height of the shorter pole (in meters)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vertical poles are </a:t>
                </a:r>
                <a:r>
                  <a:rPr lang="en-IN" sz="2400">
                    <a:solidFill>
                      <a:srgbClr val="111827"/>
                    </a:solidFill>
                    <a:latin typeface="Cambria Math" panose="02040503050406030204" pitchFamily="18" charset="0"/>
                  </a:rPr>
                  <a:t>$150$</a:t>
                </a:r>
                <a:r>
                  <a:rPr sz="2400" b="0">
                    <a:solidFill>
                      <a:srgbClr val="111827"/>
                    </a:solidFill>
                    <a:latin typeface="Arial"/>
                  </a:rPr>
                  <a:t> m apart and the height of one is three times that of the other. If from the middle point of the line joining their feet, an observer finds the angles of elevation of their tops to be complementary, then the height of the shorter pole (in meters)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$20\sqrt3$</a:t>
                </a:r>
                <a:r>
                  <a:rPr sz="2400" b="0">
                    <a:solidFill>
                      <a:srgbClr val="111827"/>
                    </a:solidFill>
                    <a:latin typeface="Arial"/>
                  </a:rPr>
                  <a:t>   (B) </a:t>
                </a:r>
                <a:r>
                  <a:rPr lang="en-IN" sz="2400">
                    <a:solidFill>
                      <a:srgbClr val="111827"/>
                    </a:solidFill>
                    <a:latin typeface="Cambria Math" panose="02040503050406030204" pitchFamily="18" charset="0"/>
                  </a:rPr>
                  <a:t>$25$</a:t>
                </a:r>
                <a:r>
                  <a:rPr sz="2400" b="0">
                    <a:solidFill>
                      <a:srgbClr val="111827"/>
                    </a:solidFill>
                    <a:latin typeface="Arial"/>
                  </a:rPr>
                  <a:t>   (C) </a:t>
                </a:r>
                <a:r>
                  <a:rPr lang="en-IN" sz="2400">
                    <a:solidFill>
                      <a:srgbClr val="111827"/>
                    </a:solidFill>
                    <a:latin typeface="Cambria Math" panose="02040503050406030204" pitchFamily="18" charset="0"/>
                  </a:rPr>
                  <a:t>$25\sqrt3$</a:t>
                </a:r>
                <a:r>
                  <a:rPr sz="2400" b="0">
                    <a:solidFill>
                      <a:srgbClr val="111827"/>
                    </a:solidFill>
                    <a:latin typeface="Arial"/>
                  </a:rPr>
                  <a:t>   (D) </a:t>
                </a:r>
                <a:r>
                  <a:rPr lang="en-IN" sz="2400">
                    <a:solidFill>
                      <a:srgbClr val="111827"/>
                    </a:solidFill>
                    <a:latin typeface="Cambria Math" panose="02040503050406030204" pitchFamily="18" charset="0"/>
                  </a:rPr>
                  <a:t>$30$</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of elevation and complementary angles (heights and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Complementary elevations give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ϕ</m:t>
                    </m:r>
                  </m:oMath>
                </a14:m>
                <a:r>
                  <a:rPr sz="2400" b="0">
                    <a:solidFill>
                      <a:srgbClr val="78350F"/>
                    </a:solidFill>
                    <a:latin typeface="Arial"/>
                  </a:rPr>
                  <a:t>, i.e.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ϕ</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Complementary elevations give </a:t>
                </a:r>
                <a:r>
                  <a:rPr lang="en-IN" sz="2400">
                    <a:solidFill>
                      <a:srgbClr val="78350F"/>
                    </a:solidFill>
                    <a:latin typeface="Cambria Math" panose="02040503050406030204" pitchFamily="18" charset="0"/>
                  </a:rPr>
                  <a:t>$\tan\theta=\cot\phi$</a:t>
                </a:r>
                <a:r>
                  <a:rPr sz="2400" b="0">
                    <a:solidFill>
                      <a:srgbClr val="78350F"/>
                    </a:solidFill>
                    <a:latin typeface="Arial"/>
                  </a:rPr>
                  <a:t>, i.e. </a:t>
                </a:r>
                <a:r>
                  <a:rPr lang="en-IN" sz="2400">
                    <a:solidFill>
                      <a:srgbClr val="78350F"/>
                    </a:solidFill>
                    <a:latin typeface="Cambria Math" panose="02040503050406030204" pitchFamily="18" charset="0"/>
                  </a:rPr>
                  <a:t>$\tan\theta\tan\phi=1$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shorter pole have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so the taller has height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oMath>
                </a14:m>
                <a:r>
                  <a:rPr sz="2400" b="0">
                    <a:solidFill>
                      <a:srgbClr val="111827"/>
                    </a:solidFill>
                    <a:latin typeface="Arial"/>
                  </a:rPr>
                  <a:t>. The observer is at the midpoint,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 m from each foot.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be the angles of elevation of the tops of the taller and the shorter pole, with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shorter pole have height </a:t>
                </a:r>
                <a:r>
                  <a:rPr lang="en-IN" sz="2400">
                    <a:solidFill>
                      <a:srgbClr val="111827"/>
                    </a:solidFill>
                    <a:latin typeface="Cambria Math" panose="02040503050406030204" pitchFamily="18" charset="0"/>
                  </a:rPr>
                  <a:t>$h$</a:t>
                </a:r>
                <a:r>
                  <a:rPr sz="2400" b="0">
                    <a:solidFill>
                      <a:srgbClr val="111827"/>
                    </a:solidFill>
                    <a:latin typeface="Arial"/>
                  </a:rPr>
                  <a:t>, so the taller has height </a:t>
                </a:r>
                <a:r>
                  <a:rPr lang="en-IN" sz="2400">
                    <a:solidFill>
                      <a:srgbClr val="111827"/>
                    </a:solidFill>
                    <a:latin typeface="Cambria Math" panose="02040503050406030204" pitchFamily="18" charset="0"/>
                  </a:rPr>
                  <a:t>$3h$</a:t>
                </a:r>
                <a:r>
                  <a:rPr sz="2400" b="0">
                    <a:solidFill>
                      <a:srgbClr val="111827"/>
                    </a:solidFill>
                    <a:latin typeface="Arial"/>
                  </a:rPr>
                  <a:t>. The observer is at the midpoint, </a:t>
                </a:r>
                <a:r>
                  <a:rPr lang="en-IN" sz="2400">
                    <a:solidFill>
                      <a:srgbClr val="111827"/>
                    </a:solidFill>
                    <a:latin typeface="Cambria Math" panose="02040503050406030204" pitchFamily="18" charset="0"/>
                  </a:rPr>
                  <a:t>$75$</a:t>
                </a:r>
                <a:r>
                  <a:rPr sz="2400" b="0">
                    <a:solidFill>
                      <a:srgbClr val="111827"/>
                    </a:solidFill>
                    <a:latin typeface="Arial"/>
                  </a:rPr>
                  <a:t> m from each foot.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t>
                </a:r>
                <a:r>
                  <a:rPr sz="2400" b="0">
                    <a:solidFill>
                      <a:srgbClr val="111827"/>
                    </a:solidFill>
                    <a:latin typeface="Arial"/>
                  </a:rPr>
                  <a:t> and </a:t>
                </a:r>
                <a:r>
                  <a:rPr lang="en-IN" sz="2400">
                    <a:solidFill>
                      <a:srgbClr val="111827"/>
                    </a:solidFill>
                    <a:latin typeface="Cambria Math" panose="02040503050406030204" pitchFamily="18" charset="0"/>
                  </a:rPr>
                  <a:t>$\phi$</a:t>
                </a:r>
                <a:r>
                  <a:rPr sz="2400" b="0">
                    <a:solidFill>
                      <a:srgbClr val="111827"/>
                    </a:solidFill>
                    <a:latin typeface="Arial"/>
                  </a:rPr>
                  <a:t> be the angles of elevation of the tops of the taller and the shorter pole, with </a:t>
                </a:r>
                <a:r>
                  <a:rPr lang="en-IN" sz="2400">
                    <a:solidFill>
                      <a:srgbClr val="111827"/>
                    </a:solidFill>
                    <a:latin typeface="Cambria Math" panose="02040503050406030204" pitchFamily="18" charset="0"/>
                  </a:rPr>
                  <a:t>$\theta+\phi=\dfrac{\pi}{2}$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$\tan\theta=\cot\phi$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figure,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75</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75</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75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75</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m,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figure, </a:t>
                </a:r>
                <a:r>
                  <a:rPr lang="en-IN" sz="2400">
                    <a:solidFill>
                      <a:srgbClr val="111827"/>
                    </a:solidFill>
                    <a:latin typeface="Cambria Math" panose="02040503050406030204" pitchFamily="18" charset="0"/>
                  </a:rPr>
                  <a:t>$\tan\theta=\dfrac{3h}{75}$</a:t>
                </a:r>
                <a:r>
                  <a:rPr sz="2400" b="0">
                    <a:solidFill>
                      <a:srgbClr val="111827"/>
                    </a:solidFill>
                    <a:latin typeface="Arial"/>
                  </a:rPr>
                  <a:t> and </a:t>
                </a:r>
                <a:r>
                  <a:rPr lang="en-IN" sz="2400">
                    <a:solidFill>
                      <a:srgbClr val="111827"/>
                    </a:solidFill>
                    <a:latin typeface="Cambria Math" panose="02040503050406030204" pitchFamily="18" charset="0"/>
                  </a:rPr>
                  <a:t>$\cot\phi=\dfrac{75}{h}$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$\dfrac{3h}{75}=\dfrac{75}{h}$</a:t>
                </a:r>
                <a:r>
                  <a:rPr sz="2400" b="0">
                    <a:solidFill>
                      <a:srgbClr val="111827"/>
                    </a:solidFill>
                    <a:latin typeface="Arial"/>
                  </a:rPr>
                  <a:t>, i.e. </a:t>
                </a:r>
                <a:r>
                  <a:rPr lang="en-IN" sz="2400">
                    <a:solidFill>
                      <a:srgbClr val="111827"/>
                    </a:solidFill>
                    <a:latin typeface="Cambria Math" panose="02040503050406030204" pitchFamily="18" charset="0"/>
                  </a:rPr>
                  <a:t>$3h^2=75^2=5625$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$h^2=1875=625\times3$</a:t>
                </a:r>
                <a:r>
                  <a:rPr sz="2400" b="0">
                    <a:solidFill>
                      <a:srgbClr val="111827"/>
                    </a:solidFill>
                    <a:latin typeface="Arial"/>
                  </a:rPr>
                  <a:t>, hence </a:t>
                </a:r>
                <a:r>
                  <a:rPr lang="en-IN" sz="2400">
                    <a:solidFill>
                      <a:srgbClr val="111827"/>
                    </a:solidFill>
                    <a:latin typeface="Cambria Math" panose="02040503050406030204" pitchFamily="18" charset="0"/>
                  </a:rPr>
                  <a:t>$h=25\sqrt3$</a:t>
                </a:r>
                <a:r>
                  <a:rPr sz="2400" b="0">
                    <a:solidFill>
                      <a:srgbClr val="111827"/>
                    </a:solidFill>
                    <a:latin typeface="Arial"/>
                  </a:rPr>
                  <a:t> m,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25</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$25\sqrt3$</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Complementary elevations mean the two lines of sight are perpendicular, so their dot product is zero.</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the observer at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with the shorter pole on the right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 and the taller on the left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tops are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elevations are complementary exactly when </a:t>
                </a:r>
                <a14:m>
                  <m:oMath xmlns:m="http://schemas.openxmlformats.org/officeDocument/2006/math">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angles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together with the right angle between the lines of sight fill </a:t>
                </a:r>
                <a14:m>
                  <m:oMath xmlns:m="http://schemas.openxmlformats.org/officeDocument/2006/math">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the observer at the origin </a:t>
                </a:r>
                <a:r>
                  <a:rPr lang="en-IN" sz="2400">
                    <a:solidFill>
                      <a:srgbClr val="111827"/>
                    </a:solidFill>
                    <a:latin typeface="Cambria Math" panose="02040503050406030204" pitchFamily="18" charset="0"/>
                  </a:rPr>
                  <a:t>$O$</a:t>
                </a:r>
                <a:r>
                  <a:rPr sz="2400" b="0">
                    <a:solidFill>
                      <a:srgbClr val="111827"/>
                    </a:solidFill>
                    <a:latin typeface="Arial"/>
                  </a:rPr>
                  <a:t>, with the shorter pole on the right at </a:t>
                </a:r>
                <a:r>
                  <a:rPr lang="en-IN" sz="2400">
                    <a:solidFill>
                      <a:srgbClr val="111827"/>
                    </a:solidFill>
                    <a:latin typeface="Cambria Math" panose="02040503050406030204" pitchFamily="18" charset="0"/>
                  </a:rPr>
                  <a:t>$x=75$</a:t>
                </a:r>
                <a:r>
                  <a:rPr sz="2400" b="0">
                    <a:solidFill>
                      <a:srgbClr val="111827"/>
                    </a:solidFill>
                    <a:latin typeface="Arial"/>
                  </a:rPr>
                  <a:t> and the taller on the left at </a:t>
                </a:r>
                <a:r>
                  <a:rPr lang="en-IN" sz="2400">
                    <a:solidFill>
                      <a:srgbClr val="111827"/>
                    </a:solidFill>
                    <a:latin typeface="Cambria Math" panose="02040503050406030204" pitchFamily="18" charset="0"/>
                  </a:rPr>
                  <a:t>$x=-75$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tops are </a:t>
                </a:r>
                <a:r>
                  <a:rPr lang="en-IN" sz="2400">
                    <a:solidFill>
                      <a:srgbClr val="111827"/>
                    </a:solidFill>
                    <a:latin typeface="Cambria Math" panose="02040503050406030204" pitchFamily="18" charset="0"/>
                  </a:rPr>
                  <a:t>$T_1(75,\,h)$</a:t>
                </a:r>
                <a:r>
                  <a:rPr sz="2400" b="0">
                    <a:solidFill>
                      <a:srgbClr val="111827"/>
                    </a:solidFill>
                    <a:latin typeface="Arial"/>
                  </a:rPr>
                  <a:t> and </a:t>
                </a:r>
                <a:r>
                  <a:rPr lang="en-IN" sz="2400">
                    <a:solidFill>
                      <a:srgbClr val="111827"/>
                    </a:solidFill>
                    <a:latin typeface="Cambria Math" panose="02040503050406030204" pitchFamily="18" charset="0"/>
                  </a:rPr>
                  <a:t>$T_2(-75,\,3h)$</a:t>
                </a:r>
                <a:r>
                  <a:rPr sz="2400" b="0">
                    <a:solidFill>
                      <a:srgbClr val="111827"/>
                    </a:solidFill>
                    <a:latin typeface="Arial"/>
                  </a:rPr>
                  <a:t>. The elevations are complementary exactly when </a:t>
                </a:r>
                <a:r>
                  <a:rPr lang="en-IN" sz="2400">
                    <a:solidFill>
                      <a:srgbClr val="111827"/>
                    </a:solidFill>
                    <a:latin typeface="Cambria Math" panose="02040503050406030204" pitchFamily="18" charset="0"/>
                  </a:rPr>
                  <a:t>$OT_1\perp OT_2$</a:t>
                </a:r>
                <a:r>
                  <a:rPr sz="2400" b="0">
                    <a:solidFill>
                      <a:srgbClr val="111827"/>
                    </a:solidFill>
                    <a:latin typeface="Arial"/>
                  </a:rPr>
                  <a:t> (the angles </a:t>
                </a:r>
                <a:r>
                  <a:rPr lang="en-IN" sz="2400">
                    <a:solidFill>
                      <a:srgbClr val="111827"/>
                    </a:solidFill>
                    <a:latin typeface="Cambria Math" panose="02040503050406030204" pitchFamily="18" charset="0"/>
                  </a:rPr>
                  <a:t>$\phi$</a:t>
                </a:r>
                <a:r>
                  <a:rPr sz="2400" b="0">
                    <a:solidFill>
                      <a:srgbClr val="111827"/>
                    </a:solidFill>
                    <a:latin typeface="Arial"/>
                  </a:rPr>
                  <a:t> and </a:t>
                </a:r>
                <a:r>
                  <a:rPr lang="en-IN" sz="2400">
                    <a:solidFill>
                      <a:srgbClr val="111827"/>
                    </a:solidFill>
                    <a:latin typeface="Cambria Math" panose="02040503050406030204" pitchFamily="18" charset="0"/>
                  </a:rPr>
                  <a:t>$\theta$</a:t>
                </a:r>
                <a:r>
                  <a:rPr sz="2400" b="0">
                    <a:solidFill>
                      <a:srgbClr val="111827"/>
                    </a:solidFill>
                    <a:latin typeface="Arial"/>
                  </a:rPr>
                  <a:t> together with the right angle between the lines of sight fill </a:t>
                </a:r>
                <a:r>
                  <a:rPr lang="en-IN" sz="2400">
                    <a:solidFill>
                      <a:srgbClr val="111827"/>
                    </a:solidFill>
                    <a:latin typeface="Cambria Math" panose="02040503050406030204" pitchFamily="18" charset="0"/>
                  </a:rPr>
                  <a:t>$180^\circ$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2</m:t>
                            </m:r>
                          </m:sub>
                        </m:sSub>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5625</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m.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$\overrightarrow{OT_1}\cdot\overrightarrow{OT_2}=0$</a:t>
                </a:r>
                <a:r>
                  <a:rPr sz="2400" b="0">
                    <a:solidFill>
                      <a:srgbClr val="111827"/>
                    </a:solidFill>
                    <a:latin typeface="Arial"/>
                  </a:rPr>
                  <a:t>: </a:t>
                </a:r>
                <a:r>
                  <a:rPr lang="en-IN" sz="2400">
                    <a:solidFill>
                      <a:srgbClr val="111827"/>
                    </a:solidFill>
                    <a:latin typeface="Cambria Math" panose="02040503050406030204" pitchFamily="18" charset="0"/>
                  </a:rPr>
                  <a:t>$(75)(-75)+(h)(3h)=0$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$3h^2=5625$</a:t>
                </a:r>
                <a:r>
                  <a:rPr sz="2400" b="0">
                    <a:solidFill>
                      <a:srgbClr val="111827"/>
                    </a:solidFill>
                    <a:latin typeface="Arial"/>
                  </a:rPr>
                  <a:t>, so </a:t>
                </a:r>
                <a:r>
                  <a:rPr lang="en-IN" sz="2400">
                    <a:solidFill>
                      <a:srgbClr val="111827"/>
                    </a:solidFill>
                    <a:latin typeface="Cambria Math" panose="02040503050406030204" pitchFamily="18" charset="0"/>
                  </a:rPr>
                  <a:t>$h^2=1875$</a:t>
                </a:r>
                <a:r>
                  <a:rPr sz="2400" b="0">
                    <a:solidFill>
                      <a:srgbClr val="111827"/>
                    </a:solidFill>
                    <a:latin typeface="Arial"/>
                  </a:rPr>
                  <a:t> and </a:t>
                </a:r>
                <a:r>
                  <a:rPr lang="en-IN" sz="2400">
                    <a:solidFill>
                      <a:srgbClr val="111827"/>
                    </a:solidFill>
                    <a:latin typeface="Cambria Math" panose="02040503050406030204" pitchFamily="18" charset="0"/>
                  </a:rPr>
                  <a:t>$h=25\sqrt3$</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25</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$25\sqrt3$</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Complementary angles of elevation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lines of sight to the two tops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observer is at distances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from the feet of poles of heights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the elevations are complementary, then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the midpoint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 ratio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can be anything, only the product is fixed.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Complementary angles of elevation </a:t>
                </a:r>
                <a:r>
                  <a:rPr lang="en-IN" sz="2400">
                    <a:solidFill>
                      <a:srgbClr val="111827"/>
                    </a:solidFill>
                    <a:latin typeface="Cambria Math" panose="02040503050406030204" pitchFamily="18" charset="0"/>
                  </a:rPr>
                  <a:t>$\iff$</a:t>
                </a:r>
                <a:r>
                  <a:rPr sz="2400" b="0">
                    <a:solidFill>
                      <a:srgbClr val="111827"/>
                    </a:solidFill>
                    <a:latin typeface="Arial"/>
                  </a:rPr>
                  <a:t> </a:t>
                </a:r>
                <a:r>
                  <a:rPr lang="en-IN" sz="2400">
                    <a:solidFill>
                      <a:srgbClr val="111827"/>
                    </a:solidFill>
                    <a:latin typeface="Cambria Math" panose="02040503050406030204" pitchFamily="18" charset="0"/>
                  </a:rPr>
                  <a:t>$\tan\theta\tan\phi=1\iff$</a:t>
                </a:r>
                <a:r>
                  <a:rPr sz="2400" b="0">
                    <a:solidFill>
                      <a:srgbClr val="111827"/>
                    </a:solidFill>
                    <a:latin typeface="Arial"/>
                  </a:rPr>
                  <a:t> the lines of sight to the two tops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observer is at distances </a:t>
                </a:r>
                <a:r>
                  <a:rPr lang="en-IN" sz="2400">
                    <a:solidFill>
                      <a:srgbClr val="111827"/>
                    </a:solidFill>
                    <a:latin typeface="Cambria Math" panose="02040503050406030204" pitchFamily="18" charset="0"/>
                  </a:rPr>
                  <a:t>$d_1,d_2$</a:t>
                </a:r>
                <a:r>
                  <a:rPr sz="2400" b="0">
                    <a:solidFill>
                      <a:srgbClr val="111827"/>
                    </a:solidFill>
                    <a:latin typeface="Arial"/>
                  </a:rPr>
                  <a:t> from the feet of poles of heights </a:t>
                </a:r>
                <a:r>
                  <a:rPr lang="en-IN" sz="2400">
                    <a:solidFill>
                      <a:srgbClr val="111827"/>
                    </a:solidFill>
                    <a:latin typeface="Cambria Math" panose="02040503050406030204" pitchFamily="18" charset="0"/>
                  </a:rPr>
                  <a:t>$h_1,h_2$</a:t>
                </a:r>
                <a:r>
                  <a:rPr sz="2400" b="0">
                    <a:solidFill>
                      <a:srgbClr val="111827"/>
                    </a:solidFill>
                    <a:latin typeface="Arial"/>
                  </a:rPr>
                  <a:t> and the elevations are complementary, then </a:t>
                </a:r>
                <a:r>
                  <a:rPr lang="en-IN" sz="2400">
                    <a:solidFill>
                      <a:srgbClr val="111827"/>
                    </a:solidFill>
                    <a:latin typeface="Cambria Math" panose="02040503050406030204" pitchFamily="18" charset="0"/>
                  </a:rPr>
                  <a:t>$h_1h_2=d_1d_2$</a:t>
                </a:r>
                <a:r>
                  <a:rPr sz="2400" b="0">
                    <a:solidFill>
                      <a:srgbClr val="111827"/>
                    </a:solidFill>
                    <a:latin typeface="Arial"/>
                  </a:rPr>
                  <a:t>. At the midpoint </a:t>
                </a:r>
                <a:r>
                  <a:rPr lang="en-IN" sz="2400">
                    <a:solidFill>
                      <a:srgbClr val="111827"/>
                    </a:solidFill>
                    <a:latin typeface="Cambria Math" panose="02040503050406030204" pitchFamily="18" charset="0"/>
                  </a:rPr>
                  <a:t>$d_1=d_2=d/2$</a:t>
                </a:r>
                <a:r>
                  <a:rPr sz="2400" b="0">
                    <a:solidFill>
                      <a:srgbClr val="111827"/>
                    </a:solidFill>
                    <a:latin typeface="Arial"/>
                  </a:rPr>
                  <a:t>, so </a:t>
                </a:r>
                <a:r>
                  <a:rPr lang="en-IN" sz="2400">
                    <a:solidFill>
                      <a:srgbClr val="111827"/>
                    </a:solidFill>
                    <a:latin typeface="Cambria Math" panose="02040503050406030204" pitchFamily="18" charset="0"/>
                  </a:rPr>
                  <a:t>$h_1h_2=(d/2)^2$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$h\cdot3h=75^2$</a:t>
                </a:r>
                <a:r>
                  <a:rPr sz="2400" b="0">
                    <a:solidFill>
                      <a:srgbClr val="111827"/>
                    </a:solidFill>
                    <a:latin typeface="Arial"/>
                  </a:rPr>
                  <a:t> gives </a:t>
                </a:r>
                <a:r>
                  <a:rPr lang="en-IN" sz="2400">
                    <a:solidFill>
                      <a:srgbClr val="111827"/>
                    </a:solidFill>
                    <a:latin typeface="Cambria Math" panose="02040503050406030204" pitchFamily="18" charset="0"/>
                  </a:rPr>
                  <a:t>$h=25\sqrt3$</a:t>
                </a:r>
                <a:r>
                  <a:rPr sz="2400" b="0">
                    <a:solidFill>
                      <a:srgbClr val="111827"/>
                    </a:solidFill>
                    <a:latin typeface="Arial"/>
                  </a:rPr>
                  <a:t>; the ratio </a:t>
                </a:r>
                <a:r>
                  <a:rPr lang="en-IN" sz="2400">
                    <a:solidFill>
                      <a:srgbClr val="111827"/>
                    </a:solidFill>
                    <a:latin typeface="Cambria Math" panose="02040503050406030204" pitchFamily="18" charset="0"/>
                  </a:rPr>
                  <a:t>$h_1:h_2$</a:t>
                </a:r>
                <a:r>
                  <a:rPr sz="2400" b="0">
                    <a:solidFill>
                      <a:srgbClr val="111827"/>
                    </a:solidFill>
                    <a:latin typeface="Arial"/>
                  </a:rPr>
                  <a:t> can be anything, only the product is fixed.</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a jet plane from a point A on the ground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After a flight of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seconds at the speed of </a:t>
                </a:r>
                <a14:m>
                  <m:oMath xmlns:m="http://schemas.openxmlformats.org/officeDocument/2006/math">
                    <m:r>
                      <a:rPr lang="en-IN" sz="2400" i="1">
                        <a:solidFill>
                          <a:srgbClr val="111827"/>
                        </a:solidFill>
                        <a:latin typeface="Cambria Math" panose="02040503050406030204" pitchFamily="18" charset="0"/>
                      </a:rPr>
                      <m:t>432</m:t>
                    </m:r>
                  </m:oMath>
                </a14:m>
                <a:r>
                  <a:rPr sz="2400" b="0">
                    <a:solidFill>
                      <a:srgbClr val="111827"/>
                    </a:solidFill>
                    <a:latin typeface="Arial"/>
                  </a:rPr>
                  <a:t> km/hour, the angle of elevation changes to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the jet plane is flying at a constant height, then its height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1800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oMath>
                </a14:m>
                <a:r>
                  <a:rPr sz="2400" b="0">
                    <a:solidFill>
                      <a:srgbClr val="111827"/>
                    </a:solidFill>
                    <a:latin typeface="Arial"/>
                  </a:rPr>
                  <a:t>m   (B) </a:t>
                </a:r>
                <a14:m>
                  <m:oMath xmlns:m="http://schemas.openxmlformats.org/officeDocument/2006/math">
                    <m:r>
                      <a:rPr lang="en-IN" sz="2400" i="1">
                        <a:solidFill>
                          <a:srgbClr val="111827"/>
                        </a:solidFill>
                        <a:latin typeface="Cambria Math" panose="02040503050406030204" pitchFamily="18" charset="0"/>
                      </a:rPr>
                      <m:t>1200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oMath>
                </a14:m>
                <a:r>
                  <a:rPr sz="2400" b="0">
                    <a:solidFill>
                      <a:srgbClr val="111827"/>
                    </a:solidFill>
                    <a:latin typeface="Arial"/>
                  </a:rPr>
                  <a:t>m   (C) </a:t>
                </a:r>
                <a14:m>
                  <m:oMath xmlns:m="http://schemas.openxmlformats.org/officeDocument/2006/math">
                    <m:r>
                      <a:rPr lang="en-IN" sz="2400" i="1">
                        <a:solidFill>
                          <a:srgbClr val="111827"/>
                        </a:solidFill>
                        <a:latin typeface="Cambria Math" panose="02040503050406030204" pitchFamily="18" charset="0"/>
                      </a:rPr>
                      <m:t>3600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oMath>
                </a14:m>
                <a:r>
                  <a:rPr sz="2400" b="0">
                    <a:solidFill>
                      <a:srgbClr val="111827"/>
                    </a:solidFill>
                    <a:latin typeface="Arial"/>
                  </a:rPr>
                  <a:t>m   (D) </a:t>
                </a:r>
                <a14:m>
                  <m:oMath xmlns:m="http://schemas.openxmlformats.org/officeDocument/2006/math">
                    <m:r>
                      <a:rPr lang="en-IN" sz="2400" i="1">
                        <a:solidFill>
                          <a:srgbClr val="111827"/>
                        </a:solidFill>
                        <a:latin typeface="Cambria Math" panose="02040503050406030204" pitchFamily="18" charset="0"/>
                      </a:rPr>
                      <m:t>2400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oMath>
                </a14:m>
                <a:r>
                  <a:rPr sz="2400" b="0">
                    <a:solidFill>
                      <a:srgbClr val="111827"/>
                    </a:solidFill>
                    <a:latin typeface="Arial"/>
                  </a:rPr>
                  <a:t>m</a:t>
                </a:r>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a jet plane from a point A on the ground is </a:t>
                </a:r>
                <a:r>
                  <a:rPr lang="en-IN" sz="2400">
                    <a:solidFill>
                      <a:srgbClr val="111827"/>
                    </a:solidFill>
                    <a:latin typeface="Cambria Math" panose="02040503050406030204" pitchFamily="18" charset="0"/>
                  </a:rPr>
                  <a:t>$60^\circ$</a:t>
                </a:r>
                <a:r>
                  <a:rPr sz="2400" b="0">
                    <a:solidFill>
                      <a:srgbClr val="111827"/>
                    </a:solidFill>
                    <a:latin typeface="Arial"/>
                  </a:rPr>
                  <a:t>. After a flight of </a:t>
                </a:r>
                <a:r>
                  <a:rPr lang="en-IN" sz="2400">
                    <a:solidFill>
                      <a:srgbClr val="111827"/>
                    </a:solidFill>
                    <a:latin typeface="Cambria Math" panose="02040503050406030204" pitchFamily="18" charset="0"/>
                  </a:rPr>
                  <a:t>$20$</a:t>
                </a:r>
                <a:r>
                  <a:rPr sz="2400" b="0">
                    <a:solidFill>
                      <a:srgbClr val="111827"/>
                    </a:solidFill>
                    <a:latin typeface="Arial"/>
                  </a:rPr>
                  <a:t> seconds at the speed of </a:t>
                </a:r>
                <a:r>
                  <a:rPr lang="en-IN" sz="2400">
                    <a:solidFill>
                      <a:srgbClr val="111827"/>
                    </a:solidFill>
                    <a:latin typeface="Cambria Math" panose="02040503050406030204" pitchFamily="18" charset="0"/>
                  </a:rPr>
                  <a:t>$432$</a:t>
                </a:r>
                <a:r>
                  <a:rPr sz="2400" b="0">
                    <a:solidFill>
                      <a:srgbClr val="111827"/>
                    </a:solidFill>
                    <a:latin typeface="Arial"/>
                  </a:rPr>
                  <a:t> km/hour, the angle of elevation changes to </a:t>
                </a:r>
                <a:r>
                  <a:rPr lang="en-IN" sz="2400">
                    <a:solidFill>
                      <a:srgbClr val="111827"/>
                    </a:solidFill>
                    <a:latin typeface="Cambria Math" panose="02040503050406030204" pitchFamily="18" charset="0"/>
                  </a:rPr>
                  <a:t>$30^\circ$</a:t>
                </a:r>
                <a:r>
                  <a:rPr sz="2400" b="0">
                    <a:solidFill>
                      <a:srgbClr val="111827"/>
                    </a:solidFill>
                    <a:latin typeface="Arial"/>
                  </a:rPr>
                  <a:t>. If the jet plane is flying at a constant height, then its height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$1800\sqrt3\,$</a:t>
                </a:r>
                <a:r>
                  <a:rPr sz="2400" b="0">
                    <a:solidFill>
                      <a:srgbClr val="111827"/>
                    </a:solidFill>
                    <a:latin typeface="Arial"/>
                  </a:rPr>
                  <a:t>m   (B) </a:t>
                </a:r>
                <a:r>
                  <a:rPr lang="en-IN" sz="2400">
                    <a:solidFill>
                      <a:srgbClr val="111827"/>
                    </a:solidFill>
                    <a:latin typeface="Cambria Math" panose="02040503050406030204" pitchFamily="18" charset="0"/>
                  </a:rPr>
                  <a:t>$1200\sqrt3\,$</a:t>
                </a:r>
                <a:r>
                  <a:rPr sz="2400" b="0">
                    <a:solidFill>
                      <a:srgbClr val="111827"/>
                    </a:solidFill>
                    <a:latin typeface="Arial"/>
                  </a:rPr>
                  <a:t>m   (C) </a:t>
                </a:r>
                <a:r>
                  <a:rPr lang="en-IN" sz="2400">
                    <a:solidFill>
                      <a:srgbClr val="111827"/>
                    </a:solidFill>
                    <a:latin typeface="Cambria Math" panose="02040503050406030204" pitchFamily="18" charset="0"/>
                  </a:rPr>
                  <a:t>$3600\sqrt3\,$</a:t>
                </a:r>
                <a:r>
                  <a:rPr sz="2400" b="0">
                    <a:solidFill>
                      <a:srgbClr val="111827"/>
                    </a:solidFill>
                    <a:latin typeface="Arial"/>
                  </a:rPr>
                  <a:t>m   (D) </a:t>
                </a:r>
                <a:r>
                  <a:rPr lang="en-IN" sz="2400">
                    <a:solidFill>
                      <a:srgbClr val="111827"/>
                    </a:solidFill>
                    <a:latin typeface="Cambria Math" panose="02040503050406030204" pitchFamily="18" charset="0"/>
                  </a:rPr>
                  <a:t>$2400\sqrt3\,$</a:t>
                </a:r>
                <a:r>
                  <a:rPr sz="2400" b="0">
                    <a:solidFill>
                      <a:srgbClr val="111827"/>
                    </a:solidFill>
                    <a:latin typeface="Arial"/>
                  </a:rPr>
                  <a:t>m</a:t>
                </a:r>
                <a:endParaRPr sz="2400">
                  <a:solidFill>
                    <a:srgbClr val="111827"/>
                  </a:solidFill>
                </a:endParaRPr>
              </a:p>
            </p:txBody>
          </p:sp>
        </mc:Fallback>
      </mc:AlternateContent>
      <p:sp>
        <p:nvSpPr>
          <p:cNvPr id="5" name="Rectangle 4"/>
          <p:cNvSpPr/>
          <p:nvPr/>
        </p:nvSpPr>
        <p:spPr>
          <a:xfrm>
            <a:off x="731520" y="46959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with uniform speed (heights and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constant height the horizontal shift is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cot</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cot</m:t>
                    </m:r>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constant height the horizontal shift is </a:t>
                </a:r>
                <a:r>
                  <a:rPr lang="en-IN" sz="2400">
                    <a:solidFill>
                      <a:srgbClr val="78350F"/>
                    </a:solidFill>
                    <a:latin typeface="Cambria Math" panose="02040503050406030204" pitchFamily="18" charset="0"/>
                  </a:rPr>
                  <a:t>$h\cot30^\circ-h\cot60^\circ$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plane move from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to </a:t>
                </a: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constant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the points on the ground directly below.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elevations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are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flown: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432000</m:t>
                        </m:r>
                      </m:num>
                      <m:den>
                        <m:r>
                          <a:rPr lang="en-IN" sz="2400" i="1">
                            <a:solidFill>
                              <a:srgbClr val="111827"/>
                            </a:solidFill>
                            <a:latin typeface="Cambria Math" panose="02040503050406030204" pitchFamily="18" charset="0"/>
                          </a:rPr>
                          <m:t>3600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 m,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 m.</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plane move from </a:t>
                </a:r>
                <a:r>
                  <a:rPr lang="en-IN" sz="2400">
                    <a:solidFill>
                      <a:srgbClr val="111827"/>
                    </a:solidFill>
                    <a:latin typeface="Cambria Math" panose="02040503050406030204" pitchFamily="18" charset="0"/>
                  </a:rPr>
                  <a:t>$B'$</a:t>
                </a:r>
                <a:r>
                  <a:rPr sz="2400" b="0">
                    <a:solidFill>
                      <a:srgbClr val="111827"/>
                    </a:solidFill>
                    <a:latin typeface="Arial"/>
                  </a:rPr>
                  <a:t> to </a:t>
                </a:r>
                <a:r>
                  <a:rPr lang="en-IN" sz="2400">
                    <a:solidFill>
                      <a:srgbClr val="111827"/>
                    </a:solidFill>
                    <a:latin typeface="Cambria Math" panose="02040503050406030204" pitchFamily="18" charset="0"/>
                  </a:rPr>
                  <a:t>$C'$</a:t>
                </a:r>
                <a:r>
                  <a:rPr sz="2400" b="0">
                    <a:solidFill>
                      <a:srgbClr val="111827"/>
                    </a:solidFill>
                    <a:latin typeface="Arial"/>
                  </a:rPr>
                  <a:t> at constant height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are the points on the ground directly below.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elevations from </a:t>
                </a:r>
                <a:r>
                  <a:rPr lang="en-IN" sz="2400">
                    <a:solidFill>
                      <a:srgbClr val="111827"/>
                    </a:solidFill>
                    <a:latin typeface="Cambria Math" panose="02040503050406030204" pitchFamily="18" charset="0"/>
                  </a:rPr>
                  <a:t>$A$</a:t>
                </a:r>
                <a:r>
                  <a:rPr sz="2400" b="0">
                    <a:solidFill>
                      <a:srgbClr val="111827"/>
                    </a:solidFill>
                    <a:latin typeface="Arial"/>
                  </a:rPr>
                  <a:t> are </a:t>
                </a:r>
                <a:r>
                  <a:rPr lang="en-IN" sz="2400">
                    <a:solidFill>
                      <a:srgbClr val="111827"/>
                    </a:solidFill>
                    <a:latin typeface="Cambria Math" panose="02040503050406030204" pitchFamily="18" charset="0"/>
                  </a:rPr>
                  <a:t>$60^\circ$</a:t>
                </a:r>
                <a:r>
                  <a:rPr sz="2400" b="0">
                    <a:solidFill>
                      <a:srgbClr val="111827"/>
                    </a:solidFill>
                    <a:latin typeface="Arial"/>
                  </a:rPr>
                  <a:t>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$30^\circ$</a:t>
                </a:r>
                <a:r>
                  <a:rPr sz="2400" b="0">
                    <a:solidFill>
                      <a:srgbClr val="111827"/>
                    </a:solidFill>
                    <a:latin typeface="Arial"/>
                  </a:rPr>
                  <a:t> at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flown: </a:t>
                </a:r>
                <a:r>
                  <a:rPr lang="en-IN" sz="2400">
                    <a:solidFill>
                      <a:srgbClr val="111827"/>
                    </a:solidFill>
                    <a:latin typeface="Cambria Math" panose="02040503050406030204" pitchFamily="18" charset="0"/>
                  </a:rPr>
                  <a:t>$B'C'=\dfrac{432000}{3600}\times20=120\times20=2400$</a:t>
                </a:r>
                <a:r>
                  <a:rPr sz="2400" b="0">
                    <a:solidFill>
                      <a:srgbClr val="111827"/>
                    </a:solidFill>
                    <a:latin typeface="Arial"/>
                  </a:rPr>
                  <a:t> m, so </a:t>
                </a:r>
                <a:r>
                  <a:rPr lang="en-IN" sz="2400">
                    <a:solidFill>
                      <a:srgbClr val="111827"/>
                    </a:solidFill>
                    <a:latin typeface="Cambria Math" panose="02040503050406030204" pitchFamily="18" charset="0"/>
                  </a:rPr>
                  <a:t>$BC=B'C'=2400$</a:t>
                </a:r>
                <a:r>
                  <a:rPr sz="2400" b="0">
                    <a:solidFill>
                      <a:srgbClr val="111827"/>
                    </a:solidFill>
                    <a:latin typeface="Arial"/>
                  </a:rPr>
                  <a:t> m.</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two right triangles,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m,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two right triangles, </a:t>
                </a:r>
                <a:r>
                  <a:rPr lang="en-IN" sz="2400">
                    <a:solidFill>
                      <a:srgbClr val="111827"/>
                    </a:solidFill>
                    <a:latin typeface="Cambria Math" panose="02040503050406030204" pitchFamily="18" charset="0"/>
                  </a:rPr>
                  <a:t>$BC=h\cot30^\circ-h\cot60^\circ=2400$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$h\sqrt3-\dfrac{h}{\sqrt3}=\dfrac{2h}{\sqrt3}=2400$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$h=1200\sqrt3$</a:t>
                </a:r>
                <a:r>
                  <a:rPr sz="2400" b="0">
                    <a:solidFill>
                      <a:srgbClr val="111827"/>
                    </a:solidFill>
                    <a:latin typeface="Arial"/>
                  </a:rPr>
                  <a:t> m,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1200</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r>
                  <a:rPr sz="2800" b="1">
                    <a:solidFill>
                      <a:srgbClr val="15803D"/>
                    </a:solidFill>
                    <a:latin typeface="Arial"/>
                  </a:rPr>
                  <a:t> m</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$1200\sqrt3$</a:t>
                </a:r>
                <a:r>
                  <a:rPr sz="2800" b="1">
                    <a:solidFill>
                      <a:srgbClr val="15803D"/>
                    </a:solidFill>
                    <a:latin typeface="Arial"/>
                  </a:rPr>
                  <a:t> m</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Exterior-angle theorem: the elevation halves from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to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triangle </a:t>
                </a:r>
                <a14:m>
                  <m:oMath xmlns:m="http://schemas.openxmlformats.org/officeDocument/2006/math">
                    <m:r>
                      <a:rPr lang="en-IN" sz="2400" i="1">
                        <a:solidFill>
                          <a:srgbClr val="78350F"/>
                        </a:solidFill>
                        <a:latin typeface="Cambria Math" panose="02040503050406030204" pitchFamily="18" charset="0"/>
                      </a:rPr>
                      <m:t>𝐴</m:t>
                    </m:r>
                    <m:sSup>
                      <m:e>
                        <m:r>
                          <a:rPr lang="en-IN" sz="2400" i="1">
                            <a:solidFill>
                              <a:srgbClr val="78350F"/>
                            </a:solidFill>
                            <a:latin typeface="Cambria Math" panose="02040503050406030204" pitchFamily="18" charset="0"/>
                          </a:rPr>
                          <m:t>𝐵</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𝐶</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isosceles.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Exterior-angle theorem: the elevation halves from </a:t>
                </a:r>
                <a:r>
                  <a:rPr lang="en-IN" sz="2400">
                    <a:solidFill>
                      <a:srgbClr val="78350F"/>
                    </a:solidFill>
                    <a:latin typeface="Cambria Math" panose="02040503050406030204" pitchFamily="18" charset="0"/>
                  </a:rPr>
                  <a:t>$60^\circ$</a:t>
                </a:r>
                <a:r>
                  <a:rPr sz="2400" b="0">
                    <a:solidFill>
                      <a:srgbClr val="78350F"/>
                    </a:solidFill>
                    <a:latin typeface="Arial"/>
                  </a:rPr>
                  <a:t> to </a:t>
                </a:r>
                <a:r>
                  <a:rPr lang="en-IN" sz="2400">
                    <a:solidFill>
                      <a:srgbClr val="78350F"/>
                    </a:solidFill>
                    <a:latin typeface="Cambria Math" panose="02040503050406030204" pitchFamily="18" charset="0"/>
                  </a:rPr>
                  <a:t>$30^\circ$</a:t>
                </a:r>
                <a:r>
                  <a:rPr sz="2400" b="0">
                    <a:solidFill>
                      <a:srgbClr val="78350F"/>
                    </a:solidFill>
                    <a:latin typeface="Arial"/>
                  </a:rPr>
                  <a:t>, so triangle </a:t>
                </a:r>
                <a:r>
                  <a:rPr lang="en-IN" sz="2400">
                    <a:solidFill>
                      <a:srgbClr val="78350F"/>
                    </a:solidFill>
                    <a:latin typeface="Cambria Math" panose="02040503050406030204" pitchFamily="18" charset="0"/>
                  </a:rPr>
                  <a:t>$AB'C'$</a:t>
                </a:r>
                <a:r>
                  <a:rPr sz="2400" b="0">
                    <a:solidFill>
                      <a:srgbClr val="78350F"/>
                    </a:solidFill>
                    <a:latin typeface="Arial"/>
                  </a:rPr>
                  <a:t> is isosceles.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triangle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horizontal and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ground,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triangle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$\angle B'AC'=60^\circ-30^\circ=30^\circ$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is horizontal and </a:t>
                </a:r>
                <a:r>
                  <a:rPr lang="en-IN" sz="2400">
                    <a:solidFill>
                      <a:srgbClr val="111827"/>
                    </a:solidFill>
                    <a:latin typeface="Cambria Math" panose="02040503050406030204" pitchFamily="18" charset="0"/>
                  </a:rPr>
                  <a:t>$AB'$</a:t>
                </a:r>
                <a:r>
                  <a:rPr sz="2400" b="0">
                    <a:solidFill>
                      <a:srgbClr val="111827"/>
                    </a:solidFill>
                    <a:latin typeface="Arial"/>
                  </a:rPr>
                  <a:t> makes </a:t>
                </a:r>
                <a:r>
                  <a:rPr lang="en-IN" sz="2400">
                    <a:solidFill>
                      <a:srgbClr val="111827"/>
                    </a:solidFill>
                    <a:latin typeface="Cambria Math" panose="02040503050406030204" pitchFamily="18" charset="0"/>
                  </a:rPr>
                  <a:t>$60^\circ$</a:t>
                </a:r>
                <a:r>
                  <a:rPr sz="2400" b="0">
                    <a:solidFill>
                      <a:srgbClr val="111827"/>
                    </a:solidFill>
                    <a:latin typeface="Arial"/>
                  </a:rPr>
                  <a:t> with the ground, so </a:t>
                </a:r>
                <a:r>
                  <a:rPr lang="en-IN" sz="2400">
                    <a:solidFill>
                      <a:srgbClr val="111827"/>
                    </a:solidFill>
                    <a:latin typeface="Cambria Math" panose="02040503050406030204" pitchFamily="18" charset="0"/>
                  </a:rPr>
                  <a:t>$\angle AB'C'=180^\circ-60^\circ=120^\circ$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$\angle AC'B'=180^\circ-120^\circ-30^\circ=30^\circ=\angle B'AC'$</a:t>
                </a:r>
                <a:r>
                  <a:rPr sz="2400" b="0">
                    <a:solidFill>
                      <a:srgbClr val="111827"/>
                    </a:solidFill>
                    <a:latin typeface="Arial"/>
                  </a:rPr>
                  <a:t>, so </a:t>
                </a:r>
                <a:r>
                  <a:rPr lang="en-IN" sz="2400">
                    <a:solidFill>
                      <a:srgbClr val="111827"/>
                    </a:solidFill>
                    <a:latin typeface="Cambria Math" panose="02040503050406030204" pitchFamily="18" charset="0"/>
                  </a:rPr>
                  <a:t>$B'C'=AB'$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speed gives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 m, so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oMath>
                </a14:m>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height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m.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speed gives </a:t>
                </a:r>
                <a:r>
                  <a:rPr lang="en-IN" sz="2400">
                    <a:solidFill>
                      <a:srgbClr val="111827"/>
                    </a:solidFill>
                    <a:latin typeface="Cambria Math" panose="02040503050406030204" pitchFamily="18" charset="0"/>
                  </a:rPr>
                  <a:t>$B'C'=2400$</a:t>
                </a:r>
                <a:r>
                  <a:rPr sz="2400" b="0">
                    <a:solidFill>
                      <a:srgbClr val="111827"/>
                    </a:solidFill>
                    <a:latin typeface="Arial"/>
                  </a:rPr>
                  <a:t> m, so </a:t>
                </a:r>
                <a:r>
                  <a:rPr lang="en-IN" sz="2400">
                    <a:solidFill>
                      <a:srgbClr val="111827"/>
                    </a:solidFill>
                    <a:latin typeface="Cambria Math" panose="02040503050406030204" pitchFamily="18" charset="0"/>
                  </a:rPr>
                  <a:t>$AB'=2400$</a:t>
                </a:r>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height is </a:t>
                </a:r>
                <a:r>
                  <a:rPr lang="en-IN" sz="2400">
                    <a:solidFill>
                      <a:srgbClr val="111827"/>
                    </a:solidFill>
                    <a:latin typeface="Cambria Math" panose="02040503050406030204" pitchFamily="18" charset="0"/>
                  </a:rPr>
                  <a:t>$h=AB'\sin60^\circ=2400\cdot\dfrac{\sqrt3}{2}=1200\sqrt3$</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1200</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r>
                  <a:rPr sz="2800" b="1">
                    <a:solidFill>
                      <a:srgbClr val="15803D"/>
                    </a:solidFill>
                    <a:latin typeface="Arial"/>
                  </a:rPr>
                  <a:t> m</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$1200\sqrt3$</a:t>
                </a:r>
                <a:r>
                  <a:rPr sz="2800" b="1">
                    <a:solidFill>
                      <a:srgbClr val="15803D"/>
                    </a:solidFill>
                    <a:latin typeface="Arial"/>
                  </a:rPr>
                  <a:t> m</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Plane (or object) at constant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elevations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β</m:t>
                    </m:r>
                  </m:oMath>
                </a14:m>
                <a:r>
                  <a:rPr sz="2400" b="0">
                    <a:solidFill>
                      <a:srgbClr val="111827"/>
                    </a:solidFill>
                    <a:latin typeface="Arial"/>
                  </a:rPr>
                  <a:t> from the same ground point: horizontal distance covered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Unit conversion: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km/h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m/s, so </a:t>
                </a:r>
                <a14:m>
                  <m:oMath xmlns:m="http://schemas.openxmlformats.org/officeDocument/2006/math">
                    <m:r>
                      <a:rPr lang="en-IN" sz="2400" i="1">
                        <a:solidFill>
                          <a:srgbClr val="111827"/>
                        </a:solidFill>
                        <a:latin typeface="Cambria Math" panose="02040503050406030204" pitchFamily="18" charset="0"/>
                      </a:rPr>
                      <m:t>432</m:t>
                    </m:r>
                  </m:oMath>
                </a14:m>
                <a:r>
                  <a:rPr sz="2400" b="0">
                    <a:solidFill>
                      <a:srgbClr val="111827"/>
                    </a:solidFill>
                    <a:latin typeface="Arial"/>
                  </a:rPr>
                  <a:t> km/h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elevation drops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distance flown equals the first line of sight: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(exterior angle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Plane (or object) at constant height </a:t>
                </a:r>
                <a:r>
                  <a:rPr lang="en-IN" sz="2400">
                    <a:solidFill>
                      <a:srgbClr val="111827"/>
                    </a:solidFill>
                    <a:latin typeface="Cambria Math" panose="02040503050406030204" pitchFamily="18" charset="0"/>
                  </a:rPr>
                  <a:t>$h$</a:t>
                </a:r>
                <a:r>
                  <a:rPr sz="2400" b="0">
                    <a:solidFill>
                      <a:srgbClr val="111827"/>
                    </a:solidFill>
                    <a:latin typeface="Arial"/>
                  </a:rPr>
                  <a:t>, elevations </a:t>
                </a:r>
                <a:r>
                  <a:rPr lang="en-IN" sz="2400">
                    <a:solidFill>
                      <a:srgbClr val="111827"/>
                    </a:solidFill>
                    <a:latin typeface="Cambria Math" panose="02040503050406030204" pitchFamily="18" charset="0"/>
                  </a:rPr>
                  <a:t>$\alpha&gt;\beta$</a:t>
                </a:r>
                <a:r>
                  <a:rPr sz="2400" b="0">
                    <a:solidFill>
                      <a:srgbClr val="111827"/>
                    </a:solidFill>
                    <a:latin typeface="Arial"/>
                  </a:rPr>
                  <a:t> from the same ground point: horizontal distance covered </a:t>
                </a:r>
                <a:r>
                  <a:rPr lang="en-IN" sz="2400">
                    <a:solidFill>
                      <a:srgbClr val="111827"/>
                    </a:solidFill>
                    <a:latin typeface="Cambria Math" panose="02040503050406030204" pitchFamily="18" charset="0"/>
                  </a:rPr>
                  <a:t>$=h(\cot\beta-\cot\alpha)$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Unit conversion: </a:t>
                </a:r>
                <a:r>
                  <a:rPr lang="en-IN" sz="2400">
                    <a:solidFill>
                      <a:srgbClr val="111827"/>
                    </a:solidFill>
                    <a:latin typeface="Cambria Math" panose="02040503050406030204" pitchFamily="18" charset="0"/>
                  </a:rPr>
                  <a:t>$1$</a:t>
                </a:r>
                <a:r>
                  <a:rPr sz="2400" b="0">
                    <a:solidFill>
                      <a:srgbClr val="111827"/>
                    </a:solidFill>
                    <a:latin typeface="Arial"/>
                  </a:rPr>
                  <a:t> km/h </a:t>
                </a:r>
                <a:r>
                  <a:rPr lang="en-IN" sz="2400">
                    <a:solidFill>
                      <a:srgbClr val="111827"/>
                    </a:solidFill>
                    <a:latin typeface="Cambria Math" panose="02040503050406030204" pitchFamily="18" charset="0"/>
                  </a:rPr>
                  <a:t>$=\dfrac{5}{18}$</a:t>
                </a:r>
                <a:r>
                  <a:rPr sz="2400" b="0">
                    <a:solidFill>
                      <a:srgbClr val="111827"/>
                    </a:solidFill>
                    <a:latin typeface="Arial"/>
                  </a:rPr>
                  <a:t> m/s, so </a:t>
                </a:r>
                <a:r>
                  <a:rPr lang="en-IN" sz="2400">
                    <a:solidFill>
                      <a:srgbClr val="111827"/>
                    </a:solidFill>
                    <a:latin typeface="Cambria Math" panose="02040503050406030204" pitchFamily="18" charset="0"/>
                  </a:rPr>
                  <a:t>$432$</a:t>
                </a:r>
                <a:r>
                  <a:rPr sz="2400" b="0">
                    <a:solidFill>
                      <a:srgbClr val="111827"/>
                    </a:solidFill>
                    <a:latin typeface="Arial"/>
                  </a:rPr>
                  <a:t> km/h </a:t>
                </a:r>
                <a:r>
                  <a:rPr lang="en-IN" sz="2400">
                    <a:solidFill>
                      <a:srgbClr val="111827"/>
                    </a:solidFill>
                    <a:latin typeface="Cambria Math" panose="02040503050406030204" pitchFamily="18" charset="0"/>
                  </a:rPr>
                  <a:t>$=120$</a:t>
                </a:r>
                <a:r>
                  <a:rPr sz="2400" b="0">
                    <a:solidFill>
                      <a:srgbClr val="111827"/>
                    </a:solidFill>
                    <a:latin typeface="Arial"/>
                  </a:rPr>
                  <a:t> 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elevation drops from </a:t>
                </a:r>
                <a:r>
                  <a:rPr lang="en-IN" sz="2400">
                    <a:solidFill>
                      <a:srgbClr val="111827"/>
                    </a:solidFill>
                    <a:latin typeface="Cambria Math" panose="02040503050406030204" pitchFamily="18" charset="0"/>
                  </a:rPr>
                  <a:t>$2\theta$</a:t>
                </a:r>
                <a:r>
                  <a:rPr sz="2400" b="0">
                    <a:solidFill>
                      <a:srgbClr val="111827"/>
                    </a:solidFill>
                    <a:latin typeface="Arial"/>
                  </a:rPr>
                  <a:t> to </a:t>
                </a:r>
                <a:r>
                  <a:rPr lang="en-IN" sz="2400">
                    <a:solidFill>
                      <a:srgbClr val="111827"/>
                    </a:solidFill>
                    <a:latin typeface="Cambria Math" panose="02040503050406030204" pitchFamily="18" charset="0"/>
                  </a:rPr>
                  <a:t>$\theta$</a:t>
                </a:r>
                <a:r>
                  <a:rPr sz="2400" b="0">
                    <a:solidFill>
                      <a:srgbClr val="111827"/>
                    </a:solidFill>
                    <a:latin typeface="Arial"/>
                  </a:rPr>
                  <a:t> (here </a:t>
                </a:r>
                <a:r>
                  <a:rPr lang="en-IN" sz="2400">
                    <a:solidFill>
                      <a:srgbClr val="111827"/>
                    </a:solidFill>
                    <a:latin typeface="Cambria Math" panose="02040503050406030204" pitchFamily="18" charset="0"/>
                  </a:rPr>
                  <a:t>$60^\circ\to30^\circ$</a:t>
                </a:r>
                <a:r>
                  <a:rPr sz="2400" b="0">
                    <a:solidFill>
                      <a:srgbClr val="111827"/>
                    </a:solidFill>
                    <a:latin typeface="Arial"/>
                  </a:rPr>
                  <a:t>), the distance flown equals the first line of sight: </a:t>
                </a:r>
                <a:r>
                  <a:rPr lang="en-IN" sz="2400">
                    <a:solidFill>
                      <a:srgbClr val="111827"/>
                    </a:solidFill>
                    <a:latin typeface="Cambria Math" panose="02040503050406030204" pitchFamily="18" charset="0"/>
                  </a:rPr>
                  <a:t>$B'C'=AB'$</a:t>
                </a:r>
                <a:r>
                  <a:rPr sz="2400" b="0">
                    <a:solidFill>
                      <a:srgbClr val="111827"/>
                    </a:solidFill>
                    <a:latin typeface="Arial"/>
                  </a:rPr>
                  <a:t> (exterior angle </a:t>
                </a:r>
                <a:r>
                  <a:rPr lang="en-IN" sz="2400">
                    <a:solidFill>
                      <a:srgbClr val="111827"/>
                    </a:solidFill>
                    <a:latin typeface="Cambria Math" panose="02040503050406030204" pitchFamily="18" charset="0"/>
                  </a:rPr>
                  <a:t>$2\theta=\theta+\theta$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9309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man is observing, from the top of a tower, a boat speeding towards the tower from a certain point A, with uniform speed. At that point, angle of depression of the boat with the man's eye is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(Ignore man's height). After sailing for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seconds, towards the base of the tower (which is at the level of water), the boat has reached a point B, where the angle of depression is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Then the time taken (in seconds) by the boat from B to reach the base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endParaRPr sz="2400">
                  <a:solidFill>
                    <a:srgbClr val="111827"/>
                  </a:solidFill>
                </a:endParaRPr>
              </a:p>
            </p:txBody>
          </p:sp>
        </mc:Choice>
        <mc:Fallback>
          <p:sp>
            <p:nvSpPr>
              <p:cNvPr id="4" name="Rounded Rectangle 3"/>
              <p:cNvSpPr/>
              <p:nvPr/>
            </p:nvSpPr>
            <p:spPr>
              <a:xfrm>
                <a:off x="731520" y="1280160"/>
                <a:ext cx="10725912" cy="39309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man is observing, from the top of a tower, a boat speeding towards the tower from a certain point A, with uniform speed. At that point, angle of depression of the boat with the man's eye is </a:t>
                </a:r>
                <a:r>
                  <a:rPr lang="en-IN" sz="2400">
                    <a:solidFill>
                      <a:srgbClr val="111827"/>
                    </a:solidFill>
                    <a:latin typeface="Cambria Math" panose="02040503050406030204" pitchFamily="18" charset="0"/>
                  </a:rPr>
                  <a:t>$30^\circ$</a:t>
                </a:r>
                <a:r>
                  <a:rPr sz="2400" b="0">
                    <a:solidFill>
                      <a:srgbClr val="111827"/>
                    </a:solidFill>
                    <a:latin typeface="Arial"/>
                  </a:rPr>
                  <a:t> (Ignore man's height). After sailing for </a:t>
                </a:r>
                <a:r>
                  <a:rPr lang="en-IN" sz="2400">
                    <a:solidFill>
                      <a:srgbClr val="111827"/>
                    </a:solidFill>
                    <a:latin typeface="Cambria Math" panose="02040503050406030204" pitchFamily="18" charset="0"/>
                  </a:rPr>
                  <a:t>$20$</a:t>
                </a:r>
                <a:r>
                  <a:rPr sz="2400" b="0">
                    <a:solidFill>
                      <a:srgbClr val="111827"/>
                    </a:solidFill>
                    <a:latin typeface="Arial"/>
                  </a:rPr>
                  <a:t> seconds, towards the base of the tower (which is at the level of water), the boat has reached a point B, where the angle of depression is </a:t>
                </a:r>
                <a:r>
                  <a:rPr lang="en-IN" sz="2400">
                    <a:solidFill>
                      <a:srgbClr val="111827"/>
                    </a:solidFill>
                    <a:latin typeface="Cambria Math" panose="02040503050406030204" pitchFamily="18" charset="0"/>
                  </a:rPr>
                  <a:t>$45^\circ$</a:t>
                </a:r>
                <a:r>
                  <a:rPr sz="2400" b="0">
                    <a:solidFill>
                      <a:srgbClr val="111827"/>
                    </a:solidFill>
                    <a:latin typeface="Arial"/>
                  </a:rPr>
                  <a:t>. Then the time taken (in seconds) by the boat from B to reach the base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$10(\sqrt3+1)$</a:t>
                </a:r>
                <a:r>
                  <a:rPr sz="2400" b="0">
                    <a:solidFill>
                      <a:srgbClr val="111827"/>
                    </a:solidFill>
                    <a:latin typeface="Arial"/>
                  </a:rPr>
                  <a:t>   (B) </a:t>
                </a:r>
                <a:r>
                  <a:rPr lang="en-IN" sz="2400">
                    <a:solidFill>
                      <a:srgbClr val="111827"/>
                    </a:solidFill>
                    <a:latin typeface="Cambria Math" panose="02040503050406030204" pitchFamily="18" charset="0"/>
                  </a:rPr>
                  <a:t>$10$</a:t>
                </a:r>
                <a:r>
                  <a:rPr sz="2400" b="0">
                    <a:solidFill>
                      <a:srgbClr val="111827"/>
                    </a:solidFill>
                    <a:latin typeface="Arial"/>
                  </a:rPr>
                  <a:t>   (C) </a:t>
                </a:r>
                <a:r>
                  <a:rPr lang="en-IN" sz="2400">
                    <a:solidFill>
                      <a:srgbClr val="111827"/>
                    </a:solidFill>
                    <a:latin typeface="Cambria Math" panose="02040503050406030204" pitchFamily="18" charset="0"/>
                  </a:rPr>
                  <a:t>$10(\sqrt3-1)$</a:t>
                </a:r>
                <a:r>
                  <a:rPr sz="2400" b="0">
                    <a:solidFill>
                      <a:srgbClr val="111827"/>
                    </a:solidFill>
                    <a:latin typeface="Arial"/>
                  </a:rPr>
                  <a:t>   (D) </a:t>
                </a:r>
                <a:r>
                  <a:rPr lang="en-IN" sz="2400">
                    <a:solidFill>
                      <a:srgbClr val="111827"/>
                    </a:solidFill>
                    <a:latin typeface="Cambria Math" panose="02040503050406030204" pitchFamily="18" charset="0"/>
                  </a:rPr>
                  <a:t>$10\sqrt3$</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depression and uniform speed (heights and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uniform speed time is proportional to distance, so find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from the two depression angles.</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uniform speed time is proportional to distance, so find </a:t>
                </a:r>
                <a:r>
                  <a:rPr lang="en-IN" sz="2400">
                    <a:solidFill>
                      <a:srgbClr val="78350F"/>
                    </a:solidFill>
                    <a:latin typeface="Cambria Math" panose="02040503050406030204" pitchFamily="18" charset="0"/>
                  </a:rPr>
                  <a:t>$AB:BC$</a:t>
                </a:r>
                <a:r>
                  <a:rPr sz="2400" b="0">
                    <a:solidFill>
                      <a:srgbClr val="78350F"/>
                    </a:solidFill>
                    <a:latin typeface="Arial"/>
                  </a:rPr>
                  <a:t> from the two depression angles.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be the man's eye,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the base of the tower,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(sailed in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s)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$D$</a:t>
                </a:r>
                <a:r>
                  <a:rPr sz="2400" b="0">
                    <a:solidFill>
                      <a:srgbClr val="111827"/>
                    </a:solidFill>
                    <a:latin typeface="Arial"/>
                  </a:rPr>
                  <a:t> be the man's eye, </a:t>
                </a:r>
                <a:r>
                  <a:rPr lang="en-IN" sz="2400">
                    <a:solidFill>
                      <a:srgbClr val="111827"/>
                    </a:solidFill>
                    <a:latin typeface="Cambria Math" panose="02040503050406030204" pitchFamily="18" charset="0"/>
                  </a:rPr>
                  <a:t>$C$</a:t>
                </a:r>
                <a:r>
                  <a:rPr sz="2400" b="0">
                    <a:solidFill>
                      <a:srgbClr val="111827"/>
                    </a:solidFill>
                    <a:latin typeface="Arial"/>
                  </a:rPr>
                  <a:t> the base of the tower, </a:t>
                </a:r>
                <a:r>
                  <a:rPr lang="en-IN" sz="2400">
                    <a:solidFill>
                      <a:srgbClr val="111827"/>
                    </a:solidFill>
                    <a:latin typeface="Cambria Math" panose="02040503050406030204" pitchFamily="18" charset="0"/>
                  </a:rPr>
                  <a:t>$DC=h$</a:t>
                </a:r>
                <a:r>
                  <a:rPr sz="2400" b="0">
                    <a:solidFill>
                      <a:srgbClr val="111827"/>
                    </a:solidFill>
                    <a:latin typeface="Arial"/>
                  </a:rPr>
                  <a:t>; let </a:t>
                </a:r>
                <a:r>
                  <a:rPr lang="en-IN" sz="2400">
                    <a:solidFill>
                      <a:srgbClr val="111827"/>
                    </a:solidFill>
                    <a:latin typeface="Cambria Math" panose="02040503050406030204" pitchFamily="18" charset="0"/>
                  </a:rPr>
                  <a:t>$AB=x$</a:t>
                </a:r>
                <a:r>
                  <a:rPr sz="2400" b="0">
                    <a:solidFill>
                      <a:srgbClr val="111827"/>
                    </a:solidFill>
                    <a:latin typeface="Arial"/>
                  </a:rPr>
                  <a:t> (sailed in </a:t>
                </a:r>
                <a:r>
                  <a:rPr lang="en-IN" sz="2400">
                    <a:solidFill>
                      <a:srgbClr val="111827"/>
                    </a:solidFill>
                    <a:latin typeface="Cambria Math" panose="02040503050406030204" pitchFamily="18" charset="0"/>
                  </a:rPr>
                  <a:t>$20$</a:t>
                </a:r>
                <a:r>
                  <a:rPr sz="2400" b="0">
                    <a:solidFill>
                      <a:srgbClr val="111827"/>
                    </a:solidFill>
                    <a:latin typeface="Arial"/>
                  </a:rPr>
                  <a:t> s) and </a:t>
                </a:r>
                <a:r>
                  <a:rPr lang="en-IN" sz="2400">
                    <a:solidFill>
                      <a:srgbClr val="111827"/>
                    </a:solidFill>
                    <a:latin typeface="Cambria Math" panose="02040503050406030204" pitchFamily="18" charset="0"/>
                  </a:rPr>
                  <a:t>$BC=y$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Angles of depression equal angles of elevation from the boat: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(2) in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Speed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𝑑𝑖𝑠𝑡𝑎𝑛𝑐𝑒</m:t>
                        </m:r>
                      </m:num>
                      <m:den>
                        <m:r>
                          <m:rPr>
                            <m:nor/>
                          </m:rPr>
                          <a:rPr lang="en-IN" sz="2400" i="1">
                            <a:solidFill>
                              <a:srgbClr val="111827"/>
                            </a:solidFill>
                            <a:latin typeface="Cambria Math" panose="02040503050406030204" pitchFamily="18" charset="0"/>
                          </a:rPr>
                          <m:t>𝑡𝑖𝑚𝑒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Time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m:rPr>
                            <m:nor/>
                          </m:rPr>
                          <a:rPr lang="en-IN" sz="2400" i="1">
                            <a:solidFill>
                              <a:srgbClr val="111827"/>
                            </a:solidFill>
                            <a:latin typeface="Cambria Math" panose="02040503050406030204" pitchFamily="18" charset="0"/>
                          </a:rPr>
                          <m:t>𝑠𝑝𝑒𝑒𝑑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Angles of depression equal angles of elevation from the boat: </a:t>
                </a:r>
                <a:r>
                  <a:rPr lang="en-IN" sz="2400">
                    <a:solidFill>
                      <a:srgbClr val="111827"/>
                    </a:solidFill>
                    <a:latin typeface="Cambria Math" panose="02040503050406030204" pitchFamily="18" charset="0"/>
                  </a:rPr>
                  <a:t>$\angle DAC=30^\circ$</a:t>
                </a:r>
                <a:r>
                  <a:rPr sz="2400" b="0">
                    <a:solidFill>
                      <a:srgbClr val="111827"/>
                    </a:solidFill>
                    <a:latin typeface="Arial"/>
                  </a:rPr>
                  <a:t>, </a:t>
                </a:r>
                <a:r>
                  <a:rPr lang="en-IN" sz="2400">
                    <a:solidFill>
                      <a:srgbClr val="111827"/>
                    </a:solidFill>
                    <a:latin typeface="Cambria Math" panose="02040503050406030204" pitchFamily="18" charset="0"/>
                  </a:rPr>
                  <a:t>$\angle DBC=45^\circ$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ACD$</a:t>
                </a:r>
                <a:r>
                  <a:rPr sz="2400" b="0">
                    <a:solidFill>
                      <a:srgbClr val="111827"/>
                    </a:solidFill>
                    <a:latin typeface="Arial"/>
                  </a:rPr>
                  <a:t>: </a:t>
                </a:r>
                <a:r>
                  <a:rPr lang="en-IN" sz="2400">
                    <a:solidFill>
                      <a:srgbClr val="111827"/>
                    </a:solidFill>
                    <a:latin typeface="Cambria Math" panose="02040503050406030204" pitchFamily="18" charset="0"/>
                  </a:rPr>
                  <a:t>$\tan30^\circ=\dfrac{h}{x+y}$</a:t>
                </a:r>
                <a:r>
                  <a:rPr sz="2400" b="0">
                    <a:solidFill>
                      <a:srgbClr val="111827"/>
                    </a:solidFill>
                    <a:latin typeface="Arial"/>
                  </a:rPr>
                  <a:t>, so </a:t>
                </a:r>
                <a:r>
                  <a:rPr lang="en-IN" sz="2400">
                    <a:solidFill>
                      <a:srgbClr val="111827"/>
                    </a:solidFill>
                    <a:latin typeface="Cambria Math" panose="02040503050406030204" pitchFamily="18" charset="0"/>
                  </a:rPr>
                  <a:t>$x+y=\sqrt3\,h$</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BCD$</a:t>
                </a:r>
                <a:r>
                  <a:rPr sz="2400" b="0">
                    <a:solidFill>
                      <a:srgbClr val="111827"/>
                    </a:solidFill>
                    <a:latin typeface="Arial"/>
                  </a:rPr>
                  <a:t>: </a:t>
                </a:r>
                <a:r>
                  <a:rPr lang="en-IN" sz="2400">
                    <a:solidFill>
                      <a:srgbClr val="111827"/>
                    </a:solidFill>
                    <a:latin typeface="Cambria Math" panose="02040503050406030204" pitchFamily="18" charset="0"/>
                  </a:rPr>
                  <a:t>$\tan45^\circ=\dfrac{h}{y}$</a:t>
                </a:r>
                <a:r>
                  <a:rPr sz="2400" b="0">
                    <a:solidFill>
                      <a:srgbClr val="111827"/>
                    </a:solidFill>
                    <a:latin typeface="Arial"/>
                  </a:rPr>
                  <a:t>, so </a:t>
                </a:r>
                <a:r>
                  <a:rPr lang="en-IN" sz="2400">
                    <a:solidFill>
                      <a:srgbClr val="111827"/>
                    </a:solidFill>
                    <a:latin typeface="Cambria Math" panose="02040503050406030204" pitchFamily="18" charset="0"/>
                  </a:rPr>
                  <a:t>$y=h$</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(2) in (1): </a:t>
                </a:r>
                <a:r>
                  <a:rPr lang="en-IN" sz="2400">
                    <a:solidFill>
                      <a:srgbClr val="111827"/>
                    </a:solidFill>
                    <a:latin typeface="Cambria Math" panose="02040503050406030204" pitchFamily="18" charset="0"/>
                  </a:rPr>
                  <a:t>$x+y=\sqrt3\,y$</a:t>
                </a:r>
                <a:r>
                  <a:rPr sz="2400" b="0">
                    <a:solidFill>
                      <a:srgbClr val="111827"/>
                    </a:solidFill>
                    <a:latin typeface="Arial"/>
                  </a:rPr>
                  <a:t>, so </a:t>
                </a:r>
                <a:r>
                  <a:rPr lang="en-IN" sz="2400">
                    <a:solidFill>
                      <a:srgbClr val="111827"/>
                    </a:solidFill>
                    <a:latin typeface="Cambria Math" panose="02040503050406030204" pitchFamily="18" charset="0"/>
                  </a:rPr>
                  <a:t>$y=\dfrac{x}{\sqrt3-1}$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Speed </a:t>
                </a:r>
                <a:r>
                  <a:rPr lang="en-IN" sz="2400">
                    <a:solidFill>
                      <a:srgbClr val="111827"/>
                    </a:solidFill>
                    <a:latin typeface="Cambria Math" panose="02040503050406030204" pitchFamily="18" charset="0"/>
                  </a:rPr>
                  <a:t>$=\dfrac{\text{distance}}{\text{time}}=\dfrac{x}{20}$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Time from </a:t>
                </a:r>
                <a:r>
                  <a:rPr lang="en-IN" sz="2400">
                    <a:solidFill>
                      <a:srgbClr val="111827"/>
                    </a:solidFill>
                    <a:latin typeface="Cambria Math" panose="02040503050406030204" pitchFamily="18" charset="0"/>
                  </a:rPr>
                  <a:t>$B$</a:t>
                </a:r>
                <a:r>
                  <a:rPr sz="2400" b="0">
                    <a:solidFill>
                      <a:srgbClr val="111827"/>
                    </a:solidFill>
                    <a:latin typeface="Arial"/>
                  </a:rPr>
                  <a:t> to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$=\dfrac{y}{\text{speed}}=\dfrac{x/(\sqrt3-1)}{x/20}=\dfrac{20}{\sqrt3-1}$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seconds,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$\dfrac{20}{\sqrt3-1}=\dfrac{20(\sqrt3+1)}{2}=10(\sqrt3+1)$</a:t>
                </a:r>
                <a:r>
                  <a:rPr sz="2400" b="0">
                    <a:solidFill>
                      <a:srgbClr val="111827"/>
                    </a:solidFill>
                    <a:latin typeface="Arial"/>
                  </a:rPr>
                  <a:t> seconds,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$10(\sqrt3+1)$</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sine rule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where the angle at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is the difference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Apply the sine rule in </a:t>
                </a:r>
                <a:r>
                  <a:rPr lang="en-IN" sz="2400">
                    <a:solidFill>
                      <a:srgbClr val="78350F"/>
                    </a:solidFill>
                    <a:latin typeface="Cambria Math" panose="02040503050406030204" pitchFamily="18" charset="0"/>
                  </a:rPr>
                  <a:t>$\triangle ABD$</a:t>
                </a:r>
                <a:r>
                  <a:rPr sz="2400" b="0">
                    <a:solidFill>
                      <a:srgbClr val="78350F"/>
                    </a:solidFill>
                    <a:latin typeface="Arial"/>
                  </a:rPr>
                  <a:t>, where the angle at </a:t>
                </a:r>
                <a:r>
                  <a:rPr lang="en-IN" sz="2400">
                    <a:solidFill>
                      <a:srgbClr val="78350F"/>
                    </a:solidFill>
                    <a:latin typeface="Cambria Math" panose="02040503050406030204" pitchFamily="18" charset="0"/>
                  </a:rPr>
                  <a:t>$D$</a:t>
                </a:r>
                <a:r>
                  <a:rPr sz="2400" b="0">
                    <a:solidFill>
                      <a:srgbClr val="78350F"/>
                    </a:solidFill>
                    <a:latin typeface="Arial"/>
                  </a:rPr>
                  <a:t> is the difference </a:t>
                </a:r>
                <a:r>
                  <a:rPr lang="en-IN" sz="2400">
                    <a:solidFill>
                      <a:srgbClr val="78350F"/>
                    </a:solidFill>
                    <a:latin typeface="Cambria Math" panose="02040503050406030204" pitchFamily="18" charset="0"/>
                  </a:rPr>
                  <a:t>$45^\circ-30^\circ$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exterior angle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ABD$</a:t>
                </a:r>
                <a:r>
                  <a:rPr sz="2400" b="0">
                    <a:solidFill>
                      <a:srgbClr val="111827"/>
                    </a:solidFill>
                    <a:latin typeface="Arial"/>
                  </a:rPr>
                  <a:t>: </a:t>
                </a:r>
                <a:r>
                  <a:rPr lang="en-IN" sz="2400">
                    <a:solidFill>
                      <a:srgbClr val="111827"/>
                    </a:solidFill>
                    <a:latin typeface="Cambria Math" panose="02040503050406030204" pitchFamily="18" charset="0"/>
                  </a:rPr>
                  <a:t>$\angle DAB=30^\circ$</a:t>
                </a:r>
                <a:r>
                  <a:rPr sz="2400" b="0">
                    <a:solidFill>
                      <a:srgbClr val="111827"/>
                    </a:solidFill>
                    <a:latin typeface="Arial"/>
                  </a:rPr>
                  <a:t>, </a:t>
                </a:r>
                <a:r>
                  <a:rPr lang="en-IN" sz="2400">
                    <a:solidFill>
                      <a:srgbClr val="111827"/>
                    </a:solidFill>
                    <a:latin typeface="Cambria Math" panose="02040503050406030204" pitchFamily="18" charset="0"/>
                  </a:rPr>
                  <a:t>$\angle DBC=45^\circ$</a:t>
                </a:r>
                <a:r>
                  <a:rPr sz="2400" b="0">
                    <a:solidFill>
                      <a:srgbClr val="111827"/>
                    </a:solidFill>
                    <a:latin typeface="Arial"/>
                  </a:rPr>
                  <a:t> is the exterior angle at </a:t>
                </a:r>
                <a:r>
                  <a:rPr lang="en-IN" sz="2400">
                    <a:solidFill>
                      <a:srgbClr val="111827"/>
                    </a:solidFill>
                    <a:latin typeface="Cambria Math" panose="02040503050406030204" pitchFamily="18" charset="0"/>
                  </a:rPr>
                  <a:t>$B$</a:t>
                </a:r>
                <a:r>
                  <a:rPr sz="2400" b="0">
                    <a:solidFill>
                      <a:srgbClr val="111827"/>
                    </a:solidFill>
                    <a:latin typeface="Arial"/>
                  </a:rPr>
                  <a:t>, so </a:t>
                </a:r>
                <a:r>
                  <a:rPr lang="en-IN" sz="2400">
                    <a:solidFill>
                      <a:srgbClr val="111827"/>
                    </a:solidFill>
                    <a:latin typeface="Cambria Math" panose="02040503050406030204" pitchFamily="18" charset="0"/>
                  </a:rPr>
                  <a:t>$\angle ADB=45^\circ-30^\circ=15^\circ$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r>
                  <a:rPr lang="en-IN" sz="2400">
                    <a:solidFill>
                      <a:srgbClr val="111827"/>
                    </a:solidFill>
                    <a:latin typeface="Cambria Math" panose="02040503050406030204" pitchFamily="18" charset="0"/>
                  </a:rPr>
                  <a:t>$\dfrac{AB}{\sin15^\circ}=\dfrac{DB}{\sin30^\circ}$</a:t>
                </a:r>
                <a:r>
                  <a:rPr sz="2400" b="0">
                    <a:solidFill>
                      <a:srgbClr val="111827"/>
                    </a:solidFill>
                    <a:latin typeface="Arial"/>
                  </a:rPr>
                  <a:t>, so </a:t>
                </a:r>
                <a:r>
                  <a:rPr lang="en-IN" sz="2400">
                    <a:solidFill>
                      <a:srgbClr val="111827"/>
                    </a:solidFill>
                    <a:latin typeface="Cambria Math" panose="02040503050406030204" pitchFamily="18" charset="0"/>
                  </a:rPr>
                  <a:t>$AB=2\,DB\sin15^\circ$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$DBC$</a:t>
                </a:r>
                <a:r>
                  <a:rPr sz="2400" b="0">
                    <a:solidFill>
                      <a:srgbClr val="111827"/>
                    </a:solidFill>
                    <a:latin typeface="Arial"/>
                  </a:rPr>
                  <a:t> (</a:t>
                </a:r>
                <a:r>
                  <a:rPr lang="en-IN" sz="2400">
                    <a:solidFill>
                      <a:srgbClr val="111827"/>
                    </a:solidFill>
                    <a:latin typeface="Cambria Math" panose="02040503050406030204" pitchFamily="18" charset="0"/>
                  </a:rPr>
                  <a:t>$45^\circ$</a:t>
                </a:r>
                <a:r>
                  <a:rPr sz="2400" b="0">
                    <a:solidFill>
                      <a:srgbClr val="111827"/>
                    </a:solidFill>
                    <a:latin typeface="Arial"/>
                  </a:rPr>
                  <a:t>): </a:t>
                </a:r>
                <a:r>
                  <a:rPr lang="en-IN" sz="2400">
                    <a:solidFill>
                      <a:srgbClr val="111827"/>
                    </a:solidFill>
                    <a:latin typeface="Cambria Math" panose="02040503050406030204" pitchFamily="18" charset="0"/>
                  </a:rPr>
                  <a:t>$BC=DB\cos45^\circ=\dfrac{DB}{\sqrt2}$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Time for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$\dfrac{BC}{AB}=\dfrac{1}{2\sqrt2\sin15^\circ}=\dfrac{1}{2\sqrt2\cdot\frac{\sqrt6-\sqrt2}{4}}=\dfrac{1}{\sqrt3-1}$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Time for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$=20\cdot\dfrac{BC}{AB}=\dfrac{20}{\sqrt3-1}=10(\sqrt3+1)$</a:t>
                </a:r>
                <a:r>
                  <a:rPr sz="2400" b="0">
                    <a:solidFill>
                      <a:srgbClr val="111827"/>
                    </a:solidFill>
                    <a:latin typeface="Arial"/>
                  </a:rPr>
                  <a:t> s.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$10(\sqrt3+1)$</a:t>
                </a:r>
                <a:endParaRPr sz="2800">
                  <a:solidFill>
                    <a:srgbClr val="15803D"/>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Uniform speed: time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distance, so only the ratio of distances is needed (the height cancels).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depressions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(first)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(second),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α</m:t>
                    </m:r>
                  </m:oMath>
                </a14:m>
                <a:r>
                  <a:rPr sz="2400" b="0">
                    <a:solidFill>
                      <a:srgbClr val="111827"/>
                    </a:solidFill>
                    <a:latin typeface="Arial"/>
                  </a:rPr>
                  <a:t>, the time still needed after the second point is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is the time between the two observations.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b>
                      <m:e>
                        <m:r>
                          <a:rPr lang="en-IN" sz="2400" i="1">
                            <a:solidFill>
                              <a:srgbClr val="111827"/>
                            </a:solidFill>
                            <a:latin typeface="Cambria Math" panose="02040503050406030204" pitchFamily="18" charset="0"/>
                          </a:rPr>
                          <m:t>𝑡</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of depression from above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angle of elevation from below (alternate angles).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Uniform speed: time </a:t>
                </a:r>
                <a:r>
                  <a:rPr lang="en-IN" sz="2400">
                    <a:solidFill>
                      <a:srgbClr val="111827"/>
                    </a:solidFill>
                    <a:latin typeface="Cambria Math" panose="02040503050406030204" pitchFamily="18" charset="0"/>
                  </a:rPr>
                  <a:t>$\propto$</a:t>
                </a:r>
                <a:r>
                  <a:rPr sz="2400" b="0">
                    <a:solidFill>
                      <a:srgbClr val="111827"/>
                    </a:solidFill>
                    <a:latin typeface="Arial"/>
                  </a:rPr>
                  <a:t> distance, so only the ratio of distances is needed (the height cancels).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depressions </a:t>
                </a:r>
                <a:r>
                  <a:rPr lang="en-IN" sz="2400">
                    <a:solidFill>
                      <a:srgbClr val="111827"/>
                    </a:solidFill>
                    <a:latin typeface="Cambria Math" panose="02040503050406030204" pitchFamily="18" charset="0"/>
                  </a:rPr>
                  <a:t>$\alpha$</a:t>
                </a:r>
                <a:r>
                  <a:rPr sz="2400" b="0">
                    <a:solidFill>
                      <a:srgbClr val="111827"/>
                    </a:solidFill>
                    <a:latin typeface="Arial"/>
                  </a:rPr>
                  <a:t> (first) and </a:t>
                </a:r>
                <a:r>
                  <a:rPr lang="en-IN" sz="2400">
                    <a:solidFill>
                      <a:srgbClr val="111827"/>
                    </a:solidFill>
                    <a:latin typeface="Cambria Math" panose="02040503050406030204" pitchFamily="18" charset="0"/>
                  </a:rPr>
                  <a:t>$\beta$</a:t>
                </a:r>
                <a:r>
                  <a:rPr sz="2400" b="0">
                    <a:solidFill>
                      <a:srgbClr val="111827"/>
                    </a:solidFill>
                    <a:latin typeface="Arial"/>
                  </a:rPr>
                  <a:t> (second), </a:t>
                </a:r>
                <a:r>
                  <a:rPr lang="en-IN" sz="2400">
                    <a:solidFill>
                      <a:srgbClr val="111827"/>
                    </a:solidFill>
                    <a:latin typeface="Cambria Math" panose="02040503050406030204" pitchFamily="18" charset="0"/>
                  </a:rPr>
                  <a:t>$\beta&gt;\alpha$</a:t>
                </a:r>
                <a:r>
                  <a:rPr sz="2400" b="0">
                    <a:solidFill>
                      <a:srgbClr val="111827"/>
                    </a:solidFill>
                    <a:latin typeface="Arial"/>
                  </a:rPr>
                  <a:t>, the time still needed after the second point is </a:t>
                </a:r>
                <a:r>
                  <a:rPr lang="en-IN" sz="2400">
                    <a:solidFill>
                      <a:srgbClr val="111827"/>
                    </a:solidFill>
                    <a:latin typeface="Cambria Math" panose="02040503050406030204" pitchFamily="18" charset="0"/>
                  </a:rPr>
                  <a:t>$t_2=t\cdot\dfrac{\cot\beta}{\cot\alpha-\cot\beta}$</a:t>
                </a:r>
                <a:r>
                  <a:rPr sz="2400" b="0">
                    <a:solidFill>
                      <a:srgbClr val="111827"/>
                    </a:solidFill>
                    <a:latin typeface="Arial"/>
                  </a:rPr>
                  <a:t>, where </a:t>
                </a:r>
                <a:r>
                  <a:rPr lang="en-IN" sz="2400">
                    <a:solidFill>
                      <a:srgbClr val="111827"/>
                    </a:solidFill>
                    <a:latin typeface="Cambria Math" panose="02040503050406030204" pitchFamily="18" charset="0"/>
                  </a:rPr>
                  <a:t>$t$</a:t>
                </a:r>
                <a:r>
                  <a:rPr sz="2400" b="0">
                    <a:solidFill>
                      <a:srgbClr val="111827"/>
                    </a:solidFill>
                    <a:latin typeface="Arial"/>
                  </a:rPr>
                  <a:t> is the time between the two observations.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$t_2=20\cdot\dfrac{1}{\sqrt3-1}=10(\sqrt3+1)$</a:t>
                </a:r>
                <a:r>
                  <a:rPr sz="2400" b="0">
                    <a:solidFill>
                      <a:srgbClr val="111827"/>
                    </a:solidFill>
                    <a:latin typeface="Arial"/>
                  </a:rPr>
                  <a:t>; check: </a:t>
                </a:r>
                <a:r>
                  <a:rPr lang="en-IN" sz="2400">
                    <a:solidFill>
                      <a:srgbClr val="111827"/>
                    </a:solidFill>
                    <a:latin typeface="Cambria Math" panose="02040503050406030204" pitchFamily="18" charset="0"/>
                  </a:rPr>
                  <a:t>$\cot45^\circ=1$</a:t>
                </a:r>
                <a:r>
                  <a:rPr sz="2400" b="0">
                    <a:solidFill>
                      <a:srgbClr val="111827"/>
                    </a:solidFill>
                    <a:latin typeface="Arial"/>
                  </a:rPr>
                  <a:t>, </a:t>
                </a:r>
                <a:r>
                  <a:rPr lang="en-IN" sz="2400">
                    <a:solidFill>
                      <a:srgbClr val="111827"/>
                    </a:solidFill>
                    <a:latin typeface="Cambria Math" panose="02040503050406030204" pitchFamily="18" charset="0"/>
                  </a:rPr>
                  <a:t>$\cot30^\circ=\sqrt3$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of depression from above </a:t>
                </a:r>
                <a:r>
                  <a:rPr lang="en-IN" sz="2400">
                    <a:solidFill>
                      <a:srgbClr val="111827"/>
                    </a:solidFill>
                    <a:latin typeface="Cambria Math" panose="02040503050406030204" pitchFamily="18" charset="0"/>
                  </a:rPr>
                  <a:t>$=$</a:t>
                </a:r>
                <a:r>
                  <a:rPr sz="2400" b="0">
                    <a:solidFill>
                      <a:srgbClr val="111827"/>
                    </a:solidFill>
                    <a:latin typeface="Arial"/>
                  </a:rPr>
                  <a:t> angle of elevation from below (alternate angles).</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pole stands vertically inside a triangular park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Let the angle of elevation of the top of the pole from each corner of the park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If the radius of the circumcircle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then the height of the pole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pole stands vertically inside a triangular park </a:t>
                </a:r>
                <a:r>
                  <a:rPr lang="en-IN" sz="2400">
                    <a:solidFill>
                      <a:srgbClr val="111827"/>
                    </a:solidFill>
                    <a:latin typeface="Cambria Math" panose="02040503050406030204" pitchFamily="18" charset="0"/>
                  </a:rPr>
                  <a:t>$ABC$</a:t>
                </a:r>
                <a:r>
                  <a:rPr sz="2400" b="0">
                    <a:solidFill>
                      <a:srgbClr val="111827"/>
                    </a:solidFill>
                    <a:latin typeface="Arial"/>
                  </a:rPr>
                  <a:t>. Let the angle of elevation of the top of the pole from each corner of the park be </a:t>
                </a:r>
                <a:r>
                  <a:rPr lang="en-IN" sz="2400">
                    <a:solidFill>
                      <a:srgbClr val="111827"/>
                    </a:solidFill>
                    <a:latin typeface="Cambria Math" panose="02040503050406030204" pitchFamily="18" charset="0"/>
                  </a:rPr>
                  <a:t>$\dfrac{\pi}{3}$</a:t>
                </a:r>
                <a:r>
                  <a:rPr sz="2400" b="0">
                    <a:solidFill>
                      <a:srgbClr val="111827"/>
                    </a:solidFill>
                    <a:latin typeface="Arial"/>
                  </a:rPr>
                  <a:t>. If the radius of the circumcircle of </a:t>
                </a:r>
                <a:r>
                  <a:rPr lang="en-IN" sz="2400">
                    <a:solidFill>
                      <a:srgbClr val="111827"/>
                    </a:solidFill>
                    <a:latin typeface="Cambria Math" panose="02040503050406030204" pitchFamily="18" charset="0"/>
                  </a:rPr>
                  <a:t>$\triangle ABC$</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 then the height of the pole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$\dfrac{1}{\sqrt3}$</a:t>
                </a:r>
                <a:r>
                  <a:rPr sz="2400" b="0">
                    <a:solidFill>
                      <a:srgbClr val="111827"/>
                    </a:solidFill>
                    <a:latin typeface="Arial"/>
                  </a:rPr>
                  <a:t>   (B) </a:t>
                </a:r>
                <a:r>
                  <a:rPr lang="en-IN" sz="2400">
                    <a:solidFill>
                      <a:srgbClr val="111827"/>
                    </a:solidFill>
                    <a:latin typeface="Cambria Math" panose="02040503050406030204" pitchFamily="18" charset="0"/>
                  </a:rPr>
                  <a:t>$2\sqrt3$</a:t>
                </a:r>
                <a:r>
                  <a:rPr sz="2400" b="0">
                    <a:solidFill>
                      <a:srgbClr val="111827"/>
                    </a:solidFill>
                    <a:latin typeface="Arial"/>
                  </a:rPr>
                  <a:t>   (C) </a:t>
                </a:r>
                <a:r>
                  <a:rPr lang="en-IN" sz="2400">
                    <a:solidFill>
                      <a:srgbClr val="111827"/>
                    </a:solidFill>
                    <a:latin typeface="Cambria Math" panose="02040503050406030204" pitchFamily="18" charset="0"/>
                  </a:rPr>
                  <a:t>$\dfrac{2\sqrt3}{3}$</a:t>
                </a:r>
                <a:r>
                  <a:rPr sz="2400" b="0">
                    <a:solidFill>
                      <a:srgbClr val="111827"/>
                    </a:solidFill>
                    <a:latin typeface="Arial"/>
                  </a:rPr>
                  <a:t>   (D) </a:t>
                </a:r>
                <a:r>
                  <a:rPr lang="en-IN" sz="2400">
                    <a:solidFill>
                      <a:srgbClr val="111827"/>
                    </a:solidFill>
                    <a:latin typeface="Cambria Math" panose="02040503050406030204" pitchFamily="18" charset="0"/>
                  </a:rPr>
                  <a:t>$\sqrt3$</a:t>
                </a:r>
                <a:endParaRPr sz="2400">
                  <a:solidFill>
                    <a:srgbClr val="111827"/>
                  </a:solidFill>
                </a:endParaRPr>
              </a:p>
            </p:txBody>
          </p:sp>
        </mc:Fallback>
      </mc:AlternateContent>
      <p:sp>
        <p:nvSpPr>
          <p:cNvPr id="5" name="Rectangle 4"/>
          <p:cNvSpPr/>
          <p:nvPr/>
        </p:nvSpPr>
        <p:spPr>
          <a:xfrm>
            <a:off x="731520" y="41716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from the corners of a triangle (heights and distances), Circumcentre and circumradius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elevations from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put the foot of the pole at the circumcentre, so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elevations from </a:t>
                </a:r>
                <a:r>
                  <a:rPr lang="en-IN" sz="2400">
                    <a:solidFill>
                      <a:srgbClr val="78350F"/>
                    </a:solidFill>
                    <a:latin typeface="Cambria Math" panose="02040503050406030204" pitchFamily="18" charset="0"/>
                  </a:rPr>
                  <a:t>$A,B,C$</a:t>
                </a:r>
                <a:r>
                  <a:rPr sz="2400" b="0">
                    <a:solidFill>
                      <a:srgbClr val="78350F"/>
                    </a:solidFill>
                    <a:latin typeface="Arial"/>
                  </a:rPr>
                  <a:t> put the foot of the pole at the circumcentre, so </a:t>
                </a:r>
                <a:r>
                  <a:rPr lang="en-IN" sz="2400">
                    <a:solidFill>
                      <a:srgbClr val="78350F"/>
                    </a:solidFill>
                    <a:latin typeface="Cambria Math" panose="02040503050406030204" pitchFamily="18" charset="0"/>
                  </a:rPr>
                  <a:t>$h=R\tan\alpha$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be the top of the pole and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its foot; the elevation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from each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den>
                    </m:f>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circumcentre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t>
                </a:r>
                <a:r>
                  <a:rPr sz="2400" b="0">
                    <a:solidFill>
                      <a:srgbClr val="111827"/>
                    </a:solidFill>
                    <a:latin typeface="Arial"/>
                  </a:rPr>
                  <a:t> be the top of the pole and </a:t>
                </a:r>
                <a:r>
                  <a:rPr lang="en-IN" sz="2400">
                    <a:solidFill>
                      <a:srgbClr val="111827"/>
                    </a:solidFill>
                    <a:latin typeface="Cambria Math" panose="02040503050406030204" pitchFamily="18" charset="0"/>
                  </a:rPr>
                  <a:t>$O$</a:t>
                </a:r>
                <a:r>
                  <a:rPr sz="2400" b="0">
                    <a:solidFill>
                      <a:srgbClr val="111827"/>
                    </a:solidFill>
                    <a:latin typeface="Arial"/>
                  </a:rPr>
                  <a:t> its foot; the elevation of </a:t>
                </a:r>
                <a:r>
                  <a:rPr lang="en-IN" sz="2400">
                    <a:solidFill>
                      <a:srgbClr val="111827"/>
                    </a:solidFill>
                    <a:latin typeface="Cambria Math" panose="02040503050406030204" pitchFamily="18" charset="0"/>
                  </a:rPr>
                  <a:t>$P$</a:t>
                </a:r>
                <a:r>
                  <a:rPr sz="2400" b="0">
                    <a:solidFill>
                      <a:srgbClr val="111827"/>
                    </a:solidFill>
                    <a:latin typeface="Arial"/>
                  </a:rPr>
                  <a:t> from each of </a:t>
                </a:r>
                <a:r>
                  <a:rPr lang="en-IN" sz="2400">
                    <a:solidFill>
                      <a:srgbClr val="111827"/>
                    </a:solidFill>
                    <a:latin typeface="Cambria Math" panose="02040503050406030204" pitchFamily="18" charset="0"/>
                  </a:rPr>
                  <a:t>$A,B,C$</a:t>
                </a:r>
                <a:r>
                  <a:rPr sz="2400" b="0">
                    <a:solidFill>
                      <a:srgbClr val="111827"/>
                    </a:solidFill>
                    <a:latin typeface="Arial"/>
                  </a:rPr>
                  <a:t> is </a:t>
                </a:r>
                <a:r>
                  <a:rPr lang="en-IN" sz="2400">
                    <a:solidFill>
                      <a:srgbClr val="111827"/>
                    </a:solidFill>
                    <a:latin typeface="Cambria Math" panose="02040503050406030204" pitchFamily="18" charset="0"/>
                  </a:rPr>
                  <a:t>$\alpha=\dfrac{\pi}{3}$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$\tan\alpha=\dfrac{h}{OA}=\dfrac{h}{OB}=\dfrac{h}{OC}$</a:t>
                </a:r>
                <a:r>
                  <a:rPr sz="2400" b="0">
                    <a:solidFill>
                      <a:srgbClr val="111827"/>
                    </a:solidFill>
                    <a:latin typeface="Arial"/>
                  </a:rPr>
                  <a:t>, we get </a:t>
                </a:r>
                <a:r>
                  <a:rPr lang="en-IN" sz="2400">
                    <a:solidFill>
                      <a:srgbClr val="111827"/>
                    </a:solidFill>
                    <a:latin typeface="Cambria Math" panose="02040503050406030204" pitchFamily="18" charset="0"/>
                  </a:rPr>
                  <a:t>$OA=OB=OC$</a:t>
                </a:r>
                <a:r>
                  <a:rPr sz="2400" b="0">
                    <a:solidFill>
                      <a:srgbClr val="111827"/>
                    </a:solidFill>
                    <a:latin typeface="Arial"/>
                  </a:rPr>
                  <a:t>, so </a:t>
                </a:r>
                <a:r>
                  <a:rPr lang="en-IN" sz="2400">
                    <a:solidFill>
                      <a:srgbClr val="111827"/>
                    </a:solidFill>
                    <a:latin typeface="Cambria Math" panose="02040503050406030204" pitchFamily="18" charset="0"/>
                  </a:rPr>
                  <a:t>$O$</a:t>
                </a:r>
                <a:r>
                  <a:rPr sz="2400" b="0">
                    <a:solidFill>
                      <a:srgbClr val="111827"/>
                    </a:solidFill>
                    <a:latin typeface="Arial"/>
                  </a:rPr>
                  <a:t> is the circumcentre and </a:t>
                </a:r>
                <a:r>
                  <a:rPr lang="en-IN" sz="2400">
                    <a:solidFill>
                      <a:srgbClr val="111827"/>
                    </a:solidFill>
                    <a:latin typeface="Cambria Math" panose="02040503050406030204" pitchFamily="18" charset="0"/>
                  </a:rPr>
                  <a:t>$OA=OB=OC=R=2$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$POA$</a:t>
                </a:r>
                <a:r>
                  <a:rPr sz="2400" b="0">
                    <a:solidFill>
                      <a:srgbClr val="111827"/>
                    </a:solidFill>
                    <a:latin typeface="Arial"/>
                  </a:rPr>
                  <a:t>: </a:t>
                </a:r>
                <a:r>
                  <a:rPr lang="en-IN" sz="2400">
                    <a:solidFill>
                      <a:srgbClr val="111827"/>
                    </a:solidFill>
                    <a:latin typeface="Cambria Math" panose="02040503050406030204" pitchFamily="18" charset="0"/>
                  </a:rPr>
                  <a:t>$\tan\dfrac{\pi}{3}=\dfrac{h}{R}$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$\sqrt3=\dfrac{h}{2}$</a:t>
                </a:r>
                <a:r>
                  <a:rPr sz="2400" b="0">
                    <a:solidFill>
                      <a:srgbClr val="111827"/>
                    </a:solidFill>
                    <a:latin typeface="Arial"/>
                  </a:rPr>
                  <a:t>, so </a:t>
                </a:r>
                <a:r>
                  <a:rPr lang="en-IN" sz="2400">
                    <a:solidFill>
                      <a:srgbClr val="111827"/>
                    </a:solidFill>
                    <a:latin typeface="Cambria Math" panose="02040503050406030204" pitchFamily="18" charset="0"/>
                  </a:rPr>
                  <a:t>$h=2\sqrt3$</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$2\sqrt3$</a:t>
                </a:r>
                <a:endParaRPr sz="2800">
                  <a:solidFill>
                    <a:srgbClr val="15803D"/>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oMath>
                </a14:m>
                <a:r>
                  <a:rPr sz="2400" b="0">
                    <a:solidFill>
                      <a:srgbClr val="78350F"/>
                    </a:solidFill>
                    <a:latin typeface="Arial"/>
                  </a:rPr>
                  <a:t> is a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14:m>
                  <m:oMath xmlns:m="http://schemas.openxmlformats.org/officeDocument/2006/math">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triangle: the leg opposite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and the leg opposite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r>
                  <a:rPr lang="en-IN" sz="2400">
                    <a:solidFill>
                      <a:srgbClr val="78350F"/>
                    </a:solidFill>
                    <a:latin typeface="Cambria Math" panose="02040503050406030204" pitchFamily="18" charset="0"/>
                  </a:rPr>
                  <a:t>$POA$</a:t>
                </a:r>
                <a:r>
                  <a:rPr sz="2400" b="0">
                    <a:solidFill>
                      <a:srgbClr val="78350F"/>
                    </a:solidFill>
                    <a:latin typeface="Arial"/>
                  </a:rPr>
                  <a:t> is a </a:t>
                </a:r>
                <a:r>
                  <a:rPr lang="en-IN" sz="2400">
                    <a:solidFill>
                      <a:srgbClr val="78350F"/>
                    </a:solidFill>
                    <a:latin typeface="Cambria Math" panose="02040503050406030204" pitchFamily="18" charset="0"/>
                  </a:rPr>
                  <a:t>$30^\circ$</a:t>
                </a:r>
                <a:r>
                  <a:rPr sz="2400" b="0">
                    <a:solidFill>
                      <a:srgbClr val="78350F"/>
                    </a:solidFill>
                    <a:latin typeface="Arial"/>
                  </a:rPr>
                  <a:t>-</a:t>
                </a:r>
                <a:r>
                  <a:rPr lang="en-IN" sz="2400">
                    <a:solidFill>
                      <a:srgbClr val="78350F"/>
                    </a:solidFill>
                    <a:latin typeface="Cambria Math" panose="02040503050406030204" pitchFamily="18" charset="0"/>
                  </a:rPr>
                  <a:t>$60^\circ$</a:t>
                </a:r>
                <a:r>
                  <a:rPr sz="2400" b="0">
                    <a:solidFill>
                      <a:srgbClr val="78350F"/>
                    </a:solidFill>
                    <a:latin typeface="Arial"/>
                  </a:rPr>
                  <a:t>-</a:t>
                </a:r>
                <a:r>
                  <a:rPr lang="en-IN" sz="2400">
                    <a:solidFill>
                      <a:srgbClr val="78350F"/>
                    </a:solidFill>
                    <a:latin typeface="Cambria Math" panose="02040503050406030204" pitchFamily="18" charset="0"/>
                  </a:rPr>
                  <a:t>$90^\circ$</a:t>
                </a:r>
                <a:r>
                  <a:rPr sz="2400" b="0">
                    <a:solidFill>
                      <a:srgbClr val="78350F"/>
                    </a:solidFill>
                    <a:latin typeface="Arial"/>
                  </a:rPr>
                  <a:t> triangle: the leg opposite </a:t>
                </a:r>
                <a:r>
                  <a:rPr lang="en-IN" sz="2400">
                    <a:solidFill>
                      <a:srgbClr val="78350F"/>
                    </a:solidFill>
                    <a:latin typeface="Cambria Math" panose="02040503050406030204" pitchFamily="18" charset="0"/>
                  </a:rPr>
                  <a:t>$30^\circ$</a:t>
                </a:r>
                <a:r>
                  <a:rPr sz="2400" b="0">
                    <a:solidFill>
                      <a:srgbClr val="78350F"/>
                    </a:solidFill>
                    <a:latin typeface="Arial"/>
                  </a:rPr>
                  <a:t> is </a:t>
                </a:r>
                <a:r>
                  <a:rPr lang="en-IN" sz="2400">
                    <a:solidFill>
                      <a:srgbClr val="78350F"/>
                    </a:solidFill>
                    <a:latin typeface="Cambria Math" panose="02040503050406030204" pitchFamily="18" charset="0"/>
                  </a:rPr>
                  <a:t>$R$</a:t>
                </a:r>
                <a:r>
                  <a:rPr sz="2400" b="0">
                    <a:solidFill>
                      <a:srgbClr val="78350F"/>
                    </a:solidFill>
                    <a:latin typeface="Arial"/>
                  </a:rPr>
                  <a:t> and the leg opposite </a:t>
                </a:r>
                <a:r>
                  <a:rPr lang="en-IN" sz="2400">
                    <a:solidFill>
                      <a:srgbClr val="78350F"/>
                    </a:solidFill>
                    <a:latin typeface="Cambria Math" panose="02040503050406030204" pitchFamily="18" charset="0"/>
                  </a:rPr>
                  <a:t>$60^\circ$</a:t>
                </a:r>
                <a:r>
                  <a:rPr sz="2400" b="0">
                    <a:solidFill>
                      <a:srgbClr val="78350F"/>
                    </a:solidFill>
                    <a:latin typeface="Arial"/>
                  </a:rPr>
                  <a:t> is </a:t>
                </a:r>
                <a:r>
                  <a:rPr lang="en-IN" sz="2400">
                    <a:solidFill>
                      <a:srgbClr val="78350F"/>
                    </a:solidFill>
                    <a:latin typeface="Cambria Math" panose="02040503050406030204" pitchFamily="18" charset="0"/>
                  </a:rPr>
                  <a:t>$h$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circumcentre,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triangle the sides are in the ratio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(opposite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shortest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slant edge: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$O$</a:t>
                </a:r>
                <a:r>
                  <a:rPr sz="2400" b="0">
                    <a:solidFill>
                      <a:srgbClr val="111827"/>
                    </a:solidFill>
                    <a:latin typeface="Arial"/>
                  </a:rPr>
                  <a:t> is the circumcentre, so </a:t>
                </a:r>
                <a:r>
                  <a:rPr lang="en-IN" sz="2400">
                    <a:solidFill>
                      <a:srgbClr val="111827"/>
                    </a:solidFill>
                    <a:latin typeface="Cambria Math" panose="02040503050406030204" pitchFamily="18" charset="0"/>
                  </a:rPr>
                  <a:t>$OA=R=2$</a:t>
                </a:r>
                <a:r>
                  <a:rPr sz="2400" b="0">
                    <a:solidFill>
                      <a:srgbClr val="111827"/>
                    </a:solidFill>
                    <a:latin typeface="Arial"/>
                  </a:rPr>
                  <a:t> and </a:t>
                </a:r>
                <a:r>
                  <a:rPr lang="en-IN" sz="2400">
                    <a:solidFill>
                      <a:srgbClr val="111827"/>
                    </a:solidFill>
                    <a:latin typeface="Cambria Math" panose="02040503050406030204" pitchFamily="18" charset="0"/>
                  </a:rPr>
                  <a:t>$\angle POA=90^\circ$</a:t>
                </a:r>
                <a:r>
                  <a:rPr sz="2400" b="0">
                    <a:solidFill>
                      <a:srgbClr val="111827"/>
                    </a:solidFill>
                    <a:latin typeface="Arial"/>
                  </a:rPr>
                  <a:t>, </a:t>
                </a:r>
                <a:r>
                  <a:rPr lang="en-IN" sz="2400">
                    <a:solidFill>
                      <a:srgbClr val="111827"/>
                    </a:solidFill>
                    <a:latin typeface="Cambria Math" panose="02040503050406030204" pitchFamily="18" charset="0"/>
                  </a:rPr>
                  <a:t>$\angle PAO=60^\circ$</a:t>
                </a:r>
                <a:r>
                  <a:rPr sz="2400" b="0">
                    <a:solidFill>
                      <a:srgbClr val="111827"/>
                    </a:solidFill>
                    <a:latin typeface="Arial"/>
                  </a:rPr>
                  <a:t>, hence </a:t>
                </a:r>
                <a:r>
                  <a:rPr lang="en-IN" sz="2400">
                    <a:solidFill>
                      <a:srgbClr val="111827"/>
                    </a:solidFill>
                    <a:latin typeface="Cambria Math" panose="02040503050406030204" pitchFamily="18" charset="0"/>
                  </a:rPr>
                  <a:t>$\angle APO=30^\circ$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a:t>
                </a:r>
                <a:r>
                  <a:rPr lang="en-IN" sz="2400">
                    <a:solidFill>
                      <a:srgbClr val="111827"/>
                    </a:solidFill>
                    <a:latin typeface="Cambria Math" panose="02040503050406030204" pitchFamily="18" charset="0"/>
                  </a:rPr>
                  <a:t>$30^\circ$</a:t>
                </a:r>
                <a:r>
                  <a:rPr sz="2400" b="0">
                    <a:solidFill>
                      <a:srgbClr val="111827"/>
                    </a:solidFill>
                    <a:latin typeface="Arial"/>
                  </a:rPr>
                  <a:t>-</a:t>
                </a:r>
                <a:r>
                  <a:rPr lang="en-IN" sz="2400">
                    <a:solidFill>
                      <a:srgbClr val="111827"/>
                    </a:solidFill>
                    <a:latin typeface="Cambria Math" panose="02040503050406030204" pitchFamily="18" charset="0"/>
                  </a:rPr>
                  <a:t>$60^\circ$</a:t>
                </a:r>
                <a:r>
                  <a:rPr sz="2400" b="0">
                    <a:solidFill>
                      <a:srgbClr val="111827"/>
                    </a:solidFill>
                    <a:latin typeface="Arial"/>
                  </a:rPr>
                  <a:t>-</a:t>
                </a:r>
                <a:r>
                  <a:rPr lang="en-IN" sz="2400">
                    <a:solidFill>
                      <a:srgbClr val="111827"/>
                    </a:solidFill>
                    <a:latin typeface="Cambria Math" panose="02040503050406030204" pitchFamily="18" charset="0"/>
                  </a:rPr>
                  <a:t>$90^\circ$</a:t>
                </a:r>
                <a:r>
                  <a:rPr sz="2400" b="0">
                    <a:solidFill>
                      <a:srgbClr val="111827"/>
                    </a:solidFill>
                    <a:latin typeface="Arial"/>
                  </a:rPr>
                  <a:t> triangle the sides are in the ratio </a:t>
                </a:r>
                <a:r>
                  <a:rPr lang="en-IN" sz="2400">
                    <a:solidFill>
                      <a:srgbClr val="111827"/>
                    </a:solidFill>
                    <a:latin typeface="Cambria Math" panose="02040503050406030204" pitchFamily="18" charset="0"/>
                  </a:rPr>
                  <a:t>$1:\sqrt3:2$</a:t>
                </a:r>
                <a:r>
                  <a:rPr sz="2400" b="0">
                    <a:solidFill>
                      <a:srgbClr val="111827"/>
                    </a:solidFill>
                    <a:latin typeface="Arial"/>
                  </a:rPr>
                  <a:t>, with </a:t>
                </a:r>
                <a:r>
                  <a:rPr lang="en-IN" sz="2400">
                    <a:solidFill>
                      <a:srgbClr val="111827"/>
                    </a:solidFill>
                    <a:latin typeface="Cambria Math" panose="02040503050406030204" pitchFamily="18" charset="0"/>
                  </a:rPr>
                  <a:t>$OA$</a:t>
                </a:r>
                <a:r>
                  <a:rPr sz="2400" b="0">
                    <a:solidFill>
                      <a:srgbClr val="111827"/>
                    </a:solidFill>
                    <a:latin typeface="Arial"/>
                  </a:rPr>
                  <a:t> (opposite </a:t>
                </a:r>
                <a:r>
                  <a:rPr lang="en-IN" sz="2400">
                    <a:solidFill>
                      <a:srgbClr val="111827"/>
                    </a:solidFill>
                    <a:latin typeface="Cambria Math" panose="02040503050406030204" pitchFamily="18" charset="0"/>
                  </a:rPr>
                  <a:t>$30^\circ$</a:t>
                </a:r>
                <a:r>
                  <a:rPr sz="2400" b="0">
                    <a:solidFill>
                      <a:srgbClr val="111827"/>
                    </a:solidFill>
                    <a:latin typeface="Arial"/>
                  </a:rPr>
                  <a:t>) the shortest side.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$OA:PO=1:\sqrt3$</a:t>
                </a:r>
                <a:r>
                  <a:rPr sz="2400" b="0">
                    <a:solidFill>
                      <a:srgbClr val="111827"/>
                    </a:solidFill>
                    <a:latin typeface="Arial"/>
                  </a:rPr>
                  <a:t>, giving </a:t>
                </a:r>
                <a:r>
                  <a:rPr lang="en-IN" sz="2400">
                    <a:solidFill>
                      <a:srgbClr val="111827"/>
                    </a:solidFill>
                    <a:latin typeface="Cambria Math" panose="02040503050406030204" pitchFamily="18" charset="0"/>
                  </a:rPr>
                  <a:t>$h=PO=OA\sqrt3=2\sqrt3$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the slant edge: </a:t>
                </a:r>
                <a:r>
                  <a:rPr lang="en-IN" sz="2400">
                    <a:solidFill>
                      <a:srgbClr val="111827"/>
                    </a:solidFill>
                    <a:latin typeface="Cambria Math" panose="02040503050406030204" pitchFamily="18" charset="0"/>
                  </a:rPr>
                  <a:t>$PA=2\,OA=4$</a:t>
                </a:r>
                <a:r>
                  <a:rPr sz="2400" b="0">
                    <a:solidFill>
                      <a:srgbClr val="111827"/>
                    </a:solidFill>
                    <a:latin typeface="Arial"/>
                  </a:rPr>
                  <a:t>, and </a:t>
                </a:r>
                <a:r>
                  <a:rPr lang="en-IN" sz="2400">
                    <a:solidFill>
                      <a:srgbClr val="111827"/>
                    </a:solidFill>
                    <a:latin typeface="Cambria Math" panose="02040503050406030204" pitchFamily="18" charset="0"/>
                  </a:rPr>
                  <a:t>$h=\sqrt{PA^2-OA^2}=\sqrt{16-4}=2\sqrt3$</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$2\sqrt3$</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 angles of elevation from all vertices of a polygon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foot of the pole is equidistant from them, i.e. the circumcentre; then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angles of elevation from all the sides (perpendicular distances to the sides)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foot is the incentre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 circumradius can be found from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oMath>
                </a14:m>
                <a:r>
                  <a:rPr sz="2400" b="0">
                    <a:solidFill>
                      <a:srgbClr val="111827"/>
                    </a:solidFill>
                    <a:latin typeface="Arial"/>
                  </a:rPr>
                  <a:t> when the triangle is given.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 angles of elevation from all vertices of a polygon </a:t>
                </a:r>
                <a:r>
                  <a:rPr lang="en-IN" sz="2400">
                    <a:solidFill>
                      <a:srgbClr val="111827"/>
                    </a:solidFill>
                    <a:latin typeface="Cambria Math" panose="02040503050406030204" pitchFamily="18" charset="0"/>
                  </a:rPr>
                  <a:t>$\Rightarrow$</a:t>
                </a:r>
                <a:r>
                  <a:rPr sz="2400" b="0">
                    <a:solidFill>
                      <a:srgbClr val="111827"/>
                    </a:solidFill>
                    <a:latin typeface="Arial"/>
                  </a:rPr>
                  <a:t> the foot of the pole is equidistant from them, i.e. the circumcentre; then </a:t>
                </a:r>
                <a:r>
                  <a:rPr lang="en-IN" sz="2400">
                    <a:solidFill>
                      <a:srgbClr val="111827"/>
                    </a:solidFill>
                    <a:latin typeface="Cambria Math" panose="02040503050406030204" pitchFamily="18" charset="0"/>
                  </a:rPr>
                  <a:t>$h=R\tan\alpha$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angles of elevation from all the sides (perpendicular distances to the sides) </a:t>
                </a:r>
                <a:r>
                  <a:rPr lang="en-IN" sz="2400">
                    <a:solidFill>
                      <a:srgbClr val="111827"/>
                    </a:solidFill>
                    <a:latin typeface="Cambria Math" panose="02040503050406030204" pitchFamily="18" charset="0"/>
                  </a:rPr>
                  <a:t>$\Rightarrow$</a:t>
                </a:r>
                <a:r>
                  <a:rPr sz="2400" b="0">
                    <a:solidFill>
                      <a:srgbClr val="111827"/>
                    </a:solidFill>
                    <a:latin typeface="Arial"/>
                  </a:rPr>
                  <a:t> the foot is the incentre and </a:t>
                </a:r>
                <a:r>
                  <a:rPr lang="en-IN" sz="2400">
                    <a:solidFill>
                      <a:srgbClr val="111827"/>
                    </a:solidFill>
                    <a:latin typeface="Cambria Math" panose="02040503050406030204" pitchFamily="18" charset="0"/>
                  </a:rPr>
                  <a:t>$h=r\tan\alpha$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$h=2\tan60^\circ=2\sqrt3$</a:t>
                </a:r>
                <a:r>
                  <a:rPr sz="2400" b="0">
                    <a:solidFill>
                      <a:srgbClr val="111827"/>
                    </a:solidFill>
                    <a:latin typeface="Arial"/>
                  </a:rPr>
                  <a:t>; the circumradius can be found from </a:t>
                </a:r>
                <a:r>
                  <a:rPr lang="en-IN" sz="2400">
                    <a:solidFill>
                      <a:srgbClr val="111827"/>
                    </a:solidFill>
                    <a:latin typeface="Cambria Math" panose="02040503050406030204" pitchFamily="18" charset="0"/>
                  </a:rPr>
                  <a:t>$R=\dfrac{a}{2\sin A}$</a:t>
                </a:r>
                <a:r>
                  <a:rPr sz="2400" b="0">
                    <a:solidFill>
                      <a:srgbClr val="111827"/>
                    </a:solidFill>
                    <a:latin typeface="Arial"/>
                  </a:rPr>
                  <a:t> when the triangle is given.</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spherical gas balloon of radius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meter subtends an angle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the eye of the observer A while the angle of elevation of its center from the eye of A is </a:t>
                </a:r>
                <a14:m>
                  <m:oMath xmlns:m="http://schemas.openxmlformats.org/officeDocument/2006/math">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Then the height (in meter) of the top most point of the balloon from the level of the observer's eye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spherical gas balloon of radius </a:t>
                </a:r>
                <a:r>
                  <a:rPr lang="en-IN" sz="2400">
                    <a:solidFill>
                      <a:srgbClr val="111827"/>
                    </a:solidFill>
                    <a:latin typeface="Cambria Math" panose="02040503050406030204" pitchFamily="18" charset="0"/>
                  </a:rPr>
                  <a:t>$16$</a:t>
                </a:r>
                <a:r>
                  <a:rPr sz="2400" b="0">
                    <a:solidFill>
                      <a:srgbClr val="111827"/>
                    </a:solidFill>
                    <a:latin typeface="Arial"/>
                  </a:rPr>
                  <a:t> meter subtends an angle </a:t>
                </a:r>
                <a:r>
                  <a:rPr lang="en-IN" sz="2400">
                    <a:solidFill>
                      <a:srgbClr val="111827"/>
                    </a:solidFill>
                    <a:latin typeface="Cambria Math" panose="02040503050406030204" pitchFamily="18" charset="0"/>
                  </a:rPr>
                  <a:t>$60^\circ$</a:t>
                </a:r>
                <a:r>
                  <a:rPr sz="2400" b="0">
                    <a:solidFill>
                      <a:srgbClr val="111827"/>
                    </a:solidFill>
                    <a:latin typeface="Arial"/>
                  </a:rPr>
                  <a:t> at the eye of the observer A while the angle of elevation of its center from the eye of A is </a:t>
                </a:r>
                <a:r>
                  <a:rPr lang="en-IN" sz="2400">
                    <a:solidFill>
                      <a:srgbClr val="111827"/>
                    </a:solidFill>
                    <a:latin typeface="Cambria Math" panose="02040503050406030204" pitchFamily="18" charset="0"/>
                  </a:rPr>
                  <a:t>$75^\circ$</a:t>
                </a:r>
                <a:r>
                  <a:rPr sz="2400" b="0">
                    <a:solidFill>
                      <a:srgbClr val="111827"/>
                    </a:solidFill>
                    <a:latin typeface="Arial"/>
                  </a:rPr>
                  <a:t>. Then the height (in meter) of the top most point of the balloon from the level of the observer's eye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$8(2+2\sqrt3+\sqrt2)$</a:t>
                </a:r>
                <a:r>
                  <a:rPr sz="2400" b="0">
                    <a:solidFill>
                      <a:srgbClr val="111827"/>
                    </a:solidFill>
                    <a:latin typeface="Arial"/>
                  </a:rPr>
                  <a:t>   (B) </a:t>
                </a:r>
                <a:r>
                  <a:rPr lang="en-IN" sz="2400">
                    <a:solidFill>
                      <a:srgbClr val="111827"/>
                    </a:solidFill>
                    <a:latin typeface="Cambria Math" panose="02040503050406030204" pitchFamily="18" charset="0"/>
                  </a:rPr>
                  <a:t>$8(\sqrt6-\sqrt2+2)$</a:t>
                </a:r>
                <a:r>
                  <a:rPr sz="2400" b="0">
                    <a:solidFill>
                      <a:srgbClr val="111827"/>
                    </a:solidFill>
                    <a:latin typeface="Arial"/>
                  </a:rPr>
                  <a:t>   (C) </a:t>
                </a:r>
                <a:r>
                  <a:rPr lang="en-IN" sz="2400">
                    <a:solidFill>
                      <a:srgbClr val="111827"/>
                    </a:solidFill>
                    <a:latin typeface="Cambria Math" panose="02040503050406030204" pitchFamily="18" charset="0"/>
                  </a:rPr>
                  <a:t>$8(\sqrt6+\sqrt2+2)$</a:t>
                </a:r>
                <a:r>
                  <a:rPr sz="2400" b="0">
                    <a:solidFill>
                      <a:srgbClr val="111827"/>
                    </a:solidFill>
                    <a:latin typeface="Arial"/>
                  </a:rPr>
                  <a:t>   (D) </a:t>
                </a:r>
                <a:r>
                  <a:rPr lang="en-IN" sz="2400">
                    <a:solidFill>
                      <a:srgbClr val="111827"/>
                    </a:solidFill>
                    <a:latin typeface="Cambria Math" panose="02040503050406030204" pitchFamily="18" charset="0"/>
                  </a:rPr>
                  <a:t>$8(\sqrt2+2+\sqrt3)$</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by a sphere and angle of elevation (heights and distances), Trigonometric values of </a:t>
                </a:r>
                <a14:m>
                  <m:oMath xmlns:m="http://schemas.openxmlformats.org/officeDocument/2006/math">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(compound 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by a sphere and angle of elevation (heights and distances), Trigonometric values of </a:t>
                </a:r>
                <a:r>
                  <a:rPr lang="en-IN" sz="2400">
                    <a:solidFill>
                      <a:srgbClr val="111827"/>
                    </a:solidFill>
                    <a:latin typeface="Cambria Math" panose="02040503050406030204" pitchFamily="18" charset="0"/>
                  </a:rPr>
                  <a:t>$75^\circ$</a:t>
                </a:r>
                <a:r>
                  <a:rPr sz="2400" b="0">
                    <a:solidFill>
                      <a:srgbClr val="111827"/>
                    </a:solidFill>
                    <a:latin typeface="Arial"/>
                  </a:rPr>
                  <a:t> (compound 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lines make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𝑂</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𝑂</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m:rPr>
                            <m:sty m:val="p"/>
                          </m:rPr>
                          <a:rPr lang="en-IN" sz="2400">
                            <a:solidFill>
                              <a:srgbClr val="78350F"/>
                            </a:solidFill>
                            <a:latin typeface="Cambria Math" panose="02040503050406030204" pitchFamily="18" charset="0"/>
                          </a:rPr>
                          <m:t>sin</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den>
                    </m:f>
                  </m:oMath>
                </a14:m>
                <a:r>
                  <a:rPr sz="2400" b="0">
                    <a:solidFill>
                      <a:srgbClr val="78350F"/>
                    </a:solidFill>
                    <a:latin typeface="Arial"/>
                  </a:rPr>
                  <a:t>; then add the radius to the centre's height.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lines make </a:t>
                </a:r>
                <a:r>
                  <a:rPr lang="en-IN" sz="2400">
                    <a:solidFill>
                      <a:srgbClr val="78350F"/>
                    </a:solidFill>
                    <a:latin typeface="Cambria Math" panose="02040503050406030204" pitchFamily="18" charset="0"/>
                  </a:rPr>
                  <a:t>$30^\circ$</a:t>
                </a:r>
                <a:r>
                  <a:rPr sz="2400" b="0">
                    <a:solidFill>
                      <a:srgbClr val="78350F"/>
                    </a:solidFill>
                    <a:latin typeface="Arial"/>
                  </a:rPr>
                  <a:t> with </a:t>
                </a:r>
                <a:r>
                  <a:rPr lang="en-IN" sz="2400">
                    <a:solidFill>
                      <a:srgbClr val="78350F"/>
                    </a:solidFill>
                    <a:latin typeface="Cambria Math" panose="02040503050406030204" pitchFamily="18" charset="0"/>
                  </a:rPr>
                  <a:t>$AO$</a:t>
                </a:r>
                <a:r>
                  <a:rPr sz="2400" b="0">
                    <a:solidFill>
                      <a:srgbClr val="78350F"/>
                    </a:solidFill>
                    <a:latin typeface="Arial"/>
                  </a:rPr>
                  <a:t>, so </a:t>
                </a:r>
                <a:r>
                  <a:rPr lang="en-IN" sz="2400">
                    <a:solidFill>
                      <a:srgbClr val="78350F"/>
                    </a:solidFill>
                    <a:latin typeface="Cambria Math" panose="02040503050406030204" pitchFamily="18" charset="0"/>
                  </a:rPr>
                  <a:t>$AO=\dfrac{r}{\sin30^\circ}$</a:t>
                </a:r>
                <a:r>
                  <a:rPr sz="2400" b="0">
                    <a:solidFill>
                      <a:srgbClr val="78350F"/>
                    </a:solidFill>
                    <a:latin typeface="Arial"/>
                  </a:rPr>
                  <a:t>; then add the radius to the centre's height.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be the centre of the balloon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 tangent from the eye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touching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a:t>
                </a:r>
                <a:r>
                  <a:rPr sz="2400" b="0">
                    <a:solidFill>
                      <a:srgbClr val="111827"/>
                    </a:solidFill>
                    <a:latin typeface="Arial"/>
                  </a:rPr>
                  <a:t> be the centre of the balloon and </a:t>
                </a:r>
                <a:r>
                  <a:rPr lang="en-IN" sz="2400">
                    <a:solidFill>
                      <a:srgbClr val="111827"/>
                    </a:solidFill>
                    <a:latin typeface="Cambria Math" panose="02040503050406030204" pitchFamily="18" charset="0"/>
                  </a:rPr>
                  <a:t>$AD$</a:t>
                </a:r>
                <a:r>
                  <a:rPr sz="2400" b="0">
                    <a:solidFill>
                      <a:srgbClr val="111827"/>
                    </a:solidFill>
                    <a:latin typeface="Arial"/>
                  </a:rPr>
                  <a:t> a tangent from the eye </a:t>
                </a:r>
                <a:r>
                  <a:rPr lang="en-IN" sz="2400">
                    <a:solidFill>
                      <a:srgbClr val="111827"/>
                    </a:solidFill>
                    <a:latin typeface="Cambria Math" panose="02040503050406030204" pitchFamily="18" charset="0"/>
                  </a:rPr>
                  <a:t>$A$</a:t>
                </a:r>
                <a:r>
                  <a:rPr sz="2400" b="0">
                    <a:solidFill>
                      <a:srgbClr val="111827"/>
                    </a:solidFill>
                    <a:latin typeface="Arial"/>
                  </a:rPr>
                  <a:t> touching at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$OD=16$</a:t>
                </a:r>
                <a:r>
                  <a:rPr sz="2400" b="0">
                    <a:solidFill>
                      <a:srgbClr val="111827"/>
                    </a:solidFill>
                    <a:latin typeface="Arial"/>
                  </a:rPr>
                  <a:t> and </a:t>
                </a:r>
                <a:r>
                  <a:rPr lang="en-IN" sz="2400">
                    <a:solidFill>
                      <a:srgbClr val="111827"/>
                    </a:solidFill>
                    <a:latin typeface="Cambria Math" panose="02040503050406030204" pitchFamily="18" charset="0"/>
                  </a:rPr>
                  <a:t>$OD\perp AD$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balloon subtends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the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oMath>
                </a14:m>
                <a:r>
                  <a:rPr sz="2400" b="0">
                    <a:solidFill>
                      <a:srgbClr val="111827"/>
                    </a:solidFill>
                    <a:latin typeface="Arial"/>
                  </a:rPr>
                  <a:t> bisects 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the foot of the perpendicular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to the horizontal line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balloon subtends </a:t>
                </a:r>
                <a:r>
                  <a:rPr lang="en-IN" sz="2400">
                    <a:solidFill>
                      <a:srgbClr val="111827"/>
                    </a:solidFill>
                    <a:latin typeface="Cambria Math" panose="02040503050406030204" pitchFamily="18" charset="0"/>
                  </a:rPr>
                  <a:t>$60^\circ$</a:t>
                </a:r>
                <a:r>
                  <a:rPr sz="2400" b="0">
                    <a:solidFill>
                      <a:srgbClr val="111827"/>
                    </a:solidFill>
                    <a:latin typeface="Arial"/>
                  </a:rPr>
                  <a:t> at </a:t>
                </a:r>
                <a:r>
                  <a:rPr lang="en-IN" sz="2400">
                    <a:solidFill>
                      <a:srgbClr val="111827"/>
                    </a:solidFill>
                    <a:latin typeface="Cambria Math" panose="02040503050406030204" pitchFamily="18" charset="0"/>
                  </a:rPr>
                  <a:t>$A$</a:t>
                </a:r>
                <a:r>
                  <a:rPr sz="2400" b="0">
                    <a:solidFill>
                      <a:srgbClr val="111827"/>
                    </a:solidFill>
                    <a:latin typeface="Arial"/>
                  </a:rPr>
                  <a:t>, so the line </a:t>
                </a:r>
                <a:r>
                  <a:rPr lang="en-IN" sz="2400">
                    <a:solidFill>
                      <a:srgbClr val="111827"/>
                    </a:solidFill>
                    <a:latin typeface="Cambria Math" panose="02040503050406030204" pitchFamily="18" charset="0"/>
                  </a:rPr>
                  <a:t>$AO$</a:t>
                </a:r>
                <a:r>
                  <a:rPr sz="2400" b="0">
                    <a:solidFill>
                      <a:srgbClr val="111827"/>
                    </a:solidFill>
                    <a:latin typeface="Arial"/>
                  </a:rPr>
                  <a:t> bisects it: </a:t>
                </a:r>
                <a:r>
                  <a:rPr lang="en-IN" sz="2400">
                    <a:solidFill>
                      <a:srgbClr val="111827"/>
                    </a:solidFill>
                    <a:latin typeface="Cambria Math" panose="02040503050406030204" pitchFamily="18" charset="0"/>
                  </a:rPr>
                  <a:t>$\angle OAD=30^\circ$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OAD$</a:t>
                </a:r>
                <a:r>
                  <a:rPr sz="2400" b="0">
                    <a:solidFill>
                      <a:srgbClr val="111827"/>
                    </a:solidFill>
                    <a:latin typeface="Arial"/>
                  </a:rPr>
                  <a:t>: </a:t>
                </a:r>
                <a:r>
                  <a:rPr lang="en-IN" sz="2400">
                    <a:solidFill>
                      <a:srgbClr val="111827"/>
                    </a:solidFill>
                    <a:latin typeface="Cambria Math" panose="02040503050406030204" pitchFamily="18" charset="0"/>
                  </a:rPr>
                  <a:t>$\sin30^\circ=\dfrac{OD}{AO}=\dfrac{16}{AO}$</a:t>
                </a:r>
                <a:r>
                  <a:rPr sz="2400" b="0">
                    <a:solidFill>
                      <a:srgbClr val="111827"/>
                    </a:solidFill>
                    <a:latin typeface="Arial"/>
                  </a:rPr>
                  <a:t>, so </a:t>
                </a:r>
                <a:r>
                  <a:rPr lang="en-IN" sz="2400">
                    <a:solidFill>
                      <a:srgbClr val="111827"/>
                    </a:solidFill>
                    <a:latin typeface="Cambria Math" panose="02040503050406030204" pitchFamily="18" charset="0"/>
                  </a:rPr>
                  <a:t>$AO=32$</a:t>
                </a:r>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t>
                </a:r>
                <a:r>
                  <a:rPr sz="2400" b="0">
                    <a:solidFill>
                      <a:srgbClr val="111827"/>
                    </a:solidFill>
                    <a:latin typeface="Arial"/>
                  </a:rPr>
                  <a:t> be the foot of the perpendicular from </a:t>
                </a:r>
                <a:r>
                  <a:rPr lang="en-IN" sz="2400">
                    <a:solidFill>
                      <a:srgbClr val="111827"/>
                    </a:solidFill>
                    <a:latin typeface="Cambria Math" panose="02040503050406030204" pitchFamily="18" charset="0"/>
                  </a:rPr>
                  <a:t>$O$</a:t>
                </a:r>
                <a:r>
                  <a:rPr sz="2400" b="0">
                    <a:solidFill>
                      <a:srgbClr val="111827"/>
                    </a:solidFill>
                    <a:latin typeface="Arial"/>
                  </a:rPr>
                  <a:t> to the horizontal line through </a:t>
                </a:r>
                <a:r>
                  <a:rPr lang="en-IN" sz="2400">
                    <a:solidFill>
                      <a:srgbClr val="111827"/>
                    </a:solidFill>
                    <a:latin typeface="Cambria Math" panose="02040503050406030204" pitchFamily="18" charset="0"/>
                  </a:rPr>
                  <a:t>$A$</a:t>
                </a:r>
                <a:r>
                  <a:rPr sz="2400" b="0">
                    <a:solidFill>
                      <a:srgbClr val="111827"/>
                    </a:solidFill>
                    <a:latin typeface="Arial"/>
                  </a:rPr>
                  <a:t>. In </a:t>
                </a:r>
                <a:r>
                  <a:rPr lang="en-IN" sz="2400">
                    <a:solidFill>
                      <a:srgbClr val="111827"/>
                    </a:solidFill>
                    <a:latin typeface="Cambria Math" panose="02040503050406030204" pitchFamily="18" charset="0"/>
                  </a:rPr>
                  <a:t>$\triangle OAB$</a:t>
                </a:r>
                <a:r>
                  <a:rPr sz="2400" b="0">
                    <a:solidFill>
                      <a:srgbClr val="111827"/>
                    </a:solidFill>
                    <a:latin typeface="Arial"/>
                  </a:rPr>
                  <a:t>: </a:t>
                </a:r>
                <a:r>
                  <a:rPr lang="en-IN" sz="2400">
                    <a:solidFill>
                      <a:srgbClr val="111827"/>
                    </a:solidFill>
                    <a:latin typeface="Cambria Math" panose="02040503050406030204" pitchFamily="18" charset="0"/>
                  </a:rPr>
                  <a:t>$\sin75^\circ=\dfrac{OB}{AO}$</a:t>
                </a:r>
                <a:r>
                  <a:rPr sz="2400" b="0">
                    <a:solidFill>
                      <a:srgbClr val="111827"/>
                    </a:solidFill>
                    <a:latin typeface="Arial"/>
                  </a:rPr>
                  <a:t>, so </a:t>
                </a:r>
                <a:r>
                  <a:rPr lang="en-IN" sz="2400">
                    <a:solidFill>
                      <a:srgbClr val="111827"/>
                    </a:solidFill>
                    <a:latin typeface="Cambria Math" panose="02040503050406030204" pitchFamily="18" charset="0"/>
                  </a:rPr>
                  <a:t>$OB=32\sin75^\circ$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topmost point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the radius above the centre: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$\sin75^\circ=\dfrac{\sqrt6+\sqrt2}{4}$</a:t>
                </a:r>
                <a:r>
                  <a:rPr sz="2400" b="0">
                    <a:solidFill>
                      <a:srgbClr val="111827"/>
                    </a:solidFill>
                    <a:latin typeface="Arial"/>
                  </a:rPr>
                  <a:t>, so </a:t>
                </a:r>
                <a:r>
                  <a:rPr lang="en-IN" sz="2400">
                    <a:solidFill>
                      <a:srgbClr val="111827"/>
                    </a:solidFill>
                    <a:latin typeface="Cambria Math" panose="02040503050406030204" pitchFamily="18" charset="0"/>
                  </a:rPr>
                  <a:t>$OB=8(\sqrt6+\sqrt2)=8\sqrt2(\sqrt3+1)$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topmost point </a:t>
                </a:r>
                <a:r>
                  <a:rPr lang="en-IN" sz="2400">
                    <a:solidFill>
                      <a:srgbClr val="111827"/>
                    </a:solidFill>
                    <a:latin typeface="Cambria Math" panose="02040503050406030204" pitchFamily="18" charset="0"/>
                  </a:rPr>
                  <a:t>$E$</a:t>
                </a:r>
                <a:r>
                  <a:rPr sz="2400" b="0">
                    <a:solidFill>
                      <a:srgbClr val="111827"/>
                    </a:solidFill>
                    <a:latin typeface="Arial"/>
                  </a:rPr>
                  <a:t> is the radius above the centre: </a:t>
                </a:r>
                <a:r>
                  <a:rPr lang="en-IN" sz="2400">
                    <a:solidFill>
                      <a:srgbClr val="111827"/>
                    </a:solidFill>
                    <a:latin typeface="Cambria Math" panose="02040503050406030204" pitchFamily="18" charset="0"/>
                  </a:rPr>
                  <a:t>$BE=BO+OE=8\sqrt2(\sqrt3+1)+16$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$BE=8(\sqrt6+\sqrt2+2)$</a:t>
                </a:r>
                <a:r>
                  <a:rPr sz="2400" b="0">
                    <a:solidFill>
                      <a:srgbClr val="111827"/>
                    </a:solidFill>
                    <a:latin typeface="Arial"/>
                  </a:rPr>
                  <a:t> m,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8</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6</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$8(\sqrt6+\sqrt2+2)$</a:t>
                </a:r>
                <a:endParaRPr sz="2800">
                  <a:solidFill>
                    <a:srgbClr val="15803D"/>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Locate the centre by coordinates: tangent point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on the lower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line, then move one radius perpendicular to it.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Locate the centre by coordinates: tangent point </a:t>
                </a:r>
                <a:r>
                  <a:rPr lang="en-IN" sz="2400">
                    <a:solidFill>
                      <a:srgbClr val="78350F"/>
                    </a:solidFill>
                    <a:latin typeface="Cambria Math" panose="02040503050406030204" pitchFamily="18" charset="0"/>
                  </a:rPr>
                  <a:t>$D$</a:t>
                </a:r>
                <a:r>
                  <a:rPr sz="2400" b="0">
                    <a:solidFill>
                      <a:srgbClr val="78350F"/>
                    </a:solidFill>
                    <a:latin typeface="Arial"/>
                  </a:rPr>
                  <a:t> on the lower </a:t>
                </a:r>
                <a:r>
                  <a:rPr lang="en-IN" sz="2400">
                    <a:solidFill>
                      <a:srgbClr val="78350F"/>
                    </a:solidFill>
                    <a:latin typeface="Cambria Math" panose="02040503050406030204" pitchFamily="18" charset="0"/>
                  </a:rPr>
                  <a:t>$45^\circ$</a:t>
                </a:r>
                <a:r>
                  <a:rPr sz="2400" b="0">
                    <a:solidFill>
                      <a:srgbClr val="78350F"/>
                    </a:solidFill>
                    <a:latin typeface="Arial"/>
                  </a:rPr>
                  <a:t> line, then move one radius perpendicular to 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eye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as origin. The lower tangent makes </a:t>
                </a:r>
                <a14:m>
                  <m:oMath xmlns:m="http://schemas.openxmlformats.org/officeDocument/2006/math">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horizontal and touches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32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16</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(using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the centre is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eye </a:t>
                </a:r>
                <a:r>
                  <a:rPr lang="en-IN" sz="2400">
                    <a:solidFill>
                      <a:srgbClr val="111827"/>
                    </a:solidFill>
                    <a:latin typeface="Cambria Math" panose="02040503050406030204" pitchFamily="18" charset="0"/>
                  </a:rPr>
                  <a:t>$A$</a:t>
                </a:r>
                <a:r>
                  <a:rPr sz="2400" b="0">
                    <a:solidFill>
                      <a:srgbClr val="111827"/>
                    </a:solidFill>
                    <a:latin typeface="Arial"/>
                  </a:rPr>
                  <a:t> as origin. The lower tangent makes </a:t>
                </a:r>
                <a:r>
                  <a:rPr lang="en-IN" sz="2400">
                    <a:solidFill>
                      <a:srgbClr val="111827"/>
                    </a:solidFill>
                    <a:latin typeface="Cambria Math" panose="02040503050406030204" pitchFamily="18" charset="0"/>
                  </a:rPr>
                  <a:t>$75^\circ-30^\circ=45^\circ$</a:t>
                </a:r>
                <a:r>
                  <a:rPr sz="2400" b="0">
                    <a:solidFill>
                      <a:srgbClr val="111827"/>
                    </a:solidFill>
                    <a:latin typeface="Arial"/>
                  </a:rPr>
                  <a:t> with the horizontal and touches at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$AD=\sqrt{32^2-16^2}=16\sqrt3$</a:t>
                </a:r>
                <a:r>
                  <a:rPr sz="2400" b="0">
                    <a:solidFill>
                      <a:srgbClr val="111827"/>
                    </a:solidFill>
                    <a:latin typeface="Arial"/>
                  </a:rPr>
                  <a:t> (using </a:t>
                </a:r>
                <a:r>
                  <a:rPr lang="en-IN" sz="2400">
                    <a:solidFill>
                      <a:srgbClr val="111827"/>
                    </a:solidFill>
                    <a:latin typeface="Cambria Math" panose="02040503050406030204" pitchFamily="18" charset="0"/>
                  </a:rPr>
                  <a:t>$AO=32$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$D=(16\sqrt3\cos45^\circ,\,16\sqrt3\sin45^\circ)=(8\sqrt6,\,8\sqrt6)$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$OD\perp AD$</a:t>
                </a:r>
                <a:r>
                  <a:rPr sz="2400" b="0">
                    <a:solidFill>
                      <a:srgbClr val="111827"/>
                    </a:solidFill>
                    <a:latin typeface="Arial"/>
                  </a:rPr>
                  <a:t> and </a:t>
                </a:r>
                <a:r>
                  <a:rPr lang="en-IN" sz="2400">
                    <a:solidFill>
                      <a:srgbClr val="111827"/>
                    </a:solidFill>
                    <a:latin typeface="Cambria Math" panose="02040503050406030204" pitchFamily="18" charset="0"/>
                  </a:rPr>
                  <a:t>$OD=16$</a:t>
                </a:r>
                <a:r>
                  <a:rPr sz="2400" b="0">
                    <a:solidFill>
                      <a:srgbClr val="111827"/>
                    </a:solidFill>
                    <a:latin typeface="Arial"/>
                  </a:rPr>
                  <a:t>, so the centre is </a:t>
                </a:r>
                <a:r>
                  <a:rPr lang="en-IN" sz="2400">
                    <a:solidFill>
                      <a:srgbClr val="111827"/>
                    </a:solidFill>
                    <a:latin typeface="Cambria Math" panose="02040503050406030204" pitchFamily="18" charset="0"/>
                  </a:rPr>
                  <a:t>$O=D+16(-\sin45^\circ,\cos45^\circ)=(8\sqrt6-8\sqrt2,\;8\sqrt6+8\sqrt2)$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height of the centre is </a:t>
                </a:r>
                <a14:m>
                  <m:oMath xmlns:m="http://schemas.openxmlformats.org/officeDocument/2006/math">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(check: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𝑂</m:t>
                            </m:r>
                          </m:sub>
                        </m:sSub>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𝑂</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Top point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Same answer, with no value of </a:t>
                </a: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needed.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height of the centre is </a:t>
                </a:r>
                <a:r>
                  <a:rPr lang="en-IN" sz="2400">
                    <a:solidFill>
                      <a:srgbClr val="111827"/>
                    </a:solidFill>
                    <a:latin typeface="Cambria Math" panose="02040503050406030204" pitchFamily="18" charset="0"/>
                  </a:rPr>
                  <a:t>$8\sqrt6+8\sqrt2$</a:t>
                </a:r>
                <a:r>
                  <a:rPr sz="2400" b="0">
                    <a:solidFill>
                      <a:srgbClr val="111827"/>
                    </a:solidFill>
                    <a:latin typeface="Arial"/>
                  </a:rPr>
                  <a:t> (check: </a:t>
                </a:r>
                <a:r>
                  <a:rPr lang="en-IN" sz="2400">
                    <a:solidFill>
                      <a:srgbClr val="111827"/>
                    </a:solidFill>
                    <a:latin typeface="Cambria Math" panose="02040503050406030204" pitchFamily="18" charset="0"/>
                  </a:rPr>
                  <a:t>$\dfrac{y_O}{x_O}=\dfrac{\sqrt6+\sqrt2}{\sqrt6-\sqrt2}=2+\sqrt3=\tan75^\circ$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Top point </a:t>
                </a:r>
                <a:r>
                  <a:rPr lang="en-IN" sz="2400">
                    <a:solidFill>
                      <a:srgbClr val="111827"/>
                    </a:solidFill>
                    <a:latin typeface="Cambria Math" panose="02040503050406030204" pitchFamily="18" charset="0"/>
                  </a:rPr>
                  <a:t>$=$</a:t>
                </a:r>
                <a:r>
                  <a:rPr sz="2400" b="0">
                    <a:solidFill>
                      <a:srgbClr val="111827"/>
                    </a:solidFill>
                    <a:latin typeface="Arial"/>
                  </a:rPr>
                  <a:t> centre </a:t>
                </a:r>
                <a:r>
                  <a:rPr lang="en-IN" sz="2400">
                    <a:solidFill>
                      <a:srgbClr val="111827"/>
                    </a:solidFill>
                    <a:latin typeface="Cambria Math" panose="02040503050406030204" pitchFamily="18" charset="0"/>
                  </a:rPr>
                  <a:t>$+16$</a:t>
                </a:r>
                <a:r>
                  <a:rPr sz="2400" b="0">
                    <a:solidFill>
                      <a:srgbClr val="111827"/>
                    </a:solidFill>
                    <a:latin typeface="Arial"/>
                  </a:rPr>
                  <a:t> </a:t>
                </a:r>
                <a:r>
                  <a:rPr lang="en-IN" sz="2400">
                    <a:solidFill>
                      <a:srgbClr val="111827"/>
                    </a:solidFill>
                    <a:latin typeface="Cambria Math" panose="02040503050406030204" pitchFamily="18" charset="0"/>
                  </a:rPr>
                  <a:t>$=8(\sqrt6+\sqrt2+2)$</a:t>
                </a:r>
                <a:r>
                  <a:rPr sz="2400" b="0">
                    <a:solidFill>
                      <a:srgbClr val="111827"/>
                    </a:solidFill>
                    <a:latin typeface="Arial"/>
                  </a:rPr>
                  <a:t> m. Same answer, with no value of </a:t>
                </a:r>
                <a:r>
                  <a:rPr lang="en-IN" sz="2400">
                    <a:solidFill>
                      <a:srgbClr val="111827"/>
                    </a:solidFill>
                    <a:latin typeface="Cambria Math" panose="02040503050406030204" pitchFamily="18" charset="0"/>
                  </a:rPr>
                  <a:t>$\sin75^\circ$</a:t>
                </a:r>
                <a:r>
                  <a:rPr sz="2400" b="0">
                    <a:solidFill>
                      <a:srgbClr val="111827"/>
                    </a:solidFill>
                    <a:latin typeface="Arial"/>
                  </a:rPr>
                  <a:t> needed.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8</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6</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$8(\sqrt6+\sqrt2+2)$</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sphere of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seen from a point at distance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from its centre subtends an angle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γ</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𝐷</m:t>
                        </m:r>
                      </m:den>
                    </m:f>
                  </m:oMath>
                </a14:m>
                <a:r>
                  <a:rPr sz="2400" b="0">
                    <a:solidFill>
                      <a:srgbClr val="111827"/>
                    </a:solidFill>
                    <a:latin typeface="Arial"/>
                  </a:rPr>
                  <a:t> (the tangent cone).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highest point of a sphere is its centre's 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oMath>
                </a14:m>
                <a:r>
                  <a:rPr sz="2400" b="0">
                    <a:solidFill>
                      <a:srgbClr val="111827"/>
                    </a:solidFill>
                    <a:latin typeface="Arial"/>
                  </a:rPr>
                  <a:t>; the lowest is centre's 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46.91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sphere of radius </a:t>
                </a:r>
                <a:r>
                  <a:rPr lang="en-IN" sz="2400">
                    <a:solidFill>
                      <a:srgbClr val="111827"/>
                    </a:solidFill>
                    <a:latin typeface="Cambria Math" panose="02040503050406030204" pitchFamily="18" charset="0"/>
                  </a:rPr>
                  <a:t>$r$</a:t>
                </a:r>
                <a:r>
                  <a:rPr sz="2400" b="0">
                    <a:solidFill>
                      <a:srgbClr val="111827"/>
                    </a:solidFill>
                    <a:latin typeface="Arial"/>
                  </a:rPr>
                  <a:t> seen from a point at distance </a:t>
                </a:r>
                <a:r>
                  <a:rPr lang="en-IN" sz="2400">
                    <a:solidFill>
                      <a:srgbClr val="111827"/>
                    </a:solidFill>
                    <a:latin typeface="Cambria Math" panose="02040503050406030204" pitchFamily="18" charset="0"/>
                  </a:rPr>
                  <a:t>$D$</a:t>
                </a:r>
                <a:r>
                  <a:rPr sz="2400" b="0">
                    <a:solidFill>
                      <a:srgbClr val="111827"/>
                    </a:solidFill>
                    <a:latin typeface="Arial"/>
                  </a:rPr>
                  <a:t> from its centre subtends an angle </a:t>
                </a:r>
                <a:r>
                  <a:rPr lang="en-IN" sz="2400">
                    <a:solidFill>
                      <a:srgbClr val="111827"/>
                    </a:solidFill>
                    <a:latin typeface="Cambria Math" panose="02040503050406030204" pitchFamily="18" charset="0"/>
                  </a:rPr>
                  <a:t>$2\gamma$</a:t>
                </a:r>
                <a:r>
                  <a:rPr sz="2400" b="0">
                    <a:solidFill>
                      <a:srgbClr val="111827"/>
                    </a:solidFill>
                    <a:latin typeface="Arial"/>
                  </a:rPr>
                  <a:t> with </a:t>
                </a:r>
                <a:r>
                  <a:rPr lang="en-IN" sz="2400">
                    <a:solidFill>
                      <a:srgbClr val="111827"/>
                    </a:solidFill>
                    <a:latin typeface="Cambria Math" panose="02040503050406030204" pitchFamily="18" charset="0"/>
                  </a:rPr>
                  <a:t>$\sin\gamma=\dfrac{r}{D}$</a:t>
                </a:r>
                <a:r>
                  <a:rPr sz="2400" b="0">
                    <a:solidFill>
                      <a:srgbClr val="111827"/>
                    </a:solidFill>
                    <a:latin typeface="Arial"/>
                  </a:rPr>
                  <a:t> (the tangent cone).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highest point of a sphere is its centre's height </a:t>
                </a:r>
                <a:r>
                  <a:rPr lang="en-IN" sz="2400">
                    <a:solidFill>
                      <a:srgbClr val="111827"/>
                    </a:solidFill>
                    <a:latin typeface="Cambria Math" panose="02040503050406030204" pitchFamily="18" charset="0"/>
                  </a:rPr>
                  <a:t>$+\,r$</a:t>
                </a:r>
                <a:r>
                  <a:rPr sz="2400" b="0">
                    <a:solidFill>
                      <a:srgbClr val="111827"/>
                    </a:solidFill>
                    <a:latin typeface="Arial"/>
                  </a:rPr>
                  <a:t>; the lowest is centre's height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$\sin75^\circ=\cos15^\circ=\dfrac{\sqrt6+\sqrt2}{4}$</a:t>
                </a:r>
                <a:r>
                  <a:rPr sz="2400" b="0">
                    <a:solidFill>
                      <a:srgbClr val="111827"/>
                    </a:solidFill>
                    <a:latin typeface="Arial"/>
                  </a:rPr>
                  <a:t> and </a:t>
                </a:r>
                <a:r>
                  <a:rPr lang="en-IN" sz="2400">
                    <a:solidFill>
                      <a:srgbClr val="111827"/>
                    </a:solidFill>
                    <a:latin typeface="Cambria Math" panose="02040503050406030204" pitchFamily="18" charset="0"/>
                  </a:rPr>
                  <a:t>$\sin15^\circ=\dfrac{\sqrt6-\sqrt2}{4}$</a:t>
                </a:r>
                <a:r>
                  <a:rPr sz="2400" b="0">
                    <a:solidFill>
                      <a:srgbClr val="111827"/>
                    </a:solidFill>
                    <a:latin typeface="Arial"/>
                  </a:rPr>
                  <a:t> (from </a:t>
                </a:r>
                <a:r>
                  <a:rPr lang="en-IN" sz="2400">
                    <a:solidFill>
                      <a:srgbClr val="111827"/>
                    </a:solidFill>
                    <a:latin typeface="Cambria Math" panose="02040503050406030204" pitchFamily="18" charset="0"/>
                  </a:rPr>
                  <a:t>$\sin(45^\circ\pm30^\circ)$</a:t>
                </a:r>
                <a:r>
                  <a:rPr sz="2400" b="0">
                    <a:solidFill>
                      <a:srgbClr val="111827"/>
                    </a:solidFill>
                    <a:latin typeface="Arial"/>
                  </a:rPr>
                  <a:t>). Check: </a:t>
                </a:r>
                <a:r>
                  <a:rPr lang="en-IN" sz="2400">
                    <a:solidFill>
                      <a:srgbClr val="111827"/>
                    </a:solidFill>
                    <a:latin typeface="Cambria Math" panose="02040503050406030204" pitchFamily="18" charset="0"/>
                  </a:rPr>
                  <a:t>$32\sin75^\circ+16\approx46.91=8(\sqrt6+\sqrt2+2)$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hall has a square floor of dimension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m (see the figure) and vertical walls. If the angle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oMath>
                </a14:m>
                <a:r>
                  <a:rPr sz="2400" b="0">
                    <a:solidFill>
                      <a:srgbClr val="111827"/>
                    </a:solidFill>
                    <a:latin typeface="Arial"/>
                  </a:rPr>
                  <a:t> between the diagonals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oMath>
                </a14:m>
                <a:r>
                  <a:rPr sz="2400" b="0">
                    <a:solidFill>
                      <a:srgbClr val="111827"/>
                    </a:solidFill>
                    <a:latin typeface="Arial"/>
                  </a:rPr>
                  <a:t> is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then the height of the hall (in meters) is : (The hall is the cuboid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oMath>
                </a14:m>
                <a:r>
                  <a:rPr sz="2400" b="0">
                    <a:solidFill>
                      <a:srgbClr val="111827"/>
                    </a:solidFill>
                    <a:latin typeface="Arial"/>
                  </a:rPr>
                  <a:t>; the diagonals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oMath>
                </a14:m>
                <a:r>
                  <a:rPr sz="2400" b="0">
                    <a:solidFill>
                      <a:srgbClr val="111827"/>
                    </a:solidFill>
                    <a:latin typeface="Arial"/>
                  </a:rPr>
                  <a:t> meet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hall has a square floor of dimension </a:t>
                </a:r>
                <a:r>
                  <a:rPr lang="en-IN" sz="2400">
                    <a:solidFill>
                      <a:srgbClr val="111827"/>
                    </a:solidFill>
                    <a:latin typeface="Cambria Math" panose="02040503050406030204" pitchFamily="18" charset="0"/>
                  </a:rPr>
                  <a:t>$10$</a:t>
                </a:r>
                <a:r>
                  <a:rPr sz="2400" b="0">
                    <a:solidFill>
                      <a:srgbClr val="111827"/>
                    </a:solidFill>
                    <a:latin typeface="Arial"/>
                  </a:rPr>
                  <a:t> m </a:t>
                </a:r>
                <a:r>
                  <a:rPr lang="en-IN" sz="2400">
                    <a:solidFill>
                      <a:srgbClr val="111827"/>
                    </a:solidFill>
                    <a:latin typeface="Cambria Math" panose="02040503050406030204" pitchFamily="18" charset="0"/>
                  </a:rPr>
                  <a:t>$\times$</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m (see the figure) and vertical walls. If the angle </a:t>
                </a:r>
                <a:r>
                  <a:rPr lang="en-IN" sz="2400">
                    <a:solidFill>
                      <a:srgbClr val="111827"/>
                    </a:solidFill>
                    <a:latin typeface="Cambria Math" panose="02040503050406030204" pitchFamily="18" charset="0"/>
                  </a:rPr>
                  <a:t>$GPH$</a:t>
                </a:r>
                <a:r>
                  <a:rPr sz="2400" b="0">
                    <a:solidFill>
                      <a:srgbClr val="111827"/>
                    </a:solidFill>
                    <a:latin typeface="Arial"/>
                  </a:rPr>
                  <a:t> between the diagonals </a:t>
                </a:r>
                <a:r>
                  <a:rPr lang="en-IN" sz="2400">
                    <a:solidFill>
                      <a:srgbClr val="111827"/>
                    </a:solidFill>
                    <a:latin typeface="Cambria Math" panose="02040503050406030204" pitchFamily="18" charset="0"/>
                  </a:rPr>
                  <a:t>$AG$</a:t>
                </a:r>
                <a:r>
                  <a:rPr sz="2400" b="0">
                    <a:solidFill>
                      <a:srgbClr val="111827"/>
                    </a:solidFill>
                    <a:latin typeface="Arial"/>
                  </a:rPr>
                  <a:t> and </a:t>
                </a:r>
                <a:r>
                  <a:rPr lang="en-IN" sz="2400">
                    <a:solidFill>
                      <a:srgbClr val="111827"/>
                    </a:solidFill>
                    <a:latin typeface="Cambria Math" panose="02040503050406030204" pitchFamily="18" charset="0"/>
                  </a:rPr>
                  <a:t>$BH$</a:t>
                </a:r>
                <a:r>
                  <a:rPr sz="2400" b="0">
                    <a:solidFill>
                      <a:srgbClr val="111827"/>
                    </a:solidFill>
                    <a:latin typeface="Arial"/>
                  </a:rPr>
                  <a:t> is </a:t>
                </a:r>
                <a:r>
                  <a:rPr lang="en-IN" sz="2400">
                    <a:solidFill>
                      <a:srgbClr val="111827"/>
                    </a:solidFill>
                    <a:latin typeface="Cambria Math" panose="02040503050406030204" pitchFamily="18" charset="0"/>
                  </a:rPr>
                  <a:t>$\cos^{-1}\dfrac{1}{5}$</a:t>
                </a:r>
                <a:r>
                  <a:rPr sz="2400" b="0">
                    <a:solidFill>
                      <a:srgbClr val="111827"/>
                    </a:solidFill>
                    <a:latin typeface="Arial"/>
                  </a:rPr>
                  <a:t>, then the height of the hall (in meters) is : (The hall is the cuboid </a:t>
                </a:r>
                <a:r>
                  <a:rPr lang="en-IN" sz="2400">
                    <a:solidFill>
                      <a:srgbClr val="111827"/>
                    </a:solidFill>
                    <a:latin typeface="Cambria Math" panose="02040503050406030204" pitchFamily="18" charset="0"/>
                  </a:rPr>
                  <a:t>$ABCD$</a:t>
                </a:r>
                <a:r>
                  <a:rPr sz="2400" b="0">
                    <a:solidFill>
                      <a:srgbClr val="111827"/>
                    </a:solidFill>
                    <a:latin typeface="Arial"/>
                  </a:rPr>
                  <a:t>-</a:t>
                </a:r>
                <a:r>
                  <a:rPr lang="en-IN" sz="2400">
                    <a:solidFill>
                      <a:srgbClr val="111827"/>
                    </a:solidFill>
                    <a:latin typeface="Cambria Math" panose="02040503050406030204" pitchFamily="18" charset="0"/>
                  </a:rPr>
                  <a:t>$EFGH$</a:t>
                </a:r>
                <a:r>
                  <a:rPr sz="2400" b="0">
                    <a:solidFill>
                      <a:srgbClr val="111827"/>
                    </a:solidFill>
                    <a:latin typeface="Arial"/>
                  </a:rPr>
                  <a:t>; the diagonals </a:t>
                </a:r>
                <a:r>
                  <a:rPr lang="en-IN" sz="2400">
                    <a:solidFill>
                      <a:srgbClr val="111827"/>
                    </a:solidFill>
                    <a:latin typeface="Cambria Math" panose="02040503050406030204" pitchFamily="18" charset="0"/>
                  </a:rPr>
                  <a:t>$AG$</a:t>
                </a:r>
                <a:r>
                  <a:rPr sz="2400" b="0">
                    <a:solidFill>
                      <a:srgbClr val="111827"/>
                    </a:solidFill>
                    <a:latin typeface="Arial"/>
                  </a:rPr>
                  <a:t> and </a:t>
                </a:r>
                <a:r>
                  <a:rPr lang="en-IN" sz="2400">
                    <a:solidFill>
                      <a:srgbClr val="111827"/>
                    </a:solidFill>
                    <a:latin typeface="Cambria Math" panose="02040503050406030204" pitchFamily="18" charset="0"/>
                  </a:rPr>
                  <a:t>$BH$</a:t>
                </a:r>
                <a:r>
                  <a:rPr sz="2400" b="0">
                    <a:solidFill>
                      <a:srgbClr val="111827"/>
                    </a:solidFill>
                    <a:latin typeface="Arial"/>
                  </a:rPr>
                  <a:t> meet at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$5\sqrt3$</a:t>
                </a:r>
                <a:r>
                  <a:rPr sz="2400" b="0">
                    <a:solidFill>
                      <a:srgbClr val="111827"/>
                    </a:solidFill>
                    <a:latin typeface="Arial"/>
                  </a:rPr>
                  <a:t>   (B) </a:t>
                </a:r>
                <a:r>
                  <a:rPr lang="en-IN" sz="2400">
                    <a:solidFill>
                      <a:srgbClr val="111827"/>
                    </a:solidFill>
                    <a:latin typeface="Cambria Math" panose="02040503050406030204" pitchFamily="18" charset="0"/>
                  </a:rPr>
                  <a:t>$5$</a:t>
                </a:r>
                <a:r>
                  <a:rPr sz="2400" b="0">
                    <a:solidFill>
                      <a:srgbClr val="111827"/>
                    </a:solidFill>
                    <a:latin typeface="Arial"/>
                  </a:rPr>
                  <a:t>   (C) </a:t>
                </a:r>
                <a:r>
                  <a:rPr lang="en-IN" sz="2400">
                    <a:solidFill>
                      <a:srgbClr val="111827"/>
                    </a:solidFill>
                    <a:latin typeface="Cambria Math" panose="02040503050406030204" pitchFamily="18" charset="0"/>
                  </a:rPr>
                  <a:t>$2\sqrt{10}$</a:t>
                </a:r>
                <a:r>
                  <a:rPr sz="2400" b="0">
                    <a:solidFill>
                      <a:srgbClr val="111827"/>
                    </a:solidFill>
                    <a:latin typeface="Arial"/>
                  </a:rPr>
                  <a:t>   (D) </a:t>
                </a:r>
                <a:r>
                  <a:rPr lang="en-IN" sz="2400">
                    <a:solidFill>
                      <a:srgbClr val="111827"/>
                    </a:solidFill>
                    <a:latin typeface="Cambria Math" panose="02040503050406030204" pitchFamily="18" charset="0"/>
                  </a:rPr>
                  <a:t>$5\sqrt2$</a:t>
                </a:r>
                <a:endParaRPr sz="2400">
                  <a:solidFill>
                    <a:srgbClr val="111827"/>
                  </a:solidFill>
                </a:endParaRPr>
              </a:p>
            </p:txBody>
          </p:sp>
        </mc:Fallback>
      </mc:AlternateContent>
      <p:sp>
        <p:nvSpPr>
          <p:cNvPr id="5" name="Rectangle 4"/>
          <p:cNvSpPr/>
          <p:nvPr/>
        </p:nvSpPr>
        <p:spPr>
          <a:xfrm>
            <a:off x="731520" y="44338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between space diagonals of a cuboid (vectors and 3D geometry)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coordinates on the cuboid and use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𝐺</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𝐻</m:t>
                            </m:r>
                          </m:e>
                        </m:acc>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𝐺</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𝐻</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coordinates on the cuboid and use </a:t>
                </a:r>
                <a:r>
                  <a:rPr lang="en-IN" sz="2400">
                    <a:solidFill>
                      <a:srgbClr val="78350F"/>
                    </a:solidFill>
                    <a:latin typeface="Cambria Math" panose="02040503050406030204" pitchFamily="18" charset="0"/>
                  </a:rPr>
                  <a:t>$\cos\theta=\dfrac{\vec{AG}\cdot\vec{BH}}{|\vec{AG}||\vec{BH}|}$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coordinates (with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vertical)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the height of the hall.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coordinates (with </a:t>
                </a:r>
                <a:r>
                  <a:rPr lang="en-IN" sz="2400">
                    <a:solidFill>
                      <a:srgbClr val="111827"/>
                    </a:solidFill>
                    <a:latin typeface="Cambria Math" panose="02040503050406030204" pitchFamily="18" charset="0"/>
                  </a:rPr>
                  <a:t>$y$</a:t>
                </a:r>
                <a:r>
                  <a:rPr sz="2400" b="0">
                    <a:solidFill>
                      <a:srgbClr val="111827"/>
                    </a:solidFill>
                    <a:latin typeface="Arial"/>
                  </a:rPr>
                  <a:t> vertical) </a:t>
                </a:r>
                <a:r>
                  <a:rPr lang="en-IN" sz="2400">
                    <a:solidFill>
                      <a:srgbClr val="111827"/>
                    </a:solidFill>
                    <a:latin typeface="Cambria Math" panose="02040503050406030204" pitchFamily="18" charset="0"/>
                  </a:rPr>
                  <a:t>$A(0,0,0)$</a:t>
                </a:r>
                <a:r>
                  <a:rPr sz="2400" b="0">
                    <a:solidFill>
                      <a:srgbClr val="111827"/>
                    </a:solidFill>
                    <a:latin typeface="Arial"/>
                  </a:rPr>
                  <a:t>, </a:t>
                </a:r>
                <a:r>
                  <a:rPr lang="en-IN" sz="2400">
                    <a:solidFill>
                      <a:srgbClr val="111827"/>
                    </a:solidFill>
                    <a:latin typeface="Cambria Math" panose="02040503050406030204" pitchFamily="18" charset="0"/>
                  </a:rPr>
                  <a:t>$B(10,0,0)$</a:t>
                </a:r>
                <a:r>
                  <a:rPr sz="2400" b="0">
                    <a:solidFill>
                      <a:srgbClr val="111827"/>
                    </a:solidFill>
                    <a:latin typeface="Arial"/>
                  </a:rPr>
                  <a:t>, </a:t>
                </a:r>
                <a:r>
                  <a:rPr lang="en-IN" sz="2400">
                    <a:solidFill>
                      <a:srgbClr val="111827"/>
                    </a:solidFill>
                    <a:latin typeface="Cambria Math" panose="02040503050406030204" pitchFamily="18" charset="0"/>
                  </a:rPr>
                  <a:t>$G(10,h,10)$</a:t>
                </a:r>
                <a:r>
                  <a:rPr sz="2400" b="0">
                    <a:solidFill>
                      <a:srgbClr val="111827"/>
                    </a:solidFill>
                    <a:latin typeface="Arial"/>
                  </a:rPr>
                  <a:t>, </a:t>
                </a:r>
                <a:r>
                  <a:rPr lang="en-IN" sz="2400">
                    <a:solidFill>
                      <a:srgbClr val="111827"/>
                    </a:solidFill>
                    <a:latin typeface="Cambria Math" panose="02040503050406030204" pitchFamily="18" charset="0"/>
                  </a:rPr>
                  <a:t>$H(0,h,10)$</a:t>
                </a:r>
                <a:r>
                  <a:rPr sz="2400" b="0">
                    <a:solidFill>
                      <a:srgbClr val="111827"/>
                    </a:solidFill>
                    <a:latin typeface="Arial"/>
                  </a:rPr>
                  <a:t>, where </a:t>
                </a:r>
                <a:r>
                  <a:rPr lang="en-IN" sz="2400">
                    <a:solidFill>
                      <a:srgbClr val="111827"/>
                    </a:solidFill>
                    <a:latin typeface="Cambria Math" panose="02040503050406030204" pitchFamily="18" charset="0"/>
                  </a:rPr>
                  <a:t>$h$</a:t>
                </a:r>
                <a:r>
                  <a:rPr sz="2400" b="0">
                    <a:solidFill>
                      <a:srgbClr val="111827"/>
                    </a:solidFill>
                    <a:latin typeface="Arial"/>
                  </a:rPr>
                  <a:t> is the height of the hall.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$\overrightarrow{BH}=-10\hat i+h\hat j+10\hat k$</a:t>
                </a:r>
                <a:r>
                  <a:rPr sz="2400" b="0">
                    <a:solidFill>
                      <a:srgbClr val="111827"/>
                    </a:solidFill>
                    <a:latin typeface="Arial"/>
                  </a:rPr>
                  <a:t> and </a:t>
                </a:r>
                <a:r>
                  <a:rPr lang="en-IN" sz="2400">
                    <a:solidFill>
                      <a:srgbClr val="111827"/>
                    </a:solidFill>
                    <a:latin typeface="Cambria Math" panose="02040503050406030204" pitchFamily="18" charset="0"/>
                  </a:rPr>
                  <a:t>$\overrightarrow{AG}=10\hat i+h\hat j+10\hat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$\overrightarrow{AG}\cdot\overrightarrow{BH}=-100+h^2+100=h^2$</a:t>
                </a:r>
                <a:r>
                  <a:rPr sz="2400" b="0">
                    <a:solidFill>
                      <a:srgbClr val="111827"/>
                    </a:solidFill>
                    <a:latin typeface="Arial"/>
                  </a:rPr>
                  <a:t>, and </a:t>
                </a:r>
                <a:r>
                  <a:rPr lang="en-IN" sz="2400">
                    <a:solidFill>
                      <a:srgbClr val="111827"/>
                    </a:solidFill>
                    <a:latin typeface="Cambria Math" panose="02040503050406030204" pitchFamily="18" charset="0"/>
                  </a:rPr>
                  <a:t>$|\overrightarrow{AG}|=|\overrightarrow{BH}|=\sqrt{200+h^2}$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$\cos\theta=\dfrac{\overrightarrow{AG}\cdot\overrightarrow{BH}}{|\overrightarrow{AG}||\overrightarrow{BH}|}=\dfrac{h^2}{200+h^2}$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$\cos\theta=\dfrac15$</a:t>
                </a:r>
                <a:r>
                  <a:rPr sz="2400" b="0">
                    <a:solidFill>
                      <a:srgbClr val="111827"/>
                    </a:solidFill>
                    <a:latin typeface="Arial"/>
                  </a:rPr>
                  <a:t>: </a:t>
                </a:r>
                <a:r>
                  <a:rPr lang="en-IN" sz="2400">
                    <a:solidFill>
                      <a:srgbClr val="111827"/>
                    </a:solidFill>
                    <a:latin typeface="Cambria Math" panose="02040503050406030204" pitchFamily="18" charset="0"/>
                  </a:rPr>
                  <a:t>$\dfrac15=\dfrac{h^2}{200+h^2}$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$200+h^2=5h^2$</a:t>
                </a:r>
                <a:r>
                  <a:rPr sz="2400" b="0">
                    <a:solidFill>
                      <a:srgbClr val="111827"/>
                    </a:solidFill>
                    <a:latin typeface="Arial"/>
                  </a:rPr>
                  <a:t>, so </a:t>
                </a:r>
                <a:r>
                  <a:rPr lang="en-IN" sz="2400">
                    <a:solidFill>
                      <a:srgbClr val="111827"/>
                    </a:solidFill>
                    <a:latin typeface="Cambria Math" panose="02040503050406030204" pitchFamily="18" charset="0"/>
                  </a:rPr>
                  <a:t>$4h^2=200$</a:t>
                </a:r>
                <a:r>
                  <a:rPr sz="2400" b="0">
                    <a:solidFill>
                      <a:srgbClr val="111827"/>
                    </a:solidFill>
                    <a:latin typeface="Arial"/>
                  </a:rPr>
                  <a:t> and </a:t>
                </a:r>
                <a:r>
                  <a:rPr lang="en-IN" sz="2400">
                    <a:solidFill>
                      <a:srgbClr val="111827"/>
                    </a:solidFill>
                    <a:latin typeface="Cambria Math" panose="02040503050406030204" pitchFamily="18" charset="0"/>
                  </a:rPr>
                  <a:t>$h^2=50$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$h=5\sqrt2$</a:t>
                </a:r>
                <a:r>
                  <a:rPr sz="2400" b="0">
                    <a:solidFill>
                      <a:srgbClr val="111827"/>
                    </a:solidFill>
                    <a:latin typeface="Arial"/>
                  </a:rPr>
                  <a:t> m,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5</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$5\sqrt2$</a:t>
                </a:r>
                <a:endParaRPr sz="2800">
                  <a:solidFill>
                    <a:srgbClr val="15803D"/>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cosine rule in the isosceles triangle </a:t>
                </a:r>
                <a14:m>
                  <m:oMath xmlns:m="http://schemas.openxmlformats.org/officeDocument/2006/math">
                    <m:r>
                      <a:rPr lang="en-IN" sz="2400" i="1">
                        <a:solidFill>
                          <a:srgbClr val="78350F"/>
                        </a:solidFill>
                        <a:latin typeface="Cambria Math" panose="02040503050406030204" pitchFamily="18" charset="0"/>
                      </a:rPr>
                      <m:t>𝐺</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𝐻</m:t>
                    </m:r>
                  </m:oMath>
                </a14:m>
                <a:r>
                  <a:rPr sz="2400" b="0">
                    <a:solidFill>
                      <a:srgbClr val="78350F"/>
                    </a:solidFill>
                    <a:latin typeface="Arial"/>
                  </a:rPr>
                  <a:t> whose base </a:t>
                </a:r>
                <a14:m>
                  <m:oMath xmlns:m="http://schemas.openxmlformats.org/officeDocument/2006/math">
                    <m:r>
                      <a:rPr lang="en-IN" sz="2400" i="1">
                        <a:solidFill>
                          <a:srgbClr val="78350F"/>
                        </a:solidFill>
                        <a:latin typeface="Cambria Math" panose="02040503050406030204" pitchFamily="18" charset="0"/>
                      </a:rPr>
                      <m:t>𝐺</m:t>
                    </m:r>
                    <m:r>
                      <a:rPr lang="en-IN" sz="2400" i="1">
                        <a:solidFill>
                          <a:srgbClr val="78350F"/>
                        </a:solidFill>
                        <a:latin typeface="Cambria Math" panose="02040503050406030204" pitchFamily="18" charset="0"/>
                      </a:rPr>
                      <m:t>𝐻</m:t>
                    </m:r>
                  </m:oMath>
                </a14:m>
                <a:r>
                  <a:rPr sz="2400" b="0">
                    <a:solidFill>
                      <a:srgbClr val="78350F"/>
                    </a:solidFill>
                    <a:latin typeface="Arial"/>
                  </a:rPr>
                  <a:t> is a roof edge of length </a:t>
                </a:r>
                <a14:m>
                  <m:oMath xmlns:m="http://schemas.openxmlformats.org/officeDocument/2006/math">
                    <m:r>
                      <a:rPr lang="en-IN" sz="2400" i="1">
                        <a:solidFill>
                          <a:srgbClr val="78350F"/>
                        </a:solidFill>
                        <a:latin typeface="Cambria Math" panose="02040503050406030204" pitchFamily="18" charset="0"/>
                      </a:rPr>
                      <m:t>10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cosine rule in the isosceles triangle </a:t>
                </a:r>
                <a:r>
                  <a:rPr lang="en-IN" sz="2400">
                    <a:solidFill>
                      <a:srgbClr val="78350F"/>
                    </a:solidFill>
                    <a:latin typeface="Cambria Math" panose="02040503050406030204" pitchFamily="18" charset="0"/>
                  </a:rPr>
                  <a:t>$GPH$</a:t>
                </a:r>
                <a:r>
                  <a:rPr sz="2400" b="0">
                    <a:solidFill>
                      <a:srgbClr val="78350F"/>
                    </a:solidFill>
                    <a:latin typeface="Arial"/>
                  </a:rPr>
                  <a:t> whose base </a:t>
                </a:r>
                <a:r>
                  <a:rPr lang="en-IN" sz="2400">
                    <a:solidFill>
                      <a:srgbClr val="78350F"/>
                    </a:solidFill>
                    <a:latin typeface="Cambria Math" panose="02040503050406030204" pitchFamily="18" charset="0"/>
                  </a:rPr>
                  <a:t>$GH$</a:t>
                </a:r>
                <a:r>
                  <a:rPr sz="2400" b="0">
                    <a:solidFill>
                      <a:srgbClr val="78350F"/>
                    </a:solidFill>
                    <a:latin typeface="Arial"/>
                  </a:rPr>
                  <a:t> is a roof edge of length </a:t>
                </a:r>
                <a:r>
                  <a:rPr lang="en-IN" sz="2400">
                    <a:solidFill>
                      <a:srgbClr val="78350F"/>
                    </a:solidFill>
                    <a:latin typeface="Cambria Math" panose="02040503050406030204" pitchFamily="18" charset="0"/>
                  </a:rPr>
                  <a:t>$10$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diagonals of a cuboid bisect each other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roof edge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is opposite the angle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14:m>
                  <m:oMath xmlns:m="http://schemas.openxmlformats.org/officeDocument/2006/math">
                    <m:r>
                      <a:rPr lang="en-IN" sz="2400" i="1">
                        <a:solidFill>
                          <a:srgbClr val="111827"/>
                        </a:solidFill>
                        <a:latin typeface="Cambria Math" panose="02040503050406030204" pitchFamily="18" charset="0"/>
                      </a:rPr>
                      <m:t>𝐺</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𝐺</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diagonals of a cuboid bisect each other at </a:t>
                </a:r>
                <a:r>
                  <a:rPr lang="en-IN" sz="2400">
                    <a:solidFill>
                      <a:srgbClr val="111827"/>
                    </a:solidFill>
                    <a:latin typeface="Cambria Math" panose="02040503050406030204" pitchFamily="18" charset="0"/>
                  </a:rPr>
                  <a:t>$P$</a:t>
                </a:r>
                <a:r>
                  <a:rPr sz="2400" b="0">
                    <a:solidFill>
                      <a:srgbClr val="111827"/>
                    </a:solidFill>
                    <a:latin typeface="Arial"/>
                  </a:rPr>
                  <a:t>, so </a:t>
                </a:r>
                <a:r>
                  <a:rPr lang="en-IN" sz="2400">
                    <a:solidFill>
                      <a:srgbClr val="111827"/>
                    </a:solidFill>
                    <a:latin typeface="Cambria Math" panose="02040503050406030204" pitchFamily="18" charset="0"/>
                  </a:rPr>
                  <a:t>$PG=PH=\dfrac12\sqrt{10^2+10^2+h^2}=\dfrac12\sqrt{200+h^2}$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roof edge </a:t>
                </a:r>
                <a:r>
                  <a:rPr lang="en-IN" sz="2400">
                    <a:solidFill>
                      <a:srgbClr val="111827"/>
                    </a:solidFill>
                    <a:latin typeface="Cambria Math" panose="02040503050406030204" pitchFamily="18" charset="0"/>
                  </a:rPr>
                  <a:t>$GH=10$</a:t>
                </a:r>
                <a:r>
                  <a:rPr sz="2400" b="0">
                    <a:solidFill>
                      <a:srgbClr val="111827"/>
                    </a:solidFill>
                    <a:latin typeface="Arial"/>
                  </a:rPr>
                  <a:t> is opposite the angle </a:t>
                </a:r>
                <a:r>
                  <a:rPr lang="en-IN" sz="2400">
                    <a:solidFill>
                      <a:srgbClr val="111827"/>
                    </a:solidFill>
                    <a:latin typeface="Cambria Math" panose="02040503050406030204" pitchFamily="18" charset="0"/>
                  </a:rPr>
                  <a:t>$\angle GPH=\theta$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r>
                  <a:rPr lang="en-IN" sz="2400">
                    <a:solidFill>
                      <a:srgbClr val="111827"/>
                    </a:solidFill>
                    <a:latin typeface="Cambria Math" panose="02040503050406030204" pitchFamily="18" charset="0"/>
                  </a:rPr>
                  <a:t>$GH^2=PG^2+PH^2-2\,PG\,PH\cos\theta$</a:t>
                </a:r>
                <a:r>
                  <a:rPr sz="2400" b="0">
                    <a:solidFill>
                      <a:srgbClr val="111827"/>
                    </a:solidFill>
                    <a:latin typeface="Arial"/>
                  </a:rPr>
                  <a:t>, i.e. </a:t>
                </a:r>
                <a:r>
                  <a:rPr lang="en-IN" sz="2400">
                    <a:solidFill>
                      <a:srgbClr val="111827"/>
                    </a:solidFill>
                    <a:latin typeface="Cambria Math" panose="02040503050406030204" pitchFamily="18" charset="0"/>
                  </a:rPr>
                  <a:t>$100=2m^2(1-\cos\theta)$</a:t>
                </a:r>
                <a:r>
                  <a:rPr sz="2400" b="0">
                    <a:solidFill>
                      <a:srgbClr val="111827"/>
                    </a:solidFill>
                    <a:latin typeface="Arial"/>
                  </a:rPr>
                  <a:t> with </a:t>
                </a:r>
                <a:r>
                  <a:rPr lang="en-IN" sz="2400">
                    <a:solidFill>
                      <a:srgbClr val="111827"/>
                    </a:solidFill>
                    <a:latin typeface="Cambria Math" panose="02040503050406030204" pitchFamily="18" charset="0"/>
                  </a:rPr>
                  <a:t>$m^2=\dfrac{200+h^2}{4}$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m.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$\cos\theta=\dfrac15$</a:t>
                </a:r>
                <a:r>
                  <a:rPr sz="2400" b="0">
                    <a:solidFill>
                      <a:srgbClr val="111827"/>
                    </a:solidFill>
                    <a:latin typeface="Arial"/>
                  </a:rPr>
                  <a:t>: </a:t>
                </a:r>
                <a:r>
                  <a:rPr lang="en-IN" sz="2400">
                    <a:solidFill>
                      <a:srgbClr val="111827"/>
                    </a:solidFill>
                    <a:latin typeface="Cambria Math" panose="02040503050406030204" pitchFamily="18" charset="0"/>
                  </a:rPr>
                  <a:t>$100=2m^2\cdot\dfrac45$</a:t>
                </a:r>
                <a:r>
                  <a:rPr sz="2400" b="0">
                    <a:solidFill>
                      <a:srgbClr val="111827"/>
                    </a:solidFill>
                    <a:latin typeface="Arial"/>
                  </a:rPr>
                  <a:t>, so </a:t>
                </a:r>
                <a:r>
                  <a:rPr lang="en-IN" sz="2400">
                    <a:solidFill>
                      <a:srgbClr val="111827"/>
                    </a:solidFill>
                    <a:latin typeface="Cambria Math" panose="02040503050406030204" pitchFamily="18" charset="0"/>
                  </a:rPr>
                  <a:t>$m^2=\dfrac{125}{2}$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$\dfrac{200+h^2}{4}=\dfrac{125}{2}\Rightarrow200+h^2=250$</a:t>
                </a:r>
                <a:r>
                  <a:rPr sz="2400" b="0">
                    <a:solidFill>
                      <a:srgbClr val="111827"/>
                    </a:solidFill>
                    <a:latin typeface="Arial"/>
                  </a:rPr>
                  <a:t>, so </a:t>
                </a:r>
                <a:r>
                  <a:rPr lang="en-IN" sz="2400">
                    <a:solidFill>
                      <a:srgbClr val="111827"/>
                    </a:solidFill>
                    <a:latin typeface="Cambria Math" panose="02040503050406030204" pitchFamily="18" charset="0"/>
                  </a:rPr>
                  <a:t>$h^2=50$</a:t>
                </a:r>
                <a:r>
                  <a:rPr sz="2400" b="0">
                    <a:solidFill>
                      <a:srgbClr val="111827"/>
                    </a:solidFill>
                    <a:latin typeface="Arial"/>
                  </a:rPr>
                  <a:t> and </a:t>
                </a:r>
                <a:r>
                  <a:rPr lang="en-IN" sz="2400">
                    <a:solidFill>
                      <a:srgbClr val="111827"/>
                    </a:solidFill>
                    <a:latin typeface="Cambria Math" panose="02040503050406030204" pitchFamily="18" charset="0"/>
                  </a:rPr>
                  <a:t>$h=5\sqrt2$</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5</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$5\sqrt2$</a:t>
                </a:r>
                <a:endParaRPr sz="2800">
                  <a:solidFill>
                    <a:srgbClr val="15803D"/>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cuboid with edges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diagonals meet at the centre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the angle </a:t>
                </a:r>
                <a14:m>
                  <m:oMath xmlns:m="http://schemas.openxmlformats.org/officeDocument/2006/math">
                    <m:r>
                      <a:rPr lang="en-IN" sz="2400" i="1">
                        <a:solidFill>
                          <a:srgbClr val="111827"/>
                        </a:solidFill>
                        <a:latin typeface="Cambria Math" panose="02040503050406030204" pitchFamily="18" charset="0"/>
                      </a:rPr>
                      <m:t>ψ</m:t>
                    </m:r>
                  </m:oMath>
                </a14:m>
                <a:r>
                  <a:rPr sz="2400" b="0">
                    <a:solidFill>
                      <a:srgbClr val="111827"/>
                    </a:solidFill>
                    <a:latin typeface="Arial"/>
                  </a:rPr>
                  <a:t> they subtend opposite an edge of length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ψ</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ψ</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Cube check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ψ</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familiar angle between the diagonals of a cube.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angle between the same two diagonals is the supplement,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ψ</m:t>
                    </m:r>
                  </m:oMath>
                </a14:m>
                <a:r>
                  <a:rPr sz="2400" b="0">
                    <a:solidFill>
                      <a:srgbClr val="111827"/>
                    </a:solidFill>
                    <a:latin typeface="Arial"/>
                  </a:rPr>
                  <a:t>; check which one the question means (here 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oMath>
                </a14:m>
                <a:r>
                  <a:rPr sz="2400" b="0">
                    <a:solidFill>
                      <a:srgbClr val="111827"/>
                    </a:solidFill>
                    <a:latin typeface="Arial"/>
                  </a:rPr>
                  <a:t>, opposite the roof edge).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cuboid with edges </a:t>
                </a:r>
                <a:r>
                  <a:rPr lang="en-IN" sz="2400">
                    <a:solidFill>
                      <a:srgbClr val="111827"/>
                    </a:solidFill>
                    <a:latin typeface="Cambria Math" panose="02040503050406030204" pitchFamily="18" charset="0"/>
                  </a:rPr>
                  <a:t>$a,b,c$</a:t>
                </a:r>
                <a:r>
                  <a:rPr sz="2400" b="0">
                    <a:solidFill>
                      <a:srgbClr val="111827"/>
                    </a:solidFill>
                    <a:latin typeface="Arial"/>
                  </a:rPr>
                  <a:t> the diagonals meet at the centre </a:t>
                </a:r>
                <a:r>
                  <a:rPr lang="en-IN" sz="2400">
                    <a:solidFill>
                      <a:srgbClr val="111827"/>
                    </a:solidFill>
                    <a:latin typeface="Cambria Math" panose="02040503050406030204" pitchFamily="18" charset="0"/>
                  </a:rPr>
                  <a:t>$P$</a:t>
                </a:r>
                <a:r>
                  <a:rPr sz="2400" b="0">
                    <a:solidFill>
                      <a:srgbClr val="111827"/>
                    </a:solidFill>
                    <a:latin typeface="Arial"/>
                  </a:rPr>
                  <a:t>; the angle </a:t>
                </a:r>
                <a:r>
                  <a:rPr lang="en-IN" sz="2400">
                    <a:solidFill>
                      <a:srgbClr val="111827"/>
                    </a:solidFill>
                    <a:latin typeface="Cambria Math" panose="02040503050406030204" pitchFamily="18" charset="0"/>
                  </a:rPr>
                  <a:t>$\psi$</a:t>
                </a:r>
                <a:r>
                  <a:rPr sz="2400" b="0">
                    <a:solidFill>
                      <a:srgbClr val="111827"/>
                    </a:solidFill>
                    <a:latin typeface="Arial"/>
                  </a:rPr>
                  <a:t> they subtend opposite an edge of length </a:t>
                </a:r>
                <a:r>
                  <a:rPr lang="en-IN" sz="2400">
                    <a:solidFill>
                      <a:srgbClr val="111827"/>
                    </a:solidFill>
                    <a:latin typeface="Cambria Math" panose="02040503050406030204" pitchFamily="18" charset="0"/>
                  </a:rPr>
                  <a:t>$a$</a:t>
                </a:r>
                <a:r>
                  <a:rPr sz="2400" b="0">
                    <a:solidFill>
                      <a:srgbClr val="111827"/>
                    </a:solidFill>
                    <a:latin typeface="Arial"/>
                  </a:rPr>
                  <a:t> satisfies </a:t>
                </a:r>
                <a:r>
                  <a:rPr lang="en-IN" sz="2400">
                    <a:solidFill>
                      <a:srgbClr val="111827"/>
                    </a:solidFill>
                    <a:latin typeface="Cambria Math" panose="02040503050406030204" pitchFamily="18" charset="0"/>
                  </a:rPr>
                  <a:t>$\cos\psi=\dfrac{b^2+c^2-a^2}{a^2+b^2+c^2}$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$a=b=10$</a:t>
                </a:r>
                <a:r>
                  <a:rPr sz="2400" b="0">
                    <a:solidFill>
                      <a:srgbClr val="111827"/>
                    </a:solidFill>
                    <a:latin typeface="Arial"/>
                  </a:rPr>
                  <a:t>, </a:t>
                </a:r>
                <a:r>
                  <a:rPr lang="en-IN" sz="2400">
                    <a:solidFill>
                      <a:srgbClr val="111827"/>
                    </a:solidFill>
                    <a:latin typeface="Cambria Math" panose="02040503050406030204" pitchFamily="18" charset="0"/>
                  </a:rPr>
                  <a:t>$c=h$</a:t>
                </a:r>
                <a:r>
                  <a:rPr sz="2400" b="0">
                    <a:solidFill>
                      <a:srgbClr val="111827"/>
                    </a:solidFill>
                    <a:latin typeface="Arial"/>
                  </a:rPr>
                  <a:t>: </a:t>
                </a:r>
                <a:r>
                  <a:rPr lang="en-IN" sz="2400">
                    <a:solidFill>
                      <a:srgbClr val="111827"/>
                    </a:solidFill>
                    <a:latin typeface="Cambria Math" panose="02040503050406030204" pitchFamily="18" charset="0"/>
                  </a:rPr>
                  <a:t>$\cos\psi=\dfrac{h^2}{200+h^2}$</a:t>
                </a:r>
                <a:r>
                  <a:rPr sz="2400" b="0">
                    <a:solidFill>
                      <a:srgbClr val="111827"/>
                    </a:solidFill>
                    <a:latin typeface="Arial"/>
                  </a:rPr>
                  <a:t>. Cube check (</a:t>
                </a:r>
                <a:r>
                  <a:rPr lang="en-IN" sz="2400">
                    <a:solidFill>
                      <a:srgbClr val="111827"/>
                    </a:solidFill>
                    <a:latin typeface="Cambria Math" panose="02040503050406030204" pitchFamily="18" charset="0"/>
                  </a:rPr>
                  <a:t>$h=10$</a:t>
                </a:r>
                <a:r>
                  <a:rPr sz="2400" b="0">
                    <a:solidFill>
                      <a:srgbClr val="111827"/>
                    </a:solidFill>
                    <a:latin typeface="Arial"/>
                  </a:rPr>
                  <a:t>): </a:t>
                </a:r>
                <a:r>
                  <a:rPr lang="en-IN" sz="2400">
                    <a:solidFill>
                      <a:srgbClr val="111827"/>
                    </a:solidFill>
                    <a:latin typeface="Cambria Math" panose="02040503050406030204" pitchFamily="18" charset="0"/>
                  </a:rPr>
                  <a:t>$\cos\psi=\dfrac13$</a:t>
                </a:r>
                <a:r>
                  <a:rPr sz="2400" b="0">
                    <a:solidFill>
                      <a:srgbClr val="111827"/>
                    </a:solidFill>
                    <a:latin typeface="Arial"/>
                  </a:rPr>
                  <a:t>, the familiar angle between the diagonals of a cube.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other angle between the same two diagonals is the supplement, </a:t>
                </a:r>
                <a:r>
                  <a:rPr lang="en-IN" sz="2400">
                    <a:solidFill>
                      <a:srgbClr val="111827"/>
                    </a:solidFill>
                    <a:latin typeface="Cambria Math" panose="02040503050406030204" pitchFamily="18" charset="0"/>
                  </a:rPr>
                  <a:t>$\pi-\psi$</a:t>
                </a:r>
                <a:r>
                  <a:rPr sz="2400" b="0">
                    <a:solidFill>
                      <a:srgbClr val="111827"/>
                    </a:solidFill>
                    <a:latin typeface="Arial"/>
                  </a:rPr>
                  <a:t>; check which one the question means (here it is </a:t>
                </a:r>
                <a:r>
                  <a:rPr lang="en-IN" sz="2400">
                    <a:solidFill>
                      <a:srgbClr val="111827"/>
                    </a:solidFill>
                    <a:latin typeface="Cambria Math" panose="02040503050406030204" pitchFamily="18" charset="0"/>
                  </a:rPr>
                  <a:t>$\angle GPH$</a:t>
                </a:r>
                <a:r>
                  <a:rPr sz="2400" b="0">
                    <a:solidFill>
                      <a:srgbClr val="111827"/>
                    </a:solidFill>
                    <a:latin typeface="Arial"/>
                  </a:rPr>
                  <a:t>, opposite the roof edge).</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87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poles,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length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metres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of length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metres are erected at the same horizontal level with bases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3487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poles, </a:t>
                </a:r>
                <a:r>
                  <a:rPr lang="en-IN" sz="2400">
                    <a:solidFill>
                      <a:srgbClr val="111827"/>
                    </a:solidFill>
                    <a:latin typeface="Cambria Math" panose="02040503050406030204" pitchFamily="18" charset="0"/>
                  </a:rPr>
                  <a:t>$AB$</a:t>
                </a:r>
                <a:r>
                  <a:rPr sz="2400" b="0">
                    <a:solidFill>
                      <a:srgbClr val="111827"/>
                    </a:solidFill>
                    <a:latin typeface="Arial"/>
                  </a:rPr>
                  <a:t> of length </a:t>
                </a:r>
                <a:r>
                  <a:rPr lang="en-IN" sz="2400">
                    <a:solidFill>
                      <a:srgbClr val="111827"/>
                    </a:solidFill>
                    <a:latin typeface="Cambria Math" panose="02040503050406030204" pitchFamily="18" charset="0"/>
                  </a:rPr>
                  <a:t>$a$</a:t>
                </a:r>
                <a:r>
                  <a:rPr sz="2400" b="0">
                    <a:solidFill>
                      <a:srgbClr val="111827"/>
                    </a:solidFill>
                    <a:latin typeface="Arial"/>
                  </a:rPr>
                  <a:t> metres and </a:t>
                </a:r>
                <a:r>
                  <a:rPr lang="en-IN" sz="2400">
                    <a:solidFill>
                      <a:srgbClr val="111827"/>
                    </a:solidFill>
                    <a:latin typeface="Cambria Math" panose="02040503050406030204" pitchFamily="18" charset="0"/>
                  </a:rPr>
                  <a:t>$CD$</a:t>
                </a:r>
                <a:r>
                  <a:rPr sz="2400" b="0">
                    <a:solidFill>
                      <a:srgbClr val="111827"/>
                    </a:solidFill>
                    <a:latin typeface="Arial"/>
                  </a:rPr>
                  <a:t> of length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$b\neq a$</a:t>
                </a:r>
                <a:r>
                  <a:rPr sz="2400" b="0">
                    <a:solidFill>
                      <a:srgbClr val="111827"/>
                    </a:solidFill>
                    <a:latin typeface="Arial"/>
                  </a:rPr>
                  <a:t>) metres are erected at the same horizontal level with bases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$D$</a:t>
                </a:r>
                <a:r>
                  <a:rPr sz="2400" b="0">
                    <a:solidFill>
                      <a:srgbClr val="111827"/>
                    </a:solidFill>
                    <a:latin typeface="Arial"/>
                  </a:rPr>
                  <a:t>. If </a:t>
                </a:r>
                <a:r>
                  <a:rPr lang="en-IN" sz="2400">
                    <a:solidFill>
                      <a:srgbClr val="111827"/>
                    </a:solidFill>
                    <a:latin typeface="Cambria Math" panose="02040503050406030204" pitchFamily="18" charset="0"/>
                  </a:rPr>
                  <a:t>$BD=x$</a:t>
                </a:r>
                <a:r>
                  <a:rPr sz="2400" b="0">
                    <a:solidFill>
                      <a:srgbClr val="111827"/>
                    </a:solidFill>
                    <a:latin typeface="Arial"/>
                  </a:rPr>
                  <a:t> and </a:t>
                </a:r>
                <a:r>
                  <a:rPr lang="en-IN" sz="2400">
                    <a:solidFill>
                      <a:srgbClr val="111827"/>
                    </a:solidFill>
                    <a:latin typeface="Cambria Math" panose="02040503050406030204" pitchFamily="18" charset="0"/>
                  </a:rPr>
                  <a:t>$\tan\angle ACB=\dfrac12$</a:t>
                </a:r>
                <a:r>
                  <a:rPr sz="2400" b="0">
                    <a:solidFill>
                      <a:srgbClr val="111827"/>
                    </a:solidFill>
                    <a:latin typeface="Arial"/>
                  </a:rPr>
                  <a:t>, then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$x^2+2(a+2b)x+a(a+b)=0$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$x^2-2ax+b(a+b)=0$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$x^2+2(a+2b)x-b(a+b)=0$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$x^2-2ax+a(a+b)=0$</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of elevation of two poles (heights and distances), Cotangent of a sum of 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cot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β</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r>
                <a:r>
                  <a:rPr lang="en-IN" sz="2400">
                    <a:solidFill>
                      <a:srgbClr val="78350F"/>
                    </a:solidFill>
                    <a:latin typeface="Cambria Math" panose="02040503050406030204" pitchFamily="18" charset="0"/>
                  </a:rPr>
                  <a:t>$\angle ACD=\alpha+\beta$</a:t>
                </a:r>
                <a:r>
                  <a:rPr sz="2400" b="0">
                    <a:solidFill>
                      <a:srgbClr val="78350F"/>
                    </a:solidFill>
                    <a:latin typeface="Arial"/>
                  </a:rPr>
                  <a:t> and use </a:t>
                </a:r>
                <a:r>
                  <a:rPr lang="en-IN" sz="2400">
                    <a:solidFill>
                      <a:srgbClr val="78350F"/>
                    </a:solidFill>
                    <a:latin typeface="Cambria Math" panose="02040503050406030204" pitchFamily="18" charset="0"/>
                  </a:rPr>
                  <a:t>$\cot(\alpha+\beta)=\dfrac{\cot\alpha\cot\beta-1}{\cot\alpha+\cot\beta}$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The line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makes angle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the horizontal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the rise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over a run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$\alpha=\angle ACB$</a:t>
                </a:r>
                <a:r>
                  <a:rPr sz="2400" b="0">
                    <a:solidFill>
                      <a:srgbClr val="111827"/>
                    </a:solidFill>
                    <a:latin typeface="Arial"/>
                  </a:rPr>
                  <a:t> and </a:t>
                </a:r>
                <a:r>
                  <a:rPr lang="en-IN" sz="2400">
                    <a:solidFill>
                      <a:srgbClr val="111827"/>
                    </a:solidFill>
                    <a:latin typeface="Cambria Math" panose="02040503050406030204" pitchFamily="18" charset="0"/>
                  </a:rPr>
                  <a:t>$\beta=\angle BCD$</a:t>
                </a:r>
                <a:r>
                  <a:rPr sz="2400" b="0">
                    <a:solidFill>
                      <a:srgbClr val="111827"/>
                    </a:solidFill>
                    <a:latin typeface="Arial"/>
                  </a:rPr>
                  <a:t>, so </a:t>
                </a:r>
                <a:r>
                  <a:rPr lang="en-IN" sz="2400">
                    <a:solidFill>
                      <a:srgbClr val="111827"/>
                    </a:solidFill>
                    <a:latin typeface="Cambria Math" panose="02040503050406030204" pitchFamily="18" charset="0"/>
                  </a:rPr>
                  <a:t>$\angle ACD=\alpha+\beta$</a:t>
                </a:r>
                <a:r>
                  <a:rPr sz="2400" b="0">
                    <a:solidFill>
                      <a:srgbClr val="111827"/>
                    </a:solidFill>
                    <a:latin typeface="Arial"/>
                  </a:rPr>
                  <a:t>. The line </a:t>
                </a:r>
                <a:r>
                  <a:rPr lang="en-IN" sz="2400">
                    <a:solidFill>
                      <a:srgbClr val="111827"/>
                    </a:solidFill>
                    <a:latin typeface="Cambria Math" panose="02040503050406030204" pitchFamily="18" charset="0"/>
                  </a:rPr>
                  <a:t>$CA$</a:t>
                </a:r>
                <a:r>
                  <a:rPr sz="2400" b="0">
                    <a:solidFill>
                      <a:srgbClr val="111827"/>
                    </a:solidFill>
                    <a:latin typeface="Arial"/>
                  </a:rPr>
                  <a:t> makes angle </a:t>
                </a:r>
                <a:r>
                  <a:rPr lang="en-IN" sz="2400">
                    <a:solidFill>
                      <a:srgbClr val="111827"/>
                    </a:solidFill>
                    <a:latin typeface="Cambria Math" panose="02040503050406030204" pitchFamily="18" charset="0"/>
                  </a:rPr>
                  <a:t>$90^\circ-(\alpha+\beta)$</a:t>
                </a:r>
                <a:r>
                  <a:rPr sz="2400" b="0">
                    <a:solidFill>
                      <a:srgbClr val="111827"/>
                    </a:solidFill>
                    <a:latin typeface="Arial"/>
                  </a:rPr>
                  <a:t> with the horizontal through </a:t>
                </a:r>
                <a:r>
                  <a:rPr lang="en-IN" sz="2400">
                    <a:solidFill>
                      <a:srgbClr val="111827"/>
                    </a:solidFill>
                    <a:latin typeface="Cambria Math" panose="02040503050406030204" pitchFamily="18" charset="0"/>
                  </a:rPr>
                  <a:t>$A$</a:t>
                </a:r>
                <a:r>
                  <a:rPr sz="2400" b="0">
                    <a:solidFill>
                      <a:srgbClr val="111827"/>
                    </a:solidFill>
                    <a:latin typeface="Arial"/>
                  </a:rPr>
                  <a:t>, and the rise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$b$</a:t>
                </a:r>
                <a:r>
                  <a:rPr sz="2400" b="0">
                    <a:solidFill>
                      <a:srgbClr val="111827"/>
                    </a:solidFill>
                    <a:latin typeface="Arial"/>
                  </a:rPr>
                  <a:t> over a run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$\tan\left(90^\circ-(\alpha+\beta)\right)=\dfrac{b}{x}$</a:t>
                </a:r>
                <a:r>
                  <a:rPr sz="2400" b="0">
                    <a:solidFill>
                      <a:srgbClr val="111827"/>
                    </a:solidFill>
                    <a:latin typeface="Arial"/>
                  </a:rPr>
                  <a:t>, i.e. </a:t>
                </a:r>
                <a:r>
                  <a:rPr lang="en-IN" sz="2400">
                    <a:solidFill>
                      <a:srgbClr val="111827"/>
                    </a:solidFill>
                    <a:latin typeface="Cambria Math" panose="02040503050406030204" pitchFamily="18" charset="0"/>
                  </a:rPr>
                  <a:t>$\cot(\alpha+\beta)=\dfrac{b}{x}$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$\tan\alpha=\dfrac12$</a:t>
                </a:r>
                <a:r>
                  <a:rPr sz="2400" b="0">
                    <a:solidFill>
                      <a:srgbClr val="111827"/>
                    </a:solidFill>
                    <a:latin typeface="Arial"/>
                  </a:rPr>
                  <a:t>, so </a:t>
                </a:r>
                <a:r>
                  <a:rPr lang="en-IN" sz="2400">
                    <a:solidFill>
                      <a:srgbClr val="111827"/>
                    </a:solidFill>
                    <a:latin typeface="Cambria Math" panose="02040503050406030204" pitchFamily="18" charset="0"/>
                  </a:rPr>
                  <a:t>$\cot\alpha=2$</a:t>
                </a:r>
                <a:r>
                  <a:rPr sz="2400" b="0">
                    <a:solidFill>
                      <a:srgbClr val="111827"/>
                    </a:solidFill>
                    <a:latin typeface="Arial"/>
                  </a:rPr>
                  <a:t>; and </a:t>
                </a:r>
                <a:r>
                  <a:rPr lang="en-IN" sz="2400">
                    <a:solidFill>
                      <a:srgbClr val="111827"/>
                    </a:solidFill>
                    <a:latin typeface="Cambria Math" panose="02040503050406030204" pitchFamily="18" charset="0"/>
                  </a:rPr>
                  <a:t>$\tan\beta=\dfrac{BD}{CD}=\dfrac{x}{a+b}$</a:t>
                </a:r>
                <a:r>
                  <a:rPr sz="2400" b="0">
                    <a:solidFill>
                      <a:srgbClr val="111827"/>
                    </a:solidFill>
                    <a:latin typeface="Arial"/>
                  </a:rPr>
                  <a:t>, so </a:t>
                </a:r>
                <a:r>
                  <a:rPr lang="en-IN" sz="2400">
                    <a:solidFill>
                      <a:srgbClr val="111827"/>
                    </a:solidFill>
                    <a:latin typeface="Cambria Math" panose="02040503050406030204" pitchFamily="18" charset="0"/>
                  </a:rPr>
                  <a:t>$\cot\beta=\dfrac{a+b}{x}$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$\cot(\alpha+\beta)=\dfrac{\cot\alpha\cot\beta-1}{\cot\beta+\cot\alpha}$</a:t>
                </a:r>
                <a:r>
                  <a:rPr sz="2400" b="0">
                    <a:solidFill>
                      <a:srgbClr val="111827"/>
                    </a:solidFill>
                    <a:latin typeface="Arial"/>
                  </a:rPr>
                  <a:t>: </a:t>
                </a:r>
                <a:r>
                  <a:rPr lang="en-IN" sz="2400">
                    <a:solidFill>
                      <a:srgbClr val="111827"/>
                    </a:solidFill>
                    <a:latin typeface="Cambria Math" panose="02040503050406030204" pitchFamily="18" charset="0"/>
                  </a:rPr>
                  <a:t>$\dfrac{\frac{2(a+b)}{x}-1}{\frac{a+b}{x}+2}=\dfrac{b}{x}$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numerator and denominator by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Cross-multiply: </a:t>
                </a:r>
                <a14:m>
                  <m:oMath xmlns:m="http://schemas.openxmlformats.org/officeDocument/2006/math">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numerator and denominator by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$\dfrac{2(a+b)-x}{(a+b)+2x}=\dfrac{b}{x}$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Cross-multiply: </a:t>
                </a:r>
                <a:r>
                  <a:rPr lang="en-IN" sz="2400">
                    <a:solidFill>
                      <a:srgbClr val="111827"/>
                    </a:solidFill>
                    <a:latin typeface="Cambria Math" panose="02040503050406030204" pitchFamily="18" charset="0"/>
                  </a:rPr>
                  <a:t>$x\left(2(a+b)-x\right)=b(a+b)+2bx$</a:t>
                </a:r>
                <a:r>
                  <a:rPr sz="2400" b="0">
                    <a:solidFill>
                      <a:srgbClr val="111827"/>
                    </a:solidFill>
                    <a:latin typeface="Arial"/>
                  </a:rPr>
                  <a:t>, i.e. </a:t>
                </a:r>
                <a:r>
                  <a:rPr lang="en-IN" sz="2400">
                    <a:solidFill>
                      <a:srgbClr val="111827"/>
                    </a:solidFill>
                    <a:latin typeface="Cambria Math" panose="02040503050406030204" pitchFamily="18" charset="0"/>
                  </a:rPr>
                  <a:t>$2x(a+b)-x^2=(a+b)b+2bx$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$x^2-2ax+b(a+b)=0$</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$x^2-2ax+b(a+b)=0$</a:t>
                </a:r>
                <a:endParaRPr sz="2800">
                  <a:solidFill>
                    <a:srgbClr val="15803D"/>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14:m>
                  <m:oMath xmlns:m="http://schemas.openxmlformats.org/officeDocument/2006/math">
                    <m:r>
                      <m:rPr>
                        <m:sty m:val="p"/>
                      </m:rPr>
                      <a:rPr lang="en-IN" sz="2400">
                        <a:solidFill>
                          <a:srgbClr val="78350F"/>
                        </a:solidFill>
                        <a:latin typeface="Cambria Math" panose="02040503050406030204" pitchFamily="18" charset="0"/>
                      </a:rPr>
                      <m:t>tan</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𝐵</m:t>
                    </m:r>
                  </m:oMath>
                </a14:m>
                <a:r>
                  <a:rPr sz="2400" b="0">
                    <a:solidFill>
                      <a:srgbClr val="78350F"/>
                    </a:solidFill>
                    <a:latin typeface="Arial"/>
                  </a:rPr>
                  <a:t> directly as the angle between the lines </a:t>
                </a:r>
                <a14:m>
                  <m:oMath xmlns:m="http://schemas.openxmlformats.org/officeDocument/2006/math">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𝐵</m:t>
                    </m:r>
                  </m:oMath>
                </a14:m>
                <a:r>
                  <a:rPr sz="2400" b="0">
                    <a:solidFill>
                      <a:srgbClr val="78350F"/>
                    </a:solidFill>
                    <a:latin typeface="Arial"/>
                  </a:rPr>
                  <a:t> using cross and dot products.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r>
                  <a:rPr lang="en-IN" sz="2400">
                    <a:solidFill>
                      <a:srgbClr val="78350F"/>
                    </a:solidFill>
                    <a:latin typeface="Cambria Math" panose="02040503050406030204" pitchFamily="18" charset="0"/>
                  </a:rPr>
                  <a:t>$\tan\angle ACB$</a:t>
                </a:r>
                <a:r>
                  <a:rPr sz="2400" b="0">
                    <a:solidFill>
                      <a:srgbClr val="78350F"/>
                    </a:solidFill>
                    <a:latin typeface="Arial"/>
                  </a:rPr>
                  <a:t> directly as the angle between the lines </a:t>
                </a:r>
                <a:r>
                  <a:rPr lang="en-IN" sz="2400">
                    <a:solidFill>
                      <a:srgbClr val="78350F"/>
                    </a:solidFill>
                    <a:latin typeface="Cambria Math" panose="02040503050406030204" pitchFamily="18" charset="0"/>
                  </a:rPr>
                  <a:t>$CA$</a:t>
                </a:r>
                <a:r>
                  <a:rPr sz="2400" b="0">
                    <a:solidFill>
                      <a:srgbClr val="78350F"/>
                    </a:solidFill>
                    <a:latin typeface="Arial"/>
                  </a:rPr>
                  <a:t> and </a:t>
                </a:r>
                <a:r>
                  <a:rPr lang="en-IN" sz="2400">
                    <a:solidFill>
                      <a:srgbClr val="78350F"/>
                    </a:solidFill>
                    <a:latin typeface="Cambria Math" panose="02040503050406030204" pitchFamily="18" charset="0"/>
                  </a:rPr>
                  <a:t>$CB$</a:t>
                </a:r>
                <a:r>
                  <a:rPr sz="2400" b="0">
                    <a:solidFill>
                      <a:srgbClr val="78350F"/>
                    </a:solidFill>
                    <a:latin typeface="Arial"/>
                  </a:rPr>
                  <a:t> using cross and dot products.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the origin,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vectors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dot product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$B$</a:t>
                </a:r>
                <a:r>
                  <a:rPr sz="2400" b="0">
                    <a:solidFill>
                      <a:srgbClr val="111827"/>
                    </a:solidFill>
                    <a:latin typeface="Arial"/>
                  </a:rPr>
                  <a:t> at the origin, </a:t>
                </a:r>
                <a:r>
                  <a:rPr lang="en-IN" sz="2400">
                    <a:solidFill>
                      <a:srgbClr val="111827"/>
                    </a:solidFill>
                    <a:latin typeface="Cambria Math" panose="02040503050406030204" pitchFamily="18" charset="0"/>
                  </a:rPr>
                  <a:t>$D=(x,0)$</a:t>
                </a:r>
                <a:r>
                  <a:rPr sz="2400" b="0">
                    <a:solidFill>
                      <a:srgbClr val="111827"/>
                    </a:solidFill>
                    <a:latin typeface="Arial"/>
                  </a:rPr>
                  <a:t>, </a:t>
                </a:r>
                <a:r>
                  <a:rPr lang="en-IN" sz="2400">
                    <a:solidFill>
                      <a:srgbClr val="111827"/>
                    </a:solidFill>
                    <a:latin typeface="Cambria Math" panose="02040503050406030204" pitchFamily="18" charset="0"/>
                  </a:rPr>
                  <a:t>$A=(0,a)$</a:t>
                </a:r>
                <a:r>
                  <a:rPr sz="2400" b="0">
                    <a:solidFill>
                      <a:srgbClr val="111827"/>
                    </a:solidFill>
                    <a:latin typeface="Arial"/>
                  </a:rPr>
                  <a:t>, </a:t>
                </a:r>
                <a:r>
                  <a:rPr lang="en-IN" sz="2400">
                    <a:solidFill>
                      <a:srgbClr val="111827"/>
                    </a:solidFill>
                    <a:latin typeface="Cambria Math" panose="02040503050406030204" pitchFamily="18" charset="0"/>
                  </a:rPr>
                  <a:t>$C=(x,a+b)$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vectors from </a:t>
                </a:r>
                <a:r>
                  <a:rPr lang="en-IN" sz="2400">
                    <a:solidFill>
                      <a:srgbClr val="111827"/>
                    </a:solidFill>
                    <a:latin typeface="Cambria Math" panose="02040503050406030204" pitchFamily="18" charset="0"/>
                  </a:rPr>
                  <a:t>$C$</a:t>
                </a:r>
                <a:r>
                  <a:rPr sz="2400" b="0">
                    <a:solidFill>
                      <a:srgbClr val="111827"/>
                    </a:solidFill>
                    <a:latin typeface="Arial"/>
                  </a:rPr>
                  <a:t> are </a:t>
                </a:r>
                <a:r>
                  <a:rPr lang="en-IN" sz="2400">
                    <a:solidFill>
                      <a:srgbClr val="111827"/>
                    </a:solidFill>
                    <a:latin typeface="Cambria Math" panose="02040503050406030204" pitchFamily="18" charset="0"/>
                  </a:rPr>
                  <a:t>$\overrightarrow{CA}=(-x,-b)$</a:t>
                </a:r>
                <a:r>
                  <a:rPr sz="2400" b="0">
                    <a:solidFill>
                      <a:srgbClr val="111827"/>
                    </a:solidFill>
                    <a:latin typeface="Arial"/>
                  </a:rPr>
                  <a:t> and </a:t>
                </a:r>
                <a:r>
                  <a:rPr lang="en-IN" sz="2400">
                    <a:solidFill>
                      <a:srgbClr val="111827"/>
                    </a:solidFill>
                    <a:latin typeface="Cambria Math" panose="02040503050406030204" pitchFamily="18" charset="0"/>
                  </a:rPr>
                  <a:t>$\overrightarrow{CB}=(-x,-(a+b))$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product (magnitude) </a:t>
                </a:r>
                <a:r>
                  <a:rPr lang="en-IN" sz="2400">
                    <a:solidFill>
                      <a:srgbClr val="111827"/>
                    </a:solidFill>
                    <a:latin typeface="Cambria Math" panose="02040503050406030204" pitchFamily="18" charset="0"/>
                  </a:rPr>
                  <a:t>$=|(-x)(-(a+b))-(-b)(-x)|=x(a+b)-bx=ax$</a:t>
                </a:r>
                <a:r>
                  <a:rPr sz="2400" b="0">
                    <a:solidFill>
                      <a:srgbClr val="111827"/>
                    </a:solidFill>
                    <a:latin typeface="Arial"/>
                  </a:rPr>
                  <a:t>; dot product </a:t>
                </a:r>
                <a:r>
                  <a:rPr lang="en-IN" sz="2400">
                    <a:solidFill>
                      <a:srgbClr val="111827"/>
                    </a:solidFill>
                    <a:latin typeface="Cambria Math" panose="02040503050406030204" pitchFamily="18" charset="0"/>
                  </a:rPr>
                  <a:t>$=x^2+b(a+b)$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𝑐𝑟𝑜𝑠𝑠</m:t>
                        </m:r>
                        <m:r>
                          <m:rPr>
                            <m:sty m:val="p"/>
                          </m:rPr>
                          <a:rPr lang="en-IN" sz="2400">
                            <a:solidFill>
                              <a:srgbClr val="111827"/>
                            </a:solidFill>
                            <a:latin typeface="Cambria Math" panose="02040503050406030204" pitchFamily="18" charset="0"/>
                          </a:rPr>
                          <m:t>|</m:t>
                        </m:r>
                      </m:num>
                      <m:den>
                        <m:r>
                          <m:rPr>
                            <m:nor/>
                          </m:rPr>
                          <a:rPr lang="en-IN" sz="2400" i="1">
                            <a:solidFill>
                              <a:srgbClr val="111827"/>
                            </a:solidFill>
                            <a:latin typeface="Cambria Math" panose="02040503050406030204" pitchFamily="18" charset="0"/>
                          </a:rPr>
                          <m:t>𝑑𝑜𝑡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this equal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Same answer, with no compound-angle formula.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$\tan\angle ACB=\dfrac{|\text{cross}|}{\text{dot}}=\dfrac{ax}{x^2+b(a+b)}$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 this equal to </a:t>
                </a:r>
                <a:r>
                  <a:rPr lang="en-IN" sz="2400">
                    <a:solidFill>
                      <a:srgbClr val="111827"/>
                    </a:solidFill>
                    <a:latin typeface="Cambria Math" panose="02040503050406030204" pitchFamily="18" charset="0"/>
                  </a:rPr>
                  <a:t>$\dfrac12$</a:t>
                </a:r>
                <a:r>
                  <a:rPr sz="2400" b="0">
                    <a:solidFill>
                      <a:srgbClr val="111827"/>
                    </a:solidFill>
                    <a:latin typeface="Arial"/>
                  </a:rPr>
                  <a:t>: </a:t>
                </a:r>
                <a:r>
                  <a:rPr lang="en-IN" sz="2400">
                    <a:solidFill>
                      <a:srgbClr val="111827"/>
                    </a:solidFill>
                    <a:latin typeface="Cambria Math" panose="02040503050406030204" pitchFamily="18" charset="0"/>
                  </a:rPr>
                  <a:t>$x^2+b(a+b)=2ax$</a:t>
                </a:r>
                <a:r>
                  <a:rPr sz="2400" b="0">
                    <a:solidFill>
                      <a:srgbClr val="111827"/>
                    </a:solidFill>
                    <a:latin typeface="Arial"/>
                  </a:rPr>
                  <a:t>, i.e. </a:t>
                </a:r>
                <a:r>
                  <a:rPr lang="en-IN" sz="2400">
                    <a:solidFill>
                      <a:srgbClr val="111827"/>
                    </a:solidFill>
                    <a:latin typeface="Cambria Math" panose="02040503050406030204" pitchFamily="18" charset="0"/>
                  </a:rPr>
                  <a:t>$x^2-2ax+b(a+b)=0$</a:t>
                </a:r>
                <a:r>
                  <a:rPr sz="2400" b="0">
                    <a:solidFill>
                      <a:srgbClr val="111827"/>
                    </a:solidFill>
                    <a:latin typeface="Arial"/>
                  </a:rPr>
                  <a:t>. Same answer, with no compound-angle formula.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$x^2-2ax+b(a+b)=0$</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two lines of slopes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den>
                        </m:f>
                      </m:e>
                    </m:d>
                  </m:oMath>
                </a14:m>
                <a:r>
                  <a:rPr sz="2400" b="0">
                    <a:solidFill>
                      <a:srgbClr val="111827"/>
                    </a:solidFill>
                    <a:latin typeface="Arial"/>
                  </a:rPr>
                  <a:t>; equivalently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den>
                    </m:f>
                  </m:oMath>
                </a14:m>
                <a:r>
                  <a:rPr sz="2400" b="0">
                    <a:solidFill>
                      <a:srgbClr val="111827"/>
                    </a:solidFill>
                    <a:latin typeface="Arial"/>
                  </a:rPr>
                  <a:t> for the lines of sight to the two ends of a segment.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poles of heights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 distance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apart, the angle subtended at the top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of the taller by the foot-to-top of the shorter satisfies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two lines of slopes </a:t>
                </a:r>
                <a:r>
                  <a:rPr lang="en-IN" sz="2400">
                    <a:solidFill>
                      <a:srgbClr val="111827"/>
                    </a:solidFill>
                    <a:latin typeface="Cambria Math" panose="02040503050406030204" pitchFamily="18" charset="0"/>
                  </a:rPr>
                  <a:t>$m_1,m_2$</a:t>
                </a:r>
                <a:r>
                  <a:rPr sz="2400" b="0">
                    <a:solidFill>
                      <a:srgbClr val="111827"/>
                    </a:solidFill>
                    <a:latin typeface="Arial"/>
                  </a:rPr>
                  <a:t>: </a:t>
                </a:r>
                <a:r>
                  <a:rPr lang="en-IN" sz="2400">
                    <a:solidFill>
                      <a:srgbClr val="111827"/>
                    </a:solidFill>
                    <a:latin typeface="Cambria Math" panose="02040503050406030204" pitchFamily="18" charset="0"/>
                  </a:rPr>
                  <a:t>$\tan\theta=\left|\dfrac{m_1-m_2}{1+m_1m_2}\right|$</a:t>
                </a:r>
                <a:r>
                  <a:rPr sz="2400" b="0">
                    <a:solidFill>
                      <a:srgbClr val="111827"/>
                    </a:solidFill>
                    <a:latin typeface="Arial"/>
                  </a:rPr>
                  <a:t>; equivalently </a:t>
                </a:r>
                <a:r>
                  <a:rPr lang="en-IN" sz="2400">
                    <a:solidFill>
                      <a:srgbClr val="111827"/>
                    </a:solidFill>
                    <a:latin typeface="Cambria Math" panose="02040503050406030204" pitchFamily="18" charset="0"/>
                  </a:rPr>
                  <a:t>$\tan\theta=\dfrac{|\vec u\times\vec v|}{\vec u\cdot\vec v}$</a:t>
                </a:r>
                <a:r>
                  <a:rPr sz="2400" b="0">
                    <a:solidFill>
                      <a:srgbClr val="111827"/>
                    </a:solidFill>
                    <a:latin typeface="Arial"/>
                  </a:rPr>
                  <a:t> for the lines of sight to the two ends of a segment.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poles of heights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a distance </a:t>
                </a:r>
                <a:r>
                  <a:rPr lang="en-IN" sz="2400">
                    <a:solidFill>
                      <a:srgbClr val="111827"/>
                    </a:solidFill>
                    <a:latin typeface="Cambria Math" panose="02040503050406030204" pitchFamily="18" charset="0"/>
                  </a:rPr>
                  <a:t>$x$</a:t>
                </a:r>
                <a:r>
                  <a:rPr sz="2400" b="0">
                    <a:solidFill>
                      <a:srgbClr val="111827"/>
                    </a:solidFill>
                    <a:latin typeface="Arial"/>
                  </a:rPr>
                  <a:t> apart, the angle subtended at the top </a:t>
                </a:r>
                <a:r>
                  <a:rPr lang="en-IN" sz="2400">
                    <a:solidFill>
                      <a:srgbClr val="111827"/>
                    </a:solidFill>
                    <a:latin typeface="Cambria Math" panose="02040503050406030204" pitchFamily="18" charset="0"/>
                  </a:rPr>
                  <a:t>$C$</a:t>
                </a:r>
                <a:r>
                  <a:rPr sz="2400" b="0">
                    <a:solidFill>
                      <a:srgbClr val="111827"/>
                    </a:solidFill>
                    <a:latin typeface="Arial"/>
                  </a:rPr>
                  <a:t> of the taller by the foot-to-top of the shorter satisfies </a:t>
                </a:r>
                <a:r>
                  <a:rPr lang="en-IN" sz="2400">
                    <a:solidFill>
                      <a:srgbClr val="111827"/>
                    </a:solidFill>
                    <a:latin typeface="Cambria Math" panose="02040503050406030204" pitchFamily="18" charset="0"/>
                  </a:rPr>
                  <a:t>$\tan\angle ACB=\dfrac{ax}{x^2+b(a+b)}$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subtended angle is largest when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possible only 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the condition for real roots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subtended angle is largest when </a:t>
                </a:r>
                <a:r>
                  <a:rPr lang="en-IN" sz="2400">
                    <a:solidFill>
                      <a:srgbClr val="111827"/>
                    </a:solidFill>
                    <a:latin typeface="Cambria Math" panose="02040503050406030204" pitchFamily="18" charset="0"/>
                  </a:rPr>
                  <a:t>$x^2=b(a+b)$</a:t>
                </a:r>
                <a:r>
                  <a:rPr sz="2400" b="0">
                    <a:solidFill>
                      <a:srgbClr val="111827"/>
                    </a:solidFill>
                    <a:latin typeface="Arial"/>
                  </a:rPr>
                  <a:t>; so </a:t>
                </a:r>
                <a:r>
                  <a:rPr lang="en-IN" sz="2400">
                    <a:solidFill>
                      <a:srgbClr val="111827"/>
                    </a:solidFill>
                    <a:latin typeface="Cambria Math" panose="02040503050406030204" pitchFamily="18" charset="0"/>
                  </a:rPr>
                  <a:t>$\tan\angle ACB=\tfrac12$</a:t>
                </a:r>
                <a:r>
                  <a:rPr sz="2400" b="0">
                    <a:solidFill>
                      <a:srgbClr val="111827"/>
                    </a:solidFill>
                    <a:latin typeface="Arial"/>
                  </a:rPr>
                  <a:t> is possible only if </a:t>
                </a:r>
                <a:r>
                  <a:rPr lang="en-IN" sz="2400">
                    <a:solidFill>
                      <a:srgbClr val="111827"/>
                    </a:solidFill>
                    <a:latin typeface="Cambria Math" panose="02040503050406030204" pitchFamily="18" charset="0"/>
                  </a:rPr>
                  <a:t>$a^2\ge b(a+b)$</a:t>
                </a:r>
                <a:r>
                  <a:rPr sz="2400" b="0">
                    <a:solidFill>
                      <a:srgbClr val="111827"/>
                    </a:solidFill>
                    <a:latin typeface="Arial"/>
                  </a:rPr>
                  <a:t>, which is the condition for real roots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$a=2,b=1$</a:t>
                </a:r>
                <a:r>
                  <a:rPr sz="2400" b="0">
                    <a:solidFill>
                      <a:srgbClr val="111827"/>
                    </a:solidFill>
                    <a:latin typeface="Arial"/>
                  </a:rPr>
                  <a:t> gives </a:t>
                </a:r>
                <a:r>
                  <a:rPr lang="en-IN" sz="2400">
                    <a:solidFill>
                      <a:srgbClr val="111827"/>
                    </a:solidFill>
                    <a:latin typeface="Cambria Math" panose="02040503050406030204" pitchFamily="18" charset="0"/>
                  </a:rPr>
                  <a:t>$x^2-4x+3=0$</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for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$\dfrac{2\cdot3}{9+3}=\dfrac12$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vertical pole fixed to the horizontal ground is divided in the ratio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by a mark on it with lower part shorter than the upper part. If the two parts subtend equal angles at a point on the ground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m away from the base of the pole, then the height of the pole (in meters)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15</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vertical pole fixed to the horizontal ground is divided in the ratio </a:t>
                </a:r>
                <a:r>
                  <a:rPr lang="en-IN" sz="2400">
                    <a:solidFill>
                      <a:srgbClr val="111827"/>
                    </a:solidFill>
                    <a:latin typeface="Cambria Math" panose="02040503050406030204" pitchFamily="18" charset="0"/>
                  </a:rPr>
                  <a:t>$3:7$</a:t>
                </a:r>
                <a:r>
                  <a:rPr sz="2400" b="0">
                    <a:solidFill>
                      <a:srgbClr val="111827"/>
                    </a:solidFill>
                    <a:latin typeface="Arial"/>
                  </a:rPr>
                  <a:t> by a mark on it with lower part shorter than the upper part. If the two parts subtend equal angles at a point on the ground </a:t>
                </a:r>
                <a:r>
                  <a:rPr lang="en-IN" sz="2400">
                    <a:solidFill>
                      <a:srgbClr val="111827"/>
                    </a:solidFill>
                    <a:latin typeface="Cambria Math" panose="02040503050406030204" pitchFamily="18" charset="0"/>
                  </a:rPr>
                  <a:t>$18$</a:t>
                </a:r>
                <a:r>
                  <a:rPr sz="2400" b="0">
                    <a:solidFill>
                      <a:srgbClr val="111827"/>
                    </a:solidFill>
                    <a:latin typeface="Arial"/>
                  </a:rPr>
                  <a:t> m away from the base of the pole, then the height of the pole (in meters)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$12\sqrt{10}$</a:t>
                </a:r>
                <a:r>
                  <a:rPr sz="2400" b="0">
                    <a:solidFill>
                      <a:srgbClr val="111827"/>
                    </a:solidFill>
                    <a:latin typeface="Arial"/>
                  </a:rPr>
                  <a:t>   (B) </a:t>
                </a:r>
                <a:r>
                  <a:rPr lang="en-IN" sz="2400">
                    <a:solidFill>
                      <a:srgbClr val="111827"/>
                    </a:solidFill>
                    <a:latin typeface="Cambria Math" panose="02040503050406030204" pitchFamily="18" charset="0"/>
                  </a:rPr>
                  <a:t>$8\sqrt{10}$</a:t>
                </a:r>
                <a:r>
                  <a:rPr sz="2400" b="0">
                    <a:solidFill>
                      <a:srgbClr val="111827"/>
                    </a:solidFill>
                    <a:latin typeface="Arial"/>
                  </a:rPr>
                  <a:t>   (C) </a:t>
                </a:r>
                <a:r>
                  <a:rPr lang="en-IN" sz="2400">
                    <a:solidFill>
                      <a:srgbClr val="111827"/>
                    </a:solidFill>
                    <a:latin typeface="Cambria Math" panose="02040503050406030204" pitchFamily="18" charset="0"/>
                  </a:rPr>
                  <a:t>$12\sqrt{15}$</a:t>
                </a:r>
                <a:r>
                  <a:rPr sz="2400" b="0">
                    <a:solidFill>
                      <a:srgbClr val="111827"/>
                    </a:solidFill>
                    <a:latin typeface="Arial"/>
                  </a:rPr>
                  <a:t>   (D) </a:t>
                </a:r>
                <a:r>
                  <a:rPr lang="en-IN" sz="2400">
                    <a:solidFill>
                      <a:srgbClr val="111827"/>
                    </a:solidFill>
                    <a:latin typeface="Cambria Math" panose="02040503050406030204" pitchFamily="18" charset="0"/>
                  </a:rPr>
                  <a:t>$6\sqrt{10}$</a:t>
                </a:r>
                <a:endParaRPr sz="2400">
                  <a:solidFill>
                    <a:srgbClr val="111827"/>
                  </a:solidFill>
                </a:endParaRPr>
              </a:p>
            </p:txBody>
          </p:sp>
        </mc:Fallback>
      </mc:AlternateContent>
      <p:sp>
        <p:nvSpPr>
          <p:cNvPr id="5" name="Rectangle 4"/>
          <p:cNvSpPr/>
          <p:nvPr/>
        </p:nvSpPr>
        <p:spPr>
          <a:xfrm>
            <a:off x="731520" y="43240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Equal angles subtended by two parts of a pole (heights and distances), Angle bisector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angles mean the line of sight to the mark bisects the angle at the observer, so the angle bisector theorem applies.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be the pole with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its base,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the mark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the observer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subtend equal angles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angle bisector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$AC$</a:t>
                </a:r>
                <a:r>
                  <a:rPr sz="2400" b="0">
                    <a:solidFill>
                      <a:srgbClr val="111827"/>
                    </a:solidFill>
                    <a:latin typeface="Arial"/>
                  </a:rPr>
                  <a:t> be the pole with </a:t>
                </a:r>
                <a:r>
                  <a:rPr lang="en-IN" sz="2400">
                    <a:solidFill>
                      <a:srgbClr val="111827"/>
                    </a:solidFill>
                    <a:latin typeface="Cambria Math" panose="02040503050406030204" pitchFamily="18" charset="0"/>
                  </a:rPr>
                  <a:t>$A$</a:t>
                </a:r>
                <a:r>
                  <a:rPr sz="2400" b="0">
                    <a:solidFill>
                      <a:srgbClr val="111827"/>
                    </a:solidFill>
                    <a:latin typeface="Arial"/>
                  </a:rPr>
                  <a:t> at its base, </a:t>
                </a:r>
                <a:r>
                  <a:rPr lang="en-IN" sz="2400">
                    <a:solidFill>
                      <a:srgbClr val="111827"/>
                    </a:solidFill>
                    <a:latin typeface="Cambria Math" panose="02040503050406030204" pitchFamily="18" charset="0"/>
                  </a:rPr>
                  <a:t>$D$</a:t>
                </a:r>
                <a:r>
                  <a:rPr sz="2400" b="0">
                    <a:solidFill>
                      <a:srgbClr val="111827"/>
                    </a:solidFill>
                    <a:latin typeface="Arial"/>
                  </a:rPr>
                  <a:t> the mark with </a:t>
                </a:r>
                <a:r>
                  <a:rPr lang="en-IN" sz="2400">
                    <a:solidFill>
                      <a:srgbClr val="111827"/>
                    </a:solidFill>
                    <a:latin typeface="Cambria Math" panose="02040503050406030204" pitchFamily="18" charset="0"/>
                  </a:rPr>
                  <a:t>$AD=3x$</a:t>
                </a:r>
                <a:r>
                  <a:rPr sz="2400" b="0">
                    <a:solidFill>
                      <a:srgbClr val="111827"/>
                    </a:solidFill>
                    <a:latin typeface="Arial"/>
                  </a:rPr>
                  <a:t>, </a:t>
                </a:r>
                <a:r>
                  <a:rPr lang="en-IN" sz="2400">
                    <a:solidFill>
                      <a:srgbClr val="111827"/>
                    </a:solidFill>
                    <a:latin typeface="Cambria Math" panose="02040503050406030204" pitchFamily="18" charset="0"/>
                  </a:rPr>
                  <a:t>$DC=7x$</a:t>
                </a:r>
                <a:r>
                  <a:rPr sz="2400" b="0">
                    <a:solidFill>
                      <a:srgbClr val="111827"/>
                    </a:solidFill>
                    <a:latin typeface="Arial"/>
                  </a:rPr>
                  <a:t>, and let </a:t>
                </a:r>
                <a:r>
                  <a:rPr lang="en-IN" sz="2400">
                    <a:solidFill>
                      <a:srgbClr val="111827"/>
                    </a:solidFill>
                    <a:latin typeface="Cambria Math" panose="02040503050406030204" pitchFamily="18" charset="0"/>
                  </a:rPr>
                  <a:t>$B$</a:t>
                </a:r>
                <a:r>
                  <a:rPr sz="2400" b="0">
                    <a:solidFill>
                      <a:srgbClr val="111827"/>
                    </a:solidFill>
                    <a:latin typeface="Arial"/>
                  </a:rPr>
                  <a:t> be the observer with </a:t>
                </a:r>
                <a:r>
                  <a:rPr lang="en-IN" sz="2400">
                    <a:solidFill>
                      <a:srgbClr val="111827"/>
                    </a:solidFill>
                    <a:latin typeface="Cambria Math" panose="02040503050406030204" pitchFamily="18" charset="0"/>
                  </a:rPr>
                  <a:t>$AB=18$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parts </a:t>
                </a:r>
                <a:r>
                  <a:rPr lang="en-IN" sz="2400">
                    <a:solidFill>
                      <a:srgbClr val="111827"/>
                    </a:solidFill>
                    <a:latin typeface="Cambria Math" panose="02040503050406030204" pitchFamily="18" charset="0"/>
                  </a:rPr>
                  <a:t>$AD$</a:t>
                </a:r>
                <a:r>
                  <a:rPr sz="2400" b="0">
                    <a:solidFill>
                      <a:srgbClr val="111827"/>
                    </a:solidFill>
                    <a:latin typeface="Arial"/>
                  </a:rPr>
                  <a:t> and </a:t>
                </a:r>
                <a:r>
                  <a:rPr lang="en-IN" sz="2400">
                    <a:solidFill>
                      <a:srgbClr val="111827"/>
                    </a:solidFill>
                    <a:latin typeface="Cambria Math" panose="02040503050406030204" pitchFamily="18" charset="0"/>
                  </a:rPr>
                  <a:t>$DC$</a:t>
                </a:r>
                <a:r>
                  <a:rPr sz="2400" b="0">
                    <a:solidFill>
                      <a:srgbClr val="111827"/>
                    </a:solidFill>
                    <a:latin typeface="Arial"/>
                  </a:rPr>
                  <a:t> subtend equal angles </a:t>
                </a:r>
                <a:r>
                  <a:rPr lang="en-IN" sz="2400">
                    <a:solidFill>
                      <a:srgbClr val="111827"/>
                    </a:solidFill>
                    <a:latin typeface="Cambria Math" panose="02040503050406030204" pitchFamily="18" charset="0"/>
                  </a:rPr>
                  <a:t>$\alpha$</a:t>
                </a:r>
                <a:r>
                  <a:rPr sz="2400" b="0">
                    <a:solidFill>
                      <a:srgbClr val="111827"/>
                    </a:solidFill>
                    <a:latin typeface="Arial"/>
                  </a:rPr>
                  <a:t> at </a:t>
                </a:r>
                <a:r>
                  <a:rPr lang="en-IN" sz="2400">
                    <a:solidFill>
                      <a:srgbClr val="111827"/>
                    </a:solidFill>
                    <a:latin typeface="Cambria Math" panose="02040503050406030204" pitchFamily="18" charset="0"/>
                  </a:rPr>
                  <a:t>$B$</a:t>
                </a:r>
                <a:r>
                  <a:rPr sz="2400" b="0">
                    <a:solidFill>
                      <a:srgbClr val="111827"/>
                    </a:solidFill>
                    <a:latin typeface="Arial"/>
                  </a:rPr>
                  <a:t>, so </a:t>
                </a:r>
                <a:r>
                  <a:rPr lang="en-IN" sz="2400">
                    <a:solidFill>
                      <a:srgbClr val="111827"/>
                    </a:solidFill>
                    <a:latin typeface="Cambria Math" panose="02040503050406030204" pitchFamily="18" charset="0"/>
                  </a:rPr>
                  <a:t>$BD$</a:t>
                </a:r>
                <a:r>
                  <a:rPr sz="2400" b="0">
                    <a:solidFill>
                      <a:srgbClr val="111827"/>
                    </a:solidFill>
                    <a:latin typeface="Arial"/>
                  </a:rPr>
                  <a:t> bisects </a:t>
                </a:r>
                <a:r>
                  <a:rPr lang="en-IN" sz="2400">
                    <a:solidFill>
                      <a:srgbClr val="111827"/>
                    </a:solidFill>
                    <a:latin typeface="Cambria Math" panose="02040503050406030204" pitchFamily="18" charset="0"/>
                  </a:rPr>
                  <a:t>$\angle 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angle bisector theorem: </a:t>
                </a:r>
                <a:r>
                  <a:rPr lang="en-IN" sz="2400">
                    <a:solidFill>
                      <a:srgbClr val="111827"/>
                    </a:solidFill>
                    <a:latin typeface="Cambria Math" panose="02040503050406030204" pitchFamily="18" charset="0"/>
                  </a:rPr>
                  <a:t>$\dfrac{BC}{BA}=\dfrac{CD}{AD}=\dfrac73$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42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1440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m,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$BC=\dfrac73\times18=42$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$ABC$</a:t>
                </a:r>
                <a:r>
                  <a:rPr sz="2400" b="0">
                    <a:solidFill>
                      <a:srgbClr val="111827"/>
                    </a:solidFill>
                    <a:latin typeface="Arial"/>
                  </a:rPr>
                  <a:t> (right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$AC=\sqrt{BC^2-AB^2}$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$AC=\sqrt{42^2-18^2}=\sqrt{1764-324}=\sqrt{1440}=12\sqrt{10}$</a:t>
                </a:r>
                <a:r>
                  <a:rPr sz="2400" b="0">
                    <a:solidFill>
                      <a:srgbClr val="111827"/>
                    </a:solidFill>
                    <a:latin typeface="Arial"/>
                  </a:rPr>
                  <a:t> m,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12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10</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$12\sqrt{10}$</a:t>
                </a:r>
                <a:endParaRPr sz="2800">
                  <a:solidFill>
                    <a:srgbClr val="15803D"/>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oMath>
                </a14:m>
                <a:r>
                  <a:rPr sz="2400" b="0">
                    <a:solidFill>
                      <a:srgbClr val="78350F"/>
                    </a:solidFill>
                    <a:latin typeface="Arial"/>
                  </a:rPr>
                  <a:t> for the whole pole against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α</m:t>
                    </m:r>
                  </m:oMath>
                </a14:m>
                <a:r>
                  <a:rPr sz="2400" b="0">
                    <a:solidFill>
                      <a:srgbClr val="78350F"/>
                    </a:solidFill>
                    <a:latin typeface="Arial"/>
                  </a:rPr>
                  <a:t> for the lower part.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$\tan2\alpha$</a:t>
                </a:r>
                <a:r>
                  <a:rPr sz="2400" b="0">
                    <a:solidFill>
                      <a:srgbClr val="78350F"/>
                    </a:solidFill>
                    <a:latin typeface="Arial"/>
                  </a:rPr>
                  <a:t> for the whole pole against </a:t>
                </a:r>
                <a:r>
                  <a:rPr lang="en-IN" sz="2400">
                    <a:solidFill>
                      <a:srgbClr val="78350F"/>
                    </a:solidFill>
                    <a:latin typeface="Cambria Math" panose="02040503050406030204" pitchFamily="18" charset="0"/>
                  </a:rPr>
                  <a:t>$\tan\alpha$</a:t>
                </a:r>
                <a:r>
                  <a:rPr sz="2400" b="0">
                    <a:solidFill>
                      <a:srgbClr val="78350F"/>
                    </a:solidFill>
                    <a:latin typeface="Arial"/>
                  </a:rPr>
                  <a:t> for the lower 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lower part be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and the whole pole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oMath>
                </a14:m>
                <a:r>
                  <a:rPr sz="2400" b="0">
                    <a:solidFill>
                      <a:srgbClr val="111827"/>
                    </a:solidFill>
                    <a:latin typeface="Arial"/>
                  </a:rPr>
                  <a:t>; the lower part subtends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the whole pole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lower part be </a:t>
                </a:r>
                <a:r>
                  <a:rPr lang="en-IN" sz="2400">
                    <a:solidFill>
                      <a:srgbClr val="111827"/>
                    </a:solidFill>
                    <a:latin typeface="Cambria Math" panose="02040503050406030204" pitchFamily="18" charset="0"/>
                  </a:rPr>
                  <a:t>$3x$</a:t>
                </a:r>
                <a:r>
                  <a:rPr sz="2400" b="0">
                    <a:solidFill>
                      <a:srgbClr val="111827"/>
                    </a:solidFill>
                    <a:latin typeface="Arial"/>
                  </a:rPr>
                  <a:t> and the whole pole </a:t>
                </a:r>
                <a:r>
                  <a:rPr lang="en-IN" sz="2400">
                    <a:solidFill>
                      <a:srgbClr val="111827"/>
                    </a:solidFill>
                    <a:latin typeface="Cambria Math" panose="02040503050406030204" pitchFamily="18" charset="0"/>
                  </a:rPr>
                  <a:t>$10x$</a:t>
                </a:r>
                <a:r>
                  <a:rPr sz="2400" b="0">
                    <a:solidFill>
                      <a:srgbClr val="111827"/>
                    </a:solidFill>
                    <a:latin typeface="Arial"/>
                  </a:rPr>
                  <a:t>; the lower part subtends </a:t>
                </a:r>
                <a:r>
                  <a:rPr lang="en-IN" sz="2400">
                    <a:solidFill>
                      <a:srgbClr val="111827"/>
                    </a:solidFill>
                    <a:latin typeface="Cambria Math" panose="02040503050406030204" pitchFamily="18" charset="0"/>
                  </a:rPr>
                  <a:t>$\alpha$</a:t>
                </a:r>
                <a:r>
                  <a:rPr sz="2400" b="0">
                    <a:solidFill>
                      <a:srgbClr val="111827"/>
                    </a:solidFill>
                    <a:latin typeface="Arial"/>
                  </a:rPr>
                  <a:t> and the whole pole </a:t>
                </a:r>
                <a:r>
                  <a:rPr lang="en-IN" sz="2400">
                    <a:solidFill>
                      <a:srgbClr val="111827"/>
                    </a:solidFill>
                    <a:latin typeface="Cambria Math" panose="02040503050406030204" pitchFamily="18" charset="0"/>
                  </a:rPr>
                  <a:t>$2\alpha$</a:t>
                </a:r>
                <a:r>
                  <a:rPr sz="2400" b="0">
                    <a:solidFill>
                      <a:srgbClr val="111827"/>
                    </a:solidFill>
                    <a:latin typeface="Arial"/>
                  </a:rPr>
                  <a:t> at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$\tan\alpha=\dfrac{3x}{18}=\dfrac{x}{6}$</a:t>
                </a:r>
                <a:r>
                  <a:rPr sz="2400" b="0">
                    <a:solidFill>
                      <a:srgbClr val="111827"/>
                    </a:solidFill>
                    <a:latin typeface="Arial"/>
                  </a:rPr>
                  <a:t> and </a:t>
                </a:r>
                <a:r>
                  <a:rPr lang="en-IN" sz="2400">
                    <a:solidFill>
                      <a:srgbClr val="111827"/>
                    </a:solidFill>
                    <a:latin typeface="Cambria Math" panose="02040503050406030204" pitchFamily="18" charset="0"/>
                  </a:rPr>
                  <a:t>$\tan2\alpha=\dfrac{10x}{18}=\dfrac{5x}{9}$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$\tan2\alpha=\dfrac{2\tan\alpha}{1-\tan^2\alpha}$</a:t>
                </a:r>
                <a:r>
                  <a:rPr sz="2400" b="0">
                    <a:solidFill>
                      <a:srgbClr val="111827"/>
                    </a:solidFill>
                    <a:latin typeface="Arial"/>
                  </a:rPr>
                  <a:t>: </a:t>
                </a:r>
                <a:r>
                  <a:rPr lang="en-IN" sz="2400">
                    <a:solidFill>
                      <a:srgbClr val="111827"/>
                    </a:solidFill>
                    <a:latin typeface="Cambria Math" panose="02040503050406030204" pitchFamily="18" charset="0"/>
                  </a:rPr>
                  <a:t>$\dfrac{5x}{9}=\dfrac{x/3}{1-x^2/36}$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m:t>
                            </m:r>
                          </m:num>
                          <m:den>
                            <m:r>
                              <a:rPr lang="en-IN" sz="2400" i="1">
                                <a:solidFill>
                                  <a:srgbClr val="111827"/>
                                </a:solidFill>
                                <a:latin typeface="Cambria Math" panose="02040503050406030204" pitchFamily="18" charset="0"/>
                              </a:rPr>
                              <m:t>5</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m.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$\dfrac59=\dfrac{12}{36-x^2}$</a:t>
                </a:r>
                <a:r>
                  <a:rPr sz="2400" b="0">
                    <a:solidFill>
                      <a:srgbClr val="111827"/>
                    </a:solidFill>
                    <a:latin typeface="Arial"/>
                  </a:rPr>
                  <a:t>, so </a:t>
                </a:r>
                <a:r>
                  <a:rPr lang="en-IN" sz="2400">
                    <a:solidFill>
                      <a:srgbClr val="111827"/>
                    </a:solidFill>
                    <a:latin typeface="Cambria Math" panose="02040503050406030204" pitchFamily="18" charset="0"/>
                  </a:rPr>
                  <a:t>$5(36-x^2)=108$</a:t>
                </a:r>
                <a:r>
                  <a:rPr sz="2400" b="0">
                    <a:solidFill>
                      <a:srgbClr val="111827"/>
                    </a:solidFill>
                    <a:latin typeface="Arial"/>
                  </a:rPr>
                  <a:t> and </a:t>
                </a:r>
                <a:r>
                  <a:rPr lang="en-IN" sz="2400">
                    <a:solidFill>
                      <a:srgbClr val="111827"/>
                    </a:solidFill>
                    <a:latin typeface="Cambria Math" panose="02040503050406030204" pitchFamily="18" charset="0"/>
                  </a:rPr>
                  <a:t>$x^2=\dfrac{72}{5}$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r>
                  <a:rPr lang="en-IN" sz="2400">
                    <a:solidFill>
                      <a:srgbClr val="111827"/>
                    </a:solidFill>
                    <a:latin typeface="Cambria Math" panose="02040503050406030204" pitchFamily="18" charset="0"/>
                  </a:rPr>
                  <a:t>$=10x=10\sqrt{\dfrac{72}{5}}=10\cdot\dfrac{6\sqrt{10}}{5}=12\sqrt{10}$</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12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10</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$12\sqrt{10}$</a:t>
                </a:r>
                <a:endParaRPr sz="2800">
                  <a:solidFill>
                    <a:srgbClr val="15803D"/>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segment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and a point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on it subtend equal angles at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𝑀</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pole divided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(lower : upper,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𝑚</m:t>
                    </m:r>
                  </m:oMath>
                </a14:m>
                <a:r>
                  <a:rPr sz="2400" b="0">
                    <a:solidFill>
                      <a:srgbClr val="111827"/>
                    </a:solidFill>
                    <a:latin typeface="Arial"/>
                  </a:rPr>
                  <a:t>) with equal angles at a point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from the base, the distance to the top is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and the height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𝑚</m:t>
                        </m:r>
                      </m:den>
                    </m:f>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(upper part not longer than the lower) no such point exists.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segment </a:t>
                </a:r>
                <a:r>
                  <a:rPr lang="en-IN" sz="2400">
                    <a:solidFill>
                      <a:srgbClr val="111827"/>
                    </a:solidFill>
                    <a:latin typeface="Cambria Math" panose="02040503050406030204" pitchFamily="18" charset="0"/>
                  </a:rPr>
                  <a:t>$PQ$</a:t>
                </a:r>
                <a:r>
                  <a:rPr sz="2400" b="0">
                    <a:solidFill>
                      <a:srgbClr val="111827"/>
                    </a:solidFill>
                    <a:latin typeface="Arial"/>
                  </a:rPr>
                  <a:t> and a point </a:t>
                </a:r>
                <a:r>
                  <a:rPr lang="en-IN" sz="2400">
                    <a:solidFill>
                      <a:srgbClr val="111827"/>
                    </a:solidFill>
                    <a:latin typeface="Cambria Math" panose="02040503050406030204" pitchFamily="18" charset="0"/>
                  </a:rPr>
                  <a:t>$M$</a:t>
                </a:r>
                <a:r>
                  <a:rPr sz="2400" b="0">
                    <a:solidFill>
                      <a:srgbClr val="111827"/>
                    </a:solidFill>
                    <a:latin typeface="Arial"/>
                  </a:rPr>
                  <a:t> on it subtend equal angles at </a:t>
                </a:r>
                <a:r>
                  <a:rPr lang="en-IN" sz="2400">
                    <a:solidFill>
                      <a:srgbClr val="111827"/>
                    </a:solidFill>
                    <a:latin typeface="Cambria Math" panose="02040503050406030204" pitchFamily="18" charset="0"/>
                  </a:rPr>
                  <a:t>$O$</a:t>
                </a:r>
                <a:r>
                  <a:rPr sz="2400" b="0">
                    <a:solidFill>
                      <a:srgbClr val="111827"/>
                    </a:solidFill>
                    <a:latin typeface="Arial"/>
                  </a:rPr>
                  <a:t> exactly when </a:t>
                </a:r>
                <a:r>
                  <a:rPr lang="en-IN" sz="2400">
                    <a:solidFill>
                      <a:srgbClr val="111827"/>
                    </a:solidFill>
                    <a:latin typeface="Cambria Math" panose="02040503050406030204" pitchFamily="18" charset="0"/>
                  </a:rPr>
                  <a:t>$OM$</a:t>
                </a:r>
                <a:r>
                  <a:rPr sz="2400" b="0">
                    <a:solidFill>
                      <a:srgbClr val="111827"/>
                    </a:solidFill>
                    <a:latin typeface="Arial"/>
                  </a:rPr>
                  <a:t> bisects </a:t>
                </a:r>
                <a:r>
                  <a:rPr lang="en-IN" sz="2400">
                    <a:solidFill>
                      <a:srgbClr val="111827"/>
                    </a:solidFill>
                    <a:latin typeface="Cambria Math" panose="02040503050406030204" pitchFamily="18" charset="0"/>
                  </a:rPr>
                  <a:t>$\angle POQ$</a:t>
                </a:r>
                <a:r>
                  <a:rPr sz="2400" b="0">
                    <a:solidFill>
                      <a:srgbClr val="111827"/>
                    </a:solidFill>
                    <a:latin typeface="Arial"/>
                  </a:rPr>
                  <a:t>; then </a:t>
                </a:r>
                <a:r>
                  <a:rPr lang="en-IN" sz="2400">
                    <a:solidFill>
                      <a:srgbClr val="111827"/>
                    </a:solidFill>
                    <a:latin typeface="Cambria Math" panose="02040503050406030204" pitchFamily="18" charset="0"/>
                  </a:rPr>
                  <a:t>$PM:MQ=OP:OQ$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pole divided </a:t>
                </a:r>
                <a:r>
                  <a:rPr lang="en-IN" sz="2400">
                    <a:solidFill>
                      <a:srgbClr val="111827"/>
                    </a:solidFill>
                    <a:latin typeface="Cambria Math" panose="02040503050406030204" pitchFamily="18" charset="0"/>
                  </a:rPr>
                  <a:t>$m:n$</a:t>
                </a:r>
                <a:r>
                  <a:rPr sz="2400" b="0">
                    <a:solidFill>
                      <a:srgbClr val="111827"/>
                    </a:solidFill>
                    <a:latin typeface="Arial"/>
                  </a:rPr>
                  <a:t> (lower : upper, </a:t>
                </a:r>
                <a:r>
                  <a:rPr lang="en-IN" sz="2400">
                    <a:solidFill>
                      <a:srgbClr val="111827"/>
                    </a:solidFill>
                    <a:latin typeface="Cambria Math" panose="02040503050406030204" pitchFamily="18" charset="0"/>
                  </a:rPr>
                  <a:t>$n&gt;m$</a:t>
                </a:r>
                <a:r>
                  <a:rPr sz="2400" b="0">
                    <a:solidFill>
                      <a:srgbClr val="111827"/>
                    </a:solidFill>
                    <a:latin typeface="Arial"/>
                  </a:rPr>
                  <a:t>) with equal angles at a point </a:t>
                </a:r>
                <a:r>
                  <a:rPr lang="en-IN" sz="2400">
                    <a:solidFill>
                      <a:srgbClr val="111827"/>
                    </a:solidFill>
                    <a:latin typeface="Cambria Math" panose="02040503050406030204" pitchFamily="18" charset="0"/>
                  </a:rPr>
                  <a:t>$d$</a:t>
                </a:r>
                <a:r>
                  <a:rPr sz="2400" b="0">
                    <a:solidFill>
                      <a:srgbClr val="111827"/>
                    </a:solidFill>
                    <a:latin typeface="Arial"/>
                  </a:rPr>
                  <a:t> from the base, the distance to the top is </a:t>
                </a:r>
                <a:r>
                  <a:rPr lang="en-IN" sz="2400">
                    <a:solidFill>
                      <a:srgbClr val="111827"/>
                    </a:solidFill>
                    <a:latin typeface="Cambria Math" panose="02040503050406030204" pitchFamily="18" charset="0"/>
                  </a:rPr>
                  <a:t>$d\,\dfrac nm$</a:t>
                </a:r>
                <a:r>
                  <a:rPr sz="2400" b="0">
                    <a:solidFill>
                      <a:srgbClr val="111827"/>
                    </a:solidFill>
                    <a:latin typeface="Arial"/>
                  </a:rPr>
                  <a:t> and the height is </a:t>
                </a:r>
                <a:r>
                  <a:rPr lang="en-IN" sz="2400">
                    <a:solidFill>
                      <a:srgbClr val="111827"/>
                    </a:solidFill>
                    <a:latin typeface="Cambria Math" panose="02040503050406030204" pitchFamily="18" charset="0"/>
                  </a:rPr>
                  <a:t>$\dfrac{d}{m}\sqrt{n^2-m^2}$</a:t>
                </a:r>
                <a:r>
                  <a:rPr sz="2400" b="0">
                    <a:solidFill>
                      <a:srgbClr val="111827"/>
                    </a:solidFill>
                    <a:latin typeface="Arial"/>
                  </a:rPr>
                  <a:t>. Here </a:t>
                </a:r>
                <a:r>
                  <a:rPr lang="en-IN" sz="2400">
                    <a:solidFill>
                      <a:srgbClr val="111827"/>
                    </a:solidFill>
                    <a:latin typeface="Cambria Math" panose="02040503050406030204" pitchFamily="18" charset="0"/>
                  </a:rPr>
                  <a:t>$\dfrac{18}{3}\sqrt{49-9}=12\sqrt{10}$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$n\le m$</a:t>
                </a:r>
                <a:r>
                  <a:rPr sz="2400" b="0">
                    <a:solidFill>
                      <a:srgbClr val="111827"/>
                    </a:solidFill>
                    <a:latin typeface="Arial"/>
                  </a:rPr>
                  <a:t> (upper part not longer than the lower) no such point exists.</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be two vertical poles, </a:t>
                </a:r>
                <a14:m>
                  <m:oMath xmlns:m="http://schemas.openxmlformats.org/officeDocument/2006/math">
                    <m:r>
                      <a:rPr lang="en-IN" sz="2400" i="1">
                        <a:solidFill>
                          <a:srgbClr val="111827"/>
                        </a:solidFill>
                        <a:latin typeface="Cambria Math" panose="02040503050406030204" pitchFamily="18" charset="0"/>
                      </a:rPr>
                      <m:t>160</m:t>
                    </m:r>
                  </m:oMath>
                </a14:m>
                <a:r>
                  <a:rPr sz="2400" b="0">
                    <a:solidFill>
                      <a:srgbClr val="111827"/>
                    </a:solidFill>
                    <a:latin typeface="Arial"/>
                  </a:rPr>
                  <a:t> m apart from each other. Let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be the middle point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which are feet of these two poles. Let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 the angles of elevation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respectively. If the height of pole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twice the height of pole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$PQ$</a:t>
                </a:r>
                <a:r>
                  <a:rPr sz="2400" b="0">
                    <a:solidFill>
                      <a:srgbClr val="111827"/>
                    </a:solidFill>
                    <a:latin typeface="Arial"/>
                  </a:rPr>
                  <a:t> be two vertical poles, </a:t>
                </a:r>
                <a:r>
                  <a:rPr lang="en-IN" sz="2400">
                    <a:solidFill>
                      <a:srgbClr val="111827"/>
                    </a:solidFill>
                    <a:latin typeface="Cambria Math" panose="02040503050406030204" pitchFamily="18" charset="0"/>
                  </a:rPr>
                  <a:t>$160$</a:t>
                </a:r>
                <a:r>
                  <a:rPr sz="2400" b="0">
                    <a:solidFill>
                      <a:srgbClr val="111827"/>
                    </a:solidFill>
                    <a:latin typeface="Arial"/>
                  </a:rPr>
                  <a:t> m apart from each other. Let </a:t>
                </a:r>
                <a:r>
                  <a:rPr lang="en-IN" sz="2400">
                    <a:solidFill>
                      <a:srgbClr val="111827"/>
                    </a:solidFill>
                    <a:latin typeface="Cambria Math" panose="02040503050406030204" pitchFamily="18" charset="0"/>
                  </a:rPr>
                  <a:t>$C$</a:t>
                </a:r>
                <a:r>
                  <a:rPr sz="2400" b="0">
                    <a:solidFill>
                      <a:srgbClr val="111827"/>
                    </a:solidFill>
                    <a:latin typeface="Arial"/>
                  </a:rPr>
                  <a:t> be the middle point of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which are feet of these two poles. Let </a:t>
                </a:r>
                <a:r>
                  <a:rPr lang="en-IN" sz="2400">
                    <a:solidFill>
                      <a:srgbClr val="111827"/>
                    </a:solidFill>
                    <a:latin typeface="Cambria Math" panose="02040503050406030204" pitchFamily="18" charset="0"/>
                  </a:rPr>
                  <a:t>$\dfrac{\pi}{8}$</a:t>
                </a:r>
                <a:r>
                  <a:rPr sz="2400" b="0">
                    <a:solidFill>
                      <a:srgbClr val="111827"/>
                    </a:solidFill>
                    <a:latin typeface="Arial"/>
                  </a:rPr>
                  <a:t> and </a:t>
                </a:r>
                <a:r>
                  <a:rPr lang="en-IN" sz="2400">
                    <a:solidFill>
                      <a:srgbClr val="111827"/>
                    </a:solidFill>
                    <a:latin typeface="Cambria Math" panose="02040503050406030204" pitchFamily="18" charset="0"/>
                  </a:rPr>
                  <a:t>$\theta$</a:t>
                </a:r>
                <a:r>
                  <a:rPr sz="2400" b="0">
                    <a:solidFill>
                      <a:srgbClr val="111827"/>
                    </a:solidFill>
                    <a:latin typeface="Arial"/>
                  </a:rPr>
                  <a:t> be the angles of elevation from </a:t>
                </a:r>
                <a:r>
                  <a:rPr lang="en-IN" sz="2400">
                    <a:solidFill>
                      <a:srgbClr val="111827"/>
                    </a:solidFill>
                    <a:latin typeface="Cambria Math" panose="02040503050406030204" pitchFamily="18" charset="0"/>
                  </a:rPr>
                  <a:t>$C$</a:t>
                </a:r>
                <a:r>
                  <a:rPr sz="2400" b="0">
                    <a:solidFill>
                      <a:srgbClr val="111827"/>
                    </a:solidFill>
                    <a:latin typeface="Arial"/>
                  </a:rPr>
                  <a:t> to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 respectively. If the height of pole </a:t>
                </a:r>
                <a:r>
                  <a:rPr lang="en-IN" sz="2400">
                    <a:solidFill>
                      <a:srgbClr val="111827"/>
                    </a:solidFill>
                    <a:latin typeface="Cambria Math" panose="02040503050406030204" pitchFamily="18" charset="0"/>
                  </a:rPr>
                  <a:t>$PQ$</a:t>
                </a:r>
                <a:r>
                  <a:rPr sz="2400" b="0">
                    <a:solidFill>
                      <a:srgbClr val="111827"/>
                    </a:solidFill>
                    <a:latin typeface="Arial"/>
                  </a:rPr>
                  <a:t> is twice the height of pole </a:t>
                </a:r>
                <a:r>
                  <a:rPr lang="en-IN" sz="2400">
                    <a:solidFill>
                      <a:srgbClr val="111827"/>
                    </a:solidFill>
                    <a:latin typeface="Cambria Math" panose="02040503050406030204" pitchFamily="18" charset="0"/>
                  </a:rPr>
                  <a:t>$AB$</a:t>
                </a:r>
                <a:r>
                  <a:rPr sz="2400" b="0">
                    <a:solidFill>
                      <a:srgbClr val="111827"/>
                    </a:solidFill>
                    <a:latin typeface="Arial"/>
                  </a:rPr>
                  <a:t>, then </a:t>
                </a:r>
                <a:r>
                  <a:rPr lang="en-IN" sz="2400">
                    <a:solidFill>
                      <a:srgbClr val="111827"/>
                    </a:solidFill>
                    <a:latin typeface="Cambria Math" panose="02040503050406030204" pitchFamily="18" charset="0"/>
                  </a:rPr>
                  <a:t>$\tan^2\theta$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$\dfrac{3-2\sqrt2}{2}$</a:t>
                </a:r>
                <a:r>
                  <a:rPr sz="2400" b="0">
                    <a:solidFill>
                      <a:srgbClr val="111827"/>
                    </a:solidFill>
                    <a:latin typeface="Arial"/>
                  </a:rPr>
                  <a:t>   (B) </a:t>
                </a:r>
                <a:r>
                  <a:rPr lang="en-IN" sz="2400">
                    <a:solidFill>
                      <a:srgbClr val="111827"/>
                    </a:solidFill>
                    <a:latin typeface="Cambria Math" panose="02040503050406030204" pitchFamily="18" charset="0"/>
                  </a:rPr>
                  <a:t>$\dfrac{3+\sqrt2}{2}$</a:t>
                </a:r>
                <a:r>
                  <a:rPr sz="2400" b="0">
                    <a:solidFill>
                      <a:srgbClr val="111827"/>
                    </a:solidFill>
                    <a:latin typeface="Arial"/>
                  </a:rPr>
                  <a:t>   (C) </a:t>
                </a:r>
                <a:r>
                  <a:rPr lang="en-IN" sz="2400">
                    <a:solidFill>
                      <a:srgbClr val="111827"/>
                    </a:solidFill>
                    <a:latin typeface="Cambria Math" panose="02040503050406030204" pitchFamily="18" charset="0"/>
                  </a:rPr>
                  <a:t>$\dfrac{3-2\sqrt2}{4}$</a:t>
                </a:r>
                <a:r>
                  <a:rPr sz="2400" b="0">
                    <a:solidFill>
                      <a:srgbClr val="111827"/>
                    </a:solidFill>
                    <a:latin typeface="Arial"/>
                  </a:rPr>
                  <a:t>   (D) </a:t>
                </a:r>
                <a:r>
                  <a:rPr lang="en-IN" sz="2400">
                    <a:solidFill>
                      <a:srgbClr val="111827"/>
                    </a:solidFill>
                    <a:latin typeface="Cambria Math" panose="02040503050406030204" pitchFamily="18" charset="0"/>
                  </a:rPr>
                  <a:t>$\dfrac{3-\sqrt2}{4}$</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543552"/>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of elevation of two poles (heights and distances), Values of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(half-angle formula)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4543552"/>
                <a:ext cx="10725912" cy="20848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of elevation of two poles (heights and distances), Values of </a:t>
                </a:r>
                <a:r>
                  <a:rPr lang="en-IN" sz="2400">
                    <a:solidFill>
                      <a:srgbClr val="111827"/>
                    </a:solidFill>
                    <a:latin typeface="Cambria Math" panose="02040503050406030204" pitchFamily="18" charset="0"/>
                  </a:rPr>
                  <a:t>$\tan\dfrac{\pi}{8}$</a:t>
                </a:r>
                <a:r>
                  <a:rPr sz="2400" b="0">
                    <a:solidFill>
                      <a:srgbClr val="111827"/>
                    </a:solidFill>
                    <a:latin typeface="Arial"/>
                  </a:rPr>
                  <a:t> (half-angle formula)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𝑄</m:t>
                    </m:r>
                  </m:oMath>
                </a14:m>
                <a:r>
                  <a:rPr sz="2400" b="0">
                    <a:solidFill>
                      <a:srgbClr val="78350F"/>
                    </a:solidFill>
                    <a:latin typeface="Arial"/>
                  </a:rPr>
                  <a:t>, the heights are in the ratio of the tangents of the elevations: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lin"/>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tan</m:t>
                    </m:r>
                    <m:f>
                      <m:fPr>
                        <m:type m:val="lin"/>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8</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$BC=CQ$</a:t>
                </a:r>
                <a:r>
                  <a:rPr sz="2400" b="0">
                    <a:solidFill>
                      <a:srgbClr val="78350F"/>
                    </a:solidFill>
                    <a:latin typeface="Arial"/>
                  </a:rPr>
                  <a:t>, the heights are in the ratio of the tangents of the elevations: </a:t>
                </a:r>
                <a:r>
                  <a:rPr lang="en-IN" sz="2400">
                    <a:solidFill>
                      <a:srgbClr val="78350F"/>
                    </a:solidFill>
                    <a:latin typeface="Cambria Math" panose="02040503050406030204" pitchFamily="18" charset="0"/>
                  </a:rPr>
                  <a:t>$\tan\theta=\tfrac12\tan\tfrac\pi8$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𝑄</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den>
                    </m:f>
                  </m:oMath>
                </a14:m>
                <a:r>
                  <a:rPr sz="2400" b="0">
                    <a:solidFill>
                      <a:srgbClr val="111827"/>
                    </a:solidFill>
                    <a:latin typeface="Arial"/>
                  </a:rPr>
                  <a:t> ...(2) (the same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$AB=x$</a:t>
                </a:r>
                <a:r>
                  <a:rPr sz="2400" b="0">
                    <a:solidFill>
                      <a:srgbClr val="111827"/>
                    </a:solidFill>
                    <a:latin typeface="Arial"/>
                  </a:rPr>
                  <a:t> and </a:t>
                </a:r>
                <a:r>
                  <a:rPr lang="en-IN" sz="2400">
                    <a:solidFill>
                      <a:srgbClr val="111827"/>
                    </a:solidFill>
                    <a:latin typeface="Cambria Math" panose="02040503050406030204" pitchFamily="18" charset="0"/>
                  </a:rPr>
                  <a:t>$PQ=2x$</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is the midpoint of </a:t>
                </a:r>
                <a:r>
                  <a:rPr lang="en-IN" sz="2400">
                    <a:solidFill>
                      <a:srgbClr val="111827"/>
                    </a:solidFill>
                    <a:latin typeface="Cambria Math" panose="02040503050406030204" pitchFamily="18" charset="0"/>
                  </a:rPr>
                  <a:t>$BQ$</a:t>
                </a:r>
                <a:r>
                  <a:rPr sz="2400" b="0">
                    <a:solidFill>
                      <a:srgbClr val="111827"/>
                    </a:solidFill>
                    <a:latin typeface="Arial"/>
                  </a:rPr>
                  <a:t>, so </a:t>
                </a:r>
                <a:r>
                  <a:rPr lang="en-IN" sz="2400">
                    <a:solidFill>
                      <a:srgbClr val="111827"/>
                    </a:solidFill>
                    <a:latin typeface="Cambria Math" panose="02040503050406030204" pitchFamily="18" charset="0"/>
                  </a:rPr>
                  <a:t>$BC=CQ=80$</a:t>
                </a:r>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$\tan\theta=\dfrac{x}{BC}$</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$\tan\dfrac{\pi}{8}=\dfrac{2x}{BC}$</a:t>
                </a:r>
                <a:r>
                  <a:rPr sz="2400" b="0">
                    <a:solidFill>
                      <a:srgbClr val="111827"/>
                    </a:solidFill>
                    <a:latin typeface="Arial"/>
                  </a:rPr>
                  <a:t> ...(2) (the same </a:t>
                </a:r>
                <a:r>
                  <a:rPr lang="en-IN" sz="2400">
                    <a:solidFill>
                      <a:srgbClr val="111827"/>
                    </a:solidFill>
                    <a:latin typeface="Cambria Math" panose="02040503050406030204" pitchFamily="18" charset="0"/>
                  </a:rPr>
                  <a:t>$BC$</a:t>
                </a:r>
                <a:r>
                  <a:rPr sz="2400" b="0">
                    <a:solidFill>
                      <a:srgbClr val="111827"/>
                    </a:solidFill>
                    <a:latin typeface="Arial"/>
                  </a:rPr>
                  <a:t>, because </a:t>
                </a:r>
                <a:r>
                  <a:rPr lang="en-IN" sz="2400">
                    <a:solidFill>
                      <a:srgbClr val="111827"/>
                    </a:solidFill>
                    <a:latin typeface="Cambria Math" panose="02040503050406030204" pitchFamily="18" charset="0"/>
                  </a:rPr>
                  <a:t>$CQ=BC$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(1) by (2):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(1) by (2): </a:t>
                </a:r>
                <a:r>
                  <a:rPr lang="en-IN" sz="2400">
                    <a:solidFill>
                      <a:srgbClr val="111827"/>
                    </a:solidFill>
                    <a:latin typeface="Cambria Math" panose="02040503050406030204" pitchFamily="18" charset="0"/>
                  </a:rPr>
                  <a:t>$\dfrac{\tan\theta}{\tan\frac{\pi}{8}}=\dfrac12$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$\tan\dfrac\pi8=\sqrt2-1$</a:t>
                </a:r>
                <a:r>
                  <a:rPr sz="2400" b="0">
                    <a:solidFill>
                      <a:srgbClr val="111827"/>
                    </a:solidFill>
                    <a:latin typeface="Arial"/>
                  </a:rPr>
                  <a:t>: </a:t>
                </a:r>
                <a:r>
                  <a:rPr lang="en-IN" sz="2400">
                    <a:solidFill>
                      <a:srgbClr val="111827"/>
                    </a:solidFill>
                    <a:latin typeface="Cambria Math" panose="02040503050406030204" pitchFamily="18" charset="0"/>
                  </a:rPr>
                  <a:t>$\tan\theta=\dfrac{\sqrt2-1}{2}$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$\tan^2\theta=\dfrac{(\sqrt2-1)^2}{4}=\dfrac{3-2\sqrt2}{4}$</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$\dfrac{3-2\sqrt2}{4}$</a:t>
                </a:r>
                <a:endParaRPr sz="2800">
                  <a:solidFill>
                    <a:srgbClr val="15803D"/>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Square the ratio first and use the half-angle identity </a:t>
                </a:r>
                <a14:m>
                  <m:oMath xmlns:m="http://schemas.openxmlformats.org/officeDocument/2006/math">
                    <m:sSup>
                      <m:e>
                        <m:r>
                          <m:rPr>
                            <m:sty m:val="p"/>
                          </m:rPr>
                          <a:rPr lang="en-IN" sz="2400">
                            <a:solidFill>
                              <a:srgbClr val="78350F"/>
                            </a:solidFill>
                            <a:latin typeface="Cambria Math" panose="02040503050406030204" pitchFamily="18" charset="0"/>
                          </a:rPr>
                          <m:t>tan</m:t>
                        </m:r>
                      </m:e>
                      <m:sup>
                        <m:r>
                          <a:rPr lang="en-IN" sz="2400" i="1">
                            <a:solidFill>
                              <a:srgbClr val="78350F"/>
                            </a:solidFill>
                            <a:latin typeface="Cambria Math" panose="02040503050406030204" pitchFamily="18" charset="0"/>
                          </a:rPr>
                          <m:t>2</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8</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den>
                    </m:f>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8</m:t>
                        </m:r>
                      </m:den>
                    </m:f>
                  </m:oMath>
                </a14:m>
                <a:r>
                  <a:rPr sz="2400" b="0">
                    <a:solidFill>
                      <a:srgbClr val="78350F"/>
                    </a:solidFill>
                    <a:latin typeface="Arial"/>
                  </a:rPr>
                  <a:t> itself is never needed.</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Square the ratio first and use the half-angle identity </a:t>
                </a:r>
                <a:r>
                  <a:rPr lang="en-IN" sz="2400">
                    <a:solidFill>
                      <a:srgbClr val="78350F"/>
                    </a:solidFill>
                    <a:latin typeface="Cambria Math" panose="02040503050406030204" pitchFamily="18" charset="0"/>
                  </a:rPr>
                  <a:t>$\tan^2\dfrac\pi8=\dfrac{1-\cos\frac\pi4}{1+\cos\frac\pi4}$</a:t>
                </a:r>
                <a:r>
                  <a:rPr sz="2400" b="0">
                    <a:solidFill>
                      <a:srgbClr val="78350F"/>
                    </a:solidFill>
                    <a:latin typeface="Arial"/>
                  </a:rPr>
                  <a:t>, so </a:t>
                </a:r>
                <a:r>
                  <a:rPr lang="en-IN" sz="2400">
                    <a:solidFill>
                      <a:srgbClr val="78350F"/>
                    </a:solidFill>
                    <a:latin typeface="Cambria Math" panose="02040503050406030204" pitchFamily="18" charset="0"/>
                  </a:rPr>
                  <a:t>$\tan\frac\pi8$</a:t>
                </a:r>
                <a:r>
                  <a:rPr sz="2400" b="0">
                    <a:solidFill>
                      <a:srgbClr val="78350F"/>
                    </a:solidFill>
                    <a:latin typeface="Arial"/>
                  </a:rPr>
                  <a:t> itself is never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$\tan\theta=\tfrac12\tan\dfrac\pi8$</a:t>
                </a:r>
                <a:r>
                  <a:rPr sz="2400" b="0">
                    <a:solidFill>
                      <a:srgbClr val="111827"/>
                    </a:solidFill>
                    <a:latin typeface="Arial"/>
                  </a:rPr>
                  <a:t>, so </a:t>
                </a:r>
                <a:r>
                  <a:rPr lang="en-IN" sz="2400">
                    <a:solidFill>
                      <a:srgbClr val="111827"/>
                    </a:solidFill>
                    <a:latin typeface="Cambria Math" panose="02040503050406030204" pitchFamily="18" charset="0"/>
                  </a:rPr>
                  <a:t>$\tan^2\theta=\tfrac14\tan^2\dfrac\pi8$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$\tan^2\dfrac\pi8=\dfrac{1-\cos\frac\pi4}{1+\cos\frac\pi4}=\dfrac{1-\frac{1}{\sqrt2}}{1+\frac1{\sqrt2}}=\dfrac{\sqrt2-1}{\sqrt2+1}=(\sqrt2-1)^2=3-2\sqrt2$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$\tan^2\theta=\dfrac{3-2\sqrt2}{4}$</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$\dfrac{3-2\sqrt2}{4}$</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same horizontal distance, heights are proportional to the tangents of the elevations: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num>
                      <m:den>
                        <m:r>
                          <m:rPr>
                            <m:sty m:val="p"/>
                          </m:rPr>
                          <a:rPr lang="en-IN" sz="2400">
                            <a:solidFill>
                              <a:srgbClr val="111827"/>
                            </a:solidFill>
                            <a:latin typeface="Cambria Math" panose="02040503050406030204" pitchFamily="18" charset="0"/>
                          </a:rPr>
                          <m:t>tan</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 </a:t>
                </a:r>
                <a14:m>
                  <m:oMath xmlns:m="http://schemas.openxmlformats.org/officeDocument/2006/math">
                    <m:r>
                      <a:rPr lang="en-IN" sz="2400" i="1">
                        <a:solidFill>
                          <a:srgbClr val="111827"/>
                        </a:solidFill>
                        <a:latin typeface="Cambria Math" panose="02040503050406030204" pitchFamily="18" charset="0"/>
                      </a:rPr>
                      <m:t>160</m:t>
                    </m:r>
                  </m:oMath>
                </a14:m>
                <a:r>
                  <a:rPr sz="2400" b="0">
                    <a:solidFill>
                      <a:srgbClr val="111827"/>
                    </a:solidFill>
                    <a:latin typeface="Arial"/>
                  </a:rPr>
                  <a:t> m is not needed: it cancels in the ratio. Check: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0.1716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the same horizontal distance, heights are proportional to the tangents of the elevations: </a:t>
                </a:r>
                <a:r>
                  <a:rPr lang="en-IN" sz="2400">
                    <a:solidFill>
                      <a:srgbClr val="111827"/>
                    </a:solidFill>
                    <a:latin typeface="Cambria Math" panose="02040503050406030204" pitchFamily="18" charset="0"/>
                  </a:rPr>
                  <a:t>$\dfrac{h_1}{h_2}=\dfrac{\tan\alpha_1}{\tan\alpha_2}$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$\tan\dfrac\pi8=\sqrt2-1$</a:t>
                </a:r>
                <a:r>
                  <a:rPr sz="2400" b="0">
                    <a:solidFill>
                      <a:srgbClr val="111827"/>
                    </a:solidFill>
                    <a:latin typeface="Arial"/>
                  </a:rPr>
                  <a:t>, </a:t>
                </a:r>
                <a:r>
                  <a:rPr lang="en-IN" sz="2400">
                    <a:solidFill>
                      <a:srgbClr val="111827"/>
                    </a:solidFill>
                    <a:latin typeface="Cambria Math" panose="02040503050406030204" pitchFamily="18" charset="0"/>
                  </a:rPr>
                  <a:t>$\tan\dfrac{\pi}{12}=2-\sqrt3$</a:t>
                </a:r>
                <a:r>
                  <a:rPr sz="2400" b="0">
                    <a:solidFill>
                      <a:srgbClr val="111827"/>
                    </a:solidFill>
                    <a:latin typeface="Arial"/>
                  </a:rPr>
                  <a:t>, </a:t>
                </a:r>
                <a:r>
                  <a:rPr lang="en-IN" sz="2400">
                    <a:solidFill>
                      <a:srgbClr val="111827"/>
                    </a:solidFill>
                    <a:latin typeface="Cambria Math" panose="02040503050406030204" pitchFamily="18" charset="0"/>
                  </a:rPr>
                  <a:t>$\tan\dfrac{3\pi}{8}=\sqrt2+1$</a:t>
                </a:r>
                <a:r>
                  <a:rPr sz="2400" b="0">
                    <a:solidFill>
                      <a:srgbClr val="111827"/>
                    </a:solidFill>
                    <a:latin typeface="Arial"/>
                  </a:rPr>
                  <a:t>, </a:t>
                </a:r>
                <a:r>
                  <a:rPr lang="en-IN" sz="2400">
                    <a:solidFill>
                      <a:srgbClr val="111827"/>
                    </a:solidFill>
                    <a:latin typeface="Cambria Math" panose="02040503050406030204" pitchFamily="18" charset="0"/>
                  </a:rPr>
                  <a:t>$\tan\dfrac{5\pi}{12}=2+\sqrt3$</a:t>
                </a:r>
                <a:r>
                  <a:rPr sz="2400" b="0">
                    <a:solidFill>
                      <a:srgbClr val="111827"/>
                    </a:solidFill>
                    <a:latin typeface="Arial"/>
                  </a:rPr>
                  <a:t> (from </a:t>
                </a:r>
                <a:r>
                  <a:rPr lang="en-IN" sz="2400">
                    <a:solidFill>
                      <a:srgbClr val="111827"/>
                    </a:solidFill>
                    <a:latin typeface="Cambria Math" panose="02040503050406030204" pitchFamily="18" charset="0"/>
                  </a:rPr>
                  <a:t>$\tan\dfrac x2=\dfrac{1-\cos x}{\sin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distance </a:t>
                </a:r>
                <a:r>
                  <a:rPr lang="en-IN" sz="2400">
                    <a:solidFill>
                      <a:srgbClr val="111827"/>
                    </a:solidFill>
                    <a:latin typeface="Cambria Math" panose="02040503050406030204" pitchFamily="18" charset="0"/>
                  </a:rPr>
                  <a:t>$160$</a:t>
                </a:r>
                <a:r>
                  <a:rPr sz="2400" b="0">
                    <a:solidFill>
                      <a:srgbClr val="111827"/>
                    </a:solidFill>
                    <a:latin typeface="Arial"/>
                  </a:rPr>
                  <a:t> m is not needed: it cancels in the ratio. Check: </a:t>
                </a:r>
                <a:r>
                  <a:rPr lang="en-IN" sz="2400">
                    <a:solidFill>
                      <a:srgbClr val="111827"/>
                    </a:solidFill>
                    <a:latin typeface="Cambria Math" panose="02040503050406030204" pitchFamily="18" charset="0"/>
                  </a:rPr>
                  <a:t>$(\sqrt2-1)^2\approx0.1716=3-2\sqrt2$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From the base of a pole of height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meter, the angle of elevation of the top of a tower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pole subtends an angle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the top of the tower. Then the height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30</m:t>
                    </m:r>
                  </m:oMath>
                </a14:m>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From the base of a pole of height </a:t>
                </a:r>
                <a:r>
                  <a:rPr lang="en-IN" sz="2400">
                    <a:solidFill>
                      <a:srgbClr val="111827"/>
                    </a:solidFill>
                    <a:latin typeface="Cambria Math" panose="02040503050406030204" pitchFamily="18" charset="0"/>
                  </a:rPr>
                  <a:t>$20$</a:t>
                </a:r>
                <a:r>
                  <a:rPr sz="2400" b="0">
                    <a:solidFill>
                      <a:srgbClr val="111827"/>
                    </a:solidFill>
                    <a:latin typeface="Arial"/>
                  </a:rPr>
                  <a:t> meter, the angle of elevation of the top of a tower is </a:t>
                </a:r>
                <a:r>
                  <a:rPr lang="en-IN" sz="2400">
                    <a:solidFill>
                      <a:srgbClr val="111827"/>
                    </a:solidFill>
                    <a:latin typeface="Cambria Math" panose="02040503050406030204" pitchFamily="18" charset="0"/>
                  </a:rPr>
                  <a:t>$60^\circ$</a:t>
                </a:r>
                <a:r>
                  <a:rPr sz="2400" b="0">
                    <a:solidFill>
                      <a:srgbClr val="111827"/>
                    </a:solidFill>
                    <a:latin typeface="Arial"/>
                  </a:rPr>
                  <a:t>. The pole subtends an angle </a:t>
                </a:r>
                <a:r>
                  <a:rPr lang="en-IN" sz="2400">
                    <a:solidFill>
                      <a:srgbClr val="111827"/>
                    </a:solidFill>
                    <a:latin typeface="Cambria Math" panose="02040503050406030204" pitchFamily="18" charset="0"/>
                  </a:rPr>
                  <a:t>$30^\circ$</a:t>
                </a:r>
                <a:r>
                  <a:rPr sz="2400" b="0">
                    <a:solidFill>
                      <a:srgbClr val="111827"/>
                    </a:solidFill>
                    <a:latin typeface="Arial"/>
                  </a:rPr>
                  <a:t> at the top of the tower. Then the height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$15\sqrt3$</a:t>
                </a:r>
                <a:r>
                  <a:rPr sz="2400" b="0">
                    <a:solidFill>
                      <a:srgbClr val="111827"/>
                    </a:solidFill>
                    <a:latin typeface="Arial"/>
                  </a:rPr>
                  <a:t>   (B) </a:t>
                </a:r>
                <a:r>
                  <a:rPr lang="en-IN" sz="2400">
                    <a:solidFill>
                      <a:srgbClr val="111827"/>
                    </a:solidFill>
                    <a:latin typeface="Cambria Math" panose="02040503050406030204" pitchFamily="18" charset="0"/>
                  </a:rPr>
                  <a:t>$20\sqrt3$</a:t>
                </a:r>
                <a:r>
                  <a:rPr sz="2400" b="0">
                    <a:solidFill>
                      <a:srgbClr val="111827"/>
                    </a:solidFill>
                    <a:latin typeface="Arial"/>
                  </a:rPr>
                  <a:t>   (C) </a:t>
                </a:r>
                <a:r>
                  <a:rPr lang="en-IN" sz="2400">
                    <a:solidFill>
                      <a:srgbClr val="111827"/>
                    </a:solidFill>
                    <a:latin typeface="Cambria Math" panose="02040503050406030204" pitchFamily="18" charset="0"/>
                  </a:rPr>
                  <a:t>$20+10\sqrt3$</a:t>
                </a:r>
                <a:r>
                  <a:rPr sz="2400" b="0">
                    <a:solidFill>
                      <a:srgbClr val="111827"/>
                    </a:solidFill>
                    <a:latin typeface="Arial"/>
                  </a:rPr>
                  <a:t>   (D) </a:t>
                </a:r>
                <a:r>
                  <a:rPr lang="en-IN" sz="2400">
                    <a:solidFill>
                      <a:srgbClr val="111827"/>
                    </a:solidFill>
                    <a:latin typeface="Cambria Math" panose="02040503050406030204" pitchFamily="18" charset="0"/>
                  </a:rPr>
                  <a:t>$30$</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by a pole at the top of a tower (heights and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subtended at the top of the tower means the elevation of the tower top from the pole's top is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$30^\circ$</a:t>
                </a:r>
                <a:r>
                  <a:rPr sz="2400" b="0">
                    <a:solidFill>
                      <a:srgbClr val="78350F"/>
                    </a:solidFill>
                    <a:latin typeface="Arial"/>
                  </a:rPr>
                  <a:t> subtended at the top of the tower means the elevation of the tower top from the pole's top is </a:t>
                </a:r>
                <a:r>
                  <a:rPr lang="en-IN" sz="2400">
                    <a:solidFill>
                      <a:srgbClr val="78350F"/>
                    </a:solidFill>
                    <a:latin typeface="Cambria Math" panose="02040503050406030204" pitchFamily="18" charset="0"/>
                  </a:rPr>
                  <a:t>$60^\circ-30^\circ=30^\circ$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pole be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its base,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 tower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the point on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level with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the part of the tower above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 of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pole subtends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so the elevation of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(exterior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pole be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its base, </a:t>
                </a:r>
                <a:r>
                  <a:rPr lang="en-IN" sz="2400">
                    <a:solidFill>
                      <a:srgbClr val="111827"/>
                    </a:solidFill>
                    <a:latin typeface="Cambria Math" panose="02040503050406030204" pitchFamily="18" charset="0"/>
                  </a:rPr>
                  <a:t>$AB=20$</a:t>
                </a:r>
                <a:r>
                  <a:rPr sz="2400" b="0">
                    <a:solidFill>
                      <a:srgbClr val="111827"/>
                    </a:solidFill>
                    <a:latin typeface="Arial"/>
                  </a:rPr>
                  <a:t>), the tower </a:t>
                </a:r>
                <a:r>
                  <a:rPr lang="en-IN" sz="2400">
                    <a:solidFill>
                      <a:srgbClr val="111827"/>
                    </a:solidFill>
                    <a:latin typeface="Cambria Math" panose="02040503050406030204" pitchFamily="18" charset="0"/>
                  </a:rPr>
                  <a:t>$CD$</a:t>
                </a:r>
                <a:r>
                  <a:rPr sz="2400" b="0">
                    <a:solidFill>
                      <a:srgbClr val="111827"/>
                    </a:solidFill>
                    <a:latin typeface="Arial"/>
                  </a:rPr>
                  <a:t> (with </a:t>
                </a:r>
                <a:r>
                  <a:rPr lang="en-IN" sz="2400">
                    <a:solidFill>
                      <a:srgbClr val="111827"/>
                    </a:solidFill>
                    <a:latin typeface="Cambria Math" panose="02040503050406030204" pitchFamily="18" charset="0"/>
                  </a:rPr>
                  <a:t>$BC=d$</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the point on </a:t>
                </a:r>
                <a:r>
                  <a:rPr lang="en-IN" sz="2400">
                    <a:solidFill>
                      <a:srgbClr val="111827"/>
                    </a:solidFill>
                    <a:latin typeface="Cambria Math" panose="02040503050406030204" pitchFamily="18" charset="0"/>
                  </a:rPr>
                  <a:t>$CD$</a:t>
                </a:r>
                <a:r>
                  <a:rPr sz="2400" b="0">
                    <a:solidFill>
                      <a:srgbClr val="111827"/>
                    </a:solidFill>
                    <a:latin typeface="Arial"/>
                  </a:rPr>
                  <a:t> level with </a:t>
                </a:r>
                <a:r>
                  <a:rPr lang="en-IN" sz="2400">
                    <a:solidFill>
                      <a:srgbClr val="111827"/>
                    </a:solidFill>
                    <a:latin typeface="Cambria Math" panose="02040503050406030204" pitchFamily="18" charset="0"/>
                  </a:rPr>
                  <a:t>$A$</a:t>
                </a:r>
                <a:r>
                  <a:rPr sz="2400" b="0">
                    <a:solidFill>
                      <a:srgbClr val="111827"/>
                    </a:solidFill>
                    <a:latin typeface="Arial"/>
                  </a:rPr>
                  <a:t>, with </a:t>
                </a:r>
                <a:r>
                  <a:rPr lang="en-IN" sz="2400">
                    <a:solidFill>
                      <a:srgbClr val="111827"/>
                    </a:solidFill>
                    <a:latin typeface="Cambria Math" panose="02040503050406030204" pitchFamily="18" charset="0"/>
                  </a:rPr>
                  <a:t>$DE=X$</a:t>
                </a:r>
                <a:r>
                  <a:rPr sz="2400" b="0">
                    <a:solidFill>
                      <a:srgbClr val="111827"/>
                    </a:solidFill>
                    <a:latin typeface="Arial"/>
                  </a:rPr>
                  <a:t> the part of the tower above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 of </a:t>
                </a:r>
                <a:r>
                  <a:rPr lang="en-IN" sz="2400">
                    <a:solidFill>
                      <a:srgbClr val="111827"/>
                    </a:solidFill>
                    <a:latin typeface="Cambria Math" panose="02040503050406030204" pitchFamily="18" charset="0"/>
                  </a:rPr>
                  <a:t>$D$</a:t>
                </a:r>
                <a:r>
                  <a:rPr sz="2400" b="0">
                    <a:solidFill>
                      <a:srgbClr val="111827"/>
                    </a:solidFill>
                    <a:latin typeface="Arial"/>
                  </a:rPr>
                  <a:t> from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and the pole subtends </a:t>
                </a:r>
                <a:r>
                  <a:rPr lang="en-IN" sz="2400">
                    <a:solidFill>
                      <a:srgbClr val="111827"/>
                    </a:solidFill>
                    <a:latin typeface="Cambria Math" panose="02040503050406030204" pitchFamily="18" charset="0"/>
                  </a:rPr>
                  <a:t>$30^\circ$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so the elevation of </a:t>
                </a:r>
                <a:r>
                  <a:rPr lang="en-IN" sz="2400">
                    <a:solidFill>
                      <a:srgbClr val="111827"/>
                    </a:solidFill>
                    <a:latin typeface="Cambria Math" panose="02040503050406030204" pitchFamily="18" charset="0"/>
                  </a:rPr>
                  <a:t>$D$</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$60^\circ-30^\circ=30^\circ$</a:t>
                </a:r>
                <a:r>
                  <a:rPr sz="2400" b="0">
                    <a:solidFill>
                      <a:srgbClr val="111827"/>
                    </a:solidFill>
                    <a:latin typeface="Arial"/>
                  </a:rPr>
                  <a:t> (exterior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BDC$</a:t>
                </a:r>
                <a:r>
                  <a:rPr sz="2400" b="0">
                    <a:solidFill>
                      <a:srgbClr val="111827"/>
                    </a:solidFill>
                    <a:latin typeface="Arial"/>
                  </a:rPr>
                  <a:t>: </a:t>
                </a:r>
                <a:r>
                  <a:rPr lang="en-IN" sz="2400">
                    <a:solidFill>
                      <a:srgbClr val="111827"/>
                    </a:solidFill>
                    <a:latin typeface="Cambria Math" panose="02040503050406030204" pitchFamily="18" charset="0"/>
                  </a:rPr>
                  <a:t>$\tan60^\circ=\dfrac{20+X}{d}$</a:t>
                </a:r>
                <a:r>
                  <a:rPr sz="2400" b="0">
                    <a:solidFill>
                      <a:srgbClr val="111827"/>
                    </a:solidFill>
                    <a:latin typeface="Arial"/>
                  </a:rPr>
                  <a:t>, so </a:t>
                </a:r>
                <a:r>
                  <a:rPr lang="en-IN" sz="2400">
                    <a:solidFill>
                      <a:srgbClr val="111827"/>
                    </a:solidFill>
                    <a:latin typeface="Cambria Math" panose="02040503050406030204" pitchFamily="18" charset="0"/>
                  </a:rPr>
                  <a:t>$d=\dfrac{20+X}{\sqrt3}$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𝑋</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r>
                      <a:rPr lang="en-IN" sz="2400" i="1">
                        <a:solidFill>
                          <a:srgbClr val="111827"/>
                        </a:solidFill>
                        <a:latin typeface="Cambria Math" panose="02040503050406030204" pitchFamily="18" charset="0"/>
                      </a:rPr>
                      <m:t>𝑋</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of the tower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m,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ADE$</a:t>
                </a:r>
                <a:r>
                  <a:rPr sz="2400" b="0">
                    <a:solidFill>
                      <a:srgbClr val="111827"/>
                    </a:solidFill>
                    <a:latin typeface="Arial"/>
                  </a:rPr>
                  <a:t> (</a:t>
                </a:r>
                <a:r>
                  <a:rPr lang="en-IN" sz="2400">
                    <a:solidFill>
                      <a:srgbClr val="111827"/>
                    </a:solidFill>
                    <a:latin typeface="Cambria Math" panose="02040503050406030204" pitchFamily="18" charset="0"/>
                  </a:rPr>
                  <a:t>$AE=d$</a:t>
                </a:r>
                <a:r>
                  <a:rPr sz="2400" b="0">
                    <a:solidFill>
                      <a:srgbClr val="111827"/>
                    </a:solidFill>
                    <a:latin typeface="Arial"/>
                  </a:rPr>
                  <a:t>): </a:t>
                </a:r>
                <a:r>
                  <a:rPr lang="en-IN" sz="2400">
                    <a:solidFill>
                      <a:srgbClr val="111827"/>
                    </a:solidFill>
                    <a:latin typeface="Cambria Math" panose="02040503050406030204" pitchFamily="18" charset="0"/>
                  </a:rPr>
                  <a:t>$\tan30^\circ=\dfrac{X}{d}$</a:t>
                </a:r>
                <a:r>
                  <a:rPr sz="2400" b="0">
                    <a:solidFill>
                      <a:srgbClr val="111827"/>
                    </a:solidFill>
                    <a:latin typeface="Arial"/>
                  </a:rPr>
                  <a:t>, so </a:t>
                </a:r>
                <a:r>
                  <a:rPr lang="en-IN" sz="2400">
                    <a:solidFill>
                      <a:srgbClr val="111827"/>
                    </a:solidFill>
                    <a:latin typeface="Cambria Math" panose="02040503050406030204" pitchFamily="18" charset="0"/>
                  </a:rPr>
                  <a:t>$d=X\sqrt3$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$X\sqrt3=\dfrac{20+X}{\sqrt3}$</a:t>
                </a:r>
                <a:r>
                  <a:rPr sz="2400" b="0">
                    <a:solidFill>
                      <a:srgbClr val="111827"/>
                    </a:solidFill>
                    <a:latin typeface="Arial"/>
                  </a:rPr>
                  <a:t>, so </a:t>
                </a:r>
                <a:r>
                  <a:rPr lang="en-IN" sz="2400">
                    <a:solidFill>
                      <a:srgbClr val="111827"/>
                    </a:solidFill>
                    <a:latin typeface="Cambria Math" panose="02040503050406030204" pitchFamily="18" charset="0"/>
                  </a:rPr>
                  <a:t>$3X=20+X$</a:t>
                </a:r>
                <a:r>
                  <a:rPr sz="2400" b="0">
                    <a:solidFill>
                      <a:srgbClr val="111827"/>
                    </a:solidFill>
                    <a:latin typeface="Arial"/>
                  </a:rPr>
                  <a:t> and </a:t>
                </a:r>
                <a:r>
                  <a:rPr lang="en-IN" sz="2400">
                    <a:solidFill>
                      <a:srgbClr val="111827"/>
                    </a:solidFill>
                    <a:latin typeface="Cambria Math" panose="02040503050406030204" pitchFamily="18" charset="0"/>
                  </a:rPr>
                  <a:t>$X=10$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of the tower </a:t>
                </a:r>
                <a:r>
                  <a:rPr lang="en-IN" sz="2400">
                    <a:solidFill>
                      <a:srgbClr val="111827"/>
                    </a:solidFill>
                    <a:latin typeface="Cambria Math" panose="02040503050406030204" pitchFamily="18" charset="0"/>
                  </a:rPr>
                  <a:t>$=20+10=30$</a:t>
                </a:r>
                <a:r>
                  <a:rPr sz="2400" b="0">
                    <a:solidFill>
                      <a:srgbClr val="111827"/>
                    </a:solidFill>
                    <a:latin typeface="Arial"/>
                  </a:rPr>
                  <a:t> m,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30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$30$</a:t>
                </a:r>
                <a:endParaRPr sz="2800">
                  <a:solidFill>
                    <a:srgbClr val="15803D"/>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has two equal angles of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it is isosceles with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r>
                  <a:rPr lang="en-IN" sz="2400">
                    <a:solidFill>
                      <a:srgbClr val="78350F"/>
                    </a:solidFill>
                    <a:latin typeface="Cambria Math" panose="02040503050406030204" pitchFamily="18" charset="0"/>
                  </a:rPr>
                  <a:t>$ABD$</a:t>
                </a:r>
                <a:r>
                  <a:rPr sz="2400" b="0">
                    <a:solidFill>
                      <a:srgbClr val="78350F"/>
                    </a:solidFill>
                    <a:latin typeface="Arial"/>
                  </a:rPr>
                  <a:t> has two equal angles of </a:t>
                </a:r>
                <a:r>
                  <a:rPr lang="en-IN" sz="2400">
                    <a:solidFill>
                      <a:srgbClr val="78350F"/>
                    </a:solidFill>
                    <a:latin typeface="Cambria Math" panose="02040503050406030204" pitchFamily="18" charset="0"/>
                  </a:rPr>
                  <a:t>$30^\circ$</a:t>
                </a:r>
                <a:r>
                  <a:rPr sz="2400" b="0">
                    <a:solidFill>
                      <a:srgbClr val="78350F"/>
                    </a:solidFill>
                    <a:latin typeface="Arial"/>
                  </a:rPr>
                  <a:t>, so it is isosceles with </a:t>
                </a:r>
                <a:r>
                  <a:rPr lang="en-IN" sz="2400">
                    <a:solidFill>
                      <a:srgbClr val="78350F"/>
                    </a:solidFill>
                    <a:latin typeface="Cambria Math" panose="02040503050406030204" pitchFamily="18" charset="0"/>
                  </a:rPr>
                  <a:t>$AD=AB=20$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(between the vertical pole and the line of sight)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(given).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equal angles give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rises at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above the horizontal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ABD$</a:t>
                </a:r>
                <a:r>
                  <a:rPr sz="2400" b="0">
                    <a:solidFill>
                      <a:srgbClr val="111827"/>
                    </a:solidFill>
                    <a:latin typeface="Arial"/>
                  </a:rPr>
                  <a:t>: </a:t>
                </a:r>
                <a:r>
                  <a:rPr lang="en-IN" sz="2400">
                    <a:solidFill>
                      <a:srgbClr val="111827"/>
                    </a:solidFill>
                    <a:latin typeface="Cambria Math" panose="02040503050406030204" pitchFamily="18" charset="0"/>
                  </a:rPr>
                  <a:t>$\angle ABD=90^\circ-60^\circ=30^\circ$</a:t>
                </a:r>
                <a:r>
                  <a:rPr sz="2400" b="0">
                    <a:solidFill>
                      <a:srgbClr val="111827"/>
                    </a:solidFill>
                    <a:latin typeface="Arial"/>
                  </a:rPr>
                  <a:t> (between the vertical pole and the line of sight) and </a:t>
                </a:r>
                <a:r>
                  <a:rPr lang="en-IN" sz="2400">
                    <a:solidFill>
                      <a:srgbClr val="111827"/>
                    </a:solidFill>
                    <a:latin typeface="Cambria Math" panose="02040503050406030204" pitchFamily="18" charset="0"/>
                  </a:rPr>
                  <a:t>$\angle ADB=30^\circ$</a:t>
                </a:r>
                <a:r>
                  <a:rPr sz="2400" b="0">
                    <a:solidFill>
                      <a:srgbClr val="111827"/>
                    </a:solidFill>
                    <a:latin typeface="Arial"/>
                  </a:rPr>
                  <a:t> (given).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equal angles give </a:t>
                </a:r>
                <a:r>
                  <a:rPr lang="en-IN" sz="2400">
                    <a:solidFill>
                      <a:srgbClr val="111827"/>
                    </a:solidFill>
                    <a:latin typeface="Cambria Math" panose="02040503050406030204" pitchFamily="18" charset="0"/>
                  </a:rPr>
                  <a:t>$AD=AB=20$</a:t>
                </a:r>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$\angle BAD=180^\circ-30^\circ-30^\circ=120^\circ$</a:t>
                </a:r>
                <a:r>
                  <a:rPr sz="2400" b="0">
                    <a:solidFill>
                      <a:srgbClr val="111827"/>
                    </a:solidFill>
                    <a:latin typeface="Arial"/>
                  </a:rPr>
                  <a:t>, so </a:t>
                </a:r>
                <a:r>
                  <a:rPr lang="en-IN" sz="2400">
                    <a:solidFill>
                      <a:srgbClr val="111827"/>
                    </a:solidFill>
                    <a:latin typeface="Cambria Math" panose="02040503050406030204" pitchFamily="18" charset="0"/>
                  </a:rPr>
                  <a:t>$AD$</a:t>
                </a:r>
                <a:r>
                  <a:rPr sz="2400" b="0">
                    <a:solidFill>
                      <a:srgbClr val="111827"/>
                    </a:solidFill>
                    <a:latin typeface="Arial"/>
                  </a:rPr>
                  <a:t> rises at </a:t>
                </a:r>
                <a:r>
                  <a:rPr lang="en-IN" sz="2400">
                    <a:solidFill>
                      <a:srgbClr val="111827"/>
                    </a:solidFill>
                    <a:latin typeface="Cambria Math" panose="02040503050406030204" pitchFamily="18" charset="0"/>
                  </a:rPr>
                  <a:t>$120^\circ-90^\circ=30^\circ$</a:t>
                </a:r>
                <a:r>
                  <a:rPr sz="2400" b="0">
                    <a:solidFill>
                      <a:srgbClr val="111827"/>
                    </a:solidFill>
                    <a:latin typeface="Arial"/>
                  </a:rPr>
                  <a:t> above the horizontal through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tower top is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m above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m.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tower top is </a:t>
                </a:r>
                <a:r>
                  <a:rPr lang="en-IN" sz="2400">
                    <a:solidFill>
                      <a:srgbClr val="111827"/>
                    </a:solidFill>
                    <a:latin typeface="Cambria Math" panose="02040503050406030204" pitchFamily="18" charset="0"/>
                  </a:rPr>
                  <a:t>$AD\sin30^\circ=20\cdot\tfrac12=10$</a:t>
                </a:r>
                <a:r>
                  <a:rPr sz="2400" b="0">
                    <a:solidFill>
                      <a:srgbClr val="111827"/>
                    </a:solidFill>
                    <a:latin typeface="Arial"/>
                  </a:rPr>
                  <a:t> m above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r>
                  <a:rPr lang="en-IN" sz="2400">
                    <a:solidFill>
                      <a:srgbClr val="111827"/>
                    </a:solidFill>
                    <a:latin typeface="Cambria Math" panose="02040503050406030204" pitchFamily="18" charset="0"/>
                  </a:rPr>
                  <a:t>$=20+10=30$</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30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$30$</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subtended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by a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equals the difference of the angles of elevation of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from its ends: here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(exterior-angle theorem).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length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elevation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of the top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from the base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the pole subtending </a:t>
                </a:r>
                <a14:m>
                  <m:oMath xmlns:m="http://schemas.openxmlformats.org/officeDocument/2006/math">
                    <m:r>
                      <a:rPr lang="en-IN" sz="2400" i="1">
                        <a:solidFill>
                          <a:srgbClr val="111827"/>
                        </a:solidFill>
                        <a:latin typeface="Cambria Math" panose="02040503050406030204" pitchFamily="18" charset="0"/>
                      </a:rPr>
                      <m:t>δ</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δ</m:t>
                        </m:r>
                      </m:den>
                    </m:f>
                  </m:oMath>
                </a14:m>
                <a:r>
                  <a:rPr sz="2400" b="0">
                    <a:solidFill>
                      <a:srgbClr val="111827"/>
                    </a:solidFill>
                    <a:latin typeface="Arial"/>
                  </a:rPr>
                  <a:t> and the tower height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the height is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 subtended at </a:t>
                </a:r>
                <a:r>
                  <a:rPr lang="en-IN" sz="2400">
                    <a:solidFill>
                      <a:srgbClr val="111827"/>
                    </a:solidFill>
                    <a:latin typeface="Cambria Math" panose="02040503050406030204" pitchFamily="18" charset="0"/>
                  </a:rPr>
                  <a:t>$D$</a:t>
                </a:r>
                <a:r>
                  <a:rPr sz="2400" b="0">
                    <a:solidFill>
                      <a:srgbClr val="111827"/>
                    </a:solidFill>
                    <a:latin typeface="Arial"/>
                  </a:rPr>
                  <a:t> by a segment </a:t>
                </a:r>
                <a:r>
                  <a:rPr lang="en-IN" sz="2400">
                    <a:solidFill>
                      <a:srgbClr val="111827"/>
                    </a:solidFill>
                    <a:latin typeface="Cambria Math" panose="02040503050406030204" pitchFamily="18" charset="0"/>
                  </a:rPr>
                  <a:t>$AB$</a:t>
                </a:r>
                <a:r>
                  <a:rPr sz="2400" b="0">
                    <a:solidFill>
                      <a:srgbClr val="111827"/>
                    </a:solidFill>
                    <a:latin typeface="Arial"/>
                  </a:rPr>
                  <a:t> equals the difference of the angles of elevation of </a:t>
                </a:r>
                <a:r>
                  <a:rPr lang="en-IN" sz="2400">
                    <a:solidFill>
                      <a:srgbClr val="111827"/>
                    </a:solidFill>
                    <a:latin typeface="Cambria Math" panose="02040503050406030204" pitchFamily="18" charset="0"/>
                  </a:rPr>
                  <a:t>$D$</a:t>
                </a:r>
                <a:r>
                  <a:rPr sz="2400" b="0">
                    <a:solidFill>
                      <a:srgbClr val="111827"/>
                    </a:solidFill>
                    <a:latin typeface="Arial"/>
                  </a:rPr>
                  <a:t> from its ends: here </a:t>
                </a:r>
                <a:r>
                  <a:rPr lang="en-IN" sz="2400">
                    <a:solidFill>
                      <a:srgbClr val="111827"/>
                    </a:solidFill>
                    <a:latin typeface="Cambria Math" panose="02040503050406030204" pitchFamily="18" charset="0"/>
                  </a:rPr>
                  <a:t>$60^\circ-30^\circ$</a:t>
                </a:r>
                <a:r>
                  <a:rPr sz="2400" b="0">
                    <a:solidFill>
                      <a:srgbClr val="111827"/>
                    </a:solidFill>
                    <a:latin typeface="Arial"/>
                  </a:rPr>
                  <a:t> (exterior-angle theorem).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pole </a:t>
                </a:r>
                <a:r>
                  <a:rPr lang="en-IN" sz="2400">
                    <a:solidFill>
                      <a:srgbClr val="111827"/>
                    </a:solidFill>
                    <a:latin typeface="Cambria Math" panose="02040503050406030204" pitchFamily="18" charset="0"/>
                  </a:rPr>
                  <a:t>$AB$</a:t>
                </a:r>
                <a:r>
                  <a:rPr sz="2400" b="0">
                    <a:solidFill>
                      <a:srgbClr val="111827"/>
                    </a:solidFill>
                    <a:latin typeface="Arial"/>
                  </a:rPr>
                  <a:t> of length </a:t>
                </a:r>
                <a:r>
                  <a:rPr lang="en-IN" sz="2400">
                    <a:solidFill>
                      <a:srgbClr val="111827"/>
                    </a:solidFill>
                    <a:latin typeface="Cambria Math" panose="02040503050406030204" pitchFamily="18" charset="0"/>
                  </a:rPr>
                  <a:t>$p$</a:t>
                </a:r>
                <a:r>
                  <a:rPr sz="2400" b="0">
                    <a:solidFill>
                      <a:srgbClr val="111827"/>
                    </a:solidFill>
                    <a:latin typeface="Arial"/>
                  </a:rPr>
                  <a:t>, elevation </a:t>
                </a:r>
                <a:r>
                  <a:rPr lang="en-IN" sz="2400">
                    <a:solidFill>
                      <a:srgbClr val="111827"/>
                    </a:solidFill>
                    <a:latin typeface="Cambria Math" panose="02040503050406030204" pitchFamily="18" charset="0"/>
                  </a:rPr>
                  <a:t>$\theta$</a:t>
                </a:r>
                <a:r>
                  <a:rPr sz="2400" b="0">
                    <a:solidFill>
                      <a:srgbClr val="111827"/>
                    </a:solidFill>
                    <a:latin typeface="Arial"/>
                  </a:rPr>
                  <a:t> of the top </a:t>
                </a:r>
                <a:r>
                  <a:rPr lang="en-IN" sz="2400">
                    <a:solidFill>
                      <a:srgbClr val="111827"/>
                    </a:solidFill>
                    <a:latin typeface="Cambria Math" panose="02040503050406030204" pitchFamily="18" charset="0"/>
                  </a:rPr>
                  <a:t>$D$</a:t>
                </a:r>
                <a:r>
                  <a:rPr sz="2400" b="0">
                    <a:solidFill>
                      <a:srgbClr val="111827"/>
                    </a:solidFill>
                    <a:latin typeface="Arial"/>
                  </a:rPr>
                  <a:t> from the base </a:t>
                </a:r>
                <a:r>
                  <a:rPr lang="en-IN" sz="2400">
                    <a:solidFill>
                      <a:srgbClr val="111827"/>
                    </a:solidFill>
                    <a:latin typeface="Cambria Math" panose="02040503050406030204" pitchFamily="18" charset="0"/>
                  </a:rPr>
                  <a:t>$B$</a:t>
                </a:r>
                <a:r>
                  <a:rPr sz="2400" b="0">
                    <a:solidFill>
                      <a:srgbClr val="111827"/>
                    </a:solidFill>
                    <a:latin typeface="Arial"/>
                  </a:rPr>
                  <a:t>, and the pole subtending </a:t>
                </a:r>
                <a:r>
                  <a:rPr lang="en-IN" sz="2400">
                    <a:solidFill>
                      <a:srgbClr val="111827"/>
                    </a:solidFill>
                    <a:latin typeface="Cambria Math" panose="02040503050406030204" pitchFamily="18" charset="0"/>
                  </a:rPr>
                  <a:t>$\delta$</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$AD=\dfrac{p\cos\theta}{\sin\delta}$</a:t>
                </a:r>
                <a:r>
                  <a:rPr sz="2400" b="0">
                    <a:solidFill>
                      <a:srgbClr val="111827"/>
                    </a:solidFill>
                    <a:latin typeface="Arial"/>
                  </a:rPr>
                  <a:t> and the tower height is </a:t>
                </a:r>
                <a:r>
                  <a:rPr lang="en-IN" sz="2400">
                    <a:solidFill>
                      <a:srgbClr val="111827"/>
                    </a:solidFill>
                    <a:latin typeface="Cambria Math" panose="02040503050406030204" pitchFamily="18" charset="0"/>
                  </a:rPr>
                  <a:t>$p+AD\sin(\theta-\delta)$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$AD=\dfrac{20\cos60^\circ}{\sin30^\circ}=20$</a:t>
                </a:r>
                <a:r>
                  <a:rPr sz="2400" b="0">
                    <a:solidFill>
                      <a:srgbClr val="111827"/>
                    </a:solidFill>
                    <a:latin typeface="Arial"/>
                  </a:rPr>
                  <a:t> and the height is </a:t>
                </a:r>
                <a:r>
                  <a:rPr lang="en-IN" sz="2400">
                    <a:solidFill>
                      <a:srgbClr val="111827"/>
                    </a:solidFill>
                    <a:latin typeface="Cambria Math" panose="02040503050406030204" pitchFamily="18" charset="0"/>
                  </a:rPr>
                  <a:t>$20+20\sin30^\circ=30$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tower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stands on a horizontal ground with base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on the ground. The point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divides the tower in two parts such that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m. If from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the ground the angle of elevation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part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oMath>
                </a14:m>
                <a:r>
                  <a:rPr sz="2400" b="0">
                    <a:solidFill>
                      <a:srgbClr val="111827"/>
                    </a:solidFill>
                    <a:latin typeface="Arial"/>
                  </a:rPr>
                  <a:t> of the tower subtends an angle of </a:t>
                </a:r>
                <a14:m>
                  <m:oMath xmlns:m="http://schemas.openxmlformats.org/officeDocument/2006/math">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the height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(B)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(C)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(D)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t>
                </a:r>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tower </a:t>
                </a:r>
                <a:r>
                  <a:rPr lang="en-IN" sz="2400">
                    <a:solidFill>
                      <a:srgbClr val="111827"/>
                    </a:solidFill>
                    <a:latin typeface="Cambria Math" panose="02040503050406030204" pitchFamily="18" charset="0"/>
                  </a:rPr>
                  <a:t>$PQ$</a:t>
                </a:r>
                <a:r>
                  <a:rPr sz="2400" b="0">
                    <a:solidFill>
                      <a:srgbClr val="111827"/>
                    </a:solidFill>
                    <a:latin typeface="Arial"/>
                  </a:rPr>
                  <a:t> stands on a horizontal ground with base </a:t>
                </a:r>
                <a:r>
                  <a:rPr lang="en-IN" sz="2400">
                    <a:solidFill>
                      <a:srgbClr val="111827"/>
                    </a:solidFill>
                    <a:latin typeface="Cambria Math" panose="02040503050406030204" pitchFamily="18" charset="0"/>
                  </a:rPr>
                  <a:t>$Q$</a:t>
                </a:r>
                <a:r>
                  <a:rPr sz="2400" b="0">
                    <a:solidFill>
                      <a:srgbClr val="111827"/>
                    </a:solidFill>
                    <a:latin typeface="Arial"/>
                  </a:rPr>
                  <a:t> on the ground. The point </a:t>
                </a:r>
                <a:r>
                  <a:rPr lang="en-IN" sz="2400">
                    <a:solidFill>
                      <a:srgbClr val="111827"/>
                    </a:solidFill>
                    <a:latin typeface="Cambria Math" panose="02040503050406030204" pitchFamily="18" charset="0"/>
                  </a:rPr>
                  <a:t>$R$</a:t>
                </a:r>
                <a:r>
                  <a:rPr sz="2400" b="0">
                    <a:solidFill>
                      <a:srgbClr val="111827"/>
                    </a:solidFill>
                    <a:latin typeface="Arial"/>
                  </a:rPr>
                  <a:t> divides the tower in two parts such that </a:t>
                </a:r>
                <a:r>
                  <a:rPr lang="en-IN" sz="2400">
                    <a:solidFill>
                      <a:srgbClr val="111827"/>
                    </a:solidFill>
                    <a:latin typeface="Cambria Math" panose="02040503050406030204" pitchFamily="18" charset="0"/>
                  </a:rPr>
                  <a:t>$QR=15$</a:t>
                </a:r>
                <a:r>
                  <a:rPr sz="2400" b="0">
                    <a:solidFill>
                      <a:srgbClr val="111827"/>
                    </a:solidFill>
                    <a:latin typeface="Arial"/>
                  </a:rPr>
                  <a:t> m. If from a point </a:t>
                </a:r>
                <a:r>
                  <a:rPr lang="en-IN" sz="2400">
                    <a:solidFill>
                      <a:srgbClr val="111827"/>
                    </a:solidFill>
                    <a:latin typeface="Cambria Math" panose="02040503050406030204" pitchFamily="18" charset="0"/>
                  </a:rPr>
                  <a:t>$A$</a:t>
                </a:r>
                <a:r>
                  <a:rPr sz="2400" b="0">
                    <a:solidFill>
                      <a:srgbClr val="111827"/>
                    </a:solidFill>
                    <a:latin typeface="Arial"/>
                  </a:rPr>
                  <a:t> on the ground the angle of elevation of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and the part </a:t>
                </a:r>
                <a:r>
                  <a:rPr lang="en-IN" sz="2400">
                    <a:solidFill>
                      <a:srgbClr val="111827"/>
                    </a:solidFill>
                    <a:latin typeface="Cambria Math" panose="02040503050406030204" pitchFamily="18" charset="0"/>
                  </a:rPr>
                  <a:t>$PR$</a:t>
                </a:r>
                <a:r>
                  <a:rPr sz="2400" b="0">
                    <a:solidFill>
                      <a:srgbClr val="111827"/>
                    </a:solidFill>
                    <a:latin typeface="Arial"/>
                  </a:rPr>
                  <a:t> of the tower subtends an angle of </a:t>
                </a:r>
                <a:r>
                  <a:rPr lang="en-IN" sz="2400">
                    <a:solidFill>
                      <a:srgbClr val="111827"/>
                    </a:solidFill>
                    <a:latin typeface="Cambria Math" panose="02040503050406030204" pitchFamily="18" charset="0"/>
                  </a:rPr>
                  <a:t>$15^\circ$</a:t>
                </a:r>
                <a:r>
                  <a:rPr sz="2400" b="0">
                    <a:solidFill>
                      <a:srgbClr val="111827"/>
                    </a:solidFill>
                    <a:latin typeface="Arial"/>
                  </a:rPr>
                  <a:t> at </a:t>
                </a:r>
                <a:r>
                  <a:rPr lang="en-IN" sz="2400">
                    <a:solidFill>
                      <a:srgbClr val="111827"/>
                    </a:solidFill>
                    <a:latin typeface="Cambria Math" panose="02040503050406030204" pitchFamily="18" charset="0"/>
                  </a:rPr>
                  <a:t>$A$</a:t>
                </a:r>
                <a:r>
                  <a:rPr sz="2400" b="0">
                    <a:solidFill>
                      <a:srgbClr val="111827"/>
                    </a:solidFill>
                    <a:latin typeface="Arial"/>
                  </a:rPr>
                  <a:t>, then the height of the tower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$5(2\sqrt3+3)$</a:t>
                </a:r>
                <a:r>
                  <a:rPr sz="2400" b="0">
                    <a:solidFill>
                      <a:srgbClr val="111827"/>
                    </a:solidFill>
                    <a:latin typeface="Arial"/>
                  </a:rPr>
                  <a:t> m   (B) </a:t>
                </a:r>
                <a:r>
                  <a:rPr lang="en-IN" sz="2400">
                    <a:solidFill>
                      <a:srgbClr val="111827"/>
                    </a:solidFill>
                    <a:latin typeface="Cambria Math" panose="02040503050406030204" pitchFamily="18" charset="0"/>
                  </a:rPr>
                  <a:t>$5(\sqrt3+3)$</a:t>
                </a:r>
                <a:r>
                  <a:rPr sz="2400" b="0">
                    <a:solidFill>
                      <a:srgbClr val="111827"/>
                    </a:solidFill>
                    <a:latin typeface="Arial"/>
                  </a:rPr>
                  <a:t> m   (C) </a:t>
                </a:r>
                <a:r>
                  <a:rPr lang="en-IN" sz="2400">
                    <a:solidFill>
                      <a:srgbClr val="111827"/>
                    </a:solidFill>
                    <a:latin typeface="Cambria Math" panose="02040503050406030204" pitchFamily="18" charset="0"/>
                  </a:rPr>
                  <a:t>$10(\sqrt3+1)$</a:t>
                </a:r>
                <a:r>
                  <a:rPr sz="2400" b="0">
                    <a:solidFill>
                      <a:srgbClr val="111827"/>
                    </a:solidFill>
                    <a:latin typeface="Arial"/>
                  </a:rPr>
                  <a:t> m   (D) </a:t>
                </a:r>
                <a:r>
                  <a:rPr lang="en-IN" sz="2400">
                    <a:solidFill>
                      <a:srgbClr val="111827"/>
                    </a:solidFill>
                    <a:latin typeface="Cambria Math" panose="02040503050406030204" pitchFamily="18" charset="0"/>
                  </a:rPr>
                  <a:t>$10(2\sqrt3+1)$</a:t>
                </a:r>
                <a:r>
                  <a:rPr sz="2400" b="0">
                    <a:solidFill>
                      <a:srgbClr val="111827"/>
                    </a:solidFill>
                    <a:latin typeface="Arial"/>
                  </a:rPr>
                  <a:t> m</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by part of a tower (heights and distances), Values of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(compound 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subtended by part of a tower (heights and distances), Values of </a:t>
                </a:r>
                <a:r>
                  <a:rPr lang="en-IN" sz="2400">
                    <a:solidFill>
                      <a:srgbClr val="111827"/>
                    </a:solidFill>
                    <a:latin typeface="Cambria Math" panose="02040503050406030204" pitchFamily="18" charset="0"/>
                  </a:rPr>
                  <a:t>$\tan75^\circ$</a:t>
                </a:r>
                <a:r>
                  <a:rPr sz="2400" b="0">
                    <a:solidFill>
                      <a:srgbClr val="111827"/>
                    </a:solidFill>
                    <a:latin typeface="Arial"/>
                  </a:rPr>
                  <a:t> (compound 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elevation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is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75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75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elevation of </a:t>
                </a:r>
                <a:r>
                  <a:rPr lang="en-IN" sz="2400">
                    <a:solidFill>
                      <a:srgbClr val="78350F"/>
                    </a:solidFill>
                    <a:latin typeface="Cambria Math" panose="02040503050406030204" pitchFamily="18" charset="0"/>
                  </a:rPr>
                  <a:t>$P$</a:t>
                </a:r>
                <a:r>
                  <a:rPr sz="2400" b="0">
                    <a:solidFill>
                      <a:srgbClr val="78350F"/>
                    </a:solidFill>
                    <a:latin typeface="Arial"/>
                  </a:rPr>
                  <a:t> is </a:t>
                </a:r>
                <a:r>
                  <a:rPr lang="en-IN" sz="2400">
                    <a:solidFill>
                      <a:srgbClr val="78350F"/>
                    </a:solidFill>
                    <a:latin typeface="Cambria Math" panose="02040503050406030204" pitchFamily="18" charset="0"/>
                  </a:rPr>
                  <a:t>$60^\circ+15^\circ=75^\circ$</a:t>
                </a:r>
                <a:r>
                  <a:rPr sz="2400" b="0">
                    <a:solidFill>
                      <a:srgbClr val="78350F"/>
                    </a:solidFill>
                    <a:latin typeface="Arial"/>
                  </a:rPr>
                  <a:t>, and </a:t>
                </a:r>
                <a:r>
                  <a:rPr lang="en-IN" sz="2400">
                    <a:solidFill>
                      <a:srgbClr val="78350F"/>
                    </a:solidFill>
                    <a:latin typeface="Cambria Math" panose="02040503050406030204" pitchFamily="18" charset="0"/>
                  </a:rPr>
                  <a:t>$\tan75^\circ=2+\sqrt3$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elevation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...(1).</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$PR=x$</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the elevation of </a:t>
                </a:r>
                <a:r>
                  <a:rPr lang="en-IN" sz="2400">
                    <a:solidFill>
                      <a:srgbClr val="111827"/>
                    </a:solidFill>
                    <a:latin typeface="Cambria Math" panose="02040503050406030204" pitchFamily="18" charset="0"/>
                  </a:rPr>
                  <a:t>$R$</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so </a:t>
                </a:r>
                <a:r>
                  <a:rPr lang="en-IN" sz="2400">
                    <a:solidFill>
                      <a:srgbClr val="111827"/>
                    </a:solidFill>
                    <a:latin typeface="Cambria Math" panose="02040503050406030204" pitchFamily="18" charset="0"/>
                  </a:rPr>
                  <a:t>$\dfrac{15}{AQ}=\tan60^\circ$</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part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oMath>
                </a14:m>
                <a:r>
                  <a:rPr sz="2400" b="0">
                    <a:solidFill>
                      <a:srgbClr val="111827"/>
                    </a:solidFill>
                    <a:latin typeface="Arial"/>
                  </a:rPr>
                  <a:t> subtends </a:t>
                </a:r>
                <a14:m>
                  <m:oMath xmlns:m="http://schemas.openxmlformats.org/officeDocument/2006/math">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the elevation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(1) by (2):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which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part </a:t>
                </a:r>
                <a:r>
                  <a:rPr lang="en-IN" sz="2400">
                    <a:solidFill>
                      <a:srgbClr val="111827"/>
                    </a:solidFill>
                    <a:latin typeface="Cambria Math" panose="02040503050406030204" pitchFamily="18" charset="0"/>
                  </a:rPr>
                  <a:t>$PR$</a:t>
                </a:r>
                <a:r>
                  <a:rPr sz="2400" b="0">
                    <a:solidFill>
                      <a:srgbClr val="111827"/>
                    </a:solidFill>
                    <a:latin typeface="Arial"/>
                  </a:rPr>
                  <a:t> subtends </a:t>
                </a:r>
                <a:r>
                  <a:rPr lang="en-IN" sz="2400">
                    <a:solidFill>
                      <a:srgbClr val="111827"/>
                    </a:solidFill>
                    <a:latin typeface="Cambria Math" panose="02040503050406030204" pitchFamily="18" charset="0"/>
                  </a:rPr>
                  <a:t>$15^\circ$</a:t>
                </a:r>
                <a:r>
                  <a:rPr sz="2400" b="0">
                    <a:solidFill>
                      <a:srgbClr val="111827"/>
                    </a:solidFill>
                    <a:latin typeface="Arial"/>
                  </a:rPr>
                  <a:t> at </a:t>
                </a:r>
                <a:r>
                  <a:rPr lang="en-IN" sz="2400">
                    <a:solidFill>
                      <a:srgbClr val="111827"/>
                    </a:solidFill>
                    <a:latin typeface="Cambria Math" panose="02040503050406030204" pitchFamily="18" charset="0"/>
                  </a:rPr>
                  <a:t>$A$</a:t>
                </a:r>
                <a:r>
                  <a:rPr sz="2400" b="0">
                    <a:solidFill>
                      <a:srgbClr val="111827"/>
                    </a:solidFill>
                    <a:latin typeface="Arial"/>
                  </a:rPr>
                  <a:t>, so the elevation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$60^\circ+15^\circ=75^\circ$</a:t>
                </a:r>
                <a:r>
                  <a:rPr sz="2400" b="0">
                    <a:solidFill>
                      <a:srgbClr val="111827"/>
                    </a:solidFill>
                    <a:latin typeface="Arial"/>
                  </a:rPr>
                  <a:t>: </a:t>
                </a:r>
                <a:r>
                  <a:rPr lang="en-IN" sz="2400">
                    <a:solidFill>
                      <a:srgbClr val="111827"/>
                    </a:solidFill>
                    <a:latin typeface="Cambria Math" panose="02040503050406030204" pitchFamily="18" charset="0"/>
                  </a:rPr>
                  <a:t>$\dfrac{15+x}{AQ}=\tan75^\circ$</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$AQ=\dfrac{15}{\sqrt3}=5\sqrt3$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(1) by (2): </a:t>
                </a:r>
                <a:r>
                  <a:rPr lang="en-IN" sz="2400">
                    <a:solidFill>
                      <a:srgbClr val="111827"/>
                    </a:solidFill>
                    <a:latin typeface="Cambria Math" panose="02040503050406030204" pitchFamily="18" charset="0"/>
                  </a:rPr>
                  <a:t>$\dfrac{15}{15+x}=\dfrac{\tan60^\circ}{\tan75^\circ}=\dfrac{\sqrt3}{2+\sqrt3}$</a:t>
                </a:r>
                <a:r>
                  <a:rPr sz="2400" b="0">
                    <a:solidFill>
                      <a:srgbClr val="111827"/>
                    </a:solidFill>
                    <a:latin typeface="Arial"/>
                  </a:rPr>
                  <a:t>, which gives </a:t>
                </a:r>
                <a:r>
                  <a:rPr lang="en-IN" sz="2400">
                    <a:solidFill>
                      <a:srgbClr val="111827"/>
                    </a:solidFill>
                    <a:latin typeface="Cambria Math" panose="02040503050406030204" pitchFamily="18" charset="0"/>
                  </a:rPr>
                  <a:t>$x=10\sqrt3$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$PQ=15+x=15+10\sqrt3=5(2\sqrt3+3)$</a:t>
                </a:r>
                <a:r>
                  <a:rPr sz="2400" b="0">
                    <a:solidFill>
                      <a:srgbClr val="111827"/>
                    </a:solidFill>
                    <a:latin typeface="Arial"/>
                  </a:rPr>
                  <a:t> m,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m</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$5(2\sqrt3+3)$</a:t>
                </a:r>
                <a:r>
                  <a:rPr sz="2800" b="1">
                    <a:solidFill>
                      <a:srgbClr val="15803D"/>
                    </a:solidFill>
                    <a:latin typeface="Arial"/>
                  </a:rPr>
                  <a:t> m</a:t>
                </a:r>
                <a:endParaRPr sz="2800">
                  <a:solidFill>
                    <a:srgbClr val="15803D"/>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𝑃</m:t>
                    </m:r>
                  </m:oMath>
                </a14:m>
                <a:r>
                  <a:rPr sz="2400" b="0">
                    <a:solidFill>
                      <a:srgbClr val="78350F"/>
                    </a:solidFill>
                    <a:latin typeface="Arial"/>
                  </a:rPr>
                  <a:t> has angles </a:t>
                </a:r>
                <a14:m>
                  <m:oMath xmlns:m="http://schemas.openxmlformats.org/officeDocument/2006/math">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150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it is isosceles with </a:t>
                </a:r>
                <a14:m>
                  <m:oMath xmlns:m="http://schemas.openxmlformats.org/officeDocument/2006/math">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Triangle </a:t>
                </a:r>
                <a:r>
                  <a:rPr lang="en-IN" sz="2400">
                    <a:solidFill>
                      <a:srgbClr val="78350F"/>
                    </a:solidFill>
                    <a:latin typeface="Cambria Math" panose="02040503050406030204" pitchFamily="18" charset="0"/>
                  </a:rPr>
                  <a:t>$ARP$</a:t>
                </a:r>
                <a:r>
                  <a:rPr sz="2400" b="0">
                    <a:solidFill>
                      <a:srgbClr val="78350F"/>
                    </a:solidFill>
                    <a:latin typeface="Arial"/>
                  </a:rPr>
                  <a:t> has angles </a:t>
                </a:r>
                <a:r>
                  <a:rPr lang="en-IN" sz="2400">
                    <a:solidFill>
                      <a:srgbClr val="78350F"/>
                    </a:solidFill>
                    <a:latin typeface="Cambria Math" panose="02040503050406030204" pitchFamily="18" charset="0"/>
                  </a:rPr>
                  <a:t>$15^\circ,150^\circ,15^\circ$</a:t>
                </a:r>
                <a:r>
                  <a:rPr sz="2400" b="0">
                    <a:solidFill>
                      <a:srgbClr val="78350F"/>
                    </a:solidFill>
                    <a:latin typeface="Arial"/>
                  </a:rPr>
                  <a:t>, so it is isosceles with </a:t>
                </a:r>
                <a:r>
                  <a:rPr lang="en-IN" sz="2400">
                    <a:solidFill>
                      <a:srgbClr val="78350F"/>
                    </a:solidFill>
                    <a:latin typeface="Cambria Math" panose="02040503050406030204" pitchFamily="18" charset="0"/>
                  </a:rPr>
                  <a:t>$RP=RA$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are collinear).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equal angles give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ARQ=90^\circ-60^\circ=30^\circ$</a:t>
                </a:r>
                <a:r>
                  <a:rPr sz="2400" b="0">
                    <a:solidFill>
                      <a:srgbClr val="111827"/>
                    </a:solidFill>
                    <a:latin typeface="Arial"/>
                  </a:rPr>
                  <a:t>, so </a:t>
                </a:r>
                <a:r>
                  <a:rPr lang="en-IN" sz="2400">
                    <a:solidFill>
                      <a:srgbClr val="111827"/>
                    </a:solidFill>
                    <a:latin typeface="Cambria Math" panose="02040503050406030204" pitchFamily="18" charset="0"/>
                  </a:rPr>
                  <a:t>$\angle ARP=180^\circ-30^\circ=150^\circ$</a:t>
                </a:r>
                <a:r>
                  <a:rPr sz="2400" b="0">
                    <a:solidFill>
                      <a:srgbClr val="111827"/>
                    </a:solidFill>
                    <a:latin typeface="Arial"/>
                  </a:rPr>
                  <a:t> (</a:t>
                </a:r>
                <a:r>
                  <a:rPr lang="en-IN" sz="2400">
                    <a:solidFill>
                      <a:srgbClr val="111827"/>
                    </a:solidFill>
                    <a:latin typeface="Cambria Math" panose="02040503050406030204" pitchFamily="18" charset="0"/>
                  </a:rPr>
                  <a:t>$Q,R,P$</a:t>
                </a:r>
                <a:r>
                  <a:rPr sz="2400" b="0">
                    <a:solidFill>
                      <a:srgbClr val="111827"/>
                    </a:solidFill>
                    <a:latin typeface="Arial"/>
                  </a:rPr>
                  <a:t> are collinear).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ARP$</a:t>
                </a:r>
                <a:r>
                  <a:rPr sz="2400" b="0">
                    <a:solidFill>
                      <a:srgbClr val="111827"/>
                    </a:solidFill>
                    <a:latin typeface="Arial"/>
                  </a:rPr>
                  <a:t>: </a:t>
                </a:r>
                <a:r>
                  <a:rPr lang="en-IN" sz="2400">
                    <a:solidFill>
                      <a:srgbClr val="111827"/>
                    </a:solidFill>
                    <a:latin typeface="Cambria Math" panose="02040503050406030204" pitchFamily="18" charset="0"/>
                  </a:rPr>
                  <a:t>$\angle RAP=15^\circ$</a:t>
                </a:r>
                <a:r>
                  <a:rPr sz="2400" b="0">
                    <a:solidFill>
                      <a:srgbClr val="111827"/>
                    </a:solidFill>
                    <a:latin typeface="Arial"/>
                  </a:rPr>
                  <a:t>, so </a:t>
                </a:r>
                <a:r>
                  <a:rPr lang="en-IN" sz="2400">
                    <a:solidFill>
                      <a:srgbClr val="111827"/>
                    </a:solidFill>
                    <a:latin typeface="Cambria Math" panose="02040503050406030204" pitchFamily="18" charset="0"/>
                  </a:rPr>
                  <a:t>$\angle APR=180^\circ-150^\circ-15^\circ=15^\circ$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equal angles give </a:t>
                </a:r>
                <a:r>
                  <a:rPr lang="en-IN" sz="2400">
                    <a:solidFill>
                      <a:srgbClr val="111827"/>
                    </a:solidFill>
                    <a:latin typeface="Cambria Math" panose="02040503050406030204" pitchFamily="18" charset="0"/>
                  </a:rPr>
                  <a:t>$RP=RA$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AQR$</a:t>
                </a:r>
                <a:r>
                  <a:rPr sz="2400" b="0">
                    <a:solidFill>
                      <a:srgbClr val="111827"/>
                    </a:solidFill>
                    <a:latin typeface="Arial"/>
                  </a:rPr>
                  <a:t>: </a:t>
                </a:r>
                <a:r>
                  <a:rPr lang="en-IN" sz="2400">
                    <a:solidFill>
                      <a:srgbClr val="111827"/>
                    </a:solidFill>
                    <a:latin typeface="Cambria Math" panose="02040503050406030204" pitchFamily="18" charset="0"/>
                  </a:rPr>
                  <a:t>$RA=\dfrac{QR}{\sin60^\circ}=\dfrac{15}{\sqrt3/2}=10\sqrt3$</a:t>
                </a:r>
                <a:r>
                  <a:rPr sz="2400" b="0">
                    <a:solidFill>
                      <a:srgbClr val="111827"/>
                    </a:solidFill>
                    <a:latin typeface="Arial"/>
                  </a:rPr>
                  <a:t>, so </a:t>
                </a:r>
                <a:r>
                  <a:rPr lang="en-IN" sz="2400">
                    <a:solidFill>
                      <a:srgbClr val="111827"/>
                    </a:solidFill>
                    <a:latin typeface="Cambria Math" panose="02040503050406030204" pitchFamily="18" charset="0"/>
                  </a:rPr>
                  <a:t>$PR=10\sqrt3$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$PQ=QR+RP=15+10\sqrt3=5(2\sqrt3+3)$</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m</a:t>
                </a:r>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$5(2\sqrt3+3)$</a:t>
                </a:r>
                <a:r>
                  <a:rPr sz="2800" b="1">
                    <a:solidFill>
                      <a:srgbClr val="15803D"/>
                    </a:solidFill>
                    <a:latin typeface="Arial"/>
                  </a:rPr>
                  <a:t> m</a:t>
                </a:r>
                <a:endParaRPr sz="2800">
                  <a:solidFill>
                    <a:srgbClr val="15803D"/>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segment of a vertical tower subtends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difference of the elevations of its ends: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subtended angle equals another angle in the figure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look for an isosceles triangle before using tangents. Check: </a:t>
                </a:r>
                <a14:m>
                  <m:oMath xmlns:m="http://schemas.openxmlformats.org/officeDocument/2006/math">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segment of a vertical tower subtends at </a:t>
                </a:r>
                <a:r>
                  <a:rPr lang="en-IN" sz="2400">
                    <a:solidFill>
                      <a:srgbClr val="111827"/>
                    </a:solidFill>
                    <a:latin typeface="Cambria Math" panose="02040503050406030204" pitchFamily="18" charset="0"/>
                  </a:rPr>
                  <a:t>$A$</a:t>
                </a:r>
                <a:r>
                  <a:rPr sz="2400" b="0">
                    <a:solidFill>
                      <a:srgbClr val="111827"/>
                    </a:solidFill>
                    <a:latin typeface="Arial"/>
                  </a:rPr>
                  <a:t> the difference of the elevations of its ends: </a:t>
                </a:r>
                <a:r>
                  <a:rPr lang="en-IN" sz="2400">
                    <a:solidFill>
                      <a:srgbClr val="111827"/>
                    </a:solidFill>
                    <a:latin typeface="Cambria Math" panose="02040503050406030204" pitchFamily="18" charset="0"/>
                  </a:rPr>
                  <a:t>$\angle PAR=\angle PAQ-\angle RAQ$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$\tan75^\circ=\tan(45^\circ+30^\circ)=2+\sqrt3$</a:t>
                </a:r>
                <a:r>
                  <a:rPr sz="2400" b="0">
                    <a:solidFill>
                      <a:srgbClr val="111827"/>
                    </a:solidFill>
                    <a:latin typeface="Arial"/>
                  </a:rPr>
                  <a:t> and </a:t>
                </a:r>
                <a:r>
                  <a:rPr lang="en-IN" sz="2400">
                    <a:solidFill>
                      <a:srgbClr val="111827"/>
                    </a:solidFill>
                    <a:latin typeface="Cambria Math" panose="02040503050406030204" pitchFamily="18" charset="0"/>
                  </a:rPr>
                  <a:t>$\tan15^\circ=2-\sqrt3$</a:t>
                </a:r>
                <a:r>
                  <a:rPr sz="2400" b="0">
                    <a:solidFill>
                      <a:srgbClr val="111827"/>
                    </a:solidFill>
                    <a:latin typeface="Arial"/>
                  </a:rPr>
                  <a:t>, so </a:t>
                </a:r>
                <a:r>
                  <a:rPr lang="en-IN" sz="2400">
                    <a:solidFill>
                      <a:srgbClr val="111827"/>
                    </a:solidFill>
                    <a:latin typeface="Cambria Math" panose="02040503050406030204" pitchFamily="18" charset="0"/>
                  </a:rPr>
                  <a:t>$\tan15^\circ\tan75^\circ=1$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 subtended angle equals another angle in the figure (here </a:t>
                </a:r>
                <a:r>
                  <a:rPr lang="en-IN" sz="2400">
                    <a:solidFill>
                      <a:srgbClr val="111827"/>
                    </a:solidFill>
                    <a:latin typeface="Cambria Math" panose="02040503050406030204" pitchFamily="18" charset="0"/>
                  </a:rPr>
                  <a:t>$\angle RAP=\angle APR=15^\circ$</a:t>
                </a:r>
                <a:r>
                  <a:rPr sz="2400" b="0">
                    <a:solidFill>
                      <a:srgbClr val="111827"/>
                    </a:solidFill>
                    <a:latin typeface="Arial"/>
                  </a:rPr>
                  <a:t>), look for an isosceles triangle before using tangents. Check: </a:t>
                </a:r>
                <a:r>
                  <a:rPr lang="en-IN" sz="2400">
                    <a:solidFill>
                      <a:srgbClr val="111827"/>
                    </a:solidFill>
                    <a:latin typeface="Cambria Math" panose="02040503050406030204" pitchFamily="18" charset="0"/>
                  </a:rPr>
                  <a:t>$15+10\sqrt3\approx32.32=5(2\sqrt3+3)$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vertical tower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height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oMath>
                </a14:m>
                <a:r>
                  <a:rPr sz="2400" b="0">
                    <a:solidFill>
                      <a:srgbClr val="111827"/>
                    </a:solidFill>
                    <a:latin typeface="Arial"/>
                  </a:rPr>
                  <a:t> stand on a horizontal ground. Let from a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 the ground a man can see up to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of the tower with an angle of elevation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When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he moves a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in the direction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e>
                    </m:acc>
                  </m:oMath>
                </a14:m>
                <a:r>
                  <a:rPr sz="2400" b="0">
                    <a:solidFill>
                      <a:srgbClr val="111827"/>
                    </a:solidFill>
                    <a:latin typeface="Arial"/>
                  </a:rPr>
                  <a:t>, he can see the top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of the tower with an angle of elevation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endParaRPr sz="2400">
                  <a:solidFill>
                    <a:srgbClr val="111827"/>
                  </a:solidFill>
                </a:endParaRPr>
              </a:p>
            </p:txBody>
          </p:sp>
        </mc:Choice>
        <mc:Fallback>
          <p:sp>
            <p:nvSpPr>
              <p:cNvPr id="4" name="Rounded Rectangle 3"/>
              <p:cNvSpPr/>
              <p:nvPr/>
            </p:nvSpPr>
            <p:spPr>
              <a:xfrm>
                <a:off x="731520" y="1280160"/>
                <a:ext cx="10725912" cy="31871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vertical tower </a:t>
                </a:r>
                <a:r>
                  <a:rPr lang="en-IN" sz="2400">
                    <a:solidFill>
                      <a:srgbClr val="111827"/>
                    </a:solidFill>
                    <a:latin typeface="Cambria Math" panose="02040503050406030204" pitchFamily="18" charset="0"/>
                  </a:rPr>
                  <a:t>$AB$</a:t>
                </a:r>
                <a:r>
                  <a:rPr sz="2400" b="0">
                    <a:solidFill>
                      <a:srgbClr val="111827"/>
                    </a:solidFill>
                    <a:latin typeface="Arial"/>
                  </a:rPr>
                  <a:t> of height </a:t>
                </a:r>
                <a:r>
                  <a:rPr lang="en-IN" sz="2400">
                    <a:solidFill>
                      <a:srgbClr val="111827"/>
                    </a:solidFill>
                    <a:latin typeface="Cambria Math" panose="02040503050406030204" pitchFamily="18" charset="0"/>
                  </a:rPr>
                  <a:t>$2h$</a:t>
                </a:r>
                <a:r>
                  <a:rPr sz="2400" b="0">
                    <a:solidFill>
                      <a:srgbClr val="111827"/>
                    </a:solidFill>
                    <a:latin typeface="Arial"/>
                  </a:rPr>
                  <a:t> stand on a horizontal ground. Let from a point </a:t>
                </a:r>
                <a:r>
                  <a:rPr lang="en-IN" sz="2400">
                    <a:solidFill>
                      <a:srgbClr val="111827"/>
                    </a:solidFill>
                    <a:latin typeface="Cambria Math" panose="02040503050406030204" pitchFamily="18" charset="0"/>
                  </a:rPr>
                  <a:t>$P$</a:t>
                </a:r>
                <a:r>
                  <a:rPr sz="2400" b="0">
                    <a:solidFill>
                      <a:srgbClr val="111827"/>
                    </a:solidFill>
                    <a:latin typeface="Arial"/>
                  </a:rPr>
                  <a:t> on the ground a man can see up to height </a:t>
                </a:r>
                <a:r>
                  <a:rPr lang="en-IN" sz="2400">
                    <a:solidFill>
                      <a:srgbClr val="111827"/>
                    </a:solidFill>
                    <a:latin typeface="Cambria Math" panose="02040503050406030204" pitchFamily="18" charset="0"/>
                  </a:rPr>
                  <a:t>$h$</a:t>
                </a:r>
                <a:r>
                  <a:rPr sz="2400" b="0">
                    <a:solidFill>
                      <a:srgbClr val="111827"/>
                    </a:solidFill>
                    <a:latin typeface="Arial"/>
                  </a:rPr>
                  <a:t> of the tower with an angle of elevation </a:t>
                </a:r>
                <a:r>
                  <a:rPr lang="en-IN" sz="2400">
                    <a:solidFill>
                      <a:srgbClr val="111827"/>
                    </a:solidFill>
                    <a:latin typeface="Cambria Math" panose="02040503050406030204" pitchFamily="18" charset="0"/>
                  </a:rPr>
                  <a:t>$2\alpha$</a:t>
                </a:r>
                <a:r>
                  <a:rPr sz="2400" b="0">
                    <a:solidFill>
                      <a:srgbClr val="111827"/>
                    </a:solidFill>
                    <a:latin typeface="Arial"/>
                  </a:rPr>
                  <a:t>. When from </a:t>
                </a:r>
                <a:r>
                  <a:rPr lang="en-IN" sz="2400">
                    <a:solidFill>
                      <a:srgbClr val="111827"/>
                    </a:solidFill>
                    <a:latin typeface="Cambria Math" panose="02040503050406030204" pitchFamily="18" charset="0"/>
                  </a:rPr>
                  <a:t>$P$</a:t>
                </a:r>
                <a:r>
                  <a:rPr sz="2400" b="0">
                    <a:solidFill>
                      <a:srgbClr val="111827"/>
                    </a:solidFill>
                    <a:latin typeface="Arial"/>
                  </a:rPr>
                  <a:t>, he moves a distance </a:t>
                </a:r>
                <a:r>
                  <a:rPr lang="en-IN" sz="2400">
                    <a:solidFill>
                      <a:srgbClr val="111827"/>
                    </a:solidFill>
                    <a:latin typeface="Cambria Math" panose="02040503050406030204" pitchFamily="18" charset="0"/>
                  </a:rPr>
                  <a:t>$d$</a:t>
                </a:r>
                <a:r>
                  <a:rPr sz="2400" b="0">
                    <a:solidFill>
                      <a:srgbClr val="111827"/>
                    </a:solidFill>
                    <a:latin typeface="Arial"/>
                  </a:rPr>
                  <a:t> in the direction of </a:t>
                </a:r>
                <a:r>
                  <a:rPr lang="en-IN" sz="2400">
                    <a:solidFill>
                      <a:srgbClr val="111827"/>
                    </a:solidFill>
                    <a:latin typeface="Cambria Math" panose="02040503050406030204" pitchFamily="18" charset="0"/>
                  </a:rPr>
                  <a:t>$\overrightarrow{AP}$</a:t>
                </a:r>
                <a:r>
                  <a:rPr sz="2400" b="0">
                    <a:solidFill>
                      <a:srgbClr val="111827"/>
                    </a:solidFill>
                    <a:latin typeface="Arial"/>
                  </a:rPr>
                  <a:t>, he can see the top </a:t>
                </a:r>
                <a:r>
                  <a:rPr lang="en-IN" sz="2400">
                    <a:solidFill>
                      <a:srgbClr val="111827"/>
                    </a:solidFill>
                    <a:latin typeface="Cambria Math" panose="02040503050406030204" pitchFamily="18" charset="0"/>
                  </a:rPr>
                  <a:t>$B$</a:t>
                </a:r>
                <a:r>
                  <a:rPr sz="2400" b="0">
                    <a:solidFill>
                      <a:srgbClr val="111827"/>
                    </a:solidFill>
                    <a:latin typeface="Arial"/>
                  </a:rPr>
                  <a:t> of the tower with an angle of elevation </a:t>
                </a:r>
                <a:r>
                  <a:rPr lang="en-IN" sz="2400">
                    <a:solidFill>
                      <a:srgbClr val="111827"/>
                    </a:solidFill>
                    <a:latin typeface="Cambria Math" panose="02040503050406030204" pitchFamily="18" charset="0"/>
                  </a:rPr>
                  <a:t>$\alpha$</a:t>
                </a:r>
                <a:r>
                  <a:rPr sz="2400" b="0">
                    <a:solidFill>
                      <a:srgbClr val="111827"/>
                    </a:solidFill>
                    <a:latin typeface="Arial"/>
                  </a:rPr>
                  <a:t>. If </a:t>
                </a:r>
                <a:r>
                  <a:rPr lang="en-IN" sz="2400">
                    <a:solidFill>
                      <a:srgbClr val="111827"/>
                    </a:solidFill>
                    <a:latin typeface="Cambria Math" panose="02040503050406030204" pitchFamily="18" charset="0"/>
                  </a:rPr>
                  <a:t>$d=\sqrt7\,h$</a:t>
                </a:r>
                <a:r>
                  <a:rPr sz="2400" b="0">
                    <a:solidFill>
                      <a:srgbClr val="111827"/>
                    </a:solidFill>
                    <a:latin typeface="Arial"/>
                  </a:rPr>
                  <a:t>, then </a:t>
                </a:r>
                <a:r>
                  <a:rPr lang="en-IN" sz="2400">
                    <a:solidFill>
                      <a:srgbClr val="111827"/>
                    </a:solidFill>
                    <a:latin typeface="Cambria Math" panose="02040503050406030204" pitchFamily="18" charset="0"/>
                  </a:rPr>
                  <a:t>$\tan\alpha$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$\sqrt5-2$</a:t>
                </a:r>
                <a:r>
                  <a:rPr sz="2400" b="0">
                    <a:solidFill>
                      <a:srgbClr val="111827"/>
                    </a:solidFill>
                    <a:latin typeface="Arial"/>
                  </a:rPr>
                  <a:t>   (B) </a:t>
                </a:r>
                <a:r>
                  <a:rPr lang="en-IN" sz="2400">
                    <a:solidFill>
                      <a:srgbClr val="111827"/>
                    </a:solidFill>
                    <a:latin typeface="Cambria Math" panose="02040503050406030204" pitchFamily="18" charset="0"/>
                  </a:rPr>
                  <a:t>$\sqrt3-1$</a:t>
                </a:r>
                <a:r>
                  <a:rPr sz="2400" b="0">
                    <a:solidFill>
                      <a:srgbClr val="111827"/>
                    </a:solidFill>
                    <a:latin typeface="Arial"/>
                  </a:rPr>
                  <a:t>   (C) </a:t>
                </a:r>
                <a:r>
                  <a:rPr lang="en-IN" sz="2400">
                    <a:solidFill>
                      <a:srgbClr val="111827"/>
                    </a:solidFill>
                    <a:latin typeface="Cambria Math" panose="02040503050406030204" pitchFamily="18" charset="0"/>
                  </a:rPr>
                  <a:t>$\sqrt7-2$</a:t>
                </a:r>
                <a:r>
                  <a:rPr sz="2400" b="0">
                    <a:solidFill>
                      <a:srgbClr val="111827"/>
                    </a:solidFill>
                    <a:latin typeface="Arial"/>
                  </a:rPr>
                  <a:t>   (D) </a:t>
                </a:r>
                <a:r>
                  <a:rPr lang="en-IN" sz="2400">
                    <a:solidFill>
                      <a:srgbClr val="111827"/>
                    </a:solidFill>
                    <a:latin typeface="Cambria Math" panose="02040503050406030204" pitchFamily="18" charset="0"/>
                  </a:rPr>
                  <a:t>$\sqrt7-\sqrt3$</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after moving a distance (heights and distances), Double-angle formula for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and a quadratic in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after moving a distance (heights and distances), Double-angle formula for </a:t>
                </a:r>
                <a:r>
                  <a:rPr lang="en-IN" sz="2400">
                    <a:solidFill>
                      <a:srgbClr val="111827"/>
                    </a:solidFill>
                    <a:latin typeface="Cambria Math" panose="02040503050406030204" pitchFamily="18" charset="0"/>
                  </a:rPr>
                  <a:t>$\tan2\alpha$</a:t>
                </a:r>
                <a:r>
                  <a:rPr sz="2400" b="0">
                    <a:solidFill>
                      <a:srgbClr val="111827"/>
                    </a:solidFill>
                    <a:latin typeface="Arial"/>
                  </a:rPr>
                  <a:t> and a quadratic in </a:t>
                </a:r>
                <a:r>
                  <a:rPr lang="en-IN" sz="2400">
                    <a:solidFill>
                      <a:srgbClr val="111827"/>
                    </a:solidFill>
                    <a:latin typeface="Cambria Math" panose="02040503050406030204" pitchFamily="18" charset="0"/>
                  </a:rPr>
                  <a:t>$\tan\alpha$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oMath>
                </a14:m>
                <a:r>
                  <a:rPr sz="2400" b="0">
                    <a:solidFill>
                      <a:srgbClr val="78350F"/>
                    </a:solidFill>
                    <a:latin typeface="Arial"/>
                  </a:rPr>
                  <a:t> and put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to get a quadratic.</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r>
                  <a:rPr lang="en-IN" sz="2400">
                    <a:solidFill>
                      <a:srgbClr val="78350F"/>
                    </a:solidFill>
                    <a:latin typeface="Cambria Math" panose="02040503050406030204" pitchFamily="18" charset="0"/>
                  </a:rPr>
                  <a:t>$x=AP$</a:t>
                </a:r>
                <a:r>
                  <a:rPr sz="2400" b="0">
                    <a:solidFill>
                      <a:srgbClr val="78350F"/>
                    </a:solidFill>
                    <a:latin typeface="Arial"/>
                  </a:rPr>
                  <a:t> with </a:t>
                </a:r>
                <a:r>
                  <a:rPr lang="en-IN" sz="2400">
                    <a:solidFill>
                      <a:srgbClr val="78350F"/>
                    </a:solidFill>
                    <a:latin typeface="Cambria Math" panose="02040503050406030204" pitchFamily="18" charset="0"/>
                  </a:rPr>
                  <a:t>$x=h\cot2\alpha$</a:t>
                </a:r>
                <a:r>
                  <a:rPr sz="2400" b="0">
                    <a:solidFill>
                      <a:srgbClr val="78350F"/>
                    </a:solidFill>
                    <a:latin typeface="Arial"/>
                  </a:rPr>
                  <a:t> and put </a:t>
                </a:r>
                <a:r>
                  <a:rPr lang="en-IN" sz="2400">
                    <a:solidFill>
                      <a:srgbClr val="78350F"/>
                    </a:solidFill>
                    <a:latin typeface="Cambria Math" panose="02040503050406030204" pitchFamily="18" charset="0"/>
                  </a:rPr>
                  <a:t>$\tan\alpha=t$</a:t>
                </a:r>
                <a:r>
                  <a:rPr sz="2400" b="0">
                    <a:solidFill>
                      <a:srgbClr val="78350F"/>
                    </a:solidFill>
                    <a:latin typeface="Arial"/>
                  </a:rPr>
                  <a:t> to get a quadratic.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be the point at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on the tower.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$AP=x$</a:t>
                </a:r>
                <a:r>
                  <a:rPr sz="2400" b="0">
                    <a:solidFill>
                      <a:srgbClr val="111827"/>
                    </a:solidFill>
                    <a:latin typeface="Arial"/>
                  </a:rPr>
                  <a:t> and let </a:t>
                </a:r>
                <a:r>
                  <a:rPr lang="en-IN" sz="2400">
                    <a:solidFill>
                      <a:srgbClr val="111827"/>
                    </a:solidFill>
                    <a:latin typeface="Cambria Math" panose="02040503050406030204" pitchFamily="18" charset="0"/>
                  </a:rPr>
                  <a:t>$C$</a:t>
                </a:r>
                <a:r>
                  <a:rPr sz="2400" b="0">
                    <a:solidFill>
                      <a:srgbClr val="111827"/>
                    </a:solidFill>
                    <a:latin typeface="Arial"/>
                  </a:rPr>
                  <a:t> be the point at height </a:t>
                </a:r>
                <a:r>
                  <a:rPr lang="en-IN" sz="2400">
                    <a:solidFill>
                      <a:srgbClr val="111827"/>
                    </a:solidFill>
                    <a:latin typeface="Cambria Math" panose="02040503050406030204" pitchFamily="18" charset="0"/>
                  </a:rPr>
                  <a:t>$h$</a:t>
                </a:r>
                <a:r>
                  <a:rPr sz="2400" b="0">
                    <a:solidFill>
                      <a:srgbClr val="111827"/>
                    </a:solidFill>
                    <a:latin typeface="Arial"/>
                  </a:rPr>
                  <a:t> on the tower. From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$\tan2\alpha=\dfrac{h}{x}$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moving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ℎ</m:t>
                    </m:r>
                  </m:oMath>
                </a14:m>
                <a:r>
                  <a:rPr sz="2400" b="0">
                    <a:solidFill>
                      <a:srgbClr val="111827"/>
                    </a:solidFill>
                    <a:latin typeface="Arial"/>
                  </a:rPr>
                  <a:t> further from the tower (to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the distance to the foot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ℎ</m:t>
                    </m:r>
                  </m:oMath>
                </a14:m>
                <a:r>
                  <a:rPr sz="2400" b="0">
                    <a:solidFill>
                      <a:srgbClr val="111827"/>
                    </a:solidFill>
                    <a:latin typeface="Arial"/>
                  </a:rPr>
                  <a:t> and the elevation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After moving </a:t>
                </a:r>
                <a:r>
                  <a:rPr lang="en-IN" sz="2400">
                    <a:solidFill>
                      <a:srgbClr val="111827"/>
                    </a:solidFill>
                    <a:latin typeface="Cambria Math" panose="02040503050406030204" pitchFamily="18" charset="0"/>
                  </a:rPr>
                  <a:t>$d=\sqrt7h$</a:t>
                </a:r>
                <a:r>
                  <a:rPr sz="2400" b="0">
                    <a:solidFill>
                      <a:srgbClr val="111827"/>
                    </a:solidFill>
                    <a:latin typeface="Arial"/>
                  </a:rPr>
                  <a:t> further from the tower (to </a:t>
                </a:r>
                <a:r>
                  <a:rPr lang="en-IN" sz="2400">
                    <a:solidFill>
                      <a:srgbClr val="111827"/>
                    </a:solidFill>
                    <a:latin typeface="Cambria Math" panose="02040503050406030204" pitchFamily="18" charset="0"/>
                  </a:rPr>
                  <a:t>$H$</a:t>
                </a:r>
                <a:r>
                  <a:rPr sz="2400" b="0">
                    <a:solidFill>
                      <a:srgbClr val="111827"/>
                    </a:solidFill>
                    <a:latin typeface="Arial"/>
                  </a:rPr>
                  <a:t>), the distance to the foot is </a:t>
                </a:r>
                <a:r>
                  <a:rPr lang="en-IN" sz="2400">
                    <a:solidFill>
                      <a:srgbClr val="111827"/>
                    </a:solidFill>
                    <a:latin typeface="Cambria Math" panose="02040503050406030204" pitchFamily="18" charset="0"/>
                  </a:rPr>
                  <a:t>$x+\sqrt7h$</a:t>
                </a:r>
                <a:r>
                  <a:rPr sz="2400" b="0">
                    <a:solidFill>
                      <a:srgbClr val="111827"/>
                    </a:solidFill>
                    <a:latin typeface="Arial"/>
                  </a:rPr>
                  <a:t> and the elevation of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$\alpha$</a:t>
                </a:r>
                <a:r>
                  <a:rPr sz="2400" b="0">
                    <a:solidFill>
                      <a:srgbClr val="111827"/>
                    </a:solidFill>
                    <a:latin typeface="Arial"/>
                  </a:rPr>
                  <a:t>: </a:t>
                </a:r>
                <a:r>
                  <a:rPr lang="en-IN" sz="2400">
                    <a:solidFill>
                      <a:srgbClr val="111827"/>
                    </a:solidFill>
                    <a:latin typeface="Cambria Math" panose="02040503050406030204" pitchFamily="18" charset="0"/>
                  </a:rPr>
                  <a:t>$\tan\alpha=\dfrac{2h}{x+\sqrt7h}$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$x=h\cot2\alpha$</a:t>
                </a:r>
                <a:r>
                  <a:rPr sz="2400" b="0">
                    <a:solidFill>
                      <a:srgbClr val="111827"/>
                    </a:solidFill>
                    <a:latin typeface="Arial"/>
                  </a:rPr>
                  <a:t>: </a:t>
                </a:r>
                <a:r>
                  <a:rPr lang="en-IN" sz="2400">
                    <a:solidFill>
                      <a:srgbClr val="111827"/>
                    </a:solidFill>
                    <a:latin typeface="Cambria Math" panose="02040503050406030204" pitchFamily="18" charset="0"/>
                  </a:rPr>
                  <a:t>$\tan\alpha=\dfrac{2h}{h\cot2\alpha+\sqrt7h}=\dfrac{2}{\cot2\alpha+\sqrt7}$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$\tan\alpha=t$</a:t>
                </a:r>
                <a:r>
                  <a:rPr sz="2400" b="0">
                    <a:solidFill>
                      <a:srgbClr val="111827"/>
                    </a:solidFill>
                    <a:latin typeface="Arial"/>
                  </a:rPr>
                  <a:t>: </a:t>
                </a:r>
                <a:r>
                  <a:rPr lang="en-IN" sz="2400">
                    <a:solidFill>
                      <a:srgbClr val="111827"/>
                    </a:solidFill>
                    <a:latin typeface="Cambria Math" panose="02040503050406030204" pitchFamily="18" charset="0"/>
                  </a:rPr>
                  <a:t>$\cot2\alpha=\dfrac{1-t^2}{2t}$</a:t>
                </a:r>
                <a:r>
                  <a:rPr sz="2400" b="0">
                    <a:solidFill>
                      <a:srgbClr val="111827"/>
                    </a:solidFill>
                    <a:latin typeface="Arial"/>
                  </a:rPr>
                  <a:t>, so </a:t>
                </a:r>
                <a:r>
                  <a:rPr lang="en-IN" sz="2400">
                    <a:solidFill>
                      <a:srgbClr val="111827"/>
                    </a:solidFill>
                    <a:latin typeface="Cambria Math" panose="02040503050406030204" pitchFamily="18" charset="0"/>
                  </a:rPr>
                  <a:t>$t=\dfrac{2}{\frac{1-t^2}{2t}+\sqrt7}$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14:m>
                  <m:oMath xmlns:m="http://schemas.openxmlformats.org/officeDocument/2006/math">
                    <m:r>
                      <a:rPr lang="en-IN" sz="2400" i="1">
                        <a:solidFill>
                          <a:srgbClr val="111827"/>
                        </a:solidFill>
                        <a:latin typeface="Cambria Math" panose="02040503050406030204" pitchFamily="18" charset="0"/>
                      </a:rPr>
                      <m:t>𝑡</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the root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is rejected.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Simplify: </a:t>
                </a:r>
                <a:r>
                  <a:rPr lang="en-IN" sz="2400">
                    <a:solidFill>
                      <a:srgbClr val="111827"/>
                    </a:solidFill>
                    <a:latin typeface="Cambria Math" panose="02040503050406030204" pitchFamily="18" charset="0"/>
                  </a:rPr>
                  <a:t>$t\left(\dfrac{1-t^2}{2t}+\sqrt7\right)=2$</a:t>
                </a:r>
                <a:r>
                  <a:rPr sz="2400" b="0">
                    <a:solidFill>
                      <a:srgbClr val="111827"/>
                    </a:solidFill>
                    <a:latin typeface="Arial"/>
                  </a:rPr>
                  <a:t>, i.e. </a:t>
                </a:r>
                <a:r>
                  <a:rPr lang="en-IN" sz="2400">
                    <a:solidFill>
                      <a:srgbClr val="111827"/>
                    </a:solidFill>
                    <a:latin typeface="Cambria Math" panose="02040503050406030204" pitchFamily="18" charset="0"/>
                  </a:rPr>
                  <a:t>$\dfrac{1-t^2}{2}+\sqrt7\,t=2$</a:t>
                </a:r>
                <a:r>
                  <a:rPr sz="2400" b="0">
                    <a:solidFill>
                      <a:srgbClr val="111827"/>
                    </a:solidFill>
                    <a:latin typeface="Arial"/>
                  </a:rPr>
                  <a:t>, so </a:t>
                </a:r>
                <a:r>
                  <a:rPr lang="en-IN" sz="2400">
                    <a:solidFill>
                      <a:srgbClr val="111827"/>
                    </a:solidFill>
                    <a:latin typeface="Cambria Math" panose="02040503050406030204" pitchFamily="18" charset="0"/>
                  </a:rPr>
                  <a:t>$1-t^2+2\sqrt7t=4$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$t^2-2\sqrt7\,t+3=0$</a:t>
                </a:r>
                <a:r>
                  <a:rPr sz="2400" b="0">
                    <a:solidFill>
                      <a:srgbClr val="111827"/>
                    </a:solidFill>
                    <a:latin typeface="Arial"/>
                  </a:rPr>
                  <a:t>, so </a:t>
                </a:r>
                <a:r>
                  <a:rPr lang="en-IN" sz="2400">
                    <a:solidFill>
                      <a:srgbClr val="111827"/>
                    </a:solidFill>
                    <a:latin typeface="Cambria Math" panose="02040503050406030204" pitchFamily="18" charset="0"/>
                  </a:rPr>
                  <a:t>$t=\sqrt7\pm2$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$0&lt;2\alpha&lt;90^\circ$</a:t>
                </a:r>
                <a:r>
                  <a:rPr sz="2400" b="0">
                    <a:solidFill>
                      <a:srgbClr val="111827"/>
                    </a:solidFill>
                    <a:latin typeface="Arial"/>
                  </a:rPr>
                  <a:t>, </a:t>
                </a:r>
                <a:r>
                  <a:rPr lang="en-IN" sz="2400">
                    <a:solidFill>
                      <a:srgbClr val="111827"/>
                    </a:solidFill>
                    <a:latin typeface="Cambria Math" panose="02040503050406030204" pitchFamily="18" charset="0"/>
                  </a:rPr>
                  <a:t>$\tan\alpha&lt;1$</a:t>
                </a:r>
                <a:r>
                  <a:rPr sz="2400" b="0">
                    <a:solidFill>
                      <a:srgbClr val="111827"/>
                    </a:solidFill>
                    <a:latin typeface="Arial"/>
                  </a:rPr>
                  <a:t>; the root </a:t>
                </a:r>
                <a:r>
                  <a:rPr lang="en-IN" sz="2400">
                    <a:solidFill>
                      <a:srgbClr val="111827"/>
                    </a:solidFill>
                    <a:latin typeface="Cambria Math" panose="02040503050406030204" pitchFamily="18" charset="0"/>
                  </a:rPr>
                  <a:t>$\sqrt7+2&gt;1$</a:t>
                </a:r>
                <a:r>
                  <a:rPr sz="2400" b="0">
                    <a:solidFill>
                      <a:srgbClr val="111827"/>
                    </a:solidFill>
                    <a:latin typeface="Arial"/>
                  </a:rPr>
                  <a:t> is rejected. So </a:t>
                </a:r>
                <a:r>
                  <a:rPr lang="en-IN" sz="2400">
                    <a:solidFill>
                      <a:srgbClr val="111827"/>
                    </a:solidFill>
                    <a:latin typeface="Cambria Math" panose="02040503050406030204" pitchFamily="18" charset="0"/>
                  </a:rPr>
                  <a:t>$\tan\alpha=\sqrt7-2$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7</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$\sqrt7-2$</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identity </a:t>
                </a:r>
                <a14:m>
                  <m:oMath xmlns:m="http://schemas.openxmlformats.org/officeDocument/2006/math">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csc</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oMath>
                </a14:m>
                <a:r>
                  <a:rPr sz="2400" b="0">
                    <a:solidFill>
                      <a:srgbClr val="78350F"/>
                    </a:solidFill>
                    <a:latin typeface="Arial"/>
                  </a:rPr>
                  <a:t> to turn the two sight lines into one equation in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identity </a:t>
                </a:r>
                <a:r>
                  <a:rPr lang="en-IN" sz="2400">
                    <a:solidFill>
                      <a:srgbClr val="78350F"/>
                    </a:solidFill>
                    <a:latin typeface="Cambria Math" panose="02040503050406030204" pitchFamily="18" charset="0"/>
                  </a:rPr>
                  <a:t>$\cot\alpha-\cot2\alpha=\csc2\alpha$</a:t>
                </a:r>
                <a:r>
                  <a:rPr sz="2400" b="0">
                    <a:solidFill>
                      <a:srgbClr val="78350F"/>
                    </a:solidFill>
                    <a:latin typeface="Arial"/>
                  </a:rPr>
                  <a:t> to turn the two sight lines into one equation in </a:t>
                </a:r>
                <a:r>
                  <a:rPr lang="en-IN" sz="2400">
                    <a:solidFill>
                      <a:srgbClr val="78350F"/>
                    </a:solidFill>
                    <a:latin typeface="Cambria Math" panose="02040503050406030204" pitchFamily="18" charset="0"/>
                  </a:rPr>
                  <a:t>$u=x/h$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csc</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identity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csc</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$u=\dfrac xh$</a:t>
                </a:r>
                <a:r>
                  <a:rPr sz="2400" b="0">
                    <a:solidFill>
                      <a:srgbClr val="111827"/>
                    </a:solidFill>
                    <a:latin typeface="Arial"/>
                  </a:rPr>
                  <a:t>. Then </a:t>
                </a:r>
                <a:r>
                  <a:rPr lang="en-IN" sz="2400">
                    <a:solidFill>
                      <a:srgbClr val="111827"/>
                    </a:solidFill>
                    <a:latin typeface="Cambria Math" panose="02040503050406030204" pitchFamily="18" charset="0"/>
                  </a:rPr>
                  <a:t>$\cot2\alpha=u$</a:t>
                </a:r>
                <a:r>
                  <a:rPr sz="2400" b="0">
                    <a:solidFill>
                      <a:srgbClr val="111827"/>
                    </a:solidFill>
                    <a:latin typeface="Arial"/>
                  </a:rPr>
                  <a:t>, </a:t>
                </a:r>
                <a:r>
                  <a:rPr lang="en-IN" sz="2400">
                    <a:solidFill>
                      <a:srgbClr val="111827"/>
                    </a:solidFill>
                    <a:latin typeface="Cambria Math" panose="02040503050406030204" pitchFamily="18" charset="0"/>
                  </a:rPr>
                  <a:t>$\csc2\alpha=\sqrt{1+u^2}$</a:t>
                </a:r>
                <a:r>
                  <a:rPr sz="2400" b="0">
                    <a:solidFill>
                      <a:srgbClr val="111827"/>
                    </a:solidFill>
                    <a:latin typeface="Arial"/>
                  </a:rPr>
                  <a:t> and </a:t>
                </a:r>
                <a:r>
                  <a:rPr lang="en-IN" sz="2400">
                    <a:solidFill>
                      <a:srgbClr val="111827"/>
                    </a:solidFill>
                    <a:latin typeface="Cambria Math" panose="02040503050406030204" pitchFamily="18" charset="0"/>
                  </a:rPr>
                  <a:t>$\cot\alpha=\dfrac{x+\sqrt7h}{2h}=\dfrac{u+\sqrt7}{2}$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identity </a:t>
                </a:r>
                <a:r>
                  <a:rPr lang="en-IN" sz="2400">
                    <a:solidFill>
                      <a:srgbClr val="111827"/>
                    </a:solidFill>
                    <a:latin typeface="Cambria Math" panose="02040503050406030204" pitchFamily="18" charset="0"/>
                  </a:rPr>
                  <a:t>$\cot\alpha-\cot2\alpha=\csc2\alpha$</a:t>
                </a:r>
                <a:r>
                  <a:rPr sz="2400" b="0">
                    <a:solidFill>
                      <a:srgbClr val="111827"/>
                    </a:solidFill>
                    <a:latin typeface="Arial"/>
                  </a:rPr>
                  <a:t> gives </a:t>
                </a:r>
                <a:r>
                  <a:rPr lang="en-IN" sz="2400">
                    <a:solidFill>
                      <a:srgbClr val="111827"/>
                    </a:solidFill>
                    <a:latin typeface="Cambria Math" panose="02040503050406030204" pitchFamily="18" charset="0"/>
                  </a:rPr>
                  <a:t>$\dfrac{u+\sqrt7}{2}-u=\sqrt{1+u^2}$</a:t>
                </a:r>
                <a:r>
                  <a:rPr sz="2400" b="0">
                    <a:solidFill>
                      <a:srgbClr val="111827"/>
                    </a:solidFill>
                    <a:latin typeface="Arial"/>
                  </a:rPr>
                  <a:t>, i.e. </a:t>
                </a:r>
                <a:r>
                  <a:rPr lang="en-IN" sz="2400">
                    <a:solidFill>
                      <a:srgbClr val="111827"/>
                    </a:solidFill>
                    <a:latin typeface="Cambria Math" panose="02040503050406030204" pitchFamily="18" charset="0"/>
                  </a:rPr>
                  <a:t>$\dfrac{\sqrt7-u}{2}=\sqrt{1+u^2}$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t>
                </a:r>
                <a:r>
                  <a:rPr lang="en-IN" sz="2400">
                    <a:solidFill>
                      <a:srgbClr val="111827"/>
                    </a:solidFill>
                    <a:latin typeface="Cambria Math" panose="02040503050406030204" pitchFamily="18" charset="0"/>
                  </a:rPr>
                  <a:t>$7-2\sqrt7u+u^2=4+4u^2$</a:t>
                </a:r>
                <a:r>
                  <a:rPr sz="2400" b="0">
                    <a:solidFill>
                      <a:srgbClr val="111827"/>
                    </a:solidFill>
                    <a:latin typeface="Arial"/>
                  </a:rPr>
                  <a:t>, so </a:t>
                </a:r>
                <a:r>
                  <a:rPr lang="en-IN" sz="2400">
                    <a:solidFill>
                      <a:srgbClr val="111827"/>
                    </a:solidFill>
                    <a:latin typeface="Cambria Math" panose="02040503050406030204" pitchFamily="18" charset="0"/>
                  </a:rPr>
                  <a:t>$3u^2+2\sqrt7u-3=0$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$u=\dfrac{-2\sqrt7\pm8}{6}$</a:t>
                </a:r>
                <a:r>
                  <a:rPr sz="2400" b="0">
                    <a:solidFill>
                      <a:srgbClr val="111827"/>
                    </a:solidFill>
                    <a:latin typeface="Arial"/>
                  </a:rPr>
                  <a:t>; </a:t>
                </a:r>
                <a:r>
                  <a:rPr lang="en-IN" sz="2400">
                    <a:solidFill>
                      <a:srgbClr val="111827"/>
                    </a:solidFill>
                    <a:latin typeface="Cambria Math" panose="02040503050406030204" pitchFamily="18" charset="0"/>
                  </a:rPr>
                  <a:t>$u&gt;0$</a:t>
                </a:r>
                <a:r>
                  <a:rPr sz="2400" b="0">
                    <a:solidFill>
                      <a:srgbClr val="111827"/>
                    </a:solidFill>
                    <a:latin typeface="Arial"/>
                  </a:rPr>
                  <a:t> forces </a:t>
                </a:r>
                <a:r>
                  <a:rPr lang="en-IN" sz="2400">
                    <a:solidFill>
                      <a:srgbClr val="111827"/>
                    </a:solidFill>
                    <a:latin typeface="Cambria Math" panose="02040503050406030204" pitchFamily="18" charset="0"/>
                  </a:rPr>
                  <a:t>$u=\dfrac{4-\sqrt7}{3}$</a:t>
                </a:r>
                <a:r>
                  <a:rPr sz="2400" b="0">
                    <a:solidFill>
                      <a:srgbClr val="111827"/>
                    </a:solidFill>
                    <a:latin typeface="Arial"/>
                  </a:rPr>
                  <a:t> (and </a:t>
                </a:r>
                <a:r>
                  <a:rPr lang="en-IN" sz="2400">
                    <a:solidFill>
                      <a:srgbClr val="111827"/>
                    </a:solidFill>
                    <a:latin typeface="Cambria Math" panose="02040503050406030204" pitchFamily="18" charset="0"/>
                  </a:rPr>
                  <a:t>$\sqrt7-u&gt;0$</a:t>
                </a:r>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$\cot\alpha=\dfrac{u+\sqrt7}{2}=\dfrac{4+2\sqrt7}{6}=\dfrac{2+\sqrt7}{3}$</a:t>
                </a:r>
                <a:r>
                  <a:rPr sz="2400" b="0">
                    <a:solidFill>
                      <a:srgbClr val="111827"/>
                    </a:solidFill>
                    <a:latin typeface="Arial"/>
                  </a:rPr>
                  <a:t>, so </a:t>
                </a:r>
                <a:r>
                  <a:rPr lang="en-IN" sz="2400">
                    <a:solidFill>
                      <a:srgbClr val="111827"/>
                    </a:solidFill>
                    <a:latin typeface="Cambria Math" panose="02040503050406030204" pitchFamily="18" charset="0"/>
                  </a:rPr>
                  <a:t>$\tan\alpha=\dfrac{3}{2+\sqrt7}=\dfrac{3(\sqrt7-2)}{7-4}=\sqrt7-2$</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7</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$\sqrt7-2$</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csc</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csc</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csc</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Moving a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directly away from the tower changes the horizontal distance from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elevations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β</m:t>
                    </m:r>
                  </m:oMath>
                </a14:m>
                <a:r>
                  <a:rPr sz="2400" b="0">
                    <a:solidFill>
                      <a:srgbClr val="111827"/>
                    </a:solidFill>
                    <a:latin typeface="Arial"/>
                  </a:rPr>
                  <a:t> of a point at height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two elevations are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convert everything to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oMath>
                </a14:m>
                <a:r>
                  <a:rPr sz="2400" b="0">
                    <a:solidFill>
                      <a:srgbClr val="111827"/>
                    </a:solidFill>
                    <a:latin typeface="Arial"/>
                  </a:rPr>
                  <a:t> using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then reject roots that make an angle impossible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$\cot\alpha-\cot2\alpha=\csc2\alpha$</a:t>
                </a:r>
                <a:r>
                  <a:rPr sz="2400" b="0">
                    <a:solidFill>
                      <a:srgbClr val="111827"/>
                    </a:solidFill>
                    <a:latin typeface="Arial"/>
                  </a:rPr>
                  <a:t> (and </a:t>
                </a:r>
                <a:r>
                  <a:rPr lang="en-IN" sz="2400">
                    <a:solidFill>
                      <a:srgbClr val="111827"/>
                    </a:solidFill>
                    <a:latin typeface="Cambria Math" panose="02040503050406030204" pitchFamily="18" charset="0"/>
                  </a:rPr>
                  <a:t>$\cot\alpha+\tan\alpha=2\csc2\alpha$</a:t>
                </a:r>
                <a:r>
                  <a:rPr sz="2400" b="0">
                    <a:solidFill>
                      <a:srgbClr val="111827"/>
                    </a:solidFill>
                    <a:latin typeface="Arial"/>
                  </a:rPr>
                  <a:t>). Check </a:t>
                </a:r>
                <a:r>
                  <a:rPr lang="en-IN" sz="2400">
                    <a:solidFill>
                      <a:srgbClr val="111827"/>
                    </a:solidFill>
                    <a:latin typeface="Cambria Math" panose="02040503050406030204" pitchFamily="18" charset="0"/>
                  </a:rPr>
                  <a:t>$\alpha=30^\circ$</a:t>
                </a:r>
                <a:r>
                  <a:rPr sz="2400" b="0">
                    <a:solidFill>
                      <a:srgbClr val="111827"/>
                    </a:solidFill>
                    <a:latin typeface="Arial"/>
                  </a:rPr>
                  <a:t>: </a:t>
                </a:r>
                <a:r>
                  <a:rPr lang="en-IN" sz="2400">
                    <a:solidFill>
                      <a:srgbClr val="111827"/>
                    </a:solidFill>
                    <a:latin typeface="Cambria Math" panose="02040503050406030204" pitchFamily="18" charset="0"/>
                  </a:rPr>
                  <a:t>$\sqrt3-\tfrac1{\sqrt3}=\tfrac2{\sqrt3}=\csc60^\circ$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Moving a distance </a:t>
                </a:r>
                <a:r>
                  <a:rPr lang="en-IN" sz="2400">
                    <a:solidFill>
                      <a:srgbClr val="111827"/>
                    </a:solidFill>
                    <a:latin typeface="Cambria Math" panose="02040503050406030204" pitchFamily="18" charset="0"/>
                  </a:rPr>
                  <a:t>$d$</a:t>
                </a:r>
                <a:r>
                  <a:rPr sz="2400" b="0">
                    <a:solidFill>
                      <a:srgbClr val="111827"/>
                    </a:solidFill>
                    <a:latin typeface="Arial"/>
                  </a:rPr>
                  <a:t> directly away from the tower changes the horizontal distance from </a:t>
                </a:r>
                <a:r>
                  <a:rPr lang="en-IN" sz="2400">
                    <a:solidFill>
                      <a:srgbClr val="111827"/>
                    </a:solidFill>
                    <a:latin typeface="Cambria Math" panose="02040503050406030204" pitchFamily="18" charset="0"/>
                  </a:rPr>
                  <a:t>$x$</a:t>
                </a:r>
                <a:r>
                  <a:rPr sz="2400" b="0">
                    <a:solidFill>
                      <a:srgbClr val="111827"/>
                    </a:solidFill>
                    <a:latin typeface="Arial"/>
                  </a:rPr>
                  <a:t> to </a:t>
                </a:r>
                <a:r>
                  <a:rPr lang="en-IN" sz="2400">
                    <a:solidFill>
                      <a:srgbClr val="111827"/>
                    </a:solidFill>
                    <a:latin typeface="Cambria Math" panose="02040503050406030204" pitchFamily="18" charset="0"/>
                  </a:rPr>
                  <a:t>$x+d$</a:t>
                </a:r>
                <a:r>
                  <a:rPr sz="2400" b="0">
                    <a:solidFill>
                      <a:srgbClr val="111827"/>
                    </a:solidFill>
                    <a:latin typeface="Arial"/>
                  </a:rPr>
                  <a:t>, so </a:t>
                </a:r>
                <a:r>
                  <a:rPr lang="en-IN" sz="2400">
                    <a:solidFill>
                      <a:srgbClr val="111827"/>
                    </a:solidFill>
                    <a:latin typeface="Cambria Math" panose="02040503050406030204" pitchFamily="18" charset="0"/>
                  </a:rPr>
                  <a:t>$d=H(\cot\beta-\cot\alpha)$</a:t>
                </a:r>
                <a:r>
                  <a:rPr sz="2400" b="0">
                    <a:solidFill>
                      <a:srgbClr val="111827"/>
                    </a:solidFill>
                    <a:latin typeface="Arial"/>
                  </a:rPr>
                  <a:t> for elevations </a:t>
                </a:r>
                <a:r>
                  <a:rPr lang="en-IN" sz="2400">
                    <a:solidFill>
                      <a:srgbClr val="111827"/>
                    </a:solidFill>
                    <a:latin typeface="Cambria Math" panose="02040503050406030204" pitchFamily="18" charset="0"/>
                  </a:rPr>
                  <a:t>$\alpha&gt;\beta$</a:t>
                </a:r>
                <a:r>
                  <a:rPr sz="2400" b="0">
                    <a:solidFill>
                      <a:srgbClr val="111827"/>
                    </a:solidFill>
                    <a:latin typeface="Arial"/>
                  </a:rPr>
                  <a:t> of a point at height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two elevations are </a:t>
                </a:r>
                <a:r>
                  <a:rPr lang="en-IN" sz="2400">
                    <a:solidFill>
                      <a:srgbClr val="111827"/>
                    </a:solidFill>
                    <a:latin typeface="Cambria Math" panose="02040503050406030204" pitchFamily="18" charset="0"/>
                  </a:rPr>
                  <a:t>$2\alpha$</a:t>
                </a:r>
                <a:r>
                  <a:rPr sz="2400" b="0">
                    <a:solidFill>
                      <a:srgbClr val="111827"/>
                    </a:solidFill>
                    <a:latin typeface="Arial"/>
                  </a:rPr>
                  <a:t> and </a:t>
                </a:r>
                <a:r>
                  <a:rPr lang="en-IN" sz="2400">
                    <a:solidFill>
                      <a:srgbClr val="111827"/>
                    </a:solidFill>
                    <a:latin typeface="Cambria Math" panose="02040503050406030204" pitchFamily="18" charset="0"/>
                  </a:rPr>
                  <a:t>$\alpha$</a:t>
                </a:r>
                <a:r>
                  <a:rPr sz="2400" b="0">
                    <a:solidFill>
                      <a:srgbClr val="111827"/>
                    </a:solidFill>
                    <a:latin typeface="Arial"/>
                  </a:rPr>
                  <a:t>, convert everything to </a:t>
                </a:r>
                <a:r>
                  <a:rPr lang="en-IN" sz="2400">
                    <a:solidFill>
                      <a:srgbClr val="111827"/>
                    </a:solidFill>
                    <a:latin typeface="Cambria Math" panose="02040503050406030204" pitchFamily="18" charset="0"/>
                  </a:rPr>
                  <a:t>$t=\tan\alpha$</a:t>
                </a:r>
                <a:r>
                  <a:rPr sz="2400" b="0">
                    <a:solidFill>
                      <a:srgbClr val="111827"/>
                    </a:solidFill>
                    <a:latin typeface="Arial"/>
                  </a:rPr>
                  <a:t> using </a:t>
                </a:r>
                <a:r>
                  <a:rPr lang="en-IN" sz="2400">
                    <a:solidFill>
                      <a:srgbClr val="111827"/>
                    </a:solidFill>
                    <a:latin typeface="Cambria Math" panose="02040503050406030204" pitchFamily="18" charset="0"/>
                  </a:rPr>
                  <a:t>$\tan2\alpha=\dfrac{2t}{1-t^2}$</a:t>
                </a:r>
                <a:r>
                  <a:rPr sz="2400" b="0">
                    <a:solidFill>
                      <a:srgbClr val="111827"/>
                    </a:solidFill>
                    <a:latin typeface="Arial"/>
                  </a:rPr>
                  <a:t>, then reject roots that make an angle impossible (</a:t>
                </a:r>
                <a:r>
                  <a:rPr lang="en-IN" sz="2400">
                    <a:solidFill>
                      <a:srgbClr val="111827"/>
                    </a:solidFill>
                    <a:latin typeface="Cambria Math" panose="02040503050406030204" pitchFamily="18" charset="0"/>
                  </a:rPr>
                  <a:t>$2\alpha&lt;90^\circ\Rightarrow t&lt;1$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of a vertical tower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of height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from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the horizontal ground is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point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oMath>
                </a14:m>
                <a:r>
                  <a:rPr sz="2400" b="0">
                    <a:solidFill>
                      <a:srgbClr val="111827"/>
                    </a:solidFill>
                    <a:latin typeface="Arial"/>
                  </a:rPr>
                  <a:t> and from a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vertically above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the angle of elevation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the area of the trapezium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then the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2</m:t>
                            </m:r>
                          </m:den>
                        </m:f>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25</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2</m:t>
                            </m:r>
                          </m:den>
                        </m:f>
                      </m:e>
                    </m:d>
                  </m:oMath>
                </a14:m>
                <a:endParaRPr sz="2400">
                  <a:solidFill>
                    <a:srgbClr val="111827"/>
                  </a:solidFill>
                </a:endParaRPr>
              </a:p>
            </p:txBody>
          </p:sp>
        </mc:Choice>
        <mc:Fallback>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a:t>
                </a:r>
                <a:r>
                  <a:rPr lang="en-IN" sz="2400">
                    <a:solidFill>
                      <a:srgbClr val="111827"/>
                    </a:solidFill>
                    <a:latin typeface="Cambria Math" panose="02040503050406030204" pitchFamily="18" charset="0"/>
                  </a:rPr>
                  <a:t>$P$</a:t>
                </a:r>
                <a:r>
                  <a:rPr sz="2400" b="0">
                    <a:solidFill>
                      <a:srgbClr val="111827"/>
                    </a:solidFill>
                    <a:latin typeface="Arial"/>
                  </a:rPr>
                  <a:t> of a vertical tower </a:t>
                </a:r>
                <a:r>
                  <a:rPr lang="en-IN" sz="2400">
                    <a:solidFill>
                      <a:srgbClr val="111827"/>
                    </a:solidFill>
                    <a:latin typeface="Cambria Math" panose="02040503050406030204" pitchFamily="18" charset="0"/>
                  </a:rPr>
                  <a:t>$PQ$</a:t>
                </a:r>
                <a:r>
                  <a:rPr sz="2400" b="0">
                    <a:solidFill>
                      <a:srgbClr val="111827"/>
                    </a:solidFill>
                    <a:latin typeface="Arial"/>
                  </a:rPr>
                  <a:t> of height </a:t>
                </a:r>
                <a:r>
                  <a:rPr lang="en-IN" sz="2400">
                    <a:solidFill>
                      <a:srgbClr val="111827"/>
                    </a:solidFill>
                    <a:latin typeface="Cambria Math" panose="02040503050406030204" pitchFamily="18" charset="0"/>
                  </a:rPr>
                  <a:t>$10$</a:t>
                </a:r>
                <a:r>
                  <a:rPr sz="2400" b="0">
                    <a:solidFill>
                      <a:srgbClr val="111827"/>
                    </a:solidFill>
                    <a:latin typeface="Arial"/>
                  </a:rPr>
                  <a:t> from a point </a:t>
                </a:r>
                <a:r>
                  <a:rPr lang="en-IN" sz="2400">
                    <a:solidFill>
                      <a:srgbClr val="111827"/>
                    </a:solidFill>
                    <a:latin typeface="Cambria Math" panose="02040503050406030204" pitchFamily="18" charset="0"/>
                  </a:rPr>
                  <a:t>$A$</a:t>
                </a:r>
                <a:r>
                  <a:rPr sz="2400" b="0">
                    <a:solidFill>
                      <a:srgbClr val="111827"/>
                    </a:solidFill>
                    <a:latin typeface="Arial"/>
                  </a:rPr>
                  <a:t> on the horizontal ground is </a:t>
                </a:r>
                <a:r>
                  <a:rPr lang="en-IN" sz="2400">
                    <a:solidFill>
                      <a:srgbClr val="111827"/>
                    </a:solidFill>
                    <a:latin typeface="Cambria Math" panose="02040503050406030204" pitchFamily="18" charset="0"/>
                  </a:rPr>
                  <a:t>$45^\circ$</a:t>
                </a:r>
                <a:r>
                  <a:rPr sz="2400" b="0">
                    <a:solidFill>
                      <a:srgbClr val="111827"/>
                    </a:solidFill>
                    <a:latin typeface="Arial"/>
                  </a:rPr>
                  <a:t>. Let </a:t>
                </a:r>
                <a:r>
                  <a:rPr lang="en-IN" sz="2400">
                    <a:solidFill>
                      <a:srgbClr val="111827"/>
                    </a:solidFill>
                    <a:latin typeface="Cambria Math" panose="02040503050406030204" pitchFamily="18" charset="0"/>
                  </a:rPr>
                  <a:t>$R$</a:t>
                </a:r>
                <a:r>
                  <a:rPr sz="2400" b="0">
                    <a:solidFill>
                      <a:srgbClr val="111827"/>
                    </a:solidFill>
                    <a:latin typeface="Arial"/>
                  </a:rPr>
                  <a:t> be a point on </a:t>
                </a:r>
                <a:r>
                  <a:rPr lang="en-IN" sz="2400">
                    <a:solidFill>
                      <a:srgbClr val="111827"/>
                    </a:solidFill>
                    <a:latin typeface="Cambria Math" panose="02040503050406030204" pitchFamily="18" charset="0"/>
                  </a:rPr>
                  <a:t>$AQ$</a:t>
                </a:r>
                <a:r>
                  <a:rPr sz="2400" b="0">
                    <a:solidFill>
                      <a:srgbClr val="111827"/>
                    </a:solidFill>
                    <a:latin typeface="Arial"/>
                  </a:rPr>
                  <a:t> and from a point </a:t>
                </a:r>
                <a:r>
                  <a:rPr lang="en-IN" sz="2400">
                    <a:solidFill>
                      <a:srgbClr val="111827"/>
                    </a:solidFill>
                    <a:latin typeface="Cambria Math" panose="02040503050406030204" pitchFamily="18" charset="0"/>
                  </a:rPr>
                  <a:t>$B$</a:t>
                </a:r>
                <a:r>
                  <a:rPr sz="2400" b="0">
                    <a:solidFill>
                      <a:srgbClr val="111827"/>
                    </a:solidFill>
                    <a:latin typeface="Arial"/>
                  </a:rPr>
                  <a:t>, vertically above </a:t>
                </a:r>
                <a:r>
                  <a:rPr lang="en-IN" sz="2400">
                    <a:solidFill>
                      <a:srgbClr val="111827"/>
                    </a:solidFill>
                    <a:latin typeface="Cambria Math" panose="02040503050406030204" pitchFamily="18" charset="0"/>
                  </a:rPr>
                  <a:t>$R$</a:t>
                </a:r>
                <a:r>
                  <a:rPr sz="2400" b="0">
                    <a:solidFill>
                      <a:srgbClr val="111827"/>
                    </a:solidFill>
                    <a:latin typeface="Arial"/>
                  </a:rPr>
                  <a:t>, the angle of elevation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If </a:t>
                </a:r>
                <a:r>
                  <a:rPr lang="en-IN" sz="2400">
                    <a:solidFill>
                      <a:srgbClr val="111827"/>
                    </a:solidFill>
                    <a:latin typeface="Cambria Math" panose="02040503050406030204" pitchFamily="18" charset="0"/>
                  </a:rPr>
                  <a:t>$\angle BAQ=30^\circ$</a:t>
                </a:r>
                <a:r>
                  <a:rPr sz="2400" b="0">
                    <a:solidFill>
                      <a:srgbClr val="111827"/>
                    </a:solidFill>
                    <a:latin typeface="Arial"/>
                  </a:rPr>
                  <a:t>, </a:t>
                </a:r>
                <a:r>
                  <a:rPr lang="en-IN" sz="2400">
                    <a:solidFill>
                      <a:srgbClr val="111827"/>
                    </a:solidFill>
                    <a:latin typeface="Cambria Math" panose="02040503050406030204" pitchFamily="18" charset="0"/>
                  </a:rPr>
                  <a:t>$AB=d$</a:t>
                </a:r>
                <a:r>
                  <a:rPr sz="2400" b="0">
                    <a:solidFill>
                      <a:srgbClr val="111827"/>
                    </a:solidFill>
                    <a:latin typeface="Arial"/>
                  </a:rPr>
                  <a:t> and the area of the trapezium </a:t>
                </a:r>
                <a:r>
                  <a:rPr lang="en-IN" sz="2400">
                    <a:solidFill>
                      <a:srgbClr val="111827"/>
                    </a:solidFill>
                    <a:latin typeface="Cambria Math" panose="02040503050406030204" pitchFamily="18" charset="0"/>
                  </a:rPr>
                  <a:t>$PQRB$</a:t>
                </a:r>
                <a:r>
                  <a:rPr sz="2400" b="0">
                    <a:solidFill>
                      <a:srgbClr val="111827"/>
                    </a:solidFill>
                    <a:latin typeface="Arial"/>
                  </a:rPr>
                  <a:t> is </a:t>
                </a:r>
                <a:r>
                  <a:rPr lang="en-IN" sz="2400">
                    <a:solidFill>
                      <a:srgbClr val="111827"/>
                    </a:solidFill>
                    <a:latin typeface="Cambria Math" panose="02040503050406030204" pitchFamily="18" charset="0"/>
                  </a:rPr>
                  <a:t>$\alpha$</a:t>
                </a:r>
                <a:r>
                  <a:rPr sz="2400" b="0">
                    <a:solidFill>
                      <a:srgbClr val="111827"/>
                    </a:solidFill>
                    <a:latin typeface="Arial"/>
                  </a:rPr>
                  <a:t>, then the ordered pair </a:t>
                </a:r>
                <a:r>
                  <a:rPr lang="en-IN" sz="2400">
                    <a:solidFill>
                      <a:srgbClr val="111827"/>
                    </a:solidFill>
                    <a:latin typeface="Cambria Math" panose="02040503050406030204" pitchFamily="18" charset="0"/>
                  </a:rPr>
                  <a:t>$(d,\alpha)$</a:t>
                </a:r>
                <a:r>
                  <a:rPr sz="2400" b="0">
                    <a:solidFill>
                      <a:srgbClr val="111827"/>
                    </a:solidFill>
                    <a:latin typeface="Arial"/>
                  </a:rPr>
                  <a:t>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$\left(10(\sqrt3-1),\,25\right)$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$\left(10(\sqrt3-1),\,\dfrac{25}{2}\right)$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$\left(10(\sqrt3+1),\,25\right)$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$\left(10(\sqrt3+1),\,\dfrac{25}{2}\right)$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of elevation in a vertical plane (heights and distances), Area of a trapezium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a:t>
                </a:r>
                <a14:m>
                  <m:oMath xmlns:m="http://schemas.openxmlformats.org/officeDocument/2006/math">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𝑅</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𝑅</m:t>
                    </m:r>
                  </m:oMath>
                </a14:m>
                <a:r>
                  <a:rPr sz="2400" b="0">
                    <a:solidFill>
                      <a:srgbClr val="78350F"/>
                    </a:solidFill>
                    <a:latin typeface="Arial"/>
                  </a:rPr>
                  <a:t> through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(using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𝑄</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apply </a:t>
                </a:r>
                <a14:m>
                  <m:oMath xmlns:m="http://schemas.openxmlformats.org/officeDocument/2006/math">
                    <m:r>
                      <m:rPr>
                        <m:sty m:val="p"/>
                      </m:rPr>
                      <a:rPr lang="en-IN" sz="2400">
                        <a:solidFill>
                          <a:srgbClr val="78350F"/>
                        </a:solidFill>
                        <a:latin typeface="Cambria Math" panose="02040503050406030204" pitchFamily="18" charset="0"/>
                      </a:rPr>
                      <m:t>tan</m:t>
                    </m:r>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to the right triangle formed by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and the horizontal through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Express </a:t>
                </a:r>
                <a:r>
                  <a:rPr lang="en-IN" sz="2400">
                    <a:solidFill>
                      <a:srgbClr val="78350F"/>
                    </a:solidFill>
                    <a:latin typeface="Cambria Math" panose="02040503050406030204" pitchFamily="18" charset="0"/>
                  </a:rPr>
                  <a:t>$QR$</a:t>
                </a:r>
                <a:r>
                  <a:rPr sz="2400" b="0">
                    <a:solidFill>
                      <a:srgbClr val="78350F"/>
                    </a:solidFill>
                    <a:latin typeface="Arial"/>
                  </a:rPr>
                  <a:t> and </a:t>
                </a:r>
                <a:r>
                  <a:rPr lang="en-IN" sz="2400">
                    <a:solidFill>
                      <a:srgbClr val="78350F"/>
                    </a:solidFill>
                    <a:latin typeface="Cambria Math" panose="02040503050406030204" pitchFamily="18" charset="0"/>
                  </a:rPr>
                  <a:t>$BR$</a:t>
                </a:r>
                <a:r>
                  <a:rPr sz="2400" b="0">
                    <a:solidFill>
                      <a:srgbClr val="78350F"/>
                    </a:solidFill>
                    <a:latin typeface="Arial"/>
                  </a:rPr>
                  <a:t> through </a:t>
                </a:r>
                <a:r>
                  <a:rPr lang="en-IN" sz="2400">
                    <a:solidFill>
                      <a:srgbClr val="78350F"/>
                    </a:solidFill>
                    <a:latin typeface="Cambria Math" panose="02040503050406030204" pitchFamily="18" charset="0"/>
                  </a:rPr>
                  <a:t>$d$</a:t>
                </a:r>
                <a:r>
                  <a:rPr sz="2400" b="0">
                    <a:solidFill>
                      <a:srgbClr val="78350F"/>
                    </a:solidFill>
                    <a:latin typeface="Arial"/>
                  </a:rPr>
                  <a:t> (using </a:t>
                </a:r>
                <a:r>
                  <a:rPr lang="en-IN" sz="2400">
                    <a:solidFill>
                      <a:srgbClr val="78350F"/>
                    </a:solidFill>
                    <a:latin typeface="Cambria Math" panose="02040503050406030204" pitchFamily="18" charset="0"/>
                  </a:rPr>
                  <a:t>$\angle BAQ=30^\circ$</a:t>
                </a:r>
                <a:r>
                  <a:rPr sz="2400" b="0">
                    <a:solidFill>
                      <a:srgbClr val="78350F"/>
                    </a:solidFill>
                    <a:latin typeface="Arial"/>
                  </a:rPr>
                  <a:t>) and apply </a:t>
                </a:r>
                <a:r>
                  <a:rPr lang="en-IN" sz="2400">
                    <a:solidFill>
                      <a:srgbClr val="78350F"/>
                    </a:solidFill>
                    <a:latin typeface="Cambria Math" panose="02040503050406030204" pitchFamily="18" charset="0"/>
                  </a:rPr>
                  <a:t>$\tan60^\circ$</a:t>
                </a:r>
                <a:r>
                  <a:rPr sz="2400" b="0">
                    <a:solidFill>
                      <a:srgbClr val="78350F"/>
                    </a:solidFill>
                    <a:latin typeface="Arial"/>
                  </a:rPr>
                  <a:t> to the right triangle formed by </a:t>
                </a:r>
                <a:r>
                  <a:rPr lang="en-IN" sz="2400">
                    <a:solidFill>
                      <a:srgbClr val="78350F"/>
                    </a:solidFill>
                    <a:latin typeface="Cambria Math" panose="02040503050406030204" pitchFamily="18" charset="0"/>
                  </a:rPr>
                  <a:t>$P$</a:t>
                </a:r>
                <a:r>
                  <a:rPr sz="2400" b="0">
                    <a:solidFill>
                      <a:srgbClr val="78350F"/>
                    </a:solidFill>
                    <a:latin typeface="Arial"/>
                  </a:rPr>
                  <a:t>, </a:t>
                </a:r>
                <a:r>
                  <a:rPr lang="en-IN" sz="2400">
                    <a:solidFill>
                      <a:srgbClr val="78350F"/>
                    </a:solidFill>
                    <a:latin typeface="Cambria Math" panose="02040503050406030204" pitchFamily="18" charset="0"/>
                  </a:rPr>
                  <a:t>$B$</a:t>
                </a:r>
                <a:r>
                  <a:rPr sz="2400" b="0">
                    <a:solidFill>
                      <a:srgbClr val="78350F"/>
                    </a:solidFill>
                    <a:latin typeface="Arial"/>
                  </a:rPr>
                  <a:t> and the horizontal through </a:t>
                </a:r>
                <a:r>
                  <a:rPr lang="en-IN" sz="2400">
                    <a:solidFill>
                      <a:srgbClr val="78350F"/>
                    </a:solidFill>
                    <a:latin typeface="Cambria Math" panose="02040503050406030204" pitchFamily="18" charset="0"/>
                  </a:rPr>
                  <a:t>$B$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$\angle PAQ=45^\circ$</a:t>
                </a:r>
                <a:r>
                  <a:rPr sz="2400" b="0">
                    <a:solidFill>
                      <a:srgbClr val="111827"/>
                    </a:solidFill>
                    <a:latin typeface="Arial"/>
                  </a:rPr>
                  <a:t> and </a:t>
                </a:r>
                <a:r>
                  <a:rPr lang="en-IN" sz="2400">
                    <a:solidFill>
                      <a:srgbClr val="111827"/>
                    </a:solidFill>
                    <a:latin typeface="Cambria Math" panose="02040503050406030204" pitchFamily="18" charset="0"/>
                  </a:rPr>
                  <a:t>$PQ=10$</a:t>
                </a:r>
                <a:r>
                  <a:rPr sz="2400" b="0">
                    <a:solidFill>
                      <a:srgbClr val="111827"/>
                    </a:solidFill>
                    <a:latin typeface="Arial"/>
                  </a:rPr>
                  <a:t>, </a:t>
                </a:r>
                <a:r>
                  <a:rPr lang="en-IN" sz="2400">
                    <a:solidFill>
                      <a:srgbClr val="111827"/>
                    </a:solidFill>
                    <a:latin typeface="Cambria Math" panose="02040503050406030204" pitchFamily="18" charset="0"/>
                  </a:rPr>
                  <a:t>$QA=10$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vertical rise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over the horizontal run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$ARB$</a:t>
                </a:r>
                <a:r>
                  <a:rPr sz="2400" b="0">
                    <a:solidFill>
                      <a:srgbClr val="111827"/>
                    </a:solidFill>
                    <a:latin typeface="Arial"/>
                  </a:rPr>
                  <a:t>: </a:t>
                </a:r>
                <a:r>
                  <a:rPr lang="en-IN" sz="2400">
                    <a:solidFill>
                      <a:srgbClr val="111827"/>
                    </a:solidFill>
                    <a:latin typeface="Cambria Math" panose="02040503050406030204" pitchFamily="18" charset="0"/>
                  </a:rPr>
                  <a:t>$RA=d\cos30^\circ=\dfrac{\sqrt3d}{2}$</a:t>
                </a:r>
                <a:r>
                  <a:rPr sz="2400" b="0">
                    <a:solidFill>
                      <a:srgbClr val="111827"/>
                    </a:solidFill>
                    <a:latin typeface="Arial"/>
                  </a:rPr>
                  <a:t> and </a:t>
                </a:r>
                <a:r>
                  <a:rPr lang="en-IN" sz="2400">
                    <a:solidFill>
                      <a:srgbClr val="111827"/>
                    </a:solidFill>
                    <a:latin typeface="Cambria Math" panose="02040503050406030204" pitchFamily="18" charset="0"/>
                  </a:rPr>
                  <a:t>$BR=d\sin30^\circ=\dfrac 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$QR=QA-RA=10-\dfrac{\sqrt3d}{2}$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elevation of </a:t>
                </a:r>
                <a:r>
                  <a:rPr lang="en-IN" sz="2400">
                    <a:solidFill>
                      <a:srgbClr val="111827"/>
                    </a:solidFill>
                    <a:latin typeface="Cambria Math" panose="02040503050406030204" pitchFamily="18" charset="0"/>
                  </a:rPr>
                  <a:t>$P$</a:t>
                </a:r>
                <a:r>
                  <a:rPr sz="2400" b="0">
                    <a:solidFill>
                      <a:srgbClr val="111827"/>
                    </a:solidFill>
                    <a:latin typeface="Arial"/>
                  </a:rPr>
                  <a:t> from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the vertical rise from </a:t>
                </a:r>
                <a:r>
                  <a:rPr lang="en-IN" sz="2400">
                    <a:solidFill>
                      <a:srgbClr val="111827"/>
                    </a:solidFill>
                    <a:latin typeface="Cambria Math" panose="02040503050406030204" pitchFamily="18" charset="0"/>
                  </a:rPr>
                  <a:t>$B$</a:t>
                </a:r>
                <a:r>
                  <a:rPr sz="2400" b="0">
                    <a:solidFill>
                      <a:srgbClr val="111827"/>
                    </a:solidFill>
                    <a:latin typeface="Arial"/>
                  </a:rPr>
                  <a:t> to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$PQ-BR=10-\dfrac d2$</a:t>
                </a:r>
                <a:r>
                  <a:rPr sz="2400" b="0">
                    <a:solidFill>
                      <a:srgbClr val="111827"/>
                    </a:solidFill>
                    <a:latin typeface="Arial"/>
                  </a:rPr>
                  <a:t> over the horizontal run </a:t>
                </a:r>
                <a:r>
                  <a:rPr lang="en-IN" sz="2400">
                    <a:solidFill>
                      <a:srgbClr val="111827"/>
                    </a:solidFill>
                    <a:latin typeface="Cambria Math" panose="02040503050406030204" pitchFamily="18" charset="0"/>
                  </a:rPr>
                  <a:t>$QR$</a:t>
                </a:r>
                <a:r>
                  <a:rPr sz="2400" b="0">
                    <a:solidFill>
                      <a:srgbClr val="111827"/>
                    </a:solidFill>
                    <a:latin typeface="Arial"/>
                  </a:rPr>
                  <a:t>: </a:t>
                </a:r>
                <a:r>
                  <a:rPr lang="en-IN" sz="2400">
                    <a:solidFill>
                      <a:srgbClr val="111827"/>
                    </a:solidFill>
                    <a:latin typeface="Cambria Math" panose="02040503050406030204" pitchFamily="18" charset="0"/>
                  </a:rPr>
                  <a:t>$\tan60^\circ=\dfrac{10-\frac d2}{10-\frac{\sqrt3d}{2}}$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$\sqrt3=\dfrac{20-d}{20-\sqrt3d}$</a:t>
                </a:r>
                <a:r>
                  <a:rPr sz="2400" b="0">
                    <a:solidFill>
                      <a:srgbClr val="111827"/>
                    </a:solidFill>
                    <a:latin typeface="Arial"/>
                  </a:rPr>
                  <a:t>, so </a:t>
                </a:r>
                <a:r>
                  <a:rPr lang="en-IN" sz="2400">
                    <a:solidFill>
                      <a:srgbClr val="111827"/>
                    </a:solidFill>
                    <a:latin typeface="Cambria Math" panose="02040503050406030204" pitchFamily="18" charset="0"/>
                  </a:rPr>
                  <a:t>$20\sqrt3-3d=20-d$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$2d=20(\sqrt3-1)$</a:t>
                </a:r>
                <a:r>
                  <a:rPr sz="2400" b="0">
                    <a:solidFill>
                      <a:srgbClr val="111827"/>
                    </a:solidFill>
                    <a:latin typeface="Arial"/>
                  </a:rPr>
                  <a:t>, so </a:t>
                </a:r>
                <a:r>
                  <a:rPr lang="en-IN" sz="2400">
                    <a:solidFill>
                      <a:srgbClr val="111827"/>
                    </a:solidFill>
                    <a:latin typeface="Cambria Math" panose="02040503050406030204" pitchFamily="18" charset="0"/>
                  </a:rPr>
                  <a:t>$d=10(\sqrt3-1)$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trapezium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oMath>
                </a14:m>
                <a:r>
                  <a:rPr sz="2400" b="0">
                    <a:solidFill>
                      <a:srgbClr val="111827"/>
                    </a:solidFill>
                    <a:latin typeface="Arial"/>
                  </a:rPr>
                  <a:t>, distance between them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e>
                    </m:d>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trapezium (</a:t>
                </a:r>
                <a:r>
                  <a:rPr lang="en-IN" sz="2400">
                    <a:solidFill>
                      <a:srgbClr val="111827"/>
                    </a:solidFill>
                    <a:latin typeface="Cambria Math" panose="02040503050406030204" pitchFamily="18" charset="0"/>
                  </a:rPr>
                  <a:t>$PQ\parallel BR$</a:t>
                </a:r>
                <a:r>
                  <a:rPr sz="2400" b="0">
                    <a:solidFill>
                      <a:srgbClr val="111827"/>
                    </a:solidFill>
                    <a:latin typeface="Arial"/>
                  </a:rPr>
                  <a:t>, distance between them </a:t>
                </a:r>
                <a:r>
                  <a:rPr lang="en-IN" sz="2400">
                    <a:solidFill>
                      <a:srgbClr val="111827"/>
                    </a:solidFill>
                    <a:latin typeface="Cambria Math" panose="02040503050406030204" pitchFamily="18" charset="0"/>
                  </a:rPr>
                  <a:t>$QR$</a:t>
                </a:r>
                <a:r>
                  <a:rPr sz="2400" b="0">
                    <a:solidFill>
                      <a:srgbClr val="111827"/>
                    </a:solidFill>
                    <a:latin typeface="Arial"/>
                  </a:rPr>
                  <a:t>): </a:t>
                </a:r>
                <a:r>
                  <a:rPr lang="en-IN" sz="2400">
                    <a:solidFill>
                      <a:srgbClr val="111827"/>
                    </a:solidFill>
                    <a:latin typeface="Cambria Math" panose="02040503050406030204" pitchFamily="18" charset="0"/>
                  </a:rPr>
                  <a:t>$\alpha=\dfrac12(PQ+BR)\cdot QR=\dfrac12\left(10+\dfrac d2\right)\left(10-\dfrac{\sqrt3d}{2}\right)$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$\dfrac d2=5\sqrt3-5$</a:t>
                </a:r>
                <a:r>
                  <a:rPr sz="2400" b="0">
                    <a:solidFill>
                      <a:srgbClr val="111827"/>
                    </a:solidFill>
                    <a:latin typeface="Arial"/>
                  </a:rPr>
                  <a:t> and </a:t>
                </a:r>
                <a:r>
                  <a:rPr lang="en-IN" sz="2400">
                    <a:solidFill>
                      <a:srgbClr val="111827"/>
                    </a:solidFill>
                    <a:latin typeface="Cambria Math" panose="02040503050406030204" pitchFamily="18" charset="0"/>
                  </a:rPr>
                  <a:t>$\dfrac{\sqrt3d}{2}=15-5\sqrt3$</a:t>
                </a:r>
                <a:r>
                  <a:rPr sz="2400" b="0">
                    <a:solidFill>
                      <a:srgbClr val="111827"/>
                    </a:solidFill>
                    <a:latin typeface="Arial"/>
                  </a:rPr>
                  <a:t>, so </a:t>
                </a:r>
                <a:r>
                  <a:rPr lang="en-IN" sz="2400">
                    <a:solidFill>
                      <a:srgbClr val="111827"/>
                    </a:solidFill>
                    <a:latin typeface="Cambria Math" panose="02040503050406030204" pitchFamily="18" charset="0"/>
                  </a:rPr>
                  <a:t>$\alpha=\dfrac12\left(10+5\sqrt3-5\right)\left(10-15+5\sqrt3\right)$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$\alpha=\dfrac12(5\sqrt3+5)(5\sqrt3-5)=\dfrac12(75-25)=25$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$(d,\alpha)=\left(10(\sqrt3-1),25\right)$</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25</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$\left(10(\sqrt3-1),\,25\right)$</a:t>
                </a:r>
                <a:endParaRPr sz="2800">
                  <a:solidFill>
                    <a:srgbClr val="15803D"/>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triangle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the angles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are both </a:t>
                </a:r>
                <a14:m>
                  <m:oMath xmlns:m="http://schemas.openxmlformats.org/officeDocument/2006/math">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follows from one line and the area from subtraction.</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triangle </a:t>
                </a:r>
                <a:r>
                  <a:rPr lang="en-IN" sz="2400">
                    <a:solidFill>
                      <a:srgbClr val="78350F"/>
                    </a:solidFill>
                    <a:latin typeface="Cambria Math" panose="02040503050406030204" pitchFamily="18" charset="0"/>
                  </a:rPr>
                  <a:t>$ABP$</a:t>
                </a:r>
                <a:r>
                  <a:rPr sz="2400" b="0">
                    <a:solidFill>
                      <a:srgbClr val="78350F"/>
                    </a:solidFill>
                    <a:latin typeface="Arial"/>
                  </a:rPr>
                  <a:t> the angles at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$P$</a:t>
                </a:r>
                <a:r>
                  <a:rPr sz="2400" b="0">
                    <a:solidFill>
                      <a:srgbClr val="78350F"/>
                    </a:solidFill>
                    <a:latin typeface="Arial"/>
                  </a:rPr>
                  <a:t> are both </a:t>
                </a:r>
                <a:r>
                  <a:rPr lang="en-IN" sz="2400">
                    <a:solidFill>
                      <a:srgbClr val="78350F"/>
                    </a:solidFill>
                    <a:latin typeface="Cambria Math" panose="02040503050406030204" pitchFamily="18" charset="0"/>
                  </a:rPr>
                  <a:t>$15^\circ$</a:t>
                </a:r>
                <a:r>
                  <a:rPr sz="2400" b="0">
                    <a:solidFill>
                      <a:srgbClr val="78350F"/>
                    </a:solidFill>
                    <a:latin typeface="Arial"/>
                  </a:rPr>
                  <a:t>, so </a:t>
                </a:r>
                <a:r>
                  <a:rPr lang="en-IN" sz="2400">
                    <a:solidFill>
                      <a:srgbClr val="78350F"/>
                    </a:solidFill>
                    <a:latin typeface="Cambria Math" panose="02040503050406030204" pitchFamily="18" charset="0"/>
                  </a:rPr>
                  <a:t>$BA=BP$</a:t>
                </a:r>
                <a:r>
                  <a:rPr sz="2400" b="0">
                    <a:solidFill>
                      <a:srgbClr val="78350F"/>
                    </a:solidFill>
                    <a:latin typeface="Arial"/>
                  </a:rPr>
                  <a:t>; then </a:t>
                </a:r>
                <a:r>
                  <a:rPr lang="en-IN" sz="2400">
                    <a:solidFill>
                      <a:srgbClr val="78350F"/>
                    </a:solidFill>
                    <a:latin typeface="Cambria Math" panose="02040503050406030204" pitchFamily="18" charset="0"/>
                  </a:rPr>
                  <a:t>$d$</a:t>
                </a:r>
                <a:r>
                  <a:rPr sz="2400" b="0">
                    <a:solidFill>
                      <a:srgbClr val="78350F"/>
                    </a:solidFill>
                    <a:latin typeface="Arial"/>
                  </a:rPr>
                  <a:t> follows from one line and the area from subtraction.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lie in one vertical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ground,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is inclined at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below the horizontal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oMath>
                </a14:m>
                <a:r>
                  <a:rPr sz="2400" b="0">
                    <a:solidFill>
                      <a:srgbClr val="111827"/>
                    </a:solidFill>
                    <a:latin typeface="Arial"/>
                  </a:rPr>
                  <a:t> is inclined at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is isosceles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and base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$A,B,P,Q,R$</a:t>
                </a:r>
                <a:r>
                  <a:rPr sz="2400" b="0">
                    <a:solidFill>
                      <a:srgbClr val="111827"/>
                    </a:solidFill>
                    <a:latin typeface="Arial"/>
                  </a:rPr>
                  <a:t> lie in one vertical plane. </a:t>
                </a:r>
                <a:r>
                  <a:rPr lang="en-IN" sz="2400">
                    <a:solidFill>
                      <a:srgbClr val="111827"/>
                    </a:solidFill>
                    <a:latin typeface="Cambria Math" panose="02040503050406030204" pitchFamily="18" charset="0"/>
                  </a:rPr>
                  <a:t>$AP$</a:t>
                </a:r>
                <a:r>
                  <a:rPr sz="2400" b="0">
                    <a:solidFill>
                      <a:srgbClr val="111827"/>
                    </a:solidFill>
                    <a:latin typeface="Arial"/>
                  </a:rPr>
                  <a:t> makes </a:t>
                </a:r>
                <a:r>
                  <a:rPr lang="en-IN" sz="2400">
                    <a:solidFill>
                      <a:srgbClr val="111827"/>
                    </a:solidFill>
                    <a:latin typeface="Cambria Math" panose="02040503050406030204" pitchFamily="18" charset="0"/>
                  </a:rPr>
                  <a:t>$45^\circ$</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 makes </a:t>
                </a:r>
                <a:r>
                  <a:rPr lang="en-IN" sz="2400">
                    <a:solidFill>
                      <a:srgbClr val="111827"/>
                    </a:solidFill>
                    <a:latin typeface="Cambria Math" panose="02040503050406030204" pitchFamily="18" charset="0"/>
                  </a:rPr>
                  <a:t>$30^\circ$</a:t>
                </a:r>
                <a:r>
                  <a:rPr sz="2400" b="0">
                    <a:solidFill>
                      <a:srgbClr val="111827"/>
                    </a:solidFill>
                    <a:latin typeface="Arial"/>
                  </a:rPr>
                  <a:t> with the ground, so </a:t>
                </a:r>
                <a:r>
                  <a:rPr lang="en-IN" sz="2400">
                    <a:solidFill>
                      <a:srgbClr val="111827"/>
                    </a:solidFill>
                    <a:latin typeface="Cambria Math" panose="02040503050406030204" pitchFamily="18" charset="0"/>
                  </a:rPr>
                  <a:t>$\angle BAP=15^\circ$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a:t>
                </a:r>
                <a:r>
                  <a:rPr sz="2400" b="0">
                    <a:solidFill>
                      <a:srgbClr val="111827"/>
                    </a:solidFill>
                    <a:latin typeface="Arial"/>
                  </a:rPr>
                  <a:t> is inclined at </a:t>
                </a:r>
                <a:r>
                  <a:rPr lang="en-IN" sz="2400">
                    <a:solidFill>
                      <a:srgbClr val="111827"/>
                    </a:solidFill>
                    <a:latin typeface="Cambria Math" panose="02040503050406030204" pitchFamily="18" charset="0"/>
                  </a:rPr>
                  <a:t>$60^\circ$</a:t>
                </a:r>
                <a:r>
                  <a:rPr sz="2400" b="0">
                    <a:solidFill>
                      <a:srgbClr val="111827"/>
                    </a:solidFill>
                    <a:latin typeface="Arial"/>
                  </a:rPr>
                  <a:t> below the horizontal at </a:t>
                </a:r>
                <a:r>
                  <a:rPr lang="en-IN" sz="2400">
                    <a:solidFill>
                      <a:srgbClr val="111827"/>
                    </a:solidFill>
                    <a:latin typeface="Cambria Math" panose="02040503050406030204" pitchFamily="18" charset="0"/>
                  </a:rPr>
                  <a:t>$P$</a:t>
                </a:r>
                <a:r>
                  <a:rPr sz="2400" b="0">
                    <a:solidFill>
                      <a:srgbClr val="111827"/>
                    </a:solidFill>
                    <a:latin typeface="Arial"/>
                  </a:rPr>
                  <a:t> while </a:t>
                </a:r>
                <a:r>
                  <a:rPr lang="en-IN" sz="2400">
                    <a:solidFill>
                      <a:srgbClr val="111827"/>
                    </a:solidFill>
                    <a:latin typeface="Cambria Math" panose="02040503050406030204" pitchFamily="18" charset="0"/>
                  </a:rPr>
                  <a:t>$PA$</a:t>
                </a:r>
                <a:r>
                  <a:rPr sz="2400" b="0">
                    <a:solidFill>
                      <a:srgbClr val="111827"/>
                    </a:solidFill>
                    <a:latin typeface="Arial"/>
                  </a:rPr>
                  <a:t> is inclined at </a:t>
                </a:r>
                <a:r>
                  <a:rPr lang="en-IN" sz="2400">
                    <a:solidFill>
                      <a:srgbClr val="111827"/>
                    </a:solidFill>
                    <a:latin typeface="Cambria Math" panose="02040503050406030204" pitchFamily="18" charset="0"/>
                  </a:rPr>
                  <a:t>$45^\circ$</a:t>
                </a:r>
                <a:r>
                  <a:rPr sz="2400" b="0">
                    <a:solidFill>
                      <a:srgbClr val="111827"/>
                    </a:solidFill>
                    <a:latin typeface="Arial"/>
                  </a:rPr>
                  <a:t>, so </a:t>
                </a:r>
                <a:r>
                  <a:rPr lang="en-IN" sz="2400">
                    <a:solidFill>
                      <a:srgbClr val="111827"/>
                    </a:solidFill>
                    <a:latin typeface="Cambria Math" panose="02040503050406030204" pitchFamily="18" charset="0"/>
                  </a:rPr>
                  <a:t>$\angle APB=60^\circ-45^\circ=15^\circ$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$\triangle ABP$</a:t>
                </a:r>
                <a:r>
                  <a:rPr sz="2400" b="0">
                    <a:solidFill>
                      <a:srgbClr val="111827"/>
                    </a:solidFill>
                    <a:latin typeface="Arial"/>
                  </a:rPr>
                  <a:t> is isosceles with </a:t>
                </a:r>
                <a:r>
                  <a:rPr lang="en-IN" sz="2400">
                    <a:solidFill>
                      <a:srgbClr val="111827"/>
                    </a:solidFill>
                    <a:latin typeface="Cambria Math" panose="02040503050406030204" pitchFamily="18" charset="0"/>
                  </a:rPr>
                  <a:t>$BA=BP=d$</a:t>
                </a:r>
                <a:r>
                  <a:rPr sz="2400" b="0">
                    <a:solidFill>
                      <a:srgbClr val="111827"/>
                    </a:solidFill>
                    <a:latin typeface="Arial"/>
                  </a:rPr>
                  <a:t> and base </a:t>
                </a:r>
                <a:r>
                  <a:rPr lang="en-IN" sz="2400">
                    <a:solidFill>
                      <a:srgbClr val="111827"/>
                    </a:solidFill>
                    <a:latin typeface="Cambria Math" panose="02040503050406030204" pitchFamily="18" charset="0"/>
                  </a:rPr>
                  <a:t>$AP=10\sqrt2$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trapezium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8</m:t>
                        </m:r>
                      </m:den>
                    </m:f>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$AP=2d\cos15^\circ$</a:t>
                </a:r>
                <a:r>
                  <a:rPr sz="2400" b="0">
                    <a:solidFill>
                      <a:srgbClr val="111827"/>
                    </a:solidFill>
                    <a:latin typeface="Arial"/>
                  </a:rPr>
                  <a:t>, so </a:t>
                </a:r>
                <a:r>
                  <a:rPr lang="en-IN" sz="2400">
                    <a:solidFill>
                      <a:srgbClr val="111827"/>
                    </a:solidFill>
                    <a:latin typeface="Cambria Math" panose="02040503050406030204" pitchFamily="18" charset="0"/>
                  </a:rPr>
                  <a:t>$d=\dfrac{5\sqrt2}{\cos15^\circ}=\dfrac{20\sqrt2}{\sqrt6+\sqrt2}=\dfrac{20}{\sqrt3+1}=10(\sqrt3-1)$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trapezium </a:t>
                </a:r>
                <a:r>
                  <a:rPr lang="en-IN" sz="2400">
                    <a:solidFill>
                      <a:srgbClr val="111827"/>
                    </a:solidFill>
                    <a:latin typeface="Cambria Math" panose="02040503050406030204" pitchFamily="18" charset="0"/>
                  </a:rPr>
                  <a:t>$=$</a:t>
                </a:r>
                <a:r>
                  <a:rPr sz="2400" b="0">
                    <a:solidFill>
                      <a:srgbClr val="111827"/>
                    </a:solidFill>
                    <a:latin typeface="Arial"/>
                  </a:rPr>
                  <a:t> area of </a:t>
                </a:r>
                <a:r>
                  <a:rPr lang="en-IN" sz="2400">
                    <a:solidFill>
                      <a:srgbClr val="111827"/>
                    </a:solidFill>
                    <a:latin typeface="Cambria Math" panose="02040503050406030204" pitchFamily="18" charset="0"/>
                  </a:rPr>
                  <a:t>$\triangle APQ$</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$\triangle ABR$</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a:t>
                </a:r>
                <a:r>
                  <a:rPr lang="en-IN" sz="2400">
                    <a:solidFill>
                      <a:srgbClr val="111827"/>
                    </a:solidFill>
                    <a:latin typeface="Cambria Math" panose="02040503050406030204" pitchFamily="18" charset="0"/>
                  </a:rPr>
                  <a:t>$\triangle ABP$</a:t>
                </a:r>
                <a:r>
                  <a:rPr sz="2400" b="0">
                    <a:solidFill>
                      <a:srgbClr val="111827"/>
                    </a:solidFill>
                    <a:latin typeface="Arial"/>
                  </a:rPr>
                  <a:t>. Here </a:t>
                </a:r>
                <a:r>
                  <a:rPr lang="en-IN" sz="2400">
                    <a:solidFill>
                      <a:srgbClr val="111827"/>
                    </a:solidFill>
                    <a:latin typeface="Cambria Math" panose="02040503050406030204" pitchFamily="18" charset="0"/>
                  </a:rPr>
                  <a:t>$[APQ]=50$</a:t>
                </a:r>
                <a:r>
                  <a:rPr sz="2400" b="0">
                    <a:solidFill>
                      <a:srgbClr val="111827"/>
                    </a:solidFill>
                    <a:latin typeface="Arial"/>
                  </a:rPr>
                  <a:t>, </a:t>
                </a:r>
                <a:r>
                  <a:rPr lang="en-IN" sz="2400">
                    <a:solidFill>
                      <a:srgbClr val="111827"/>
                    </a:solidFill>
                    <a:latin typeface="Cambria Math" panose="02040503050406030204" pitchFamily="18" charset="0"/>
                  </a:rPr>
                  <a:t>$[ABR]=\dfrac12\cdot\dfrac{\sqrt3d}{2}\cdot\dfrac d2=\dfrac{\sqrt3}{8}d^2$</a:t>
                </a:r>
                <a:r>
                  <a:rPr sz="2400" b="0">
                    <a:solidFill>
                      <a:srgbClr val="111827"/>
                    </a:solidFill>
                    <a:latin typeface="Arial"/>
                  </a:rPr>
                  <a:t>, </a:t>
                </a:r>
                <a:r>
                  <a:rPr lang="en-IN" sz="2400">
                    <a:solidFill>
                      <a:srgbClr val="111827"/>
                    </a:solidFill>
                    <a:latin typeface="Cambria Math" panose="02040503050406030204" pitchFamily="18" charset="0"/>
                  </a:rPr>
                  <a:t>$[ABP]=\dfrac12d^2\sin150^\circ=\dfrac{d^2}{4}$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$\alpha=50-\dfrac{(2+\sqrt3)d^2}{8}$</a:t>
                </a:r>
                <a:r>
                  <a:rPr sz="2400" b="0">
                    <a:solidFill>
                      <a:srgbClr val="111827"/>
                    </a:solidFill>
                    <a:latin typeface="Arial"/>
                  </a:rPr>
                  <a:t> with </a:t>
                </a:r>
                <a:r>
                  <a:rPr lang="en-IN" sz="2400">
                    <a:solidFill>
                      <a:srgbClr val="111827"/>
                    </a:solidFill>
                    <a:latin typeface="Cambria Math" panose="02040503050406030204" pitchFamily="18" charset="0"/>
                  </a:rPr>
                  <a:t>$d^2=200(2-\sqrt3)$</a:t>
                </a:r>
                <a:r>
                  <a:rPr sz="2400" b="0">
                    <a:solidFill>
                      <a:srgbClr val="111827"/>
                    </a:solidFill>
                    <a:latin typeface="Arial"/>
                  </a:rPr>
                  <a:t>: </a:t>
                </a:r>
                <a:r>
                  <a:rPr lang="en-IN" sz="2400">
                    <a:solidFill>
                      <a:srgbClr val="111827"/>
                    </a:solidFill>
                    <a:latin typeface="Cambria Math" panose="02040503050406030204" pitchFamily="18" charset="0"/>
                  </a:rPr>
                  <a:t>$\dfrac{(2+\sqrt3)\cdot200(2-\sqrt3)}{8}=25$</a:t>
                </a:r>
                <a:r>
                  <a:rPr sz="2400" b="0">
                    <a:solidFill>
                      <a:srgbClr val="111827"/>
                    </a:solidFill>
                    <a:latin typeface="Arial"/>
                  </a:rPr>
                  <a:t>, so </a:t>
                </a:r>
                <a:r>
                  <a:rPr lang="en-IN" sz="2400">
                    <a:solidFill>
                      <a:srgbClr val="111827"/>
                    </a:solidFill>
                    <a:latin typeface="Cambria Math" panose="02040503050406030204" pitchFamily="18" charset="0"/>
                  </a:rPr>
                  <a:t>$\alpha=25$</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25</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$\left(10(\sqrt3-1),\,25\right)$</a:t>
                </a:r>
                <a:endParaRPr sz="2800">
                  <a:solidFill>
                    <a:srgbClr val="15803D"/>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of sight at elevation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from a point and another at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from the same point (same vertical plane) enclose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 angles in a triangle give equal sides, which often replaces a tangent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trapezium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𝑜𝑓 𝑡ℎ𝑒 𝑝𝑎𝑟𝑎𝑙𝑙𝑒𝑙 𝑠𝑖𝑑𝑒𝑠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𝑑𝑖𝑠𝑡𝑎𝑛𝑐𝑒 𝑏𝑒𝑡𝑤𝑒𝑒𝑛 𝑡ℎ𝑒𝑚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vertical segments are parallel and their distance is the horizontal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at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along a line inclined at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has horizontal and vertical components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7.32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6.34</m:t>
                    </m:r>
                  </m:oMath>
                </a14:m>
                <a:r>
                  <a:rPr sz="2400" b="0">
                    <a:solidFill>
                      <a:srgbClr val="111827"/>
                    </a:solidFill>
                    <a:latin typeface="Arial"/>
                  </a:rPr>
                  <a:t>, ratio </a:t>
                </a:r>
                <a14:m>
                  <m:oMath xmlns:m="http://schemas.openxmlformats.org/officeDocument/2006/math">
                    <m:r>
                      <a:rPr lang="en-IN" sz="2400" i="1">
                        <a:solidFill>
                          <a:srgbClr val="111827"/>
                        </a:solidFill>
                        <a:latin typeface="Cambria Math" panose="02040503050406030204" pitchFamily="18" charset="0"/>
                      </a:rPr>
                      <m:t>6.34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3.66</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of sight at elevation </a:t>
                </a:r>
                <a:r>
                  <a:rPr lang="en-IN" sz="2400">
                    <a:solidFill>
                      <a:srgbClr val="111827"/>
                    </a:solidFill>
                    <a:latin typeface="Cambria Math" panose="02040503050406030204" pitchFamily="18" charset="0"/>
                  </a:rPr>
                  <a:t>$\theta$</a:t>
                </a:r>
                <a:r>
                  <a:rPr sz="2400" b="0">
                    <a:solidFill>
                      <a:srgbClr val="111827"/>
                    </a:solidFill>
                    <a:latin typeface="Arial"/>
                  </a:rPr>
                  <a:t> from a point and another at </a:t>
                </a:r>
                <a:r>
                  <a:rPr lang="en-IN" sz="2400">
                    <a:solidFill>
                      <a:srgbClr val="111827"/>
                    </a:solidFill>
                    <a:latin typeface="Cambria Math" panose="02040503050406030204" pitchFamily="18" charset="0"/>
                  </a:rPr>
                  <a:t>$\phi$</a:t>
                </a:r>
                <a:r>
                  <a:rPr sz="2400" b="0">
                    <a:solidFill>
                      <a:srgbClr val="111827"/>
                    </a:solidFill>
                    <a:latin typeface="Arial"/>
                  </a:rPr>
                  <a:t> from the same point (same vertical plane) enclose </a:t>
                </a:r>
                <a:r>
                  <a:rPr lang="en-IN" sz="2400">
                    <a:solidFill>
                      <a:srgbClr val="111827"/>
                    </a:solidFill>
                    <a:latin typeface="Cambria Math" panose="02040503050406030204" pitchFamily="18" charset="0"/>
                  </a:rPr>
                  <a:t>$|\theta-\phi|$</a:t>
                </a:r>
                <a:r>
                  <a:rPr sz="2400" b="0">
                    <a:solidFill>
                      <a:srgbClr val="111827"/>
                    </a:solidFill>
                    <a:latin typeface="Arial"/>
                  </a:rPr>
                  <a:t>; equal angles in a triangle give equal sides, which often replaces a tangent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trapezium </a:t>
                </a:r>
                <a:r>
                  <a:rPr lang="en-IN" sz="2400">
                    <a:solidFill>
                      <a:srgbClr val="111827"/>
                    </a:solidFill>
                    <a:latin typeface="Cambria Math" panose="02040503050406030204" pitchFamily="18" charset="0"/>
                  </a:rPr>
                  <a:t>$=\dfrac12(\text{sum of the parallel sides})\times(\text{distance between them})$</a:t>
                </a:r>
                <a:r>
                  <a:rPr sz="2400" b="0">
                    <a:solidFill>
                      <a:srgbClr val="111827"/>
                    </a:solidFill>
                    <a:latin typeface="Arial"/>
                  </a:rPr>
                  <a:t>; two vertical segments are parallel and their distance is the horizontal gap.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at distance </a:t>
                </a:r>
                <a:r>
                  <a:rPr lang="en-IN" sz="2400">
                    <a:solidFill>
                      <a:srgbClr val="111827"/>
                    </a:solidFill>
                    <a:latin typeface="Cambria Math" panose="02040503050406030204" pitchFamily="18" charset="0"/>
                  </a:rPr>
                  <a:t>$d$</a:t>
                </a:r>
                <a:r>
                  <a:rPr sz="2400" b="0">
                    <a:solidFill>
                      <a:srgbClr val="111827"/>
                    </a:solidFill>
                    <a:latin typeface="Arial"/>
                  </a:rPr>
                  <a:t> along a line inclined at </a:t>
                </a:r>
                <a:r>
                  <a:rPr lang="en-IN" sz="2400">
                    <a:solidFill>
                      <a:srgbClr val="111827"/>
                    </a:solidFill>
                    <a:latin typeface="Cambria Math" panose="02040503050406030204" pitchFamily="18" charset="0"/>
                  </a:rPr>
                  <a:t>$\theta$</a:t>
                </a:r>
                <a:r>
                  <a:rPr sz="2400" b="0">
                    <a:solidFill>
                      <a:srgbClr val="111827"/>
                    </a:solidFill>
                    <a:latin typeface="Arial"/>
                  </a:rPr>
                  <a:t> has horizontal and vertical components </a:t>
                </a:r>
                <a:r>
                  <a:rPr lang="en-IN" sz="2400">
                    <a:solidFill>
                      <a:srgbClr val="111827"/>
                    </a:solidFill>
                    <a:latin typeface="Cambria Math" panose="02040503050406030204" pitchFamily="18" charset="0"/>
                  </a:rPr>
                  <a:t>$d\cos\theta$</a:t>
                </a:r>
                <a:r>
                  <a:rPr sz="2400" b="0">
                    <a:solidFill>
                      <a:srgbClr val="111827"/>
                    </a:solidFill>
                    <a:latin typeface="Arial"/>
                  </a:rPr>
                  <a:t>, </a:t>
                </a:r>
                <a:r>
                  <a:rPr lang="en-IN" sz="2400">
                    <a:solidFill>
                      <a:srgbClr val="111827"/>
                    </a:solidFill>
                    <a:latin typeface="Cambria Math" panose="02040503050406030204" pitchFamily="18" charset="0"/>
                  </a:rPr>
                  <a:t>$d\sin\theta$</a:t>
                </a:r>
                <a:r>
                  <a:rPr sz="2400" b="0">
                    <a:solidFill>
                      <a:srgbClr val="111827"/>
                    </a:solidFill>
                    <a:latin typeface="Arial"/>
                  </a:rPr>
                  <a:t>. Check: </a:t>
                </a:r>
                <a:r>
                  <a:rPr lang="en-IN" sz="2400">
                    <a:solidFill>
                      <a:srgbClr val="111827"/>
                    </a:solidFill>
                    <a:latin typeface="Cambria Math" panose="02040503050406030204" pitchFamily="18" charset="0"/>
                  </a:rPr>
                  <a:t>$d=7.32$</a:t>
                </a:r>
                <a:r>
                  <a:rPr sz="2400" b="0">
                    <a:solidFill>
                      <a:srgbClr val="111827"/>
                    </a:solidFill>
                    <a:latin typeface="Arial"/>
                  </a:rPr>
                  <a:t>, </a:t>
                </a:r>
                <a:r>
                  <a:rPr lang="en-IN" sz="2400">
                    <a:solidFill>
                      <a:srgbClr val="111827"/>
                    </a:solidFill>
                    <a:latin typeface="Cambria Math" panose="02040503050406030204" pitchFamily="18" charset="0"/>
                  </a:rPr>
                  <a:t>$BR=3.66$</a:t>
                </a:r>
                <a:r>
                  <a:rPr sz="2400" b="0">
                    <a:solidFill>
                      <a:srgbClr val="111827"/>
                    </a:solidFill>
                    <a:latin typeface="Arial"/>
                  </a:rPr>
                  <a:t>, </a:t>
                </a:r>
                <a:r>
                  <a:rPr lang="en-IN" sz="2400">
                    <a:solidFill>
                      <a:srgbClr val="111827"/>
                    </a:solidFill>
                    <a:latin typeface="Cambria Math" panose="02040503050406030204" pitchFamily="18" charset="0"/>
                  </a:rPr>
                  <a:t>$QR=3.66$</a:t>
                </a:r>
                <a:r>
                  <a:rPr sz="2400" b="0">
                    <a:solidFill>
                      <a:srgbClr val="111827"/>
                    </a:solidFill>
                    <a:latin typeface="Arial"/>
                  </a:rPr>
                  <a:t>, </a:t>
                </a:r>
                <a:r>
                  <a:rPr lang="en-IN" sz="2400">
                    <a:solidFill>
                      <a:srgbClr val="111827"/>
                    </a:solidFill>
                    <a:latin typeface="Cambria Math" panose="02040503050406030204" pitchFamily="18" charset="0"/>
                  </a:rPr>
                  <a:t>$PQ-BR=6.34$</a:t>
                </a:r>
                <a:r>
                  <a:rPr sz="2400" b="0">
                    <a:solidFill>
                      <a:srgbClr val="111827"/>
                    </a:solidFill>
                    <a:latin typeface="Arial"/>
                  </a:rPr>
                  <a:t>, ratio </a:t>
                </a:r>
                <a:r>
                  <a:rPr lang="en-IN" sz="2400">
                    <a:solidFill>
                      <a:srgbClr val="111827"/>
                    </a:solidFill>
                    <a:latin typeface="Cambria Math" panose="02040503050406030204" pitchFamily="18" charset="0"/>
                  </a:rPr>
                  <a:t>$6.34/3.66=\sqrt3$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horizontal park is in the shape of a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 vertical lamp post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 is erected at the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such that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endParaRPr sz="2400">
                  <a:solidFill>
                    <a:srgbClr val="111827"/>
                  </a:solidFill>
                </a:endParaRPr>
              </a:p>
            </p:txBody>
          </p:sp>
        </mc:Choice>
        <mc:Fallback>
          <p:sp>
            <p:nvSpPr>
              <p:cNvPr id="4" name="Rounded Rectangle 3"/>
              <p:cNvSpPr/>
              <p:nvPr/>
            </p:nvSpPr>
            <p:spPr>
              <a:xfrm>
                <a:off x="731520" y="1280160"/>
                <a:ext cx="10725912" cy="4188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horizontal park is in the shape of a triangle </a:t>
                </a:r>
                <a:r>
                  <a:rPr lang="en-IN" sz="2400">
                    <a:solidFill>
                      <a:srgbClr val="111827"/>
                    </a:solidFill>
                    <a:latin typeface="Cambria Math" panose="02040503050406030204" pitchFamily="18" charset="0"/>
                  </a:rPr>
                  <a:t>$OAB$</a:t>
                </a:r>
                <a:r>
                  <a:rPr sz="2400" b="0">
                    <a:solidFill>
                      <a:srgbClr val="111827"/>
                    </a:solidFill>
                    <a:latin typeface="Arial"/>
                  </a:rPr>
                  <a:t> with </a:t>
                </a:r>
                <a:r>
                  <a:rPr lang="en-IN" sz="2400">
                    <a:solidFill>
                      <a:srgbClr val="111827"/>
                    </a:solidFill>
                    <a:latin typeface="Cambria Math" panose="02040503050406030204" pitchFamily="18" charset="0"/>
                  </a:rPr>
                  <a:t>$AB=16$</a:t>
                </a:r>
                <a:r>
                  <a:rPr sz="2400" b="0">
                    <a:solidFill>
                      <a:srgbClr val="111827"/>
                    </a:solidFill>
                    <a:latin typeface="Arial"/>
                  </a:rPr>
                  <a:t>. A vertical lamp post </a:t>
                </a:r>
                <a:r>
                  <a:rPr lang="en-IN" sz="2400">
                    <a:solidFill>
                      <a:srgbClr val="111827"/>
                    </a:solidFill>
                    <a:latin typeface="Cambria Math" panose="02040503050406030204" pitchFamily="18" charset="0"/>
                  </a:rPr>
                  <a:t>$OP$</a:t>
                </a:r>
                <a:r>
                  <a:rPr sz="2400" b="0">
                    <a:solidFill>
                      <a:srgbClr val="111827"/>
                    </a:solidFill>
                    <a:latin typeface="Arial"/>
                  </a:rPr>
                  <a:t> is erected at the point </a:t>
                </a:r>
                <a:r>
                  <a:rPr lang="en-IN" sz="2400">
                    <a:solidFill>
                      <a:srgbClr val="111827"/>
                    </a:solidFill>
                    <a:latin typeface="Cambria Math" panose="02040503050406030204" pitchFamily="18" charset="0"/>
                  </a:rPr>
                  <a:t>$O$</a:t>
                </a:r>
                <a:r>
                  <a:rPr sz="2400" b="0">
                    <a:solidFill>
                      <a:srgbClr val="111827"/>
                    </a:solidFill>
                    <a:latin typeface="Arial"/>
                  </a:rPr>
                  <a:t> such that </a:t>
                </a:r>
                <a:r>
                  <a:rPr lang="en-IN" sz="2400">
                    <a:solidFill>
                      <a:srgbClr val="111827"/>
                    </a:solidFill>
                    <a:latin typeface="Cambria Math" panose="02040503050406030204" pitchFamily="18" charset="0"/>
                  </a:rPr>
                  <a:t>$\angle PAO=\angle PBO=15^\circ$</a:t>
                </a:r>
                <a:r>
                  <a:rPr sz="2400" b="0">
                    <a:solidFill>
                      <a:srgbClr val="111827"/>
                    </a:solidFill>
                    <a:latin typeface="Arial"/>
                  </a:rPr>
                  <a:t> and </a:t>
                </a:r>
                <a:r>
                  <a:rPr lang="en-IN" sz="2400">
                    <a:solidFill>
                      <a:srgbClr val="111827"/>
                    </a:solidFill>
                    <a:latin typeface="Cambria Math" panose="02040503050406030204" pitchFamily="18" charset="0"/>
                  </a:rPr>
                  <a:t>$\angle PCO=45^\circ$</a:t>
                </a:r>
                <a:r>
                  <a:rPr sz="2400" b="0">
                    <a:solidFill>
                      <a:srgbClr val="111827"/>
                    </a:solidFill>
                    <a:latin typeface="Arial"/>
                  </a:rPr>
                  <a:t>, where </a:t>
                </a:r>
                <a:r>
                  <a:rPr lang="en-IN" sz="2400">
                    <a:solidFill>
                      <a:srgbClr val="111827"/>
                    </a:solidFill>
                    <a:latin typeface="Cambria Math" panose="02040503050406030204" pitchFamily="18" charset="0"/>
                  </a:rPr>
                  <a:t>$C$</a:t>
                </a:r>
                <a:r>
                  <a:rPr sz="2400" b="0">
                    <a:solidFill>
                      <a:srgbClr val="111827"/>
                    </a:solidFill>
                    <a:latin typeface="Arial"/>
                  </a:rPr>
                  <a:t> is the midpoint of </a:t>
                </a:r>
                <a:r>
                  <a:rPr lang="en-IN" sz="2400">
                    <a:solidFill>
                      <a:srgbClr val="111827"/>
                    </a:solidFill>
                    <a:latin typeface="Cambria Math" panose="02040503050406030204" pitchFamily="18" charset="0"/>
                  </a:rPr>
                  <a:t>$AB$</a:t>
                </a:r>
                <a:r>
                  <a:rPr sz="2400" b="0">
                    <a:solidFill>
                      <a:srgbClr val="111827"/>
                    </a:solidFill>
                    <a:latin typeface="Arial"/>
                  </a:rPr>
                  <a:t>, Then </a:t>
                </a:r>
                <a:r>
                  <a:rPr lang="en-IN" sz="2400">
                    <a:solidFill>
                      <a:srgbClr val="111827"/>
                    </a:solidFill>
                    <a:latin typeface="Cambria Math" panose="02040503050406030204" pitchFamily="18" charset="0"/>
                  </a:rPr>
                  <a:t>$(OP)^2$</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$\dfrac{32}{\sqrt3}\left(\sqrt3-1\right)$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$\dfrac{32}{\sqrt3}\left(2-\sqrt3\right)$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$\dfrac{16}{\sqrt3}\left(\sqrt3-1\right)$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$\dfrac{16}{\sqrt3}\left(2-\sqrt3\right)$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in a triangular park (heights and distances), Right triangles, Pythagoras and </a:t>
                </a:r>
                <a14:m>
                  <m:oMath xmlns:m="http://schemas.openxmlformats.org/officeDocument/2006/math">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in a triangular park (heights and distances), Right triangles, Pythagoras and </a:t>
                </a:r>
                <a:r>
                  <a:rPr lang="en-IN" sz="2400">
                    <a:solidFill>
                      <a:srgbClr val="111827"/>
                    </a:solidFill>
                    <a:latin typeface="Cambria Math" panose="02040503050406030204" pitchFamily="18" charset="0"/>
                  </a:rPr>
                  <a:t>$\cot15^\circ$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elevations from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make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𝐶</m:t>
                    </m:r>
                  </m:oMath>
                </a14:m>
                <a:r>
                  <a:rPr sz="2400" b="0">
                    <a:solidFill>
                      <a:srgbClr val="78350F"/>
                    </a:solidFill>
                    <a:latin typeface="Arial"/>
                  </a:rPr>
                  <a:t> from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cot</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elevations from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make </a:t>
                </a:r>
                <a:r>
                  <a:rPr lang="en-IN" sz="2400">
                    <a:solidFill>
                      <a:srgbClr val="78350F"/>
                    </a:solidFill>
                    <a:latin typeface="Cambria Math" panose="02040503050406030204" pitchFamily="18" charset="0"/>
                  </a:rPr>
                  <a:t>$OA=OB$</a:t>
                </a:r>
                <a:r>
                  <a:rPr sz="2400" b="0">
                    <a:solidFill>
                      <a:srgbClr val="78350F"/>
                    </a:solidFill>
                    <a:latin typeface="Arial"/>
                  </a:rPr>
                  <a:t>, so </a:t>
                </a:r>
                <a:r>
                  <a:rPr lang="en-IN" sz="2400">
                    <a:solidFill>
                      <a:srgbClr val="78350F"/>
                    </a:solidFill>
                    <a:latin typeface="Cambria Math" panose="02040503050406030204" pitchFamily="18" charset="0"/>
                  </a:rPr>
                  <a:t>$OC\perp AB$</a:t>
                </a:r>
                <a:r>
                  <a:rPr sz="2400" b="0">
                    <a:solidFill>
                      <a:srgbClr val="78350F"/>
                    </a:solidFill>
                    <a:latin typeface="Arial"/>
                  </a:rPr>
                  <a:t>; then </a:t>
                </a:r>
                <a:r>
                  <a:rPr lang="en-IN" sz="2400">
                    <a:solidFill>
                      <a:srgbClr val="78350F"/>
                    </a:solidFill>
                    <a:latin typeface="Cambria Math" panose="02040503050406030204" pitchFamily="18" charset="0"/>
                  </a:rPr>
                  <a:t>$OP=OC$</a:t>
                </a:r>
                <a:r>
                  <a:rPr sz="2400" b="0">
                    <a:solidFill>
                      <a:srgbClr val="78350F"/>
                    </a:solidFill>
                    <a:latin typeface="Arial"/>
                  </a:rPr>
                  <a:t> from </a:t>
                </a:r>
                <a:r>
                  <a:rPr lang="en-IN" sz="2400">
                    <a:solidFill>
                      <a:srgbClr val="78350F"/>
                    </a:solidFill>
                    <a:latin typeface="Cambria Math" panose="02040503050406030204" pitchFamily="18" charset="0"/>
                  </a:rPr>
                  <a:t>$45^\circ$</a:t>
                </a:r>
                <a:r>
                  <a:rPr sz="2400" b="0">
                    <a:solidFill>
                      <a:srgbClr val="78350F"/>
                    </a:solidFill>
                    <a:latin typeface="Arial"/>
                  </a:rPr>
                  <a:t> and </a:t>
                </a:r>
                <a:r>
                  <a:rPr lang="en-IN" sz="2400">
                    <a:solidFill>
                      <a:srgbClr val="78350F"/>
                    </a:solidFill>
                    <a:latin typeface="Cambria Math" panose="02040503050406030204" pitchFamily="18" charset="0"/>
                  </a:rPr>
                  <a:t>$OA=OP\cot15^\circ$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the same relation gives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midpoint of the base of the isosceles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POA$</a:t>
                </a:r>
                <a:r>
                  <a:rPr sz="2400" b="0">
                    <a:solidFill>
                      <a:srgbClr val="111827"/>
                    </a:solidFill>
                    <a:latin typeface="Arial"/>
                  </a:rPr>
                  <a:t>: </a:t>
                </a:r>
                <a:r>
                  <a:rPr lang="en-IN" sz="2400">
                    <a:solidFill>
                      <a:srgbClr val="111827"/>
                    </a:solidFill>
                    <a:latin typeface="Cambria Math" panose="02040503050406030204" pitchFamily="18" charset="0"/>
                  </a:rPr>
                  <a:t>$\dfrac{OP}{OA}=\tan15^\circ$</a:t>
                </a:r>
                <a:r>
                  <a:rPr sz="2400" b="0">
                    <a:solidFill>
                      <a:srgbClr val="111827"/>
                    </a:solidFill>
                    <a:latin typeface="Arial"/>
                  </a:rPr>
                  <a:t>, so </a:t>
                </a:r>
                <a:r>
                  <a:rPr lang="en-IN" sz="2400">
                    <a:solidFill>
                      <a:srgbClr val="111827"/>
                    </a:solidFill>
                    <a:latin typeface="Cambria Math" panose="02040503050406030204" pitchFamily="18" charset="0"/>
                  </a:rPr>
                  <a:t>$OA=OP\cot15^\circ$</a:t>
                </a:r>
                <a:r>
                  <a:rPr sz="2400" b="0">
                    <a:solidFill>
                      <a:srgbClr val="111827"/>
                    </a:solidFill>
                    <a:latin typeface="Arial"/>
                  </a:rPr>
                  <a:t>. In </a:t>
                </a:r>
                <a:r>
                  <a:rPr lang="en-IN" sz="2400">
                    <a:solidFill>
                      <a:srgbClr val="111827"/>
                    </a:solidFill>
                    <a:latin typeface="Cambria Math" panose="02040503050406030204" pitchFamily="18" charset="0"/>
                  </a:rPr>
                  <a:t>$\triangle POB$</a:t>
                </a:r>
                <a:r>
                  <a:rPr sz="2400" b="0">
                    <a:solidFill>
                      <a:srgbClr val="111827"/>
                    </a:solidFill>
                    <a:latin typeface="Arial"/>
                  </a:rPr>
                  <a:t> the same relation gives </a:t>
                </a:r>
                <a:r>
                  <a:rPr lang="en-IN" sz="2400">
                    <a:solidFill>
                      <a:srgbClr val="111827"/>
                    </a:solidFill>
                    <a:latin typeface="Cambria Math" panose="02040503050406030204" pitchFamily="18" charset="0"/>
                  </a:rPr>
                  <a:t>$OB=OA$</a:t>
                </a:r>
                <a:r>
                  <a:rPr sz="2400" b="0">
                    <a:solidFill>
                      <a:srgbClr val="111827"/>
                    </a:solidFill>
                    <a:latin typeface="Arial"/>
                  </a:rPr>
                  <a:t>, so </a:t>
                </a:r>
                <a:r>
                  <a:rPr lang="en-IN" sz="2400">
                    <a:solidFill>
                      <a:srgbClr val="111827"/>
                    </a:solidFill>
                    <a:latin typeface="Cambria Math" panose="02040503050406030204" pitchFamily="18" charset="0"/>
                  </a:rPr>
                  <a:t>$OC\perp AB$</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is the midpoint of the base of the isosceles triangle </a:t>
                </a:r>
                <a:r>
                  <a:rPr lang="en-IN" sz="2400">
                    <a:solidFill>
                      <a:srgbClr val="111827"/>
                    </a:solidFill>
                    <a:latin typeface="Cambria Math" panose="02040503050406030204" pitchFamily="18" charset="0"/>
                  </a:rPr>
                  <a:t>$OAB$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and substitute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cot</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cot</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cot</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POC$</a:t>
                </a:r>
                <a:r>
                  <a:rPr sz="2400" b="0">
                    <a:solidFill>
                      <a:srgbClr val="111827"/>
                    </a:solidFill>
                    <a:latin typeface="Arial"/>
                  </a:rPr>
                  <a:t>: </a:t>
                </a:r>
                <a:r>
                  <a:rPr lang="en-IN" sz="2400">
                    <a:solidFill>
                      <a:srgbClr val="111827"/>
                    </a:solidFill>
                    <a:latin typeface="Cambria Math" panose="02040503050406030204" pitchFamily="18" charset="0"/>
                  </a:rPr>
                  <a:t>$\dfrac{OP}{OC}=\tan45^\circ$</a:t>
                </a:r>
                <a:r>
                  <a:rPr sz="2400" b="0">
                    <a:solidFill>
                      <a:srgbClr val="111827"/>
                    </a:solidFill>
                    <a:latin typeface="Arial"/>
                  </a:rPr>
                  <a:t>, so </a:t>
                </a:r>
                <a:r>
                  <a:rPr lang="en-IN" sz="2400">
                    <a:solidFill>
                      <a:srgbClr val="111827"/>
                    </a:solidFill>
                    <a:latin typeface="Cambria Math" panose="02040503050406030204" pitchFamily="18" charset="0"/>
                  </a:rPr>
                  <a:t>$OP=OC$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$OCA$</a:t>
                </a:r>
                <a:r>
                  <a:rPr sz="2400" b="0">
                    <a:solidFill>
                      <a:srgbClr val="111827"/>
                    </a:solidFill>
                    <a:latin typeface="Arial"/>
                  </a:rPr>
                  <a:t>: </a:t>
                </a:r>
                <a:r>
                  <a:rPr lang="en-IN" sz="2400">
                    <a:solidFill>
                      <a:srgbClr val="111827"/>
                    </a:solidFill>
                    <a:latin typeface="Cambria Math" panose="02040503050406030204" pitchFamily="18" charset="0"/>
                  </a:rPr>
                  <a:t>$AC=8$</a:t>
                </a:r>
                <a:r>
                  <a:rPr sz="2400" b="0">
                    <a:solidFill>
                      <a:srgbClr val="111827"/>
                    </a:solidFill>
                    <a:latin typeface="Arial"/>
                  </a:rPr>
                  <a:t>, so </a:t>
                </a:r>
                <a:r>
                  <a:rPr lang="en-IN" sz="2400">
                    <a:solidFill>
                      <a:srgbClr val="111827"/>
                    </a:solidFill>
                    <a:latin typeface="Cambria Math" panose="02040503050406030204" pitchFamily="18" charset="0"/>
                  </a:rPr>
                  <a:t>$OC=\sqrt{OA^2-8^2}$</a:t>
                </a:r>
                <a:r>
                  <a:rPr sz="2400" b="0">
                    <a:solidFill>
                      <a:srgbClr val="111827"/>
                    </a:solidFill>
                    <a:latin typeface="Arial"/>
                  </a:rPr>
                  <a:t>, i.e. </a:t>
                </a:r>
                <a:r>
                  <a:rPr lang="en-IN" sz="2400">
                    <a:solidFill>
                      <a:srgbClr val="111827"/>
                    </a:solidFill>
                    <a:latin typeface="Cambria Math" panose="02040503050406030204" pitchFamily="18" charset="0"/>
                  </a:rPr>
                  <a:t>$OP=\sqrt{OA^2-8^2}$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and substitute </a:t>
                </a:r>
                <a:r>
                  <a:rPr lang="en-IN" sz="2400">
                    <a:solidFill>
                      <a:srgbClr val="111827"/>
                    </a:solidFill>
                    <a:latin typeface="Cambria Math" panose="02040503050406030204" pitchFamily="18" charset="0"/>
                  </a:rPr>
                  <a:t>$OA=OP\cot15^\circ$</a:t>
                </a:r>
                <a:r>
                  <a:rPr sz="2400" b="0">
                    <a:solidFill>
                      <a:srgbClr val="111827"/>
                    </a:solidFill>
                    <a:latin typeface="Arial"/>
                  </a:rPr>
                  <a:t>: </a:t>
                </a:r>
                <a:r>
                  <a:rPr lang="en-IN" sz="2400">
                    <a:solidFill>
                      <a:srgbClr val="111827"/>
                    </a:solidFill>
                    <a:latin typeface="Cambria Math" panose="02040503050406030204" pitchFamily="18" charset="0"/>
                  </a:rPr>
                  <a:t>$OP^2=OP^2\cot^215^\circ-64$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$OP^2\left(\cot^215^\circ-1\right)=64$</a:t>
                </a:r>
                <a:r>
                  <a:rPr sz="2400" b="0">
                    <a:solidFill>
                      <a:srgbClr val="111827"/>
                    </a:solidFill>
                    <a:latin typeface="Arial"/>
                  </a:rPr>
                  <a:t>. With </a:t>
                </a:r>
                <a:r>
                  <a:rPr lang="en-IN" sz="2400">
                    <a:solidFill>
                      <a:srgbClr val="111827"/>
                    </a:solidFill>
                    <a:latin typeface="Cambria Math" panose="02040503050406030204" pitchFamily="18" charset="0"/>
                  </a:rPr>
                  <a:t>$\cot15^\circ=2+\sqrt3$</a:t>
                </a:r>
                <a:r>
                  <a:rPr sz="2400" b="0">
                    <a:solidFill>
                      <a:srgbClr val="111827"/>
                    </a:solidFill>
                    <a:latin typeface="Arial"/>
                  </a:rPr>
                  <a:t>: </a:t>
                </a:r>
                <a:r>
                  <a:rPr lang="en-IN" sz="2400">
                    <a:solidFill>
                      <a:srgbClr val="111827"/>
                    </a:solidFill>
                    <a:latin typeface="Cambria Math" panose="02040503050406030204" pitchFamily="18" charset="0"/>
                  </a:rPr>
                  <a:t>$\cot^215^\circ-1=6+4\sqrt3$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$OP^2=\dfrac{64}{6+4\sqrt3}=\dfrac{32}{3+2\sqrt3}=\dfrac{32(2\sqrt3-3)}{3}=\dfrac{32}{\sqrt3}\left(2-\sqrt3\right)$</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$\dfrac{32}{\sqrt3}\left(2-\sqrt3\right)$</a:t>
                </a:r>
                <a:endParaRPr sz="2800">
                  <a:solidFill>
                    <a:srgbClr val="15803D"/>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the three-perpendiculars theorem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𝐴</m:t>
                    </m:r>
                  </m:oMath>
                </a14:m>
                <a:r>
                  <a:rPr sz="2400" b="0">
                    <a:solidFill>
                      <a:srgbClr val="78350F"/>
                    </a:solidFill>
                    <a:latin typeface="Arial"/>
                  </a:rPr>
                  <a:t> is right-angled at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use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num>
                      <m:den>
                        <m:r>
                          <m:rPr>
                            <m:sty m:val="p"/>
                          </m:rPr>
                          <a:rPr lang="en-IN" sz="2400">
                            <a:solidFill>
                              <a:srgbClr val="78350F"/>
                            </a:solidFill>
                            <a:latin typeface="Cambria Math" panose="02040503050406030204" pitchFamily="18" charset="0"/>
                          </a:rPr>
                          <m:t>sin</m:t>
                        </m:r>
                        <m:sSup>
                          <m:e>
                            <m:r>
                              <a:rPr lang="en-IN" sz="2400" i="1">
                                <a:solidFill>
                                  <a:srgbClr val="78350F"/>
                                </a:solidFill>
                                <a:latin typeface="Cambria Math" panose="02040503050406030204" pitchFamily="18" charset="0"/>
                              </a:rPr>
                              <m:t>15</m:t>
                            </m:r>
                          </m:e>
                          <m:sup>
                            <m:r>
                              <m:rPr>
                                <m:sty m:val="p"/>
                              </m:rPr>
                              <a:rPr lang="en-IN" sz="2400">
                                <a:solidFill>
                                  <a:srgbClr val="78350F"/>
                                </a:solidFill>
                                <a:latin typeface="Cambria Math" panose="02040503050406030204" pitchFamily="18" charset="0"/>
                              </a:rPr>
                              <m:t>∘</m:t>
                            </m:r>
                          </m:sup>
                        </m:sSup>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By the three-perpendiculars theorem </a:t>
                </a:r>
                <a:r>
                  <a:rPr lang="en-IN" sz="2400">
                    <a:solidFill>
                      <a:srgbClr val="78350F"/>
                    </a:solidFill>
                    <a:latin typeface="Cambria Math" panose="02040503050406030204" pitchFamily="18" charset="0"/>
                  </a:rPr>
                  <a:t>$PC\perp AB$</a:t>
                </a:r>
                <a:r>
                  <a:rPr sz="2400" b="0">
                    <a:solidFill>
                      <a:srgbClr val="78350F"/>
                    </a:solidFill>
                    <a:latin typeface="Arial"/>
                  </a:rPr>
                  <a:t>, so </a:t>
                </a:r>
                <a:r>
                  <a:rPr lang="en-IN" sz="2400">
                    <a:solidFill>
                      <a:srgbClr val="78350F"/>
                    </a:solidFill>
                    <a:latin typeface="Cambria Math" panose="02040503050406030204" pitchFamily="18" charset="0"/>
                  </a:rPr>
                  <a:t>$\triangle PCA$</a:t>
                </a:r>
                <a:r>
                  <a:rPr sz="2400" b="0">
                    <a:solidFill>
                      <a:srgbClr val="78350F"/>
                    </a:solidFill>
                    <a:latin typeface="Arial"/>
                  </a:rPr>
                  <a:t> is right-angled at </a:t>
                </a:r>
                <a:r>
                  <a:rPr lang="en-IN" sz="2400">
                    <a:solidFill>
                      <a:srgbClr val="78350F"/>
                    </a:solidFill>
                    <a:latin typeface="Cambria Math" panose="02040503050406030204" pitchFamily="18" charset="0"/>
                  </a:rPr>
                  <a:t>$C$</a:t>
                </a:r>
                <a:r>
                  <a:rPr sz="2400" b="0">
                    <a:solidFill>
                      <a:srgbClr val="78350F"/>
                    </a:solidFill>
                    <a:latin typeface="Arial"/>
                  </a:rPr>
                  <a:t>; use </a:t>
                </a:r>
                <a:r>
                  <a:rPr lang="en-IN" sz="2400">
                    <a:solidFill>
                      <a:srgbClr val="78350F"/>
                    </a:solidFill>
                    <a:latin typeface="Cambria Math" panose="02040503050406030204" pitchFamily="18" charset="0"/>
                  </a:rPr>
                  <a:t>$PA=\dfrac{OP}{\sin15^\circ}$</a:t>
                </a:r>
                <a:r>
                  <a:rPr sz="2400" b="0">
                    <a:solidFill>
                      <a:srgbClr val="78350F"/>
                    </a:solidFill>
                    <a:latin typeface="Arial"/>
                  </a:rPr>
                  <a:t> and </a:t>
                </a:r>
                <a:r>
                  <a:rPr lang="en-IN" sz="2400">
                    <a:solidFill>
                      <a:srgbClr val="78350F"/>
                    </a:solidFill>
                    <a:latin typeface="Cambria Math" panose="02040503050406030204" pitchFamily="18" charset="0"/>
                  </a:rPr>
                  <a:t>$PC=OP\sqrt2$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plane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is right-angled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(right triangles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num>
                      <m:den>
                        <m:sSup>
                          <m:e>
                            <m:r>
                              <m:rPr>
                                <m:sty m:val="p"/>
                              </m:rPr>
                              <a:rPr lang="en-IN" sz="2400">
                                <a:solidFill>
                                  <a:srgbClr val="111827"/>
                                </a:solidFill>
                                <a:latin typeface="Cambria Math" panose="02040503050406030204" pitchFamily="18" charset="0"/>
                              </a:rPr>
                              <m:t>sin</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$OP\perp$</a:t>
                </a:r>
                <a:r>
                  <a:rPr sz="2400" b="0">
                    <a:solidFill>
                      <a:srgbClr val="111827"/>
                    </a:solidFill>
                    <a:latin typeface="Arial"/>
                  </a:rPr>
                  <a:t> plane and </a:t>
                </a:r>
                <a:r>
                  <a:rPr lang="en-IN" sz="2400">
                    <a:solidFill>
                      <a:srgbClr val="111827"/>
                    </a:solidFill>
                    <a:latin typeface="Cambria Math" panose="02040503050406030204" pitchFamily="18" charset="0"/>
                  </a:rPr>
                  <a:t>$OC\perp AB$</a:t>
                </a:r>
                <a:r>
                  <a:rPr sz="2400" b="0">
                    <a:solidFill>
                      <a:srgbClr val="111827"/>
                    </a:solidFill>
                    <a:latin typeface="Arial"/>
                  </a:rPr>
                  <a:t> (as </a:t>
                </a:r>
                <a:r>
                  <a:rPr lang="en-IN" sz="2400">
                    <a:solidFill>
                      <a:srgbClr val="111827"/>
                    </a:solidFill>
                    <a:latin typeface="Cambria Math" panose="02040503050406030204" pitchFamily="18" charset="0"/>
                  </a:rPr>
                  <a:t>$OA=OB$</a:t>
                </a:r>
                <a:r>
                  <a:rPr sz="2400" b="0">
                    <a:solidFill>
                      <a:srgbClr val="111827"/>
                    </a:solidFill>
                    <a:latin typeface="Arial"/>
                  </a:rPr>
                  <a:t>), so </a:t>
                </a:r>
                <a:r>
                  <a:rPr lang="en-IN" sz="2400">
                    <a:solidFill>
                      <a:srgbClr val="111827"/>
                    </a:solidFill>
                    <a:latin typeface="Cambria Math" panose="02040503050406030204" pitchFamily="18" charset="0"/>
                  </a:rPr>
                  <a:t>$PC\perp AB$</a:t>
                </a:r>
                <a:r>
                  <a:rPr sz="2400" b="0">
                    <a:solidFill>
                      <a:srgbClr val="111827"/>
                    </a:solidFill>
                    <a:latin typeface="Arial"/>
                  </a:rPr>
                  <a:t> and </a:t>
                </a:r>
                <a:r>
                  <a:rPr lang="en-IN" sz="2400">
                    <a:solidFill>
                      <a:srgbClr val="111827"/>
                    </a:solidFill>
                    <a:latin typeface="Cambria Math" panose="02040503050406030204" pitchFamily="18" charset="0"/>
                  </a:rPr>
                  <a:t>$\triangle PCA$</a:t>
                </a:r>
                <a:r>
                  <a:rPr sz="2400" b="0">
                    <a:solidFill>
                      <a:srgbClr val="111827"/>
                    </a:solidFill>
                    <a:latin typeface="Arial"/>
                  </a:rPr>
                  <a:t> is right-angled at </a:t>
                </a:r>
                <a:r>
                  <a:rPr lang="en-IN" sz="2400">
                    <a:solidFill>
                      <a:srgbClr val="111827"/>
                    </a:solidFill>
                    <a:latin typeface="Cambria Math" panose="02040503050406030204" pitchFamily="18" charset="0"/>
                  </a:rPr>
                  <a:t>$C$</a:t>
                </a:r>
                <a:r>
                  <a:rPr sz="2400" b="0">
                    <a:solidFill>
                      <a:srgbClr val="111827"/>
                    </a:solidFill>
                    <a:latin typeface="Arial"/>
                  </a:rPr>
                  <a:t> with </a:t>
                </a:r>
                <a:r>
                  <a:rPr lang="en-IN" sz="2400">
                    <a:solidFill>
                      <a:srgbClr val="111827"/>
                    </a:solidFill>
                    <a:latin typeface="Cambria Math" panose="02040503050406030204" pitchFamily="18" charset="0"/>
                  </a:rPr>
                  <a:t>$AC=8$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$PC=\dfrac{OP}{\sin45^\circ}=\sqrt2\,OP$</a:t>
                </a:r>
                <a:r>
                  <a:rPr sz="2400" b="0">
                    <a:solidFill>
                      <a:srgbClr val="111827"/>
                    </a:solidFill>
                    <a:latin typeface="Arial"/>
                  </a:rPr>
                  <a:t> and </a:t>
                </a:r>
                <a:r>
                  <a:rPr lang="en-IN" sz="2400">
                    <a:solidFill>
                      <a:srgbClr val="111827"/>
                    </a:solidFill>
                    <a:latin typeface="Cambria Math" panose="02040503050406030204" pitchFamily="18" charset="0"/>
                  </a:rPr>
                  <a:t>$PA=\dfrac{OP}{\sin15^\circ}$</a:t>
                </a:r>
                <a:r>
                  <a:rPr sz="2400" b="0">
                    <a:solidFill>
                      <a:srgbClr val="111827"/>
                    </a:solidFill>
                    <a:latin typeface="Arial"/>
                  </a:rPr>
                  <a:t> (right triangles </a:t>
                </a:r>
                <a:r>
                  <a:rPr lang="en-IN" sz="2400">
                    <a:solidFill>
                      <a:srgbClr val="111827"/>
                    </a:solidFill>
                    <a:latin typeface="Cambria Math" panose="02040503050406030204" pitchFamily="18" charset="0"/>
                  </a:rPr>
                  <a:t>$POC$</a:t>
                </a:r>
                <a:r>
                  <a:rPr sz="2400" b="0">
                    <a:solidFill>
                      <a:srgbClr val="111827"/>
                    </a:solidFill>
                    <a:latin typeface="Arial"/>
                  </a:rPr>
                  <a:t> and </a:t>
                </a:r>
                <a:r>
                  <a:rPr lang="en-IN" sz="2400">
                    <a:solidFill>
                      <a:srgbClr val="111827"/>
                    </a:solidFill>
                    <a:latin typeface="Cambria Math" panose="02040503050406030204" pitchFamily="18" charset="0"/>
                  </a:rPr>
                  <a:t>$POA$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$PA^2=PC^2+AC^2$</a:t>
                </a:r>
                <a:r>
                  <a:rPr sz="2400" b="0">
                    <a:solidFill>
                      <a:srgbClr val="111827"/>
                    </a:solidFill>
                    <a:latin typeface="Arial"/>
                  </a:rPr>
                  <a:t>: </a:t>
                </a:r>
                <a:r>
                  <a:rPr lang="en-IN" sz="2400">
                    <a:solidFill>
                      <a:srgbClr val="111827"/>
                    </a:solidFill>
                    <a:latin typeface="Cambria Math" panose="02040503050406030204" pitchFamily="18" charset="0"/>
                  </a:rPr>
                  <a:t>$\dfrac{OP^2}{\sin^215^\circ}=2OP^2+64$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m:rPr>
                                <m:sty m:val="p"/>
                              </m:rPr>
                              <a:rPr lang="en-IN" sz="2400">
                                <a:solidFill>
                                  <a:srgbClr val="111827"/>
                                </a:solidFill>
                                <a:latin typeface="Cambria Math" panose="02040503050406030204" pitchFamily="18" charset="0"/>
                              </a:rPr>
                              <m:t>sin</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$\sin^215^\circ=\dfrac{1-\cos30^\circ}{2}=\dfrac{2-\sqrt3}{4}$</a:t>
                </a:r>
                <a:r>
                  <a:rPr sz="2400" b="0">
                    <a:solidFill>
                      <a:srgbClr val="111827"/>
                    </a:solidFill>
                    <a:latin typeface="Arial"/>
                  </a:rPr>
                  <a:t>, so </a:t>
                </a:r>
                <a:r>
                  <a:rPr lang="en-IN" sz="2400">
                    <a:solidFill>
                      <a:srgbClr val="111827"/>
                    </a:solidFill>
                    <a:latin typeface="Cambria Math" panose="02040503050406030204" pitchFamily="18" charset="0"/>
                  </a:rPr>
                  <a:t>$\dfrac{1}{\sin^215^\circ}=4(2+\sqrt3)=8+4\sqrt3$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$OP^2(8+4\sqrt3-2)=64$</a:t>
                </a:r>
                <a:r>
                  <a:rPr sz="2400" b="0">
                    <a:solidFill>
                      <a:srgbClr val="111827"/>
                    </a:solidFill>
                    <a:latin typeface="Arial"/>
                  </a:rPr>
                  <a:t>, so </a:t>
                </a:r>
                <a:r>
                  <a:rPr lang="en-IN" sz="2400">
                    <a:solidFill>
                      <a:srgbClr val="111827"/>
                    </a:solidFill>
                    <a:latin typeface="Cambria Math" panose="02040503050406030204" pitchFamily="18" charset="0"/>
                  </a:rPr>
                  <a:t>$OP^2=\dfrac{64}{6+4\sqrt3}=\dfrac{32}{\sqrt3}(2-\sqrt3)$</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$\dfrac{32}{\sqrt3}\left(2-\sqrt3\right)$</a:t>
                </a:r>
                <a:endParaRPr sz="2800">
                  <a:solidFill>
                    <a:srgbClr val="15803D"/>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above the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of a horizontal plane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in that plane, then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(theorem of three perpendiculars); the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oMath>
                </a14:m>
                <a:r>
                  <a:rPr sz="2400" b="0">
                    <a:solidFill>
                      <a:srgbClr val="111827"/>
                    </a:solidFill>
                    <a:latin typeface="Arial"/>
                  </a:rPr>
                  <a:t> is right-angled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elevations of a pole's top from two points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foot of the pole is equidistant from them, so it lies on their perpendicular bisector.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cot</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sin</m:t>
                        </m:r>
                      </m:e>
                      <m:sup>
                        <m:sSup>
                          <m:e>
                            <m:r>
                              <a:rPr lang="en-IN" sz="2400" i="1">
                                <a:solidFill>
                                  <a:srgbClr val="111827"/>
                                </a:solidFill>
                                <a:latin typeface="Cambria Math" panose="02040503050406030204" pitchFamily="18" charset="0"/>
                              </a:rPr>
                              <m:t>215</m:t>
                            </m:r>
                          </m:e>
                          <m:sup>
                            <m:r>
                              <m:rPr>
                                <m:sty m:val="p"/>
                              </m:rPr>
                              <a:rPr lang="en-IN" sz="2400">
                                <a:solidFill>
                                  <a:srgbClr val="111827"/>
                                </a:solidFill>
                                <a:latin typeface="Cambria Math" panose="02040503050406030204" pitchFamily="18" charset="0"/>
                              </a:rPr>
                              <m:t>∘</m:t>
                            </m:r>
                          </m:sup>
                        </m:sSup>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8.30</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a:t>
                </a:r>
                <a:r>
                  <a:rPr sz="2400" b="0">
                    <a:solidFill>
                      <a:srgbClr val="111827"/>
                    </a:solidFill>
                    <a:latin typeface="Arial"/>
                  </a:rPr>
                  <a:t> is above the point </a:t>
                </a:r>
                <a:r>
                  <a:rPr lang="en-IN" sz="2400">
                    <a:solidFill>
                      <a:srgbClr val="111827"/>
                    </a:solidFill>
                    <a:latin typeface="Cambria Math" panose="02040503050406030204" pitchFamily="18" charset="0"/>
                  </a:rPr>
                  <a:t>$O$</a:t>
                </a:r>
                <a:r>
                  <a:rPr sz="2400" b="0">
                    <a:solidFill>
                      <a:srgbClr val="111827"/>
                    </a:solidFill>
                    <a:latin typeface="Arial"/>
                  </a:rPr>
                  <a:t> of a horizontal plane and </a:t>
                </a:r>
                <a:r>
                  <a:rPr lang="en-IN" sz="2400">
                    <a:solidFill>
                      <a:srgbClr val="111827"/>
                    </a:solidFill>
                    <a:latin typeface="Cambria Math" panose="02040503050406030204" pitchFamily="18" charset="0"/>
                  </a:rPr>
                  <a:t>$OC\perp AB$</a:t>
                </a:r>
                <a:r>
                  <a:rPr sz="2400" b="0">
                    <a:solidFill>
                      <a:srgbClr val="111827"/>
                    </a:solidFill>
                    <a:latin typeface="Arial"/>
                  </a:rPr>
                  <a:t> in that plane, then </a:t>
                </a:r>
                <a:r>
                  <a:rPr lang="en-IN" sz="2400">
                    <a:solidFill>
                      <a:srgbClr val="111827"/>
                    </a:solidFill>
                    <a:latin typeface="Cambria Math" panose="02040503050406030204" pitchFamily="18" charset="0"/>
                  </a:rPr>
                  <a:t>$PC\perp AB$</a:t>
                </a:r>
                <a:r>
                  <a:rPr sz="2400" b="0">
                    <a:solidFill>
                      <a:srgbClr val="111827"/>
                    </a:solidFill>
                    <a:latin typeface="Arial"/>
                  </a:rPr>
                  <a:t> (theorem of three perpendiculars); the triangle </a:t>
                </a:r>
                <a:r>
                  <a:rPr lang="en-IN" sz="2400">
                    <a:solidFill>
                      <a:srgbClr val="111827"/>
                    </a:solidFill>
                    <a:latin typeface="Cambria Math" panose="02040503050406030204" pitchFamily="18" charset="0"/>
                  </a:rPr>
                  <a:t>$PCA$</a:t>
                </a:r>
                <a:r>
                  <a:rPr sz="2400" b="0">
                    <a:solidFill>
                      <a:srgbClr val="111827"/>
                    </a:solidFill>
                    <a:latin typeface="Arial"/>
                  </a:rPr>
                  <a:t> is right-angled at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elevations of a pole's top from two points </a:t>
                </a:r>
                <a:r>
                  <a:rPr lang="en-IN" sz="2400">
                    <a:solidFill>
                      <a:srgbClr val="111827"/>
                    </a:solidFill>
                    <a:latin typeface="Cambria Math" panose="02040503050406030204" pitchFamily="18" charset="0"/>
                  </a:rPr>
                  <a:t>$\iff$</a:t>
                </a:r>
                <a:r>
                  <a:rPr sz="2400" b="0">
                    <a:solidFill>
                      <a:srgbClr val="111827"/>
                    </a:solidFill>
                    <a:latin typeface="Arial"/>
                  </a:rPr>
                  <a:t> the foot of the pole is equidistant from them, so it lies on their perpendicular bisector.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$\cot15^\circ=2+\sqrt3$</a:t>
                </a:r>
                <a:r>
                  <a:rPr sz="2400" b="0">
                    <a:solidFill>
                      <a:srgbClr val="111827"/>
                    </a:solidFill>
                    <a:latin typeface="Arial"/>
                  </a:rPr>
                  <a:t>, </a:t>
                </a:r>
                <a:r>
                  <a:rPr lang="en-IN" sz="2400">
                    <a:solidFill>
                      <a:srgbClr val="111827"/>
                    </a:solidFill>
                    <a:latin typeface="Cambria Math" panose="02040503050406030204" pitchFamily="18" charset="0"/>
                  </a:rPr>
                  <a:t>$\cot^215^\circ=7+4\sqrt3$</a:t>
                </a:r>
                <a:r>
                  <a:rPr sz="2400" b="0">
                    <a:solidFill>
                      <a:srgbClr val="111827"/>
                    </a:solidFill>
                    <a:latin typeface="Arial"/>
                  </a:rPr>
                  <a:t>, </a:t>
                </a:r>
                <a:r>
                  <a:rPr lang="en-IN" sz="2400">
                    <a:solidFill>
                      <a:srgbClr val="111827"/>
                    </a:solidFill>
                    <a:latin typeface="Cambria Math" panose="02040503050406030204" pitchFamily="18" charset="0"/>
                  </a:rPr>
                  <a:t>$\sin^215^\circ=\dfrac{2-\sqrt3}{4}$</a:t>
                </a:r>
                <a:r>
                  <a:rPr sz="2400" b="0">
                    <a:solidFill>
                      <a:srgbClr val="111827"/>
                    </a:solidFill>
                    <a:latin typeface="Arial"/>
                  </a:rPr>
                  <a:t>. Check: </a:t>
                </a:r>
                <a:r>
                  <a:rPr lang="en-IN" sz="2400">
                    <a:solidFill>
                      <a:srgbClr val="111827"/>
                    </a:solidFill>
                    <a:latin typeface="Cambria Math" panose="02040503050406030204" pitchFamily="18" charset="0"/>
                  </a:rPr>
                  <a:t>$OP^2\approx4.95$</a:t>
                </a:r>
                <a:r>
                  <a:rPr sz="2400" b="0">
                    <a:solidFill>
                      <a:srgbClr val="111827"/>
                    </a:solidFill>
                    <a:latin typeface="Arial"/>
                  </a:rPr>
                  <a:t>, </a:t>
                </a:r>
                <a:r>
                  <a:rPr lang="en-IN" sz="2400">
                    <a:solidFill>
                      <a:srgbClr val="111827"/>
                    </a:solidFill>
                    <a:latin typeface="Cambria Math" panose="02040503050406030204" pitchFamily="18" charset="0"/>
                  </a:rPr>
                  <a:t>$OA=OP\cot15^\circ\approx8.30$</a:t>
                </a:r>
                <a:r>
                  <a:rPr sz="2400" b="0">
                    <a:solidFill>
                      <a:srgbClr val="111827"/>
                    </a:solidFill>
                    <a:latin typeface="Arial"/>
                  </a:rPr>
                  <a:t>, </a:t>
                </a:r>
                <a:r>
                  <a:rPr lang="en-IN" sz="2400">
                    <a:solidFill>
                      <a:srgbClr val="111827"/>
                    </a:solidFill>
                    <a:latin typeface="Cambria Math" panose="02040503050406030204" pitchFamily="18" charset="0"/>
                  </a:rPr>
                  <a:t>$\sqrt{OA^2-64}\approx2.22=OP$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of a tower from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due north of it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from a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 distance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units due west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e>
                    </m:d>
                  </m:oMath>
                </a14:m>
                <a:r>
                  <a:rPr sz="2400" b="0">
                    <a:solidFill>
                      <a:srgbClr val="111827"/>
                    </a:solidFill>
                    <a:latin typeface="Arial"/>
                  </a:rPr>
                  <a:t>. If the distance of the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from the tower is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units, then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6629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of a tower from a point </a:t>
                </a:r>
                <a:r>
                  <a:rPr lang="en-IN" sz="2400">
                    <a:solidFill>
                      <a:srgbClr val="111827"/>
                    </a:solidFill>
                    <a:latin typeface="Cambria Math" panose="02040503050406030204" pitchFamily="18" charset="0"/>
                  </a:rPr>
                  <a:t>$A$</a:t>
                </a:r>
                <a:r>
                  <a:rPr sz="2400" b="0">
                    <a:solidFill>
                      <a:srgbClr val="111827"/>
                    </a:solidFill>
                    <a:latin typeface="Arial"/>
                  </a:rPr>
                  <a:t> due north of it is </a:t>
                </a:r>
                <a:r>
                  <a:rPr lang="en-IN" sz="2400">
                    <a:solidFill>
                      <a:srgbClr val="111827"/>
                    </a:solidFill>
                    <a:latin typeface="Cambria Math" panose="02040503050406030204" pitchFamily="18" charset="0"/>
                  </a:rPr>
                  <a:t>$\alpha$</a:t>
                </a:r>
                <a:r>
                  <a:rPr sz="2400" b="0">
                    <a:solidFill>
                      <a:srgbClr val="111827"/>
                    </a:solidFill>
                    <a:latin typeface="Arial"/>
                  </a:rPr>
                  <a:t> and from a point </a:t>
                </a:r>
                <a:r>
                  <a:rPr lang="en-IN" sz="2400">
                    <a:solidFill>
                      <a:srgbClr val="111827"/>
                    </a:solidFill>
                    <a:latin typeface="Cambria Math" panose="02040503050406030204" pitchFamily="18" charset="0"/>
                  </a:rPr>
                  <a:t>$B$</a:t>
                </a:r>
                <a:r>
                  <a:rPr sz="2400" b="0">
                    <a:solidFill>
                      <a:srgbClr val="111827"/>
                    </a:solidFill>
                    <a:latin typeface="Arial"/>
                  </a:rPr>
                  <a:t> at a distance of </a:t>
                </a:r>
                <a:r>
                  <a:rPr lang="en-IN" sz="2400">
                    <a:solidFill>
                      <a:srgbClr val="111827"/>
                    </a:solidFill>
                    <a:latin typeface="Cambria Math" panose="02040503050406030204" pitchFamily="18" charset="0"/>
                  </a:rPr>
                  <a:t>$9$</a:t>
                </a:r>
                <a:r>
                  <a:rPr sz="2400" b="0">
                    <a:solidFill>
                      <a:srgbClr val="111827"/>
                    </a:solidFill>
                    <a:latin typeface="Arial"/>
                  </a:rPr>
                  <a:t> units due west of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$\cos^{-1}\left(\dfrac{3}{\sqrt{13}}\right)$</a:t>
                </a:r>
                <a:r>
                  <a:rPr sz="2400" b="0">
                    <a:solidFill>
                      <a:srgbClr val="111827"/>
                    </a:solidFill>
                    <a:latin typeface="Arial"/>
                  </a:rPr>
                  <a:t>. If the distance of the point </a:t>
                </a:r>
                <a:r>
                  <a:rPr lang="en-IN" sz="2400">
                    <a:solidFill>
                      <a:srgbClr val="111827"/>
                    </a:solidFill>
                    <a:latin typeface="Cambria Math" panose="02040503050406030204" pitchFamily="18" charset="0"/>
                  </a:rPr>
                  <a:t>$B$</a:t>
                </a:r>
                <a:r>
                  <a:rPr sz="2400" b="0">
                    <a:solidFill>
                      <a:srgbClr val="111827"/>
                    </a:solidFill>
                    <a:latin typeface="Arial"/>
                  </a:rPr>
                  <a:t> from the tower is </a:t>
                </a:r>
                <a:r>
                  <a:rPr lang="en-IN" sz="2400">
                    <a:solidFill>
                      <a:srgbClr val="111827"/>
                    </a:solidFill>
                    <a:latin typeface="Cambria Math" panose="02040503050406030204" pitchFamily="18" charset="0"/>
                  </a:rPr>
                  <a:t>$15$</a:t>
                </a:r>
                <a:r>
                  <a:rPr sz="2400" b="0">
                    <a:solidFill>
                      <a:srgbClr val="111827"/>
                    </a:solidFill>
                    <a:latin typeface="Arial"/>
                  </a:rPr>
                  <a:t> units, then </a:t>
                </a:r>
                <a:r>
                  <a:rPr lang="en-IN" sz="2400">
                    <a:solidFill>
                      <a:srgbClr val="111827"/>
                    </a:solidFill>
                    <a:latin typeface="Cambria Math" panose="02040503050406030204" pitchFamily="18" charset="0"/>
                  </a:rPr>
                  <a:t>$\cot\alpha$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$\dfrac65$</a:t>
                </a:r>
                <a:r>
                  <a:rPr sz="2400" b="0">
                    <a:solidFill>
                      <a:srgbClr val="111827"/>
                    </a:solidFill>
                    <a:latin typeface="Arial"/>
                  </a:rPr>
                  <a:t>   (B) </a:t>
                </a:r>
                <a:r>
                  <a:rPr lang="en-IN" sz="2400">
                    <a:solidFill>
                      <a:srgbClr val="111827"/>
                    </a:solidFill>
                    <a:latin typeface="Cambria Math" panose="02040503050406030204" pitchFamily="18" charset="0"/>
                  </a:rPr>
                  <a:t>$\dfrac95$</a:t>
                </a:r>
                <a:r>
                  <a:rPr sz="2400" b="0">
                    <a:solidFill>
                      <a:srgbClr val="111827"/>
                    </a:solidFill>
                    <a:latin typeface="Arial"/>
                  </a:rPr>
                  <a:t>   (C) </a:t>
                </a:r>
                <a:r>
                  <a:rPr lang="en-IN" sz="2400">
                    <a:solidFill>
                      <a:srgbClr val="111827"/>
                    </a:solidFill>
                    <a:latin typeface="Cambria Math" panose="02040503050406030204" pitchFamily="18" charset="0"/>
                  </a:rPr>
                  <a:t>$\dfrac43$</a:t>
                </a:r>
                <a:r>
                  <a:rPr sz="2400" b="0">
                    <a:solidFill>
                      <a:srgbClr val="111827"/>
                    </a:solidFill>
                    <a:latin typeface="Arial"/>
                  </a:rPr>
                  <a:t>   (D) </a:t>
                </a:r>
                <a:r>
                  <a:rPr lang="en-IN" sz="2400">
                    <a:solidFill>
                      <a:srgbClr val="111827"/>
                    </a:solidFill>
                    <a:latin typeface="Cambria Math" panose="02040503050406030204" pitchFamily="18" charset="0"/>
                  </a:rPr>
                  <a:t>$\dfrac73$</a:t>
                </a:r>
                <a:endParaRPr sz="2400">
                  <a:solidFill>
                    <a:srgbClr val="111827"/>
                  </a:solidFill>
                </a:endParaRPr>
              </a:p>
            </p:txBody>
          </p:sp>
        </mc:Fallback>
      </mc:AlternateContent>
      <p:sp>
        <p:nvSpPr>
          <p:cNvPr id="5" name="Rectangle 4"/>
          <p:cNvSpPr/>
          <p:nvPr/>
        </p:nvSpPr>
        <p:spPr>
          <a:xfrm>
            <a:off x="731520" y="41716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with compass directions (heights and distances), Inverse cosine and right triangle trigonometry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due north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due west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𝑂</m:t>
                    </m:r>
                    <m:sSup>
                      <m:e>
                        <m:r>
                          <a:rPr lang="en-IN" sz="2400" i="1">
                            <a:solidFill>
                              <a:srgbClr val="78350F"/>
                            </a:solidFill>
                            <a:latin typeface="Cambria Math" panose="02040503050406030204" pitchFamily="18" charset="0"/>
                          </a:rPr>
                          <m:t>𝐴</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a:t>
                </a:r>
                <a:r>
                  <a:rPr sz="2400" b="0">
                    <a:solidFill>
                      <a:srgbClr val="78350F"/>
                    </a:solidFill>
                    <a:latin typeface="Arial"/>
                  </a:rPr>
                  <a:t> is due north and </a:t>
                </a:r>
                <a:r>
                  <a:rPr lang="en-IN" sz="2400">
                    <a:solidFill>
                      <a:srgbClr val="78350F"/>
                    </a:solidFill>
                    <a:latin typeface="Cambria Math" panose="02040503050406030204" pitchFamily="18" charset="0"/>
                  </a:rPr>
                  <a:t>$B$</a:t>
                </a:r>
                <a:r>
                  <a:rPr sz="2400" b="0">
                    <a:solidFill>
                      <a:srgbClr val="78350F"/>
                    </a:solidFill>
                    <a:latin typeface="Arial"/>
                  </a:rPr>
                  <a:t> due west of </a:t>
                </a:r>
                <a:r>
                  <a:rPr lang="en-IN" sz="2400">
                    <a:solidFill>
                      <a:srgbClr val="78350F"/>
                    </a:solidFill>
                    <a:latin typeface="Cambria Math" panose="02040503050406030204" pitchFamily="18" charset="0"/>
                  </a:rPr>
                  <a:t>$A$</a:t>
                </a:r>
                <a:r>
                  <a:rPr sz="2400" b="0">
                    <a:solidFill>
                      <a:srgbClr val="78350F"/>
                    </a:solidFill>
                    <a:latin typeface="Arial"/>
                  </a:rPr>
                  <a:t>, so </a:t>
                </a:r>
                <a:r>
                  <a:rPr lang="en-IN" sz="2400">
                    <a:solidFill>
                      <a:srgbClr val="78350F"/>
                    </a:solidFill>
                    <a:latin typeface="Cambria Math" panose="02040503050406030204" pitchFamily="18" charset="0"/>
                  </a:rPr>
                  <a:t>$OA\perp AB$</a:t>
                </a:r>
                <a:r>
                  <a:rPr sz="2400" b="0">
                    <a:solidFill>
                      <a:srgbClr val="78350F"/>
                    </a:solidFill>
                    <a:latin typeface="Arial"/>
                  </a:rPr>
                  <a:t> and </a:t>
                </a:r>
                <a:r>
                  <a:rPr lang="en-IN" sz="2400">
                    <a:solidFill>
                      <a:srgbClr val="78350F"/>
                    </a:solidFill>
                    <a:latin typeface="Cambria Math" panose="02040503050406030204" pitchFamily="18" charset="0"/>
                  </a:rPr>
                  <a:t>$OA^2+AB^2=OB^2$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be the foot of the tower,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its height,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the elevation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gives a right triangle with sides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a:t>
                </a:r>
                <a:r>
                  <a:rPr sz="2400" b="0">
                    <a:solidFill>
                      <a:srgbClr val="111827"/>
                    </a:solidFill>
                    <a:latin typeface="Arial"/>
                  </a:rPr>
                  <a:t> be the foot of the tower, </a:t>
                </a:r>
                <a:r>
                  <a:rPr lang="en-IN" sz="2400">
                    <a:solidFill>
                      <a:srgbClr val="111827"/>
                    </a:solidFill>
                    <a:latin typeface="Cambria Math" panose="02040503050406030204" pitchFamily="18" charset="0"/>
                  </a:rPr>
                  <a:t>$h$</a:t>
                </a:r>
                <a:r>
                  <a:rPr sz="2400" b="0">
                    <a:solidFill>
                      <a:srgbClr val="111827"/>
                    </a:solidFill>
                    <a:latin typeface="Arial"/>
                  </a:rPr>
                  <a:t> its height, and </a:t>
                </a:r>
                <a:r>
                  <a:rPr lang="en-IN" sz="2400">
                    <a:solidFill>
                      <a:srgbClr val="111827"/>
                    </a:solidFill>
                    <a:latin typeface="Cambria Math" panose="02040503050406030204" pitchFamily="18" charset="0"/>
                  </a:rPr>
                  <a:t>$\beta=\cos^{-1}\dfrac{3}{\sqrt{13}}$</a:t>
                </a:r>
                <a:r>
                  <a:rPr sz="2400" b="0">
                    <a:solidFill>
                      <a:srgbClr val="111827"/>
                    </a:solidFill>
                    <a:latin typeface="Arial"/>
                  </a:rPr>
                  <a:t> the elevation from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$OB=15$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$\cos\beta=\dfrac{3}{\sqrt{13}}$</a:t>
                </a:r>
                <a:r>
                  <a:rPr sz="2400" b="0">
                    <a:solidFill>
                      <a:srgbClr val="111827"/>
                    </a:solidFill>
                    <a:latin typeface="Arial"/>
                  </a:rPr>
                  <a:t> gives a right triangle with sides </a:t>
                </a:r>
                <a:r>
                  <a:rPr lang="en-IN" sz="2400">
                    <a:solidFill>
                      <a:srgbClr val="111827"/>
                    </a:solidFill>
                    <a:latin typeface="Cambria Math" panose="02040503050406030204" pitchFamily="18" charset="0"/>
                  </a:rPr>
                  <a:t>$3,2,\sqrt{13}$</a:t>
                </a:r>
                <a:r>
                  <a:rPr sz="2400" b="0">
                    <a:solidFill>
                      <a:srgbClr val="111827"/>
                    </a:solidFill>
                    <a:latin typeface="Arial"/>
                  </a:rPr>
                  <a:t>, so </a:t>
                </a:r>
                <a:r>
                  <a:rPr lang="en-IN" sz="2400">
                    <a:solidFill>
                      <a:srgbClr val="111827"/>
                    </a:solidFill>
                    <a:latin typeface="Cambria Math" panose="02040503050406030204" pitchFamily="18" charset="0"/>
                  </a:rPr>
                  <a:t>$\tan\beta=\dfrac23$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$POB$</a:t>
                </a:r>
                <a:r>
                  <a:rPr sz="2400" b="0">
                    <a:solidFill>
                      <a:srgbClr val="111827"/>
                    </a:solidFill>
                    <a:latin typeface="Arial"/>
                  </a:rPr>
                  <a:t> (</a:t>
                </a:r>
                <a:r>
                  <a:rPr lang="en-IN" sz="2400">
                    <a:solidFill>
                      <a:srgbClr val="111827"/>
                    </a:solidFill>
                    <a:latin typeface="Cambria Math" panose="02040503050406030204" pitchFamily="18" charset="0"/>
                  </a:rPr>
                  <a:t>$PO=h$</a:t>
                </a:r>
                <a:r>
                  <a:rPr sz="2400" b="0">
                    <a:solidFill>
                      <a:srgbClr val="111827"/>
                    </a:solidFill>
                    <a:latin typeface="Arial"/>
                  </a:rPr>
                  <a:t>, </a:t>
                </a:r>
                <a:r>
                  <a:rPr lang="en-IN" sz="2400">
                    <a:solidFill>
                      <a:srgbClr val="111827"/>
                    </a:solidFill>
                    <a:latin typeface="Cambria Math" panose="02040503050406030204" pitchFamily="18" charset="0"/>
                  </a:rPr>
                  <a:t>$OB=15$</a:t>
                </a:r>
                <a:r>
                  <a:rPr sz="2400" b="0">
                    <a:solidFill>
                      <a:srgbClr val="111827"/>
                    </a:solidFill>
                    <a:latin typeface="Arial"/>
                  </a:rPr>
                  <a:t>): </a:t>
                </a:r>
                <a:r>
                  <a:rPr lang="en-IN" sz="2400">
                    <a:solidFill>
                      <a:srgbClr val="111827"/>
                    </a:solidFill>
                    <a:latin typeface="Cambria Math" panose="02040503050406030204" pitchFamily="18" charset="0"/>
                  </a:rPr>
                  <a:t>$\tan\beta=\dfrac{h}{15}$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$\dfrac23=\dfrac h{15}$</a:t>
                </a:r>
                <a:r>
                  <a:rPr sz="2400" b="0">
                    <a:solidFill>
                      <a:srgbClr val="111827"/>
                    </a:solidFill>
                    <a:latin typeface="Arial"/>
                  </a:rPr>
                  <a:t>, so </a:t>
                </a:r>
                <a:r>
                  <a:rPr lang="en-IN" sz="2400">
                    <a:solidFill>
                      <a:srgbClr val="111827"/>
                    </a:solidFill>
                    <a:latin typeface="Cambria Math" panose="02040503050406030204" pitchFamily="18" charset="0"/>
                  </a:rPr>
                  <a:t>$h=10$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due north of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due west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due north of </a:t>
                </a:r>
                <a:r>
                  <a:rPr lang="en-IN" sz="2400">
                    <a:solidFill>
                      <a:srgbClr val="111827"/>
                    </a:solidFill>
                    <a:latin typeface="Cambria Math" panose="02040503050406030204" pitchFamily="18" charset="0"/>
                  </a:rPr>
                  <a:t>$O$</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is due west of </a:t>
                </a:r>
                <a:r>
                  <a:rPr lang="en-IN" sz="2400">
                    <a:solidFill>
                      <a:srgbClr val="111827"/>
                    </a:solidFill>
                    <a:latin typeface="Cambria Math" panose="02040503050406030204" pitchFamily="18" charset="0"/>
                  </a:rPr>
                  <a:t>$A$</a:t>
                </a:r>
                <a:r>
                  <a:rPr sz="2400" b="0">
                    <a:solidFill>
                      <a:srgbClr val="111827"/>
                    </a:solidFill>
                    <a:latin typeface="Arial"/>
                  </a:rPr>
                  <a:t>, so </a:t>
                </a:r>
                <a:r>
                  <a:rPr lang="en-IN" sz="2400">
                    <a:solidFill>
                      <a:srgbClr val="111827"/>
                    </a:solidFill>
                    <a:latin typeface="Cambria Math" panose="02040503050406030204" pitchFamily="18" charset="0"/>
                  </a:rPr>
                  <a:t>$\angle OAB=90^\circ$</a:t>
                </a:r>
                <a:r>
                  <a:rPr sz="2400" b="0">
                    <a:solidFill>
                      <a:srgbClr val="111827"/>
                    </a:solidFill>
                    <a:latin typeface="Arial"/>
                  </a:rPr>
                  <a:t>: </a:t>
                </a:r>
                <a:r>
                  <a:rPr lang="en-IN" sz="2400">
                    <a:solidFill>
                      <a:srgbClr val="111827"/>
                    </a:solidFill>
                    <a:latin typeface="Cambria Math" panose="02040503050406030204" pitchFamily="18" charset="0"/>
                  </a:rPr>
                  <a:t>$OA^2+AB^2=OB^2$</a:t>
                </a:r>
                <a:r>
                  <a:rPr sz="2400" b="0">
                    <a:solidFill>
                      <a:srgbClr val="111827"/>
                    </a:solidFill>
                    <a:latin typeface="Arial"/>
                  </a:rPr>
                  <a:t>, i.e. </a:t>
                </a:r>
                <a:r>
                  <a:rPr lang="en-IN" sz="2400">
                    <a:solidFill>
                      <a:srgbClr val="111827"/>
                    </a:solidFill>
                    <a:latin typeface="Cambria Math" panose="02040503050406030204" pitchFamily="18" charset="0"/>
                  </a:rPr>
                  <a:t>$OA^2+81=225$</a:t>
                </a:r>
                <a:r>
                  <a:rPr sz="2400" b="0">
                    <a:solidFill>
                      <a:srgbClr val="111827"/>
                    </a:solidFill>
                    <a:latin typeface="Arial"/>
                  </a:rPr>
                  <a:t> and </a:t>
                </a:r>
                <a:r>
                  <a:rPr lang="en-IN" sz="2400">
                    <a:solidFill>
                      <a:srgbClr val="111827"/>
                    </a:solidFill>
                    <a:latin typeface="Cambria Math" panose="02040503050406030204" pitchFamily="18" charset="0"/>
                  </a:rPr>
                  <a:t>$OA=12$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$POA$</a:t>
                </a:r>
                <a:r>
                  <a:rPr sz="2400" b="0">
                    <a:solidFill>
                      <a:srgbClr val="111827"/>
                    </a:solidFill>
                    <a:latin typeface="Arial"/>
                  </a:rPr>
                  <a:t>: </a:t>
                </a:r>
                <a:r>
                  <a:rPr lang="en-IN" sz="2400">
                    <a:solidFill>
                      <a:srgbClr val="111827"/>
                    </a:solidFill>
                    <a:latin typeface="Cambria Math" panose="02040503050406030204" pitchFamily="18" charset="0"/>
                  </a:rPr>
                  <a:t>$\tan\alpha=\dfrac{h}{OA}=\dfrac{10}{12}$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$\cot\alpha=\dfrac{12}{10}=\dfrac65$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$\dfrac65$</a:t>
                </a:r>
                <a:endParaRPr sz="2800">
                  <a:solidFill>
                    <a:srgbClr val="15803D"/>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β</m:t>
                    </m:r>
                  </m:oMath>
                </a14:m>
                <a:r>
                  <a:rPr sz="2400" b="0">
                    <a:solidFill>
                      <a:srgbClr val="78350F"/>
                    </a:solidFill>
                    <a:latin typeface="Arial"/>
                  </a:rPr>
                  <a:t> directly on the slant distance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avoiding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β</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$\cos\beta$</a:t>
                </a:r>
                <a:r>
                  <a:rPr sz="2400" b="0">
                    <a:solidFill>
                      <a:srgbClr val="78350F"/>
                    </a:solidFill>
                    <a:latin typeface="Arial"/>
                  </a:rPr>
                  <a:t> directly on the slant distance </a:t>
                </a:r>
                <a:r>
                  <a:rPr lang="en-IN" sz="2400">
                    <a:solidFill>
                      <a:srgbClr val="78350F"/>
                    </a:solidFill>
                    <a:latin typeface="Cambria Math" panose="02040503050406030204" pitchFamily="18" charset="0"/>
                  </a:rPr>
                  <a:t>$BP$</a:t>
                </a:r>
                <a:r>
                  <a:rPr sz="2400" b="0">
                    <a:solidFill>
                      <a:srgbClr val="78350F"/>
                    </a:solidFill>
                    <a:latin typeface="Arial"/>
                  </a:rPr>
                  <a:t>, avoiding </a:t>
                </a:r>
                <a:r>
                  <a:rPr lang="en-IN" sz="2400">
                    <a:solidFill>
                      <a:srgbClr val="78350F"/>
                    </a:solidFill>
                    <a:latin typeface="Cambria Math" panose="02040503050406030204" pitchFamily="18" charset="0"/>
                  </a:rPr>
                  <a:t>$\tan\beta$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den>
                    </m:f>
                  </m:oMath>
                </a14:m>
                <a:r>
                  <a:rPr sz="2400" b="0">
                    <a:solidFill>
                      <a:srgbClr val="111827"/>
                    </a:solidFill>
                    <a:latin typeface="Arial"/>
                  </a:rPr>
                  <a:t> (in the right triangle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triangle scaled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$\cos\beta=\dfrac{OB}{BP}$</a:t>
                </a:r>
                <a:r>
                  <a:rPr sz="2400" b="0">
                    <a:solidFill>
                      <a:srgbClr val="111827"/>
                    </a:solidFill>
                    <a:latin typeface="Arial"/>
                  </a:rPr>
                  <a:t> (in the right triangle </a:t>
                </a:r>
                <a:r>
                  <a:rPr lang="en-IN" sz="2400">
                    <a:solidFill>
                      <a:srgbClr val="111827"/>
                    </a:solidFill>
                    <a:latin typeface="Cambria Math" panose="02040503050406030204" pitchFamily="18" charset="0"/>
                  </a:rPr>
                  <a:t>$POB$</a:t>
                </a:r>
                <a:r>
                  <a:rPr sz="2400" b="0">
                    <a:solidFill>
                      <a:srgbClr val="111827"/>
                    </a:solidFill>
                    <a:latin typeface="Arial"/>
                  </a:rPr>
                  <a:t>), so </a:t>
                </a:r>
                <a:r>
                  <a:rPr lang="en-IN" sz="2400">
                    <a:solidFill>
                      <a:srgbClr val="111827"/>
                    </a:solidFill>
                    <a:latin typeface="Cambria Math" panose="02040503050406030204" pitchFamily="18" charset="0"/>
                  </a:rPr>
                  <a:t>$BP=\dfrac{15}{3/\sqrt{13}}=5\sqrt{13}$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a:t>
                </a:r>
                <a:r>
                  <a:rPr lang="en-IN" sz="2400">
                    <a:solidFill>
                      <a:srgbClr val="111827"/>
                    </a:solidFill>
                    <a:latin typeface="Cambria Math" panose="02040503050406030204" pitchFamily="18" charset="0"/>
                  </a:rPr>
                  <a:t>$h=\sqrt{BP^2-OB^2}=\sqrt{325-225}=10$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$OA\perp AB$</a:t>
                </a:r>
                <a:r>
                  <a:rPr sz="2400" b="0">
                    <a:solidFill>
                      <a:srgbClr val="111827"/>
                    </a:solidFill>
                    <a:latin typeface="Arial"/>
                  </a:rPr>
                  <a:t> with </a:t>
                </a:r>
                <a:r>
                  <a:rPr lang="en-IN" sz="2400">
                    <a:solidFill>
                      <a:srgbClr val="111827"/>
                    </a:solidFill>
                    <a:latin typeface="Cambria Math" panose="02040503050406030204" pitchFamily="18" charset="0"/>
                  </a:rPr>
                  <a:t>$OB=15$</a:t>
                </a:r>
                <a:r>
                  <a:rPr sz="2400" b="0">
                    <a:solidFill>
                      <a:srgbClr val="111827"/>
                    </a:solidFill>
                    <a:latin typeface="Arial"/>
                  </a:rPr>
                  <a:t>, </a:t>
                </a:r>
                <a:r>
                  <a:rPr lang="en-IN" sz="2400">
                    <a:solidFill>
                      <a:srgbClr val="111827"/>
                    </a:solidFill>
                    <a:latin typeface="Cambria Math" panose="02040503050406030204" pitchFamily="18" charset="0"/>
                  </a:rPr>
                  <a:t>$AB=9$</a:t>
                </a:r>
                <a:r>
                  <a:rPr sz="2400" b="0">
                    <a:solidFill>
                      <a:srgbClr val="111827"/>
                    </a:solidFill>
                    <a:latin typeface="Arial"/>
                  </a:rPr>
                  <a:t> gives </a:t>
                </a:r>
                <a:r>
                  <a:rPr lang="en-IN" sz="2400">
                    <a:solidFill>
                      <a:srgbClr val="111827"/>
                    </a:solidFill>
                    <a:latin typeface="Cambria Math" panose="02040503050406030204" pitchFamily="18" charset="0"/>
                  </a:rPr>
                  <a:t>$OA=12$</a:t>
                </a:r>
                <a:r>
                  <a:rPr sz="2400" b="0">
                    <a:solidFill>
                      <a:srgbClr val="111827"/>
                    </a:solidFill>
                    <a:latin typeface="Arial"/>
                  </a:rPr>
                  <a:t> (a </a:t>
                </a:r>
                <a:r>
                  <a:rPr lang="en-IN" sz="2400">
                    <a:solidFill>
                      <a:srgbClr val="111827"/>
                    </a:solidFill>
                    <a:latin typeface="Cambria Math" panose="02040503050406030204" pitchFamily="18" charset="0"/>
                  </a:rPr>
                  <a:t>$3$</a:t>
                </a:r>
                <a:r>
                  <a:rPr sz="2400" b="0">
                    <a:solidFill>
                      <a:srgbClr val="111827"/>
                    </a:solidFill>
                    <a:latin typeface="Arial"/>
                  </a:rPr>
                  <a:t>-</a:t>
                </a:r>
                <a:r>
                  <a:rPr lang="en-IN" sz="2400">
                    <a:solidFill>
                      <a:srgbClr val="111827"/>
                    </a:solidFill>
                    <a:latin typeface="Cambria Math" panose="02040503050406030204" pitchFamily="18" charset="0"/>
                  </a:rPr>
                  <a:t>$4$</a:t>
                </a:r>
                <a:r>
                  <a:rPr sz="2400" b="0">
                    <a:solidFill>
                      <a:srgbClr val="111827"/>
                    </a:solidFill>
                    <a:latin typeface="Arial"/>
                  </a:rPr>
                  <a:t>-</a:t>
                </a:r>
                <a:r>
                  <a:rPr lang="en-IN" sz="2400">
                    <a:solidFill>
                      <a:srgbClr val="111827"/>
                    </a:solidFill>
                    <a:latin typeface="Cambria Math" panose="02040503050406030204" pitchFamily="18" charset="0"/>
                  </a:rPr>
                  <a:t>$5$</a:t>
                </a:r>
                <a:r>
                  <a:rPr sz="2400" b="0">
                    <a:solidFill>
                      <a:srgbClr val="111827"/>
                    </a:solidFill>
                    <a:latin typeface="Arial"/>
                  </a:rPr>
                  <a:t> triangle scaled by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$\cot\alpha=\dfrac{OA}{h}=\dfrac{12}{10}=\dfrac65$</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m:t>
                        </m:r>
                      </m:num>
                      <m:den>
                        <m:r>
                          <a:rPr lang="en-IN" sz="2800" i="1">
                            <a:solidFill>
                              <a:srgbClr val="15803D"/>
                            </a:solidFill>
                            <a:latin typeface="Cambria Math" panose="02040503050406030204" pitchFamily="18" charset="0"/>
                          </a:rPr>
                          <m:t>5</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$\dfrac65$</a:t>
                </a:r>
                <a:endParaRPr sz="2800">
                  <a:solidFill>
                    <a:srgbClr val="15803D"/>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Compass directions: 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due north of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due west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horizontal distances form a right triangle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𝑒𝑙𝑒𝑣𝑎𝑡𝑖𝑜𝑛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ℎ𝑜𝑟𝑖𝑧𝑜𝑛𝑡𝑎𝑙 𝑑𝑖𝑠𝑡𝑎𝑛𝑐𝑒</m:t>
                        </m:r>
                      </m:num>
                      <m:den>
                        <m:r>
                          <m:rPr>
                            <m:nor/>
                          </m:rPr>
                          <a:rPr lang="en-IN" sz="2400" i="1">
                            <a:solidFill>
                              <a:srgbClr val="111827"/>
                            </a:solidFill>
                            <a:latin typeface="Cambria Math" panose="02040503050406030204" pitchFamily="18" charset="0"/>
                          </a:rPr>
                          <m:t>ℎ𝑒𝑖𝑔ℎ𝑡</m:t>
                        </m:r>
                      </m:den>
                    </m:f>
                  </m:oMath>
                </a14:m>
                <a:r>
                  <a:rPr sz="2400" b="0">
                    <a:solidFill>
                      <a:srgbClr val="111827"/>
                    </a:solidFill>
                    <a:latin typeface="Arial"/>
                  </a:rPr>
                  <a:t>, so the cotangents from different points are proportional to their distances from the foot.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angle given as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is read from the right triangle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13</m:t>
                            </m:r>
                          </m:e>
                        </m:rad>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Compass directions: if </a:t>
                </a:r>
                <a:r>
                  <a:rPr lang="en-IN" sz="2400">
                    <a:solidFill>
                      <a:srgbClr val="111827"/>
                    </a:solidFill>
                    <a:latin typeface="Cambria Math" panose="02040503050406030204" pitchFamily="18" charset="0"/>
                  </a:rPr>
                  <a:t>$A$</a:t>
                </a:r>
                <a:r>
                  <a:rPr sz="2400" b="0">
                    <a:solidFill>
                      <a:srgbClr val="111827"/>
                    </a:solidFill>
                    <a:latin typeface="Arial"/>
                  </a:rPr>
                  <a:t> is due north of </a:t>
                </a:r>
                <a:r>
                  <a:rPr lang="en-IN" sz="2400">
                    <a:solidFill>
                      <a:srgbClr val="111827"/>
                    </a:solidFill>
                    <a:latin typeface="Cambria Math" panose="02040503050406030204" pitchFamily="18" charset="0"/>
                  </a:rPr>
                  <a:t>$O$</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is due west of </a:t>
                </a:r>
                <a:r>
                  <a:rPr lang="en-IN" sz="2400">
                    <a:solidFill>
                      <a:srgbClr val="111827"/>
                    </a:solidFill>
                    <a:latin typeface="Cambria Math" panose="02040503050406030204" pitchFamily="18" charset="0"/>
                  </a:rPr>
                  <a:t>$A$</a:t>
                </a:r>
                <a:r>
                  <a:rPr sz="2400" b="0">
                    <a:solidFill>
                      <a:srgbClr val="111827"/>
                    </a:solidFill>
                    <a:latin typeface="Arial"/>
                  </a:rPr>
                  <a:t>, then </a:t>
                </a:r>
                <a:r>
                  <a:rPr lang="en-IN" sz="2400">
                    <a:solidFill>
                      <a:srgbClr val="111827"/>
                    </a:solidFill>
                    <a:latin typeface="Cambria Math" panose="02040503050406030204" pitchFamily="18" charset="0"/>
                  </a:rPr>
                  <a:t>$OA\perp AB$</a:t>
                </a:r>
                <a:r>
                  <a:rPr sz="2400" b="0">
                    <a:solidFill>
                      <a:srgbClr val="111827"/>
                    </a:solidFill>
                    <a:latin typeface="Arial"/>
                  </a:rPr>
                  <a:t>; </a:t>
                </a:r>
                <a:r>
                  <a:rPr lang="en-IN" sz="2400">
                    <a:solidFill>
                      <a:srgbClr val="111827"/>
                    </a:solidFill>
                    <a:latin typeface="Cambria Math" panose="02040503050406030204" pitchFamily="18" charset="0"/>
                  </a:rPr>
                  <a:t>$\angle OAB=90^\circ$</a:t>
                </a:r>
                <a:r>
                  <a:rPr sz="2400" b="0">
                    <a:solidFill>
                      <a:srgbClr val="111827"/>
                    </a:solidFill>
                    <a:latin typeface="Arial"/>
                  </a:rPr>
                  <a:t> and the horizontal distances form a right triangle (</a:t>
                </a:r>
                <a:r>
                  <a:rPr lang="en-IN" sz="2400">
                    <a:solidFill>
                      <a:srgbClr val="111827"/>
                    </a:solidFill>
                    <a:latin typeface="Cambria Math" panose="02040503050406030204" pitchFamily="18" charset="0"/>
                  </a:rPr>
                  <a:t>$9$</a:t>
                </a:r>
                <a:r>
                  <a:rPr sz="2400" b="0">
                    <a:solidFill>
                      <a:srgbClr val="111827"/>
                    </a:solidFill>
                    <a:latin typeface="Arial"/>
                  </a:rPr>
                  <a:t>-</a:t>
                </a:r>
                <a:r>
                  <a:rPr lang="en-IN" sz="2400">
                    <a:solidFill>
                      <a:srgbClr val="111827"/>
                    </a:solidFill>
                    <a:latin typeface="Cambria Math" panose="02040503050406030204" pitchFamily="18" charset="0"/>
                  </a:rPr>
                  <a:t>$12$</a:t>
                </a:r>
                <a:r>
                  <a:rPr sz="2400" b="0">
                    <a:solidFill>
                      <a:srgbClr val="111827"/>
                    </a:solidFill>
                    <a:latin typeface="Arial"/>
                  </a:rPr>
                  <a:t>-</a:t>
                </a:r>
                <a:r>
                  <a:rPr lang="en-IN" sz="2400">
                    <a:solidFill>
                      <a:srgbClr val="111827"/>
                    </a:solidFill>
                    <a:latin typeface="Cambria Math" panose="02040503050406030204" pitchFamily="18" charset="0"/>
                  </a:rPr>
                  <a:t>$15$</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$\cot(\text{elevation})=\dfrac{\text{horizontal distance}}{\text{height}}$</a:t>
                </a:r>
                <a:r>
                  <a:rPr sz="2400" b="0">
                    <a:solidFill>
                      <a:srgbClr val="111827"/>
                    </a:solidFill>
                    <a:latin typeface="Arial"/>
                  </a:rPr>
                  <a:t>, so the cotangents from different points are proportional to their distances from the foot.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 angle given as </a:t>
                </a:r>
                <a:r>
                  <a:rPr lang="en-IN" sz="2400">
                    <a:solidFill>
                      <a:srgbClr val="111827"/>
                    </a:solidFill>
                    <a:latin typeface="Cambria Math" panose="02040503050406030204" pitchFamily="18" charset="0"/>
                  </a:rPr>
                  <a:t>$\cos^{-1}\dfrac{3}{\sqrt{13}}$</a:t>
                </a:r>
                <a:r>
                  <a:rPr sz="2400" b="0">
                    <a:solidFill>
                      <a:srgbClr val="111827"/>
                    </a:solidFill>
                    <a:latin typeface="Arial"/>
                  </a:rPr>
                  <a:t> is read from the right triangle </a:t>
                </a:r>
                <a:r>
                  <a:rPr lang="en-IN" sz="2400">
                    <a:solidFill>
                      <a:srgbClr val="111827"/>
                    </a:solidFill>
                    <a:latin typeface="Cambria Math" panose="02040503050406030204" pitchFamily="18" charset="0"/>
                  </a:rPr>
                  <a:t>$3,2,\sqrt{13}$</a:t>
                </a:r>
                <a:r>
                  <a:rPr sz="2400" b="0">
                    <a:solidFill>
                      <a:srgbClr val="111827"/>
                    </a:solidFill>
                    <a:latin typeface="Arial"/>
                  </a:rPr>
                  <a:t>: </a:t>
                </a:r>
                <a:r>
                  <a:rPr lang="en-IN" sz="2400">
                    <a:solidFill>
                      <a:srgbClr val="111827"/>
                    </a:solidFill>
                    <a:latin typeface="Cambria Math" panose="02040503050406030204" pitchFamily="18" charset="0"/>
                  </a:rPr>
                  <a:t>$\sin=\dfrac2{\sqrt{13}}$</a:t>
                </a:r>
                <a:r>
                  <a:rPr sz="2400" b="0">
                    <a:solidFill>
                      <a:srgbClr val="111827"/>
                    </a:solidFill>
                    <a:latin typeface="Arial"/>
                  </a:rPr>
                  <a:t>, </a:t>
                </a:r>
                <a:r>
                  <a:rPr lang="en-IN" sz="2400">
                    <a:solidFill>
                      <a:srgbClr val="111827"/>
                    </a:solidFill>
                    <a:latin typeface="Cambria Math" panose="02040503050406030204" pitchFamily="18" charset="0"/>
                  </a:rPr>
                  <a:t>$\tan=\dfrac23$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From the top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of a vertical wall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of height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m, the angles of depression of the top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bottom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of a vertical tower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are </a:t>
                </a:r>
                <a14:m>
                  <m:oMath xmlns:m="http://schemas.openxmlformats.org/officeDocument/2006/math">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respectively,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are on the same horizontal level. If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 point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then the area (in 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of the quadrilateral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From the top </a:t>
                </a:r>
                <a:r>
                  <a:rPr lang="en-IN" sz="2400">
                    <a:solidFill>
                      <a:srgbClr val="111827"/>
                    </a:solidFill>
                    <a:latin typeface="Cambria Math" panose="02040503050406030204" pitchFamily="18" charset="0"/>
                  </a:rPr>
                  <a:t>$A$</a:t>
                </a:r>
                <a:r>
                  <a:rPr sz="2400" b="0">
                    <a:solidFill>
                      <a:srgbClr val="111827"/>
                    </a:solidFill>
                    <a:latin typeface="Arial"/>
                  </a:rPr>
                  <a:t> of a vertical wall </a:t>
                </a:r>
                <a:r>
                  <a:rPr lang="en-IN" sz="2400">
                    <a:solidFill>
                      <a:srgbClr val="111827"/>
                    </a:solidFill>
                    <a:latin typeface="Cambria Math" panose="02040503050406030204" pitchFamily="18" charset="0"/>
                  </a:rPr>
                  <a:t>$AB$</a:t>
                </a:r>
                <a:r>
                  <a:rPr sz="2400" b="0">
                    <a:solidFill>
                      <a:srgbClr val="111827"/>
                    </a:solidFill>
                    <a:latin typeface="Arial"/>
                  </a:rPr>
                  <a:t> of height </a:t>
                </a:r>
                <a:r>
                  <a:rPr lang="en-IN" sz="2400">
                    <a:solidFill>
                      <a:srgbClr val="111827"/>
                    </a:solidFill>
                    <a:latin typeface="Cambria Math" panose="02040503050406030204" pitchFamily="18" charset="0"/>
                  </a:rPr>
                  <a:t>$30$</a:t>
                </a:r>
                <a:r>
                  <a:rPr sz="2400" b="0">
                    <a:solidFill>
                      <a:srgbClr val="111827"/>
                    </a:solidFill>
                    <a:latin typeface="Arial"/>
                  </a:rPr>
                  <a:t> m, the angles of depression of the top </a:t>
                </a:r>
                <a:r>
                  <a:rPr lang="en-IN" sz="2400">
                    <a:solidFill>
                      <a:srgbClr val="111827"/>
                    </a:solidFill>
                    <a:latin typeface="Cambria Math" panose="02040503050406030204" pitchFamily="18" charset="0"/>
                  </a:rPr>
                  <a:t>$P$</a:t>
                </a:r>
                <a:r>
                  <a:rPr sz="2400" b="0">
                    <a:solidFill>
                      <a:srgbClr val="111827"/>
                    </a:solidFill>
                    <a:latin typeface="Arial"/>
                  </a:rPr>
                  <a:t> and bottom </a:t>
                </a:r>
                <a:r>
                  <a:rPr lang="en-IN" sz="2400">
                    <a:solidFill>
                      <a:srgbClr val="111827"/>
                    </a:solidFill>
                    <a:latin typeface="Cambria Math" panose="02040503050406030204" pitchFamily="18" charset="0"/>
                  </a:rPr>
                  <a:t>$Q$</a:t>
                </a:r>
                <a:r>
                  <a:rPr sz="2400" b="0">
                    <a:solidFill>
                      <a:srgbClr val="111827"/>
                    </a:solidFill>
                    <a:latin typeface="Arial"/>
                  </a:rPr>
                  <a:t> of a vertical tower </a:t>
                </a:r>
                <a:r>
                  <a:rPr lang="en-IN" sz="2400">
                    <a:solidFill>
                      <a:srgbClr val="111827"/>
                    </a:solidFill>
                    <a:latin typeface="Cambria Math" panose="02040503050406030204" pitchFamily="18" charset="0"/>
                  </a:rPr>
                  <a:t>$PQ$</a:t>
                </a:r>
                <a:r>
                  <a:rPr sz="2400" b="0">
                    <a:solidFill>
                      <a:srgbClr val="111827"/>
                    </a:solidFill>
                    <a:latin typeface="Arial"/>
                  </a:rPr>
                  <a:t> are </a:t>
                </a:r>
                <a:r>
                  <a:rPr lang="en-IN" sz="2400">
                    <a:solidFill>
                      <a:srgbClr val="111827"/>
                    </a:solidFill>
                    <a:latin typeface="Cambria Math" panose="02040503050406030204" pitchFamily="18" charset="0"/>
                  </a:rPr>
                  <a:t>$15^\circ$</a:t>
                </a:r>
                <a:r>
                  <a:rPr sz="2400" b="0">
                    <a:solidFill>
                      <a:srgbClr val="111827"/>
                    </a:solidFill>
                    <a:latin typeface="Arial"/>
                  </a:rPr>
                  <a:t> and </a:t>
                </a:r>
                <a:r>
                  <a:rPr lang="en-IN" sz="2400">
                    <a:solidFill>
                      <a:srgbClr val="111827"/>
                    </a:solidFill>
                    <a:latin typeface="Cambria Math" panose="02040503050406030204" pitchFamily="18" charset="0"/>
                  </a:rPr>
                  <a:t>$60^\circ$</a:t>
                </a:r>
                <a:r>
                  <a:rPr sz="2400" b="0">
                    <a:solidFill>
                      <a:srgbClr val="111827"/>
                    </a:solidFill>
                    <a:latin typeface="Arial"/>
                  </a:rPr>
                  <a:t> respectively,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are on the same horizontal level. If </a:t>
                </a:r>
                <a:r>
                  <a:rPr lang="en-IN" sz="2400">
                    <a:solidFill>
                      <a:srgbClr val="111827"/>
                    </a:solidFill>
                    <a:latin typeface="Cambria Math" panose="02040503050406030204" pitchFamily="18" charset="0"/>
                  </a:rPr>
                  <a:t>$C$</a:t>
                </a:r>
                <a:r>
                  <a:rPr sz="2400" b="0">
                    <a:solidFill>
                      <a:srgbClr val="111827"/>
                    </a:solidFill>
                    <a:latin typeface="Arial"/>
                  </a:rPr>
                  <a:t> is a point on </a:t>
                </a:r>
                <a:r>
                  <a:rPr lang="en-IN" sz="2400">
                    <a:solidFill>
                      <a:srgbClr val="111827"/>
                    </a:solidFill>
                    <a:latin typeface="Cambria Math" panose="02040503050406030204" pitchFamily="18" charset="0"/>
                  </a:rPr>
                  <a:t>$AB$</a:t>
                </a:r>
                <a:r>
                  <a:rPr sz="2400" b="0">
                    <a:solidFill>
                      <a:srgbClr val="111827"/>
                    </a:solidFill>
                    <a:latin typeface="Arial"/>
                  </a:rPr>
                  <a:t> such that </a:t>
                </a:r>
                <a:r>
                  <a:rPr lang="en-IN" sz="2400">
                    <a:solidFill>
                      <a:srgbClr val="111827"/>
                    </a:solidFill>
                    <a:latin typeface="Cambria Math" panose="02040503050406030204" pitchFamily="18" charset="0"/>
                  </a:rPr>
                  <a:t>$CB=PQ$</a:t>
                </a:r>
                <a:r>
                  <a:rPr sz="2400" b="0">
                    <a:solidFill>
                      <a:srgbClr val="111827"/>
                    </a:solidFill>
                    <a:latin typeface="Arial"/>
                  </a:rPr>
                  <a:t>, then the area (in m</a:t>
                </a:r>
                <a:r>
                  <a:rPr lang="en-IN" sz="2400">
                    <a:solidFill>
                      <a:srgbClr val="111827"/>
                    </a:solidFill>
                    <a:latin typeface="Cambria Math" panose="02040503050406030204" pitchFamily="18" charset="0"/>
                  </a:rPr>
                  <a:t>$^2$</a:t>
                </a:r>
                <a:r>
                  <a:rPr sz="2400" b="0">
                    <a:solidFill>
                      <a:srgbClr val="111827"/>
                    </a:solidFill>
                    <a:latin typeface="Arial"/>
                  </a:rPr>
                  <a:t>) of the quadrilateral </a:t>
                </a:r>
                <a:r>
                  <a:rPr lang="en-IN" sz="2400">
                    <a:solidFill>
                      <a:srgbClr val="111827"/>
                    </a:solidFill>
                    <a:latin typeface="Cambria Math" panose="02040503050406030204" pitchFamily="18" charset="0"/>
                  </a:rPr>
                  <a:t>$BCPQ$</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$300(\sqrt3-1)$</a:t>
                </a:r>
                <a:r>
                  <a:rPr sz="2400" b="0">
                    <a:solidFill>
                      <a:srgbClr val="111827"/>
                    </a:solidFill>
                    <a:latin typeface="Arial"/>
                  </a:rPr>
                  <a:t>   (B) </a:t>
                </a:r>
                <a:r>
                  <a:rPr lang="en-IN" sz="2400">
                    <a:solidFill>
                      <a:srgbClr val="111827"/>
                    </a:solidFill>
                    <a:latin typeface="Cambria Math" panose="02040503050406030204" pitchFamily="18" charset="0"/>
                  </a:rPr>
                  <a:t>$300(\sqrt3+1)$</a:t>
                </a:r>
                <a:r>
                  <a:rPr sz="2400" b="0">
                    <a:solidFill>
                      <a:srgbClr val="111827"/>
                    </a:solidFill>
                    <a:latin typeface="Arial"/>
                  </a:rPr>
                  <a:t>   (C) </a:t>
                </a:r>
                <a:r>
                  <a:rPr lang="en-IN" sz="2400">
                    <a:solidFill>
                      <a:srgbClr val="111827"/>
                    </a:solidFill>
                    <a:latin typeface="Cambria Math" panose="02040503050406030204" pitchFamily="18" charset="0"/>
                  </a:rPr>
                  <a:t>$600(\sqrt3-1)$</a:t>
                </a:r>
                <a:r>
                  <a:rPr sz="2400" b="0">
                    <a:solidFill>
                      <a:srgbClr val="111827"/>
                    </a:solidFill>
                    <a:latin typeface="Arial"/>
                  </a:rPr>
                  <a:t>   (D) </a:t>
                </a:r>
                <a:r>
                  <a:rPr lang="en-IN" sz="2400">
                    <a:solidFill>
                      <a:srgbClr val="111827"/>
                    </a:solidFill>
                    <a:latin typeface="Cambria Math" panose="02040503050406030204" pitchFamily="18" charset="0"/>
                  </a:rPr>
                  <a:t>$200(3-\sqrt3)$</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depression from a wall (heights and distances), Area of a rectangle and the values of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depression from a wall (heights and distances), Area of a rectangle and the values of </a:t>
                </a:r>
                <a:r>
                  <a:rPr lang="en-IN" sz="2400">
                    <a:solidFill>
                      <a:srgbClr val="111827"/>
                    </a:solidFill>
                    <a:latin typeface="Cambria Math" panose="02040503050406030204" pitchFamily="18" charset="0"/>
                  </a:rPr>
                  <a:t>$\tan15^\circ$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is a rectangle with sides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𝑄</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r>
                      <m:rPr>
                        <m:sty m:val="p"/>
                      </m:rPr>
                      <a:rPr lang="en-IN" sz="2400">
                        <a:solidFill>
                          <a:srgbClr val="78350F"/>
                        </a:solidFill>
                        <a:latin typeface="Cambria Math" panose="02040503050406030204" pitchFamily="18" charset="0"/>
                      </a:rPr>
                      <m:t>cot</m:t>
                    </m:r>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oMath>
                </a14:m>
                <a:r>
                  <a:rPr sz="2400" b="0">
                    <a:solidFill>
                      <a:srgbClr val="78350F"/>
                    </a:solidFill>
                    <a:latin typeface="Arial"/>
                  </a:rPr>
                  <a:t>; get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from the two depression angles.</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$BCPQ$</a:t>
                </a:r>
                <a:r>
                  <a:rPr sz="2400" b="0">
                    <a:solidFill>
                      <a:srgbClr val="78350F"/>
                    </a:solidFill>
                    <a:latin typeface="Arial"/>
                  </a:rPr>
                  <a:t> is a rectangle with sides </a:t>
                </a:r>
                <a:r>
                  <a:rPr lang="en-IN" sz="2400">
                    <a:solidFill>
                      <a:srgbClr val="78350F"/>
                    </a:solidFill>
                    <a:latin typeface="Cambria Math" panose="02040503050406030204" pitchFamily="18" charset="0"/>
                  </a:rPr>
                  <a:t>$BQ=30\cot60^\circ$</a:t>
                </a:r>
                <a:r>
                  <a:rPr sz="2400" b="0">
                    <a:solidFill>
                      <a:srgbClr val="78350F"/>
                    </a:solidFill>
                    <a:latin typeface="Arial"/>
                  </a:rPr>
                  <a:t> and </a:t>
                </a:r>
                <a:r>
                  <a:rPr lang="en-IN" sz="2400">
                    <a:solidFill>
                      <a:srgbClr val="78350F"/>
                    </a:solidFill>
                    <a:latin typeface="Cambria Math" panose="02040503050406030204" pitchFamily="18" charset="0"/>
                  </a:rPr>
                  <a:t>$PQ=h$</a:t>
                </a:r>
                <a:r>
                  <a:rPr sz="2400" b="0">
                    <a:solidFill>
                      <a:srgbClr val="78350F"/>
                    </a:solidFill>
                    <a:latin typeface="Arial"/>
                  </a:rPr>
                  <a:t>; get </a:t>
                </a:r>
                <a:r>
                  <a:rPr lang="en-IN" sz="2400">
                    <a:solidFill>
                      <a:srgbClr val="78350F"/>
                    </a:solidFill>
                    <a:latin typeface="Cambria Math" panose="02040503050406030204" pitchFamily="18" charset="0"/>
                  </a:rPr>
                  <a:t>$h$</a:t>
                </a:r>
                <a:r>
                  <a:rPr sz="2400" b="0">
                    <a:solidFill>
                      <a:srgbClr val="78350F"/>
                    </a:solidFill>
                    <a:latin typeface="Arial"/>
                  </a:rPr>
                  <a:t> from the two depression angles.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a rectangle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depression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$PQ=h=CB$</a:t>
                </a:r>
                <a:r>
                  <a:rPr sz="2400" b="0">
                    <a:solidFill>
                      <a:srgbClr val="111827"/>
                    </a:solidFill>
                    <a:latin typeface="Arial"/>
                  </a:rPr>
                  <a:t> and </a:t>
                </a:r>
                <a:r>
                  <a:rPr lang="en-IN" sz="2400">
                    <a:solidFill>
                      <a:srgbClr val="111827"/>
                    </a:solidFill>
                    <a:latin typeface="Cambria Math" panose="02040503050406030204" pitchFamily="18" charset="0"/>
                  </a:rPr>
                  <a:t>$BQ=CP=x$</a:t>
                </a:r>
                <a:r>
                  <a:rPr sz="2400" b="0">
                    <a:solidFill>
                      <a:srgbClr val="111827"/>
                    </a:solidFill>
                    <a:latin typeface="Arial"/>
                  </a:rPr>
                  <a:t>, so </a:t>
                </a:r>
                <a:r>
                  <a:rPr lang="en-IN" sz="2400">
                    <a:solidFill>
                      <a:srgbClr val="111827"/>
                    </a:solidFill>
                    <a:latin typeface="Cambria Math" panose="02040503050406030204" pitchFamily="18" charset="0"/>
                  </a:rPr>
                  <a:t>$BCPQ$</a:t>
                </a:r>
                <a:r>
                  <a:rPr sz="2400" b="0">
                    <a:solidFill>
                      <a:srgbClr val="111827"/>
                    </a:solidFill>
                    <a:latin typeface="Arial"/>
                  </a:rPr>
                  <a:t> is a rectangle and </a:t>
                </a:r>
                <a:r>
                  <a:rPr lang="en-IN" sz="2400">
                    <a:solidFill>
                      <a:srgbClr val="111827"/>
                    </a:solidFill>
                    <a:latin typeface="Cambria Math" panose="02040503050406030204" pitchFamily="18" charset="0"/>
                  </a:rPr>
                  <a:t>$AC=30-h$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$A$</a:t>
                </a:r>
                <a:r>
                  <a:rPr sz="2400" b="0">
                    <a:solidFill>
                      <a:srgbClr val="111827"/>
                    </a:solidFill>
                    <a:latin typeface="Arial"/>
                  </a:rPr>
                  <a:t> the depression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$15^\circ$</a:t>
                </a:r>
                <a:r>
                  <a:rPr sz="2400" b="0">
                    <a:solidFill>
                      <a:srgbClr val="111827"/>
                    </a:solidFill>
                    <a:latin typeface="Arial"/>
                  </a:rPr>
                  <a:t>: </a:t>
                </a:r>
                <a:r>
                  <a:rPr lang="en-IN" sz="2400">
                    <a:solidFill>
                      <a:srgbClr val="111827"/>
                    </a:solidFill>
                    <a:latin typeface="Cambria Math" panose="02040503050406030204" pitchFamily="18" charset="0"/>
                  </a:rPr>
                  <a:t>$\tan15^\circ=\dfrac{30-h}{x}$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depression of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30</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depression of </a:t>
                </a:r>
                <a:r>
                  <a:rPr lang="en-IN" sz="2400">
                    <a:solidFill>
                      <a:srgbClr val="111827"/>
                    </a:solidFill>
                    <a:latin typeface="Cambria Math" panose="02040503050406030204" pitchFamily="18" charset="0"/>
                  </a:rPr>
                  <a:t>$Q$</a:t>
                </a:r>
                <a:r>
                  <a:rPr sz="2400" b="0">
                    <a:solidFill>
                      <a:srgbClr val="111827"/>
                    </a:solidFill>
                    <a:latin typeface="Arial"/>
                  </a:rPr>
                  <a:t> is </a:t>
                </a:r>
                <a:r>
                  <a:rPr lang="en-IN" sz="2400">
                    <a:solidFill>
                      <a:srgbClr val="111827"/>
                    </a:solidFill>
                    <a:latin typeface="Cambria Math" panose="02040503050406030204" pitchFamily="18" charset="0"/>
                  </a:rPr>
                  <a:t>$60^\circ$</a:t>
                </a:r>
                <a:r>
                  <a:rPr sz="2400" b="0">
                    <a:solidFill>
                      <a:srgbClr val="111827"/>
                    </a:solidFill>
                    <a:latin typeface="Arial"/>
                  </a:rPr>
                  <a:t>: </a:t>
                </a:r>
                <a:r>
                  <a:rPr lang="en-IN" sz="2400">
                    <a:solidFill>
                      <a:srgbClr val="111827"/>
                    </a:solidFill>
                    <a:latin typeface="Cambria Math" panose="02040503050406030204" pitchFamily="18" charset="0"/>
                  </a:rPr>
                  <a:t>$\tan60^\circ=\dfrac{30}{x}$</a:t>
                </a:r>
                <a:r>
                  <a:rPr sz="2400" b="0">
                    <a:solidFill>
                      <a:srgbClr val="111827"/>
                    </a:solidFill>
                    <a:latin typeface="Arial"/>
                  </a:rPr>
                  <a:t>, so </a:t>
                </a:r>
                <a:r>
                  <a:rPr lang="en-IN" sz="2400">
                    <a:solidFill>
                      <a:srgbClr val="111827"/>
                    </a:solidFill>
                    <a:latin typeface="Cambria Math" panose="02040503050406030204" pitchFamily="18" charset="0"/>
                  </a:rPr>
                  <a:t>$x=\dfrac{30}{\sqrt3}=10\sqrt3$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$\tan15^\circ=2-\sqrt3$</a:t>
                </a:r>
                <a:r>
                  <a:rPr sz="2400" b="0">
                    <a:solidFill>
                      <a:srgbClr val="111827"/>
                    </a:solidFill>
                    <a:latin typeface="Arial"/>
                  </a:rPr>
                  <a:t>: </a:t>
                </a:r>
                <a:r>
                  <a:rPr lang="en-IN" sz="2400">
                    <a:solidFill>
                      <a:srgbClr val="111827"/>
                    </a:solidFill>
                    <a:latin typeface="Cambria Math" panose="02040503050406030204" pitchFamily="18" charset="0"/>
                  </a:rPr>
                  <a:t>$\dfrac{2-\sqrt3}{\sqrt3}=\dfrac{30-h}{30}$</a:t>
                </a:r>
                <a:r>
                  <a:rPr sz="2400" b="0">
                    <a:solidFill>
                      <a:srgbClr val="111827"/>
                    </a:solidFill>
                    <a:latin typeface="Arial"/>
                  </a:rPr>
                  <a:t>, so </a:t>
                </a:r>
                <a:r>
                  <a:rPr lang="en-IN" sz="2400">
                    <a:solidFill>
                      <a:srgbClr val="111827"/>
                    </a:solidFill>
                    <a:latin typeface="Cambria Math" panose="02040503050406030204" pitchFamily="18" charset="0"/>
                  </a:rPr>
                  <a:t>$30-h=30\cdot\dfrac{2-\sqrt3}{\sqrt3}=\dfrac{60}{\sqrt3}-30$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$h=30-\dfrac{60}{\sqrt3}+30=60-\dfrac{60}{\sqrt3}=60-20\sqrt3=\dfrac{60(\sqrt3-1)}{\sqrt3}$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rectangle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the rectangle </a:t>
                </a:r>
                <a:r>
                  <a:rPr lang="en-IN" sz="2400">
                    <a:solidFill>
                      <a:srgbClr val="111827"/>
                    </a:solidFill>
                    <a:latin typeface="Cambria Math" panose="02040503050406030204" pitchFamily="18" charset="0"/>
                  </a:rPr>
                  <a:t>$=h\cdot x=\dfrac{60(\sqrt3-1)}{\sqrt3}\cdot\dfrac{30}{\sqrt3}=\dfrac{30\cdot60(\sqrt3-1)}{3}$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$=600(\sqrt3-1)$</a:t>
                </a:r>
                <a:r>
                  <a:rPr sz="2400" b="0">
                    <a:solidFill>
                      <a:srgbClr val="111827"/>
                    </a:solidFill>
                    <a:latin typeface="Arial"/>
                  </a:rPr>
                  <a:t> m</a:t>
                </a:r>
                <a:r>
                  <a:rPr lang="en-IN" sz="2400">
                    <a:solidFill>
                      <a:srgbClr val="111827"/>
                    </a:solidFill>
                    <a:latin typeface="Cambria Math" panose="02040503050406030204" pitchFamily="18" charset="0"/>
                  </a:rPr>
                  <a:t>$^2$</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600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$600(\sqrt3-1)$</a:t>
                </a:r>
                <a:endParaRPr sz="2800">
                  <a:solidFill>
                    <a:srgbClr val="15803D"/>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Sine rule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its angles are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giving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Sine rule in </a:t>
                </a:r>
                <a:r>
                  <a:rPr lang="en-IN" sz="2400">
                    <a:solidFill>
                      <a:srgbClr val="78350F"/>
                    </a:solidFill>
                    <a:latin typeface="Cambria Math" panose="02040503050406030204" pitchFamily="18" charset="0"/>
                  </a:rPr>
                  <a:t>$\triangle APQ$</a:t>
                </a:r>
                <a:r>
                  <a:rPr sz="2400" b="0">
                    <a:solidFill>
                      <a:srgbClr val="78350F"/>
                    </a:solidFill>
                    <a:latin typeface="Arial"/>
                  </a:rPr>
                  <a:t>: its angles are </a:t>
                </a:r>
                <a:r>
                  <a:rPr lang="en-IN" sz="2400">
                    <a:solidFill>
                      <a:srgbClr val="78350F"/>
                    </a:solidFill>
                    <a:latin typeface="Cambria Math" panose="02040503050406030204" pitchFamily="18" charset="0"/>
                  </a:rPr>
                  <a:t>$45^\circ$</a:t>
                </a:r>
                <a:r>
                  <a:rPr sz="2400" b="0">
                    <a:solidFill>
                      <a:srgbClr val="78350F"/>
                    </a:solidFill>
                    <a:latin typeface="Arial"/>
                  </a:rPr>
                  <a:t> at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$30^\circ$</a:t>
                </a:r>
                <a:r>
                  <a:rPr sz="2400" b="0">
                    <a:solidFill>
                      <a:srgbClr val="78350F"/>
                    </a:solidFill>
                    <a:latin typeface="Arial"/>
                  </a:rPr>
                  <a:t> at </a:t>
                </a:r>
                <a:r>
                  <a:rPr lang="en-IN" sz="2400">
                    <a:solidFill>
                      <a:srgbClr val="78350F"/>
                    </a:solidFill>
                    <a:latin typeface="Cambria Math" panose="02040503050406030204" pitchFamily="18" charset="0"/>
                  </a:rPr>
                  <a:t>$Q$</a:t>
                </a:r>
                <a:r>
                  <a:rPr sz="2400" b="0">
                    <a:solidFill>
                      <a:srgbClr val="78350F"/>
                    </a:solidFill>
                    <a:latin typeface="Arial"/>
                  </a:rPr>
                  <a:t>, giving </a:t>
                </a:r>
                <a:r>
                  <a:rPr lang="en-IN" sz="2400">
                    <a:solidFill>
                      <a:srgbClr val="78350F"/>
                    </a:solidFill>
                    <a:latin typeface="Cambria Math" panose="02040503050406030204" pitchFamily="18" charset="0"/>
                  </a:rPr>
                  <a:t>$PQ$</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(difference of the depressions).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𝐴</m:t>
                    </m:r>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ground,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$AQ=\dfrac{AB}{\sin60^\circ}=\dfrac{30}{\sqrt3/2}=20\sqrt3$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PAQ=60^\circ-15^\circ=45^\circ$</a:t>
                </a:r>
                <a:r>
                  <a:rPr sz="2400" b="0">
                    <a:solidFill>
                      <a:srgbClr val="111827"/>
                    </a:solidFill>
                    <a:latin typeface="Arial"/>
                  </a:rPr>
                  <a:t> (difference of the depressions). At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$QA$</a:t>
                </a:r>
                <a:r>
                  <a:rPr sz="2400" b="0">
                    <a:solidFill>
                      <a:srgbClr val="111827"/>
                    </a:solidFill>
                    <a:latin typeface="Arial"/>
                  </a:rPr>
                  <a:t> makes </a:t>
                </a:r>
                <a:r>
                  <a:rPr lang="en-IN" sz="2400">
                    <a:solidFill>
                      <a:srgbClr val="111827"/>
                    </a:solidFill>
                    <a:latin typeface="Cambria Math" panose="02040503050406030204" pitchFamily="18" charset="0"/>
                  </a:rPr>
                  <a:t>$60^\circ$</a:t>
                </a:r>
                <a:r>
                  <a:rPr sz="2400" b="0">
                    <a:solidFill>
                      <a:srgbClr val="111827"/>
                    </a:solidFill>
                    <a:latin typeface="Arial"/>
                  </a:rPr>
                  <a:t> with the ground, so </a:t>
                </a:r>
                <a:r>
                  <a:rPr lang="en-IN" sz="2400">
                    <a:solidFill>
                      <a:srgbClr val="111827"/>
                    </a:solidFill>
                    <a:latin typeface="Cambria Math" panose="02040503050406030204" pitchFamily="18" charset="0"/>
                  </a:rPr>
                  <a:t>$\angle AQP=90^\circ-60^\circ=30^\circ$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$\angle APQ=180^\circ-45^\circ-30^\circ=105^\circ$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Sine rule: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105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num>
                      <m:den>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the area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Sine rule: </a:t>
                </a:r>
                <a:r>
                  <a:rPr lang="en-IN" sz="2400">
                    <a:solidFill>
                      <a:srgbClr val="111827"/>
                    </a:solidFill>
                    <a:latin typeface="Cambria Math" panose="02040503050406030204" pitchFamily="18" charset="0"/>
                  </a:rPr>
                  <a:t>$PQ=\dfrac{AQ\sin45^\circ}{\sin105^\circ}=\dfrac{20\sqrt3\cdot\frac{\sqrt2}{2}}{\frac{\sqrt6+\sqrt2}{4}}=\dfrac{40\sqrt3}{\sqrt3+1}=20\sqrt3(\sqrt3-1)=60-20\sqrt3$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$BQ=30\cot60^\circ=10\sqrt3$</a:t>
                </a:r>
                <a:r>
                  <a:rPr sz="2400" b="0">
                    <a:solidFill>
                      <a:srgbClr val="111827"/>
                    </a:solidFill>
                    <a:latin typeface="Arial"/>
                  </a:rPr>
                  <a:t>, so the area is </a:t>
                </a:r>
                <a:r>
                  <a:rPr lang="en-IN" sz="2400">
                    <a:solidFill>
                      <a:srgbClr val="111827"/>
                    </a:solidFill>
                    <a:latin typeface="Cambria Math" panose="02040503050406030204" pitchFamily="18" charset="0"/>
                  </a:rPr>
                  <a:t>$(60-20\sqrt3)\cdot10\sqrt3=600\sqrt3-600=600(\sqrt3-1)$</a:t>
                </a:r>
                <a:r>
                  <a:rPr sz="2400" b="0">
                    <a:solidFill>
                      <a:srgbClr val="111827"/>
                    </a:solidFill>
                    <a:latin typeface="Arial"/>
                  </a:rPr>
                  <a:t>.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600</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$600(\sqrt3-1)$</a:t>
                </a:r>
                <a:endParaRPr sz="2800">
                  <a:solidFill>
                    <a:srgbClr val="15803D"/>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of depression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 point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angle of elevation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that point (alternate angles); the angle subtended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the difference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vertical segments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of equal length with a horizontal join form a rectangle, so the area is (height)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(horizontal distance).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17.32</m:t>
                    </m:r>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of depression from </a:t>
                </a:r>
                <a:r>
                  <a:rPr lang="en-IN" sz="2400">
                    <a:solidFill>
                      <a:srgbClr val="111827"/>
                    </a:solidFill>
                    <a:latin typeface="Cambria Math" panose="02040503050406030204" pitchFamily="18" charset="0"/>
                  </a:rPr>
                  <a:t>$A$</a:t>
                </a:r>
                <a:r>
                  <a:rPr sz="2400" b="0">
                    <a:solidFill>
                      <a:srgbClr val="111827"/>
                    </a:solidFill>
                    <a:latin typeface="Arial"/>
                  </a:rPr>
                  <a:t> to a point </a:t>
                </a:r>
                <a:r>
                  <a:rPr lang="en-IN" sz="2400">
                    <a:solidFill>
                      <a:srgbClr val="111827"/>
                    </a:solidFill>
                    <a:latin typeface="Cambria Math" panose="02040503050406030204" pitchFamily="18" charset="0"/>
                  </a:rPr>
                  <a:t>$=$</a:t>
                </a:r>
                <a:r>
                  <a:rPr sz="2400" b="0">
                    <a:solidFill>
                      <a:srgbClr val="111827"/>
                    </a:solidFill>
                    <a:latin typeface="Arial"/>
                  </a:rPr>
                  <a:t> angle of elevation of </a:t>
                </a:r>
                <a:r>
                  <a:rPr lang="en-IN" sz="2400">
                    <a:solidFill>
                      <a:srgbClr val="111827"/>
                    </a:solidFill>
                    <a:latin typeface="Cambria Math" panose="02040503050406030204" pitchFamily="18" charset="0"/>
                  </a:rPr>
                  <a:t>$A$</a:t>
                </a:r>
                <a:r>
                  <a:rPr sz="2400" b="0">
                    <a:solidFill>
                      <a:srgbClr val="111827"/>
                    </a:solidFill>
                    <a:latin typeface="Arial"/>
                  </a:rPr>
                  <a:t> from that point (alternate angles); the angle subtended at </a:t>
                </a:r>
                <a:r>
                  <a:rPr lang="en-IN" sz="2400">
                    <a:solidFill>
                      <a:srgbClr val="111827"/>
                    </a:solidFill>
                    <a:latin typeface="Cambria Math" panose="02040503050406030204" pitchFamily="18" charset="0"/>
                  </a:rPr>
                  <a:t>$A$</a:t>
                </a:r>
                <a:r>
                  <a:rPr sz="2400" b="0">
                    <a:solidFill>
                      <a:srgbClr val="111827"/>
                    </a:solidFill>
                    <a:latin typeface="Arial"/>
                  </a:rPr>
                  <a:t> by </a:t>
                </a:r>
                <a:r>
                  <a:rPr lang="en-IN" sz="2400">
                    <a:solidFill>
                      <a:srgbClr val="111827"/>
                    </a:solidFill>
                    <a:latin typeface="Cambria Math" panose="02040503050406030204" pitchFamily="18" charset="0"/>
                  </a:rPr>
                  <a:t>$PQ$</a:t>
                </a:r>
                <a:r>
                  <a:rPr sz="2400" b="0">
                    <a:solidFill>
                      <a:srgbClr val="111827"/>
                    </a:solidFill>
                    <a:latin typeface="Arial"/>
                  </a:rPr>
                  <a:t> is the difference </a:t>
                </a:r>
                <a:r>
                  <a:rPr lang="en-IN" sz="2400">
                    <a:solidFill>
                      <a:srgbClr val="111827"/>
                    </a:solidFill>
                    <a:latin typeface="Cambria Math" panose="02040503050406030204" pitchFamily="18" charset="0"/>
                  </a:rPr>
                  <a:t>$60^\circ-15^\circ$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vertical segments </a:t>
                </a:r>
                <a:r>
                  <a:rPr lang="en-IN" sz="2400">
                    <a:solidFill>
                      <a:srgbClr val="111827"/>
                    </a:solidFill>
                    <a:latin typeface="Cambria Math" panose="02040503050406030204" pitchFamily="18" charset="0"/>
                  </a:rPr>
                  <a:t>$CB$</a:t>
                </a:r>
                <a:r>
                  <a:rPr sz="2400" b="0">
                    <a:solidFill>
                      <a:srgbClr val="111827"/>
                    </a:solidFill>
                    <a:latin typeface="Arial"/>
                  </a:rPr>
                  <a:t> and </a:t>
                </a:r>
                <a:r>
                  <a:rPr lang="en-IN" sz="2400">
                    <a:solidFill>
                      <a:srgbClr val="111827"/>
                    </a:solidFill>
                    <a:latin typeface="Cambria Math" panose="02040503050406030204" pitchFamily="18" charset="0"/>
                  </a:rPr>
                  <a:t>$PQ$</a:t>
                </a:r>
                <a:r>
                  <a:rPr sz="2400" b="0">
                    <a:solidFill>
                      <a:srgbClr val="111827"/>
                    </a:solidFill>
                    <a:latin typeface="Arial"/>
                  </a:rPr>
                  <a:t> of equal length with a horizontal join form a rectangle, so the area is (height) </a:t>
                </a:r>
                <a:r>
                  <a:rPr lang="en-IN" sz="2400">
                    <a:solidFill>
                      <a:srgbClr val="111827"/>
                    </a:solidFill>
                    <a:latin typeface="Cambria Math" panose="02040503050406030204" pitchFamily="18" charset="0"/>
                  </a:rPr>
                  <a:t>$\times$</a:t>
                </a:r>
                <a:r>
                  <a:rPr sz="2400" b="0">
                    <a:solidFill>
                      <a:srgbClr val="111827"/>
                    </a:solidFill>
                    <a:latin typeface="Arial"/>
                  </a:rPr>
                  <a:t> (horizontal distance).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$\tan15^\circ=2-\sqrt3$</a:t>
                </a:r>
                <a:r>
                  <a:rPr sz="2400" b="0">
                    <a:solidFill>
                      <a:srgbClr val="111827"/>
                    </a:solidFill>
                    <a:latin typeface="Arial"/>
                  </a:rPr>
                  <a:t>, </a:t>
                </a:r>
                <a:r>
                  <a:rPr lang="en-IN" sz="2400">
                    <a:solidFill>
                      <a:srgbClr val="111827"/>
                    </a:solidFill>
                    <a:latin typeface="Cambria Math" panose="02040503050406030204" pitchFamily="18" charset="0"/>
                  </a:rPr>
                  <a:t>$\tan75^\circ=2+\sqrt3$</a:t>
                </a:r>
                <a:r>
                  <a:rPr sz="2400" b="0">
                    <a:solidFill>
                      <a:srgbClr val="111827"/>
                    </a:solidFill>
                    <a:latin typeface="Arial"/>
                  </a:rPr>
                  <a:t>. Check: </a:t>
                </a:r>
                <a:r>
                  <a:rPr lang="en-IN" sz="2400">
                    <a:solidFill>
                      <a:srgbClr val="111827"/>
                    </a:solidFill>
                    <a:latin typeface="Cambria Math" panose="02040503050406030204" pitchFamily="18" charset="0"/>
                  </a:rPr>
                  <a:t>$h=25.36$</a:t>
                </a:r>
                <a:r>
                  <a:rPr sz="2400" b="0">
                    <a:solidFill>
                      <a:srgbClr val="111827"/>
                    </a:solidFill>
                    <a:latin typeface="Arial"/>
                  </a:rPr>
                  <a:t>, </a:t>
                </a:r>
                <a:r>
                  <a:rPr lang="en-IN" sz="2400">
                    <a:solidFill>
                      <a:srgbClr val="111827"/>
                    </a:solidFill>
                    <a:latin typeface="Cambria Math" panose="02040503050406030204" pitchFamily="18" charset="0"/>
                  </a:rPr>
                  <a:t>$x=17.32$</a:t>
                </a:r>
                <a:r>
                  <a:rPr sz="2400" b="0">
                    <a:solidFill>
                      <a:srgbClr val="111827"/>
                    </a:solidFill>
                    <a:latin typeface="Arial"/>
                  </a:rPr>
                  <a:t>, area </a:t>
                </a:r>
                <a:r>
                  <a:rPr lang="en-IN" sz="2400">
                    <a:solidFill>
                      <a:srgbClr val="111827"/>
                    </a:solidFill>
                    <a:latin typeface="Cambria Math" panose="02040503050406030204" pitchFamily="18" charset="0"/>
                  </a:rPr>
                  <a:t>$=439.2=600(\sqrt3-1)$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of a tower from the feet of one person standing due South of the tower is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from the feet of another person standing due west of the tower is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the height of the tower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meters, then distance (in meters) between the two persons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angle of elevation of the top </a:t>
                </a:r>
                <a:r>
                  <a:rPr lang="en-IN" sz="2400">
                    <a:solidFill>
                      <a:srgbClr val="111827"/>
                    </a:solidFill>
                    <a:latin typeface="Cambria Math" panose="02040503050406030204" pitchFamily="18" charset="0"/>
                  </a:rPr>
                  <a:t>$P$</a:t>
                </a:r>
                <a:r>
                  <a:rPr sz="2400" b="0">
                    <a:solidFill>
                      <a:srgbClr val="111827"/>
                    </a:solidFill>
                    <a:latin typeface="Arial"/>
                  </a:rPr>
                  <a:t> of a tower from the feet of one person standing due South of the tower is </a:t>
                </a:r>
                <a:r>
                  <a:rPr lang="en-IN" sz="2400">
                    <a:solidFill>
                      <a:srgbClr val="111827"/>
                    </a:solidFill>
                    <a:latin typeface="Cambria Math" panose="02040503050406030204" pitchFamily="18" charset="0"/>
                  </a:rPr>
                  <a:t>$45^\circ$</a:t>
                </a:r>
                <a:r>
                  <a:rPr sz="2400" b="0">
                    <a:solidFill>
                      <a:srgbClr val="111827"/>
                    </a:solidFill>
                    <a:latin typeface="Arial"/>
                  </a:rPr>
                  <a:t> and from the feet of another person standing due west of the tower is </a:t>
                </a:r>
                <a:r>
                  <a:rPr lang="en-IN" sz="2400">
                    <a:solidFill>
                      <a:srgbClr val="111827"/>
                    </a:solidFill>
                    <a:latin typeface="Cambria Math" panose="02040503050406030204" pitchFamily="18" charset="0"/>
                  </a:rPr>
                  <a:t>$30^\circ$</a:t>
                </a:r>
                <a:r>
                  <a:rPr sz="2400" b="0">
                    <a:solidFill>
                      <a:srgbClr val="111827"/>
                    </a:solidFill>
                    <a:latin typeface="Arial"/>
                  </a:rPr>
                  <a:t>. If the height of the tower is </a:t>
                </a:r>
                <a:r>
                  <a:rPr lang="en-IN" sz="2400">
                    <a:solidFill>
                      <a:srgbClr val="111827"/>
                    </a:solidFill>
                    <a:latin typeface="Cambria Math" panose="02040503050406030204" pitchFamily="18" charset="0"/>
                  </a:rPr>
                  <a:t>$5$</a:t>
                </a:r>
                <a:r>
                  <a:rPr sz="2400" b="0">
                    <a:solidFill>
                      <a:srgbClr val="111827"/>
                    </a:solidFill>
                    <a:latin typeface="Arial"/>
                  </a:rPr>
                  <a:t> meters, then distance (in meters) between the two persons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a:t>
                </a:r>
                <a:r>
                  <a:rPr sz="2400" b="0">
                    <a:solidFill>
                      <a:srgbClr val="111827"/>
                    </a:solidFill>
                    <a:latin typeface="Arial"/>
                  </a:rPr>
                  <a:t>   (B) </a:t>
                </a:r>
                <a:r>
                  <a:rPr lang="en-IN" sz="2400">
                    <a:solidFill>
                      <a:srgbClr val="111827"/>
                    </a:solidFill>
                    <a:latin typeface="Cambria Math" panose="02040503050406030204" pitchFamily="18" charset="0"/>
                  </a:rPr>
                  <a:t>$5\sqrt5$</a:t>
                </a:r>
                <a:r>
                  <a:rPr sz="2400" b="0">
                    <a:solidFill>
                      <a:srgbClr val="111827"/>
                    </a:solidFill>
                    <a:latin typeface="Arial"/>
                  </a:rPr>
                  <a:t>   (C) </a:t>
                </a:r>
                <a:r>
                  <a:rPr lang="en-IN" sz="2400">
                    <a:solidFill>
                      <a:srgbClr val="111827"/>
                    </a:solidFill>
                    <a:latin typeface="Cambria Math" panose="02040503050406030204" pitchFamily="18" charset="0"/>
                  </a:rPr>
                  <a:t>$5$</a:t>
                </a:r>
                <a:r>
                  <a:rPr sz="2400" b="0">
                    <a:solidFill>
                      <a:srgbClr val="111827"/>
                    </a:solidFill>
                    <a:latin typeface="Arial"/>
                  </a:rPr>
                  <a:t>   (D) </a:t>
                </a:r>
                <a:r>
                  <a:rPr lang="en-IN" sz="2400">
                    <a:solidFill>
                      <a:srgbClr val="111827"/>
                    </a:solidFill>
                    <a:latin typeface="Cambria Math" panose="02040503050406030204" pitchFamily="18" charset="0"/>
                  </a:rPr>
                  <a:t>$\dfrac52\sqrt5$</a:t>
                </a:r>
                <a:endParaRPr sz="2400">
                  <a:solidFill>
                    <a:srgbClr val="111827"/>
                  </a:solidFill>
                </a:endParaRPr>
              </a:p>
            </p:txBody>
          </p:sp>
        </mc:Fallback>
      </mc:AlternateContent>
      <p:sp>
        <p:nvSpPr>
          <p:cNvPr id="5" name="Rectangle 4"/>
          <p:cNvSpPr/>
          <p:nvPr/>
        </p:nvSpPr>
        <p:spPr>
          <a:xfrm>
            <a:off x="731520" y="44338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elevation from perpendicular directions (heights and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South and west are perpendicular directions, so the persons and the foot of the tower form a right triangle.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tower be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with foot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top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let the persons be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(due south)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(due west).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Elevation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Elevation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South and west are perpendicular,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m, option (A).</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tower be </a:t>
                </a:r>
                <a:r>
                  <a:rPr lang="en-IN" sz="2400">
                    <a:solidFill>
                      <a:srgbClr val="111827"/>
                    </a:solidFill>
                    <a:latin typeface="Cambria Math" panose="02040503050406030204" pitchFamily="18" charset="0"/>
                  </a:rPr>
                  <a:t>$AB$</a:t>
                </a:r>
                <a:r>
                  <a:rPr sz="2400" b="0">
                    <a:solidFill>
                      <a:srgbClr val="111827"/>
                    </a:solidFill>
                    <a:latin typeface="Arial"/>
                  </a:rPr>
                  <a:t> with foot </a:t>
                </a:r>
                <a:r>
                  <a:rPr lang="en-IN" sz="2400">
                    <a:solidFill>
                      <a:srgbClr val="111827"/>
                    </a:solidFill>
                    <a:latin typeface="Cambria Math" panose="02040503050406030204" pitchFamily="18" charset="0"/>
                  </a:rPr>
                  <a:t>$A$</a:t>
                </a:r>
                <a:r>
                  <a:rPr sz="2400" b="0">
                    <a:solidFill>
                      <a:srgbClr val="111827"/>
                    </a:solidFill>
                    <a:latin typeface="Arial"/>
                  </a:rPr>
                  <a:t> and top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$AB=5$</a:t>
                </a:r>
                <a:r>
                  <a:rPr sz="2400" b="0">
                    <a:solidFill>
                      <a:srgbClr val="111827"/>
                    </a:solidFill>
                    <a:latin typeface="Arial"/>
                  </a:rPr>
                  <a:t>); let the persons be at </a:t>
                </a:r>
                <a:r>
                  <a:rPr lang="en-IN" sz="2400">
                    <a:solidFill>
                      <a:srgbClr val="111827"/>
                    </a:solidFill>
                    <a:latin typeface="Cambria Math" panose="02040503050406030204" pitchFamily="18" charset="0"/>
                  </a:rPr>
                  <a:t>$P$</a:t>
                </a:r>
                <a:r>
                  <a:rPr sz="2400" b="0">
                    <a:solidFill>
                      <a:srgbClr val="111827"/>
                    </a:solidFill>
                    <a:latin typeface="Arial"/>
                  </a:rPr>
                  <a:t> (due south) and </a:t>
                </a:r>
                <a:r>
                  <a:rPr lang="en-IN" sz="2400">
                    <a:solidFill>
                      <a:srgbClr val="111827"/>
                    </a:solidFill>
                    <a:latin typeface="Cambria Math" panose="02040503050406030204" pitchFamily="18" charset="0"/>
                  </a:rPr>
                  <a:t>$Q$</a:t>
                </a:r>
                <a:r>
                  <a:rPr sz="2400" b="0">
                    <a:solidFill>
                      <a:srgbClr val="111827"/>
                    </a:solidFill>
                    <a:latin typeface="Arial"/>
                  </a:rPr>
                  <a:t> (due west).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Elevation </a:t>
                </a:r>
                <a:r>
                  <a:rPr lang="en-IN" sz="2400">
                    <a:solidFill>
                      <a:srgbClr val="111827"/>
                    </a:solidFill>
                    <a:latin typeface="Cambria Math" panose="02040503050406030204" pitchFamily="18" charset="0"/>
                  </a:rPr>
                  <a:t>$45^\circ$</a:t>
                </a:r>
                <a:r>
                  <a:rPr sz="2400" b="0">
                    <a:solidFill>
                      <a:srgbClr val="111827"/>
                    </a:solidFill>
                    <a:latin typeface="Arial"/>
                  </a:rPr>
                  <a:t> from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$AP=5\cot45^\circ=5$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Elevation </a:t>
                </a:r>
                <a:r>
                  <a:rPr lang="en-IN" sz="2400">
                    <a:solidFill>
                      <a:srgbClr val="111827"/>
                    </a:solidFill>
                    <a:latin typeface="Cambria Math" panose="02040503050406030204" pitchFamily="18" charset="0"/>
                  </a:rPr>
                  <a:t>$30^\circ$</a:t>
                </a:r>
                <a:r>
                  <a:rPr sz="2400" b="0">
                    <a:solidFill>
                      <a:srgbClr val="111827"/>
                    </a:solidFill>
                    <a:latin typeface="Arial"/>
                  </a:rPr>
                  <a:t> from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$AQ=5\cot30^\circ=5\sqrt3$</a:t>
                </a:r>
                <a:r>
                  <a:rPr sz="2400" b="0">
                    <a:solidFill>
                      <a:srgbClr val="111827"/>
                    </a:solidFill>
                    <a:latin typeface="Arial"/>
                  </a:rPr>
                  <a:t> 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South and west are perpendicular, so </a:t>
                </a:r>
                <a:r>
                  <a:rPr lang="en-IN" sz="2400">
                    <a:solidFill>
                      <a:srgbClr val="111827"/>
                    </a:solidFill>
                    <a:latin typeface="Cambria Math" panose="02040503050406030204" pitchFamily="18" charset="0"/>
                  </a:rPr>
                  <a:t>$\angle PAQ=90^\circ$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$PQ=\sqrt{AP^2+AQ^2}=\sqrt{25+25\times3}=\sqrt{100}=10$</a:t>
                </a:r>
                <a:r>
                  <a:rPr sz="2400" b="0">
                    <a:solidFill>
                      <a:srgbClr val="111827"/>
                    </a:solidFill>
                    <a:latin typeface="Arial"/>
                  </a:rPr>
                  <a:t> m,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the slant distances: </a:t>
                </a:r>
                <a14:m>
                  <m:oMath xmlns:m="http://schemas.openxmlformats.org/officeDocument/2006/math">
                    <m:r>
                      <a:rPr lang="en-IN" sz="2400" i="1">
                        <a:solidFill>
                          <a:srgbClr val="78350F"/>
                        </a:solidFill>
                        <a:latin typeface="Cambria Math" panose="02040503050406030204" pitchFamily="18" charset="0"/>
                      </a:rPr>
                      <m:t>𝑃</m:t>
                    </m:r>
                    <m:sSup>
                      <m:e>
                        <m:r>
                          <a:rPr lang="en-IN" sz="2400" i="1">
                            <a:solidFill>
                              <a:srgbClr val="78350F"/>
                            </a:solidFill>
                            <a:latin typeface="Cambria Math" panose="02040503050406030204" pitchFamily="18" charset="0"/>
                          </a:rPr>
                          <m:t>𝑄</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sSup>
                      <m:e>
                        <m:r>
                          <a:rPr lang="en-IN" sz="2400" i="1">
                            <a:solidFill>
                              <a:srgbClr val="78350F"/>
                            </a:solidFill>
                            <a:latin typeface="Cambria Math" panose="02040503050406030204" pitchFamily="18" charset="0"/>
                          </a:rPr>
                          <m:t>𝑃</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sSup>
                      <m:e>
                        <m:r>
                          <a:rPr lang="en-IN" sz="2400" i="1">
                            <a:solidFill>
                              <a:srgbClr val="78350F"/>
                            </a:solidFill>
                            <a:latin typeface="Cambria Math" panose="02040503050406030204" pitchFamily="18" charset="0"/>
                          </a:rPr>
                          <m:t>𝑄</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ℎ</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with the slant distances: </a:t>
                </a:r>
                <a:r>
                  <a:rPr lang="en-IN" sz="2400">
                    <a:solidFill>
                      <a:srgbClr val="78350F"/>
                    </a:solidFill>
                    <a:latin typeface="Cambria Math" panose="02040503050406030204" pitchFamily="18" charset="0"/>
                  </a:rPr>
                  <a:t>$PQ^2=BP^2+BQ^2-2h^2$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slant distances to the top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ground,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m.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slant distances to the top </a:t>
                </a:r>
                <a:r>
                  <a:rPr lang="en-IN" sz="2400">
                    <a:solidFill>
                      <a:srgbClr val="111827"/>
                    </a:solidFill>
                    <a:latin typeface="Cambria Math" panose="02040503050406030204" pitchFamily="18" charset="0"/>
                  </a:rPr>
                  <a:t>$B$</a:t>
                </a:r>
                <a:r>
                  <a:rPr sz="2400" b="0">
                    <a:solidFill>
                      <a:srgbClr val="111827"/>
                    </a:solidFill>
                    <a:latin typeface="Arial"/>
                  </a:rPr>
                  <a:t> are </a:t>
                </a:r>
                <a:r>
                  <a:rPr lang="en-IN" sz="2400">
                    <a:solidFill>
                      <a:srgbClr val="111827"/>
                    </a:solidFill>
                    <a:latin typeface="Cambria Math" panose="02040503050406030204" pitchFamily="18" charset="0"/>
                  </a:rPr>
                  <a:t>$BP=\dfrac{5}{\sin45^\circ}=5\sqrt2$</a:t>
                </a:r>
                <a:r>
                  <a:rPr sz="2400" b="0">
                    <a:solidFill>
                      <a:srgbClr val="111827"/>
                    </a:solidFill>
                    <a:latin typeface="Arial"/>
                  </a:rPr>
                  <a:t> and </a:t>
                </a:r>
                <a:r>
                  <a:rPr lang="en-IN" sz="2400">
                    <a:solidFill>
                      <a:srgbClr val="111827"/>
                    </a:solidFill>
                    <a:latin typeface="Cambria Math" panose="02040503050406030204" pitchFamily="18" charset="0"/>
                  </a:rPr>
                  <a:t>$BQ=\dfrac{5}{\sin30^\circ}=10$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$BA\perp$</a:t>
                </a:r>
                <a:r>
                  <a:rPr sz="2400" b="0">
                    <a:solidFill>
                      <a:srgbClr val="111827"/>
                    </a:solidFill>
                    <a:latin typeface="Arial"/>
                  </a:rPr>
                  <a:t> ground, </a:t>
                </a:r>
                <a:r>
                  <a:rPr lang="en-IN" sz="2400">
                    <a:solidFill>
                      <a:srgbClr val="111827"/>
                    </a:solidFill>
                    <a:latin typeface="Cambria Math" panose="02040503050406030204" pitchFamily="18" charset="0"/>
                  </a:rPr>
                  <a:t>$AP^2=BP^2-25$</a:t>
                </a:r>
                <a:r>
                  <a:rPr sz="2400" b="0">
                    <a:solidFill>
                      <a:srgbClr val="111827"/>
                    </a:solidFill>
                    <a:latin typeface="Arial"/>
                  </a:rPr>
                  <a:t> and </a:t>
                </a:r>
                <a:r>
                  <a:rPr lang="en-IN" sz="2400">
                    <a:solidFill>
                      <a:srgbClr val="111827"/>
                    </a:solidFill>
                    <a:latin typeface="Cambria Math" panose="02040503050406030204" pitchFamily="18" charset="0"/>
                  </a:rPr>
                  <a:t>$AQ^2=BQ^2-25$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$\angle PAQ=90^\circ$</a:t>
                </a:r>
                <a:r>
                  <a:rPr sz="2400" b="0">
                    <a:solidFill>
                      <a:srgbClr val="111827"/>
                    </a:solidFill>
                    <a:latin typeface="Arial"/>
                  </a:rPr>
                  <a:t>: </a:t>
                </a:r>
                <a:r>
                  <a:rPr lang="en-IN" sz="2400">
                    <a:solidFill>
                      <a:srgbClr val="111827"/>
                    </a:solidFill>
                    <a:latin typeface="Cambria Math" panose="02040503050406030204" pitchFamily="18" charset="0"/>
                  </a:rPr>
                  <a:t>$PQ^2=AP^2+AQ^2=BP^2+BQ^2-2\cdot25=50+100-50=100$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$PQ=10$</a:t>
                </a:r>
                <a:r>
                  <a:rPr sz="2400" b="0">
                    <a:solidFill>
                      <a:srgbClr val="111827"/>
                    </a:solidFill>
                    <a:latin typeface="Arial"/>
                  </a:rPr>
                  <a:t> m.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tower of height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the foot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two observers at elevations </a:t>
                </a:r>
                <a14:m>
                  <m:oMath xmlns:m="http://schemas.openxmlformats.org/officeDocument/2006/math">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along perpendicular directions: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The triangle with legs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is a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triangle, 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twice the short leg.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Slant-edge form: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(tower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ground). Check: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tower of height </a:t>
                </a:r>
                <a:r>
                  <a:rPr lang="en-IN" sz="2400">
                    <a:solidFill>
                      <a:srgbClr val="111827"/>
                    </a:solidFill>
                    <a:latin typeface="Cambria Math" panose="02040503050406030204" pitchFamily="18" charset="0"/>
                  </a:rPr>
                  <a:t>$h$</a:t>
                </a:r>
                <a:r>
                  <a:rPr sz="2400" b="0">
                    <a:solidFill>
                      <a:srgbClr val="111827"/>
                    </a:solidFill>
                    <a:latin typeface="Arial"/>
                  </a:rPr>
                  <a:t>, the foot </a:t>
                </a:r>
                <a:r>
                  <a:rPr lang="en-IN" sz="2400">
                    <a:solidFill>
                      <a:srgbClr val="111827"/>
                    </a:solidFill>
                    <a:latin typeface="Cambria Math" panose="02040503050406030204" pitchFamily="18" charset="0"/>
                  </a:rPr>
                  <a:t>$A$</a:t>
                </a:r>
                <a:r>
                  <a:rPr sz="2400" b="0">
                    <a:solidFill>
                      <a:srgbClr val="111827"/>
                    </a:solidFill>
                    <a:latin typeface="Arial"/>
                  </a:rPr>
                  <a:t> and two observers at elevations </a:t>
                </a:r>
                <a:r>
                  <a:rPr lang="en-IN" sz="2400">
                    <a:solidFill>
                      <a:srgbClr val="111827"/>
                    </a:solidFill>
                    <a:latin typeface="Cambria Math" panose="02040503050406030204" pitchFamily="18" charset="0"/>
                  </a:rPr>
                  <a:t>$\theta_1,\theta_2$</a:t>
                </a:r>
                <a:r>
                  <a:rPr sz="2400" b="0">
                    <a:solidFill>
                      <a:srgbClr val="111827"/>
                    </a:solidFill>
                    <a:latin typeface="Arial"/>
                  </a:rPr>
                  <a:t> along perpendicular directions: </a:t>
                </a:r>
                <a:r>
                  <a:rPr lang="en-IN" sz="2400">
                    <a:solidFill>
                      <a:srgbClr val="111827"/>
                    </a:solidFill>
                    <a:latin typeface="Cambria Math" panose="02040503050406030204" pitchFamily="18" charset="0"/>
                  </a:rPr>
                  <a:t>$PQ^2=h^2(\cot^2\theta_1+\cot^2\theta_2)$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$25(1+3)=100$</a:t>
                </a:r>
                <a:r>
                  <a:rPr sz="2400" b="0">
                    <a:solidFill>
                      <a:srgbClr val="111827"/>
                    </a:solidFill>
                    <a:latin typeface="Arial"/>
                  </a:rPr>
                  <a:t>. The triangle with legs </a:t>
                </a:r>
                <a:r>
                  <a:rPr lang="en-IN" sz="2400">
                    <a:solidFill>
                      <a:srgbClr val="111827"/>
                    </a:solidFill>
                    <a:latin typeface="Cambria Math" panose="02040503050406030204" pitchFamily="18" charset="0"/>
                  </a:rPr>
                  <a:t>$5$</a:t>
                </a:r>
                <a:r>
                  <a:rPr sz="2400" b="0">
                    <a:solidFill>
                      <a:srgbClr val="111827"/>
                    </a:solidFill>
                    <a:latin typeface="Arial"/>
                  </a:rPr>
                  <a:t> and </a:t>
                </a:r>
                <a:r>
                  <a:rPr lang="en-IN" sz="2400">
                    <a:solidFill>
                      <a:srgbClr val="111827"/>
                    </a:solidFill>
                    <a:latin typeface="Cambria Math" panose="02040503050406030204" pitchFamily="18" charset="0"/>
                  </a:rPr>
                  <a:t>$5\sqrt3$</a:t>
                </a:r>
                <a:r>
                  <a:rPr sz="2400" b="0">
                    <a:solidFill>
                      <a:srgbClr val="111827"/>
                    </a:solidFill>
                    <a:latin typeface="Arial"/>
                  </a:rPr>
                  <a:t> is a </a:t>
                </a:r>
                <a:r>
                  <a:rPr lang="en-IN" sz="2400">
                    <a:solidFill>
                      <a:srgbClr val="111827"/>
                    </a:solidFill>
                    <a:latin typeface="Cambria Math" panose="02040503050406030204" pitchFamily="18" charset="0"/>
                  </a:rPr>
                  <a:t>$30^\circ$</a:t>
                </a:r>
                <a:r>
                  <a:rPr sz="2400" b="0">
                    <a:solidFill>
                      <a:srgbClr val="111827"/>
                    </a:solidFill>
                    <a:latin typeface="Arial"/>
                  </a:rPr>
                  <a:t>-</a:t>
                </a:r>
                <a:r>
                  <a:rPr lang="en-IN" sz="2400">
                    <a:solidFill>
                      <a:srgbClr val="111827"/>
                    </a:solidFill>
                    <a:latin typeface="Cambria Math" panose="02040503050406030204" pitchFamily="18" charset="0"/>
                  </a:rPr>
                  <a:t>$60^\circ$</a:t>
                </a:r>
                <a:r>
                  <a:rPr sz="2400" b="0">
                    <a:solidFill>
                      <a:srgbClr val="111827"/>
                    </a:solidFill>
                    <a:latin typeface="Arial"/>
                  </a:rPr>
                  <a:t>-</a:t>
                </a:r>
                <a:r>
                  <a:rPr lang="en-IN" sz="2400">
                    <a:solidFill>
                      <a:srgbClr val="111827"/>
                    </a:solidFill>
                    <a:latin typeface="Cambria Math" panose="02040503050406030204" pitchFamily="18" charset="0"/>
                  </a:rPr>
                  <a:t>$90^\circ$</a:t>
                </a:r>
                <a:r>
                  <a:rPr sz="2400" b="0">
                    <a:solidFill>
                      <a:srgbClr val="111827"/>
                    </a:solidFill>
                    <a:latin typeface="Arial"/>
                  </a:rPr>
                  <a:t> triangle, so </a:t>
                </a:r>
                <a:r>
                  <a:rPr lang="en-IN" sz="2400">
                    <a:solidFill>
                      <a:srgbClr val="111827"/>
                    </a:solidFill>
                    <a:latin typeface="Cambria Math" panose="02040503050406030204" pitchFamily="18" charset="0"/>
                  </a:rPr>
                  <a:t>$PQ$</a:t>
                </a:r>
                <a:r>
                  <a:rPr sz="2400" b="0">
                    <a:solidFill>
                      <a:srgbClr val="111827"/>
                    </a:solidFill>
                    <a:latin typeface="Arial"/>
                  </a:rPr>
                  <a:t> is twice the short leg.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Slant-edge form: </a:t>
                </a:r>
                <a:r>
                  <a:rPr lang="en-IN" sz="2400">
                    <a:solidFill>
                      <a:srgbClr val="111827"/>
                    </a:solidFill>
                    <a:latin typeface="Cambria Math" panose="02040503050406030204" pitchFamily="18" charset="0"/>
                  </a:rPr>
                  <a:t>$PQ^2=BP^2+BQ^2-2h^2$</a:t>
                </a:r>
                <a:r>
                  <a:rPr sz="2400" b="0">
                    <a:solidFill>
                      <a:srgbClr val="111827"/>
                    </a:solidFill>
                    <a:latin typeface="Arial"/>
                  </a:rPr>
                  <a:t> when </a:t>
                </a:r>
                <a:r>
                  <a:rPr lang="en-IN" sz="2400">
                    <a:solidFill>
                      <a:srgbClr val="111827"/>
                    </a:solidFill>
                    <a:latin typeface="Cambria Math" panose="02040503050406030204" pitchFamily="18" charset="0"/>
                  </a:rPr>
                  <a:t>$\angle PAQ=90^\circ$</a:t>
                </a:r>
                <a:r>
                  <a:rPr sz="2400" b="0">
                    <a:solidFill>
                      <a:srgbClr val="111827"/>
                    </a:solidFill>
                    <a:latin typeface="Arial"/>
                  </a:rPr>
                  <a:t> (tower </a:t>
                </a:r>
                <a:r>
                  <a:rPr lang="en-IN" sz="2400">
                    <a:solidFill>
                      <a:srgbClr val="111827"/>
                    </a:solidFill>
                    <a:latin typeface="Cambria Math" panose="02040503050406030204" pitchFamily="18" charset="0"/>
                  </a:rPr>
                  <a:t>$\perp$</a:t>
                </a:r>
                <a:r>
                  <a:rPr sz="2400" b="0">
                    <a:solidFill>
                      <a:srgbClr val="111827"/>
                    </a:solidFill>
                    <a:latin typeface="Arial"/>
                  </a:rPr>
                  <a:t> ground). Check: </a:t>
                </a:r>
                <a:r>
                  <a:rPr lang="en-IN" sz="2400">
                    <a:solidFill>
                      <a:srgbClr val="111827"/>
                    </a:solidFill>
                    <a:latin typeface="Cambria Math" panose="02040503050406030204" pitchFamily="18" charset="0"/>
                  </a:rPr>
                  <a:t>$50+100-50=100$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1.76</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7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7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3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17 questions, 68 marks.  Index = Σ(marks × level) ÷ Σ marks, on the 0-5 scale.</a:t>
            </a:r>
            <a:endParaRPr sz="2400">
              <a:solidFill>
                <a:srgbClr val="111827"/>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Heights &amp; Distances Sheet JM</a:t>
                      </a:r>
                    </a:p>
                  </a:txBody>
                  <a:tcPr anchor="ctr" marL="137160" marR="137160">
                    <a:solidFill>
                      <a:srgbClr val="E0ECFF"/>
                    </a:solidFill>
                  </a:tcPr>
                </a:tc>
                <a:tc>
                  <a:txBody>
                    <a:bodyPr/>
                    <a:lstStyle/>
                    <a:p>
                      <a:pPr algn="ctr"/>
                      <a:r>
                        <a:rPr sz="2600" b="1">
                          <a:solidFill>
                            <a:srgbClr val="0B1F3A"/>
                          </a:solidFill>
                          <a:latin typeface="Arial"/>
                        </a:rPr>
                        <a:t>1.76</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