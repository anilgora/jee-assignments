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02.xml" ContentType="application/vnd.openxmlformats-officedocument.presentationml.slide+xml"/>
  <Override PartName="/ppt/slides/slide103.xml" ContentType="application/vnd.openxmlformats-officedocument.presentationml.slide+xml"/>
  <Override PartName="/ppt/slides/slide104.xml" ContentType="application/vnd.openxmlformats-officedocument.presentationml.slide+xml"/>
  <Override PartName="/ppt/slides/slide105.xml" ContentType="application/vnd.openxmlformats-officedocument.presentationml.slide+xml"/>
  <Override PartName="/ppt/slides/slide106.xml" ContentType="application/vnd.openxmlformats-officedocument.presentationml.slide+xml"/>
  <Override PartName="/ppt/slides/slide107.xml" ContentType="application/vnd.openxmlformats-officedocument.presentationml.slide+xml"/>
  <Override PartName="/ppt/slides/slide108.xml" ContentType="application/vnd.openxmlformats-officedocument.presentationml.slide+xml"/>
  <Override PartName="/ppt/slides/slide109.xml" ContentType="application/vnd.openxmlformats-officedocument.presentationml.slide+xml"/>
  <Override PartName="/ppt/slides/slide11.xml" ContentType="application/vnd.openxmlformats-officedocument.presentationml.slide+xml"/>
  <Override PartName="/ppt/slides/slide110.xml" ContentType="application/vnd.openxmlformats-officedocument.presentationml.slide+xml"/>
  <Override PartName="/ppt/slides/slide111.xml" ContentType="application/vnd.openxmlformats-officedocument.presentationml.slide+xml"/>
  <Override PartName="/ppt/slides/slide112.xml" ContentType="application/vnd.openxmlformats-officedocument.presentationml.slide+xml"/>
  <Override PartName="/ppt/slides/slide113.xml" ContentType="application/vnd.openxmlformats-officedocument.presentationml.slide+xml"/>
  <Override PartName="/ppt/slides/slide114.xml" ContentType="application/vnd.openxmlformats-officedocument.presentationml.slide+xml"/>
  <Override PartName="/ppt/slides/slide115.xml" ContentType="application/vnd.openxmlformats-officedocument.presentationml.slide+xml"/>
  <Override PartName="/ppt/slides/slide116.xml" ContentType="application/vnd.openxmlformats-officedocument.presentationml.slide+xml"/>
  <Override PartName="/ppt/slides/slide117.xml" ContentType="application/vnd.openxmlformats-officedocument.presentationml.slide+xml"/>
  <Override PartName="/ppt/slides/slide118.xml" ContentType="application/vnd.openxmlformats-officedocument.presentationml.slide+xml"/>
  <Override PartName="/ppt/slides/slide119.xml" ContentType="application/vnd.openxmlformats-officedocument.presentationml.slide+xml"/>
  <Override PartName="/ppt/slides/slide12.xml" ContentType="application/vnd.openxmlformats-officedocument.presentationml.slide+xml"/>
  <Override PartName="/ppt/slides/slide120.xml" ContentType="application/vnd.openxmlformats-officedocument.presentationml.slide+xml"/>
  <Override PartName="/ppt/slides/slide121.xml" ContentType="application/vnd.openxmlformats-officedocument.presentationml.slide+xml"/>
  <Override PartName="/ppt/slides/slide122.xml" ContentType="application/vnd.openxmlformats-officedocument.presentationml.slide+xml"/>
  <Override PartName="/ppt/slides/slide123.xml" ContentType="application/vnd.openxmlformats-officedocument.presentationml.slide+xml"/>
  <Override PartName="/ppt/slides/slide124.xml" ContentType="application/vnd.openxmlformats-officedocument.presentationml.slide+xml"/>
  <Override PartName="/ppt/slides/slide125.xml" ContentType="application/vnd.openxmlformats-officedocument.presentationml.slide+xml"/>
  <Override PartName="/ppt/slides/slide126.xml" ContentType="application/vnd.openxmlformats-officedocument.presentationml.slide+xml"/>
  <Override PartName="/ppt/slides/slide127.xml" ContentType="application/vnd.openxmlformats-officedocument.presentationml.slide+xml"/>
  <Override PartName="/ppt/slides/slide128.xml" ContentType="application/vnd.openxmlformats-officedocument.presentationml.slide+xml"/>
  <Override PartName="/ppt/slides/slide129.xml" ContentType="application/vnd.openxmlformats-officedocument.presentationml.slide+xml"/>
  <Override PartName="/ppt/slides/slide13.xml" ContentType="application/vnd.openxmlformats-officedocument.presentationml.slide+xml"/>
  <Override PartName="/ppt/slides/slide130.xml" ContentType="application/vnd.openxmlformats-officedocument.presentationml.slide+xml"/>
  <Override PartName="/ppt/slides/slide131.xml" ContentType="application/vnd.openxmlformats-officedocument.presentationml.slide+xml"/>
  <Override PartName="/ppt/slides/slide132.xml" ContentType="application/vnd.openxmlformats-officedocument.presentationml.slide+xml"/>
  <Override PartName="/ppt/slides/slide133.xml" ContentType="application/vnd.openxmlformats-officedocument.presentationml.slide+xml"/>
  <Override PartName="/ppt/slides/slide134.xml" ContentType="application/vnd.openxmlformats-officedocument.presentationml.slide+xml"/>
  <Override PartName="/ppt/slides/slide135.xml" ContentType="application/vnd.openxmlformats-officedocument.presentationml.slide+xml"/>
  <Override PartName="/ppt/slides/slide136.xml" ContentType="application/vnd.openxmlformats-officedocument.presentationml.slide+xml"/>
  <Override PartName="/ppt/slides/slide137.xml" ContentType="application/vnd.openxmlformats-officedocument.presentationml.slide+xml"/>
  <Override PartName="/ppt/slides/slide138.xml" ContentType="application/vnd.openxmlformats-officedocument.presentationml.slide+xml"/>
  <Override PartName="/ppt/slides/slide139.xml" ContentType="application/vnd.openxmlformats-officedocument.presentationml.slide+xml"/>
  <Override PartName="/ppt/slides/slide14.xml" ContentType="application/vnd.openxmlformats-officedocument.presentationml.slide+xml"/>
  <Override PartName="/ppt/slides/slide140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  <p:sldId id="283" r:id="rId35"/>
    <p:sldId id="284" r:id="rId36"/>
    <p:sldId id="285" r:id="rId37"/>
    <p:sldId id="286" r:id="rId38"/>
    <p:sldId id="287" r:id="rId39"/>
    <p:sldId id="288" r:id="rId40"/>
    <p:sldId id="289" r:id="rId41"/>
    <p:sldId id="290" r:id="rId42"/>
    <p:sldId id="291" r:id="rId43"/>
    <p:sldId id="292" r:id="rId44"/>
    <p:sldId id="293" r:id="rId45"/>
    <p:sldId id="294" r:id="rId46"/>
    <p:sldId id="295" r:id="rId47"/>
    <p:sldId id="296" r:id="rId48"/>
    <p:sldId id="297" r:id="rId49"/>
    <p:sldId id="298" r:id="rId50"/>
    <p:sldId id="299" r:id="rId51"/>
    <p:sldId id="300" r:id="rId52"/>
    <p:sldId id="301" r:id="rId53"/>
    <p:sldId id="302" r:id="rId54"/>
    <p:sldId id="303" r:id="rId55"/>
    <p:sldId id="304" r:id="rId56"/>
    <p:sldId id="305" r:id="rId57"/>
    <p:sldId id="306" r:id="rId58"/>
    <p:sldId id="307" r:id="rId59"/>
    <p:sldId id="308" r:id="rId60"/>
    <p:sldId id="309" r:id="rId61"/>
    <p:sldId id="310" r:id="rId62"/>
    <p:sldId id="311" r:id="rId63"/>
    <p:sldId id="312" r:id="rId64"/>
    <p:sldId id="313" r:id="rId65"/>
    <p:sldId id="314" r:id="rId66"/>
    <p:sldId id="315" r:id="rId67"/>
    <p:sldId id="316" r:id="rId68"/>
    <p:sldId id="317" r:id="rId69"/>
    <p:sldId id="318" r:id="rId70"/>
    <p:sldId id="319" r:id="rId71"/>
    <p:sldId id="320" r:id="rId72"/>
    <p:sldId id="321" r:id="rId73"/>
    <p:sldId id="322" r:id="rId74"/>
    <p:sldId id="323" r:id="rId75"/>
    <p:sldId id="324" r:id="rId76"/>
    <p:sldId id="325" r:id="rId77"/>
    <p:sldId id="326" r:id="rId78"/>
    <p:sldId id="327" r:id="rId79"/>
    <p:sldId id="328" r:id="rId80"/>
    <p:sldId id="329" r:id="rId81"/>
    <p:sldId id="330" r:id="rId82"/>
    <p:sldId id="331" r:id="rId83"/>
    <p:sldId id="332" r:id="rId84"/>
    <p:sldId id="333" r:id="rId85"/>
    <p:sldId id="334" r:id="rId86"/>
    <p:sldId id="335" r:id="rId87"/>
    <p:sldId id="336" r:id="rId88"/>
    <p:sldId id="337" r:id="rId89"/>
    <p:sldId id="338" r:id="rId90"/>
    <p:sldId id="339" r:id="rId91"/>
    <p:sldId id="340" r:id="rId92"/>
    <p:sldId id="341" r:id="rId93"/>
    <p:sldId id="342" r:id="rId94"/>
    <p:sldId id="343" r:id="rId95"/>
    <p:sldId id="344" r:id="rId96"/>
    <p:sldId id="345" r:id="rId97"/>
    <p:sldId id="346" r:id="rId98"/>
    <p:sldId id="347" r:id="rId99"/>
    <p:sldId id="348" r:id="rId100"/>
    <p:sldId id="349" r:id="rId101"/>
    <p:sldId id="350" r:id="rId102"/>
    <p:sldId id="351" r:id="rId103"/>
    <p:sldId id="352" r:id="rId104"/>
    <p:sldId id="353" r:id="rId105"/>
    <p:sldId id="354" r:id="rId106"/>
    <p:sldId id="355" r:id="rId107"/>
    <p:sldId id="356" r:id="rId108"/>
    <p:sldId id="357" r:id="rId109"/>
    <p:sldId id="358" r:id="rId110"/>
    <p:sldId id="359" r:id="rId111"/>
    <p:sldId id="360" r:id="rId112"/>
    <p:sldId id="361" r:id="rId113"/>
    <p:sldId id="362" r:id="rId114"/>
    <p:sldId id="363" r:id="rId115"/>
    <p:sldId id="364" r:id="rId116"/>
    <p:sldId id="365" r:id="rId117"/>
    <p:sldId id="366" r:id="rId118"/>
    <p:sldId id="367" r:id="rId119"/>
    <p:sldId id="368" r:id="rId120"/>
    <p:sldId id="369" r:id="rId121"/>
    <p:sldId id="370" r:id="rId122"/>
    <p:sldId id="371" r:id="rId123"/>
    <p:sldId id="372" r:id="rId124"/>
    <p:sldId id="373" r:id="rId125"/>
    <p:sldId id="374" r:id="rId126"/>
    <p:sldId id="375" r:id="rId127"/>
    <p:sldId id="376" r:id="rId128"/>
    <p:sldId id="377" r:id="rId129"/>
    <p:sldId id="378" r:id="rId130"/>
    <p:sldId id="379" r:id="rId131"/>
    <p:sldId id="380" r:id="rId132"/>
    <p:sldId id="381" r:id="rId133"/>
    <p:sldId id="382" r:id="rId134"/>
    <p:sldId id="383" r:id="rId135"/>
    <p:sldId id="384" r:id="rId136"/>
    <p:sldId id="385" r:id="rId137"/>
    <p:sldId id="386" r:id="rId138"/>
    <p:sldId id="387" r:id="rId139"/>
    <p:sldId id="388" r:id="rId140"/>
    <p:sldId id="389" r:id="rId141"/>
    <p:sldId id="390" r:id="rId142"/>
    <p:sldId id="391" r:id="rId143"/>
    <p:sldId id="392" r:id="rId144"/>
    <p:sldId id="393" r:id="rId145"/>
    <p:sldId id="394" r:id="rId146"/>
    <p:sldId id="395" r:id="rId14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notesMaster" Target="notesMasters/notesMaster1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Relationship Id="rId33" Type="http://schemas.openxmlformats.org/officeDocument/2006/relationships/slide" Target="slides/slide26.xml"/><Relationship Id="rId34" Type="http://schemas.openxmlformats.org/officeDocument/2006/relationships/slide" Target="slides/slide27.xml"/><Relationship Id="rId35" Type="http://schemas.openxmlformats.org/officeDocument/2006/relationships/slide" Target="slides/slide28.xml"/><Relationship Id="rId36" Type="http://schemas.openxmlformats.org/officeDocument/2006/relationships/slide" Target="slides/slide29.xml"/><Relationship Id="rId37" Type="http://schemas.openxmlformats.org/officeDocument/2006/relationships/slide" Target="slides/slide30.xml"/><Relationship Id="rId38" Type="http://schemas.openxmlformats.org/officeDocument/2006/relationships/slide" Target="slides/slide31.xml"/><Relationship Id="rId39" Type="http://schemas.openxmlformats.org/officeDocument/2006/relationships/slide" Target="slides/slide32.xml"/><Relationship Id="rId40" Type="http://schemas.openxmlformats.org/officeDocument/2006/relationships/slide" Target="slides/slide33.xml"/><Relationship Id="rId41" Type="http://schemas.openxmlformats.org/officeDocument/2006/relationships/slide" Target="slides/slide34.xml"/><Relationship Id="rId42" Type="http://schemas.openxmlformats.org/officeDocument/2006/relationships/slide" Target="slides/slide35.xml"/><Relationship Id="rId43" Type="http://schemas.openxmlformats.org/officeDocument/2006/relationships/slide" Target="slides/slide36.xml"/><Relationship Id="rId44" Type="http://schemas.openxmlformats.org/officeDocument/2006/relationships/slide" Target="slides/slide37.xml"/><Relationship Id="rId45" Type="http://schemas.openxmlformats.org/officeDocument/2006/relationships/slide" Target="slides/slide38.xml"/><Relationship Id="rId46" Type="http://schemas.openxmlformats.org/officeDocument/2006/relationships/slide" Target="slides/slide39.xml"/><Relationship Id="rId47" Type="http://schemas.openxmlformats.org/officeDocument/2006/relationships/slide" Target="slides/slide40.xml"/><Relationship Id="rId48" Type="http://schemas.openxmlformats.org/officeDocument/2006/relationships/slide" Target="slides/slide41.xml"/><Relationship Id="rId49" Type="http://schemas.openxmlformats.org/officeDocument/2006/relationships/slide" Target="slides/slide42.xml"/><Relationship Id="rId50" Type="http://schemas.openxmlformats.org/officeDocument/2006/relationships/slide" Target="slides/slide43.xml"/><Relationship Id="rId51" Type="http://schemas.openxmlformats.org/officeDocument/2006/relationships/slide" Target="slides/slide44.xml"/><Relationship Id="rId52" Type="http://schemas.openxmlformats.org/officeDocument/2006/relationships/slide" Target="slides/slide45.xml"/><Relationship Id="rId53" Type="http://schemas.openxmlformats.org/officeDocument/2006/relationships/slide" Target="slides/slide46.xml"/><Relationship Id="rId54" Type="http://schemas.openxmlformats.org/officeDocument/2006/relationships/slide" Target="slides/slide47.xml"/><Relationship Id="rId55" Type="http://schemas.openxmlformats.org/officeDocument/2006/relationships/slide" Target="slides/slide48.xml"/><Relationship Id="rId56" Type="http://schemas.openxmlformats.org/officeDocument/2006/relationships/slide" Target="slides/slide49.xml"/><Relationship Id="rId57" Type="http://schemas.openxmlformats.org/officeDocument/2006/relationships/slide" Target="slides/slide50.xml"/><Relationship Id="rId58" Type="http://schemas.openxmlformats.org/officeDocument/2006/relationships/slide" Target="slides/slide51.xml"/><Relationship Id="rId59" Type="http://schemas.openxmlformats.org/officeDocument/2006/relationships/slide" Target="slides/slide52.xml"/><Relationship Id="rId60" Type="http://schemas.openxmlformats.org/officeDocument/2006/relationships/slide" Target="slides/slide53.xml"/><Relationship Id="rId61" Type="http://schemas.openxmlformats.org/officeDocument/2006/relationships/slide" Target="slides/slide54.xml"/><Relationship Id="rId62" Type="http://schemas.openxmlformats.org/officeDocument/2006/relationships/slide" Target="slides/slide55.xml"/><Relationship Id="rId63" Type="http://schemas.openxmlformats.org/officeDocument/2006/relationships/slide" Target="slides/slide56.xml"/><Relationship Id="rId64" Type="http://schemas.openxmlformats.org/officeDocument/2006/relationships/slide" Target="slides/slide57.xml"/><Relationship Id="rId65" Type="http://schemas.openxmlformats.org/officeDocument/2006/relationships/slide" Target="slides/slide58.xml"/><Relationship Id="rId66" Type="http://schemas.openxmlformats.org/officeDocument/2006/relationships/slide" Target="slides/slide59.xml"/><Relationship Id="rId67" Type="http://schemas.openxmlformats.org/officeDocument/2006/relationships/slide" Target="slides/slide60.xml"/><Relationship Id="rId68" Type="http://schemas.openxmlformats.org/officeDocument/2006/relationships/slide" Target="slides/slide61.xml"/><Relationship Id="rId69" Type="http://schemas.openxmlformats.org/officeDocument/2006/relationships/slide" Target="slides/slide62.xml"/><Relationship Id="rId70" Type="http://schemas.openxmlformats.org/officeDocument/2006/relationships/slide" Target="slides/slide63.xml"/><Relationship Id="rId71" Type="http://schemas.openxmlformats.org/officeDocument/2006/relationships/slide" Target="slides/slide64.xml"/><Relationship Id="rId72" Type="http://schemas.openxmlformats.org/officeDocument/2006/relationships/slide" Target="slides/slide65.xml"/><Relationship Id="rId73" Type="http://schemas.openxmlformats.org/officeDocument/2006/relationships/slide" Target="slides/slide66.xml"/><Relationship Id="rId74" Type="http://schemas.openxmlformats.org/officeDocument/2006/relationships/slide" Target="slides/slide67.xml"/><Relationship Id="rId75" Type="http://schemas.openxmlformats.org/officeDocument/2006/relationships/slide" Target="slides/slide68.xml"/><Relationship Id="rId76" Type="http://schemas.openxmlformats.org/officeDocument/2006/relationships/slide" Target="slides/slide69.xml"/><Relationship Id="rId77" Type="http://schemas.openxmlformats.org/officeDocument/2006/relationships/slide" Target="slides/slide70.xml"/><Relationship Id="rId78" Type="http://schemas.openxmlformats.org/officeDocument/2006/relationships/slide" Target="slides/slide71.xml"/><Relationship Id="rId79" Type="http://schemas.openxmlformats.org/officeDocument/2006/relationships/slide" Target="slides/slide72.xml"/><Relationship Id="rId80" Type="http://schemas.openxmlformats.org/officeDocument/2006/relationships/slide" Target="slides/slide73.xml"/><Relationship Id="rId81" Type="http://schemas.openxmlformats.org/officeDocument/2006/relationships/slide" Target="slides/slide74.xml"/><Relationship Id="rId82" Type="http://schemas.openxmlformats.org/officeDocument/2006/relationships/slide" Target="slides/slide75.xml"/><Relationship Id="rId83" Type="http://schemas.openxmlformats.org/officeDocument/2006/relationships/slide" Target="slides/slide76.xml"/><Relationship Id="rId84" Type="http://schemas.openxmlformats.org/officeDocument/2006/relationships/slide" Target="slides/slide77.xml"/><Relationship Id="rId85" Type="http://schemas.openxmlformats.org/officeDocument/2006/relationships/slide" Target="slides/slide78.xml"/><Relationship Id="rId86" Type="http://schemas.openxmlformats.org/officeDocument/2006/relationships/slide" Target="slides/slide79.xml"/><Relationship Id="rId87" Type="http://schemas.openxmlformats.org/officeDocument/2006/relationships/slide" Target="slides/slide80.xml"/><Relationship Id="rId88" Type="http://schemas.openxmlformats.org/officeDocument/2006/relationships/slide" Target="slides/slide81.xml"/><Relationship Id="rId89" Type="http://schemas.openxmlformats.org/officeDocument/2006/relationships/slide" Target="slides/slide82.xml"/><Relationship Id="rId90" Type="http://schemas.openxmlformats.org/officeDocument/2006/relationships/slide" Target="slides/slide83.xml"/><Relationship Id="rId91" Type="http://schemas.openxmlformats.org/officeDocument/2006/relationships/slide" Target="slides/slide84.xml"/><Relationship Id="rId92" Type="http://schemas.openxmlformats.org/officeDocument/2006/relationships/slide" Target="slides/slide85.xml"/><Relationship Id="rId93" Type="http://schemas.openxmlformats.org/officeDocument/2006/relationships/slide" Target="slides/slide86.xml"/><Relationship Id="rId94" Type="http://schemas.openxmlformats.org/officeDocument/2006/relationships/slide" Target="slides/slide87.xml"/><Relationship Id="rId95" Type="http://schemas.openxmlformats.org/officeDocument/2006/relationships/slide" Target="slides/slide88.xml"/><Relationship Id="rId96" Type="http://schemas.openxmlformats.org/officeDocument/2006/relationships/slide" Target="slides/slide89.xml"/><Relationship Id="rId97" Type="http://schemas.openxmlformats.org/officeDocument/2006/relationships/slide" Target="slides/slide90.xml"/><Relationship Id="rId98" Type="http://schemas.openxmlformats.org/officeDocument/2006/relationships/slide" Target="slides/slide91.xml"/><Relationship Id="rId99" Type="http://schemas.openxmlformats.org/officeDocument/2006/relationships/slide" Target="slides/slide92.xml"/><Relationship Id="rId100" Type="http://schemas.openxmlformats.org/officeDocument/2006/relationships/slide" Target="slides/slide93.xml"/><Relationship Id="rId101" Type="http://schemas.openxmlformats.org/officeDocument/2006/relationships/slide" Target="slides/slide94.xml"/><Relationship Id="rId102" Type="http://schemas.openxmlformats.org/officeDocument/2006/relationships/slide" Target="slides/slide95.xml"/><Relationship Id="rId103" Type="http://schemas.openxmlformats.org/officeDocument/2006/relationships/slide" Target="slides/slide96.xml"/><Relationship Id="rId104" Type="http://schemas.openxmlformats.org/officeDocument/2006/relationships/slide" Target="slides/slide97.xml"/><Relationship Id="rId105" Type="http://schemas.openxmlformats.org/officeDocument/2006/relationships/slide" Target="slides/slide98.xml"/><Relationship Id="rId106" Type="http://schemas.openxmlformats.org/officeDocument/2006/relationships/slide" Target="slides/slide99.xml"/><Relationship Id="rId107" Type="http://schemas.openxmlformats.org/officeDocument/2006/relationships/slide" Target="slides/slide100.xml"/><Relationship Id="rId108" Type="http://schemas.openxmlformats.org/officeDocument/2006/relationships/slide" Target="slides/slide101.xml"/><Relationship Id="rId109" Type="http://schemas.openxmlformats.org/officeDocument/2006/relationships/slide" Target="slides/slide102.xml"/><Relationship Id="rId110" Type="http://schemas.openxmlformats.org/officeDocument/2006/relationships/slide" Target="slides/slide103.xml"/><Relationship Id="rId111" Type="http://schemas.openxmlformats.org/officeDocument/2006/relationships/slide" Target="slides/slide104.xml"/><Relationship Id="rId112" Type="http://schemas.openxmlformats.org/officeDocument/2006/relationships/slide" Target="slides/slide105.xml"/><Relationship Id="rId113" Type="http://schemas.openxmlformats.org/officeDocument/2006/relationships/slide" Target="slides/slide106.xml"/><Relationship Id="rId114" Type="http://schemas.openxmlformats.org/officeDocument/2006/relationships/slide" Target="slides/slide107.xml"/><Relationship Id="rId115" Type="http://schemas.openxmlformats.org/officeDocument/2006/relationships/slide" Target="slides/slide108.xml"/><Relationship Id="rId116" Type="http://schemas.openxmlformats.org/officeDocument/2006/relationships/slide" Target="slides/slide109.xml"/><Relationship Id="rId117" Type="http://schemas.openxmlformats.org/officeDocument/2006/relationships/slide" Target="slides/slide110.xml"/><Relationship Id="rId118" Type="http://schemas.openxmlformats.org/officeDocument/2006/relationships/slide" Target="slides/slide111.xml"/><Relationship Id="rId119" Type="http://schemas.openxmlformats.org/officeDocument/2006/relationships/slide" Target="slides/slide112.xml"/><Relationship Id="rId120" Type="http://schemas.openxmlformats.org/officeDocument/2006/relationships/slide" Target="slides/slide113.xml"/><Relationship Id="rId121" Type="http://schemas.openxmlformats.org/officeDocument/2006/relationships/slide" Target="slides/slide114.xml"/><Relationship Id="rId122" Type="http://schemas.openxmlformats.org/officeDocument/2006/relationships/slide" Target="slides/slide115.xml"/><Relationship Id="rId123" Type="http://schemas.openxmlformats.org/officeDocument/2006/relationships/slide" Target="slides/slide116.xml"/><Relationship Id="rId124" Type="http://schemas.openxmlformats.org/officeDocument/2006/relationships/slide" Target="slides/slide117.xml"/><Relationship Id="rId125" Type="http://schemas.openxmlformats.org/officeDocument/2006/relationships/slide" Target="slides/slide118.xml"/><Relationship Id="rId126" Type="http://schemas.openxmlformats.org/officeDocument/2006/relationships/slide" Target="slides/slide119.xml"/><Relationship Id="rId127" Type="http://schemas.openxmlformats.org/officeDocument/2006/relationships/slide" Target="slides/slide120.xml"/><Relationship Id="rId128" Type="http://schemas.openxmlformats.org/officeDocument/2006/relationships/slide" Target="slides/slide121.xml"/><Relationship Id="rId129" Type="http://schemas.openxmlformats.org/officeDocument/2006/relationships/slide" Target="slides/slide122.xml"/><Relationship Id="rId130" Type="http://schemas.openxmlformats.org/officeDocument/2006/relationships/slide" Target="slides/slide123.xml"/><Relationship Id="rId131" Type="http://schemas.openxmlformats.org/officeDocument/2006/relationships/slide" Target="slides/slide124.xml"/><Relationship Id="rId132" Type="http://schemas.openxmlformats.org/officeDocument/2006/relationships/slide" Target="slides/slide125.xml"/><Relationship Id="rId133" Type="http://schemas.openxmlformats.org/officeDocument/2006/relationships/slide" Target="slides/slide126.xml"/><Relationship Id="rId134" Type="http://schemas.openxmlformats.org/officeDocument/2006/relationships/slide" Target="slides/slide127.xml"/><Relationship Id="rId135" Type="http://schemas.openxmlformats.org/officeDocument/2006/relationships/slide" Target="slides/slide128.xml"/><Relationship Id="rId136" Type="http://schemas.openxmlformats.org/officeDocument/2006/relationships/slide" Target="slides/slide129.xml"/><Relationship Id="rId137" Type="http://schemas.openxmlformats.org/officeDocument/2006/relationships/slide" Target="slides/slide130.xml"/><Relationship Id="rId138" Type="http://schemas.openxmlformats.org/officeDocument/2006/relationships/slide" Target="slides/slide131.xml"/><Relationship Id="rId139" Type="http://schemas.openxmlformats.org/officeDocument/2006/relationships/slide" Target="slides/slide132.xml"/><Relationship Id="rId140" Type="http://schemas.openxmlformats.org/officeDocument/2006/relationships/slide" Target="slides/slide133.xml"/><Relationship Id="rId141" Type="http://schemas.openxmlformats.org/officeDocument/2006/relationships/slide" Target="slides/slide134.xml"/><Relationship Id="rId142" Type="http://schemas.openxmlformats.org/officeDocument/2006/relationships/slide" Target="slides/slide135.xml"/><Relationship Id="rId143" Type="http://schemas.openxmlformats.org/officeDocument/2006/relationships/slide" Target="slides/slide136.xml"/><Relationship Id="rId144" Type="http://schemas.openxmlformats.org/officeDocument/2006/relationships/slide" Target="slides/slide137.xml"/><Relationship Id="rId145" Type="http://schemas.openxmlformats.org/officeDocument/2006/relationships/slide" Target="slides/slide138.xml"/><Relationship Id="rId146" Type="http://schemas.openxmlformats.org/officeDocument/2006/relationships/slide" Target="slides/slide139.xml"/><Relationship Id="rId147" Type="http://schemas.openxmlformats.org/officeDocument/2006/relationships/slide" Target="slides/slide140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Level</c:v>
                </c:pt>
              </c:strCache>
            </c:strRef>
          </c:tx>
          <c:dPt>
            <c:idx val="0"/>
            <c:spPr>
              <a:solidFill>
                <a:srgbClr val="FFD966"/>
              </a:solidFill>
              <a:ln w="9525">
                <a:solidFill>
                  <a:srgbClr val="111827"/>
                </a:solidFill>
              </a:ln>
            </c:spPr>
          </c:dPt>
          <c:dPt>
            <c:idx val="1"/>
            <c:spPr>
              <a:solidFill>
                <a:srgbClr val="FFD966"/>
              </a:solidFill>
              <a:ln w="9525">
                <a:solidFill>
                  <a:srgbClr val="111827"/>
                </a:solidFill>
              </a:ln>
            </c:spPr>
          </c:dPt>
          <c:dPt>
            <c:idx val="2"/>
            <c:spPr>
              <a:solidFill>
                <a:srgbClr val="B6D7A8"/>
              </a:solidFill>
              <a:ln w="9525">
                <a:solidFill>
                  <a:srgbClr val="111827"/>
                </a:solidFill>
              </a:ln>
            </c:spPr>
          </c:dPt>
          <c:dPt>
            <c:idx val="3"/>
            <c:spPr>
              <a:solidFill>
                <a:srgbClr val="F6B26B"/>
              </a:solidFill>
              <a:ln w="9525">
                <a:solidFill>
                  <a:srgbClr val="111827"/>
                </a:solidFill>
              </a:ln>
            </c:spPr>
          </c:dPt>
          <c:dPt>
            <c:idx val="4"/>
            <c:spPr>
              <a:solidFill>
                <a:srgbClr val="FFD966"/>
              </a:solidFill>
              <a:ln w="9525">
                <a:solidFill>
                  <a:srgbClr val="111827"/>
                </a:solidFill>
              </a:ln>
            </c:spPr>
          </c:dPt>
          <c:dPt>
            <c:idx val="5"/>
            <c:spPr>
              <a:solidFill>
                <a:srgbClr val="F6B26B"/>
              </a:solidFill>
              <a:ln w="9525">
                <a:solidFill>
                  <a:srgbClr val="111827"/>
                </a:solidFill>
              </a:ln>
            </c:spPr>
          </c:dPt>
          <c:dPt>
            <c:idx val="6"/>
            <c:spPr>
              <a:solidFill>
                <a:srgbClr val="F6B26B"/>
              </a:solidFill>
              <a:ln w="9525">
                <a:solidFill>
                  <a:srgbClr val="111827"/>
                </a:solidFill>
              </a:ln>
            </c:spPr>
          </c:dPt>
          <c:dPt>
            <c:idx val="7"/>
            <c:spPr>
              <a:solidFill>
                <a:srgbClr val="F6B26B"/>
              </a:solidFill>
              <a:ln w="9525">
                <a:solidFill>
                  <a:srgbClr val="111827"/>
                </a:solidFill>
              </a:ln>
            </c:spPr>
          </c:dPt>
          <c:dPt>
            <c:idx val="8"/>
            <c:spPr>
              <a:solidFill>
                <a:srgbClr val="F6B26B"/>
              </a:solidFill>
              <a:ln w="9525">
                <a:solidFill>
                  <a:srgbClr val="111827"/>
                </a:solidFill>
              </a:ln>
            </c:spPr>
          </c:dPt>
          <c:dPt>
            <c:idx val="9"/>
            <c:spPr>
              <a:solidFill>
                <a:srgbClr val="E88080"/>
              </a:solidFill>
              <a:ln w="9525">
                <a:solidFill>
                  <a:srgbClr val="111827"/>
                </a:solidFill>
              </a:ln>
            </c:spPr>
          </c:dPt>
          <c:dPt>
            <c:idx val="10"/>
            <c:spPr>
              <a:solidFill>
                <a:srgbClr val="FFD966"/>
              </a:solidFill>
              <a:ln w="9525">
                <a:solidFill>
                  <a:srgbClr val="111827"/>
                </a:solidFill>
              </a:ln>
            </c:spPr>
          </c:dPt>
          <c:dPt>
            <c:idx val="11"/>
            <c:spPr>
              <a:solidFill>
                <a:srgbClr val="F6B26B"/>
              </a:solidFill>
              <a:ln w="9525">
                <a:solidFill>
                  <a:srgbClr val="111827"/>
                </a:solidFill>
              </a:ln>
            </c:spPr>
          </c:dPt>
          <c:dPt>
            <c:idx val="12"/>
            <c:spPr>
              <a:solidFill>
                <a:srgbClr val="E88080"/>
              </a:solidFill>
              <a:ln w="9525">
                <a:solidFill>
                  <a:srgbClr val="111827"/>
                </a:solidFill>
              </a:ln>
            </c:spPr>
          </c:dPt>
          <c:dPt>
            <c:idx val="13"/>
            <c:spPr>
              <a:solidFill>
                <a:srgbClr val="F6B26B"/>
              </a:solidFill>
              <a:ln w="9525">
                <a:solidFill>
                  <a:srgbClr val="111827"/>
                </a:solidFill>
              </a:ln>
            </c:spPr>
          </c:dPt>
          <c:dPt>
            <c:idx val="14"/>
            <c:spPr>
              <a:solidFill>
                <a:srgbClr val="FFD966"/>
              </a:solidFill>
              <a:ln w="9525">
                <a:solidFill>
                  <a:srgbClr val="111827"/>
                </a:solidFill>
              </a:ln>
            </c:spPr>
          </c:dPt>
          <c:dPt>
            <c:idx val="15"/>
            <c:spPr>
              <a:solidFill>
                <a:srgbClr val="FFD966"/>
              </a:solidFill>
              <a:ln w="9525">
                <a:solidFill>
                  <a:srgbClr val="111827"/>
                </a:solidFill>
              </a:ln>
            </c:spPr>
          </c:dPt>
          <c:dPt>
            <c:idx val="16"/>
            <c:spPr>
              <a:solidFill>
                <a:srgbClr val="FFD966"/>
              </a:solidFill>
              <a:ln w="9525">
                <a:solidFill>
                  <a:srgbClr val="111827"/>
                </a:solidFill>
              </a:ln>
            </c:spPr>
          </c:dPt>
          <c:cat>
            <c:strRef>
              <c:f>Sheet1!$A$2:$A$18</c:f>
              <c:strCache>
                <c:ptCount val="17"/>
                <c:pt idx="0">
                  <c:v>Q1</c:v>
                </c:pt>
                <c:pt idx="1">
                  <c:v>Q2</c:v>
                </c:pt>
                <c:pt idx="2">
                  <c:v>Q3</c:v>
                </c:pt>
                <c:pt idx="3">
                  <c:v>Q4</c:v>
                </c:pt>
                <c:pt idx="4">
                  <c:v>Q5</c:v>
                </c:pt>
                <c:pt idx="5">
                  <c:v>Q6</c:v>
                </c:pt>
                <c:pt idx="6">
                  <c:v>Q7</c:v>
                </c:pt>
                <c:pt idx="7">
                  <c:v>Q8</c:v>
                </c:pt>
                <c:pt idx="8">
                  <c:v>Q9</c:v>
                </c:pt>
                <c:pt idx="9">
                  <c:v>Q10</c:v>
                </c:pt>
                <c:pt idx="10">
                  <c:v>Q11</c:v>
                </c:pt>
                <c:pt idx="11">
                  <c:v>Q12</c:v>
                </c:pt>
                <c:pt idx="12">
                  <c:v>Q13</c:v>
                </c:pt>
                <c:pt idx="13">
                  <c:v>Q14</c:v>
                </c:pt>
                <c:pt idx="14">
                  <c:v>Q15</c:v>
                </c:pt>
                <c:pt idx="15">
                  <c:v>Q16</c:v>
                </c:pt>
                <c:pt idx="16">
                  <c:v>Q17</c:v>
                </c:pt>
              </c:strCache>
            </c:strRef>
          </c:cat>
          <c:val>
            <c:numRef>
              <c:f>Sheet1!$B$2:$B$18</c:f>
              <c:numCache>
                <c:formatCode>General</c:formatCode>
                <c:ptCount val="17"/>
                <c:pt idx="0">
                  <c:v>2.0</c:v>
                </c:pt>
                <c:pt idx="1">
                  <c:v>2.0</c:v>
                </c:pt>
                <c:pt idx="2">
                  <c:v>1.0</c:v>
                </c:pt>
                <c:pt idx="3">
                  <c:v>3.0</c:v>
                </c:pt>
                <c:pt idx="4">
                  <c:v>2.5</c:v>
                </c:pt>
                <c:pt idx="5">
                  <c:v>3.0</c:v>
                </c:pt>
                <c:pt idx="6">
                  <c:v>3.0</c:v>
                </c:pt>
                <c:pt idx="7">
                  <c:v>3.0</c:v>
                </c:pt>
                <c:pt idx="8">
                  <c:v>3.0</c:v>
                </c:pt>
                <c:pt idx="9">
                  <c:v>4.0</c:v>
                </c:pt>
                <c:pt idx="10">
                  <c:v>2.0</c:v>
                </c:pt>
                <c:pt idx="11">
                  <c:v>3.0</c:v>
                </c:pt>
                <c:pt idx="12">
                  <c:v>4.0</c:v>
                </c:pt>
                <c:pt idx="13">
                  <c:v>3.0</c:v>
                </c:pt>
                <c:pt idx="14">
                  <c:v>2.0</c:v>
                </c:pt>
                <c:pt idx="15">
                  <c:v>2.0</c:v>
                </c:pt>
                <c:pt idx="16">
                  <c:v>2.0</c:v>
                </c:pt>
              </c:numCache>
            </c:numRef>
          </c:val>
        </c:ser>
        <c:dLbls>
          <c:numFmt formatCode="0.0#" sourceLinked="0"/>
          <c:txPr>
            <a:bodyPr/>
            <a:lstStyle/>
            <a:p>
              <a:pPr>
                <a:defRPr sz="2000" b="1">
                  <a:solidFill>
                    <a:srgbClr val="111827"/>
                  </a:solidFill>
                  <a:latin typeface="Arial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4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2000" b="1">
                <a:latin typeface="Arial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5.5"/>
          <c:min val="0.0"/>
        </c:scaling>
        <c:delete val="0"/>
        <c:axPos val="l"/>
        <c:majorGridlines>
          <c:spPr>
            <a:ln>
              <a:solidFill>
                <a:srgbClr val="D1D5DB"/>
              </a:solidFill>
            </a:ln>
          </c:spPr>
        </c:majorGridlines>
        <c:title>
          <c:tx>
            <c:rich>
              <a:bodyPr/>
              <a:lstStyle/>
              <a:p>
                <a:r>
                  <a:rPr sz="2000"/>
                  <a:t>Level</a:t>
                </a:r>
              </a:p>
            </c:rich>
          </c:tx>
          <c:layout/>
          <c:overlay val="0"/>
        </c:title>
        <c:majorTickMark val="out"/>
        <c:minorTickMark val="none"/>
        <c:tickLblPos val="nextTo"/>
        <c:txPr>
          <a:bodyPr/>
          <a:lstStyle/>
          <a:p>
            <a:pPr>
              <a:defRPr sz="2000">
                <a:latin typeface="Arial"/>
              </a:defRPr>
            </a:pPr>
          </a:p>
        </c:txPr>
        <c:crossAx val="-2068027336"/>
        <c:crosses val="autoZero"/>
        <c:majorUnit val="1.0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4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1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9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7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7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4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5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0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9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6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3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9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copied from the PDF in full and checked step by step - it is correct.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copied from the PDF in full and checked step by step - it is correct.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copied from the PDF in full and checked step by step - it is correct.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copied from the PDF in full and checked step by step - it is correct.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copied from the PDF in full and checked step by step - it is correct.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copied from the PDF in full and checked step by step - it is correct.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copied from the PDF in full and checked step by step - it is correct.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copied from the PDF in full and checked step by step - it is correct.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copied from the PDF in full and checked step by step - it is correct.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taken from the PDF but CORRECTED by Claude.</a:t>
            </a:r>
          </a:p>
          <a:p>
            <a:r>
              <a:t>WHAT WAS WRONG IN THE PDF AND WHAT CHANGED: PDF writes f''(x) = -f(x) e^{-(f(x))^2/2} in the working for Statement I (N'(x)) and in Statement III. Since f'' = -f (f')^2 = -f e^{-(f)^2}, the exponent must be -(f(x))^2, not -(f(x))^2/2. The sign of f'' (and so the conclusions for I and III) is unchanged. Also added the reason that M(x) -&gt; -/+ infinity (f(x)/x -&gt; 0 because f' -&gt; 0) and named the three root intervals in Statement II.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copied from the PDF in full and checked step by step - it is correct.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copied from the PDF in full and checked step by step - it is correct.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copied from the PDF in full and checked step by step - it is correct.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copied from the PDF in full and checked step by step - it is correct.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copied from the PDF in full and checked step by step - it is correct.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copied from the PDF in full and checked step by step - it is correct.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copied from the PDF in full and checked step by step - it is correct.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6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7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8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9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0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1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_rels/slide1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/Relationships>
</file>

<file path=ppt/slides/_rels/slide1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1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/>
          <a:lstStyle>
            <a:lvl1pPr>
              <a:defRPr sz="4000">
                <a:solidFill>
                  <a:srgbClr val="FFFFFF"/>
                </a:solidFill>
              </a:defRPr>
            </a:lvl1pPr>
          </a:lstStyle>
          <a:p>
            <a:pPr algn="ctr">
              <a:defRPr sz="4000">
                <a:solidFill>
                  <a:srgbClr val="FFFFFF"/>
                </a:solidFill>
              </a:defRPr>
            </a:pPr>
            <a:r>
              <a:rPr sz="4000" b="1">
                <a:solidFill>
                  <a:srgbClr val="FFFFFF"/>
                </a:solidFill>
                <a:latin typeface="Arial"/>
              </a:rPr>
              <a:t>RPT 03 — Paper Analysis</a:t>
            </a:r>
            <a:endParaRPr sz="4000">
              <a:solidFill>
                <a:srgbClr val="FFFFFF"/>
              </a:solidFill>
            </a:endParaRPr>
          </a:p>
          <a:p>
            <a:pPr algn="ctr"/>
            <a:r>
              <a:rPr sz="2200">
                <a:solidFill>
                  <a:srgbClr val="FFFFFF"/>
                </a:solidFill>
                <a:latin typeface="Arial"/>
              </a:rPr>
              <a:t>Paper 02 · JEE Adv · detailed solutions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463040"/>
            <a:ext cx="10362895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lvl1pPr>
              <a:defRPr sz="2800">
                <a:solidFill>
                  <a:srgbClr val="FFFFFF"/>
                </a:solidFill>
              </a:defRPr>
            </a:lvl1pPr>
          </a:lstStyle>
          <a:p>
            <a:pPr algn="ctr">
              <a:spcAft>
                <a:spcPts val="1000"/>
              </a:spcAft>
              <a:defRPr sz="2800">
                <a:solidFill>
                  <a:srgbClr val="FFFFFF"/>
                </a:solidFill>
              </a:defRPr>
            </a:pPr>
            <a:r>
              <a:rPr sz="2800" b="0">
                <a:solidFill>
                  <a:srgbClr val="93C5FD"/>
                </a:solidFill>
                <a:latin typeface="Arial"/>
              </a:rPr>
              <a:t>Section 1</a:t>
            </a:r>
            <a:endParaRPr sz="2800">
              <a:solidFill>
                <a:srgbClr val="FFFFFF"/>
              </a:solidFill>
            </a:endParaRPr>
          </a:p>
          <a:p>
            <a:pPr algn="ctr">
              <a:spcAft>
                <a:spcPts val="1000"/>
              </a:spcAft>
              <a:defRPr sz="2800">
                <a:solidFill>
                  <a:srgbClr val="FFFFFF"/>
                </a:solidFill>
              </a:defRPr>
            </a:pPr>
            <a:r>
              <a:rPr sz="4400" b="1">
                <a:solidFill>
                  <a:srgbClr val="FFFFFF"/>
                </a:solidFill>
                <a:latin typeface="Arial"/>
              </a:rPr>
              <a:t>Single Correct Type</a:t>
            </a:r>
            <a:endParaRPr sz="2800">
              <a:solidFill>
                <a:srgbClr val="FFFFFF"/>
              </a:solidFill>
            </a:endParaRPr>
          </a:p>
          <a:p>
            <a:pPr algn="ctr">
              <a:spcAft>
                <a:spcPts val="1000"/>
              </a:spcAft>
              <a:defRPr sz="28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Q01 – Q04</a:t>
            </a:r>
            <a:endParaRPr sz="2800">
              <a:solidFill>
                <a:srgbClr val="FFFFFF"/>
              </a:solidFill>
            </a:endParaRPr>
          </a:p>
          <a:p>
            <a:pPr algn="ctr">
              <a:spcAft>
                <a:spcPts val="1000"/>
              </a:spcAft>
              <a:defRPr sz="2800">
                <a:solidFill>
                  <a:srgbClr val="FFFFFF"/>
                </a:solidFill>
              </a:defRPr>
            </a:pPr>
            <a:r>
              <a:rPr sz="2800" b="0">
                <a:solidFill>
                  <a:srgbClr val="FFFFFF"/>
                </a:solidFill>
                <a:latin typeface="Arial"/>
              </a:rPr>
              <a:t>Marks not printed in the paper: JEE Advanced default of 4 per question assumed</a:t>
            </a:r>
            <a:endParaRPr sz="2800">
              <a:solidFill>
                <a:srgbClr val="FFFFFF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01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662935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:</m:t>
                    </m:r>
                    <m:r>
                      <m:rPr>
                        <m:scr m:val="double-struck"/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R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m:rPr>
                        <m:scr m:val="double-struck"/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R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 a strictly increasing and twice differentiable function defined by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If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the inverse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then the value of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𝑔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″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equal to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16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(B)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(C)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(D)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16</m:t>
                        </m:r>
                      </m:den>
                    </m:f>
                  </m:oMath>
                </a14:m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662935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$f:\mathbb{R}\to\mathbb{R}$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 a strictly increasing and twice differentiable function defined by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$f(x)=x^3+x+2$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If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$g(x)$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the inverse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$f(x)$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then the value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$g''(4)$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equal to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$-\frac{3}{16}$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(B)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$-\frac{3}{32}$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(C)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$\frac{3}{32}$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(D)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$\frac{1}{16}$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ectangle 4"/>
          <p:cNvSpPr/>
          <p:nvPr/>
        </p:nvSpPr>
        <p:spPr>
          <a:xfrm>
            <a:off x="731520" y="4171695"/>
            <a:ext cx="10725912" cy="1975103"/>
          </a:xfrm>
          <a:prstGeom prst="rect">
            <a:avLst/>
          </a:prstGeom>
          <a:solidFill>
            <a:srgbClr val="FFFFFF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t" wrap="square" lIns="228600" rIns="228600" tIns="137160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Single Correct Type(4 Marks)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Concept(s) : Second derivative of the inverse of a function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Difficulty Level: Level 2(A level below Average JEE Advanced Level)</a:t>
            </a:r>
            <a:endParaRPr sz="2400">
              <a:solidFill>
                <a:srgbClr val="111827"/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01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219200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Differentiate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twice to get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𝑔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″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𝑓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″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num>
                      <m:den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𝑓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′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sup>
                        </m:sSup>
                      </m:den>
                    </m:f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then find the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219200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Differentiate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$g(f(x))=x$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twice to get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$g''(f(x))=-\frac{f''(x)}{(f'(x))^3}$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then find the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$x$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with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$f(x)=4$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2636520"/>
                <a:ext cx="10725912" cy="4038599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″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Since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we have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Differentiating with respect to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𝑔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⇒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𝑔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𝑓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′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Differentiating again: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𝑔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″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𝑓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″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num>
                      <m:den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𝑓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′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⇒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𝑔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″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𝑓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″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num>
                      <m:den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𝑓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′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sup>
                        </m:sSup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2636520"/>
                <a:ext cx="10725912" cy="4038599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$f'(x)=3x^2+1$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$f''(x)=6x$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Since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$g(x)=f^{-1}(x)$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we have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$g(f(x))=x$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Differentiating with respect to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$g'(f(x))\cdot f'(x)=1\Rightarrow g'(f(x))=\frac{1}{f'(x)}$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Differentiating again: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$g''(f(x))\cdot f'(x)=-\frac{f''(x)}{(f'(x))^2}\Rightarrow g''(f(x))=-\frac{f''(x)}{(f'(x))^3}$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01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To find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𝑔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″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we need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⇒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(the only real root, since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strictly increasing).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″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𝑔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″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𝑓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″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num>
                      <m:den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𝑓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′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sup>
                        </m:sSup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sup>
                        </m:sSup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64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To find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$g''(4)$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we need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$f(x)=4$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$x^3+x+2=4\Rightarrow x^3+x-2=0\Rightarrow x=1$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(the only real root, since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strictly increasing).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$f'(1)=3(1)^2+1=4$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$f''(1)=6(1)=6$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$g''(4)=-\frac{f''(1)}{(f'(1))^3}=-\frac{6}{4^3}=-\frac{6}{64}=-\frac{3}{32}$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(B)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32</m:t>
                        </m:r>
                      </m:den>
                    </m:f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(B)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$-\frac{3}{32}$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01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4813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Reverse the series: write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3</m:t>
                    </m:r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ℎ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ℎ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solve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ℎ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as a power series in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δ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;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𝑔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″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is twice the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δ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coefficient.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4813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Reverse the series: write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$f(1+h)=4+4h+3h^2+h^3$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solve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$4+\delta=f(1+h)$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for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$h$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as a power series in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$\delta$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;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$g''(4)$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is twice the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$\delta^2$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coefficient.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2898648"/>
                <a:ext cx="10725912" cy="377647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because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Put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ℎ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ℎ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ℎ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ℎ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δ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ℎ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where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ℎ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ℎ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δ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Write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δ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⋯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substitute: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δ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δ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⋯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δ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2898648"/>
                <a:ext cx="10725912" cy="377647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$g(4)=1$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because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$f(1)=4$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Put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$x=1+h$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$f(1+h)=(1+h)^3+(1+h)+2=4+4h+3h^2+h^3$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$y=4+\delta$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$g(4+\delta)=1+h$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where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$4h+3h^2+h^3=\delta$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Write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$h=a\delta+b\delta^2+\cdots$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substitute: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$4(a\delta+b\delta^2)+3a^2\delta^2+\cdots=\delta$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01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Compare coefficients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δ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(this is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𝑔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Compare coefficients of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δ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16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64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Taylor's formula gives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𝑔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𝑔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″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δ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⋯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𝑔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″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64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𝑔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″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Compare coefficients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$\delta$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$4a=1\Rightarrow a=\frac14$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(this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$g'(4)=\frac14$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Compare coefficients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$\delta^2$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$4b+3a^2=0\Rightarrow 4b=-\frac{3}{16}\Rightarrow b=-\frac{3}{64}$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Taylor's formula gives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$g(4+\delta)=g(4)+g'(4)\delta+\frac{g''(4)}{2}\delta^2+\cdots$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$\frac{g''(4)}{2}=b=-\frac{3}{64}$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$g''(4)=-\frac{3}{32}$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ounded Rectangle 5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(B)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32</m:t>
                        </m:r>
                      </m:den>
                    </m:f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6" name="Rounded Rectangle 5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(B)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$-\frac{3}{32}$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01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Inverse-function derivatives: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𝑔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𝑓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′</m:t>
                            </m:r>
                          </m:sup>
                        </m:sSup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𝑔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″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𝑓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″</m:t>
                            </m:r>
                          </m:sup>
                        </m:sSup>
                      </m:num>
                      <m:den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𝑓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′</m:t>
                            </m:r>
                          </m:sup>
                        </m:sSup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sup>
                        </m:sSup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𝑔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‴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𝑓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″</m:t>
                            </m:r>
                          </m:sup>
                        </m:sSup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𝑓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′</m:t>
                            </m:r>
                          </m:sup>
                        </m:sSup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𝑓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‴</m:t>
                            </m:r>
                          </m:sup>
                        </m:sSup>
                      </m:num>
                      <m:den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𝑓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′</m:t>
                            </m:r>
                          </m:sup>
                        </m:sSup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5</m:t>
                            </m:r>
                          </m:sup>
                        </m:sSup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all evaluated 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Here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𝑔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‴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⋅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36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⋅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5</m:t>
                            </m:r>
                          </m:sup>
                        </m:sSup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256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Geometrically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the mirror image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the tangent slope becomes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𝑓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′</m:t>
                            </m:r>
                          </m:sup>
                        </m:sSup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the concavity flips when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″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have the same sign (here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convex 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concave).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Inverse-function derivatives: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$g'=\frac{1}{f'}$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$g''=-\frac{f''}{(f')^3}$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$g'''=\frac{3(f'')^2-f'f'''}{(f')^5}$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all evaluated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$x=g(y)$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Here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$g'''(4)=\frac{3\cdot36-4\cdot6}{4^5}=\frac{21}{256}$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Geometrically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$y=g(x)$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the mirror image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$y=f(x)$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the tangent slope becomes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$\frac{1}{f'}$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the concavity flips when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$f''$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$f'$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have the same sign (here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convex 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$x&gt;0$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$g$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concave).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01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Series reversion: if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ℎ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⋯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δ</m:t>
                        </m:r>
                      </m:num>
                      <m:den>
                        <m:sSub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𝑐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𝑐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num>
                      <m:den>
                        <m:sSub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𝑐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sup>
                        </m:sSubSup>
                      </m:den>
                    </m:f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δ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⋯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(check: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 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64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a strictly increasing polynomial,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has exactly one real root; look for it by inspection (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Series reversion: if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$f(a+h)=b+c_1h+c_2h^2+\cdots$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$g(b+\delta)=a+\frac{\delta}{c_1}-\frac{c_2}{c_1^3}\delta^2+\cdots$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(check: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$c_1=4,\ c_2=3$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$-\frac{3}{64}$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a strictly increasing polynomial,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$f(x)=k$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has exactly one real root; look for it by inspection (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$x^3+x-2$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02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3668776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 the smallest positive integer for which the function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:</m:t>
                    </m:r>
                    <m:r>
                      <m:rPr>
                        <m:scr m:val="double-struck"/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R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m:rPr>
                        <m:scr m:val="double-struck"/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R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defined by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{"/>
                        <m:sepChr m:val=""/>
                        <m:endChr m:val="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baseJc m:val="center"/>
                            <m:plcHide m:val="on"/>
                            <m:mcs>
                              <m:mc>
                                <m:mcPr>
                                  <m:count m:val="1"/>
                                  <m:mcJc m:val="left"/>
                                </m:mcPr>
                              </m:mc>
                              <m:mc>
                                <m:mcPr>
                                  <m:count m:val="1"/>
                                  <m:mcJc m:val="left"/>
                                </m:mcPr>
                              </m:mc>
                            </m:mcs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sSup>
                                <m:e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p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𝑘</m:t>
                                  </m:r>
                                </m:sup>
                              </m:sSup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sin</m:t>
                              </m:r>
                              <m:d>
                                <m:dPr>
                                  <m:begChr m:val="("/>
                                  <m:sepChr m:val=""/>
                                  <m:endChr m:val=")"/>
                                  <m:grow/>
                                  <m:ctrlP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f>
                                    <m:fPr>
                                      <m:type m:val="bar"/>
                                      <m:ctrlPr>
                                        <a:rPr lang="en-IN" sz="2400" i="1">
                                          <a:solidFill>
                                            <a:srgbClr val="111827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fPr>
                                    <m:num>
                                      <m:r>
                                        <a:rPr lang="en-IN" sz="2400" i="1">
                                          <a:solidFill>
                                            <a:srgbClr val="111827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1</m:t>
                                      </m:r>
                                    </m:num>
                                    <m:den>
                                      <m:r>
                                        <a:rPr lang="en-IN" sz="2400" i="1">
                                          <a:solidFill>
                                            <a:srgbClr val="111827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den>
                                  </m:f>
                                </m:e>
                              </m:d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≠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</m:m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</m:mr>
                        </m:m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continuously differentiable 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An open cylindrical vessel (without a top lid) is to be constructed such that its total external surface area is fixed 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π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square units. The maximum possible volume of this cylindrical vessel (in cubic units) is: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16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e>
                    </m:rad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π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(B)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18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e>
                    </m:rad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π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(C)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24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e>
                    </m:rad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π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(D)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32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e>
                    </m:rad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π</m:t>
                    </m:r>
                  </m:oMath>
                </a14:m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3668776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$k$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 the smallest positive integer for which the function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$f:\mathbb{R}\to\mathbb{R}$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defined by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$f(x)=\begin{cases}x^k\sin\left(\frac{1}{x}\right),&amp;x\neq0\\0,&amp;x=0\end{cases}$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continuously differentiable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An open cylindrical vessel (without a top lid) is to be constructed such that its total external surface area is fixed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$12\pi k$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square units. The maximum possible volume of this cylindrical vessel (in cubic units) is: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$16\sqrt{3}\pi$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(B)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$18\sqrt{3}\pi$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(C)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$24\sqrt{3}\pi$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(D)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$32\sqrt{3}\pi$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02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280160"/>
                <a:ext cx="10725912" cy="219456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Single Correct Type(4 Marks)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Concept(s) : Continuity of the derivative of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Maxima and minima: volume of an open cylinder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Difficulty Level: Level 2(A level below Average JEE Advanced Level)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280160"/>
                <a:ext cx="10725912" cy="219456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Single Correct Type(4 Marks)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Concept(s) : Continuity of the derivative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$x^k\sin\frac1x$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Maxima and minima: volume of an open cylinder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Difficulty Level: Level 2(A level below Average JEE Advanced Level)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3657600"/>
                <a:ext cx="10725912" cy="1219200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Continuous derivative needs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cos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(not just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); then maximise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𝑉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𝑆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36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π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3657600"/>
                <a:ext cx="10725912" cy="1219200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Continuous derivative needs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$x^{k-2}\cos\frac1x\to0$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$k&gt;2$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(not just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$k&gt;1$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); then maximise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$V$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for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$S=36\pi$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5013960"/>
                <a:ext cx="10725912" cy="1661159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lim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ℎ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ℎ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𝑘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type m:val="bar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num>
                              <m:den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ℎ</m:t>
                                </m:r>
                              </m:den>
                            </m:f>
                          </m:e>
                        </m:d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ℎ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lim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ℎ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ℎ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ℎ</m:t>
                            </m:r>
                          </m:den>
                        </m:f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This limit exists and equals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5013960"/>
                <a:ext cx="10725912" cy="1661159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$f'(0)=\lim_{h\to0}\frac{h^k\sin\left(\frac1h\right)-0}{h}=\lim_{h\to0}h^{k-1}\sin\left(\frac1h\right)$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This limit exists and equals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$k-1&gt;0\Rightarrow k&gt;1$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02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≠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den>
                        </m:f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den>
                        </m:f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to be continuously differentiable 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we need </a:t>
                </a:r>
                <a14:m>
                  <m:oMath xmlns:m="http://schemas.openxmlformats.org/officeDocument/2006/math">
                    <m:sSub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lim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This holds if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The smallest positive integer is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Open cylinder of radius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height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ℎ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total surface area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𝑆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π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π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π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36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π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36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𝑟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Volume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𝑉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π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36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𝑉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12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𝑉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″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π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𝑉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maximum 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$x\neq0$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$f'(x)=kx^{k-1}\sin\left(\frac1x\right)-x^{k-2}\cos\left(\frac1x\right)$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to be continuously differentiable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we need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$\lim_{x\to0}f'(x)=f'(0)=0$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This holds if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$k-1&gt;0$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$k-2&gt;0\Rightarrow k&gt;2$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The smallest positive integer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$k=3$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Open cylinder of radius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$r$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height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$h$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total surface area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$S=\pi r^2+2\pi rh=12\pi k=36\pi\Rightarrow h=\frac{36-r^2}{2r}$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Volume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$V(r)=\pi r^2h=\frac{\pi}{2}(36r-r^3)$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$V'(r)=\frac{\pi}{2}(36-3r^2)=0\Rightarrow r=\sqrt{12}=2\sqrt{3}$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$V''(r)=-3\pi r&lt;0$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$V$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maximum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$r=2\sqrt{3}$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02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𝑉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max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36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⋅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e>
                        </m:rad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e>
                        </m:rad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sup>
                        </m:sSup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72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24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24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e>
                    </m:rad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π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$V_{\max}=\frac{\pi}{2}\left(36\cdot2\sqrt{3}-(2\sqrt{3})^3\right)=\frac{\pi}{2}(72\sqrt{3}-24\sqrt{3})=24\sqrt{3}\pi$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(C) </a:t>
                </a:r>
                <a14:m>
                  <m:oMath xmlns:m="http://schemas.openxmlformats.org/officeDocument/2006/math"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24</m:t>
                    </m:r>
                    <m:rad>
                      <m:radPr>
                        <m:degHide m:val="on"/>
                        <m:ctrlP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e>
                    </m:rad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π</m:t>
                    </m:r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(C)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$24\sqrt{3}\pi$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02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Split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𝑆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π</m:t>
                    </m:r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π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π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ℎ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into three terms and use AM-GM, so no differentiation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𝑉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is needed.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Split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$S=\pi r^2+\pi rh+\pi rh$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into three terms and use AM-GM, so no differentiation of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$V$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is needed.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as before,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𝑆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π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π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36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π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Write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𝑆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π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π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π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ℎ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apply AM-GM to these three positive terms: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𝑆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≥</m:t>
                    </m:r>
                    <m:rad>
                      <m:deg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g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𝑟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⋅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ℎ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⋅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ℎ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ad>
                      <m:deg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g>
                      <m:e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π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sup>
                        </m:sSup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𝑟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sup>
                        </m:sSup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ℎ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Hence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sup>
                    </m:sSup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ℎ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sSup>
                      <m:e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type m:val="bar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𝑆</m:t>
                                </m:r>
                              </m:num>
                              <m:den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den>
                            </m:f>
                          </m:e>
                        </m:d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π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sup>
                    </m:sSup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ℎ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12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$k=3$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as before,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$S=\pi r^2+2\pi rh=36\pi$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Write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$S=\pi r^2+\pi rh+\pi rh$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apply AM-GM to these three positive terms: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$\frac{S}{3}\ge\sqrt[3]{\pi r^2\cdot\pi rh\cdot\pi rh}=\sqrt[3]{\pi^3r^4h^2}$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Hence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$\pi^3r^4h^2\le\left(\frac{S}{3}\right)^3=(12\pi)^3$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$\pi^2r^4h^2\le\frac{(12\pi)^3}{\pi}=12^3\pi^2$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02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Since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𝑉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π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𝑉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sup>
                    </m:sSup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ℎ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12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𝑉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12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12</m:t>
                        </m:r>
                      </m:e>
                    </m:rad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π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24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e>
                    </m:rad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π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Equality holds when the three terms are equal: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π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π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π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36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π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ℎ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which is attainable, so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𝑉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max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24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e>
                    </m:rad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π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Since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$V=\pi r^2h&gt;0$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$V^2=\pi^2r^4h^2\le12^3\pi^2$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$V\le12\sqrt{12}\,\pi=24\sqrt{3}\pi$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Equality holds when the three terms are equal: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$\pi r^2=\pi rh\Rightarrow h=r$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$3\pi r^2=36\pi$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$r=2\sqrt{3}=h$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which is attainable,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$V_{\max}=24\sqrt{3}\pi$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ounded Rectangle 5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(C) </a:t>
                </a:r>
                <a14:m>
                  <m:oMath xmlns:m="http://schemas.openxmlformats.org/officeDocument/2006/math"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24</m:t>
                    </m:r>
                    <m:rad>
                      <m:radPr>
                        <m:degHide m:val="on"/>
                        <m:ctrlP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e>
                    </m:rad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π</m:t>
                    </m:r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6" name="Rounded Rectangle 5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(C)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$24\sqrt{3}\pi$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02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𝑚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≠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value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): continuous iff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𝑚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differentiable 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iff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𝑚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continuously differentiable iff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𝑚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(the term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𝑚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must vanish). In general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𝑚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times continuously differentiable 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iff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𝑚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(the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 derivative contains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𝑚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Open-top cylinder with fixed surface area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𝑆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the maximum volume occurs 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𝑆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π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𝑉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π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Check: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𝑆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36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π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𝑉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π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e>
                    </m:rad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24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e>
                    </m:rad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π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$x^m\sin\frac1x$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$x\neq0$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value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): continuous iff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$m&gt;0$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differentiable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iff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$m&gt;1$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continuously differentiable iff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$m&gt;2$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(the term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$x^{m-2}\cos\frac1x$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must vanish). In general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$x^m\sin\frac1x$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times continuously differentiable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iff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$m&gt;2n$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(the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 derivative contains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$x^{m-2n}\cos\frac1x$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Open-top cylinder with fixed surface area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$S$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the maximum volume occurs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$h=r$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$S=3\pi r^2$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$V=\pi r^3$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Check: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$S=36\pi\Rightarrow r=2\sqrt{3}$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$V=\pi(2\sqrt{3})^3=24\sqrt{3}\pi$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02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AM-GM with split terms: to maximise a product like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sup>
                    </m:sSup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ℎ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under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π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π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𝑆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split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𝑆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into parts proportional to the exponents so the weighted terms become equal.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Closed cylinder with fixed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𝑆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maximum volume 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(compare 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the open one).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AM-GM with split terms: to maximise a product like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$r^4h^2$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under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$\pi r^2+2\pi rh=S$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split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$S$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into parts proportional to the exponents so the weighted terms become equal.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Closed cylinder with fixed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$S$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maximum volume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$h=2r$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(compare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$h=r$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the open one).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03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B6D7A8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1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071623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If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the point of inflection of the curve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then the approximate value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0.02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using differentials is: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4.04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(B)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4.02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(C)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4.08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(D)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4.01</m:t>
                    </m:r>
                  </m:oMath>
                </a14:m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071623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$f(x)=x^3-3x^2+5x+1$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If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the point of inflection of the curve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$y=f(x)$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then the approximate value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$f(a+0.02)$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using differentials is: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$4.04$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(B)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$4.02$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(C)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$4.08$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(D)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$4.01$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ectangle 4"/>
          <p:cNvSpPr/>
          <p:nvPr/>
        </p:nvSpPr>
        <p:spPr>
          <a:xfrm>
            <a:off x="731520" y="3580383"/>
            <a:ext cx="10725912" cy="1975103"/>
          </a:xfrm>
          <a:prstGeom prst="rect">
            <a:avLst/>
          </a:prstGeom>
          <a:solidFill>
            <a:srgbClr val="FFFFFF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t" wrap="square" lIns="228600" rIns="228600" tIns="137160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Single Correct Type(4 Marks)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Concept(s) : Point of inflection, Approximation using differentials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Difficulty Level: Level 1(JEE Main Level)</a:t>
            </a:r>
            <a:endParaRPr sz="2400">
              <a:solidFill>
                <a:srgbClr val="111827"/>
              </a:solidFill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03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B6D7A8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1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Inflection is where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″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changes sign; then use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Δ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≈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Δ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Inflection is where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$f''$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changes sign; then use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$f(a+\Delta x)\approx f(a)+f'(a)\Delta x$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Differentiating: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″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a point of inflection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″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Since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″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changes sign 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 point of inflection occurs 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Differentiating: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$f'(x)=3x^2-6x+5$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$f''(x)=6x-6=6(x-1)$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a point of inflection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$f''(x)=0\Rightarrow x=1$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Since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$f''(x)$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changes sign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 point of inflection occurs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03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B6D7A8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1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We need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0.02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using differentials: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Δ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≈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Δ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Δ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0.02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Thus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1.02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≈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0.02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0.04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4.04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Correct option: (A).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We need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$f(1+0.02)$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using differentials: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$f(a+\Delta x)\approx f(a)+f'(a)\Delta 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$\Delta x=0.02$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$f(1)=1^3-3(1)^2+5(1)+1=4$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$f'(1)=3(1)^2-6(1)+5=2$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Thus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$f(1.02)\approx4+2(0.02)=4+0.04=4.04$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Correct option: (A).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(A) </a:t>
                </a:r>
                <a14:m>
                  <m:oMath xmlns:m="http://schemas.openxmlformats.org/officeDocument/2006/math"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4.04</m:t>
                    </m:r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(A)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$4.04$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03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B6D7A8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1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Shift the origin to the inflection point: a cubic with no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term is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𝑞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exactly.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Shift the origin to the inflection point: a cubic with no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$x^2$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term is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$t^3+pt+q$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$f(1+t)=4+2t+t^3$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exactly.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inflection point is 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(from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″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 Put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expand.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inflection point is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(from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$f''=6x-6$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 Put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$x=1+t$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expand.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$f(1+t)=(1+t)^3-3(1+t)^2+5(1+t)+1=t^3+(3-3)t^2+(3-6+5)t+(1-3+5+1)=t^3+2t+4$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$f(x)=(x-1)^3+2(x-1)+4$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03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B6D7A8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1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1.02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0.02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0.02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4.04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0.000008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cubic term is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×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10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negligible; the approximation is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4.04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the exact value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4.040008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also rounds to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4.04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Option (A).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$f(1.02)=4+2(0.02)+(0.02)^3=4.04+0.000008$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cubic term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$8\times10^{-6}$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negligible; the approximation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$4.04$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the exact value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$4.040008$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also rounds to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$4.04$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Option (A).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ounded Rectangle 5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(A) </a:t>
                </a:r>
                <a14:m>
                  <m:oMath xmlns:m="http://schemas.openxmlformats.org/officeDocument/2006/math"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4.04</m:t>
                    </m:r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6" name="Rounded Rectangle 5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(A)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$4.04$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03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B6D7A8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1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Every cubic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has its inflection point 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𝑝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shifting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𝑝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removes the square term: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𝑄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symmetric about the inflection point: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Linear approximation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≈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Δ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has error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≈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″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Δ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at an inflection point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″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the approximation is unusually accurate (error only of order </a:t>
                </a:r>
                <a14:m>
                  <m:oMath xmlns:m="http://schemas.openxmlformats.org/officeDocument/2006/math"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Δ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 point of inflection needs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″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to change sign, not just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″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check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(no inflection 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 against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Every cubic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$x^3+px^2+qx+r$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has its inflection point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$x=-\frac{p}{3}$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shifting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$x=-\frac{p}{3}+t$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removes the square term: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$f=t^3+Pt+Q$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symmetric about the inflection point: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$f(a+t)+f(a-t)=2f(a)$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Linear approximation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$f(a+\Delta)\approx f(a)+f'(a)\Delta$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has error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$\approx\frac12f''(a)\Delta^2$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at an inflection point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$f''(a)=0$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the approximation is unusually accurate (error only of order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$\Delta^3$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 point of inflection needs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$f''$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to change sign, not just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$f''(a)=0$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check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$x^4$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(no inflection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 against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$x^3$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04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4493260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:</m:t>
                    </m:r>
                    <m:r>
                      <m:rPr>
                        <m:scr m:val="double-struck"/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R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m:rPr>
                        <m:scr m:val="double-struck"/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R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 a continuous function satisfying the functional equation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 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∀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m:rPr>
                        <m:scr m:val="double-struck"/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R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Consider two functions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:</m:t>
                    </m:r>
                    <m:r>
                      <m:rPr>
                        <m:scr m:val="double-struck"/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R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m:rPr>
                        <m:scr m:val="double-struck"/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R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defined by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max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{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min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{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Which of the following statements is CORRECT?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non-differentiable 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points in </a:t>
                </a:r>
                <a14:m>
                  <m:oMath xmlns:m="http://schemas.openxmlformats.org/officeDocument/2006/math">
                    <m:r>
                      <m:rPr>
                        <m:scr m:val="double-struck"/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R</m:t>
                    </m:r>
                  </m:oMath>
                </a14:m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(B)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non-differentiable at only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point in </a:t>
                </a:r>
                <a14:m>
                  <m:oMath xmlns:m="http://schemas.openxmlformats.org/officeDocument/2006/math">
                    <m:r>
                      <m:rPr>
                        <m:scr m:val="double-struck"/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R</m:t>
                    </m:r>
                  </m:oMath>
                </a14:m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(C)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discontinuous 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(D) The total number of distinct points in </a:t>
                </a:r>
                <a14:m>
                  <m:oMath xmlns:m="http://schemas.openxmlformats.org/officeDocument/2006/math">
                    <m:r>
                      <m:rPr>
                        <m:scr m:val="double-struck"/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R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where at least one of the functions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ℎ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non-differentiable is equal to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4493260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$f:\mathbb{R}\to\mathbb{R}$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 a continuous function satisfying the functional equation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$f(x+y)=f(x)+f(y)+2xy\ \ \forall x,y\in\mathbb{R}$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$f'(0)=1$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Consider two functions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$g,h:\mathbb{R}\to\mathbb{R}$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defined by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$g(x)=\max\{f(x),f(-x),|x|\}$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$h(x)=\min\{f(x),f(-x),|x|\}$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Which of the following statements is CORRECT?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$g(x)$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non-differentiable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points in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$\mathbb{R}$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(B)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$h(x)$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non-differentiable at only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point in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$\mathbb{R}$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(C)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$h(x)$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discontinuous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$x=0$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(D) The total number of distinct points in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$\mathbb{R}$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where at least one of the functions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$g$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$h$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non-differentiable is equal to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$3$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04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280160"/>
                <a:ext cx="10725912" cy="1975103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Single Correct Type(4 Marks)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Concept(s) : Functional equation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Differentiability of maximum and minimum of functions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Difficulty Level: Level 3(Average JEE Advanced Level)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280160"/>
                <a:ext cx="10725912" cy="1975103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Single Correct Type(4 Marks)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Concept(s) : Functional equation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$f(x+y)=f(x)+f(y)+2xy$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Differentiability of maximum and minimum of functions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Difficulty Level: Level 3(Average JEE Advanced Level)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3438144"/>
                <a:ext cx="10725912" cy="14813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The equation forces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; compare the three branches, and kinks occur only where branches with different slopes cross.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3438144"/>
                <a:ext cx="10725912" cy="14813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The equation forces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$f(x)=x^2+x$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; compare the three branches, and kinks occur only where branches with different slopes cross.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5056632"/>
                <a:ext cx="10725912" cy="1618487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From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differentiate partially with respect to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Put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5056632"/>
                <a:ext cx="10725912" cy="1618487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From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$f(x+y)=f(x)+f(y)+2xy$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differentiate partially with respect to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$f'(x+y)=f'(x)+2y$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Put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$f'(y)=f'(0)+2y=1+2y$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$f'(x)=2x+1$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04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Integrating,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Since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(put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in the equation),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Thus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max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{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 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 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≥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Thus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which is continuous everywhere and non-differentiable only 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(1 point).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min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{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 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 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}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{"/>
                        <m:sepChr m:val=""/>
                        <m:endChr m:val="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baseJc m:val="center"/>
                            <m:plcHide m:val="on"/>
                            <m:mcs>
                              <m:mc>
                                <m:mcPr>
                                  <m:count m:val="1"/>
                                  <m:mcJc m:val="left"/>
                                </m:mcPr>
                              </m:mc>
                              <m:mc>
                                <m:mcPr>
                                  <m:count m:val="1"/>
                                  <m:mcJc m:val="left"/>
                                </m:mcPr>
                              </m:mc>
                            </m:mcs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&lt;</m:t>
                              </m:r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e>
                          </m:mr>
                          <m:mr>
                            <m:e>
                              <m:sSup>
                                <m:e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p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</m:e>
                            <m:e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≤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&lt;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</m:mr>
                          <m:mr>
                            <m:e>
                              <m:sSup>
                                <m:e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p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≤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≤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e>
                          </m:m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&gt;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e>
                          </m:mr>
                        </m:m>
                      </m:e>
                    </m:d>
                  </m:oMath>
                </a14:m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continuous everywhere, but testing the left and right derivatives shows it is non-differentiable 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(3 points).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Integrating,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$f(x)=x^2+x+C$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Since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$f(0)=0$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(put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$x=y=0$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in the equation),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Thus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$f(x)=x^2+x$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$f(-x)=x^2-x$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$g(x)=\max\{x^2+x,\ x^2-x,\ |x|\}$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$x\ge0$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$x^2+x\ge x^2-x$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$x^2+x\ge|x|$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$g(x)=x^2+x$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$x&lt;0$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$x^2-x&gt;x^2+x$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$x^2-x\ge|x|=-x$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$g(x)=x^2-x$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Thus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$g(x)=x^2+|x|$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which is continuous everywhere and non-differentiable only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(1 point).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$h(x)=\min\{x^2+x,\ x^2-x,\ |x|\}=\begin{cases}-x,&amp;x&lt;-2\\x^2+x,&amp;-2\le x&lt;0\\x^2-x,&amp;0\le x\le2\\x,&amp;x&gt;2\end{cases}$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$h(x)$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continuous everywhere, but testing the left and right derivatives shows it is non-differentiable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$x=-2,0,2$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(3 points).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04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non-differentiable set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{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ℎ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{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∪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{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has exactly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elements. Hence (D) is correct ((A), (B), (C) are false).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non-differentiable set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$g$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$S_1=\{0\}$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$h$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$S_2=\{-2,0,2\}$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$S_1\cup S_2=\{-2,0,2\}$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has exactly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elements. Hence (D) is correct ((A), (B), (C) are false).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(D) The total number of distinct points where at least one of </a:t>
                </a:r>
                <a14:m>
                  <m:oMath xmlns:m="http://schemas.openxmlformats.org/officeDocument/2006/math"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ℎ</m:t>
                    </m:r>
                  </m:oMath>
                </a14:m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 is non-differentiable is </a:t>
                </a:r>
                <a14:m>
                  <m:oMath xmlns:m="http://schemas.openxmlformats.org/officeDocument/2006/math"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(D) The total number of distinct points where at least one of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$g,h$</a:t>
                </a: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 is non-differentiable is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$3$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04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4813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Subtract the common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from all three branches: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max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{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min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{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so only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|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-type kinks matter.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4813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Subtract the common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$x^2$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from all three branches: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$g=x^2+\max\{x,-x,|x|-x^2\}$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$h=x^2+\min\{x,-x,|x|-x^2\}$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so only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$|x|$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-type kinks matter.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2898648"/>
                <a:ext cx="10725912" cy="377647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max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{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min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{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Adding or subtracting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does not change differentiability.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max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{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}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non-differentiable only 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min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{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}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Compare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2898648"/>
                <a:ext cx="10725912" cy="377647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$f(x)=x^2+x$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$g(x)-x^2=\max\{x,\,-x,\,|x|-x^2\}$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$h(x)-x^2=\min\{x,\,-x,\,|x|-x^2\}$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Adding or subtracting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does not change differentiability.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$\max\{x,-x\}=|x|$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$|x|-x^2\le|x|$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$g(x)-x^2=|x|$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$g=x^2+|x|$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non-differentiable only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$\min\{x,-x\}=-|x|$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Compare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$-|x|$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$|x|-x^2$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$|x|-x^2\le-|x|\iff|x|(2-|x|)\le0\iff|x|\ge2$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04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outside.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Kinks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ℎ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(from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 and at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where the slopes switch from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 to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(and symmetrically at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ℎ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non-differentiable at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union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{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}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∪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{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points. Option (D) is correct.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$h(x)-x^2=-|x|$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$|x|\le2$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$|x|-x^2$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$|x|\ge2$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$h=x^2-|x|$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$[-2,2]$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$h=|x|$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outside.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Kinks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$h$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(from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$-|x|$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 and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$|x|=2$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where the slopes switch from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$2x-1=3$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 to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(and symmetrically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$-2$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$h$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non-differentiable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$-2,0,2$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union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$\{0\}\cup\{-2,0,2\}$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points. Option (D) is correct.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ounded Rectangle 5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(D) The total number of distinct points where at least one of </a:t>
                </a:r>
                <a14:m>
                  <m:oMath xmlns:m="http://schemas.openxmlformats.org/officeDocument/2006/math"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ℎ</m:t>
                    </m:r>
                  </m:oMath>
                </a14:m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 is non-differentiable is </a:t>
                </a:r>
                <a14:m>
                  <m:oMath xmlns:m="http://schemas.openxmlformats.org/officeDocument/2006/math"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6" name="Rounded Rectangle 5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(D) The total number of distinct points where at least one of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$g,h$</a:t>
                </a: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 is non-differentiable is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$3$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04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differentiable gives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): subtract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the equation becomes Cauchy's equation. Quick check: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additive.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max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{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}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min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{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}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a max/min of smooth functions can fail to be differentiable only where two of its branches cross with different slopes.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$f(x+y)=f(x)+f(y)+2xy$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differentiable gives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$f(x)=x^2+cx$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$c=f'(0)$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): subtract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the equation becomes Cauchy's equation. Quick check: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$f(x)-x^2$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additive.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$\max\{a,b\}=\frac{a+b+|a-b|}{2}$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$\min\{a,b\}=\frac{a+b-|a-b|}{2}$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a max/min of smooth functions can fail to be differentiable only where two of its branches cross with different slopes.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04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 kink of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max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/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min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at a crossing point is present iff the slopes of the two crossing branches differ; adding a common smooth function to every branch changes neither the crossing points nor the existence of kinks.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Number of non-differentiable points of a union is the size of the union of the sets, not the sum (here the point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common to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ℎ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 kink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$\max/\min$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at a crossing point is present iff the slopes of the two crossing branches differ; adding a common smooth function to every branch changes neither the crossing points nor the existence of kinks.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Number of non-differentiable points of a union is the size of the union of the sets, not the sum (here the point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common to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$g$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$h$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463040"/>
            <a:ext cx="10362895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lvl1pPr>
              <a:defRPr sz="2800">
                <a:solidFill>
                  <a:srgbClr val="FFFFFF"/>
                </a:solidFill>
              </a:defRPr>
            </a:lvl1pPr>
          </a:lstStyle>
          <a:p>
            <a:pPr algn="ctr">
              <a:spcAft>
                <a:spcPts val="1000"/>
              </a:spcAft>
              <a:defRPr sz="2800">
                <a:solidFill>
                  <a:srgbClr val="FFFFFF"/>
                </a:solidFill>
              </a:defRPr>
            </a:pPr>
            <a:r>
              <a:rPr sz="2800" b="0">
                <a:solidFill>
                  <a:srgbClr val="93C5FD"/>
                </a:solidFill>
                <a:latin typeface="Arial"/>
              </a:rPr>
              <a:t>Section 2</a:t>
            </a:r>
            <a:endParaRPr sz="2800">
              <a:solidFill>
                <a:srgbClr val="FFFFFF"/>
              </a:solidFill>
            </a:endParaRPr>
          </a:p>
          <a:p>
            <a:pPr algn="ctr">
              <a:spcAft>
                <a:spcPts val="1000"/>
              </a:spcAft>
              <a:defRPr sz="2800">
                <a:solidFill>
                  <a:srgbClr val="FFFFFF"/>
                </a:solidFill>
              </a:defRPr>
            </a:pPr>
            <a:r>
              <a:rPr sz="4400" b="1">
                <a:solidFill>
                  <a:srgbClr val="FFFFFF"/>
                </a:solidFill>
                <a:latin typeface="Arial"/>
              </a:rPr>
              <a:t>One or more than one Correct Type</a:t>
            </a:r>
            <a:endParaRPr sz="2800">
              <a:solidFill>
                <a:srgbClr val="FFFFFF"/>
              </a:solidFill>
            </a:endParaRPr>
          </a:p>
          <a:p>
            <a:pPr algn="ctr">
              <a:spcAft>
                <a:spcPts val="1000"/>
              </a:spcAft>
              <a:defRPr sz="28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Q05 – Q08</a:t>
            </a:r>
            <a:endParaRPr sz="2800">
              <a:solidFill>
                <a:srgbClr val="FFFFFF"/>
              </a:solidFill>
            </a:endParaRPr>
          </a:p>
          <a:p>
            <a:pPr algn="ctr">
              <a:spcAft>
                <a:spcPts val="1000"/>
              </a:spcAft>
              <a:defRPr sz="2800">
                <a:solidFill>
                  <a:srgbClr val="FFFFFF"/>
                </a:solidFill>
              </a:defRPr>
            </a:pPr>
            <a:r>
              <a:rPr sz="2800" b="0">
                <a:solidFill>
                  <a:srgbClr val="FFFFFF"/>
                </a:solidFill>
                <a:latin typeface="Arial"/>
              </a:rPr>
              <a:t>Marks not printed in the paper: JEE Advanced default of 4 per question assumed</a:t>
            </a:r>
            <a:endParaRPr sz="2800">
              <a:solidFill>
                <a:srgbClr val="FFFFFF"/>
              </a:solidFill>
            </a:endParaRP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05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2.5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3859276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Consider the function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:</m:t>
                    </m:r>
                    <m:r>
                      <m:rPr>
                        <m:scr m:val="double-struck"/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R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m:rPr>
                        <m:scr m:val="double-struck"/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R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defined by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{"/>
                        <m:sepChr m:val=""/>
                        <m:endChr m:val="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baseJc m:val="center"/>
                            <m:plcHide m:val="on"/>
                            <m:mcs>
                              <m:mc>
                                <m:mcPr>
                                  <m:count m:val="1"/>
                                  <m:mcJc m:val="left"/>
                                </m:mcPr>
                              </m:mc>
                              <m:mc>
                                <m:mcPr>
                                  <m:count m:val="1"/>
                                  <m:mcJc m:val="left"/>
                                </m:mcPr>
                              </m:mc>
                            </m:mcs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sin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</m:e>
                            <m:e>
                              <m:r>
                                <m:rPr>
                                  <m:nor/>
                                </m:rP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𝑖𝑓 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≤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</m:m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</m:e>
                            <m:e>
                              <m:r>
                                <m:rPr>
                                  <m:nor/>
                                </m:rP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𝑖𝑓 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&gt;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</m:mr>
                        </m:m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where for each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the unique real solution to the equation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Which of the following statements is/are CORRECT?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continuous and differentiable 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(B)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(C)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</m:oMath>
                </a14:m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(D)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″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all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3859276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Consider the function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$f:\mathbb{R}\to\mathbb{R}$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defined by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$f(x)=\begin{cases}2x-\sin x,&amp;\text{if }x\le0\\y,&amp;\text{if }x&gt;0\end{cases}$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where for each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$x&gt;0$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the unique real solution to the equation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$y^3+y=x$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Which of the following statements is/are CORRECT?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$f(x)$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continuous and differentiable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$x=0$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(B)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$f'(0)=1$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(C)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$f'(2)=\frac{1}{4}$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(D)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$f''(x)&gt;0$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all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$x&gt;0$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05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2.5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731520" y="1280160"/>
            <a:ext cx="10725912" cy="2194560"/>
          </a:xfrm>
          <a:prstGeom prst="rect">
            <a:avLst/>
          </a:prstGeom>
          <a:solidFill>
            <a:srgbClr val="FFFFFF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t" wrap="square" lIns="228600" rIns="228600" tIns="137160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One or more than one Correct Type(4 Marks)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Concept(s) : Differentiability of piecewise-defined functions, Implicit differentiation and concavity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Difficulty Level: Level 2.5(A little easier than Average JEE Advanced Level)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3657600"/>
                <a:ext cx="10725912" cy="1219200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differentiate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implicitly: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→</m:t>
                    </m:r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3657600"/>
                <a:ext cx="10725912" cy="1219200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For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$x&gt;0$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differentiate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$y^3+y=x$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implicitly: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$f'(x)=\frac{1}{3y^2+1}$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with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$y\to0$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as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$x\to0^+$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5013960"/>
                <a:ext cx="10725912" cy="1661159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sSub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lim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→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0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</m:sup>
                        </m:sSup>
                      </m:sub>
                    </m:sSub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lim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→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0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</m:sup>
                        </m:sSup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5013960"/>
                <a:ext cx="10725912" cy="1661159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$x\le0$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$f(0)=0$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$\lim_{x\to0^-}f(x)=0$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$f'(0^-)=\lim_{x\to0^-}(2-\cos x)=1$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05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2.5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satisfies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As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sSub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lim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→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0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</m:sup>
                        </m:sSup>
                      </m:sub>
                    </m:sSub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Thus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continuous 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Differentiating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implicitly: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⇒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hence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Since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differentiable 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So statements (A) and (B) are correct.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Therefore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(C) is correct.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$x&gt;0$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$y=f(x)$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satisfies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$y^3+y=x$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As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$x\to0^+$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$y\to0$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$\lim_{x\to0^+}f(x)=0=f(0)$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Thus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continuous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Differentiating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$y^3+y=x$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implicitly: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$3y^2\frac{dy}{dx}+\frac{dy}{dx}=1\Rightarrow f'(x)=\frac{dy}{dx}=\frac{1}{3y^2+1}$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$x\to0^+$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$y\to0$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hence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$f'(0^+)=\frac{1}{3(0)^2+1}=1$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Since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$f'(0^-)=f'(0^+)=1$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differentiable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$f'(0)=1$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So statements (A) and (B) are correct.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$y^3+y=2\Rightarrow y=1$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Therefore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$f'(2)=\frac{1}{3(1)^2+1}=\frac14$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(C) is correct.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05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2.5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Differentiating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again: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″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num>
                      <m:den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sup>
                        </m:sSup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we have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which implies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″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So statement (D) is incorrect. Answer: (A), (B), (C).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Differentiating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$f'(x)=(3y^2+1)^{-1}$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again: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$f''(x)=-(3y^2+1)^{-2}\cdot6y\frac{dy}{dx}=\frac{-6y}{(3y^2+1)^3}$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$x&gt;0$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we have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$y&gt;0$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which implies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$f''(x)&lt;0$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So statement (D) is incorrect. Answer: (A), (B), (C).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ounded Rectangle 4"/>
          <p:cNvSpPr/>
          <p:nvPr/>
        </p:nvSpPr>
        <p:spPr>
          <a:xfrm>
            <a:off x="731520" y="58978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254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5803D"/>
          </a:fontRef>
        </p:style>
        <p:txBody>
          <a:bodyPr rtlCol="0" anchor="ctr" wrap="square" lIns="228600" rIns="228600" tIns="18288" bIns="73152"/>
          <a:lstStyle>
            <a:lvl1pPr>
              <a:defRPr sz="2800">
                <a:solidFill>
                  <a:srgbClr val="15803D"/>
                </a:solidFill>
              </a:defRPr>
            </a:lvl1pPr>
          </a:lstStyle>
          <a:p>
            <a:pPr algn="ctr">
              <a:defRPr sz="2800">
                <a:solidFill>
                  <a:srgbClr val="15803D"/>
                </a:solidFill>
              </a:defRPr>
            </a:pPr>
            <a:r>
              <a:rPr sz="2800" b="1">
                <a:solidFill>
                  <a:srgbClr val="15803D"/>
                </a:solidFill>
                <a:latin typeface="Arial"/>
              </a:rPr>
              <a:t>Correct Answer: (A, B, C)</a:t>
            </a:r>
            <a:endParaRPr sz="2800">
              <a:solidFill>
                <a:srgbClr val="15803D"/>
              </a:solidFill>
            </a:endParaRP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05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2.5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4813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𝑓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is the inverse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φ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: use the inverse-function theorem and the fact that the inverse of an increasing convex function is concave.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4813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For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$x&gt;0$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$f$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is the inverse of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$\varphi(y)=y^3+y$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: use the inverse-function theorem and the fact that the inverse of an increasing convex function is concave.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2898648"/>
                <a:ext cx="10725912" cy="377647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φ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strictly increasing with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φ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φ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φ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continuous 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φ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′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by the inverse-function theorem;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lim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→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0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</m:sup>
                        </m:sSup>
                      </m:sub>
                    </m:sSub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differentiable 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(A) and (B).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φ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φ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′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(C).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2898648"/>
                <a:ext cx="10725912" cy="377647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$\varphi(y)=y^3+y$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strictly increasing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$\varphi'(y)=3y^2+1\ge1$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$\varphi(0)=0$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$x&gt;0$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$f(x)=\varphi^{-1}(x)$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$f(x)\to0$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$x\to0^+$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continuous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$f'(0^+)=\frac{1}{\varphi'(0)}=1$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by the inverse-function theorem;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$f'(0^-)=\lim_{x\to0^-}\frac{2x-\sin x}{x}=2-1=1$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differentiable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$f'(0)=1$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(A) and (B).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$\varphi(1)=2$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$f(2)=1$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$f'(2)=\frac{1}{\varphi'(1)}=\frac14$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(C).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05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2.5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On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φ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increasing and convex (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φ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″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); the inverse of an increasing convex function is concave, so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″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(D) is false.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Answer: (A), (B), (C).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$y&gt;0$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$\varphi$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increasing and convex (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$\varphi''=6y&gt;0$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); the inverse of an increasing convex function is concave,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$f''&lt;0$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$x&gt;0$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(D) is false.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Answer: (A), (B), (C).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6" name="Rounded Rectangle 5"/>
          <p:cNvSpPr/>
          <p:nvPr/>
        </p:nvSpPr>
        <p:spPr>
          <a:xfrm>
            <a:off x="731520" y="58978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254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5803D"/>
          </a:fontRef>
        </p:style>
        <p:txBody>
          <a:bodyPr rtlCol="0" anchor="ctr" wrap="square" lIns="228600" rIns="228600" tIns="18288" bIns="73152"/>
          <a:lstStyle>
            <a:lvl1pPr>
              <a:defRPr sz="2800">
                <a:solidFill>
                  <a:srgbClr val="15803D"/>
                </a:solidFill>
              </a:defRPr>
            </a:lvl1pPr>
          </a:lstStyle>
          <a:p>
            <a:pPr algn="ctr">
              <a:defRPr sz="2800">
                <a:solidFill>
                  <a:srgbClr val="15803D"/>
                </a:solidFill>
              </a:defRPr>
            </a:pPr>
            <a:r>
              <a:rPr sz="2800" b="1">
                <a:solidFill>
                  <a:srgbClr val="15803D"/>
                </a:solidFill>
                <a:latin typeface="Arial"/>
              </a:rPr>
              <a:t>Same answer: (A, B, C)</a:t>
            </a:r>
            <a:endParaRPr sz="2800">
              <a:solidFill>
                <a:srgbClr val="15803D"/>
              </a:solidFill>
            </a:endParaRP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05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2.5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At a joining point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differentiable iff it is continuous and the one-sided derivatives agree; when the derivative has a limit from each side, that limit equals the one-sided derivative (for continuous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Inverse functions: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φ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′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𝑓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″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φ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″</m:t>
                            </m:r>
                          </m:sup>
                        </m:sSup>
                      </m:num>
                      <m:den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φ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′</m:t>
                            </m:r>
                          </m:sup>
                        </m:sSup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sup>
                        </m:sSup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(here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num>
                      <m:den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sup>
                        </m:sSup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Reflection in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keeps an increasing branch increasing but turns convex into concave: for increasing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φ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φ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″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φ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″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φ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″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φ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″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has derivative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it is strictly increasing with slope exactly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the two pieces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meet with a common tangent.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At a joining point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differentiable iff it is continuous and the one-sided derivatives agree; when the derivative has a limit from each side, that limit equals the one-sided derivative (for continuous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Inverse functions: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$(f^{-1})'(x)=\frac{1}{\varphi'(f^{-1}(x))}$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$(f^{-1})''=-\frac{\varphi''}{(\varphi')^3}$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$y=f^{-1}(x)$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(here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$-\frac{6y}{(3y^2+1)^3}$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Reflection in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keeps an increasing branch increasing but turns convex into concave: for increasing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$\varphi$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$\varphi''&gt;0$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$(\varphi^{-1})''&lt;0$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$\varphi''&lt;0$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$(\varphi^{-1})''&gt;0$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$2x-\sin 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has derivative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$2-\cos x\in[1,3]$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it is strictly increasing with slope exactly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the two pieces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meet with a common tangent.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06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925063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Consider the curves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: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 and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: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 Let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denote the minimum distance between the curves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Further, for a fixed point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let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denote the minimum distance from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to the curve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Which of the following statements is/are CORRECT?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7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(B)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7</m:t>
                        </m:r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</m:rad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(C)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e>
                        </m:rad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(D)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925063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Consider the curves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$C_1:y=x^2+2$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$x\ge0$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$C_2:y=\sqrt{x-2}$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$x\ge2$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 Let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$d_1$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denote the minimum distance between the curves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$C_1$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$C_2$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Further, for a fixed point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$P(0,3)$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let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$d_2$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denote the minimum distance from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to the curve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$C_1$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Which of the following statements is/are CORRECT?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$d_1=\frac{7}{2}$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(B)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$d_1=\frac{7\sqrt2}{4}$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(C)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$d_2=\frac{\sqrt3}{2}$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(D)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$d_2=1$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ectangle 4"/>
          <p:cNvSpPr/>
          <p:nvPr/>
        </p:nvSpPr>
        <p:spPr>
          <a:xfrm>
            <a:off x="731520" y="4433823"/>
            <a:ext cx="10725912" cy="1975103"/>
          </a:xfrm>
          <a:prstGeom prst="rect">
            <a:avLst/>
          </a:prstGeom>
          <a:solidFill>
            <a:srgbClr val="FFFFFF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t" wrap="square" lIns="228600" rIns="228600" tIns="137160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One or more than one Correct Type(4 Marks)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Concept(s) : Minimum distance between two curves and from a point to a curve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Difficulty Level: Level 3(Average JEE Advanced Level)</a:t>
            </a:r>
            <a:endParaRPr sz="2400">
              <a:solidFill>
                <a:srgbClr val="111827"/>
              </a:solidFill>
            </a:endParaRP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06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are inverse curves (mirror images in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), so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</m:e>
                      <m:sub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is twice the minimum distance from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to the line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$C_1$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$C_2$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are inverse curves (mirror images in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$y=x$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), so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$d_1$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is twice the minimum distance from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$C_1$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to the line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$y=x$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: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: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are inverse functions of each other, so they are symmetric about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minimum distance between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twice the minimum distance from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to the line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 tangent parallel to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satisfies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giving the point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𝑄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9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den>
                        </m:f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$C_1:y=x^2+2$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$(x\ge0)$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$C_2:y=\sqrt{x-2}$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$(x\ge2)$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are inverse functions of each other, so they are symmetric about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minimum distance between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$C_1$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$C_2$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twice the minimum distance from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$C_1$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to the line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$C_1$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 tangent parallel to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satisfies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$\frac{dy}{dx}=2x=1\Rightarrow x=\frac12$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giving the point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$Q\left(\frac12,\frac94\right)$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06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Perpendicular distance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𝑄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from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d>
                          <m:dPr>
                            <m:begChr m:val="|"/>
                            <m:sepChr m:val=""/>
                            <m:endChr m:val="|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type m:val="bar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num>
                              <m:den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den>
                            </m:f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f>
                              <m:fPr>
                                <m:type m:val="bar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9</m:t>
                                </m:r>
                              </m:num>
                              <m:den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4</m:t>
                                </m:r>
                              </m:den>
                            </m:f>
                          </m:e>
                        </m:d>
                      </m:num>
                      <m:den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  <m:sSup>
                              <m:e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e>
                        </m:rad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7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</m:rad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7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</m:rad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Thus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7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</m:rad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7</m:t>
                        </m:r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</m:rad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Hence (B) is correct and (A) is incorrect.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a point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on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 square of the distance is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𝑆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Perpendicular distance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$Q$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from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$x-y=0$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$d=\frac{\left|\frac12-\frac94\right|}{\sqrt{1^2+(-1)^2}}=\frac{7/4}{\sqrt2}=\frac{7}{4\sqrt2}$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Thus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$d_1=2d=\frac{7}{2\sqrt2}=\frac{7\sqrt2}{4}$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Hence (B) is correct and (A) is incorrect.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$P(0,3)$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a point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$(x,x^2+2)$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$C_1$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 square of the distance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$S(x)=(x-0)^2+(x^2+2-3)^2=x^4-x^2+1$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06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</m:rad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(since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𝑆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𝑆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ad>
                              <m:radPr>
                                <m:degHide m:val="on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radPr>
                              <m:deg/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e>
                            </m:rad>
                          </m:den>
                        </m:f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The absolute minimum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𝑆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</m:rad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den>
                        </m:f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e>
                        </m:rad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Hence (C) is correct and (D) is incorrect.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$S'(x)=4x^3-2x=2x(2x^2-1)$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$S'(x)=0$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$x=\frac{1}{\sqrt2}$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(since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$x\ge0$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$S(0)=1$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$S\left(\frac{1}{\sqrt2}\right)=\frac14-\frac12+1=\frac34$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The absolute minimum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$S$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$x=\frac{1}{\sqrt2}$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$d_2=\sqrt{\frac34}=\frac{\sqrt3}{2}$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Hence (C) is correct and (D) is incorrect.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ounded Rectangle 4"/>
          <p:cNvSpPr/>
          <p:nvPr/>
        </p:nvSpPr>
        <p:spPr>
          <a:xfrm>
            <a:off x="731520" y="58978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254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5803D"/>
          </a:fontRef>
        </p:style>
        <p:txBody>
          <a:bodyPr rtlCol="0" anchor="ctr" wrap="square" lIns="228600" rIns="228600" tIns="18288" bIns="73152"/>
          <a:lstStyle>
            <a:lvl1pPr>
              <a:defRPr sz="2800">
                <a:solidFill>
                  <a:srgbClr val="15803D"/>
                </a:solidFill>
              </a:defRPr>
            </a:lvl1pPr>
          </a:lstStyle>
          <a:p>
            <a:pPr algn="ctr">
              <a:defRPr sz="2800">
                <a:solidFill>
                  <a:srgbClr val="15803D"/>
                </a:solidFill>
              </a:defRPr>
            </a:pPr>
            <a:r>
              <a:rPr sz="2800" b="1">
                <a:solidFill>
                  <a:srgbClr val="15803D"/>
                </a:solidFill>
                <a:latin typeface="Arial"/>
              </a:rPr>
              <a:t>Correct Answer: (B, C)</a:t>
            </a:r>
            <a:endParaRPr sz="2800">
              <a:solidFill>
                <a:srgbClr val="15803D"/>
              </a:solidFill>
            </a:endParaRP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06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p:sp>
        <p:nvSpPr>
          <p:cNvPr id="5" name="Rounded Rectangle 4"/>
          <p:cNvSpPr/>
          <p:nvPr/>
        </p:nvSpPr>
        <p:spPr>
          <a:xfrm>
            <a:off x="731520" y="1280160"/>
            <a:ext cx="10725912" cy="1481328"/>
          </a:xfrm>
          <a:prstGeom prst="roundRect">
            <a:avLst>
              <a:gd name="adj" fmla="val 8000"/>
            </a:avLst>
          </a:prstGeom>
          <a:solidFill>
            <a:srgbClr val="FDE68A"/>
          </a:solidFill>
          <a:ln w="3175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54864" bIns="73152"/>
          <a:lstStyle>
            <a:lvl1pPr>
              <a:defRPr sz="2400">
                <a:solidFill>
                  <a:srgbClr val="78350F"/>
                </a:solidFill>
              </a:defRPr>
            </a:lvl1pPr>
          </a:lstStyle>
          <a:p>
            <a:pPr algn="l">
              <a:defRPr sz="2400">
                <a:solidFill>
                  <a:srgbClr val="78350F"/>
                </a:solidFill>
              </a:defRPr>
            </a:pPr>
            <a:r>
              <a:rPr sz="2400" b="1">
                <a:solidFill>
                  <a:srgbClr val="78350F"/>
                </a:solidFill>
                <a:latin typeface="Arial"/>
              </a:rPr>
              <a:t>Idea:  </a:t>
            </a:r>
            <a:r>
              <a:rPr sz="2400" b="0">
                <a:solidFill>
                  <a:srgbClr val="78350F"/>
                </a:solidFill>
                <a:latin typeface="Arial"/>
              </a:rPr>
              <a:t>Complete the square: both distances become minima of a perfect square plus a constant, so no derivative and no mirror argument beyond the sign of the two sides is needed.</a:t>
            </a:r>
            <a:endParaRPr sz="24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2898648"/>
                <a:ext cx="10725912" cy="377647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Point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of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 has distance from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equal to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</m:rad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d>
                              <m:dPr>
                                <m:begChr m:val="("/>
                                <m:sepChr m:val=""/>
                                <m:endChr m:val=")"/>
                                <m:grow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f>
                                  <m:fPr>
                                    <m:type m:val="bar"/>
                                    <m:ctrlP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num>
                                  <m:den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den>
                                </m:f>
                              </m:e>
                            </m:d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7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den>
                        </m:f>
                      </m:num>
                      <m:den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</m:rad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≥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7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</m:rad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with equality 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allowed).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lies above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(its mirror image) lies below it, so any segment joining them crosses the line: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𝑅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𝐿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𝑅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𝐿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7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</m:rad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2898648"/>
                <a:ext cx="10725912" cy="377647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Point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$(x,x^2+2)$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$C_1$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$x\ge0$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 has distance from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equal to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$\frac{(x^2+2)-x}{\sqrt2}=\frac{\left(x-\frac12\right)^2+\frac74}{\sqrt2}\ge\frac{7}{4\sqrt2}$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with equality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$x=\frac12$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$\ge0$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allowed).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$C_1$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lies above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$C_2$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(its mirror image) lies below it, so any segment joining them crosses the line: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$PR\ge d(P,L)+d(R,L)\ge2\cdot\frac{7}{4\sqrt2}$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06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Equality is attained 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9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den>
                        </m:f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its mirror image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𝑅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9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∈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(as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9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), so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7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</m:rad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7</m:t>
                        </m:r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</m:rad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(B) true, (A) false.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𝑆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f>
                              <m:fPr>
                                <m:type m:val="bar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num>
                              <m:den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den>
                            </m:f>
                          </m:e>
                        </m:d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≥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equality at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</m:rad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So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e>
                        </m:rad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(C) true, (D) false.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Answer: (B), (C).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Equality is attained 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$P=\left(\frac12,\frac94\right)$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its mirror image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$R=\left(\frac94,\frac12\right)\in C_2$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(as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$\frac94\ge2$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$d_1=\frac{7}{2\sqrt2}=\frac{7\sqrt2}{4}$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(B) true, (A) false.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$S(x)=x^4-x^2+1=\left(x^2-\frac12\right)^2+\frac34\ge\frac34$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equality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$x^2=\frac12$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$x=\frac1{\sqrt2}\ge0$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$d_2=\frac{\sqrt3}{2}$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(C) true, (D) false.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Answer: (B), (C).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6" name="Rounded Rectangle 5"/>
          <p:cNvSpPr/>
          <p:nvPr/>
        </p:nvSpPr>
        <p:spPr>
          <a:xfrm>
            <a:off x="731520" y="58978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254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5803D"/>
          </a:fontRef>
        </p:style>
        <p:txBody>
          <a:bodyPr rtlCol="0" anchor="ctr" wrap="square" lIns="228600" rIns="228600" tIns="18288" bIns="73152"/>
          <a:lstStyle>
            <a:lvl1pPr>
              <a:defRPr sz="2800">
                <a:solidFill>
                  <a:srgbClr val="15803D"/>
                </a:solidFill>
              </a:defRPr>
            </a:lvl1pPr>
          </a:lstStyle>
          <a:p>
            <a:pPr algn="ctr">
              <a:defRPr sz="2800">
                <a:solidFill>
                  <a:srgbClr val="15803D"/>
                </a:solidFill>
              </a:defRPr>
            </a:pPr>
            <a:r>
              <a:rPr sz="2800" b="1">
                <a:solidFill>
                  <a:srgbClr val="15803D"/>
                </a:solidFill>
                <a:latin typeface="Arial"/>
              </a:rPr>
              <a:t>Same answer: (B, C)</a:t>
            </a:r>
            <a:endParaRPr sz="2800">
              <a:solidFill>
                <a:srgbClr val="15803D"/>
              </a:solidFill>
            </a:endParaRP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06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its mirror image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in a line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𝐿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lie on opposite sides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𝐿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𝐿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Inverse functions are mirror images in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minimum distance from a point to a curve (or between two curves) is along a common normal: at the optimum the connecting segment is perpendicular to the tangent(s). Here the tangent of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𝑄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parallel to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its mirror image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$C'$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in a line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$L$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lie on opposite sides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$L$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$d(C,C')=2\,d(C,L)$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Inverse functions are mirror images in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minimum distance from a point to a curve (or between two curves) is along a common normal: at the optimum the connecting segment is perpendicular to the tangent(s). Here the tangent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$C_1$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$Q$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parallel to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06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Distance of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from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</m:rad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in absolute value; minimise by completing the square.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Squared distance from a point to a parabola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a quartic in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that is quadratic in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complete the square in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), checking that the minimiser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allowed by the domain.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Distance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$(x,\,ax^2+bx+c)$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from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$\frac{ax^2+(b-1)x+c}{\sqrt2}$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in absolute value; minimise by completing the square.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Squared distance from a point to a parabola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$y=x^2+2$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a quartic in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that is quadratic in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complete the square in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$x^4-x^2+1=(x^2-\frac12)^2+\frac34$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), checking that the minimiser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$x^2=\frac12$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allowed by the domain.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07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4932172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: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m:rPr>
                        <m:scr m:val="double-struck"/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R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 a function defined by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{"/>
                        <m:sepChr m:val=""/>
                        <m:endChr m:val="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baseJc m:val="center"/>
                            <m:plcHide m:val="on"/>
                            <m:mcs>
                              <m:mc>
                                <m:mcPr>
                                  <m:count m:val="1"/>
                                  <m:mcJc m:val="left"/>
                                </m:mcPr>
                              </m:mc>
                              <m:mc>
                                <m:mcPr>
                                  <m:count m:val="1"/>
                                  <m:mcJc m:val="left"/>
                                </m:mcPr>
                              </m:mc>
                            </m:mcs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f>
                                <m:fPr>
                                  <m:type m:val="bar"/>
                                  <m:ctrlP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m:rPr>
                                      <m:sty m:val="p"/>
                                    </m:rPr>
                                    <a:rPr lang="en-IN" sz="2400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ln</m:t>
                                  </m:r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num>
                                <m:den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  <m:r>
                                    <m:rPr>
                                      <m:sty m:val="p"/>
                                    </m:rPr>
                                    <a:rPr lang="en-IN" sz="2400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den>
                              </m:f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≠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</m:m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</m:mr>
                        </m:m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For any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\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{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let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𝐿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denote the tangent line to the curve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at the point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Let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denote the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-intercept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-intercept of the line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𝐿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respectively. Which of the following statement(s) is/are CORRECT?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(B) </a:t>
                </a:r>
                <a14:m>
                  <m:oMath xmlns:m="http://schemas.openxmlformats.org/officeDocument/2006/math">
                    <m:sSub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lim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(C) </a:t>
                </a:r>
                <a14:m>
                  <m:oMath xmlns:m="http://schemas.openxmlformats.org/officeDocument/2006/math">
                    <m:sSub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lim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(D) </a:t>
                </a:r>
                <a14:m>
                  <m:oMath xmlns:m="http://schemas.openxmlformats.org/officeDocument/2006/math">
                    <m:sSub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lim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num>
                      <m:den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</m:oMath>
                </a14:m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4932172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$f:(0,\infty)\to\mathbb{R}$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 a function defined by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$f(x)=\begin{cases}\frac{\ln x}{x-1},&amp;x\neq1\\1,&amp;x=1\end{cases}$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For any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$t\in(0,\infty)\setminus\{1\}$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let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$L_t$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denote the tangent line to the curve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$y=f(x)$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at the point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$(t,f(t))$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Let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$g(t)$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$h(t)$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denote the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-intercept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-intercept of the line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$L_t$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respectively. Which of the following statement(s) is/are CORRECT?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$f'(1)=-\frac12$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(B)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$\lim_{t\to1}g(t)=\frac32$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(C)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$\lim_{t\to1}h(t)=3$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(D)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$\lim_{x\to1}\frac{f(x)-1+\frac12(x-1)}{(x-1)^2}=\frac13$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07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731520" y="1280160"/>
            <a:ext cx="10725912" cy="1975103"/>
          </a:xfrm>
          <a:prstGeom prst="rect">
            <a:avLst/>
          </a:prstGeom>
          <a:solidFill>
            <a:srgbClr val="FFFFFF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t" wrap="square" lIns="228600" rIns="228600" tIns="137160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One or more than one Correct Type(4 Marks)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Concept(s) : Equation of a tangent and its intercepts, L'Hospital's rule and limits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Difficulty Level: Level 3(Average JEE Advanced Level)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3438144"/>
                <a:ext cx="10725912" cy="13289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Near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ln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⋯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; every limit is read from this expansion.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3438144"/>
                <a:ext cx="10725912" cy="13289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Near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$x=1$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$\frac{\ln x}{x-1}=1-\frac{x-1}{2}+\frac{(x-1)^2}{3}-\cdots$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; every limit is read from this expansion.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4904232"/>
                <a:ext cx="10725912" cy="1770887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By the definition of the derivative 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lim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lim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ln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4904232"/>
                <a:ext cx="10725912" cy="1770887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By the definition of the derivative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$f'(1)=\lim_{x\to1}\frac{f(x)-f(1)}{x-1}=\lim_{x\to1}\frac{\ln x-x+1}{(x-1)^2}$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07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This is of the form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by L'Hospital's rule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lim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lim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Hence (A) is correct.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tangent at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its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-intercept is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ln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ln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ln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ln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num>
                      <m:den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ln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this is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L'Hospital twice: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lim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ln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lim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𝑡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den>
                        </m:f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Hence (B) is correct.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-intercept (put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 is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𝑓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′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sSub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lim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lim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num>
                      <m:den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lim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𝑓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′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Hence (C) is correct.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This is of the form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$\frac00$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by L'Hospital's rule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$f'(1)=\lim_{x\to1}\frac{\frac1x-1}{2(x-1)}=\lim_{x\to1}\frac{1-x}{2x(x-1)}=-\frac12$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Hence (A) is correct.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tangent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$(t,f(t))$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$y-f(t)=f'(t)(x-t)$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its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-intercept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$g(t)=f(t)-tf'(t)$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$f(t)=\frac{\ln t}{t-1}$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$f'(t)=\frac{t-1-t\ln t}{t(t-1)^2}$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$g(t)=\frac{\ln t}{t-1}-\frac{t-1-t\ln t}{(t-1)^2}=\frac{(2t-1)\ln t-t+1}{(t-1)^2}$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$t\to1$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this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$\frac00$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L'Hospital twice: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$\lim\frac{2\ln t+\frac{2t-1}{t}-1}{2(t-1)}=\lim\frac{\frac2t+\frac1{t^2}}{2}=\frac32$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Hence (B) is correct.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-intercept (put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$h(t)=t-\frac{f(t)}{f'(t)}$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$\lim_{t\to1}h(t)=1-\frac{\lim f(t)}{\lim f'(t)}=1-\frac{1}{-1/2}=3$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Hence (C) is correct.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07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(D): </a:t>
                </a:r>
                <a14:m>
                  <m:oMath xmlns:m="http://schemas.openxmlformats.org/officeDocument/2006/math">
                    <m:sSub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lim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ln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num>
                      <m:den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lim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ln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sup>
                        </m:sSup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Applying L'Hospital's rule: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lim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lim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Hence (D) is correct. All of (A), (B), (C), (D) are correct.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(D):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$\lim_{x\to1}\frac{\frac{\ln x}{x-1}-1+\frac12(x-1)}{(x-1)^2}=\lim_{x\to1}\frac{\ln x-(x-1)+\frac12(x-1)^2}{(x-1)^3}$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Applying L'Hospital's rule: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$\lim\frac{\frac1x-1+(x-1)}{3(x-1)^2}=\lim\frac{(x-1)^2}{3x(x-1)^2}=\frac13$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Hence (D) is correct. All of (A), (B), (C), (D) are correct.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ounded Rectangle 4"/>
          <p:cNvSpPr/>
          <p:nvPr/>
        </p:nvSpPr>
        <p:spPr>
          <a:xfrm>
            <a:off x="731520" y="58978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254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5803D"/>
          </a:fontRef>
        </p:style>
        <p:txBody>
          <a:bodyPr rtlCol="0" anchor="ctr" wrap="square" lIns="228600" rIns="228600" tIns="18288" bIns="73152"/>
          <a:lstStyle>
            <a:lvl1pPr>
              <a:defRPr sz="2800">
                <a:solidFill>
                  <a:srgbClr val="15803D"/>
                </a:solidFill>
              </a:defRPr>
            </a:lvl1pPr>
          </a:lstStyle>
          <a:p>
            <a:pPr algn="ctr">
              <a:defRPr sz="2800">
                <a:solidFill>
                  <a:srgbClr val="15803D"/>
                </a:solidFill>
              </a:defRPr>
            </a:pPr>
            <a:r>
              <a:rPr sz="2800" b="1">
                <a:solidFill>
                  <a:srgbClr val="15803D"/>
                </a:solidFill>
                <a:latin typeface="Arial"/>
              </a:rPr>
              <a:t>Correct Answer: (A, B, C, D)</a:t>
            </a:r>
            <a:endParaRPr sz="2800">
              <a:solidFill>
                <a:srgbClr val="15803D"/>
              </a:solidFill>
            </a:endParaRP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07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591056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𝑓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is analytic 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(a power series in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𝑠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),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𝑓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are continuous there and the limits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ℎ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are just the values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𝑓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′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591056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$f$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is analytic at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$1$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(a power series in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$s=x-1$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), so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$f$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$f'$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are continuous there and the limits of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$g,h$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are just the values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$f(1)-f'(1)$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$1-\frac{f(1)}{f'(1)}$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3008375"/>
                <a:ext cx="10725912" cy="3666744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𝑠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ln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𝑠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𝑠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𝑠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𝑠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⋯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ln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𝑠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𝑠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𝑠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𝑠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⋯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(this also gives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the definition 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makes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smooth there).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Read off: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(coefficient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𝑠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): (A). And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𝑠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𝑠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𝑠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⋯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(D).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3008375"/>
                <a:ext cx="10725912" cy="3666744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$s=x-1$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$\ln x=s-\frac{s^2}{2}+\frac{s^3}{3}-\frac{s^4}{4}+\cdots$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$f(x)=\frac{\ln x}{s}=1-\frac s2+\frac{s^2}{3}-\frac{s^3}{4}+\cdots$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(this also gives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$f(1)=1$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the definition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makes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smooth there).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Read off: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$f'(1)=-\frac12$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(coefficient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$s$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): (A).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$\frac{f(x)-1+\frac s2}{s^2}=\frac13-\frac s4+\cdots\to\frac13$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(D).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07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Differentiating the series,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𝑠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𝑠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⋯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𝑠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continuous 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(B).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𝑓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′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(C). All four statements are correct.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Differentiating the series,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$f'(1+s)=-\frac12+\frac{2s}{3}-\cdots\to-\frac12$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$s\to0$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$f'$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continuous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$g(t)=f(t)-tf'(t)\to f(1)-1\cdot f'(1)=1+\frac12=\frac32$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(B).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$h(t)=t-\frac{f(t)}{f'(t)}\to1-\frac{1}{-1/2}=3$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(C). All four statements are correct.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6" name="Rounded Rectangle 5"/>
          <p:cNvSpPr/>
          <p:nvPr/>
        </p:nvSpPr>
        <p:spPr>
          <a:xfrm>
            <a:off x="731520" y="58978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254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5803D"/>
          </a:fontRef>
        </p:style>
        <p:txBody>
          <a:bodyPr rtlCol="0" anchor="ctr" wrap="square" lIns="228600" rIns="228600" tIns="18288" bIns="73152"/>
          <a:lstStyle>
            <a:lvl1pPr>
              <a:defRPr sz="2800">
                <a:solidFill>
                  <a:srgbClr val="15803D"/>
                </a:solidFill>
              </a:defRPr>
            </a:lvl1pPr>
          </a:lstStyle>
          <a:p>
            <a:pPr algn="ctr">
              <a:defRPr sz="2800">
                <a:solidFill>
                  <a:srgbClr val="15803D"/>
                </a:solidFill>
              </a:defRPr>
            </a:pPr>
            <a:r>
              <a:rPr sz="2800" b="1">
                <a:solidFill>
                  <a:srgbClr val="15803D"/>
                </a:solidFill>
                <a:latin typeface="Arial"/>
              </a:rPr>
              <a:t>Same answer: (A, B, C, D)</a:t>
            </a:r>
            <a:endParaRPr sz="2800">
              <a:solidFill>
                <a:srgbClr val="15803D"/>
              </a:solidFill>
            </a:endParaRP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07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ln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𝑠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𝑠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𝑠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𝑠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⋯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𝑠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): the series makes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ln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ln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sup>
                        </m:sSup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similar limits immediate; coefficients of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𝑓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!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Tangent at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-intercept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-intercept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𝑓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′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(when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≠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 If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are continuous 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 intercept limits as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are the intercepts of the tangent 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itself.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$\ln(1+s)=s-\frac{s^2}{2}+\frac{s^3}{3}-\cdots$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$|s|&lt;1$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): the series makes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$\frac{\ln x}{x-1}$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$\frac{\ln x-(x-1)+\frac12(x-1)^2}{(x-1)^3}$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similar limits immediate; coefficients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$s^n$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$\frac{f^{(n)}(1)}{n!}$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Tangent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$(t,f(t))$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-intercept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$=f(t)-tf'(t)$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-intercept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$=t-\frac{f(t)}{f'(t)}$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(when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$f'(t)\neq0$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 If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$f,f'$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are continuous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 intercept limits as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$t\to 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are the intercepts of the tangent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itself.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07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Removable singularity: </a:t>
                </a:r>
                <a14:m>
                  <m:oMath xmlns:m="http://schemas.openxmlformats.org/officeDocument/2006/math">
                    <m:sSub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lim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ln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(derivative of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ln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); redefining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makes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analytic 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ln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sup>
                        </m:sSup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the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 Taylor remainder is governed by the next coefficient (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the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coefficient of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ln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Removable singularity: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$\lim_{x\to1}\frac{\ln x}{x-1}=1$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(derivative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$\ln$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); redefining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$f(1)=1$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makes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analytic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$\frac{\ln x-(x-1)+\frac12(x-1)^2}{(x-1)^3}\to\frac13$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the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 Taylor remainder is governed by the next coefficient (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$\frac13$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the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$s^3$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coefficient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$\ln 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08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4602988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: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m:rPr>
                        <m:scr m:val="double-struck"/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R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: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m:rPr>
                        <m:scr m:val="double-struck"/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R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 functions defined by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respectively. Which of the following statements is/are CORRECT?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The limit </a:t>
                </a:r>
                <a14:m>
                  <m:oMath xmlns:m="http://schemas.openxmlformats.org/officeDocument/2006/math">
                    <m:sSub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lim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→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0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</m:sup>
                        </m:sSup>
                      </m:sub>
                    </m:sSub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an indeterminate form of type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its value is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(B) Exactly one tangent can be drawn to the curve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passing through the origin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(C) The function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attains its local maximum 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den>
                    </m:f>
                  </m:oMath>
                </a14:m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(D) The line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a common tangent to both curves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at the point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passes through the origin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4602988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$f:(0,\infty)\to\mathbb{R}$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$g:(0,\infty)\to\mathbb{R}$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 functions defined by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$f(x)=x^x$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$g(x)=x^{1/x}$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respectively. Which of the following statements is/are CORRECT?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The limit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$\lim_{x\to0^+}f(x)$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an indeterminate form of type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$0^0$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its value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$0$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(B) Exactly one tangent can be drawn to the curve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$y=f(x)$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passing through the origin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$(0,0)$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(C) The function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$g(x)$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attains its local maximum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$x=\frac1e$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(D) The line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a common tangent to both curves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$y=f(x)$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$y=g(x)$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at the point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$(1,1)$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passes through the origin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08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280160"/>
                <a:ext cx="10725912" cy="1975103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One or more than one Correct Type(4 Marks)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Concept(s) : Indeterminate form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local maxima, Tangent drawn from an external point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Difficulty Level: Level 3(Average JEE Advanced Level)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280160"/>
                <a:ext cx="10725912" cy="1975103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One or more than one Correct Type(4 Marks)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Concept(s) : Indeterminate form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$0^0$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local maxima, Tangent drawn from an external point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Difficulty Level: Level 3(Average JEE Advanced Level)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3438144"/>
                <a:ext cx="10725912" cy="14813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A tangent through the origin 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𝑎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needs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ln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ln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is monotonic past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with a single root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3438144"/>
                <a:ext cx="10725912" cy="14813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A tangent through the origin at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$x=a$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needs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$a(1+\ln a)=1$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and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$a(1+\ln a)-1$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is monotonic past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$a=e^{-2}$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with a single root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$a=1$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5056632"/>
                <a:ext cx="10725912" cy="1618487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 limit at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of the form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Let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𝐿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lim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→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0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</m:sup>
                        </m:sSup>
                      </m:sub>
                    </m:sSub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ln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𝐿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lim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→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0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</m:sup>
                        </m:sSup>
                      </m:sub>
                    </m:sSub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ln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lim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→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0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</m:sup>
                        </m:sSup>
                      </m:sub>
                    </m:sSub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ln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lim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→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0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</m:sup>
                        </m:sSup>
                      </m:sub>
                    </m:sSub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num>
                      <m:den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𝐿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So (A) is incorrect (the value is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not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5056632"/>
                <a:ext cx="10725912" cy="1618487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$f(x)=x^x$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 limit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$0^+$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of the form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$0^0$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Let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$L=\lim_{x\to0^+}x^x$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$\ln L=\lim_{x\to0^+}x\ln x=\lim_{x\to0^+}\frac{\ln x}{1/x}=\lim_{x\to0^+}\frac{1/x}{-1/x^2}=0\Rightarrow L=e^0=1$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So (A) is incorrect (the value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not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08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(B): the tangent to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at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ln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it passes through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ln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ln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ln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Then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ℎ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ln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which is negative 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positive 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Since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the unique solution in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(on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ℎ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decreases from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it stays negative). Exactly one tangent passes through the origin; (B) is correct.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(B): the tangent to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$y=f(x)$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$(a,a^a)$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$y-a^a=a^a(1+\ln a)(x-a)$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it passes through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$(0,0)$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$-a^a=-a^{a+1}(1+\ln a)\Rightarrow a(1+\ln a)=1$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$h(a)=a(1+\ln a)-1$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$a&gt;0$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$h'(a)=2+\ln 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which is negative 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$a&lt;e^{-2}$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positive 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$a&gt;e^{-2}$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Since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$h(e^{-2})=-e^{-2}-1&lt;0$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$h(1)=0$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the unique solution in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$(0,\infty)$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$(0,e^{-2}]$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$h$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decreases from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$h(0^+)=-1$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it stays negative). Exactly one tangent passes through the origin; (B) is correct.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08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(C):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𝑔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sup>
                    </m:sSup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ln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num>
                          <m:den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den>
                        </m:f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𝑔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𝑒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the local maximum occurs 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𝑒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not at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(C) is incorrect.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(D): 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the tangent to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at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Also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𝑔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the tangent to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at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also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which passes through the origin. (D) is correct. Answer: (B), (D).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(C):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$g(x)=x^{1/x}$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$g'(x)=x^{1/x}\left(\frac{1-\ln x}{x^2}\right)$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$g'(x)=0\Rightarrow x=e$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the local maximum occurs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$x=e$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not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$\frac1e$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(C) is incorrect.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(D):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$f(1)=1$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$f'(1)=1$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the tangent to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$y=f(x)$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$(1,1)$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$y-1=1(x-1)\Rightarrow y=x$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Also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$g(1)=1$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$g'(1)=1$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the tangent to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$y=g(x)$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$(1,1)$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also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which passes through the origin. (D) is correct. Answer: (B), (D).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ounded Rectangle 4"/>
          <p:cNvSpPr/>
          <p:nvPr/>
        </p:nvSpPr>
        <p:spPr>
          <a:xfrm>
            <a:off x="731520" y="58978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254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5803D"/>
          </a:fontRef>
        </p:style>
        <p:txBody>
          <a:bodyPr rtlCol="0" anchor="ctr" wrap="square" lIns="228600" rIns="228600" tIns="18288" bIns="73152"/>
          <a:lstStyle>
            <a:lvl1pPr>
              <a:defRPr sz="2800">
                <a:solidFill>
                  <a:srgbClr val="15803D"/>
                </a:solidFill>
              </a:defRPr>
            </a:lvl1pPr>
          </a:lstStyle>
          <a:p>
            <a:pPr algn="ctr">
              <a:defRPr sz="2800">
                <a:solidFill>
                  <a:srgbClr val="15803D"/>
                </a:solidFill>
              </a:defRPr>
            </a:pPr>
            <a:r>
              <a:rPr sz="2800" b="1">
                <a:solidFill>
                  <a:srgbClr val="15803D"/>
                </a:solidFill>
                <a:latin typeface="Arial"/>
              </a:rPr>
              <a:t>Correct Answer: (B, D)</a:t>
            </a:r>
            <a:endParaRPr sz="2800">
              <a:solidFill>
                <a:srgbClr val="15803D"/>
              </a:solidFill>
            </a:endParaRPr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08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81051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A tangent to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𝐹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passes through the origin iff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𝐹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den>
                        </m:f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there, so count the critical points of the slope function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81051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A tangent to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$y=F(x)$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passes through the origin iff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$\frac{d}{dx}\left(\frac{F(x)}{x}\right)=0$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there, so count the critical points of the slope function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$\frac{f(x)}{x}=x^{x-1}$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3227832"/>
                <a:ext cx="10725912" cy="344728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tangent at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𝐹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passes through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iff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𝐹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𝐹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iff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𝐹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′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𝐹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type m:val="bar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𝐹</m:t>
                                </m:r>
                              </m:num>
                              <m:den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den>
                            </m:f>
                          </m:e>
                        </m:d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𝐹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φ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ln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φ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ln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φ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′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φ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ln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ln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: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ψ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3227832"/>
                <a:ext cx="10725912" cy="344728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tangent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$(a,F(a))$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passes through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$(0,0)$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iff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$F(a)=aF'(a)$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iff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$\frac{aF'(a)-F(a)}{a^2}=\left(\frac{F}{x}\right)'(a)=0$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$F=f$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$\varphi(x)=\frac{f(x)}{x}=x^{x-1}$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$\ln\varphi=(x-1)\ln 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$\frac{\varphi'}{\varphi}=\ln x+\frac{x-1}{x}=\ln x+1-\frac1x=:\psi(x)$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6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08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ψ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ψ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strictly increasing 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ψ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the unique critical point is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Exactly one tangent through the origin: (B).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 tangent to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has slope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passes through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the line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ln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den>
                        </m:f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𝑔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ln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same line: (D).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$\psi'(x)=\frac1x+\frac1{x^2}&gt;0$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$\psi$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strictly increasing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$\psi(1)=0$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the unique critical point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Exactly one tangent through the origin: (B).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 tangent to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$y=x^x$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has slope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$f'(1)=1$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passes through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$(1,1)$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the line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$g=x^{1/x}=e^{\frac{\ln x}{x}}$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$g'(1)=1\cdot\frac{1-\ln1}{1}=1$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same line: (D).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6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08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ln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ln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maximal 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𝑒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(its derivative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ln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changes from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to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𝑒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has its local maximum 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≠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(C) false. And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ln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(since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ln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): (A) false.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$\ln g=\frac{\ln x}{x}$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maximal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$x=e$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(its derivative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$\frac{1-\ln x}{x^2}$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changes from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$+$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$-$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$e$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$g$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has its local maximum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$e\ne\frac1e$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(C) false.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$x^x=e^{x\ln x}\to e^0=1$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$x\to0^+$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(since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$x\ln x\to0$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): (A) false.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6" name="Rounded Rectangle 5"/>
          <p:cNvSpPr/>
          <p:nvPr/>
        </p:nvSpPr>
        <p:spPr>
          <a:xfrm>
            <a:off x="731520" y="58978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254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5803D"/>
          </a:fontRef>
        </p:style>
        <p:txBody>
          <a:bodyPr rtlCol="0" anchor="ctr" wrap="square" lIns="228600" rIns="228600" tIns="18288" bIns="73152"/>
          <a:lstStyle>
            <a:lvl1pPr>
              <a:defRPr sz="2800">
                <a:solidFill>
                  <a:srgbClr val="15803D"/>
                </a:solidFill>
              </a:defRPr>
            </a:lvl1pPr>
          </a:lstStyle>
          <a:p>
            <a:pPr algn="ctr">
              <a:defRPr sz="2800">
                <a:solidFill>
                  <a:srgbClr val="15803D"/>
                </a:solidFill>
              </a:defRPr>
            </a:pPr>
            <a:r>
              <a:rPr sz="2800" b="1">
                <a:solidFill>
                  <a:srgbClr val="15803D"/>
                </a:solidFill>
                <a:latin typeface="Arial"/>
              </a:rPr>
              <a:t>Same answer: (B, D)</a:t>
            </a:r>
            <a:endParaRPr sz="2800">
              <a:solidFill>
                <a:srgbClr val="15803D"/>
              </a:solidFill>
            </a:endParaRPr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08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Tangent 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𝐹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passes through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iff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𝐹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𝐹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For the origin this is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𝐹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𝐹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equivalently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𝐹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the number of tangents from the origin equals the number of critical points of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𝐹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(as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ln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); more generally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ln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Standard forms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 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∞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 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∞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are handled by taking logarithms.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Tangent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$y=F(x)$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passes through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$(p,q)$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iff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$F(a)-q=F'(a)(a-p)$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For the origin this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$F(a)=aF'(a)$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equivalently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$\frac{d}{dx}\frac{F(x)}{x}=0$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the number of tangents from the origin equals the number of critical points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$\frac{F(x)}{x}$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$x^x\to1$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$x\to0^+$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(as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$x\ln x\to0$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); more generally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$x^a\ln x\to0$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$a&gt;0$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Standard forms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$0^0,\ \infty^0,\ 1^\infty$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are handled by taking logarithms.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6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08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has its maximum 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𝑒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value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(from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ln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); comparisons such as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follow because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ln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decreasing 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𝑒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has its minimum 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value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ln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ln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$x^{1/x}$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has its maximum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$x=e$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value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$e^{1/e}$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(from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$\frac{\ln x}{x}\le\frac1e$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); comparisons such as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$e^\pi&gt;\pi^e$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follow because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$\frac{\ln x}{x}$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decreasing 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$x&gt;e$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$x^x$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has its minimum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$x=\frac1e$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value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$e^{-1/e}$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$\frac{d}{dx}x\ln x=\ln x+1$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6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463040"/>
            <a:ext cx="10362895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lvl1pPr>
              <a:defRPr sz="2800">
                <a:solidFill>
                  <a:srgbClr val="FFFFFF"/>
                </a:solidFill>
              </a:defRPr>
            </a:lvl1pPr>
          </a:lstStyle>
          <a:p>
            <a:pPr algn="ctr">
              <a:spcAft>
                <a:spcPts val="1000"/>
              </a:spcAft>
              <a:defRPr sz="2800">
                <a:solidFill>
                  <a:srgbClr val="FFFFFF"/>
                </a:solidFill>
              </a:defRPr>
            </a:pPr>
            <a:r>
              <a:rPr sz="2800" b="0">
                <a:solidFill>
                  <a:srgbClr val="93C5FD"/>
                </a:solidFill>
                <a:latin typeface="Arial"/>
              </a:rPr>
              <a:t>Section 3</a:t>
            </a:r>
            <a:endParaRPr sz="2800">
              <a:solidFill>
                <a:srgbClr val="FFFFFF"/>
              </a:solidFill>
            </a:endParaRPr>
          </a:p>
          <a:p>
            <a:pPr algn="ctr">
              <a:spcAft>
                <a:spcPts val="1000"/>
              </a:spcAft>
              <a:defRPr sz="2800">
                <a:solidFill>
                  <a:srgbClr val="FFFFFF"/>
                </a:solidFill>
              </a:defRPr>
            </a:pPr>
            <a:r>
              <a:rPr sz="4400" b="1">
                <a:solidFill>
                  <a:srgbClr val="FFFFFF"/>
                </a:solidFill>
                <a:latin typeface="Arial"/>
              </a:rPr>
              <a:t>Paragraph Based Single Correct Type</a:t>
            </a:r>
            <a:endParaRPr sz="2800">
              <a:solidFill>
                <a:srgbClr val="FFFFFF"/>
              </a:solidFill>
            </a:endParaRPr>
          </a:p>
          <a:p>
            <a:pPr algn="ctr">
              <a:spcAft>
                <a:spcPts val="1000"/>
              </a:spcAft>
              <a:defRPr sz="28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Q09 – Q10</a:t>
            </a:r>
            <a:endParaRPr sz="2800">
              <a:solidFill>
                <a:srgbClr val="FFFFFF"/>
              </a:solidFill>
            </a:endParaRPr>
          </a:p>
          <a:p>
            <a:pPr algn="ctr">
              <a:spcAft>
                <a:spcPts val="1000"/>
              </a:spcAft>
              <a:defRPr sz="2800">
                <a:solidFill>
                  <a:srgbClr val="FFFFFF"/>
                </a:solidFill>
              </a:defRPr>
            </a:pPr>
            <a:r>
              <a:rPr sz="2800" b="0">
                <a:solidFill>
                  <a:srgbClr val="FFFFFF"/>
                </a:solidFill>
                <a:latin typeface="Arial"/>
              </a:rPr>
              <a:t>Marks not printed in the paper: JEE Advanced default of 3 per question assumed</a:t>
            </a:r>
            <a:endParaRPr sz="2800">
              <a:solidFill>
                <a:srgbClr val="FFFFFF"/>
              </a:solidFill>
            </a:endParaRPr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09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3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5394960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0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000">
                    <a:solidFill>
                      <a:srgbClr val="111827"/>
                    </a:solidFill>
                  </a:defRPr>
                </a:pPr>
                <a:r>
                  <a:rPr sz="2000" b="0">
                    <a:solidFill>
                      <a:srgbClr val="111827"/>
                    </a:solidFill>
                    <a:latin typeface="Arial"/>
                  </a:rPr>
                  <a:t>Let </a:t>
                </a:r>
                <a14:m>
                  <m:oMath xmlns:m="http://schemas.openxmlformats.org/officeDocument/2006/math">
                    <m:r>
                      <a:rPr lang="en-IN" sz="20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0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:</m:t>
                    </m:r>
                    <m:r>
                      <m:rPr>
                        <m:scr m:val="double-struck"/>
                        <m:sty m:val="p"/>
                      </m:rPr>
                      <a:rPr lang="en-IN" sz="20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R</m:t>
                    </m:r>
                    <m:r>
                      <m:rPr>
                        <m:sty m:val="p"/>
                      </m:rPr>
                      <a:rPr lang="en-IN" sz="20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m:rPr>
                        <m:scr m:val="double-struck"/>
                        <m:sty m:val="p"/>
                      </m:rPr>
                      <a:rPr lang="en-IN" sz="20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R</m:t>
                    </m:r>
                  </m:oMath>
                </a14:m>
                <a:r>
                  <a:rPr sz="2000" b="0">
                    <a:solidFill>
                      <a:srgbClr val="111827"/>
                    </a:solidFill>
                    <a:latin typeface="Arial"/>
                  </a:rPr>
                  <a:t> be a twice differentiable function satisfying </a:t>
                </a:r>
                <a14:m>
                  <m:oMath xmlns:m="http://schemas.openxmlformats.org/officeDocument/2006/math">
                    <m:r>
                      <a:rPr lang="en-IN" sz="20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0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0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0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0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0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0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0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0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0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0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0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0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0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000" b="0">
                    <a:solidFill>
                      <a:srgbClr val="111827"/>
                    </a:solidFill>
                    <a:latin typeface="Arial"/>
                  </a:rPr>
                  <a:t>, and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0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0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″</m:t>
                        </m:r>
                      </m:sup>
                    </m:sSup>
                    <m:r>
                      <m:rPr>
                        <m:sty m:val="p"/>
                      </m:rPr>
                      <a:rPr lang="en-IN" sz="20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0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0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0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0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0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0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0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0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p>
                      <m:e>
                        <m:r>
                          <a:rPr lang="en-IN" sz="20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0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0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0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0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0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0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0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0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000" b="0">
                    <a:solidFill>
                      <a:srgbClr val="111827"/>
                    </a:solidFill>
                    <a:latin typeface="Arial"/>
                  </a:rPr>
                  <a:t> for all </a:t>
                </a:r>
                <a14:m>
                  <m:oMath xmlns:m="http://schemas.openxmlformats.org/officeDocument/2006/math">
                    <m:r>
                      <a:rPr lang="en-IN" sz="20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0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m:rPr>
                        <m:scr m:val="double-struck"/>
                        <m:sty m:val="p"/>
                      </m:rPr>
                      <a:rPr lang="en-IN" sz="20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R</m:t>
                    </m:r>
                  </m:oMath>
                </a14:m>
                <a:r>
                  <a:rPr sz="2000" b="0">
                    <a:solidFill>
                      <a:srgbClr val="111827"/>
                    </a:solidFill>
                    <a:latin typeface="Arial"/>
                  </a:rPr>
                  <a:t>. Consider the functions </a:t>
                </a:r>
                <a14:m>
                  <m:oMath xmlns:m="http://schemas.openxmlformats.org/officeDocument/2006/math">
                    <m:r>
                      <a:rPr lang="en-IN" sz="20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m:rPr>
                        <m:sty m:val="p"/>
                      </m:rPr>
                      <a:rPr lang="en-IN" sz="20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:</m:t>
                    </m:r>
                    <m:r>
                      <m:rPr>
                        <m:scr m:val="double-struck"/>
                        <m:sty m:val="p"/>
                      </m:rPr>
                      <a:rPr lang="en-IN" sz="20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R</m:t>
                    </m:r>
                    <m:r>
                      <m:rPr>
                        <m:sty m:val="p"/>
                      </m:rPr>
                      <a:rPr lang="en-IN" sz="20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m:rPr>
                        <m:scr m:val="double-struck"/>
                        <m:sty m:val="p"/>
                      </m:rPr>
                      <a:rPr lang="en-IN" sz="20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R</m:t>
                    </m:r>
                  </m:oMath>
                </a14:m>
                <a:r>
                  <a:rPr sz="20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0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ℎ</m:t>
                    </m:r>
                    <m:r>
                      <m:rPr>
                        <m:sty m:val="p"/>
                      </m:rPr>
                      <a:rPr lang="en-IN" sz="20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:</m:t>
                    </m:r>
                    <m:r>
                      <m:rPr>
                        <m:scr m:val="double-struck"/>
                        <m:sty m:val="p"/>
                      </m:rPr>
                      <a:rPr lang="en-IN" sz="20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R</m:t>
                    </m:r>
                    <m:r>
                      <m:rPr>
                        <m:sty m:val="p"/>
                      </m:rPr>
                      <a:rPr lang="en-IN" sz="20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m:rPr>
                        <m:scr m:val="double-struck"/>
                        <m:sty m:val="p"/>
                      </m:rPr>
                      <a:rPr lang="en-IN" sz="20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R</m:t>
                    </m:r>
                  </m:oMath>
                </a14:m>
                <a:r>
                  <a:rPr sz="2000" b="0">
                    <a:solidFill>
                      <a:srgbClr val="111827"/>
                    </a:solidFill>
                    <a:latin typeface="Arial"/>
                  </a:rPr>
                  <a:t>, and </a:t>
                </a:r>
                <a14:m>
                  <m:oMath xmlns:m="http://schemas.openxmlformats.org/officeDocument/2006/math">
                    <m:r>
                      <a:rPr lang="en-IN" sz="20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0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:</m:t>
                    </m:r>
                    <m:r>
                      <m:rPr>
                        <m:sty m:val="p"/>
                      </m:rPr>
                      <a:rPr lang="en-IN" sz="20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0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0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0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∞</m:t>
                    </m:r>
                    <m:r>
                      <m:rPr>
                        <m:sty m:val="p"/>
                      </m:rPr>
                      <a:rPr lang="en-IN" sz="20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0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m:rPr>
                        <m:scr m:val="double-struck"/>
                        <m:sty m:val="p"/>
                      </m:rPr>
                      <a:rPr lang="en-IN" sz="20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R</m:t>
                    </m:r>
                  </m:oMath>
                </a14:m>
                <a:r>
                  <a:rPr sz="2000" b="0">
                    <a:solidFill>
                      <a:srgbClr val="111827"/>
                    </a:solidFill>
                    <a:latin typeface="Arial"/>
                  </a:rPr>
                  <a:t> defined by </a:t>
                </a:r>
                <a14:m>
                  <m:oMath xmlns:m="http://schemas.openxmlformats.org/officeDocument/2006/math">
                    <m:r>
                      <a:rPr lang="en-IN" sz="20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m:rPr>
                        <m:sty m:val="p"/>
                      </m:rPr>
                      <a:rPr lang="en-IN" sz="20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0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0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0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0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0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0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0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0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0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0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0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ℎ</m:t>
                    </m:r>
                    <m:r>
                      <m:rPr>
                        <m:sty m:val="p"/>
                      </m:rPr>
                      <a:rPr lang="en-IN" sz="20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0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0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0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0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0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0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0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sSup>
                      <m:e>
                        <m:r>
                          <a:rPr lang="en-IN" sz="20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f>
                          <m:fPr>
                            <m:type m:val="bar"/>
                            <m:ctrlPr>
                              <a:rPr lang="en-IN" sz="20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sSup>
                              <m:e>
                                <m:r>
                                  <a:rPr lang="en-IN" sz="20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p>
                                <m:r>
                                  <a:rPr lang="en-IN" sz="20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num>
                          <m:den>
                            <m:r>
                              <a:rPr lang="en-IN" sz="20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sup>
                    </m:sSup>
                  </m:oMath>
                </a14:m>
                <a:r>
                  <a:rPr sz="2000" b="0">
                    <a:solidFill>
                      <a:srgbClr val="111827"/>
                    </a:solidFill>
                    <a:latin typeface="Arial"/>
                  </a:rPr>
                  <a:t>, and </a:t>
                </a:r>
                <a14:m>
                  <m:oMath xmlns:m="http://schemas.openxmlformats.org/officeDocument/2006/math">
                    <m:r>
                      <a:rPr lang="en-IN" sz="20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0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0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0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0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0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0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  <m:r>
                          <m:rPr>
                            <m:sty m:val="p"/>
                          </m:rPr>
                          <a:rPr lang="en-IN" sz="20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0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0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num>
                      <m:den>
                        <m:r>
                          <a:rPr lang="en-IN" sz="20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</m:oMath>
                </a14:m>
                <a:r>
                  <a:rPr sz="20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0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000">
                    <a:solidFill>
                      <a:srgbClr val="111827"/>
                    </a:solidFill>
                  </a:defRPr>
                </a:pPr>
                <a:r>
                  <a:rPr sz="2000" b="0">
                    <a:solidFill>
                      <a:srgbClr val="111827"/>
                    </a:solidFill>
                    <a:latin typeface="Arial"/>
                  </a:rPr>
                  <a:t>Which of the following statements is CORRECT regarding the monotonic behavior of the functions </a:t>
                </a:r>
                <a14:m>
                  <m:oMath xmlns:m="http://schemas.openxmlformats.org/officeDocument/2006/math">
                    <m:r>
                      <a:rPr lang="en-IN" sz="20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0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0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0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0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0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m:rPr>
                        <m:sty m:val="p"/>
                      </m:rPr>
                      <a:rPr lang="en-IN" sz="20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0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0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0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0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ℎ</m:t>
                    </m:r>
                    <m:r>
                      <m:rPr>
                        <m:sty m:val="p"/>
                      </m:rPr>
                      <a:rPr lang="en-IN" sz="20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0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0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000" b="0">
                    <a:solidFill>
                      <a:srgbClr val="111827"/>
                    </a:solidFill>
                    <a:latin typeface="Arial"/>
                  </a:rPr>
                  <a:t> on </a:t>
                </a:r>
                <a14:m>
                  <m:oMath xmlns:m="http://schemas.openxmlformats.org/officeDocument/2006/math">
                    <m:r>
                      <m:rPr>
                        <m:scr m:val="double-struck"/>
                        <m:sty m:val="p"/>
                      </m:rPr>
                      <a:rPr lang="en-IN" sz="20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R</m:t>
                    </m:r>
                  </m:oMath>
                </a14:m>
                <a:r>
                  <a:rPr sz="2000" b="0">
                    <a:solidFill>
                      <a:srgbClr val="111827"/>
                    </a:solidFill>
                    <a:latin typeface="Arial"/>
                  </a:rPr>
                  <a:t>?</a:t>
                </a:r>
                <a:endParaRPr sz="20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000">
                    <a:solidFill>
                      <a:srgbClr val="111827"/>
                    </a:solidFill>
                  </a:defRPr>
                </a:pPr>
                <a:r>
                  <a:rPr sz="2000" b="0">
                    <a:solidFill>
                      <a:srgbClr val="111827"/>
                    </a:solidFill>
                    <a:latin typeface="Arial"/>
                  </a:rPr>
                  <a:t>(A) </a:t>
                </a:r>
                <a14:m>
                  <m:oMath xmlns:m="http://schemas.openxmlformats.org/officeDocument/2006/math">
                    <m:r>
                      <a:rPr lang="en-IN" sz="20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0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0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0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000" b="0">
                    <a:solidFill>
                      <a:srgbClr val="111827"/>
                    </a:solidFill>
                    <a:latin typeface="Arial"/>
                  </a:rPr>
                  <a:t> is strictly increasing on </a:t>
                </a:r>
                <a14:m>
                  <m:oMath xmlns:m="http://schemas.openxmlformats.org/officeDocument/2006/math">
                    <m:r>
                      <m:rPr>
                        <m:scr m:val="double-struck"/>
                        <m:sty m:val="p"/>
                      </m:rPr>
                      <a:rPr lang="en-IN" sz="20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R</m:t>
                    </m:r>
                  </m:oMath>
                </a14:m>
                <a:r>
                  <a:rPr sz="20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0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m:rPr>
                        <m:sty m:val="p"/>
                      </m:rPr>
                      <a:rPr lang="en-IN" sz="20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0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0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000" b="0">
                    <a:solidFill>
                      <a:srgbClr val="111827"/>
                    </a:solidFill>
                    <a:latin typeface="Arial"/>
                  </a:rPr>
                  <a:t> is strictly increasing on </a:t>
                </a:r>
                <a14:m>
                  <m:oMath xmlns:m="http://schemas.openxmlformats.org/officeDocument/2006/math">
                    <m:r>
                      <m:rPr>
                        <m:scr m:val="double-struck"/>
                        <m:sty m:val="p"/>
                      </m:rPr>
                      <a:rPr lang="en-IN" sz="20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R</m:t>
                    </m:r>
                  </m:oMath>
                </a14:m>
                <a:r>
                  <a:rPr sz="2000" b="0">
                    <a:solidFill>
                      <a:srgbClr val="111827"/>
                    </a:solidFill>
                    <a:latin typeface="Arial"/>
                  </a:rPr>
                  <a:t>, and </a:t>
                </a:r>
                <a14:m>
                  <m:oMath xmlns:m="http://schemas.openxmlformats.org/officeDocument/2006/math">
                    <m:r>
                      <a:rPr lang="en-IN" sz="20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ℎ</m:t>
                    </m:r>
                    <m:r>
                      <m:rPr>
                        <m:sty m:val="p"/>
                      </m:rPr>
                      <a:rPr lang="en-IN" sz="20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0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0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000" b="0">
                    <a:solidFill>
                      <a:srgbClr val="111827"/>
                    </a:solidFill>
                    <a:latin typeface="Arial"/>
                  </a:rPr>
                  <a:t> is strictly decreasing on </a:t>
                </a:r>
                <a14:m>
                  <m:oMath xmlns:m="http://schemas.openxmlformats.org/officeDocument/2006/math">
                    <m:r>
                      <m:rPr>
                        <m:scr m:val="double-struck"/>
                        <m:sty m:val="p"/>
                      </m:rPr>
                      <a:rPr lang="en-IN" sz="20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R</m:t>
                    </m:r>
                  </m:oMath>
                </a14:m>
                <a:endParaRPr sz="20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000">
                    <a:solidFill>
                      <a:srgbClr val="111827"/>
                    </a:solidFill>
                  </a:defRPr>
                </a:pPr>
                <a:r>
                  <a:rPr sz="2000" b="0">
                    <a:solidFill>
                      <a:srgbClr val="111827"/>
                    </a:solidFill>
                    <a:latin typeface="Arial"/>
                  </a:rPr>
                  <a:t>(B) </a:t>
                </a:r>
                <a14:m>
                  <m:oMath xmlns:m="http://schemas.openxmlformats.org/officeDocument/2006/math">
                    <m:r>
                      <a:rPr lang="en-IN" sz="20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0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0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0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000" b="0">
                    <a:solidFill>
                      <a:srgbClr val="111827"/>
                    </a:solidFill>
                    <a:latin typeface="Arial"/>
                  </a:rPr>
                  <a:t> is strictly increasing on </a:t>
                </a:r>
                <a14:m>
                  <m:oMath xmlns:m="http://schemas.openxmlformats.org/officeDocument/2006/math">
                    <m:r>
                      <m:rPr>
                        <m:scr m:val="double-struck"/>
                        <m:sty m:val="p"/>
                      </m:rPr>
                      <a:rPr lang="en-IN" sz="20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R</m:t>
                    </m:r>
                  </m:oMath>
                </a14:m>
                <a:r>
                  <a:rPr sz="20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0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m:rPr>
                        <m:sty m:val="p"/>
                      </m:rPr>
                      <a:rPr lang="en-IN" sz="20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0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0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000" b="0">
                    <a:solidFill>
                      <a:srgbClr val="111827"/>
                    </a:solidFill>
                    <a:latin typeface="Arial"/>
                  </a:rPr>
                  <a:t> is strictly decreasing on </a:t>
                </a:r>
                <a14:m>
                  <m:oMath xmlns:m="http://schemas.openxmlformats.org/officeDocument/2006/math">
                    <m:r>
                      <m:rPr>
                        <m:scr m:val="double-struck"/>
                        <m:sty m:val="p"/>
                      </m:rPr>
                      <a:rPr lang="en-IN" sz="20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R</m:t>
                    </m:r>
                  </m:oMath>
                </a14:m>
                <a:r>
                  <a:rPr sz="2000" b="0">
                    <a:solidFill>
                      <a:srgbClr val="111827"/>
                    </a:solidFill>
                    <a:latin typeface="Arial"/>
                  </a:rPr>
                  <a:t>, and </a:t>
                </a:r>
                <a14:m>
                  <m:oMath xmlns:m="http://schemas.openxmlformats.org/officeDocument/2006/math">
                    <m:r>
                      <a:rPr lang="en-IN" sz="20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ℎ</m:t>
                    </m:r>
                    <m:r>
                      <m:rPr>
                        <m:sty m:val="p"/>
                      </m:rPr>
                      <a:rPr lang="en-IN" sz="20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0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0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000" b="0">
                    <a:solidFill>
                      <a:srgbClr val="111827"/>
                    </a:solidFill>
                    <a:latin typeface="Arial"/>
                  </a:rPr>
                  <a:t> is strictly increasing on </a:t>
                </a:r>
                <a14:m>
                  <m:oMath xmlns:m="http://schemas.openxmlformats.org/officeDocument/2006/math">
                    <m:r>
                      <m:rPr>
                        <m:scr m:val="double-struck"/>
                        <m:sty m:val="p"/>
                      </m:rPr>
                      <a:rPr lang="en-IN" sz="20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R</m:t>
                    </m:r>
                  </m:oMath>
                </a14:m>
                <a:endParaRPr sz="20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000">
                    <a:solidFill>
                      <a:srgbClr val="111827"/>
                    </a:solidFill>
                  </a:defRPr>
                </a:pPr>
                <a:r>
                  <a:rPr sz="2000" b="0">
                    <a:solidFill>
                      <a:srgbClr val="111827"/>
                    </a:solidFill>
                    <a:latin typeface="Arial"/>
                  </a:rPr>
                  <a:t>(C) </a:t>
                </a:r>
                <a14:m>
                  <m:oMath xmlns:m="http://schemas.openxmlformats.org/officeDocument/2006/math">
                    <m:r>
                      <a:rPr lang="en-IN" sz="20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0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0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0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000" b="0">
                    <a:solidFill>
                      <a:srgbClr val="111827"/>
                    </a:solidFill>
                    <a:latin typeface="Arial"/>
                  </a:rPr>
                  <a:t> is strictly decreasing on </a:t>
                </a:r>
                <a14:m>
                  <m:oMath xmlns:m="http://schemas.openxmlformats.org/officeDocument/2006/math">
                    <m:r>
                      <m:rPr>
                        <m:scr m:val="double-struck"/>
                        <m:sty m:val="p"/>
                      </m:rPr>
                      <a:rPr lang="en-IN" sz="20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R</m:t>
                    </m:r>
                  </m:oMath>
                </a14:m>
                <a:r>
                  <a:rPr sz="20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0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m:rPr>
                        <m:sty m:val="p"/>
                      </m:rPr>
                      <a:rPr lang="en-IN" sz="20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0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0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000" b="0">
                    <a:solidFill>
                      <a:srgbClr val="111827"/>
                    </a:solidFill>
                    <a:latin typeface="Arial"/>
                  </a:rPr>
                  <a:t> is strictly decreasing on </a:t>
                </a:r>
                <a14:m>
                  <m:oMath xmlns:m="http://schemas.openxmlformats.org/officeDocument/2006/math">
                    <m:r>
                      <m:rPr>
                        <m:scr m:val="double-struck"/>
                        <m:sty m:val="p"/>
                      </m:rPr>
                      <a:rPr lang="en-IN" sz="20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R</m:t>
                    </m:r>
                  </m:oMath>
                </a14:m>
                <a:r>
                  <a:rPr sz="2000" b="0">
                    <a:solidFill>
                      <a:srgbClr val="111827"/>
                    </a:solidFill>
                    <a:latin typeface="Arial"/>
                  </a:rPr>
                  <a:t>, and </a:t>
                </a:r>
                <a14:m>
                  <m:oMath xmlns:m="http://schemas.openxmlformats.org/officeDocument/2006/math">
                    <m:r>
                      <a:rPr lang="en-IN" sz="20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ℎ</m:t>
                    </m:r>
                    <m:r>
                      <m:rPr>
                        <m:sty m:val="p"/>
                      </m:rPr>
                      <a:rPr lang="en-IN" sz="20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0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0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000" b="0">
                    <a:solidFill>
                      <a:srgbClr val="111827"/>
                    </a:solidFill>
                    <a:latin typeface="Arial"/>
                  </a:rPr>
                  <a:t> is strictly increasing on </a:t>
                </a:r>
                <a14:m>
                  <m:oMath xmlns:m="http://schemas.openxmlformats.org/officeDocument/2006/math">
                    <m:r>
                      <m:rPr>
                        <m:scr m:val="double-struck"/>
                        <m:sty m:val="p"/>
                      </m:rPr>
                      <a:rPr lang="en-IN" sz="20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R</m:t>
                    </m:r>
                  </m:oMath>
                </a14:m>
                <a:endParaRPr sz="20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000">
                    <a:solidFill>
                      <a:srgbClr val="111827"/>
                    </a:solidFill>
                  </a:defRPr>
                </a:pPr>
                <a:r>
                  <a:rPr sz="2000" b="0">
                    <a:solidFill>
                      <a:srgbClr val="111827"/>
                    </a:solidFill>
                    <a:latin typeface="Arial"/>
                  </a:rPr>
                  <a:t>(D) </a:t>
                </a:r>
                <a14:m>
                  <m:oMath xmlns:m="http://schemas.openxmlformats.org/officeDocument/2006/math">
                    <m:r>
                      <a:rPr lang="en-IN" sz="20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0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0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0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000" b="0">
                    <a:solidFill>
                      <a:srgbClr val="111827"/>
                    </a:solidFill>
                    <a:latin typeface="Arial"/>
                  </a:rPr>
                  <a:t> is strictly increasing on </a:t>
                </a:r>
                <a14:m>
                  <m:oMath xmlns:m="http://schemas.openxmlformats.org/officeDocument/2006/math">
                    <m:r>
                      <m:rPr>
                        <m:scr m:val="double-struck"/>
                        <m:sty m:val="p"/>
                      </m:rPr>
                      <a:rPr lang="en-IN" sz="20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R</m:t>
                    </m:r>
                  </m:oMath>
                </a14:m>
                <a:r>
                  <a:rPr sz="20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0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m:rPr>
                        <m:sty m:val="p"/>
                      </m:rPr>
                      <a:rPr lang="en-IN" sz="20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0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0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000" b="0">
                    <a:solidFill>
                      <a:srgbClr val="111827"/>
                    </a:solidFill>
                    <a:latin typeface="Arial"/>
                  </a:rPr>
                  <a:t> is strictly decreasing on </a:t>
                </a:r>
                <a14:m>
                  <m:oMath xmlns:m="http://schemas.openxmlformats.org/officeDocument/2006/math">
                    <m:r>
                      <m:rPr>
                        <m:scr m:val="double-struck"/>
                        <m:sty m:val="p"/>
                      </m:rPr>
                      <a:rPr lang="en-IN" sz="20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R</m:t>
                    </m:r>
                  </m:oMath>
                </a14:m>
                <a:r>
                  <a:rPr sz="2000" b="0">
                    <a:solidFill>
                      <a:srgbClr val="111827"/>
                    </a:solidFill>
                    <a:latin typeface="Arial"/>
                  </a:rPr>
                  <a:t>, and </a:t>
                </a:r>
                <a14:m>
                  <m:oMath xmlns:m="http://schemas.openxmlformats.org/officeDocument/2006/math">
                    <m:r>
                      <a:rPr lang="en-IN" sz="20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ℎ</m:t>
                    </m:r>
                    <m:r>
                      <m:rPr>
                        <m:sty m:val="p"/>
                      </m:rPr>
                      <a:rPr lang="en-IN" sz="20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0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0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000" b="0">
                    <a:solidFill>
                      <a:srgbClr val="111827"/>
                    </a:solidFill>
                    <a:latin typeface="Arial"/>
                  </a:rPr>
                  <a:t> is strictly decreasing on </a:t>
                </a:r>
                <a14:m>
                  <m:oMath xmlns:m="http://schemas.openxmlformats.org/officeDocument/2006/math">
                    <m:r>
                      <m:rPr>
                        <m:scr m:val="double-struck"/>
                        <m:sty m:val="p"/>
                      </m:rPr>
                      <a:rPr lang="en-IN" sz="20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R</m:t>
                    </m:r>
                  </m:oMath>
                </a14:m>
                <a:endParaRPr sz="20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5394960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0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000">
                    <a:solidFill>
                      <a:srgbClr val="111827"/>
                    </a:solidFill>
                  </a:defRPr>
                </a:pPr>
                <a:r>
                  <a:rPr sz="2000" b="0">
                    <a:solidFill>
                      <a:srgbClr val="111827"/>
                    </a:solidFill>
                    <a:latin typeface="Arial"/>
                  </a:rPr>
                  <a:t>Let </a:t>
                </a:r>
                <a:r>
                  <a:rPr lang="en-IN" sz="20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$f:\mathbb{R}\to\mathbb{R}$</a:t>
                </a:r>
                <a:r>
                  <a:rPr sz="2000" b="0">
                    <a:solidFill>
                      <a:srgbClr val="111827"/>
                    </a:solidFill>
                    <a:latin typeface="Arial"/>
                  </a:rPr>
                  <a:t> be a twice differentiable function satisfying </a:t>
                </a:r>
                <a:r>
                  <a:rPr lang="en-IN" sz="20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$f(0)=0$</a:t>
                </a:r>
                <a:r>
                  <a:rPr sz="20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0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$f'(0)=1$</a:t>
                </a:r>
                <a:r>
                  <a:rPr sz="2000" b="0">
                    <a:solidFill>
                      <a:srgbClr val="111827"/>
                    </a:solidFill>
                    <a:latin typeface="Arial"/>
                  </a:rPr>
                  <a:t>, and </a:t>
                </a:r>
                <a:r>
                  <a:rPr lang="en-IN" sz="20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$f''(x)+f(x)(f'(x))^2=0$</a:t>
                </a:r>
                <a:r>
                  <a:rPr sz="2000" b="0">
                    <a:solidFill>
                      <a:srgbClr val="111827"/>
                    </a:solidFill>
                    <a:latin typeface="Arial"/>
                  </a:rPr>
                  <a:t> for all </a:t>
                </a:r>
                <a:r>
                  <a:rPr lang="en-IN" sz="20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$x\in\mathbb{R}$</a:t>
                </a:r>
                <a:r>
                  <a:rPr sz="2000" b="0">
                    <a:solidFill>
                      <a:srgbClr val="111827"/>
                    </a:solidFill>
                    <a:latin typeface="Arial"/>
                  </a:rPr>
                  <a:t>. Consider the functions </a:t>
                </a:r>
                <a:r>
                  <a:rPr lang="en-IN" sz="20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$g:\mathbb{R}\to\mathbb{R}$</a:t>
                </a:r>
                <a:r>
                  <a:rPr sz="20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0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$h:\mathbb{R}\to\mathbb{R}$</a:t>
                </a:r>
                <a:r>
                  <a:rPr sz="2000" b="0">
                    <a:solidFill>
                      <a:srgbClr val="111827"/>
                    </a:solidFill>
                    <a:latin typeface="Arial"/>
                  </a:rPr>
                  <a:t>, and </a:t>
                </a:r>
                <a:r>
                  <a:rPr lang="en-IN" sz="20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$k:(0,\infty)\to\mathbb{R}$</a:t>
                </a:r>
                <a:r>
                  <a:rPr sz="2000" b="0">
                    <a:solidFill>
                      <a:srgbClr val="111827"/>
                    </a:solidFill>
                    <a:latin typeface="Arial"/>
                  </a:rPr>
                  <a:t> defined by </a:t>
                </a:r>
                <a:r>
                  <a:rPr lang="en-IN" sz="20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$g(x)=f(x)-x$</a:t>
                </a:r>
                <a:r>
                  <a:rPr sz="20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0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$h(x)=f(x)e^{\frac{x^2}{2}}$</a:t>
                </a:r>
                <a:r>
                  <a:rPr sz="2000" b="0">
                    <a:solidFill>
                      <a:srgbClr val="111827"/>
                    </a:solidFill>
                    <a:latin typeface="Arial"/>
                  </a:rPr>
                  <a:t>, and </a:t>
                </a:r>
                <a:r>
                  <a:rPr lang="en-IN" sz="20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$k(x)=\frac{f(x)}{x}$</a:t>
                </a:r>
                <a:r>
                  <a:rPr sz="20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0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000">
                    <a:solidFill>
                      <a:srgbClr val="111827"/>
                    </a:solidFill>
                  </a:defRPr>
                </a:pPr>
                <a:r>
                  <a:rPr sz="2000" b="0">
                    <a:solidFill>
                      <a:srgbClr val="111827"/>
                    </a:solidFill>
                    <a:latin typeface="Arial"/>
                  </a:rPr>
                  <a:t>Which of the following statements is CORRECT regarding the monotonic behavior of the functions </a:t>
                </a:r>
                <a:r>
                  <a:rPr lang="en-IN" sz="20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$f(x)$</a:t>
                </a:r>
                <a:r>
                  <a:rPr sz="20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0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$g(x)$</a:t>
                </a:r>
                <a:r>
                  <a:rPr sz="20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0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$h(x)$</a:t>
                </a:r>
                <a:r>
                  <a:rPr sz="2000" b="0">
                    <a:solidFill>
                      <a:srgbClr val="111827"/>
                    </a:solidFill>
                    <a:latin typeface="Arial"/>
                  </a:rPr>
                  <a:t> on </a:t>
                </a:r>
                <a:r>
                  <a:rPr lang="en-IN" sz="20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$\mathbb{R}$</a:t>
                </a:r>
                <a:r>
                  <a:rPr sz="2000" b="0">
                    <a:solidFill>
                      <a:srgbClr val="111827"/>
                    </a:solidFill>
                    <a:latin typeface="Arial"/>
                  </a:rPr>
                  <a:t>?</a:t>
                </a:r>
                <a:endParaRPr sz="20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000">
                    <a:solidFill>
                      <a:srgbClr val="111827"/>
                    </a:solidFill>
                  </a:defRPr>
                </a:pPr>
                <a:r>
                  <a:rPr sz="2000" b="0">
                    <a:solidFill>
                      <a:srgbClr val="111827"/>
                    </a:solidFill>
                    <a:latin typeface="Arial"/>
                  </a:rPr>
                  <a:t>(A) </a:t>
                </a:r>
                <a:r>
                  <a:rPr lang="en-IN" sz="20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$f(x)$</a:t>
                </a:r>
                <a:r>
                  <a:rPr sz="2000" b="0">
                    <a:solidFill>
                      <a:srgbClr val="111827"/>
                    </a:solidFill>
                    <a:latin typeface="Arial"/>
                  </a:rPr>
                  <a:t> is strictly increasing on </a:t>
                </a:r>
                <a:r>
                  <a:rPr lang="en-IN" sz="20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$\mathbb{R}$</a:t>
                </a:r>
                <a:r>
                  <a:rPr sz="20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0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$g(x)$</a:t>
                </a:r>
                <a:r>
                  <a:rPr sz="2000" b="0">
                    <a:solidFill>
                      <a:srgbClr val="111827"/>
                    </a:solidFill>
                    <a:latin typeface="Arial"/>
                  </a:rPr>
                  <a:t> is strictly increasing on </a:t>
                </a:r>
                <a:r>
                  <a:rPr lang="en-IN" sz="20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$\mathbb{R}$</a:t>
                </a:r>
                <a:r>
                  <a:rPr sz="2000" b="0">
                    <a:solidFill>
                      <a:srgbClr val="111827"/>
                    </a:solidFill>
                    <a:latin typeface="Arial"/>
                  </a:rPr>
                  <a:t>, and </a:t>
                </a:r>
                <a:r>
                  <a:rPr lang="en-IN" sz="20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$h(x)$</a:t>
                </a:r>
                <a:r>
                  <a:rPr sz="2000" b="0">
                    <a:solidFill>
                      <a:srgbClr val="111827"/>
                    </a:solidFill>
                    <a:latin typeface="Arial"/>
                  </a:rPr>
                  <a:t> is strictly decreasing on </a:t>
                </a:r>
                <a:r>
                  <a:rPr lang="en-IN" sz="20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$\mathbb{R}$</a:t>
                </a:r>
                <a:endParaRPr sz="20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000">
                    <a:solidFill>
                      <a:srgbClr val="111827"/>
                    </a:solidFill>
                  </a:defRPr>
                </a:pPr>
                <a:r>
                  <a:rPr sz="2000" b="0">
                    <a:solidFill>
                      <a:srgbClr val="111827"/>
                    </a:solidFill>
                    <a:latin typeface="Arial"/>
                  </a:rPr>
                  <a:t>(B) </a:t>
                </a:r>
                <a:r>
                  <a:rPr lang="en-IN" sz="20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$f(x)$</a:t>
                </a:r>
                <a:r>
                  <a:rPr sz="2000" b="0">
                    <a:solidFill>
                      <a:srgbClr val="111827"/>
                    </a:solidFill>
                    <a:latin typeface="Arial"/>
                  </a:rPr>
                  <a:t> is strictly increasing on </a:t>
                </a:r>
                <a:r>
                  <a:rPr lang="en-IN" sz="20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$\mathbb{R}$</a:t>
                </a:r>
                <a:r>
                  <a:rPr sz="20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0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$g(x)$</a:t>
                </a:r>
                <a:r>
                  <a:rPr sz="2000" b="0">
                    <a:solidFill>
                      <a:srgbClr val="111827"/>
                    </a:solidFill>
                    <a:latin typeface="Arial"/>
                  </a:rPr>
                  <a:t> is strictly decreasing on </a:t>
                </a:r>
                <a:r>
                  <a:rPr lang="en-IN" sz="20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$\mathbb{R}$</a:t>
                </a:r>
                <a:r>
                  <a:rPr sz="2000" b="0">
                    <a:solidFill>
                      <a:srgbClr val="111827"/>
                    </a:solidFill>
                    <a:latin typeface="Arial"/>
                  </a:rPr>
                  <a:t>, and </a:t>
                </a:r>
                <a:r>
                  <a:rPr lang="en-IN" sz="20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$h(x)$</a:t>
                </a:r>
                <a:r>
                  <a:rPr sz="2000" b="0">
                    <a:solidFill>
                      <a:srgbClr val="111827"/>
                    </a:solidFill>
                    <a:latin typeface="Arial"/>
                  </a:rPr>
                  <a:t> is strictly increasing on </a:t>
                </a:r>
                <a:r>
                  <a:rPr lang="en-IN" sz="20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$\mathbb{R}$</a:t>
                </a:r>
                <a:endParaRPr sz="20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000">
                    <a:solidFill>
                      <a:srgbClr val="111827"/>
                    </a:solidFill>
                  </a:defRPr>
                </a:pPr>
                <a:r>
                  <a:rPr sz="2000" b="0">
                    <a:solidFill>
                      <a:srgbClr val="111827"/>
                    </a:solidFill>
                    <a:latin typeface="Arial"/>
                  </a:rPr>
                  <a:t>(C) </a:t>
                </a:r>
                <a:r>
                  <a:rPr lang="en-IN" sz="20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$f(x)$</a:t>
                </a:r>
                <a:r>
                  <a:rPr sz="2000" b="0">
                    <a:solidFill>
                      <a:srgbClr val="111827"/>
                    </a:solidFill>
                    <a:latin typeface="Arial"/>
                  </a:rPr>
                  <a:t> is strictly decreasing on </a:t>
                </a:r>
                <a:r>
                  <a:rPr lang="en-IN" sz="20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$\mathbb{R}$</a:t>
                </a:r>
                <a:r>
                  <a:rPr sz="20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0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$g(x)$</a:t>
                </a:r>
                <a:r>
                  <a:rPr sz="2000" b="0">
                    <a:solidFill>
                      <a:srgbClr val="111827"/>
                    </a:solidFill>
                    <a:latin typeface="Arial"/>
                  </a:rPr>
                  <a:t> is strictly decreasing on </a:t>
                </a:r>
                <a:r>
                  <a:rPr lang="en-IN" sz="20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$\mathbb{R}$</a:t>
                </a:r>
                <a:r>
                  <a:rPr sz="2000" b="0">
                    <a:solidFill>
                      <a:srgbClr val="111827"/>
                    </a:solidFill>
                    <a:latin typeface="Arial"/>
                  </a:rPr>
                  <a:t>, and </a:t>
                </a:r>
                <a:r>
                  <a:rPr lang="en-IN" sz="20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$h(x)$</a:t>
                </a:r>
                <a:r>
                  <a:rPr sz="2000" b="0">
                    <a:solidFill>
                      <a:srgbClr val="111827"/>
                    </a:solidFill>
                    <a:latin typeface="Arial"/>
                  </a:rPr>
                  <a:t> is strictly increasing on </a:t>
                </a:r>
                <a:r>
                  <a:rPr lang="en-IN" sz="20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$\mathbb{R}$</a:t>
                </a:r>
                <a:endParaRPr sz="20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000">
                    <a:solidFill>
                      <a:srgbClr val="111827"/>
                    </a:solidFill>
                  </a:defRPr>
                </a:pPr>
                <a:r>
                  <a:rPr sz="2000" b="0">
                    <a:solidFill>
                      <a:srgbClr val="111827"/>
                    </a:solidFill>
                    <a:latin typeface="Arial"/>
                  </a:rPr>
                  <a:t>(D) </a:t>
                </a:r>
                <a:r>
                  <a:rPr lang="en-IN" sz="20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$f(x)$</a:t>
                </a:r>
                <a:r>
                  <a:rPr sz="2000" b="0">
                    <a:solidFill>
                      <a:srgbClr val="111827"/>
                    </a:solidFill>
                    <a:latin typeface="Arial"/>
                  </a:rPr>
                  <a:t> is strictly increasing on </a:t>
                </a:r>
                <a:r>
                  <a:rPr lang="en-IN" sz="20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$\mathbb{R}$</a:t>
                </a:r>
                <a:r>
                  <a:rPr sz="20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0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$g(x)$</a:t>
                </a:r>
                <a:r>
                  <a:rPr sz="2000" b="0">
                    <a:solidFill>
                      <a:srgbClr val="111827"/>
                    </a:solidFill>
                    <a:latin typeface="Arial"/>
                  </a:rPr>
                  <a:t> is strictly decreasing on </a:t>
                </a:r>
                <a:r>
                  <a:rPr lang="en-IN" sz="20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$\mathbb{R}$</a:t>
                </a:r>
                <a:r>
                  <a:rPr sz="2000" b="0">
                    <a:solidFill>
                      <a:srgbClr val="111827"/>
                    </a:solidFill>
                    <a:latin typeface="Arial"/>
                  </a:rPr>
                  <a:t>, and </a:t>
                </a:r>
                <a:r>
                  <a:rPr lang="en-IN" sz="20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$h(x)$</a:t>
                </a:r>
                <a:r>
                  <a:rPr sz="2000" b="0">
                    <a:solidFill>
                      <a:srgbClr val="111827"/>
                    </a:solidFill>
                    <a:latin typeface="Arial"/>
                  </a:rPr>
                  <a:t> is strictly decreasing on </a:t>
                </a:r>
                <a:r>
                  <a:rPr lang="en-IN" sz="20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$\mathbb{R}$</a:t>
                </a:r>
                <a:endParaRPr sz="20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6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09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3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280160"/>
                <a:ext cx="10725912" cy="2084831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Paragraph Based Single Correct Type(3 Marks)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Concept(s) : Differential equation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″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​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(integrating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𝑓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″</m:t>
                            </m:r>
                          </m:sup>
                        </m:sSup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𝑓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′</m:t>
                            </m:r>
                          </m:sup>
                        </m:sSup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), Monotonic behaviour of functions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Difficulty Level: Level 3(Average JEE Advanced Level)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280160"/>
                <a:ext cx="10725912" cy="2084831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Paragraph Based Single Correct Type(3 Marks)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Concept(s) : Differential equation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$f''=-ff'^2$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(integrating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$\frac{f''}{f'}$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), Monotonic behaviour of functions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Difficulty Level: Level 3(Average JEE Advanced Level)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3547872"/>
                <a:ext cx="10725912" cy="13289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Divide by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𝑓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″</m:t>
                            </m:r>
                          </m:sup>
                        </m:sSup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𝑓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′</m:t>
                            </m:r>
                          </m:sup>
                        </m:sSup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integrates to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𝑓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  <m:sSup>
                              <m:e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78350F"/>
                                    </a:solidFill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78350F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num>
                          <m:den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sup>
                    </m:sSup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3547872"/>
                <a:ext cx="10725912" cy="13289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Divide by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$f'$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$\frac{f''}{f'}=-ff'$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integrates to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$f'(x)=e^{-\frac{(f(x))^2}{2}}$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5013960"/>
                <a:ext cx="10725912" cy="1661159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Given the differential equation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𝑓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″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𝑓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′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(dividing by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which stays positive as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5013960"/>
                <a:ext cx="10725912" cy="1661159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Given the differential equation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$\frac{f''(x)}{f'(x)}=-f(x)f'(x)$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(dividing by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$f'(x)$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which stays positive as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$f'(0)=1$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6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09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3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Integrating both sides: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ln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Using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we get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Hence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𝑓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  <m:sSup>
                              <m:e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all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m:rPr>
                        <m:scr m:val="double-struck"/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R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strictly increasing on </a:t>
                </a:r>
                <a14:m>
                  <m:oMath xmlns:m="http://schemas.openxmlformats.org/officeDocument/2006/math">
                    <m:r>
                      <m:rPr>
                        <m:scr m:val="double-struck"/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R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⇒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𝑔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𝑓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  <m:sSup>
                              <m:e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Since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𝑓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  <m:sSup>
                              <m:e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with equality iff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⇔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Hence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𝑔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all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≠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𝑔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strictly decreasing on </a:t>
                </a:r>
                <a14:m>
                  <m:oMath xmlns:m="http://schemas.openxmlformats.org/officeDocument/2006/math">
                    <m:r>
                      <m:rPr>
                        <m:scr m:val="double-struck"/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R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⇒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ℎ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sup>
                    </m:sSup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𝑓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′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sup>
                    </m:sSup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𝑒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f>
                              <m:fPr>
                                <m:type m:val="bar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(</m:t>
                                </m:r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𝑓</m:t>
                                </m:r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(</m:t>
                                </m:r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  <m:sSup>
                                  <m:e>
                                    <m:r>
                                      <m:rPr>
                                        <m:sty m:val="p"/>
                                      </m:rPr>
                                      <a:rPr lang="en-IN" sz="2400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)</m:t>
                                    </m:r>
                                  </m:e>
                                  <m:sup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p>
                                </m:sSup>
                              </m:num>
                              <m:den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den>
                            </m:f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Integrating both sides: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$\ln(f'(x))=-\frac{(f(x))^2}{2}+C$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Using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$f(0)=0$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$f'(0)=1$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we get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Hence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$f'(x)=e^{-\frac{(f(x))^2}{2}}&gt;0$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all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$x\in\mathbb{R}$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$f(x)$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strictly increasing 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$\mathbb{R}$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$g(x)=f(x)-x\Rightarrow g'(x)=f'(x)-1=e^{-\frac{(f(x))^2}{2}}-1$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Since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$(f(x))^2\ge0$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$e^{-\frac{(f(x))^2}{2}}\le1$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with equality iff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$f(x)=0\iff x=0$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Hence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$g'(x)&lt;0$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all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$x\ne0$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$g'(0)=0$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$g(x)$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strictly decreasing 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$\mathbb{R}$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$h(x)=f(x)e^{\frac{x^2}{2}}\Rightarrow h'(x)=e^{\frac{x^2}{2}}\left(f'(x)+xf(x)\right)=e^{\frac{x^2}{2}}\left(e^{-\frac{(f(x))^2}{2}}+xf(x)\right)$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6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09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3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Since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strictly increasing: 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all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Since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𝑓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  <m:sSup>
                              <m:e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ℎ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all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m:rPr>
                        <m:scr m:val="double-struck"/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R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strictly increasing on </a:t>
                </a:r>
                <a14:m>
                  <m:oMath xmlns:m="http://schemas.openxmlformats.org/officeDocument/2006/math">
                    <m:r>
                      <m:rPr>
                        <m:scr m:val="double-struck"/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R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Hence option (B).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Since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$f(0)=0$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strictly increasing: 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$x&gt;0$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$f(x)&gt;0\Rightarrow xf(x)&gt;0$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$x&lt;0$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$f(x)&lt;0\Rightarrow xf(x)&gt;0$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$xf(x)\ge0$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all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Since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$e^{-\frac{(f(x))^2}{2}}&gt;0$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$h'(x)&gt;0$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all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$x\in\mathbb{R}$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$h(x)$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strictly increasing 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$\mathbb{R}$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Hence option (B).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(B) </a:t>
                </a:r>
                <a14:m>
                  <m:oMath xmlns:m="http://schemas.openxmlformats.org/officeDocument/2006/math"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𝑓</m:t>
                    </m:r>
                  </m:oMath>
                </a14:m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 strictly increasing, </a:t>
                </a:r>
                <a14:m>
                  <m:oMath xmlns:m="http://schemas.openxmlformats.org/officeDocument/2006/math"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𝑔</m:t>
                    </m:r>
                  </m:oMath>
                </a14:m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 strictly decreasing, </a:t>
                </a:r>
                <a14:m>
                  <m:oMath xmlns:m="http://schemas.openxmlformats.org/officeDocument/2006/math"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ℎ</m:t>
                    </m:r>
                  </m:oMath>
                </a14:m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 strictly increasing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(B)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$f$</a:t>
                </a: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 strictly increasing,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$g$</a:t>
                </a: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 strictly decreasing,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$h$</a:t>
                </a: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 strictly increasing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7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09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3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4813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Never solve the equation: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satisfies a linear equation so it never vanishes, and the sign of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″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​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(opposite to the sign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𝑓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i.e.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) shows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peaks 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4813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Never solve the equation: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$f'$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satisfies a linear equation so it never vanishes, and the sign of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$f''=-ff'^2$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(opposite to the sign of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$f$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i.e. of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$x$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) shows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$f'$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peaks at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$x=0$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2898648"/>
                <a:ext cx="10725912" cy="377647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Put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𝑢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The equation reads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𝑢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 linear first-order equation,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𝑢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𝑢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exp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nary>
                          <m:naryPr>
                            <m:chr m:val="∫"/>
                            <m:limLoc m:val="subSup"/>
                            <m:subHide m:val="off"/>
                            <m:supHide m:val="off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naryPr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𝑓</m:t>
                            </m:r>
                          </m:e>
                        </m:nary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𝑓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′</m:t>
                            </m:r>
                          </m:sup>
                        </m:s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 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exp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nary>
                          <m:naryPr>
                            <m:chr m:val="∫"/>
                            <m:limLoc m:val="subSup"/>
                            <m:subHide m:val="off"/>
                            <m:supHide m:val="off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naryPr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𝑓</m:t>
                            </m:r>
                          </m:e>
                        </m:nary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𝑓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′</m:t>
                            </m:r>
                          </m:sup>
                        </m:s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 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Thus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strictly increasing, and since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has the sign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″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has the sign opposite to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(as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):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″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″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2898648"/>
                <a:ext cx="10725912" cy="377647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Put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$u=f'$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The equation reads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$u'=-(ff')\,u$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 linear first-order equation,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$u(x)=u(0)\exp\left(-\int_0^xff'\,dt\right)=\exp\left(-\int_0^xff'\,dt\right)&gt;0$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Thus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$f'&gt;0$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strictly increasing, and since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$f(0)=0$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$f(x)$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has the sign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$f''=-f\,(f')^2$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has the sign opposite to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(as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$(f')^2&gt;0$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$f''&lt;0$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$x&gt;0$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$f''&gt;0$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$x&lt;0$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7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09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3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strictly decreasing on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strictly increasing on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with maximum value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Hence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≠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Therefore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𝑔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≠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(and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strictly decreasing.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ℎ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sup>
                    </m:sSup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𝑓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′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ℎ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ℎ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strictly increasing. Option (B).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$f'$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strictly decreasing 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$[0,\infty)$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strictly increasing 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$(-\infty,0]$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with maximum value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$f'(0)=1$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Hence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$f'(x)&lt;1$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$x\ne0$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Therefore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$g'(x)=f'(x)-1&lt;0$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$x\ne0$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$g$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strictly decreasing.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$h'(x)=e^{\frac{x^2}{2}}\left(f'(x)+xf(x)\right)$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$f'&gt;0$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$xf(x)\ge0$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$h'&gt;0$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$h$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strictly increasing. Option (B).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ounded Rectangle 5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(B) </a:t>
                </a:r>
                <a14:m>
                  <m:oMath xmlns:m="http://schemas.openxmlformats.org/officeDocument/2006/math"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𝑓</m:t>
                    </m:r>
                  </m:oMath>
                </a14:m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 strictly increasing, </a:t>
                </a:r>
                <a14:m>
                  <m:oMath xmlns:m="http://schemas.openxmlformats.org/officeDocument/2006/math"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𝑔</m:t>
                    </m:r>
                  </m:oMath>
                </a14:m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 strictly decreasing, </a:t>
                </a:r>
                <a14:m>
                  <m:oMath xmlns:m="http://schemas.openxmlformats.org/officeDocument/2006/math"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ℎ</m:t>
                    </m:r>
                  </m:oMath>
                </a14:m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 strictly increasing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6" name="Rounded Rectangle 5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(B)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$f$</a:t>
                </a: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 strictly increasing,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$g$</a:t>
                </a: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 strictly decreasing,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$h$</a:t>
                </a: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 strictly increasing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7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09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3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″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ϕ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​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 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-type equations (autonomous, no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), divide by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(or put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as a function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𝑝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″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 to integrate once. Here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𝑝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𝑓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 linear homogeneous equation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𝑢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has solution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𝑢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𝑢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exp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∫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𝑢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≠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implies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𝑢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never vanishes (a strictly positive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here).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𝑓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sup>
                      <m:e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𝑒</m:t>
                            </m:r>
                          </m:e>
                          <m:sup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𝑢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/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nary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𝑢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the inverse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↦</m:t>
                    </m:r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sup>
                      <m:e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𝑒</m:t>
                            </m:r>
                          </m:e>
                          <m:sup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𝑢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/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nary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𝑢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(an odd, increasing function),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odd,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∞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∞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Typical monotonicity checks: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has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𝑔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when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has derivative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$f''=\phi(f)\,f'^{\,2}$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-type equations (autonomous, no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), divide by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$f'$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(or put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$p=f'$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as a function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$p\frac{dp}{df}=f''$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 to integrate once. Here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$\frac{dp}{df}=-fp\Rightarrow p=e^{-f^2/2}$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 linear homogeneous equation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$u'=a(x)u$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has solution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$u=u(0)\exp\int 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$u(0)\ne0$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implies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$u$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never vanishes (a strictly positive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$f'$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here).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$f'=e^{-f^2/2}$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$x=\int_0^{f}e^{u^2/2}\,du$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the inverse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$x\mapsto\int_0^xe^{u^2/2}du$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(an odd, increasing function),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odd,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$0&lt;f'\le1$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$f\to\pm\infty$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$x\to\pm\infty$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Typical monotonicity checks: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$g=f-x$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$g'=f'-1\le0$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$f'\le1$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$f(x)e^{x^2/2}$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has derivative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$e^{x^2/2}(f'+xf)$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7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10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E88080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4  ·  3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5394960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0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000">
                    <a:solidFill>
                      <a:srgbClr val="111827"/>
                    </a:solidFill>
                  </a:defRPr>
                </a:pPr>
                <a:r>
                  <a:rPr sz="2000" b="0">
                    <a:solidFill>
                      <a:srgbClr val="111827"/>
                    </a:solidFill>
                    <a:latin typeface="Arial"/>
                  </a:rPr>
                  <a:t>Let </a:t>
                </a:r>
                <a14:m>
                  <m:oMath xmlns:m="http://schemas.openxmlformats.org/officeDocument/2006/math">
                    <m:r>
                      <a:rPr lang="en-IN" sz="20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0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:</m:t>
                    </m:r>
                    <m:r>
                      <m:rPr>
                        <m:scr m:val="double-struck"/>
                        <m:sty m:val="p"/>
                      </m:rPr>
                      <a:rPr lang="en-IN" sz="20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R</m:t>
                    </m:r>
                    <m:r>
                      <m:rPr>
                        <m:sty m:val="p"/>
                      </m:rPr>
                      <a:rPr lang="en-IN" sz="20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m:rPr>
                        <m:scr m:val="double-struck"/>
                        <m:sty m:val="p"/>
                      </m:rPr>
                      <a:rPr lang="en-IN" sz="20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R</m:t>
                    </m:r>
                  </m:oMath>
                </a14:m>
                <a:r>
                  <a:rPr sz="2000" b="0">
                    <a:solidFill>
                      <a:srgbClr val="111827"/>
                    </a:solidFill>
                    <a:latin typeface="Arial"/>
                  </a:rPr>
                  <a:t> be a twice differentiable function satisfying </a:t>
                </a:r>
                <a14:m>
                  <m:oMath xmlns:m="http://schemas.openxmlformats.org/officeDocument/2006/math">
                    <m:r>
                      <a:rPr lang="en-IN" sz="20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0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0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0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0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0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0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0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0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0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0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0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0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0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000" b="0">
                    <a:solidFill>
                      <a:srgbClr val="111827"/>
                    </a:solidFill>
                    <a:latin typeface="Arial"/>
                  </a:rPr>
                  <a:t>, and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0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0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″</m:t>
                        </m:r>
                      </m:sup>
                    </m:sSup>
                    <m:r>
                      <m:rPr>
                        <m:sty m:val="p"/>
                      </m:rPr>
                      <a:rPr lang="en-IN" sz="20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0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0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0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0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0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0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0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0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p>
                      <m:e>
                        <m:r>
                          <a:rPr lang="en-IN" sz="20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0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0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0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0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0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0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0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0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000" b="0">
                    <a:solidFill>
                      <a:srgbClr val="111827"/>
                    </a:solidFill>
                    <a:latin typeface="Arial"/>
                  </a:rPr>
                  <a:t> for all </a:t>
                </a:r>
                <a14:m>
                  <m:oMath xmlns:m="http://schemas.openxmlformats.org/officeDocument/2006/math">
                    <m:r>
                      <a:rPr lang="en-IN" sz="20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0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m:rPr>
                        <m:scr m:val="double-struck"/>
                        <m:sty m:val="p"/>
                      </m:rPr>
                      <a:rPr lang="en-IN" sz="20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R</m:t>
                    </m:r>
                  </m:oMath>
                </a14:m>
                <a:r>
                  <a:rPr sz="2000" b="0">
                    <a:solidFill>
                      <a:srgbClr val="111827"/>
                    </a:solidFill>
                    <a:latin typeface="Arial"/>
                  </a:rPr>
                  <a:t>. Consider the functions </a:t>
                </a:r>
                <a14:m>
                  <m:oMath xmlns:m="http://schemas.openxmlformats.org/officeDocument/2006/math">
                    <m:r>
                      <a:rPr lang="en-IN" sz="20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m:rPr>
                        <m:sty m:val="p"/>
                      </m:rPr>
                      <a:rPr lang="en-IN" sz="20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:</m:t>
                    </m:r>
                    <m:r>
                      <m:rPr>
                        <m:scr m:val="double-struck"/>
                        <m:sty m:val="p"/>
                      </m:rPr>
                      <a:rPr lang="en-IN" sz="20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R</m:t>
                    </m:r>
                    <m:r>
                      <m:rPr>
                        <m:sty m:val="p"/>
                      </m:rPr>
                      <a:rPr lang="en-IN" sz="20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m:rPr>
                        <m:scr m:val="double-struck"/>
                        <m:sty m:val="p"/>
                      </m:rPr>
                      <a:rPr lang="en-IN" sz="20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R</m:t>
                    </m:r>
                  </m:oMath>
                </a14:m>
                <a:r>
                  <a:rPr sz="20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0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ℎ</m:t>
                    </m:r>
                    <m:r>
                      <m:rPr>
                        <m:sty m:val="p"/>
                      </m:rPr>
                      <a:rPr lang="en-IN" sz="20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:</m:t>
                    </m:r>
                    <m:r>
                      <m:rPr>
                        <m:scr m:val="double-struck"/>
                        <m:sty m:val="p"/>
                      </m:rPr>
                      <a:rPr lang="en-IN" sz="20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R</m:t>
                    </m:r>
                    <m:r>
                      <m:rPr>
                        <m:sty m:val="p"/>
                      </m:rPr>
                      <a:rPr lang="en-IN" sz="20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m:rPr>
                        <m:scr m:val="double-struck"/>
                        <m:sty m:val="p"/>
                      </m:rPr>
                      <a:rPr lang="en-IN" sz="20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R</m:t>
                    </m:r>
                  </m:oMath>
                </a14:m>
                <a:r>
                  <a:rPr sz="2000" b="0">
                    <a:solidFill>
                      <a:srgbClr val="111827"/>
                    </a:solidFill>
                    <a:latin typeface="Arial"/>
                  </a:rPr>
                  <a:t>, and </a:t>
                </a:r>
                <a14:m>
                  <m:oMath xmlns:m="http://schemas.openxmlformats.org/officeDocument/2006/math">
                    <m:r>
                      <a:rPr lang="en-IN" sz="20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0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:</m:t>
                    </m:r>
                    <m:r>
                      <m:rPr>
                        <m:sty m:val="p"/>
                      </m:rPr>
                      <a:rPr lang="en-IN" sz="20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0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0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0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∞</m:t>
                    </m:r>
                    <m:r>
                      <m:rPr>
                        <m:sty m:val="p"/>
                      </m:rPr>
                      <a:rPr lang="en-IN" sz="20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0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m:rPr>
                        <m:scr m:val="double-struck"/>
                        <m:sty m:val="p"/>
                      </m:rPr>
                      <a:rPr lang="en-IN" sz="20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R</m:t>
                    </m:r>
                  </m:oMath>
                </a14:m>
                <a:r>
                  <a:rPr sz="2000" b="0">
                    <a:solidFill>
                      <a:srgbClr val="111827"/>
                    </a:solidFill>
                    <a:latin typeface="Arial"/>
                  </a:rPr>
                  <a:t> defined by </a:t>
                </a:r>
                <a14:m>
                  <m:oMath xmlns:m="http://schemas.openxmlformats.org/officeDocument/2006/math">
                    <m:r>
                      <a:rPr lang="en-IN" sz="20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m:rPr>
                        <m:sty m:val="p"/>
                      </m:rPr>
                      <a:rPr lang="en-IN" sz="20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0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0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0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0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0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0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0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0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0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0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0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ℎ</m:t>
                    </m:r>
                    <m:r>
                      <m:rPr>
                        <m:sty m:val="p"/>
                      </m:rPr>
                      <a:rPr lang="en-IN" sz="20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0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0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0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0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0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0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0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sSup>
                      <m:e>
                        <m:r>
                          <a:rPr lang="en-IN" sz="20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f>
                          <m:fPr>
                            <m:type m:val="bar"/>
                            <m:ctrlPr>
                              <a:rPr lang="en-IN" sz="20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sSup>
                              <m:e>
                                <m:r>
                                  <a:rPr lang="en-IN" sz="20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p>
                                <m:r>
                                  <a:rPr lang="en-IN" sz="20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num>
                          <m:den>
                            <m:r>
                              <a:rPr lang="en-IN" sz="20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sup>
                    </m:sSup>
                  </m:oMath>
                </a14:m>
                <a:r>
                  <a:rPr sz="2000" b="0">
                    <a:solidFill>
                      <a:srgbClr val="111827"/>
                    </a:solidFill>
                    <a:latin typeface="Arial"/>
                  </a:rPr>
                  <a:t>, and </a:t>
                </a:r>
                <a14:m>
                  <m:oMath xmlns:m="http://schemas.openxmlformats.org/officeDocument/2006/math">
                    <m:r>
                      <a:rPr lang="en-IN" sz="20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0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0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0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0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0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0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  <m:r>
                          <m:rPr>
                            <m:sty m:val="p"/>
                          </m:rPr>
                          <a:rPr lang="en-IN" sz="20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0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0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num>
                      <m:den>
                        <m:r>
                          <a:rPr lang="en-IN" sz="20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</m:oMath>
                </a14:m>
                <a:r>
                  <a:rPr sz="20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0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000">
                    <a:solidFill>
                      <a:srgbClr val="111827"/>
                    </a:solidFill>
                  </a:defRPr>
                </a:pPr>
                <a:r>
                  <a:rPr sz="2000" b="0">
                    <a:solidFill>
                      <a:srgbClr val="111827"/>
                    </a:solidFill>
                    <a:latin typeface="Arial"/>
                  </a:rPr>
                  <a:t>Consider the following statements:</a:t>
                </a:r>
                <a:endParaRPr sz="20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000">
                    <a:solidFill>
                      <a:srgbClr val="111827"/>
                    </a:solidFill>
                  </a:defRPr>
                </a:pPr>
                <a:r>
                  <a:rPr sz="2000" b="0">
                    <a:solidFill>
                      <a:srgbClr val="111827"/>
                    </a:solidFill>
                    <a:latin typeface="Arial"/>
                  </a:rPr>
                  <a:t>I. The function </a:t>
                </a:r>
                <a14:m>
                  <m:oMath xmlns:m="http://schemas.openxmlformats.org/officeDocument/2006/math">
                    <m:r>
                      <a:rPr lang="en-IN" sz="20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0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0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0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0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0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0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  <m:r>
                          <m:rPr>
                            <m:sty m:val="p"/>
                          </m:rPr>
                          <a:rPr lang="en-IN" sz="20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0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0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num>
                      <m:den>
                        <m:r>
                          <a:rPr lang="en-IN" sz="20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</m:oMath>
                </a14:m>
                <a:r>
                  <a:rPr sz="2000" b="0">
                    <a:solidFill>
                      <a:srgbClr val="111827"/>
                    </a:solidFill>
                    <a:latin typeface="Arial"/>
                  </a:rPr>
                  <a:t> is strictly decreasing on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0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0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0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0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∞</m:t>
                    </m:r>
                    <m:r>
                      <m:rPr>
                        <m:sty m:val="p"/>
                      </m:rPr>
                      <a:rPr lang="en-IN" sz="20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0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0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000">
                    <a:solidFill>
                      <a:srgbClr val="111827"/>
                    </a:solidFill>
                  </a:defRPr>
                </a:pPr>
                <a:r>
                  <a:rPr sz="2000" b="0">
                    <a:solidFill>
                      <a:srgbClr val="111827"/>
                    </a:solidFill>
                    <a:latin typeface="Arial"/>
                  </a:rPr>
                  <a:t>II. The equation </a:t>
                </a:r>
                <a14:m>
                  <m:oMath xmlns:m="http://schemas.openxmlformats.org/officeDocument/2006/math">
                    <m:r>
                      <a:rPr lang="en-IN" sz="20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0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0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0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0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0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a:rPr lang="en-IN" sz="20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000" b="0">
                    <a:solidFill>
                      <a:srgbClr val="111827"/>
                    </a:solidFill>
                    <a:latin typeface="Arial"/>
                  </a:rPr>
                  <a:t> has a unique real solution for every </a:t>
                </a:r>
                <a14:m>
                  <m:oMath xmlns:m="http://schemas.openxmlformats.org/officeDocument/2006/math">
                    <m:r>
                      <a:rPr lang="en-IN" sz="20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0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m:rPr>
                        <m:sty m:val="p"/>
                      </m:rPr>
                      <a:rPr lang="en-IN" sz="20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0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0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0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0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0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0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000">
                    <a:solidFill>
                      <a:srgbClr val="111827"/>
                    </a:solidFill>
                  </a:defRPr>
                </a:pPr>
                <a:r>
                  <a:rPr sz="2000" b="0">
                    <a:solidFill>
                      <a:srgbClr val="111827"/>
                    </a:solidFill>
                    <a:latin typeface="Arial"/>
                  </a:rPr>
                  <a:t>III.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0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0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″</m:t>
                        </m:r>
                      </m:sup>
                    </m:sSup>
                    <m:r>
                      <m:rPr>
                        <m:sty m:val="p"/>
                      </m:rPr>
                      <a:rPr lang="en-IN" sz="20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0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0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0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0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000" b="0">
                    <a:solidFill>
                      <a:srgbClr val="111827"/>
                    </a:solidFill>
                    <a:latin typeface="Arial"/>
                  </a:rPr>
                  <a:t> for all </a:t>
                </a:r>
                <a14:m>
                  <m:oMath xmlns:m="http://schemas.openxmlformats.org/officeDocument/2006/math">
                    <m:r>
                      <a:rPr lang="en-IN" sz="20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0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m:rPr>
                        <m:sty m:val="p"/>
                      </m:rPr>
                      <a:rPr lang="en-IN" sz="20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0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0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0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∞</m:t>
                    </m:r>
                    <m:r>
                      <m:rPr>
                        <m:sty m:val="p"/>
                      </m:rPr>
                      <a:rPr lang="en-IN" sz="20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0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0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000">
                    <a:solidFill>
                      <a:srgbClr val="111827"/>
                    </a:solidFill>
                  </a:defRPr>
                </a:pPr>
                <a:r>
                  <a:rPr sz="2000" b="0">
                    <a:solidFill>
                      <a:srgbClr val="111827"/>
                    </a:solidFill>
                    <a:latin typeface="Arial"/>
                  </a:rPr>
                  <a:t>IV. </a:t>
                </a:r>
                <a14:m>
                  <m:oMath xmlns:m="http://schemas.openxmlformats.org/officeDocument/2006/math">
                    <m:sSub>
                      <m:e>
                        <m:r>
                          <m:rPr>
                            <m:sty m:val="p"/>
                          </m:rPr>
                          <a:rPr lang="en-IN" sz="20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lim</m:t>
                        </m:r>
                      </m:e>
                      <m:sub>
                        <m:r>
                          <a:rPr lang="en-IN" sz="20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0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→</m:t>
                        </m:r>
                        <m:r>
                          <m:rPr>
                            <m:sty m:val="p"/>
                          </m:rPr>
                          <a:rPr lang="en-IN" sz="20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∞</m:t>
                        </m:r>
                      </m:sub>
                    </m:sSub>
                    <m:r>
                      <a:rPr lang="en-IN" sz="20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0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0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0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0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0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0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0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0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0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000">
                    <a:solidFill>
                      <a:srgbClr val="111827"/>
                    </a:solidFill>
                  </a:defRPr>
                </a:pPr>
                <a:r>
                  <a:rPr sz="2000" b="0">
                    <a:solidFill>
                      <a:srgbClr val="111827"/>
                    </a:solidFill>
                    <a:latin typeface="Arial"/>
                  </a:rPr>
                  <a:t>Which of the following options correctly identifies the truth values of the above statements?</a:t>
                </a:r>
                <a:endParaRPr sz="20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000">
                    <a:solidFill>
                      <a:srgbClr val="111827"/>
                    </a:solidFill>
                  </a:defRPr>
                </a:pPr>
                <a:r>
                  <a:rPr sz="2000" b="0">
                    <a:solidFill>
                      <a:srgbClr val="111827"/>
                    </a:solidFill>
                    <a:latin typeface="Arial"/>
                  </a:rPr>
                  <a:t>(A) I is True, II is False, III is False, IV is False</a:t>
                </a:r>
                <a:endParaRPr sz="20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000">
                    <a:solidFill>
                      <a:srgbClr val="111827"/>
                    </a:solidFill>
                  </a:defRPr>
                </a:pPr>
                <a:r>
                  <a:rPr sz="2000" b="0">
                    <a:solidFill>
                      <a:srgbClr val="111827"/>
                    </a:solidFill>
                    <a:latin typeface="Arial"/>
                  </a:rPr>
                  <a:t>(B) I is False, II is True, III is True, IV is False</a:t>
                </a:r>
                <a:endParaRPr sz="20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000">
                    <a:solidFill>
                      <a:srgbClr val="111827"/>
                    </a:solidFill>
                  </a:defRPr>
                </a:pPr>
                <a:r>
                  <a:rPr sz="2000" b="0">
                    <a:solidFill>
                      <a:srgbClr val="111827"/>
                    </a:solidFill>
                    <a:latin typeface="Arial"/>
                  </a:rPr>
                  <a:t>(C) I is True, II is False, III is False, IV is True</a:t>
                </a:r>
                <a:endParaRPr sz="20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000">
                    <a:solidFill>
                      <a:srgbClr val="111827"/>
                    </a:solidFill>
                  </a:defRPr>
                </a:pPr>
                <a:r>
                  <a:rPr sz="2000" b="0">
                    <a:solidFill>
                      <a:srgbClr val="111827"/>
                    </a:solidFill>
                    <a:latin typeface="Arial"/>
                  </a:rPr>
                  <a:t>(D) I is False, II is False, III is True, IV is True</a:t>
                </a:r>
                <a:endParaRPr sz="20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5394960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0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000">
                    <a:solidFill>
                      <a:srgbClr val="111827"/>
                    </a:solidFill>
                  </a:defRPr>
                </a:pPr>
                <a:r>
                  <a:rPr sz="2000" b="0">
                    <a:solidFill>
                      <a:srgbClr val="111827"/>
                    </a:solidFill>
                    <a:latin typeface="Arial"/>
                  </a:rPr>
                  <a:t>Let </a:t>
                </a:r>
                <a:r>
                  <a:rPr lang="en-IN" sz="20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$f:\mathbb{R}\to\mathbb{R}$</a:t>
                </a:r>
                <a:r>
                  <a:rPr sz="2000" b="0">
                    <a:solidFill>
                      <a:srgbClr val="111827"/>
                    </a:solidFill>
                    <a:latin typeface="Arial"/>
                  </a:rPr>
                  <a:t> be a twice differentiable function satisfying </a:t>
                </a:r>
                <a:r>
                  <a:rPr lang="en-IN" sz="20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$f(0)=0$</a:t>
                </a:r>
                <a:r>
                  <a:rPr sz="20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0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$f'(0)=1$</a:t>
                </a:r>
                <a:r>
                  <a:rPr sz="2000" b="0">
                    <a:solidFill>
                      <a:srgbClr val="111827"/>
                    </a:solidFill>
                    <a:latin typeface="Arial"/>
                  </a:rPr>
                  <a:t>, and </a:t>
                </a:r>
                <a:r>
                  <a:rPr lang="en-IN" sz="20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$f''(x)+f(x)(f'(x))^2=0$</a:t>
                </a:r>
                <a:r>
                  <a:rPr sz="2000" b="0">
                    <a:solidFill>
                      <a:srgbClr val="111827"/>
                    </a:solidFill>
                    <a:latin typeface="Arial"/>
                  </a:rPr>
                  <a:t> for all </a:t>
                </a:r>
                <a:r>
                  <a:rPr lang="en-IN" sz="20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$x\in\mathbb{R}$</a:t>
                </a:r>
                <a:r>
                  <a:rPr sz="2000" b="0">
                    <a:solidFill>
                      <a:srgbClr val="111827"/>
                    </a:solidFill>
                    <a:latin typeface="Arial"/>
                  </a:rPr>
                  <a:t>. Consider the functions </a:t>
                </a:r>
                <a:r>
                  <a:rPr lang="en-IN" sz="20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$g:\mathbb{R}\to\mathbb{R}$</a:t>
                </a:r>
                <a:r>
                  <a:rPr sz="20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0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$h:\mathbb{R}\to\mathbb{R}$</a:t>
                </a:r>
                <a:r>
                  <a:rPr sz="2000" b="0">
                    <a:solidFill>
                      <a:srgbClr val="111827"/>
                    </a:solidFill>
                    <a:latin typeface="Arial"/>
                  </a:rPr>
                  <a:t>, and </a:t>
                </a:r>
                <a:r>
                  <a:rPr lang="en-IN" sz="20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$k:(0,\infty)\to\mathbb{R}$</a:t>
                </a:r>
                <a:r>
                  <a:rPr sz="2000" b="0">
                    <a:solidFill>
                      <a:srgbClr val="111827"/>
                    </a:solidFill>
                    <a:latin typeface="Arial"/>
                  </a:rPr>
                  <a:t> defined by </a:t>
                </a:r>
                <a:r>
                  <a:rPr lang="en-IN" sz="20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$g(x)=f(x)-x$</a:t>
                </a:r>
                <a:r>
                  <a:rPr sz="20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0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$h(x)=f(x)e^{\frac{x^2}{2}}$</a:t>
                </a:r>
                <a:r>
                  <a:rPr sz="2000" b="0">
                    <a:solidFill>
                      <a:srgbClr val="111827"/>
                    </a:solidFill>
                    <a:latin typeface="Arial"/>
                  </a:rPr>
                  <a:t>, and </a:t>
                </a:r>
                <a:r>
                  <a:rPr lang="en-IN" sz="20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$k(x)=\frac{f(x)}{x}$</a:t>
                </a:r>
                <a:r>
                  <a:rPr sz="20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0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000">
                    <a:solidFill>
                      <a:srgbClr val="111827"/>
                    </a:solidFill>
                  </a:defRPr>
                </a:pPr>
                <a:r>
                  <a:rPr sz="2000" b="0">
                    <a:solidFill>
                      <a:srgbClr val="111827"/>
                    </a:solidFill>
                    <a:latin typeface="Arial"/>
                  </a:rPr>
                  <a:t>Consider the following statements:</a:t>
                </a:r>
                <a:endParaRPr sz="20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000">
                    <a:solidFill>
                      <a:srgbClr val="111827"/>
                    </a:solidFill>
                  </a:defRPr>
                </a:pPr>
                <a:r>
                  <a:rPr sz="2000" b="0">
                    <a:solidFill>
                      <a:srgbClr val="111827"/>
                    </a:solidFill>
                    <a:latin typeface="Arial"/>
                  </a:rPr>
                  <a:t>I. The function </a:t>
                </a:r>
                <a:r>
                  <a:rPr lang="en-IN" sz="20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$k(x)=\frac{f(x)}{x}$</a:t>
                </a:r>
                <a:r>
                  <a:rPr sz="2000" b="0">
                    <a:solidFill>
                      <a:srgbClr val="111827"/>
                    </a:solidFill>
                    <a:latin typeface="Arial"/>
                  </a:rPr>
                  <a:t> is strictly decreasing on </a:t>
                </a:r>
                <a:r>
                  <a:rPr lang="en-IN" sz="20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$(0,\infty)$</a:t>
                </a:r>
                <a:r>
                  <a:rPr sz="20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0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000">
                    <a:solidFill>
                      <a:srgbClr val="111827"/>
                    </a:solidFill>
                  </a:defRPr>
                </a:pPr>
                <a:r>
                  <a:rPr sz="2000" b="0">
                    <a:solidFill>
                      <a:srgbClr val="111827"/>
                    </a:solidFill>
                    <a:latin typeface="Arial"/>
                  </a:rPr>
                  <a:t>II. The equation </a:t>
                </a:r>
                <a:r>
                  <a:rPr lang="en-IN" sz="20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$f(x)=cx$</a:t>
                </a:r>
                <a:r>
                  <a:rPr sz="2000" b="0">
                    <a:solidFill>
                      <a:srgbClr val="111827"/>
                    </a:solidFill>
                    <a:latin typeface="Arial"/>
                  </a:rPr>
                  <a:t> has a unique real solution for every </a:t>
                </a:r>
                <a:r>
                  <a:rPr lang="en-IN" sz="20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$c\in(0,1)$</a:t>
                </a:r>
                <a:r>
                  <a:rPr sz="20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0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000">
                    <a:solidFill>
                      <a:srgbClr val="111827"/>
                    </a:solidFill>
                  </a:defRPr>
                </a:pPr>
                <a:r>
                  <a:rPr sz="2000" b="0">
                    <a:solidFill>
                      <a:srgbClr val="111827"/>
                    </a:solidFill>
                    <a:latin typeface="Arial"/>
                  </a:rPr>
                  <a:t>III. </a:t>
                </a:r>
                <a:r>
                  <a:rPr lang="en-IN" sz="20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$f''(x)&gt;0$</a:t>
                </a:r>
                <a:r>
                  <a:rPr sz="2000" b="0">
                    <a:solidFill>
                      <a:srgbClr val="111827"/>
                    </a:solidFill>
                    <a:latin typeface="Arial"/>
                  </a:rPr>
                  <a:t> for all </a:t>
                </a:r>
                <a:r>
                  <a:rPr lang="en-IN" sz="20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$x\in(0,\infty)$</a:t>
                </a:r>
                <a:r>
                  <a:rPr sz="20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0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000">
                    <a:solidFill>
                      <a:srgbClr val="111827"/>
                    </a:solidFill>
                  </a:defRPr>
                </a:pPr>
                <a:r>
                  <a:rPr sz="2000" b="0">
                    <a:solidFill>
                      <a:srgbClr val="111827"/>
                    </a:solidFill>
                    <a:latin typeface="Arial"/>
                  </a:rPr>
                  <a:t>IV. </a:t>
                </a:r>
                <a:r>
                  <a:rPr lang="en-IN" sz="20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$\lim_{x\to\infty}f(x)=\frac{\pi}{2}$</a:t>
                </a:r>
                <a:r>
                  <a:rPr sz="20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0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000">
                    <a:solidFill>
                      <a:srgbClr val="111827"/>
                    </a:solidFill>
                  </a:defRPr>
                </a:pPr>
                <a:r>
                  <a:rPr sz="2000" b="0">
                    <a:solidFill>
                      <a:srgbClr val="111827"/>
                    </a:solidFill>
                    <a:latin typeface="Arial"/>
                  </a:rPr>
                  <a:t>Which of the following options correctly identifies the truth values of the above statements?</a:t>
                </a:r>
                <a:endParaRPr sz="20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000">
                    <a:solidFill>
                      <a:srgbClr val="111827"/>
                    </a:solidFill>
                  </a:defRPr>
                </a:pPr>
                <a:r>
                  <a:rPr sz="2000" b="0">
                    <a:solidFill>
                      <a:srgbClr val="111827"/>
                    </a:solidFill>
                    <a:latin typeface="Arial"/>
                  </a:rPr>
                  <a:t>(A) I is True, II is False, III is False, IV is False</a:t>
                </a:r>
                <a:endParaRPr sz="20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000">
                    <a:solidFill>
                      <a:srgbClr val="111827"/>
                    </a:solidFill>
                  </a:defRPr>
                </a:pPr>
                <a:r>
                  <a:rPr sz="2000" b="0">
                    <a:solidFill>
                      <a:srgbClr val="111827"/>
                    </a:solidFill>
                    <a:latin typeface="Arial"/>
                  </a:rPr>
                  <a:t>(B) I is False, II is True, III is True, IV is False</a:t>
                </a:r>
                <a:endParaRPr sz="20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000">
                    <a:solidFill>
                      <a:srgbClr val="111827"/>
                    </a:solidFill>
                  </a:defRPr>
                </a:pPr>
                <a:r>
                  <a:rPr sz="2000" b="0">
                    <a:solidFill>
                      <a:srgbClr val="111827"/>
                    </a:solidFill>
                    <a:latin typeface="Arial"/>
                  </a:rPr>
                  <a:t>(C) I is True, II is False, III is False, IV is True</a:t>
                </a:r>
                <a:endParaRPr sz="20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000">
                    <a:solidFill>
                      <a:srgbClr val="111827"/>
                    </a:solidFill>
                  </a:defRPr>
                </a:pPr>
                <a:r>
                  <a:rPr sz="2000" b="0">
                    <a:solidFill>
                      <a:srgbClr val="111827"/>
                    </a:solidFill>
                    <a:latin typeface="Arial"/>
                  </a:rPr>
                  <a:t>(D) I is False, II is False, III is True, IV is True</a:t>
                </a:r>
                <a:endParaRPr sz="20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7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10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E88080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4  ·  3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280160"/>
                <a:ext cx="10725912" cy="219456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Paragraph Based Single Correct Type(3 Marks)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Concept(s) : Differential equation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″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​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(integrating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𝑓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″</m:t>
                            </m:r>
                          </m:sup>
                        </m:sSup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𝑓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′</m:t>
                            </m:r>
                          </m:sup>
                        </m:sSup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), Monotonic functions and Intermediate value theorem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Difficulty Level: Level 4(A level above Average JEE Advanced Level)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280160"/>
                <a:ext cx="10725912" cy="219456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Paragraph Based Single Correct Type(3 Marks)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Concept(s) : Differential equation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$f''=-ff'^2$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(integrating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$\frac{f''}{f'}$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), Monotonic functions and Intermediate value theorem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Difficulty Level: Level 4(A level above Average JEE Advanced Level)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3657600"/>
                <a:ext cx="10725912" cy="1219200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14:m>
                  <m:oMath xmlns:m="http://schemas.openxmlformats.org/officeDocument/2006/math"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sup>
                      <m:e>
                        <m:sSup>
                          <m:e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𝑒</m:t>
                            </m:r>
                          </m:e>
                          <m:sup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78350F"/>
                                    </a:solidFill>
                                    <a:latin typeface="Cambria Math" panose="02040503050406030204" pitchFamily="18" charset="0"/>
                                  </a:rPr>
                                  <m:t>𝑢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78350F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/</m:t>
                            </m:r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nary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𝑢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shows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∞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but slower than any line, so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falls from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to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3657600"/>
                <a:ext cx="10725912" cy="1219200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$\int_0^{f(x)}e^{u^2/2}du=x$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shows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$f\to\infty$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but slower than any line, so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$\frac{f(x)}{x}$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falls from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$1$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to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$0$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5013960"/>
                <a:ext cx="10725912" cy="1661159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From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𝑓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  <m:sSup>
                              <m:e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we get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″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sSup>
                      <m:e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𝑓</m:t>
                                </m:r>
                              </m:e>
                              <m:sup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′</m:t>
                                </m:r>
                              </m:sup>
                            </m:s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</m:d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5013960"/>
                <a:ext cx="10725912" cy="1661159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From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$f'(x)=e^{-\frac{(f(x))^2}{2}}$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we get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$f''(x)=-f(x)\left(f'(x)\right)^2=-f(x)e^{-(f(x))^2}$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7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10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E88080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4  ·  3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Statement I: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𝑓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′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Let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𝑁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𝑁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𝑁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″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⇒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𝑁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Since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𝑁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𝑁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all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Hence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strictly decreasing on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Statement I is True.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Statement II: Let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𝑀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𝑀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𝑓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  <m:sSup>
                              <m:e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Critical points occur when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ln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Since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a bijection (strictly increasing, 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∞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),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𝑀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at exactly two points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Statement I: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$k'(x)=\frac{xf'(x)-f(x)}{x^2}$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Let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$N(x)=xf'(x)-f(x)$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$N(0)=0$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$N'(x)=xf''(x)=-xf(x)e^{-(f(x))^2}$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$x&gt;0$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$f(x)&gt;0\Rightarrow N'(x)&lt;0$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Since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$N(0)=0$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$N(x)&lt;0$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all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$x&gt;0$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Hence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$k'(x)&lt;0$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$x&gt;0$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$k(x)$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strictly decreasing 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$(0,\infty)$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Statement I is True.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Statement II: Let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$M(x)=f(x)-cx$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$M'(x)=e^{-\frac{(f(x))^2}{2}}-c$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Critical points occur when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$(f(x))^2=-2\ln c&gt;0$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Since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a bijection (strictly increasing,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$f\to\pm\infty$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$M'(x)=0$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at exactly two points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$x_1&lt;0&lt;x_2$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7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10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E88080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4  ·  3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𝑀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𝑀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𝑀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increases on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𝑀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𝑀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∞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𝑀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∞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(because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/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 By the IVT,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has three distinct real roots (one in each of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[namely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] and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 Statement II is False.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Statement III: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″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all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(as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 Statement III is False.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Statement IV: from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𝑓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  <m:sSup>
                              <m:e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sup>
                    </m:sSup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integrating gives </a:t>
                </a:r>
                <a14:m>
                  <m:oMath xmlns:m="http://schemas.openxmlformats.org/officeDocument/2006/math"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sup>
                      <m:e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𝑒</m:t>
                            </m:r>
                          </m:e>
                          <m:sup>
                            <m:f>
                              <m:fPr>
                                <m:type m:val="bar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sSup>
                                  <m:e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𝑢</m:t>
                                    </m:r>
                                  </m:e>
                                  <m:sup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p>
                                </m:sSup>
                              </m:num>
                              <m:den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den>
                            </m:f>
                          </m:sup>
                        </m:sSup>
                      </m:e>
                    </m:nary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𝑢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As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∞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∞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(the integral over a bounded range is finite). Statement IV is False.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$M(0)=0$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$M'(0)=1-c&gt;0$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$M$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increases 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$(x_1,x_2)$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$M(x_1)&lt;0$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$M(x_2)&gt;0$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$x\to\pm\infty$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$M(x)\to\mp\infty$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(because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$f'\to0$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$f(x)/x\to0&lt;c$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 By the IVT,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$f(x)=cx$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has three distinct real roots (one in each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$(-\infty,x_1)$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$(x_1,x_2)$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[namely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]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$(x_2,\infty)$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 Statement II is False.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Statement III: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$f''(x)=-f(x)e^{-(f(x))^2}&lt;0$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all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$x&gt;0$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(as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$f(x)&gt;0$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 Statement III is False.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Statement IV: from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$e^{\frac{(f(x))^2}{2}}f'(x)=1$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integrating gives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$\int_0^{f(x)}e^{\frac{u^2}{2}}du=x$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As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$x\to\infty$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$f(x)\to\infty$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(the integral over a bounded range is finite). Statement IV is False.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7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10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E88080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4  ·  3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731520" y="1353312"/>
            <a:ext cx="10725912" cy="4434840"/>
          </a:xfrm>
          <a:prstGeom prst="rect">
            <a:avLst/>
          </a:prstGeom>
          <a:solidFill>
            <a:srgbClr val="FFFFFF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t" wrap="square" lIns="228600" rIns="228600" tIns="137160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 marL="274320" indent="-274320">
              <a:spcAft>
                <a:spcPts val="600"/>
              </a:spcAft>
              <a:buFont typeface="Arial"/>
              <a:buChar char="•"/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So I is True, II is False, III is False, IV is False: option (A).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5" name="Rounded Rectangle 4"/>
          <p:cNvSpPr/>
          <p:nvPr/>
        </p:nvSpPr>
        <p:spPr>
          <a:xfrm>
            <a:off x="731520" y="58978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254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5803D"/>
          </a:fontRef>
        </p:style>
        <p:txBody>
          <a:bodyPr rtlCol="0" anchor="ctr" wrap="square" lIns="228600" rIns="228600" tIns="18288" bIns="73152"/>
          <a:lstStyle>
            <a:lvl1pPr>
              <a:defRPr sz="2800">
                <a:solidFill>
                  <a:srgbClr val="15803D"/>
                </a:solidFill>
              </a:defRPr>
            </a:lvl1pPr>
          </a:lstStyle>
          <a:p>
            <a:pPr algn="ctr">
              <a:defRPr sz="2800">
                <a:solidFill>
                  <a:srgbClr val="15803D"/>
                </a:solidFill>
              </a:defRPr>
            </a:pPr>
            <a:r>
              <a:rPr sz="2800" b="1">
                <a:solidFill>
                  <a:srgbClr val="15803D"/>
                </a:solidFill>
                <a:latin typeface="Arial"/>
              </a:rPr>
              <a:t>Correct Answer: (A) I is True, II is False, III is False, IV is False</a:t>
            </a:r>
            <a:endParaRPr sz="2800">
              <a:solidFill>
                <a:srgbClr val="15803D"/>
              </a:solidFill>
            </a:endParaRPr>
          </a:p>
        </p:txBody>
      </p:sp>
    </p:spTree>
  </p:cSld>
  <p:clrMapOvr>
    <a:masterClrMapping/>
  </p:clrMapOvr>
</p:sld>
</file>

<file path=ppt/slides/slide7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10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E88080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4  ·  3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591056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Use the shape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𝑓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: it is odd, increasing and concave on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is the (decreasing) chord slope from the origin, tending to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591056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Use the shape of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$f$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: it is odd, increasing and concave on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$(0,\infty)$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$\frac{f(x)}{x}$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is the (decreasing) chord slope from the origin, tending to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$f'(\infty)=0$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3008375"/>
                <a:ext cx="10725912" cy="3666744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″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​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because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there: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concave on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III is False.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I: for a concave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 chord slope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decreasing in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(strictly here, since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″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strictly). I is True.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3008375"/>
                <a:ext cx="10725912" cy="3666744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$f''=-ff'^2&lt;0$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$(0,\infty)$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because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$f&gt;0$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there: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concave 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$(0,\infty)$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III is False.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I: for a concave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$f(0)=0$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 chord slope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$\frac{f(x)}{x}=\frac{f(x)-f(0)}{x-0}$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decreasing in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(strictly here, since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$f''&lt;0$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strictly). I is True.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7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10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E88080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4  ·  3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odd: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𝑢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satisfies the same equation 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𝑢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𝑢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by uniqueness. Hence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has the root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roots come in pairs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±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On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sSub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lim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→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∞</m:t>
                        </m:r>
                      </m:sub>
                    </m:sSub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lim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lim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𝑓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(as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∞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see IV).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continuous and strictly decreasing from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for each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has exactly one positive root. Total roots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three. II is False.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odd: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$u(x)=-f(-x)$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satisfies the same equation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$u(0)=0$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$u'(0)=1$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$u=f$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by uniqueness. Hence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$f(x)=cx$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has the root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roots come in pairs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$\pm x_0$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$(0,\infty)$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$k(0^+)=f'(0)=1$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$\lim_{x\to\infty}\frac{f(x)}{x}=\lim f'(x)=\lim e^{-f^2/2}=0$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(as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$f\to\infty$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see IV).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$k$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continuous and strictly decreasing from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for each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$c\in(0,1)$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$k(x)=c$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has exactly one positive root. Total roots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$f=cx$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$-x_0,\,0,\,x_0$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three. II is False.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8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10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E88080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4  ·  3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IV: </a:t>
                </a:r>
                <a14:m>
                  <m:oMath xmlns:m="http://schemas.openxmlformats.org/officeDocument/2006/math"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sup>
                      <m:e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𝑒</m:t>
                            </m:r>
                          </m:e>
                          <m:sup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𝑢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/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nary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𝑢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the integral is finite for every finite upper limit,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∞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forces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∞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not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IV is False. Option (A).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IV: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$\int_0^{f}e^{u^2/2}du=x$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the integral is finite for every finite upper limit,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$x\to\infty$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forces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$f\to\infty$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not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$\frac{\pi}{2}$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IV is False. Option (A).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6" name="Rounded Rectangle 5"/>
          <p:cNvSpPr/>
          <p:nvPr/>
        </p:nvSpPr>
        <p:spPr>
          <a:xfrm>
            <a:off x="731520" y="58978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254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5803D"/>
          </a:fontRef>
        </p:style>
        <p:txBody>
          <a:bodyPr rtlCol="0" anchor="ctr" wrap="square" lIns="228600" rIns="228600" tIns="18288" bIns="73152"/>
          <a:lstStyle>
            <a:lvl1pPr>
              <a:defRPr sz="2800">
                <a:solidFill>
                  <a:srgbClr val="15803D"/>
                </a:solidFill>
              </a:defRPr>
            </a:lvl1pPr>
          </a:lstStyle>
          <a:p>
            <a:pPr algn="ctr">
              <a:defRPr sz="2800">
                <a:solidFill>
                  <a:srgbClr val="15803D"/>
                </a:solidFill>
              </a:defRPr>
            </a:pPr>
            <a:r>
              <a:rPr sz="2800" b="1">
                <a:solidFill>
                  <a:srgbClr val="15803D"/>
                </a:solidFill>
                <a:latin typeface="Arial"/>
              </a:rPr>
              <a:t>Same answer: (A) I is True, II is False, III is False, IV is False</a:t>
            </a:r>
            <a:endParaRPr sz="2800">
              <a:solidFill>
                <a:srgbClr val="15803D"/>
              </a:solidFill>
            </a:endParaRPr>
          </a:p>
        </p:txBody>
      </p:sp>
    </p:spTree>
  </p:cSld>
  <p:clrMapOvr>
    <a:masterClrMapping/>
  </p:clrMapOvr>
</p:sld>
</file>

<file path=ppt/slides/slide8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10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E88080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4  ·  3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concave on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then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non-increasing (chord slope from the origin); if convex, non-decreasing.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Equations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are intersections of the graph with a line through the origin; the count is the number of times the slope function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takes the value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(together 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concave 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$[0,\infty)$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$f(0)=0$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$\frac{f(x)}{x}$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non-increasing (chord slope from the origin); if convex, non-decreasing.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Equations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$f(x)=cx$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are intersections of the graph with a line through the origin; the count is the number of times the slope function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$\frac{f(x)}{x}$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takes the value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(together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8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10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E88080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4  ·  3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(autonomous), then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∫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θ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a bounded limit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would need </a:t>
                </a:r>
                <a14:m>
                  <m:oMath xmlns:m="http://schemas.openxmlformats.org/officeDocument/2006/math">
                    <m:nary>
                      <m:naryPr>
                        <m:chr m:val="∫"/>
                        <m:limLoc m:val="subSup"/>
                        <m:subHide m:val="on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​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𝐿</m:t>
                        </m:r>
                      </m:sup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𝑑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𝑓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θ</m:t>
                            </m:r>
                          </m:den>
                        </m:f>
                      </m:e>
                    </m:nary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∞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which fails here because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θ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𝑓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bounded on bounded sets.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Uniqueness of solutions of an ODE gives symmetries cheaply: if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solves an odd-symmetric equation 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solves it too,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odd.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$f'=\theta(f)$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(autonomous), then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$x=\int\frac{df}{\theta(f)}$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a bounded limit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would need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$\int^{L}\frac{df}{\theta}=\infty$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which fails here because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$\frac1{\theta}=e^{f^2/2}$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bounded on bounded sets.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Uniqueness of solutions of an ODE gives symmetries cheaply: if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solves an odd-symmetric equation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$f(0)=0$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$-f(-x)$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solves it too,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odd.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8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463040"/>
            <a:ext cx="10362895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lvl1pPr>
              <a:defRPr sz="2800">
                <a:solidFill>
                  <a:srgbClr val="FFFFFF"/>
                </a:solidFill>
              </a:defRPr>
            </a:lvl1pPr>
          </a:lstStyle>
          <a:p>
            <a:pPr algn="ctr">
              <a:spcAft>
                <a:spcPts val="1000"/>
              </a:spcAft>
              <a:defRPr sz="2800">
                <a:solidFill>
                  <a:srgbClr val="FFFFFF"/>
                </a:solidFill>
              </a:defRPr>
            </a:pPr>
            <a:r>
              <a:rPr sz="2800" b="0">
                <a:solidFill>
                  <a:srgbClr val="93C5FD"/>
                </a:solidFill>
                <a:latin typeface="Arial"/>
              </a:rPr>
              <a:t>Section 4</a:t>
            </a:r>
            <a:endParaRPr sz="2800">
              <a:solidFill>
                <a:srgbClr val="FFFFFF"/>
              </a:solidFill>
            </a:endParaRPr>
          </a:p>
          <a:p>
            <a:pPr algn="ctr">
              <a:spcAft>
                <a:spcPts val="1000"/>
              </a:spcAft>
              <a:defRPr sz="2800">
                <a:solidFill>
                  <a:srgbClr val="FFFFFF"/>
                </a:solidFill>
              </a:defRPr>
            </a:pPr>
            <a:r>
              <a:rPr sz="4400" b="1">
                <a:solidFill>
                  <a:srgbClr val="FFFFFF"/>
                </a:solidFill>
                <a:latin typeface="Arial"/>
              </a:rPr>
              <a:t>Integer Type(0 to 9)</a:t>
            </a:r>
            <a:endParaRPr sz="2800">
              <a:solidFill>
                <a:srgbClr val="FFFFFF"/>
              </a:solidFill>
            </a:endParaRPr>
          </a:p>
          <a:p>
            <a:pPr algn="ctr">
              <a:spcAft>
                <a:spcPts val="1000"/>
              </a:spcAft>
              <a:defRPr sz="28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Q11 – Q14</a:t>
            </a:r>
            <a:endParaRPr sz="2800">
              <a:solidFill>
                <a:srgbClr val="FFFFFF"/>
              </a:solidFill>
            </a:endParaRPr>
          </a:p>
          <a:p>
            <a:pPr algn="ctr">
              <a:spcAft>
                <a:spcPts val="1000"/>
              </a:spcAft>
              <a:defRPr sz="2800">
                <a:solidFill>
                  <a:srgbClr val="FFFFFF"/>
                </a:solidFill>
              </a:defRPr>
            </a:pPr>
            <a:r>
              <a:rPr sz="2800" b="0">
                <a:solidFill>
                  <a:srgbClr val="FFFFFF"/>
                </a:solidFill>
                <a:latin typeface="Arial"/>
              </a:rPr>
              <a:t>Marks not printed in the paper: JEE Advanced default of 4 per question assumed (answer type assumed from the single-digit answers)</a:t>
            </a:r>
            <a:endParaRPr sz="2800">
              <a:solidFill>
                <a:srgbClr val="FFFFFF"/>
              </a:solidFill>
            </a:endParaRPr>
          </a:p>
        </p:txBody>
      </p:sp>
    </p:spTree>
  </p:cSld>
  <p:clrMapOvr>
    <a:masterClrMapping/>
  </p:clrMapOvr>
</p:sld>
</file>

<file path=ppt/slides/slide8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11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008124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:</m:t>
                    </m:r>
                    <m:r>
                      <m:rPr>
                        <m:scr m:val="double-struck"/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R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m:rPr>
                        <m:scr m:val="double-struck"/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R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 a function defined by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where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m:rPr>
                        <m:scr m:val="double-struck"/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Z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If the equation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has a root in the open interval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then the number of possible integral values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equal to ____.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008124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$f:\mathbb{R}\to\mathbb{R}$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 a function defined by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$f(x)=x^3-3x+k$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where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$k\in\mathbb{Z}$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If the equation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$f(x)=0$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has a root in the open interval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$(-2,-1)$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then the number of possible integral values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$k$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equal to ____.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ectangle 4"/>
          <p:cNvSpPr/>
          <p:nvPr/>
        </p:nvSpPr>
        <p:spPr>
          <a:xfrm>
            <a:off x="731520" y="3516884"/>
            <a:ext cx="10725912" cy="2194560"/>
          </a:xfrm>
          <a:prstGeom prst="rect">
            <a:avLst/>
          </a:prstGeom>
          <a:solidFill>
            <a:srgbClr val="FFFFFF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t" wrap="square" lIns="228600" rIns="228600" tIns="137160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Integer Type(0 to 9)(4 Marks)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Concept(s) : Monotonicity in an interval, Intermediate value theorem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Difficulty Level: Level 2(A level below Average JEE Advanced Level)</a:t>
            </a:r>
            <a:endParaRPr sz="2400">
              <a:solidFill>
                <a:srgbClr val="111827"/>
              </a:solidFill>
            </a:endParaRPr>
          </a:p>
        </p:txBody>
      </p:sp>
    </p:spTree>
  </p:cSld>
  <p:clrMapOvr>
    <a:masterClrMapping/>
  </p:clrMapOvr>
</p:sld>
</file>

<file path=ppt/slides/slide8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11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𝑓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is strictly increasing on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so a root lies inside exactly when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$f$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is strictly increasing on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$[-2,-1]$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so a root lies inside exactly when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$f(-2)f(-1)&lt;0$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which implies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Thus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strictly increasing on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Since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continuous and strictly increasing on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by the Intermediate Value Theorem the equation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has a root in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if and only if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$f'(x)=3x^2-3=3(x-1)(x+1)$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$x\in(-2,-1)$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$x^2&gt;1$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which implies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$f'(x)&gt;0$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Thus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$f(x)$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strictly increasing 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$[-2,-1]$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Since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continuous and strictly increasing 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$[-2,-1]$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by the Intermediate Value Theorem the equation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$f(x)=0$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has a root in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$(-2,-1)$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if and only if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$f(-2)\cdot f(-1)&lt;0$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8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11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Therefore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Since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an integer, the possible values are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Hence the total number of possible integral values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$f(-2)=(-2)^3-3(-2)+k=-8+6+k=k-2$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$f(-1)=(-1)^3-3(-1)+k=-1+3+k=k+2$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Therefore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$(k-2)(k+2)&lt;0\Rightarrow-2&lt;k&lt;2$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Since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$k$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an integer, the possible values are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$k=-1,0,1$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Hence the total number of possible integral values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$k$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ounded Rectangle 4"/>
          <p:cNvSpPr/>
          <p:nvPr/>
        </p:nvSpPr>
        <p:spPr>
          <a:xfrm>
            <a:off x="731520" y="58978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254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5803D"/>
          </a:fontRef>
        </p:style>
        <p:txBody>
          <a:bodyPr rtlCol="0" anchor="ctr" wrap="square" lIns="228600" rIns="228600" tIns="18288" bIns="73152"/>
          <a:lstStyle>
            <a:lvl1pPr>
              <a:defRPr sz="2800">
                <a:solidFill>
                  <a:srgbClr val="15803D"/>
                </a:solidFill>
              </a:defRPr>
            </a:lvl1pPr>
          </a:lstStyle>
          <a:p>
            <a:pPr algn="ctr">
              <a:defRPr sz="2800">
                <a:solidFill>
                  <a:srgbClr val="15803D"/>
                </a:solidFill>
              </a:defRPr>
            </a:pPr>
            <a:r>
              <a:rPr sz="2800" b="1">
                <a:solidFill>
                  <a:srgbClr val="15803D"/>
                </a:solidFill>
                <a:latin typeface="Arial"/>
              </a:rPr>
              <a:t>Correct Answer: 3</a:t>
            </a:r>
            <a:endParaRPr sz="2800">
              <a:solidFill>
                <a:srgbClr val="15803D"/>
              </a:solidFill>
            </a:endParaRPr>
          </a:p>
        </p:txBody>
      </p:sp>
    </p:spTree>
  </p:cSld>
  <p:clrMapOvr>
    <a:masterClrMapping/>
  </p:clrMapOvr>
</p:sld>
</file>

<file path=ppt/slides/slide8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11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4813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Separate the parameter: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φ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; the roots in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exist exactly for the values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taken by the decreasing function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φ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on that interval.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4813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Separate the parameter: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$k=-x^3+3x=\varphi(x)$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; the roots in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$(-2,-1)$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exist exactly for the values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$k$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taken by the decreasing function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$\varphi$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on that interval.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2898648"/>
                <a:ext cx="10725912" cy="377647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⇔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: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φ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So we need the integers in the set of values taken by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φ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on the open interval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φ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(since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φ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strictly decreasing and continuous there.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2898648"/>
                <a:ext cx="10725912" cy="377647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$f(x)=0\iff k=3x-x^3=:\varphi(x)$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So we need the integers in the set of values taken by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$\varphi$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on the open interval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$(-2,-1)$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$\varphi'(x)=3-3x^2=3(1-x^2)&lt;0$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$x\in(-2,-1)$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(since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$x^2&gt;1$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$\varphi$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strictly decreasing and continuous there.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8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11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φ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φ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φ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takes every value in the open interval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exactly once on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(the end values are not attained).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integers in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are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the number of possible values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$\varphi(-2)=-6+8=2$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$\varphi(-1)=-3+1=-2$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$\varphi$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takes every value in the open interval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$(-2,2)$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exactly once 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$(-2,-1)$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(the end values are not attained).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integers in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$(-2,2)$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$-1,0,1$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the number of possible values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$k$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6" name="Rounded Rectangle 5"/>
          <p:cNvSpPr/>
          <p:nvPr/>
        </p:nvSpPr>
        <p:spPr>
          <a:xfrm>
            <a:off x="731520" y="58978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254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5803D"/>
          </a:fontRef>
        </p:style>
        <p:txBody>
          <a:bodyPr rtlCol="0" anchor="ctr" wrap="square" lIns="228600" rIns="228600" tIns="18288" bIns="73152"/>
          <a:lstStyle>
            <a:lvl1pPr>
              <a:defRPr sz="2800">
                <a:solidFill>
                  <a:srgbClr val="15803D"/>
                </a:solidFill>
              </a:defRPr>
            </a:lvl1pPr>
          </a:lstStyle>
          <a:p>
            <a:pPr algn="ctr">
              <a:defRPr sz="2800">
                <a:solidFill>
                  <a:srgbClr val="15803D"/>
                </a:solidFill>
              </a:defRPr>
            </a:pPr>
            <a:r>
              <a:rPr sz="2800" b="1">
                <a:solidFill>
                  <a:srgbClr val="15803D"/>
                </a:solidFill>
                <a:latin typeface="Arial"/>
              </a:rPr>
              <a:t>Same answer: 3</a:t>
            </a:r>
            <a:endParaRPr sz="2800">
              <a:solidFill>
                <a:srgbClr val="15803D"/>
              </a:solidFill>
            </a:endParaRPr>
          </a:p>
        </p:txBody>
      </p:sp>
    </p:spTree>
  </p:cSld>
  <p:clrMapOvr>
    <a:masterClrMapping/>
  </p:clrMapOvr>
</p:sld>
</file>

<file path=ppt/slides/slide8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11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Parameter separation: 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𝐹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-type questions,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⇔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φ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the number of roots in an interval is the number of times the horizontal line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meets the graph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φ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there.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 strictly monotonic continuous function has a root in the open interval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iff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the end values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put the root on the boundary, so exclude them for open intervals.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Parameter separation: 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$F(x)=k$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-type questions,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$f(x)=0\iff k=\varphi(x)$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the number of roots in an interval is the number of times the horizontal line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$y=k$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meets the graph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$\varphi$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there.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 strictly monotonic continuous function has a root in the open interval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$(a,b)$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iff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$f(a)f(b)&lt;0$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the end values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$f(a)=0$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$f(b)=0$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put the root on the boundary, so exclude them for open intervals.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9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11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has three real roots iff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(local extrema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±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∓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); 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the root equation is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Here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corresponds to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∈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π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π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π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ranges over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consistent with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$x^3-3x+k$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has three real roots iff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$|k|&lt;2$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(local extrema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$k\pm2$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$x=\mp1$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);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$x=2\cos\theta$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$x^3-3x=2\cos3\theta$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the root equation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$\cos3\theta=-\frac k2$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Here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$x\in(-2,-1)$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corresponds to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$\theta\in\left(\frac{2\pi}{3},\pi\right)$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$3\theta\in(2\pi,3\pi)$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$-\frac k2$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ranges over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$(-1,1)$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consistent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$-2&lt;k&lt;2$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9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12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751835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 a twice differentiable function defined implicitly 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by the determinant equation </a:t>
                </a:r>
                <a14:m>
                  <m:oMath xmlns:m="http://schemas.openxmlformats.org/officeDocument/2006/math">
                    <m:d>
                      <m:dPr>
                        <m:begChr m:val="|"/>
                        <m:sepChr m:val=""/>
                        <m:endChr m:val="|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baseJc m:val="center"/>
                            <m:plcHide m:val="on"/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  <m:e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sin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</m:mr>
                          <m:mr>
                            <m:e>
                              <m:sSup>
                                <m:e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  <m:sup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e>
                            <m:e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cos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</m:mr>
                          <m:mr>
                            <m:e>
                              <m:sSup>
                                <m:e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  <m:sup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3</m:t>
                                  </m:r>
                                </m:sup>
                              </m:sSup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</m:mr>
                        </m:m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such that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If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″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denote the first and second derivatives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respectively, then the value of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″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equal to ____.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751835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$y=f(x)$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 a twice differentiable function defined implicitly 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$y&gt;0$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by the determinant equation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$\left|\begin{matrix}y&amp;\sin x&amp;1\\y^2&amp;\cos x&amp;x\\y^3&amp;1&amp;0\end{matrix}\right|=0$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such that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$f(0)=1$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If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$f'(0)$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$f''(0)$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denote the first and second derivatives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$f(x)$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respectively, then the value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$f''(0)-2f'(0)$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equal to ____.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ectangle 4"/>
          <p:cNvSpPr/>
          <p:nvPr/>
        </p:nvSpPr>
        <p:spPr>
          <a:xfrm>
            <a:off x="731520" y="4260596"/>
            <a:ext cx="10725912" cy="1975103"/>
          </a:xfrm>
          <a:prstGeom prst="rect">
            <a:avLst/>
          </a:prstGeom>
          <a:solidFill>
            <a:srgbClr val="FFFFFF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t" wrap="square" lIns="228600" rIns="228600" tIns="137160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Integer Type(0 to 9)(4 Marks)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Concept(s) : Differentiation of a determinant with function entries, Implicit differentiation (first and second derivative)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Difficulty Level: Level 3(Average JEE Advanced Level)</a:t>
            </a:r>
            <a:endParaRPr sz="2400">
              <a:solidFill>
                <a:srgbClr val="111827"/>
              </a:solidFill>
            </a:endParaRPr>
          </a:p>
        </p:txBody>
      </p:sp>
    </p:spTree>
  </p:cSld>
  <p:clrMapOvr>
    <a:masterClrMapping/>
  </p:clrMapOvr>
</p:sld>
</file>

<file path=ppt/slides/slide9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12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Expand the determinant first: it becomes the plain implicit equation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Expand the determinant first: it becomes the plain implicit equation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$y-x-y^2\cos x+xy^2\sin x=0$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 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 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columns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baseJc m:val="center"/>
                            <m:plcHide m:val="on"/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</m:mr>
                          <m:mr>
                            <m:e>
                              <m:sSup>
                                <m:e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  <m:sup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e>
                          </m:mr>
                          <m:mr>
                            <m:e>
                              <m:sSup>
                                <m:e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  <m:sup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3</m:t>
                                  </m:r>
                                </m:sup>
                              </m:sSup>
                            </m:e>
                          </m:mr>
                        </m:m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baseJc m:val="center"/>
                            <m:plcHide m:val="on"/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sin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</m:mr>
                          <m:mr>
                            <m:e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cos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</m:m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</m:mr>
                        </m:m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baseJc m:val="center"/>
                            <m:plcHide m:val="on"/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</m:m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</m:m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</m:mr>
                        </m:m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baseJc m:val="center"/>
                            <m:plcHide m:val="on"/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</m:m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</m:m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</m:mr>
                        </m:m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baseJc m:val="center"/>
                            <m:plcHide m:val="on"/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</m:m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</m:m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</m:mr>
                        </m:m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baseJc m:val="center"/>
                            <m:plcHide m:val="on"/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</m:m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</m:m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</m:mr>
                        </m:m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Differentiating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(column by column):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Δ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sSub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b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 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 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 </m:t>
                    </m:r>
                    <m:sSub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b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 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 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 </m:t>
                    </m:r>
                    <m:sSub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b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sSub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b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baseJc m:val="center"/>
                            <m:plcHide m:val="on"/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</m:m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e>
                          </m:m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e>
                          </m:mr>
                        </m:m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sSub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b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baseJc m:val="center"/>
                            <m:plcHide m:val="on"/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</m:m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</m:m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</m:mr>
                        </m:m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sSub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b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baseJc m:val="center"/>
                            <m:plcHide m:val="on"/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</m:m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</m:m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</m:mr>
                        </m:m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$\Delta(x)=|C_1\ C_2\ C_3|=0$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columns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$C_1=\begin{pmatrix}y\\y^2\\y^3\end{pmatrix}$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$C_2=\begin{pmatrix}\sin x\\\cos x\\1\end{pmatrix}$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$C_3=\begin{pmatrix}1\\x\\0\end{pmatrix}$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$C_1=\begin{pmatrix}1\\1\\1\end{pmatrix}$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$C_2=\begin{pmatrix}0\\1\\1\end{pmatrix}$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$C_3=\begin{pmatrix}1\\0\\0\end{pmatrix}$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Differentiating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$\Delta=0$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(column by column):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$\frac{d\Delta}{dx}=|C_1'\ C_2\ C_3|+|C_1\ C_2'\ C_3|+|C_1\ C_2\ C_3'|=0$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$C_1'=y'(0)\begin{pmatrix}1\\2\\3\end{pmatrix}$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$C_2'=\begin{pmatrix}1\\0\\0\end{pmatrix}$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$C_3'=\begin{pmatrix}0\\1\\0\end{pmatrix}$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9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12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sSub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b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 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 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|"/>
                        <m:sepChr m:val=""/>
                        <m:endChr m:val="|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baseJc m:val="center"/>
                            <m:plcHide m:val="on"/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sSup>
                                <m:e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  <m:sup>
                                  <m:r>
                                    <m:rPr>
                                      <m:sty m:val="p"/>
                                    </m:rPr>
                                    <a:rPr lang="en-IN" sz="2400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′</m:t>
                                  </m:r>
                                </m:sup>
                              </m:sSup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</m:m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  <m:sSup>
                                <m:e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  <m:sup>
                                  <m:r>
                                    <m:rPr>
                                      <m:sty m:val="p"/>
                                    </m:rPr>
                                    <a:rPr lang="en-IN" sz="2400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′</m:t>
                                  </m:r>
                                </m:sup>
                              </m:sSup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</m:m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  <m:sSup>
                                <m:e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  <m:sup>
                                  <m:r>
                                    <m:rPr>
                                      <m:sty m:val="p"/>
                                    </m:rPr>
                                    <a:rPr lang="en-IN" sz="2400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′</m:t>
                                  </m:r>
                                </m:sup>
                              </m:sSup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</m:mr>
                        </m:m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 </m:t>
                    </m:r>
                    <m:sSub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b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 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|"/>
                        <m:sepChr m:val=""/>
                        <m:endChr m:val="|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baseJc m:val="center"/>
                            <m:plcHide m:val="on"/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</m:m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</m:m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</m:mr>
                        </m:m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 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 </m:t>
                    </m:r>
                    <m:sSub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b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|"/>
                        <m:sepChr m:val=""/>
                        <m:endChr m:val="|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baseJc m:val="center"/>
                            <m:plcHide m:val="on"/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</m:m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</m:m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</m:mr>
                        </m:m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Thus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⇒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Differentiating again: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𝑑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Δ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sSub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″</m:t>
                        </m:r>
                      </m:sup>
                    </m:sSub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 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 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sSub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b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 </m:t>
                    </m:r>
                    <m:sSub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b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 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sSub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b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 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 </m:t>
                    </m:r>
                    <m:sSub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b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 </m:t>
                    </m:r>
                    <m:sSub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b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 </m:t>
                    </m:r>
                    <m:sSub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b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 </m:t>
                    </m:r>
                    <m:sSub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″</m:t>
                        </m:r>
                      </m:sup>
                    </m:sSub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 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 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 </m:t>
                    </m:r>
                    <m:sSub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″</m:t>
                        </m:r>
                      </m:sup>
                    </m:sSub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sSub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″</m:t>
                        </m:r>
                      </m:sup>
                    </m:sSub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″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baseJc m:val="center"/>
                            <m:plcHide m:val="on"/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</m:m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e>
                          </m:m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e>
                          </m:mr>
                        </m:m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baseJc m:val="center"/>
                            <m:plcHide m:val="on"/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</m:m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e>
                          </m:m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6</m:t>
                              </m:r>
                            </m:e>
                          </m:mr>
                        </m:m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baseJc m:val="center"/>
                            <m:plcHide m:val="on"/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sSup>
                                <m:e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  <m:sup>
                                  <m:r>
                                    <m:rPr>
                                      <m:sty m:val="p"/>
                                    </m:rPr>
                                    <a:rPr lang="en-IN" sz="2400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″</m:t>
                                  </m:r>
                                </m:sup>
                              </m:sSup>
                            </m:e>
                          </m:m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  <m:sSup>
                                <m:e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  <m:sup>
                                  <m:r>
                                    <m:rPr>
                                      <m:sty m:val="p"/>
                                    </m:rPr>
                                    <a:rPr lang="en-IN" sz="2400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″</m:t>
                                  </m:r>
                                </m:sup>
                              </m:sSup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e>
                          </m:m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  <m:sSup>
                                <m:e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  <m:sup>
                                  <m:r>
                                    <m:rPr>
                                      <m:sty m:val="p"/>
                                    </m:rPr>
                                    <a:rPr lang="en-IN" sz="2400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″</m:t>
                                  </m:r>
                                </m:sup>
                              </m:sSup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6</m:t>
                              </m:r>
                            </m:e>
                          </m:mr>
                        </m:m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sSub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″</m:t>
                        </m:r>
                      </m:sup>
                    </m:sSub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baseJc m:val="center"/>
                            <m:plcHide m:val="on"/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</m:mr>
                          <m:mr>
                            <m:e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</m:m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</m:mr>
                        </m:m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sSub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″</m:t>
                        </m:r>
                      </m:sup>
                    </m:sSub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baseJc m:val="center"/>
                            <m:plcHide m:val="on"/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</m:m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</m:m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</m:mr>
                        </m:m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Evaluating: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sSub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″</m:t>
                        </m:r>
                      </m:sup>
                    </m:sSub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 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 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″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sSub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b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 </m:t>
                    </m:r>
                    <m:sSub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b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 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(two equal columns);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sSub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b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 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 </m:t>
                    </m:r>
                    <m:sSub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b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 </m:t>
                    </m:r>
                    <m:sSub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b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 </m:t>
                    </m:r>
                    <m:sSub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b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 </m:t>
                    </m:r>
                    <m:sSub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″</m:t>
                        </m:r>
                      </m:sup>
                    </m:sSub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 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 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 </m:t>
                    </m:r>
                    <m:sSub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″</m:t>
                        </m:r>
                      </m:sup>
                    </m:sSub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$|C_1'\ C_2\ C_3|=\left|\begin{matrix}y'&amp;0&amp;1\\2y'&amp;1&amp;0\\3y'&amp;1&amp;0\end{matrix}\right|=-y'(0)$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$|C_1\ C_2'\ C_3|=\left|\begin{matrix}1&amp;1&amp;1\\1&amp;0&amp;0\\1&amp;0&amp;0\end{matrix}\right|=0$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$|C_1\ C_2\ C_3'|=\left|\begin{matrix}1&amp;0&amp;0\\1&amp;1&amp;1\\1&amp;1&amp;0\end{matrix}\right|=-1$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Thus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$-y'(0)+0-1=0\Rightarrow f'(0)=-1$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Differentiating again: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$\frac{d^2\Delta}{dx^2}=|C_1''\ C_2\ C_3|+2|C_1'\ C_2'\ C_3|+2|C_1'\ C_2\ C_3'|+2|C_1\ C_2'\ C_3'|+|C_1\ C_2''\ C_3|+|C_1\ C_2\ C_3''|=0$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$y'=-1$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$C_1''=y''(0)\begin{pmatrix}1\\2\\3\end{pmatrix}+(y'(0))^2\begin{pmatrix}0\\2\\6\end{pmatrix}=\begin{pmatrix}y''\\2y''+2\\3y''+6\end{pmatrix}$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$C_2''=\begin{pmatrix}0\\-1\\0\end{pmatrix}$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$C_3''=\begin{pmatrix}0\\0\\0\end{pmatrix}$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Evaluating: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$|C_1''\ C_2\ C_3|=-y''(0)-4$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$|C_1'\ C_2'\ C_3|=0$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(two equal columns);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$|C_1'\ C_2\ C_3'|=1$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$|C_1\ C_2'\ C_3'|=1$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$|C_1\ C_2''\ C_3|=1$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$|C_1\ C_2\ C_3''|=0$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9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12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Summing: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″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″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⇒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″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Hence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″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Summing: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$(-y''(0)-4)+2(0)+2(1)+2(1)+1+0=0\Rightarrow-y''(0)+1=0\Rightarrow f''(0)=1$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Hence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$f''(0)-2f'(0)=1-2(-1)=3$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ounded Rectangle 4"/>
          <p:cNvSpPr/>
          <p:nvPr/>
        </p:nvSpPr>
        <p:spPr>
          <a:xfrm>
            <a:off x="731520" y="58978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254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5803D"/>
          </a:fontRef>
        </p:style>
        <p:txBody>
          <a:bodyPr rtlCol="0" anchor="ctr" wrap="square" lIns="228600" rIns="228600" tIns="18288" bIns="73152"/>
          <a:lstStyle>
            <a:lvl1pPr>
              <a:defRPr sz="2800">
                <a:solidFill>
                  <a:srgbClr val="15803D"/>
                </a:solidFill>
              </a:defRPr>
            </a:lvl1pPr>
          </a:lstStyle>
          <a:p>
            <a:pPr algn="ctr">
              <a:defRPr sz="2800">
                <a:solidFill>
                  <a:srgbClr val="15803D"/>
                </a:solidFill>
              </a:defRPr>
            </a:pPr>
            <a:r>
              <a:rPr sz="2800" b="1">
                <a:solidFill>
                  <a:srgbClr val="15803D"/>
                </a:solidFill>
                <a:latin typeface="Arial"/>
              </a:rPr>
              <a:t>Correct Answer: 3</a:t>
            </a:r>
            <a:endParaRPr sz="2800">
              <a:solidFill>
                <a:srgbClr val="15803D"/>
              </a:solidFill>
            </a:endParaRPr>
          </a:p>
        </p:txBody>
      </p:sp>
    </p:spTree>
  </p:cSld>
  <p:clrMapOvr>
    <a:masterClrMapping/>
  </p:clrMapOvr>
</p:sld>
</file>

<file path=ppt/slides/slide9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12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4813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Expand the determinant to the ordinary equation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𝐹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match Maclaurin coefficients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⋯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: no differentiation of determinants and no formula for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𝐹</m:t>
                        </m:r>
                      </m:e>
                      <m:sub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needed.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4813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Expand the determinant to the ordinary equation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$F(x,y)=0$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match Maclaurin coefficients of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$y=1+ax+cx^2+\cdots$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: no differentiation of determinants and no formula for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$F_{xx}$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needed.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2898648"/>
                <a:ext cx="10725912" cy="377647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Expand along the last column: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since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𝐹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Write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⋯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″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Then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⋯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⋯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e>
                    </m:d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⋯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⋯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2898648"/>
                <a:ext cx="10725912" cy="377647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Expand along the last column: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$\Delta=1\cdot(y^2-y^3\cos x)-x\cdot(y-y^3\sin x)=y\left(y-y^2\cos x-x+xy^2\sin x\right)$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since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$y&gt;0$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$F=y-y^2\cos x-x+xy^2\sin x=0$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Write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$y=1+ax+cx^2+\cdots$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$a=f'(0)$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$2c=f''(0)$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$y^2=1+2ax+(a^2+2c)x^2+\cdots$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$\cos x=1-\frac{x^2}{2}$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$\sin x=x+\cdots$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$y^2\cos x=1+2ax+\left(a^2+2c-\frac12\right)x^2+\cdots$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$xy^2\sin x=x^2+\cdots$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9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12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𝐹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type m:val="li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⋯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li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</m:d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⋯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Coefficient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Coefficient of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″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″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$F=(1+ax+cx^2)-\left(1+2ax+(a^2+2c-\tfrac12)x^2\right)-x+x^2+\cdots=(-a-1)x+\left(\tfrac32-a^2-c\right)x^2+\cdots=0$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Coefficient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$a=-1$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Coefficient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$c=\frac32-a^2=\frac12$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$f''(0)=2c=1$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$f''(0)-2f'(0)=1-2(-1)=3$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6" name="Rounded Rectangle 5"/>
          <p:cNvSpPr/>
          <p:nvPr/>
        </p:nvSpPr>
        <p:spPr>
          <a:xfrm>
            <a:off x="731520" y="58978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254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5803D"/>
          </a:fontRef>
        </p:style>
        <p:txBody>
          <a:bodyPr rtlCol="0" anchor="ctr" wrap="square" lIns="228600" rIns="228600" tIns="18288" bIns="73152"/>
          <a:lstStyle>
            <a:lvl1pPr>
              <a:defRPr sz="2800">
                <a:solidFill>
                  <a:srgbClr val="15803D"/>
                </a:solidFill>
              </a:defRPr>
            </a:lvl1pPr>
          </a:lstStyle>
          <a:p>
            <a:pPr algn="ctr">
              <a:defRPr sz="2800">
                <a:solidFill>
                  <a:srgbClr val="15803D"/>
                </a:solidFill>
              </a:defRPr>
            </a:pPr>
            <a:r>
              <a:rPr sz="2800" b="1">
                <a:solidFill>
                  <a:srgbClr val="15803D"/>
                </a:solidFill>
                <a:latin typeface="Arial"/>
              </a:rPr>
              <a:t>Same answer: 3</a:t>
            </a:r>
            <a:endParaRPr sz="2800">
              <a:solidFill>
                <a:srgbClr val="15803D"/>
              </a:solidFill>
            </a:endParaRPr>
          </a:p>
        </p:txBody>
      </p:sp>
    </p:spTree>
  </p:cSld>
  <p:clrMapOvr>
    <a:masterClrMapping/>
  </p:clrMapOvr>
</p:sld>
</file>

<file path=ppt/slides/slide9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12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 determinant with function entries is differentiated column by column (or row by row):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 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 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∑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⋯</m:t>
                    </m:r>
                    <m:sSub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b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⋯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for the second derivative the mixed terms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sSub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b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 </m:t>
                    </m:r>
                    <m:sSub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b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 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carry factor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Determinants with a repeated column vanish: here </a:t>
                </a:r>
                <a14:m>
                  <m:oMath xmlns:m="http://schemas.openxmlformats.org/officeDocument/2006/math">
                    <m:sSub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b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made a term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Look for common factors first: column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𝑇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nor/>
                      </m:rP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𝑠𝑖𝑚𝑝𝑙𝑒𝑟 𝑑𝑒𝑡𝑒𝑟𝑚𝑖𝑛𝑎𝑛𝑡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can be divided out.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 determinant with function entries is differentiated column by column (or row by row):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$\frac{d}{dx}|C_1\ C_2\ C_3|=\sum|\cdots C_i'\cdots|$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for the second derivative the mixed terms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$|C_i'\ C_j'\ \cdot|$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carry factor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Determinants with a repeated column vanish: here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$C_2'(0)=C_3(0)$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made a term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Look for common factors first: column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$y\,(1,y,y^2)^T$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$\Delta=y\cdot(\text{simpler determinant})$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$y&gt;0$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can be divided out.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9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12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Implicit functions by series: put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⋯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𝐹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match powers: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″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Equivalent to the formulas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𝐹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sub>
                        </m:sSub>
                      </m:num>
                      <m:den>
                        <m:sSub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𝐹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𝑦</m:t>
                            </m:r>
                          </m:sub>
                        </m:sSub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″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…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but with less algebra.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Check: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𝐹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𝐹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𝐹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sub>
                        </m:sSub>
                      </m:num>
                      <m:den>
                        <m:sSub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𝐹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𝑦</m:t>
                            </m:r>
                          </m:sub>
                        </m:sSub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(matches).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Implicit functions by series: put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$y=y_0+ax+cx^2+\cdots$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$F(x,y)=0$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match powers: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$a=f'(0)$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$f''(0)=2c$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Equivalent to the formulas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$y'=-\frac{F_x}{F_y}$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$y''=\ldots$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but with less algebra.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Check: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$F_x(0,1)=-1$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$F_y(0,1)=1-2=-1$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$y'=-\frac{F_x}{F_y}=-1$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(matches).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9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13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E88080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4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737360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𝑁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 the total number of distinct common tangents to the parabola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the curve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Find the value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𝑁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____.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737360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 the total number of distinct common tangents to the parabola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$y=x^2$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the curve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$y=x^3-3x+1$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Find the value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____.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ectangle 4"/>
          <p:cNvSpPr/>
          <p:nvPr/>
        </p:nvSpPr>
        <p:spPr>
          <a:xfrm>
            <a:off x="731520" y="3246120"/>
            <a:ext cx="10725912" cy="2194560"/>
          </a:xfrm>
          <a:prstGeom prst="rect">
            <a:avLst/>
          </a:prstGeom>
          <a:solidFill>
            <a:srgbClr val="FFFFFF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t" wrap="square" lIns="228600" rIns="228600" tIns="137160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Integer Type(0 to 9)(4 Marks)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Concept(s) : Common tangents of two curves, Counting real roots using monotonicity and the Intermediate value theorem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Difficulty Level: Level 4(A level above Average JEE Advanced Level)</a:t>
            </a:r>
            <a:endParaRPr sz="2400">
              <a:solidFill>
                <a:srgbClr val="111827"/>
              </a:solidFill>
            </a:endParaRPr>
          </a:p>
        </p:txBody>
      </p:sp>
    </p:spTree>
  </p:cSld>
  <p:clrMapOvr>
    <a:masterClrMapping/>
  </p:clrMapOvr>
</p:sld>
</file>

<file path=ppt/slides/slide10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13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E88080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4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4813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Match slope and intercept of the tangent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with the cubic's tangent 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𝑠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then count the real roots of the quartic in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𝑠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4813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Match slope and intercept of the tangent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$y=2tx-t^2$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with the cubic's tangent at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$x=s$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then count the real roots of the quartic in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$s$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2898648"/>
                <a:ext cx="10725912" cy="377647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 the tangent to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at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If this line is also tangent to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𝑠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then: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Slope condition: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sSub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𝑠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Intercept condition: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𝑠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𝑠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⇒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2898648"/>
                <a:ext cx="10725912" cy="377647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$y=2tx-t^2$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 the tangent to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$y=x^2$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$(t,t^2)$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If this line is also tangent to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$y=x^3-3x+1$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$x=s$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then: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Slope condition: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$2t=\frac{d}{dx}(x^3-3x+1)\Big|_{x=s}=3s^2-3\Rightarrow t=\frac32(s^2-1)$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Intercept condition: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$-t^2=(s^3-3s+1)-s(3s^2-3)=-2s^3+1\Rightarrow t^2=2s^3-1$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0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13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E88080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4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Substituting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into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9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18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𝑠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18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Then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𝑠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36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24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36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𝑠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𝑠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𝑠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critical points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are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10</m:t>
                            </m:r>
                          </m:e>
                        </m:rad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≈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0.72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10</m:t>
                            </m:r>
                          </m:e>
                        </m:rad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≈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1.39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Using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𝑠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at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𝑠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Also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b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b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b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b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(since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b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b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b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b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(since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1.38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 Also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𝑠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∞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𝑠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∞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Substituting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$t=\frac32(s^2-1)$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into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$t^2=2s^3-1$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$\frac94(s^2-1)^2=2s^3-1\Rightarrow9s^4-8s^3-18s^2+13=0$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$P(s)=9s^4-8s^3-18s^2+13$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$P'(s)=36s^3-24s^2-36s=12s(3s^2-2s-3)$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critical points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$s_1=\frac{1-\sqrt{10}}{3}\approx-0.72$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$s_2=0$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$s_3=\frac{1+\sqrt{10}}{3}\approx1.39$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Using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$3s^2=2s+3$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$s_1,s_3$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$P(s)=4(1+s^2-2s^3)$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Also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$P(0)=13&gt;0$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$P(s_1)=4(1+s_1^2-2s_1^3)&gt;0$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(since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$s_1&lt;0$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$P(s_3)=4(1+s_3^2-2s_3^3)&lt;0$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(since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$s_3&gt;1.38$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 Also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$P(s)\to+\infty$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$s\to\pm\infty$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0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13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E88080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4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By monotonicity and the IVT: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𝑠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all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𝑠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there is no real root there.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decreases on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from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exactly one real root in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increases on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from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to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∞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exactly one real root in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Hence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𝑠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has exactly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distinct real roots, each giving a unique common tangent line. Thus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𝑁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By monotonicity and the IVT: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$P(s)&gt;0$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all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$s\in(-\infty,0]$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there is no real root there.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decreases 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$(0,s_3)$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from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$P(s_3)&lt;0$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exactly one real root in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$(0,s_3)$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increases 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$(s_3,\infty)$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from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$P(s_3)&lt;0$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$+\infty$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exactly one real root in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$(s_3,\infty)$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Hence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$P(s)=0$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has exactly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distinct real roots, each giving a unique common tangent line. Thus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$N=2$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ounded Rectangle 4"/>
          <p:cNvSpPr/>
          <p:nvPr/>
        </p:nvSpPr>
        <p:spPr>
          <a:xfrm>
            <a:off x="731520" y="58978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254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5803D"/>
          </a:fontRef>
        </p:style>
        <p:txBody>
          <a:bodyPr rtlCol="0" anchor="ctr" wrap="square" lIns="228600" rIns="228600" tIns="18288" bIns="73152"/>
          <a:lstStyle>
            <a:lvl1pPr>
              <a:defRPr sz="2800">
                <a:solidFill>
                  <a:srgbClr val="15803D"/>
                </a:solidFill>
              </a:defRPr>
            </a:lvl1pPr>
          </a:lstStyle>
          <a:p>
            <a:pPr algn="ctr">
              <a:defRPr sz="2800">
                <a:solidFill>
                  <a:srgbClr val="15803D"/>
                </a:solidFill>
              </a:defRPr>
            </a:pPr>
            <a:r>
              <a:rPr sz="2800" b="1">
                <a:solidFill>
                  <a:srgbClr val="15803D"/>
                </a:solidFill>
                <a:latin typeface="Arial"/>
              </a:rPr>
              <a:t>Correct Answer: 2</a:t>
            </a:r>
            <a:endParaRPr sz="2800">
              <a:solidFill>
                <a:srgbClr val="15803D"/>
              </a:solidFill>
            </a:endParaRPr>
          </a:p>
        </p:txBody>
      </p:sp>
    </p:spTree>
  </p:cSld>
  <p:clrMapOvr>
    <a:masterClrMapping/>
  </p:clrMapOvr>
</p:sld>
</file>

<file path=ppt/slides/slide10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13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E88080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4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4813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Work with the parabola's tangent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only: it touches the cubic exactly when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has a double root, i.e. when the discriminant of this cubic in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vanishes.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4813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Work with the parabola's tangent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$y=2tx-t^2$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only: it touches the cubic exactly when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$x^3-3x+1-(2tx-t^2)=0$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has a double root, i.e. when the discriminant of this cubic in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$x$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vanishes.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2898648"/>
                <a:ext cx="10725912" cy="377647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Tangent to the parabola at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It is also tangent to the cubic iff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has a repeated root.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cubic is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a triple root (needs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 is impossible; a repeated root occurs iff the discriminant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27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𝑞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27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Expanding: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27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54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36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27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27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32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90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216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the condition is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𝑅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27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32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90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216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2898648"/>
                <a:ext cx="10725912" cy="377647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Tangent to the parabola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$(t,t^2)$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$y=2tx-t^2$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It is also tangent to the cubic iff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$x^3-(3+2t)x+(1+t^2)=0$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has a repeated root.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cubic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$x^3+px+q$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$p=-(3+2t)$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$q=1+t^2&gt;0$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a triple root (needs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$p=q=0$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 is impossible; a repeated root occurs iff the discriminant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$-4p^3-27q^2=0$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$4(3+2t)^3-27(1+t^2)^2=0$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Expanding: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$4(27+54t+36t^2+8t^3)-27(1+2t^2+t^4)=-27t^4+32t^3+90t^2+216t+81$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the condition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$R(t)=27t^4-32t^3-90t^2-216t-81=0$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0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13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E88080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4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108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96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180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216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𝑆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𝑆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15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18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27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16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≈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0.51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≈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1.10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At the local maximum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≈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0.51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𝑆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≈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13.6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𝑆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has exactly one real root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≈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2.12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(it is negative before and increasing afterwards). Hence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𝑅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decreases on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increases on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$R'(t)=108t^3-96t^2-180t-216=12S(t)$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$S(t)=9t^3-8t^2-15t-18$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$S'(t)=27t^2-16t-15=0$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$t\approx-0.51$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$t\approx1.10$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At the local maximum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$t\approx-0.51$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$S\approx-13.6&lt;0$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$S$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has exactly one real root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$t_0\approx2.12$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(it is negative before and increasing afterwards). Hence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$R$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decreases 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$(-\infty,t_0)$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increases 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$(t_0,\infty)$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0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13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E88080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4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𝑅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∞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at both ends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𝑅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𝑅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432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256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360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432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697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𝑅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has exactly two real roots (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≈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0.438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≈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3.148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Each root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one common tangent line, and the two lines are different (different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 Hence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𝑁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$R(t)\to+\infty$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at both ends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$R(t_0)\le R(2)=432-256-360-432-81=-697&lt;0$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$R$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has exactly two real roots (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$t\approx-0.438$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$t\approx3.148$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Each root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$t$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one common tangent line, and the two lines are different (different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$t$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 Hence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$N=2$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6" name="Rounded Rectangle 5"/>
          <p:cNvSpPr/>
          <p:nvPr/>
        </p:nvSpPr>
        <p:spPr>
          <a:xfrm>
            <a:off x="731520" y="58978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254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5803D"/>
          </a:fontRef>
        </p:style>
        <p:txBody>
          <a:bodyPr rtlCol="0" anchor="ctr" wrap="square" lIns="228600" rIns="228600" tIns="18288" bIns="73152"/>
          <a:lstStyle>
            <a:lvl1pPr>
              <a:defRPr sz="2800">
                <a:solidFill>
                  <a:srgbClr val="15803D"/>
                </a:solidFill>
              </a:defRPr>
            </a:lvl1pPr>
          </a:lstStyle>
          <a:p>
            <a:pPr algn="ctr">
              <a:defRPr sz="2800">
                <a:solidFill>
                  <a:srgbClr val="15803D"/>
                </a:solidFill>
              </a:defRPr>
            </a:pPr>
            <a:r>
              <a:rPr sz="2800" b="1">
                <a:solidFill>
                  <a:srgbClr val="15803D"/>
                </a:solidFill>
                <a:latin typeface="Arial"/>
              </a:rPr>
              <a:t>Same answer: 2</a:t>
            </a:r>
            <a:endParaRPr sz="2800">
              <a:solidFill>
                <a:srgbClr val="15803D"/>
              </a:solidFill>
            </a:endParaRPr>
          </a:p>
        </p:txBody>
      </p:sp>
    </p:spTree>
  </p:cSld>
  <p:clrMapOvr>
    <a:masterClrMapping/>
  </p:clrMapOvr>
</p:sld>
</file>

<file path=ppt/slides/slide10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13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E88080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4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Common tangent of two curves: either equate slope and intercept of the tangents at two parameters, or take the tangent of the simpler curve (here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 and impose tangency on the other.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 line is tangent to a polynomial curve iff the polynomial equation (curve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line) has a repeated root; for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 repeated-root condition is the discriminant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27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𝑞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(three real roots when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27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𝑞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Common tangent of two curves: either equate slope and intercept of the tangents at two parameters, or take the tangent of the simpler curve (here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$y=2tx-t^2$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 and impose tangency on the other.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 line is tangent to a polynomial curve iff the polynomial equation (curve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$-$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line) has a repeated root; 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$x^3+px+q$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 repeated-root condition is the discriminant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$4p^3+27q^2=0$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(three real roots when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$4p^3+27q^2&lt;0$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0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13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E88080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4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Counting real roots of a polynomial: find the critical points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evaluate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there and use monotonicity + IVT; if the critical values are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on one side (like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), that side has no root.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Tangents common to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the cubic are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 two tangent points are 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𝑠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≈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0.84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≈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0.44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𝑠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≈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1.76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≈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3.15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Counting real roots of a polynomial: find the critical points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evaluate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there and use monotonicity + IVT; if the critical values are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$&gt;0$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on one side (like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$P(s_1)&gt;0$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), that side has no root.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Tangents common to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$y=x^2$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the cubic are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$y=2tx-t^2$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$t=\frac32(s^2-1)$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$y=x^2$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$y=x^3-3x+1$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 two tangent points are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$s\approx0.84$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$t\approx-0.44$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$s\approx1.76$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$t\approx3.15$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0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14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971291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:</m:t>
                    </m:r>
                    <m:r>
                      <m:rPr>
                        <m:scr m:val="double-struck"/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R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m:rPr>
                        <m:scr m:val="double-struck"/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R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 defined as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d>
                      <m:dPr>
                        <m:begChr m:val="["/>
                        <m:sepChr m:val=""/>
                        <m:endChr m:val="]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where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denotes the greatest integer function. Consider the function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: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m:rPr>
                        <m:scr m:val="double-struck"/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R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defined by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lim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→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∞</m:t>
                        </m:r>
                      </m:sub>
                    </m:sSub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p>
                        </m:s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If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the total number of points in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at which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discontinuous, then find the value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____.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971291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$f:\mathbb{R}\to\mathbb{R}$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 defined as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$f(x)=[x]+\left[x+\frac12\right]$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where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$[\cdot]$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denotes the greatest integer function. Consider the function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$g:(-2,2)\to\mathbb{R}$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defined by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$g(x)=\lim_{n\to\infty}\frac{x^{2n}f(x)+x+2}{x^{2n}+1}$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If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$k$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the total number of points in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$(-2,2)$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at which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$g(x)$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discontinuous, then find the value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$k$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____.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4480051"/>
                <a:ext cx="10725912" cy="1975103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Integer Type(0 to 9)(4 Marks)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Concept(s) : Limit defining a function (behaviour of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), Discontinuities and the greatest integer function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Difficulty Level: Level 3(Average JEE Advanced Level)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4480051"/>
                <a:ext cx="10725912" cy="1975103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Integer Type(0 to 9)(4 Marks)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Concept(s) : Limit defining a function (behaviour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$x^{2n}$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), Discontinuities and the greatest integer function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Difficulty Level: Level 3(Average JEE Advanced Level)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0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14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Hermite's identity gives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; the limit picks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for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for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Hermite's identity gives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$f(x)=[2x]$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; the limit picks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$x+2$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for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$|x|&lt;1$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$[2x]$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for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$|x|&gt;1$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Using the identity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d>
                      <m:dPr>
                        <m:begChr m:val="["/>
                        <m:sepChr m:val=""/>
                        <m:endChr m:val="]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we get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sSub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lim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→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∞</m:t>
                        </m:r>
                      </m:sub>
                    </m:sSub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∪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sSub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lim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→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∞</m:t>
                        </m:r>
                      </m:sub>
                    </m:sSub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[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]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[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]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Using the identity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$[x]+\left[x+\frac12\right]=[2x]$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we get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$f(x)=[2x]$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$|x|&lt;1$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$x\in(-1,1)$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$\lim_{n\to\infty}x^{2n}=0\Rightarrow g(x)=x+2$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$|x|&gt;1$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$x\in(-2,-1)\cup(1,2)$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$\lim_{n\to\infty}x^{2n}=\infty\Rightarrow g(x)=f(x)=[2x]$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$g(1)=\frac{f(1)+1+2}{2}=\frac{[2]+3}{2}=\frac52$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$x=-1$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$g(-1)=\frac{f(-1)-1+2}{2}=\frac{[-2]+1}{2}=-\frac12$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14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continuous everywhere.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sSub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lim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→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</m:sup>
                        </m:sSup>
                      </m:sub>
                    </m:sSub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lim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sSub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lim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→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</m:sup>
                        </m:sSup>
                      </m:sub>
                    </m:sSub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lim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The limits differ,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a point of discontinuity.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sSub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lim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→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</m:sup>
                        </m:sSup>
                      </m:sub>
                    </m:sSub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lim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sSub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lim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→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</m:sup>
                        </m:sSup>
                      </m:sub>
                    </m:sSub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lim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The limits differ,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a point of discontinuity.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$(-1,1)$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$g(x)=x+2$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continuous everywhere.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$x=-1$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$\lim_{x\to-1^-}g(x)=\lim[2x]=-3$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$\lim_{x\to-1^+}g(x)=\lim(x+2)=1$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The limits differ,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$x=-1$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a point of discontinuity.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$\lim_{x\to1^-}g(x)=\lim(x+2)=3$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$\lim_{x\to1^+}g(x)=\lim[2x]=2$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The limits differ,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a point of discontinuity.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14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the integer jump occurs 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where </a:t>
                </a:r>
                <a14:m>
                  <m:oMath xmlns:m="http://schemas.openxmlformats.org/officeDocument/2006/math">
                    <m:sSub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lim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→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</m:sup>
                        </m:sSup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sSub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lim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→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</m:sup>
                        </m:sSup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a point of discontinuity.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the integer jump occurs 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where the limits are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a point of discontinuity.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points of discontinuity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are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Hence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$(-2,-1)$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$g(x)=[2x]$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$2x\in(-4,-2)$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the integer jump occurs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$2x=-3\Rightarrow x=-\frac32$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where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$\lim_{x\to-3/2^-}[2x]=-4$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$\lim_{x\to-3/2^+}[2x]=-3$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$x=-\frac32$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a point of discontinuity.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$(1,2)$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$g(x)=[2x]$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$2x\in(2,4)$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the integer jump occurs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$2x=3\Rightarrow x=\frac32$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where the limits are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$x=\frac32$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a point of discontinuity.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points of discontinuity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$g$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$(-2,2)$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$x=-\frac32,-1,1,\frac32$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Hence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$k=4$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ounded Rectangle 4"/>
          <p:cNvSpPr/>
          <p:nvPr/>
        </p:nvSpPr>
        <p:spPr>
          <a:xfrm>
            <a:off x="731520" y="58978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254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5803D"/>
          </a:fontRef>
        </p:style>
        <p:txBody>
          <a:bodyPr rtlCol="0" anchor="ctr" wrap="square" lIns="228600" rIns="228600" tIns="18288" bIns="73152"/>
          <a:lstStyle>
            <a:lvl1pPr>
              <a:defRPr sz="2800">
                <a:solidFill>
                  <a:srgbClr val="15803D"/>
                </a:solidFill>
              </a:defRPr>
            </a:lvl1pPr>
          </a:lstStyle>
          <a:p>
            <a:pPr algn="ctr">
              <a:defRPr sz="2800">
                <a:solidFill>
                  <a:srgbClr val="15803D"/>
                </a:solidFill>
              </a:defRPr>
            </a:pPr>
            <a:r>
              <a:rPr sz="2800" b="1">
                <a:solidFill>
                  <a:srgbClr val="15803D"/>
                </a:solidFill>
                <a:latin typeface="Arial"/>
              </a:rPr>
              <a:t>Correct Answer: 4</a:t>
            </a:r>
            <a:endParaRPr sz="2800">
              <a:solidFill>
                <a:srgbClr val="15803D"/>
              </a:solidFill>
            </a:endParaRPr>
          </a:p>
        </p:txBody>
      </p:sp>
    </p:spTree>
  </p:cSld>
  <p:clrMapOvr>
    <a:masterClrMapping/>
  </p:clrMapOvr>
</p:sld>
</file>

<file path=ppt/slides/slide1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14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Hermite's identity: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d>
                      <m:dPr>
                        <m:begChr m:val="["/>
                        <m:sepChr m:val=""/>
                        <m:endChr m:val="]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</m:den>
                        </m:f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⋯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d>
                      <m:dPr>
                        <m:begChr m:val="["/>
                        <m:sepChr m:val=""/>
                        <m:endChr m:val="]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</m:den>
                        </m:f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here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d>
                      <m:dPr>
                        <m:begChr m:val="["/>
                        <m:sepChr m:val=""/>
                        <m:endChr m:val="]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(check: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0.6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1.2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b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lim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→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∞</m:t>
                        </m:r>
                      </m:sub>
                    </m:sSub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p>
                        </m:s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𝐵</m:t>
                        </m:r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equals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𝐵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at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a 'switching' function; its possible discontinuities are the switch points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±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the discontinuities of the branch used on each side.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Hermite's identity: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$[x]+\left[x+\frac1n\right]+\cdots+\left[x+\frac{n-1}{n}\right]=[nx]$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here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$n=2$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$[x]+\left[x+\frac12\right]=[2x]$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(check: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$x=0.6$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$0+1=1=[1.2]$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$\lim_{n\to\infty}\frac{x^{2n}A+B}{x^{2n}+1}$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equals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$|x|&lt;1$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$|x|&gt;1$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$\frac{A+B}{2}$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$|x|=1$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a 'switching' function; its possible discontinuities are the switch points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$x=\pm1$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the discontinuities of the branch used on each side.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14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At a switch point the function is continuous only if both branch limits equal each other (and the average value); here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a jump.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has jumps exactly 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𝑚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𝑚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m:rPr>
                        <m:scr m:val="double-struck"/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Z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); the number of jump points of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the number of integers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𝑚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i.e.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𝑚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only: one jump.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At a switch point the function is continuous only if both branch limits equal each other (and the average value); here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$[2x]\to2$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$x+2\to3$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a jump.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$[kx]$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has jumps exactly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$x=\frac mk$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$m\in\mathbb{Z}$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); the number of jump points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$[2x]$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$(1,2)$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the number of integers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$m\in(2,4)$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i.e.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$m=3$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only: one jump.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463040"/>
            <a:ext cx="10362895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lvl1pPr>
              <a:defRPr sz="2800">
                <a:solidFill>
                  <a:srgbClr val="FFFFFF"/>
                </a:solidFill>
              </a:defRPr>
            </a:lvl1pPr>
          </a:lstStyle>
          <a:p>
            <a:pPr algn="ctr">
              <a:spcAft>
                <a:spcPts val="1000"/>
              </a:spcAft>
              <a:defRPr sz="2800">
                <a:solidFill>
                  <a:srgbClr val="FFFFFF"/>
                </a:solidFill>
              </a:defRPr>
            </a:pPr>
            <a:r>
              <a:rPr sz="2800" b="0">
                <a:solidFill>
                  <a:srgbClr val="93C5FD"/>
                </a:solidFill>
                <a:latin typeface="Arial"/>
              </a:rPr>
              <a:t>Section 5</a:t>
            </a:r>
            <a:endParaRPr sz="2800">
              <a:solidFill>
                <a:srgbClr val="FFFFFF"/>
              </a:solidFill>
            </a:endParaRPr>
          </a:p>
          <a:p>
            <a:pPr algn="ctr">
              <a:spcAft>
                <a:spcPts val="1000"/>
              </a:spcAft>
              <a:defRPr sz="2800">
                <a:solidFill>
                  <a:srgbClr val="FFFFFF"/>
                </a:solidFill>
              </a:defRPr>
            </a:pPr>
            <a:r>
              <a:rPr sz="4400" b="1">
                <a:solidFill>
                  <a:srgbClr val="FFFFFF"/>
                </a:solidFill>
                <a:latin typeface="Arial"/>
              </a:rPr>
              <a:t>Numerical Type</a:t>
            </a:r>
            <a:endParaRPr sz="2800">
              <a:solidFill>
                <a:srgbClr val="FFFFFF"/>
              </a:solidFill>
            </a:endParaRPr>
          </a:p>
          <a:p>
            <a:pPr algn="ctr">
              <a:spcAft>
                <a:spcPts val="1000"/>
              </a:spcAft>
              <a:defRPr sz="28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Q15 – Q17</a:t>
            </a:r>
            <a:endParaRPr sz="2800">
              <a:solidFill>
                <a:srgbClr val="FFFFFF"/>
              </a:solidFill>
            </a:endParaRPr>
          </a:p>
          <a:p>
            <a:pPr algn="ctr">
              <a:spcAft>
                <a:spcPts val="1000"/>
              </a:spcAft>
              <a:defRPr sz="2800">
                <a:solidFill>
                  <a:srgbClr val="FFFFFF"/>
                </a:solidFill>
              </a:defRPr>
            </a:pPr>
            <a:r>
              <a:rPr sz="2800" b="0">
                <a:solidFill>
                  <a:srgbClr val="FFFFFF"/>
                </a:solidFill>
                <a:latin typeface="Arial"/>
              </a:rPr>
              <a:t>Marks not printed in the paper: JEE Advanced default of 4 per question assumed</a:t>
            </a:r>
            <a:endParaRPr sz="2800">
              <a:solidFill>
                <a:srgbClr val="FFFFFF"/>
              </a:solidFill>
            </a:endParaRPr>
          </a:p>
        </p:txBody>
      </p:sp>
    </p:spTree>
  </p:cSld>
  <p:clrMapOvr>
    <a:masterClrMapping/>
  </p:clrMapOvr>
</p:sld>
</file>

<file path=ppt/slides/slide1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15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861564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: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m:rPr>
                        <m:scr m:val="double-struck"/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R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 a function defined by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Let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 the value obtained by applying Lagrange's Mean Value Theorem to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on the interval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Consider two curves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: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: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where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m:rPr>
                        <m:scr m:val="double-struck"/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R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If the curves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intersect orthogonally 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then the value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equal to ____.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861564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$f:[0,3]\to\mathbb{R}$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 a function defined by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$f(x)=x^3-3x^2+4x+1$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Let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$c\in(0,3)$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 the value obtained by applying Lagrange's Mean Value Theorem to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$f(x)$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on the interval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$[0,3]$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Consider two curves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$C_1:y=f(x)$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$C_2:y=\frac{a}{x+1}+b$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where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$a,b\in\mathbb{R}$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$a&gt;0$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If the curves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$C_1$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$C_2$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intersect orthogonally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then the value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equal to ____.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ectangle 4"/>
          <p:cNvSpPr/>
          <p:nvPr/>
        </p:nvSpPr>
        <p:spPr>
          <a:xfrm>
            <a:off x="731520" y="4370323"/>
            <a:ext cx="10725912" cy="2194560"/>
          </a:xfrm>
          <a:prstGeom prst="rect">
            <a:avLst/>
          </a:prstGeom>
          <a:solidFill>
            <a:srgbClr val="FFFFFF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t" wrap="square" lIns="228600" rIns="228600" tIns="137160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Numerical Type (4 Marks)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Concept(s) : Lagrange's mean value theorem, Orthogonal intersection of two curves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Difficulty Level: Level 2(A level below Average JEE Advanced Level)</a:t>
            </a:r>
            <a:endParaRPr sz="2400">
              <a:solidFill>
                <a:srgbClr val="111827"/>
              </a:solidFill>
            </a:endParaRPr>
          </a:p>
        </p:txBody>
      </p:sp>
    </p:spTree>
  </p:cSld>
  <p:clrMapOvr>
    <a:masterClrMapping/>
  </p:clrMapOvr>
</p:sld>
</file>

<file path=ppt/slides/slide1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15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Orthogonal intersection 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𝑐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means the product of the two tangent slopes 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𝑐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Orthogonal intersection at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$x=c$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means the product of the two tangent slopes at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$x=c$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is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$-1$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By Lagrange's MVT on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there exists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27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27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Thus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13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Since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we get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By Lagrange's MVT 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$[0,3]$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there exists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$c\in(0,3)$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$f'(c)=\frac{f(3)-f(0)}{3-0}$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$f(x)=x^3-3x^2+4x+1$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$f(0)=1$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$f(3)=27-27+12+1=13$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$f'(x)=3x^2-6x+4$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Thus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$f'(c)=\frac{13-1}{3}=4\Rightarrow3c^2-6c+4=4\Rightarrow3c(c-2)=0$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Since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$c\in(0,3)$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we get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$c=2$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15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slope of the tangent to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𝑚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The slope of the tangent to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𝑚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𝑔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num>
                      <m:den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  <m:sSub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9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Since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intersect orthogonally 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𝑚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𝑚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9</m:t>
                            </m:r>
                          </m:den>
                        </m:f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9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2.25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slope of the tangent to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$C_1$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$m_1=f'(2)=4$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$g(x)=\frac{a}{x+1}+b$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The slope of the tangent to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$C_2$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$m_2=g'(2)=-\frac{a}{(x+1)^2}\Big|_{x=2}=-\frac a9$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Since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$C_1$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$C_2$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intersect orthogonally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$m_1m_2=-1\Rightarrow4\left(-\frac a9\right)=-1\Rightarrow a=\frac94=2.25$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ounded Rectangle 4"/>
          <p:cNvSpPr/>
          <p:nvPr/>
        </p:nvSpPr>
        <p:spPr>
          <a:xfrm>
            <a:off x="731520" y="58978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254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5803D"/>
          </a:fontRef>
        </p:style>
        <p:txBody>
          <a:bodyPr rtlCol="0" anchor="ctr" wrap="square" lIns="228600" rIns="228600" tIns="18288" bIns="73152"/>
          <a:lstStyle>
            <a:lvl1pPr>
              <a:defRPr sz="2800">
                <a:solidFill>
                  <a:srgbClr val="15803D"/>
                </a:solidFill>
              </a:defRPr>
            </a:lvl1pPr>
          </a:lstStyle>
          <a:p>
            <a:pPr algn="ctr">
              <a:defRPr sz="2800">
                <a:solidFill>
                  <a:srgbClr val="15803D"/>
                </a:solidFill>
              </a:defRPr>
            </a:pPr>
            <a:r>
              <a:rPr sz="2800" b="1">
                <a:solidFill>
                  <a:srgbClr val="15803D"/>
                </a:solidFill>
                <a:latin typeface="Arial"/>
              </a:rPr>
              <a:t>Correct Answer: 2.25</a:t>
            </a:r>
            <a:endParaRPr sz="2800">
              <a:solidFill>
                <a:srgbClr val="15803D"/>
              </a:solidFill>
            </a:endParaRPr>
          </a:p>
        </p:txBody>
      </p:sp>
    </p:spTree>
  </p:cSld>
  <p:clrMapOvr>
    <a:masterClrMapping/>
  </p:clrMapOvr>
</p:sld>
</file>

<file path=ppt/slides/slide1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15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4813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The chord slope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𝑓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over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is the average value of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on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found by one integration of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(no values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𝑓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needed); then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is solved by completing the square.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4813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The chord slope of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$f$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over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$[0,3]$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is the average value of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$f'$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on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$[0,3]$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found by one integration of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$f'$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(no values of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$f$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needed); then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$f'=4$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is solved by completing the square.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2898648"/>
                <a:ext cx="10725912" cy="377647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  <m:e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𝑓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′</m:t>
                            </m:r>
                          </m:sup>
                        </m:sSup>
                      </m:e>
                    </m:nary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</m:e>
                    </m:nary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  <m:sSubSup>
                      <m:e>
                        <m:d>
                          <m:dPr>
                            <m:begChr m:val="["/>
                            <m:sepChr m:val=""/>
                            <m:endChr m:val="]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sup>
                            </m:s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</m:d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b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27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27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𝑢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⇔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⇔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𝑢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±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⇔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only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lies in the open interval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2898648"/>
                <a:ext cx="10725912" cy="377647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$\frac{f(3)-f(0)}{3-0}=\frac13\int_0^3f'(x)\,dx=\frac13\int_0^3(3x^2-6x+4)\,dx=\frac13\left[x^3-3x^2+4x\right]_0^3=\frac13(27-27+12)=4$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$u=x-1$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$f'(x)=3u^2+1$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$f'(c)=4\iff3u^2=3\iff u=\pm1\iff c=2$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only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$c=2$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lies in the open interval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$(0,3)$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15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Orthogonality in the gradient form: tangent directions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𝑚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𝑚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are perpendicular iff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𝑚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𝑚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with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𝑚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𝑚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9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9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9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2.25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(The condition that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passes through the point </a:t>
                </a:r>
                <a14:m>
                  <m:oMath xmlns:m="http://schemas.openxmlformats.org/officeDocument/2006/math"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only fixes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it does not affect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.)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Orthogonality in the gradient form: tangent directions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$(1,m_1)$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$(1,m_2)$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are perpendicular iff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$1+m_1m_2=0$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$m_1=4$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$m_2=-\frac{a}{9}$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$1-\frac{4a}{9}=0$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$a=\frac94=2.25$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(The condition that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$C_2$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passes through the point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$\left(2,f(2)\right)=(2,5)$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only fixes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$b=5-\frac a3$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it does not affect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.)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6" name="Rounded Rectangle 5"/>
          <p:cNvSpPr/>
          <p:nvPr/>
        </p:nvSpPr>
        <p:spPr>
          <a:xfrm>
            <a:off x="731520" y="58978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254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5803D"/>
          </a:fontRef>
        </p:style>
        <p:txBody>
          <a:bodyPr rtlCol="0" anchor="ctr" wrap="square" lIns="228600" rIns="228600" tIns="18288" bIns="73152"/>
          <a:lstStyle>
            <a:lvl1pPr>
              <a:defRPr sz="2800">
                <a:solidFill>
                  <a:srgbClr val="15803D"/>
                </a:solidFill>
              </a:defRPr>
            </a:lvl1pPr>
          </a:lstStyle>
          <a:p>
            <a:pPr algn="ctr">
              <a:defRPr sz="2800">
                <a:solidFill>
                  <a:srgbClr val="15803D"/>
                </a:solidFill>
              </a:defRPr>
            </a:pPr>
            <a:r>
              <a:rPr sz="2800" b="1">
                <a:solidFill>
                  <a:srgbClr val="15803D"/>
                </a:solidFill>
                <a:latin typeface="Arial"/>
              </a:rPr>
              <a:t>Same answer: 2.25</a:t>
            </a:r>
            <a:endParaRPr sz="2800">
              <a:solidFill>
                <a:srgbClr val="15803D"/>
              </a:solidFill>
            </a:endParaRPr>
          </a:p>
        </p:txBody>
      </p:sp>
    </p:spTree>
  </p:cSld>
  <p:clrMapOvr>
    <a:masterClrMapping/>
  </p:clrMapOvr>
</p:sld>
</file>

<file path=ppt/slides/slide1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15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MVT slope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average value of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den>
                    </m:f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sup>
                      <m:e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𝑓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′</m:t>
                            </m:r>
                          </m:sup>
                        </m:sSup>
                      </m:e>
                    </m:nary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the chord slope can be found from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alone;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a point where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equals its average.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Two curves cut orthogonally at a point iff the product of their tangent slopes is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(or one tangent is vertical and the other horizontal).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MVT slope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$=$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average value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$f'$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$\frac{f(b)-f(a)}{b-a}=\frac1{b-a}\int_a^bf'(x)\,dx$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the chord slope can be found from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$f'$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alone;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a point where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$f'$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equals its average.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Two curves cut orthogonally at a point iff the product of their tangent slopes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$-1$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(or one tangent is vertical and the other horizontal).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15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num>
                      <m:den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the constant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only shifts the curve vertically (it sets the point of intersection, not the slope).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a cubic,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β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β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a quadratic in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up to two MVT points, so always check which lie in the open interval (here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only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$\frac{d}{dx}\left(\frac{a}{x+1}+b\right)=-\frac{a}{(x+1)^2}$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the constant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only shifts the curve vertically (it sets the point of intersection, not the slope).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a cubic,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$f'(c)=\frac{f(\beta)-f(\alpha)}{\beta-\alpha}$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a quadratic in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up to two MVT points, so always check which lie in the open interval (here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$c=2$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only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$c=2\in(0,3)$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16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928619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p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Let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denote the derivative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respect to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where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Evaluate the value of the expression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′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den>
                    </m:f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𝑦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den>
                        </m:f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𝑑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𝑦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𝑑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den>
                        </m:f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343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928619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$x(t)=t^t$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$y(t)=t^{t^2}$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$t&gt;0$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Let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$\frac{dy}{dx}$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denote the derivative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respect to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where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$x'(t)=\frac{dx}{dt}$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Evaluate the value of the expression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$\frac{x'(t)}{x(t)}\left(2t-\frac{x(t)}{y(t)}\frac{dy}{dx}\right)$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$t=343$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ectangle 4"/>
          <p:cNvSpPr/>
          <p:nvPr/>
        </p:nvSpPr>
        <p:spPr>
          <a:xfrm>
            <a:off x="731520" y="4437380"/>
            <a:ext cx="10725912" cy="2194560"/>
          </a:xfrm>
          <a:prstGeom prst="rect">
            <a:avLst/>
          </a:prstGeom>
          <a:solidFill>
            <a:srgbClr val="FFFFFF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t" wrap="square" lIns="228600" rIns="228600" tIns="137160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Numerical Type (4 Marks)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Concept(s) : Logarithmic differentiation, Parametric differentiation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Difficulty Level: Level 2(A level below Average JEE Advanced Level)</a:t>
            </a:r>
            <a:endParaRPr sz="2400">
              <a:solidFill>
                <a:srgbClr val="111827"/>
              </a:solidFill>
            </a:endParaRPr>
          </a:p>
        </p:txBody>
      </p:sp>
    </p:spTree>
  </p:cSld>
  <p:clrMapOvr>
    <a:masterClrMapping/>
  </p:clrMapOvr>
</p:sld>
</file>

<file path=ppt/slides/slide1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16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3289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Work with logarithmic derivatives: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den>
                    </m:f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′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′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and the expression collapses to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𝑡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3289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Work with logarithmic derivatives: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$\frac{x}{y}\frac{dy}{dx}=\frac{y'/y}{x'/x}$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and the expression collapses to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$t$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2746248"/>
                <a:ext cx="10725912" cy="392887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Given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p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ln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ln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ln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′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ln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ln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ln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den>
                    </m:f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ln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ln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′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ln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where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′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′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Thus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den>
                    </m:f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′</m:t>
                            </m:r>
                          </m:sup>
                        </m:sSup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′</m:t>
                            </m:r>
                          </m:sup>
                        </m:sSup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′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′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ln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ln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2746248"/>
                <a:ext cx="10725912" cy="392887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Given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$x(t)=t^t$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$y(t)=t^{t^2}$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$\ln x=t\ln t\Rightarrow\frac{1}{x}\frac{dx}{dt}=1+\ln t\Rightarrow\frac{x'(t)}{x(t)}=1+\ln t$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$\ln y=t^2\ln t\Rightarrow\frac{1}{y}\frac{dy}{dt}=2t\ln t+t^2\cdot\frac1t=t(1+2\ln t)\Rightarrow\frac{y'(t)}{y(t)}=t(1+2\ln 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where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$\frac{dy}{dx}=\frac{y'(t)}{x'(t)}$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Thus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$\frac{x}{y}\frac{dy}{dx}=\frac{x}{y}\cdot\frac{y'}{x'}=\frac{y'/y}{x'/x}=\frac{t(1+2\ln t)}{1+\ln t}$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16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Substituting into the expression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′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𝑦</m:t>
                            </m:r>
                          </m:den>
                        </m:f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𝑑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𝑦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𝑑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den>
                        </m:f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ln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ln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ln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</m:den>
                        </m:f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ln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ln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ln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ln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Evaluating 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343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343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343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Substituting into the expression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$E(t)=\frac{x'}{x}\left(2t-\frac xy\frac{dy}{dx}\right)=(1+\ln t)\left(2t-\frac{t(1+2\ln t)}{1+\ln t}\right)$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$E(t)=2t(1+\ln t)-t(1+2\ln t)=2t+2t\ln t-t-2t\ln t=t$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Evaluating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$t=343$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$E(343)=343$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ounded Rectangle 4"/>
          <p:cNvSpPr/>
          <p:nvPr/>
        </p:nvSpPr>
        <p:spPr>
          <a:xfrm>
            <a:off x="731520" y="58978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254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5803D"/>
          </a:fontRef>
        </p:style>
        <p:txBody>
          <a:bodyPr rtlCol="0" anchor="ctr" wrap="square" lIns="228600" rIns="228600" tIns="18288" bIns="73152"/>
          <a:lstStyle>
            <a:lvl1pPr>
              <a:defRPr sz="2800">
                <a:solidFill>
                  <a:srgbClr val="15803D"/>
                </a:solidFill>
              </a:defRPr>
            </a:lvl1pPr>
          </a:lstStyle>
          <a:p>
            <a:pPr algn="ctr">
              <a:defRPr sz="2800">
                <a:solidFill>
                  <a:srgbClr val="15803D"/>
                </a:solidFill>
              </a:defRPr>
            </a:pPr>
            <a:r>
              <a:rPr sz="2800" b="1">
                <a:solidFill>
                  <a:srgbClr val="15803D"/>
                </a:solidFill>
                <a:latin typeface="Arial"/>
              </a:rPr>
              <a:t>Correct Answer: 343</a:t>
            </a:r>
            <a:endParaRPr sz="2800">
              <a:solidFill>
                <a:srgbClr val="15803D"/>
              </a:solidFill>
            </a:endParaRPr>
          </a:p>
        </p:txBody>
      </p:sp>
    </p:spTree>
  </p:cSld>
  <p:clrMapOvr>
    <a:masterClrMapping/>
  </p:clrMapOvr>
</p:sld>
</file>

<file path=ppt/slides/slide1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16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81051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Put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𝑢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ln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𝑣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ln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; then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den>
                    </m:f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𝑣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𝑢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the whole expression equals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𝑢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because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𝑣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𝑢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turns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into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𝑢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81051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Put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$u=\ln x$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$v=\ln y$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; then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$\frac{x}{y}\frac{dy}{dx}=\frac{dv}{du}$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the whole expression equals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$tu'-u$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because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$v=tu$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turns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$2tu'-v'$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into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$tu'-u$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3227832"/>
                <a:ext cx="10725912" cy="344728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𝑢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ln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ln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𝑣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ln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ln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𝑢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′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den>
                    </m:f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′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′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𝑣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′</m:t>
                            </m:r>
                          </m:sup>
                        </m:sSup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𝑢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′</m:t>
                            </m:r>
                          </m:sup>
                        </m:sSup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(ratio of logarithmic derivatives).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𝑣</m:t>
                                </m:r>
                              </m:e>
                              <m:sup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′</m:t>
                                </m:r>
                              </m:sup>
                            </m:sSup>
                          </m:num>
                          <m:den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𝑢</m:t>
                                </m:r>
                              </m:e>
                              <m:sup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′</m:t>
                                </m:r>
                              </m:sup>
                            </m:sSup>
                          </m:den>
                        </m:f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3227832"/>
                <a:ext cx="10725912" cy="344728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$u(t)=\ln x=t\ln t$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$v(t)=\ln y=t^2\ln t=t\cdot u(t)$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$\frac{x'}{x}=u'$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$\frac{x}{y}\frac{dy}{dx}=\frac{y'/y}{x'/x}=\frac{v'}{u'}$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(ratio of logarithmic derivatives).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$E=u'\left(2t-\frac{v'}{u'}\right)=2tu'-v'$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16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From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𝑣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𝑢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𝑢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𝑢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𝑢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𝑢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ln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ln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ln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ln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343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343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(Equivalently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den>
                    </m:f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𝑢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</m:den>
                        </m:f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because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𝑢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ln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.)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From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$v=tu$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$v'=u+tu'$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$E=2tu'-u-tu'=tu'-u$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$u=t\ln t$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$u'=1+\ln t$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$E=t(1+\ln t)-t\ln t=t$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$E(343)=343$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(Equivalently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$E=t^2\frac{d}{dt}\left(\frac ut\right)=t^2\cdot\frac1t=t$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because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 ut=\ln t$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.)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6" name="Rounded Rectangle 5"/>
          <p:cNvSpPr/>
          <p:nvPr/>
        </p:nvSpPr>
        <p:spPr>
          <a:xfrm>
            <a:off x="731520" y="58978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254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5803D"/>
          </a:fontRef>
        </p:style>
        <p:txBody>
          <a:bodyPr rtlCol="0" anchor="ctr" wrap="square" lIns="228600" rIns="228600" tIns="18288" bIns="73152"/>
          <a:lstStyle>
            <a:lvl1pPr>
              <a:defRPr sz="2800">
                <a:solidFill>
                  <a:srgbClr val="15803D"/>
                </a:solidFill>
              </a:defRPr>
            </a:lvl1pPr>
          </a:lstStyle>
          <a:p>
            <a:pPr algn="ctr">
              <a:defRPr sz="2800">
                <a:solidFill>
                  <a:srgbClr val="15803D"/>
                </a:solidFill>
              </a:defRPr>
            </a:pPr>
            <a:r>
              <a:rPr sz="2800" b="1">
                <a:solidFill>
                  <a:srgbClr val="15803D"/>
                </a:solidFill>
                <a:latin typeface="Arial"/>
              </a:rPr>
              <a:t>Same answer: 343</a:t>
            </a:r>
            <a:endParaRPr sz="2800">
              <a:solidFill>
                <a:srgbClr val="15803D"/>
              </a:solidFill>
            </a:endParaRPr>
          </a:p>
        </p:txBody>
      </p:sp>
    </p:spTree>
  </p:cSld>
  <p:clrMapOvr>
    <a:masterClrMapping/>
  </p:clrMapOvr>
</p:sld>
</file>

<file path=ppt/slides/slide1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16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Logarithmic derivative: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′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ln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den>
                    </m:f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ln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ln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ln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′</m:t>
                            </m:r>
                          </m:sup>
                        </m:sSup>
                      </m:num>
                      <m:den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ln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′</m:t>
                            </m:r>
                          </m:sup>
                        </m:sSup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(elasticity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respect to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den>
                    </m:f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</m:sup>
                        </m:sSup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ln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den>
                    </m:f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  <m:sup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𝑡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sup>
                        </m:sSup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p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ln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standard results for exponents that are functions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𝑢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sSup>
                      <m:e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type m:val="bar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𝑢</m:t>
                                </m:r>
                              </m:num>
                              <m:den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𝑡</m:t>
                                </m:r>
                              </m:den>
                            </m:f>
                          </m:e>
                        </m:d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(quotient-rule identity): useful for any expression that reduces to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𝑢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Check numerically 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ln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ln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ln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ln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ln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which equals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Logarithmic derivative: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$\frac{x'}{x}=(\ln x)'$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 xy\frac{dy}{dx}=\frac{d\ln y}{d\ln x}=\frac{(\ln y)'}{(\ln x)'}$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(elasticity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respect to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$\frac{d}{dt}\left(t^t\right)=t^t(1+\ln 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$\frac{d}{dt}\left(t^{t^2}\right)=t^{t^2}\,t(1+2\ln 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standard results for exponents that are functions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$t$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$tu'-u=t^2\left(\frac ut\right)'$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(quotient-rule identity): useful for any expression that reduces to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$tu'-u$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Check numerically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$t=2$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$E=(1+\ln2)\left(4-\frac{2(1+2\ln2)}{1+\ln2}\right)=4(1+\ln2)-2(1+2\ln2)=2$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which equals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$t$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17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117851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|"/>
                        <m:sepChr m:val=""/>
                        <m:endChr m:val="|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baseJc m:val="center"/>
                            <m:plcHide m:val="on"/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sSup>
                                <m:e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𝑒</m:t>
                                  </m:r>
                                </m:e>
                                <m:sup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sup>
                              </m:sSup>
                            </m:e>
                            <m:e>
                              <m:sSup>
                                <m:e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𝑒</m:t>
                                  </m:r>
                                </m:e>
                                <m:sup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sup>
                              </m:sSup>
                            </m:e>
                            <m:e>
                              <m:sSup>
                                <m:e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𝑒</m:t>
                                  </m:r>
                                </m:e>
                                <m:sup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3</m:t>
                                  </m:r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sup>
                              </m:sSup>
                            </m:e>
                          </m:mr>
                          <m:mr>
                            <m:e>
                              <m:sSup>
                                <m:e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𝑒</m:t>
                                  </m:r>
                                </m:e>
                                <m:sup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sup>
                              </m:sSup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  <m:sSup>
                                <m:e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𝑒</m:t>
                                  </m:r>
                                </m:e>
                                <m:sup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sup>
                              </m:sSup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  <m:sSup>
                                <m:e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𝑒</m:t>
                                  </m:r>
                                </m:e>
                                <m:sup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3</m:t>
                                  </m:r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sup>
                              </m:sSup>
                            </m:e>
                          </m:mr>
                          <m:mr>
                            <m:e>
                              <m:sSup>
                                <m:e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𝑒</m:t>
                                  </m:r>
                                </m:e>
                                <m:sup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sup>
                              </m:sSup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4</m:t>
                              </m:r>
                              <m:sSup>
                                <m:e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𝑒</m:t>
                                  </m:r>
                                </m:e>
                                <m:sup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sup>
                              </m:sSup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9</m:t>
                              </m:r>
                              <m:sSup>
                                <m:e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𝑒</m:t>
                                  </m:r>
                                </m:e>
                                <m:sup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3</m:t>
                                  </m:r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sup>
                              </m:sSup>
                            </m:e>
                          </m:mr>
                        </m:m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If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then the value of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𝑑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sup>
                        </m:s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𝑔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sup>
                        </m:sSup>
                      </m:den>
                    </m:f>
                    <m:sSub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equal to ____.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117851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$f(x)=\left|\begin{matrix}e^x&amp;e^{2x}&amp;e^{3x}\\e^x&amp;2e^{2x}&amp;3e^{3x}\\e^x&amp;4e^{2x}&amp;9e^{3x}\end{matrix}\right|$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$g(x)=e^x$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If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$y=f(x)$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then the value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$\frac{d^3y}{d(g(x))^3}\Big|_{x=0}$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equal to ____.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ectangle 4"/>
          <p:cNvSpPr/>
          <p:nvPr/>
        </p:nvSpPr>
        <p:spPr>
          <a:xfrm>
            <a:off x="731520" y="3626611"/>
            <a:ext cx="10725912" cy="2194560"/>
          </a:xfrm>
          <a:prstGeom prst="rect">
            <a:avLst/>
          </a:prstGeom>
          <a:solidFill>
            <a:srgbClr val="FFFFFF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t" wrap="square" lIns="228600" rIns="228600" tIns="137160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Numerical Type (4 Marks)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Concept(s) : Determinants with exponential columns, Derivative of one function with respect to another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Difficulty Level: Level 2(A level below Average JEE Advanced Level)</a:t>
            </a:r>
            <a:endParaRPr sz="2400">
              <a:solidFill>
                <a:srgbClr val="111827"/>
              </a:solidFill>
            </a:endParaRPr>
          </a:p>
        </p:txBody>
      </p:sp>
    </p:spTree>
  </p:cSld>
  <p:clrMapOvr>
    <a:masterClrMapping/>
  </p:clrMapOvr>
</p:sld>
</file>

<file path=ppt/slides/slide1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17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Take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,</m:t>
                    </m:r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,</m:t>
                    </m:r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out of the columns, then write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as a function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𝑢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Take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$e^x,e^{2x},e^{3x}$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out of the columns, then write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$y$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as a function of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$u=e^x$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Take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common from columns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sup>
                    </m:sSup>
                    <m:d>
                      <m:dPr>
                        <m:begChr m:val="|"/>
                        <m:sepChr m:val=""/>
                        <m:endChr m:val="|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baseJc m:val="center"/>
                            <m:plcHide m:val="on"/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</m:m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e>
                          </m:m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4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9</m:t>
                              </m:r>
                            </m:e>
                          </m:mr>
                        </m:m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remaining determinant is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18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Thus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𝑢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Expressing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in terms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𝑢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sup>
                    </m:sSup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Take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$e^x$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$e^{2x}$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$e^{3x}$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common from columns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$1,2,3$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$f(x)=e^x\cdot e^{2x}\cdot e^{3x}\left|\begin{matrix}1&amp;1&amp;1\\1&amp;2&amp;3\\1&amp;4&amp;9\end{matrix}\right|$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remaining determinant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$1(18-12)-1(9-3)+1(4-2)=6-6+2=2$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Thus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$f(x)=2e^{6x}$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$u=g(x)=e^x$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Expressing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$y=f(x)$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in terms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$u$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$y=2(e^x)^6=2u^6$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17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Differentiating successively with respect to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𝑢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𝑢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12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𝑑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𝑢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60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𝑑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sup>
                        </m:s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𝑢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sup>
                        </m:sSup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240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𝑢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Therefore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𝑑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sup>
                        </m:s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𝑔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sup>
                        </m:sSup>
                      </m:den>
                    </m:f>
                    <m:sSub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240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240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Differentiating successively with respect to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$u$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$\frac{dy}{du}=12u^5$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$\frac{d^2y}{du^2}=60u^4$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$\frac{d^3y}{du^3}=240u^3$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$u=g(0)=e^0=1$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Therefore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$\frac{d^3y}{d(g(x))^3}\Big|_{x=0}=240(1)^3=240$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ounded Rectangle 4"/>
          <p:cNvSpPr/>
          <p:nvPr/>
        </p:nvSpPr>
        <p:spPr>
          <a:xfrm>
            <a:off x="731520" y="58978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254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5803D"/>
          </a:fontRef>
        </p:style>
        <p:txBody>
          <a:bodyPr rtlCol="0" anchor="ctr" wrap="square" lIns="228600" rIns="228600" tIns="18288" bIns="73152"/>
          <a:lstStyle>
            <a:lvl1pPr>
              <a:defRPr sz="2800">
                <a:solidFill>
                  <a:srgbClr val="15803D"/>
                </a:solidFill>
              </a:defRPr>
            </a:lvl1pPr>
          </a:lstStyle>
          <a:p>
            <a:pPr algn="ctr">
              <a:defRPr sz="2800">
                <a:solidFill>
                  <a:srgbClr val="15803D"/>
                </a:solidFill>
              </a:defRPr>
            </a:pPr>
            <a:r>
              <a:rPr sz="2800" b="1">
                <a:solidFill>
                  <a:srgbClr val="15803D"/>
                </a:solidFill>
                <a:latin typeface="Arial"/>
              </a:rPr>
              <a:t>Correct Answer: 240</a:t>
            </a:r>
            <a:endParaRPr sz="2800">
              <a:solidFill>
                <a:srgbClr val="15803D"/>
              </a:solidFill>
            </a:endParaRPr>
          </a:p>
        </p:txBody>
      </p:sp>
    </p:spTree>
  </p:cSld>
  <p:clrMapOvr>
    <a:masterClrMapping/>
  </p:clrMapOvr>
</p:sld>
</file>

<file path=ppt/slides/slide1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17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700784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Vandermonde for the determinant, and Euler's operator for the derivatives: 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𝐷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𝑢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𝑑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𝑢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sup>
                        </m:sSup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𝐷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𝐷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𝐷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is an eigenfunction.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700784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Vandermonde for the determinant, and Euler's operator for the derivatives: with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$D=\frac{d}{dx}$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$u=e^x$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$u^3\frac{d^3}{du^3}=D(D-1)(D-2)$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$y=2e^{6x}$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is an eigenfunction.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3118103"/>
                <a:ext cx="10725912" cy="3557016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determinant is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times a Vandermonde determinant in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(rows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): </a:t>
                </a:r>
                <a14:m>
                  <m:oMath xmlns:m="http://schemas.openxmlformats.org/officeDocument/2006/math">
                    <m:nary>
                      <m:naryPr>
                        <m:chr m:val="∏"/>
                        <m:limLoc m:val="undOvr"/>
                        <m:subHide m:val="off"/>
                        <m:sup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&lt;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​</m:t>
                        </m:r>
                      </m: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</m:e>
                    </m:nary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𝑢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we have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𝑢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𝑢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𝐷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Then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𝑑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𝑢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sup>
                        </m:sSup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𝑢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𝑢</m:t>
                        </m:r>
                      </m:den>
                    </m:f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𝑢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𝑑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𝑑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𝑢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e>
                    </m:d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𝑢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𝑑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𝑑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𝑢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𝐷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𝐷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𝐷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3118103"/>
                <a:ext cx="10725912" cy="3557016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determinant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$e^{6x}$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times a Vandermonde determinant in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$(1,2,3)$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(rows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$1,a,a^2$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$\prod_{i&lt;j}(a_j-a_i)=(2-1)(3-1)(3-2)=2$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$y=2e^{6x}$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$u=e^x$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we have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$u\frac{d}{du}=\frac{d}{dx}=D$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$u^3\frac{d^3}{du^3}=u\frac d{du}\left(u\frac d{du}-1\right)\left(u\frac d{du}-2\right)=D(D-1)(D-2)$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17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Apply it to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(where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𝐷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):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𝑑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sup>
                        </m:s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𝑢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sup>
                        </m:sSup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240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Hence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𝑑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sup>
                        </m:s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𝑢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sup>
                        </m:sSup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240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𝑒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6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sup>
                        </m:sSup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𝑢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sup>
                        </m:sSup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240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(as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 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𝑢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the value is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240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Apply it to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$y=2e^{6x}$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(where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$D\to6$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$u^3\frac{d^3y}{du^3}=6\cdot5\cdot4\cdot2e^{6x}=240e^{6x}$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Hence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$\frac{d^3y}{du^3}=\frac{240e^{6x}}{u^3}=240\,u^3$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(as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$e^{6x}=u^6$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$u=1$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the value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$240$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6" name="Rounded Rectangle 5"/>
          <p:cNvSpPr/>
          <p:nvPr/>
        </p:nvSpPr>
        <p:spPr>
          <a:xfrm>
            <a:off x="731520" y="58978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254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5803D"/>
          </a:fontRef>
        </p:style>
        <p:txBody>
          <a:bodyPr rtlCol="0" anchor="ctr" wrap="square" lIns="228600" rIns="228600" tIns="18288" bIns="73152"/>
          <a:lstStyle>
            <a:lvl1pPr>
              <a:defRPr sz="2800">
                <a:solidFill>
                  <a:srgbClr val="15803D"/>
                </a:solidFill>
              </a:defRPr>
            </a:lvl1pPr>
          </a:lstStyle>
          <a:p>
            <a:pPr algn="ctr">
              <a:defRPr sz="2800">
                <a:solidFill>
                  <a:srgbClr val="15803D"/>
                </a:solidFill>
              </a:defRPr>
            </a:pPr>
            <a:r>
              <a:rPr sz="2800" b="1">
                <a:solidFill>
                  <a:srgbClr val="15803D"/>
                </a:solidFill>
                <a:latin typeface="Arial"/>
              </a:rPr>
              <a:t>Same answer: 240</a:t>
            </a:r>
            <a:endParaRPr sz="2800">
              <a:solidFill>
                <a:srgbClr val="15803D"/>
              </a:solidFill>
            </a:endParaRPr>
          </a:p>
        </p:txBody>
      </p:sp>
    </p:spTree>
  </p:cSld>
  <p:clrMapOvr>
    <a:masterClrMapping/>
  </p:clrMapOvr>
</p:sld>
</file>

<file path=ppt/slides/slide1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17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 determinant whose columns are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sSub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𝑗</m:t>
                            </m:r>
                          </m:sub>
                        </m:s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times polynomial rows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sSub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b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…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∑</m:t>
                        </m:r>
                        <m:sSub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𝑗</m:t>
                            </m:r>
                          </m:sub>
                        </m:sSub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sup>
                    </m:sSup>
                    <m:nary>
                      <m:naryPr>
                        <m:chr m:val="∏"/>
                        <m:limLoc m:val="undOvr"/>
                        <m:subHide m:val="off"/>
                        <m:sup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&lt;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​</m:t>
                        </m:r>
                      </m: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</m:e>
                    </m:nary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(Vandermonde): here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Derivative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respect to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𝑔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′</m:t>
                            </m:r>
                          </m:sup>
                        </m:sSup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𝑔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′</m:t>
                            </m:r>
                          </m:sup>
                        </m:sSup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if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a power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𝑔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 differentiate directly in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𝑢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𝑑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𝑘</m:t>
                            </m:r>
                          </m:sup>
                        </m:s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𝑢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𝑘</m:t>
                            </m:r>
                          </m:sup>
                        </m:sSup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⋯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Euler operator: </a:t>
                </a:r>
                <a14:m>
                  <m:oMath xmlns:m="http://schemas.openxmlformats.org/officeDocument/2006/math"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𝑢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𝑑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𝑑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𝑢</m:t>
                            </m:r>
                          </m:den>
                        </m:f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𝐷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when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𝑢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giving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sup>
                    </m:sSup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𝑑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𝑘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𝑢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𝑘</m:t>
                            </m:r>
                          </m:sup>
                        </m:sSup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𝐷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𝐷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⋯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𝐷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on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this is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⋯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Check: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𝑑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𝑢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sup>
                        </m:sSup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240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 determinant whose columns are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$e^{a_jx}$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times polynomial rows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$1,a_j,a_j^2,\ldots$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$e^{(\sum a_j)x}\prod_{i&lt;j}(a_j-a_i)$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(Vandermonde): here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$e^{6x}\cdot2$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Derivative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respect to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$g$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$\frac{dy}{dg}=\frac{y'}{g'}$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if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a power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$g$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$y=cg^n$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 differentiate directly in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$u=g$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$\frac{d^ky}{du^k}=c\,n(n-1)\cdots(n-k+1)u^{n-k}$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Euler operator: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$\left(u\frac{d}{du}\right)\to D$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$u=e^x$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giving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$u^k\frac{d^k}{du^k}=D(D-1)\cdots(D-k+1)$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$e^{nx}$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this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$n(n-1)\cdots(n-k+1)$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Check: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$2u^6\to\frac{d^3}{du^3}=2\cdot6\cdot5\cdot4\,u^3=240u^3$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Overall Difficulty Analysis (1/4)</a:t>
            </a:r>
            <a:endParaRPr sz="3200">
              <a:solidFill>
                <a:srgbClr val="FFFFFF"/>
              </a:solidFill>
            </a:endParaRP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325880"/>
          <a:ext cx="11274552" cy="5029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05840"/>
                <a:gridCol w="2926080"/>
                <a:gridCol w="1280160"/>
                <a:gridCol w="1188720"/>
                <a:gridCol w="4873752"/>
              </a:tblGrid>
              <a:tr h="68580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Q No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Question Type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Marks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Level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Level Description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01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Single Correct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A level below Average JEE Advanced Level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02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Single Correct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A level below Average JEE Advanced Level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03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Single Correct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anchor="ctr" marL="91440" marR="91440">
                    <a:solidFill>
                      <a:srgbClr val="B6D7A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JEE Main Level</a:t>
                      </a:r>
                    </a:p>
                  </a:txBody>
                  <a:tcPr anchor="ctr" marL="91440" marR="91440">
                    <a:solidFill>
                      <a:srgbClr val="B6D7A8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04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Single Correct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anchor="ctr" marL="91440" marR="91440">
                    <a:solidFill>
                      <a:srgbClr val="F6B26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Average JEE Advanced Level</a:t>
                      </a:r>
                    </a:p>
                  </a:txBody>
                  <a:tcPr anchor="ctr" marL="91440" marR="91440">
                    <a:solidFill>
                      <a:srgbClr val="F6B26B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05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One or More Correct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2.5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A little easier than Average JEE Advanced Level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Overall Difficulty Analysis (2/4)</a:t>
            </a:r>
            <a:endParaRPr sz="3200">
              <a:solidFill>
                <a:srgbClr val="FFFFFF"/>
              </a:solidFill>
            </a:endParaRP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325880"/>
          <a:ext cx="11274552" cy="4160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05840"/>
                <a:gridCol w="2926080"/>
                <a:gridCol w="1280160"/>
                <a:gridCol w="1188720"/>
                <a:gridCol w="4873752"/>
              </a:tblGrid>
              <a:tr h="68580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Q No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Question Type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Marks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Level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Level Description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06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One or More Correct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anchor="ctr" marL="91440" marR="91440">
                    <a:solidFill>
                      <a:srgbClr val="F6B26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Average JEE Advanced Level</a:t>
                      </a:r>
                    </a:p>
                  </a:txBody>
                  <a:tcPr anchor="ctr" marL="91440" marR="91440">
                    <a:solidFill>
                      <a:srgbClr val="F6B26B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07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One or More Correct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anchor="ctr" marL="91440" marR="91440">
                    <a:solidFill>
                      <a:srgbClr val="F6B26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Average JEE Advanced Level</a:t>
                      </a:r>
                    </a:p>
                  </a:txBody>
                  <a:tcPr anchor="ctr" marL="91440" marR="91440">
                    <a:solidFill>
                      <a:srgbClr val="F6B26B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08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One or More Correct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anchor="ctr" marL="91440" marR="91440">
                    <a:solidFill>
                      <a:srgbClr val="F6B26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Average JEE Advanced Level</a:t>
                      </a:r>
                    </a:p>
                  </a:txBody>
                  <a:tcPr anchor="ctr" marL="91440" marR="91440">
                    <a:solidFill>
                      <a:srgbClr val="F6B26B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09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Paragraph Single Correct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anchor="ctr" marL="91440" marR="91440">
                    <a:solidFill>
                      <a:srgbClr val="F6B26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Average JEE Advanced Level</a:t>
                      </a:r>
                    </a:p>
                  </a:txBody>
                  <a:tcPr anchor="ctr" marL="91440" marR="91440">
                    <a:solidFill>
                      <a:srgbClr val="F6B26B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Overall Difficulty Analysis (3/4)</a:t>
            </a:r>
            <a:endParaRPr sz="3200">
              <a:solidFill>
                <a:srgbClr val="FFFFFF"/>
              </a:solidFill>
            </a:endParaRP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325880"/>
          <a:ext cx="11274552" cy="4160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05840"/>
                <a:gridCol w="2926080"/>
                <a:gridCol w="1280160"/>
                <a:gridCol w="1188720"/>
                <a:gridCol w="4873752"/>
              </a:tblGrid>
              <a:tr h="68580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Q No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Question Type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Marks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Level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Level Description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10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Paragraph Single Correct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E8808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A level above Average JEE Advanced Level</a:t>
                      </a:r>
                    </a:p>
                  </a:txBody>
                  <a:tcPr anchor="ctr" marL="91440" marR="91440">
                    <a:solidFill>
                      <a:srgbClr val="E88080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11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Integer (0-9)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A level below Average JEE Advanced Level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12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Integer (0-9)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anchor="ctr" marL="91440" marR="91440">
                    <a:solidFill>
                      <a:srgbClr val="F6B26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Average JEE Advanced Level</a:t>
                      </a:r>
                    </a:p>
                  </a:txBody>
                  <a:tcPr anchor="ctr" marL="91440" marR="91440">
                    <a:solidFill>
                      <a:srgbClr val="F6B26B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13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Integer (0-9)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E8808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A level above Average JEE Advanced Level</a:t>
                      </a:r>
                    </a:p>
                  </a:txBody>
                  <a:tcPr anchor="ctr" marL="91440" marR="91440">
                    <a:solidFill>
                      <a:srgbClr val="E88080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Overall Difficulty Analysis (4/4)</a:t>
            </a:r>
            <a:endParaRPr sz="3200">
              <a:solidFill>
                <a:srgbClr val="FFFFFF"/>
              </a:solidFill>
            </a:endParaRP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325880"/>
          <a:ext cx="11274552" cy="4160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05840"/>
                <a:gridCol w="2926080"/>
                <a:gridCol w="1280160"/>
                <a:gridCol w="1188720"/>
                <a:gridCol w="4873752"/>
              </a:tblGrid>
              <a:tr h="68580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Q No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Question Type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Marks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Level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Level Description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14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Integer (0-9)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anchor="ctr" marL="91440" marR="91440">
                    <a:solidFill>
                      <a:srgbClr val="F6B26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Average JEE Advanced Level</a:t>
                      </a:r>
                    </a:p>
                  </a:txBody>
                  <a:tcPr anchor="ctr" marL="91440" marR="91440">
                    <a:solidFill>
                      <a:srgbClr val="F6B26B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15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Numerical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A level below Average JEE Advanced Level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16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Numerical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A level below Average JEE Advanced Level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17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Numerical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A level below Average JEE Advanced Level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Overall Difficulty Analysis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31520" y="1417320"/>
            <a:ext cx="4754880" cy="3291840"/>
          </a:xfrm>
          <a:prstGeom prst="roundRect">
            <a:avLst>
              <a:gd name="adj" fmla="val 8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37160" bIns="73152"/>
          <a:lstStyle>
            <a:lvl1pPr>
              <a:defRPr sz="3000">
                <a:solidFill>
                  <a:srgbClr val="0B1F3A"/>
                </a:solidFill>
              </a:defRPr>
            </a:lvl1pPr>
          </a:lstStyle>
          <a:p>
            <a:pPr algn="ctr">
              <a:defRPr sz="3000">
                <a:solidFill>
                  <a:srgbClr val="0B1F3A"/>
                </a:solidFill>
              </a:defRPr>
            </a:pPr>
            <a:r>
              <a:rPr sz="3000" b="1">
                <a:solidFill>
                  <a:srgbClr val="0B1F3A"/>
                </a:solidFill>
                <a:latin typeface="Arial"/>
              </a:rPr>
              <a:t>Difficulty Index</a:t>
            </a:r>
            <a:endParaRPr sz="3000">
              <a:solidFill>
                <a:srgbClr val="0B1F3A"/>
              </a:solidFill>
            </a:endParaRPr>
          </a:p>
          <a:p>
            <a:pPr algn="ctr">
              <a:defRPr sz="3000">
                <a:solidFill>
                  <a:srgbClr val="0B1F3A"/>
                </a:solidFill>
              </a:defRPr>
            </a:pPr>
            <a:r>
              <a:rPr sz="8800" b="1">
                <a:solidFill>
                  <a:srgbClr val="0B1F3A"/>
                </a:solidFill>
                <a:latin typeface="Arial"/>
              </a:rPr>
              <a:t>2.59</a:t>
            </a:r>
            <a:endParaRPr sz="3000">
              <a:solidFill>
                <a:srgbClr val="0B1F3A"/>
              </a:solidFill>
            </a:endParaRPr>
          </a:p>
          <a:p>
            <a:pPr algn="ctr">
              <a:defRPr sz="3000">
                <a:solidFill>
                  <a:srgbClr val="0B1F3A"/>
                </a:solidFill>
              </a:defRPr>
            </a:pPr>
            <a:r>
              <a:rPr sz="2400" b="0">
                <a:solidFill>
                  <a:srgbClr val="0B1F3A"/>
                </a:solidFill>
                <a:latin typeface="Arial"/>
              </a:rPr>
              <a:t>out of 5</a:t>
            </a:r>
            <a:endParaRPr sz="3000">
              <a:solidFill>
                <a:srgbClr val="0B1F3A"/>
              </a:solidFill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5852160" y="1417320"/>
            <a:ext cx="5605272" cy="603504"/>
          </a:xfrm>
          <a:prstGeom prst="rect">
            <a:avLst/>
          </a:prstGeom>
          <a:solidFill>
            <a:srgbClr val="93C47D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JEE Main or easier:  1 question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5852160" y="2093976"/>
            <a:ext cx="5605272" cy="603504"/>
          </a:xfrm>
          <a:prstGeom prst="rect">
            <a:avLst/>
          </a:prstGeom>
          <a:solidFill>
            <a:srgbClr val="FFD966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Below average:  7 questions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5852160" y="2770632"/>
            <a:ext cx="5605272" cy="603504"/>
          </a:xfrm>
          <a:prstGeom prst="rect">
            <a:avLst/>
          </a:prstGeom>
          <a:solidFill>
            <a:srgbClr val="F6B26B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Average Advanced:  7 questions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5852160" y="3447288"/>
            <a:ext cx="5605272" cy="603504"/>
          </a:xfrm>
          <a:prstGeom prst="rect">
            <a:avLst/>
          </a:prstGeom>
          <a:solidFill>
            <a:srgbClr val="E88080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Above average:  2 questions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5852160" y="4123944"/>
            <a:ext cx="5605272" cy="603504"/>
          </a:xfrm>
          <a:prstGeom prst="rect">
            <a:avLst/>
          </a:prstGeom>
          <a:solidFill>
            <a:srgbClr val="CC4125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wrap="square" lIns="228600" rIns="228600" tIns="18288" bIns="73152"/>
          <a:lstStyle>
            <a:lvl1pPr>
              <a:defRPr sz="2400">
                <a:solidFill>
                  <a:srgbClr val="FFFFFF"/>
                </a:solidFill>
              </a:defRPr>
            </a:lvl1pPr>
          </a:lstStyle>
          <a:p>
            <a:pPr algn="l">
              <a:defRPr sz="2400">
                <a:solidFill>
                  <a:srgbClr val="FFFFFF"/>
                </a:solidFill>
              </a:defRPr>
            </a:pPr>
            <a:r>
              <a:rPr sz="2400" b="1">
                <a:solidFill>
                  <a:srgbClr val="FFFFFF"/>
                </a:solidFill>
                <a:latin typeface="Arial"/>
              </a:rPr>
              <a:t>Very difficult:  0 questions</a:t>
            </a:r>
            <a:endParaRPr sz="2400">
              <a:solidFill>
                <a:srgbClr val="FFFFFF"/>
              </a:solidFill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731520" y="5029200"/>
            <a:ext cx="10725912" cy="1097280"/>
          </a:xfrm>
          <a:prstGeom prst="rect">
            <a:avLst/>
          </a:prstGeom>
          <a:solidFill>
            <a:srgbClr val="FFFFFF"/>
          </a:solidFill>
          <a:ln w="19050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t" wrap="square" lIns="228600" rIns="228600" tIns="137160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Total: 17 questions, 66 marks.  Index = Σ(marks × level) ÷ Σ marks, on the 0-5 scale.</a:t>
            </a:r>
            <a:endParaRPr sz="2400">
              <a:solidFill>
                <a:srgbClr val="111827"/>
              </a:solidFill>
            </a:endParaRPr>
          </a:p>
        </p:txBody>
      </p:sp>
    </p:spTree>
  </p:cSld>
  <p:clrMapOvr>
    <a:masterClrMapping/>
  </p:clrMapOvr>
</p:sld>
</file>

<file path=ppt/slides/slide1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Difficulty Profile of the Paper</a:t>
            </a:r>
            <a:endParaRPr sz="3200">
              <a:solidFill>
                <a:srgbClr val="FFFFFF"/>
              </a:solidFill>
            </a:endParaRPr>
          </a:p>
        </p:txBody>
      </p:sp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457200" y="1280160"/>
          <a:ext cx="11274552" cy="534924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1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Comparison with JEE Advanced Papers</a:t>
            </a:r>
            <a:endParaRPr sz="3200">
              <a:solidFill>
                <a:srgbClr val="FFFFFF"/>
              </a:solidFill>
            </a:endParaRP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1661007" y="1371600"/>
          <a:ext cx="8869680" cy="4526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760720"/>
                <a:gridCol w="3108960"/>
              </a:tblGrid>
              <a:tr h="685800">
                <a:tc>
                  <a:txBody>
                    <a:bodyPr/>
                    <a:lstStyle/>
                    <a:p>
                      <a:pPr algn="ctr"/>
                      <a:r>
                        <a:rPr sz="2600" b="1">
                          <a:solidFill>
                            <a:srgbClr val="FFFFFF"/>
                          </a:solidFill>
                          <a:latin typeface="Arial"/>
                        </a:rPr>
                        <a:t>Paper</a:t>
                      </a:r>
                    </a:p>
                  </a:txBody>
                  <a:tcPr anchor="ctr" marL="137160" marR="137160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600" b="1">
                          <a:solidFill>
                            <a:srgbClr val="FFFFFF"/>
                          </a:solidFill>
                          <a:latin typeface="Arial"/>
                        </a:rPr>
                        <a:t>Difficulty Index</a:t>
                      </a:r>
                    </a:p>
                  </a:txBody>
                  <a:tcPr anchor="ctr" marL="137160" marR="137160">
                    <a:solidFill>
                      <a:srgbClr val="0B1F3A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l"/>
                      <a:r>
                        <a:rPr sz="2600" b="0">
                          <a:solidFill>
                            <a:srgbClr val="111827"/>
                          </a:solidFill>
                          <a:latin typeface="Arial"/>
                        </a:rPr>
                        <a:t>JEE Advanced 2021</a:t>
                      </a:r>
                    </a:p>
                  </a:txBody>
                  <a:tcPr anchor="ctr" marL="137160" marR="13716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600" b="1">
                          <a:solidFill>
                            <a:srgbClr val="111827"/>
                          </a:solidFill>
                          <a:latin typeface="Arial"/>
                        </a:rPr>
                        <a:t>2.76</a:t>
                      </a:r>
                    </a:p>
                  </a:txBody>
                  <a:tcPr anchor="ctr" marL="137160" marR="137160"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l"/>
                      <a:r>
                        <a:rPr sz="2600" b="0">
                          <a:solidFill>
                            <a:srgbClr val="111827"/>
                          </a:solidFill>
                          <a:latin typeface="Arial"/>
                        </a:rPr>
                        <a:t>JEE Advanced 2023</a:t>
                      </a:r>
                    </a:p>
                  </a:txBody>
                  <a:tcPr anchor="ctr" marL="137160" marR="13716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600" b="1">
                          <a:solidFill>
                            <a:srgbClr val="111827"/>
                          </a:solidFill>
                          <a:latin typeface="Arial"/>
                        </a:rPr>
                        <a:t>3.19</a:t>
                      </a:r>
                    </a:p>
                  </a:txBody>
                  <a:tcPr anchor="ctr" marL="137160" marR="137160"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l"/>
                      <a:r>
                        <a:rPr sz="2600" b="0">
                          <a:solidFill>
                            <a:srgbClr val="111827"/>
                          </a:solidFill>
                          <a:latin typeface="Arial"/>
                        </a:rPr>
                        <a:t>JEE Advanced 2024</a:t>
                      </a:r>
                    </a:p>
                  </a:txBody>
                  <a:tcPr anchor="ctr" marL="137160" marR="13716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600" b="1">
                          <a:solidFill>
                            <a:srgbClr val="111827"/>
                          </a:solidFill>
                          <a:latin typeface="Arial"/>
                        </a:rPr>
                        <a:t>2.59</a:t>
                      </a:r>
                    </a:p>
                  </a:txBody>
                  <a:tcPr anchor="ctr" marL="137160" marR="137160"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l"/>
                      <a:r>
                        <a:rPr sz="2600" b="0">
                          <a:solidFill>
                            <a:srgbClr val="111827"/>
                          </a:solidFill>
                          <a:latin typeface="Arial"/>
                        </a:rPr>
                        <a:t>JEE Advanced 2025</a:t>
                      </a:r>
                    </a:p>
                  </a:txBody>
                  <a:tcPr anchor="ctr" marL="137160" marR="13716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600" b="1">
                          <a:solidFill>
                            <a:srgbClr val="111827"/>
                          </a:solidFill>
                          <a:latin typeface="Arial"/>
                        </a:rPr>
                        <a:t>3.21</a:t>
                      </a:r>
                    </a:p>
                  </a:txBody>
                  <a:tcPr anchor="ctr" marL="137160" marR="137160"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l"/>
                      <a:r>
                        <a:rPr sz="2600" b="0">
                          <a:solidFill>
                            <a:srgbClr val="111827"/>
                          </a:solidFill>
                          <a:latin typeface="Arial"/>
                        </a:rPr>
                        <a:t>JEE Advanced 2026</a:t>
                      </a:r>
                    </a:p>
                  </a:txBody>
                  <a:tcPr anchor="ctr" marL="137160" marR="13716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600" b="1">
                          <a:solidFill>
                            <a:srgbClr val="111827"/>
                          </a:solidFill>
                          <a:latin typeface="Arial"/>
                        </a:rPr>
                        <a:t>3.02</a:t>
                      </a:r>
                    </a:p>
                  </a:txBody>
                  <a:tcPr anchor="ctr" marL="137160" marR="137160"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l"/>
                      <a:r>
                        <a:rPr sz="2600" b="1">
                          <a:solidFill>
                            <a:srgbClr val="0B1F3A"/>
                          </a:solidFill>
                          <a:latin typeface="Arial"/>
                        </a:rPr>
                        <a:t>RPT 03 Paper 02</a:t>
                      </a:r>
                    </a:p>
                  </a:txBody>
                  <a:tcPr anchor="ctr" marL="137160" marR="137160">
                    <a:solidFill>
                      <a:srgbClr val="E0EC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600" b="1">
                          <a:solidFill>
                            <a:srgbClr val="0B1F3A"/>
                          </a:solidFill>
                          <a:latin typeface="Arial"/>
                        </a:rPr>
                        <a:t>2.59</a:t>
                      </a:r>
                    </a:p>
                  </a:txBody>
                  <a:tcPr anchor="ctr" marL="137160" marR="137160">
                    <a:solidFill>
                      <a:srgbClr val="E0ECFF"/>
                    </a:solidFill>
                  </a:tcPr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731520" y="6080759"/>
            <a:ext cx="10725912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>
            <a:lvl1pPr>
              <a:defRPr sz="2000">
                <a:solidFill>
                  <a:srgbClr val="111827"/>
                </a:solidFill>
              </a:defRPr>
            </a:lvl1pPr>
          </a:lstStyle>
          <a:p>
            <a:pPr algn="ctr">
              <a:defRPr sz="2000">
                <a:solidFill>
                  <a:srgbClr val="111827"/>
                </a:solidFill>
              </a:defRPr>
            </a:pPr>
            <a:r>
              <a:rPr sz="2000" b="0">
                <a:solidFill>
                  <a:srgbClr val="111827"/>
                </a:solidFill>
                <a:latin typeface="Arial"/>
              </a:rPr>
              <a:t>Marks-weighted difficulty index on the 0-5 scale</a:t>
            </a:r>
            <a:endParaRPr sz="2000">
              <a:solidFill>
                <a:srgbClr val="111827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