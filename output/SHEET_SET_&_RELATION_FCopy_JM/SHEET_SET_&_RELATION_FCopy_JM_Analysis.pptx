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B6D7A8"/>
              </a:solidFill>
              <a:ln w="9525">
                <a:solidFill>
                  <a:srgbClr val="111827"/>
                </a:solidFill>
              </a:ln>
            </c:spPr>
          </c:dPt>
          <c:dPt>
            <c:idx val="2"/>
            <c:spPr>
              <a:solidFill>
                <a:srgbClr val="B6D7A8"/>
              </a:solidFill>
              <a:ln w="9525">
                <a:solidFill>
                  <a:srgbClr val="111827"/>
                </a:solidFill>
              </a:ln>
            </c:spPr>
          </c:dPt>
          <c:dPt>
            <c:idx val="3"/>
            <c:spPr>
              <a:solidFill>
                <a:srgbClr val="B6D7A8"/>
              </a:solidFill>
              <a:ln w="9525">
                <a:solidFill>
                  <a:srgbClr val="111827"/>
                </a:solidFill>
              </a:ln>
            </c:spPr>
          </c:dPt>
          <c:dPt>
            <c:idx val="4"/>
            <c:spPr>
              <a:solidFill>
                <a:srgbClr val="B6D7A8"/>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B6D7A8"/>
              </a:solidFill>
              <a:ln w="9525">
                <a:solidFill>
                  <a:srgbClr val="111827"/>
                </a:solidFill>
              </a:ln>
            </c:spPr>
          </c:dPt>
          <c:dPt>
            <c:idx val="10"/>
            <c:spPr>
              <a:solidFill>
                <a:srgbClr val="B6D7A8"/>
              </a:solidFill>
              <a:ln w="9525">
                <a:solidFill>
                  <a:srgbClr val="111827"/>
                </a:solidFill>
              </a:ln>
            </c:spPr>
          </c:dPt>
          <c:dPt>
            <c:idx val="11"/>
            <c:spPr>
              <a:solidFill>
                <a:srgbClr val="FFD966"/>
              </a:solidFill>
              <a:ln w="9525">
                <a:solidFill>
                  <a:srgbClr val="111827"/>
                </a:solidFill>
              </a:ln>
            </c:spPr>
          </c:dPt>
          <c:dPt>
            <c:idx val="12"/>
            <c:spPr>
              <a:solidFill>
                <a:srgbClr val="B6D7A8"/>
              </a:solidFill>
              <a:ln w="9525">
                <a:solidFill>
                  <a:srgbClr val="111827"/>
                </a:solidFill>
              </a:ln>
            </c:spPr>
          </c:dPt>
          <c:dPt>
            <c:idx val="13"/>
            <c:spPr>
              <a:solidFill>
                <a:srgbClr val="B6D7A8"/>
              </a:solidFill>
              <a:ln w="9525">
                <a:solidFill>
                  <a:srgbClr val="111827"/>
                </a:solidFill>
              </a:ln>
            </c:spPr>
          </c:dPt>
          <c:dPt>
            <c:idx val="14"/>
            <c:spPr>
              <a:solidFill>
                <a:srgbClr val="B6D7A8"/>
              </a:solidFill>
              <a:ln w="9525">
                <a:solidFill>
                  <a:srgbClr val="111827"/>
                </a:solidFill>
              </a:ln>
            </c:spPr>
          </c:dPt>
          <c:dPt>
            <c:idx val="15"/>
            <c:spPr>
              <a:solidFill>
                <a:srgbClr val="B6D7A8"/>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B6D7A8"/>
              </a:solidFill>
              <a:ln w="9525">
                <a:solidFill>
                  <a:srgbClr val="111827"/>
                </a:solidFill>
              </a:ln>
            </c:spPr>
          </c:dPt>
          <c:dPt>
            <c:idx val="20"/>
            <c:spPr>
              <a:solidFill>
                <a:srgbClr val="FFD966"/>
              </a:solidFill>
              <a:ln w="9525">
                <a:solidFill>
                  <a:srgbClr val="111827"/>
                </a:solidFill>
              </a:ln>
            </c:spPr>
          </c:dPt>
          <c:dPt>
            <c:idx val="21"/>
            <c:spPr>
              <a:solidFill>
                <a:srgbClr val="FFD966"/>
              </a:solidFill>
              <a:ln w="9525">
                <a:solidFill>
                  <a:srgbClr val="111827"/>
                </a:solidFill>
              </a:ln>
            </c:spPr>
          </c:dPt>
          <c:dPt>
            <c:idx val="22"/>
            <c:spPr>
              <a:solidFill>
                <a:srgbClr val="B6D7A8"/>
              </a:solidFill>
              <a:ln w="9525">
                <a:solidFill>
                  <a:srgbClr val="111827"/>
                </a:solidFill>
              </a:ln>
            </c:spPr>
          </c:dPt>
          <c:dPt>
            <c:idx val="23"/>
            <c:spPr>
              <a:solidFill>
                <a:srgbClr val="FFD966"/>
              </a:solidFill>
              <a:ln w="9525">
                <a:solidFill>
                  <a:srgbClr val="111827"/>
                </a:solidFill>
              </a:ln>
            </c:spPr>
          </c:dPt>
          <c:dPt>
            <c:idx val="24"/>
            <c:spPr>
              <a:solidFill>
                <a:srgbClr val="FFD966"/>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B6D7A8"/>
              </a:solidFill>
              <a:ln w="9525">
                <a:solidFill>
                  <a:srgbClr val="111827"/>
                </a:solidFill>
              </a:ln>
            </c:spPr>
          </c:dPt>
          <c:dPt>
            <c:idx val="28"/>
            <c:spPr>
              <a:solidFill>
                <a:srgbClr val="FFD966"/>
              </a:solidFill>
              <a:ln w="9525">
                <a:solidFill>
                  <a:srgbClr val="111827"/>
                </a:solidFill>
              </a:ln>
            </c:spPr>
          </c:dPt>
          <c:dPt>
            <c:idx val="29"/>
            <c:spPr>
              <a:solidFill>
                <a:srgbClr val="FFD966"/>
              </a:solidFill>
              <a:ln w="9525">
                <a:solidFill>
                  <a:srgbClr val="111827"/>
                </a:solidFill>
              </a:ln>
            </c:spPr>
          </c:dPt>
          <c:dPt>
            <c:idx val="30"/>
            <c:spPr>
              <a:solidFill>
                <a:srgbClr val="F6B26B"/>
              </a:solidFill>
              <a:ln w="9525">
                <a:solidFill>
                  <a:srgbClr val="111827"/>
                </a:solidFill>
              </a:ln>
            </c:spPr>
          </c:dPt>
          <c:dPt>
            <c:idx val="31"/>
            <c:spPr>
              <a:solidFill>
                <a:srgbClr val="B6D7A8"/>
              </a:solidFill>
              <a:ln w="9525">
                <a:solidFill>
                  <a:srgbClr val="111827"/>
                </a:solidFill>
              </a:ln>
            </c:spPr>
          </c:dPt>
          <c:dPt>
            <c:idx val="32"/>
            <c:spPr>
              <a:solidFill>
                <a:srgbClr val="FFD966"/>
              </a:solidFill>
              <a:ln w="9525">
                <a:solidFill>
                  <a:srgbClr val="111827"/>
                </a:solidFill>
              </a:ln>
            </c:spPr>
          </c:dPt>
          <c:dPt>
            <c:idx val="33"/>
            <c:spPr>
              <a:solidFill>
                <a:srgbClr val="F6B26B"/>
              </a:solidFill>
              <a:ln w="9525">
                <a:solidFill>
                  <a:srgbClr val="111827"/>
                </a:solidFill>
              </a:ln>
            </c:spPr>
          </c:dPt>
          <c:dPt>
            <c:idx val="34"/>
            <c:spPr>
              <a:solidFill>
                <a:srgbClr val="FFD966"/>
              </a:solidFill>
              <a:ln w="9525">
                <a:solidFill>
                  <a:srgbClr val="111827"/>
                </a:solidFill>
              </a:ln>
            </c:spPr>
          </c:dPt>
          <c:dPt>
            <c:idx val="35"/>
            <c:spPr>
              <a:solidFill>
                <a:srgbClr val="B6D7A8"/>
              </a:solidFill>
              <a:ln w="9525">
                <a:solidFill>
                  <a:srgbClr val="111827"/>
                </a:solidFill>
              </a:ln>
            </c:spPr>
          </c:dPt>
          <c:dPt>
            <c:idx val="36"/>
            <c:spPr>
              <a:solidFill>
                <a:srgbClr val="B6D7A8"/>
              </a:solidFill>
              <a:ln w="9525">
                <a:solidFill>
                  <a:srgbClr val="111827"/>
                </a:solidFill>
              </a:ln>
            </c:spPr>
          </c:dPt>
          <c:dPt>
            <c:idx val="37"/>
            <c:spPr>
              <a:solidFill>
                <a:srgbClr val="FFD966"/>
              </a:solidFill>
              <a:ln w="9525">
                <a:solidFill>
                  <a:srgbClr val="111827"/>
                </a:solidFill>
              </a:ln>
            </c:spPr>
          </c:dPt>
          <c:dPt>
            <c:idx val="38"/>
            <c:spPr>
              <a:solidFill>
                <a:srgbClr val="FFD966"/>
              </a:solidFill>
              <a:ln w="9525">
                <a:solidFill>
                  <a:srgbClr val="111827"/>
                </a:solidFill>
              </a:ln>
            </c:spPr>
          </c:dPt>
          <c:dPt>
            <c:idx val="39"/>
            <c:spPr>
              <a:solidFill>
                <a:srgbClr val="B6D7A8"/>
              </a:solidFill>
              <a:ln w="9525">
                <a:solidFill>
                  <a:srgbClr val="111827"/>
                </a:solidFill>
              </a:ln>
            </c:spPr>
          </c:dPt>
          <c:dPt>
            <c:idx val="40"/>
            <c:spPr>
              <a:solidFill>
                <a:srgbClr val="FFD966"/>
              </a:solidFill>
              <a:ln w="9525">
                <a:solidFill>
                  <a:srgbClr val="111827"/>
                </a:solidFill>
              </a:ln>
            </c:spPr>
          </c:dPt>
          <c:dPt>
            <c:idx val="41"/>
            <c:spPr>
              <a:solidFill>
                <a:srgbClr val="FFD966"/>
              </a:solidFill>
              <a:ln w="9525">
                <a:solidFill>
                  <a:srgbClr val="111827"/>
                </a:solidFill>
              </a:ln>
            </c:spPr>
          </c:dPt>
          <c:dPt>
            <c:idx val="42"/>
            <c:spPr>
              <a:solidFill>
                <a:srgbClr val="F6B26B"/>
              </a:solidFill>
              <a:ln w="9525">
                <a:solidFill>
                  <a:srgbClr val="111827"/>
                </a:solidFill>
              </a:ln>
            </c:spPr>
          </c:dPt>
          <c:dPt>
            <c:idx val="43"/>
            <c:spPr>
              <a:solidFill>
                <a:srgbClr val="FFD966"/>
              </a:solidFill>
              <a:ln w="9525">
                <a:solidFill>
                  <a:srgbClr val="111827"/>
                </a:solidFill>
              </a:ln>
            </c:spPr>
          </c:dPt>
          <c:dPt>
            <c:idx val="44"/>
            <c:spPr>
              <a:solidFill>
                <a:srgbClr val="FFD966"/>
              </a:solidFill>
              <a:ln w="9525">
                <a:solidFill>
                  <a:srgbClr val="111827"/>
                </a:solidFill>
              </a:ln>
            </c:spPr>
          </c:dPt>
          <c:dPt>
            <c:idx val="45"/>
            <c:spPr>
              <a:solidFill>
                <a:srgbClr val="B6D7A8"/>
              </a:solidFill>
              <a:ln w="9525">
                <a:solidFill>
                  <a:srgbClr val="111827"/>
                </a:solidFill>
              </a:ln>
            </c:spPr>
          </c:dPt>
          <c:dPt>
            <c:idx val="46"/>
            <c:spPr>
              <a:solidFill>
                <a:srgbClr val="B6D7A8"/>
              </a:solidFill>
              <a:ln w="9525">
                <a:solidFill>
                  <a:srgbClr val="111827"/>
                </a:solidFill>
              </a:ln>
            </c:spPr>
          </c:dPt>
          <c:dPt>
            <c:idx val="47"/>
            <c:spPr>
              <a:solidFill>
                <a:srgbClr val="FFD966"/>
              </a:solidFill>
              <a:ln w="9525">
                <a:solidFill>
                  <a:srgbClr val="111827"/>
                </a:solidFill>
              </a:ln>
            </c:spPr>
          </c:dPt>
          <c:dPt>
            <c:idx val="48"/>
            <c:spPr>
              <a:solidFill>
                <a:srgbClr val="B6D7A8"/>
              </a:solidFill>
              <a:ln w="9525">
                <a:solidFill>
                  <a:srgbClr val="111827"/>
                </a:solidFill>
              </a:ln>
            </c:spPr>
          </c:dPt>
          <c:dPt>
            <c:idx val="49"/>
            <c:spPr>
              <a:solidFill>
                <a:srgbClr val="FFD966"/>
              </a:solidFill>
              <a:ln w="9525">
                <a:solidFill>
                  <a:srgbClr val="111827"/>
                </a:solidFill>
              </a:ln>
            </c:spPr>
          </c:dPt>
          <c:dPt>
            <c:idx val="50"/>
            <c:spPr>
              <a:solidFill>
                <a:srgbClr val="FFD966"/>
              </a:solidFill>
              <a:ln w="9525">
                <a:solidFill>
                  <a:srgbClr val="111827"/>
                </a:solidFill>
              </a:ln>
            </c:spPr>
          </c:dPt>
          <c:dPt>
            <c:idx val="51"/>
            <c:spPr>
              <a:solidFill>
                <a:srgbClr val="FFD966"/>
              </a:solidFill>
              <a:ln w="9525">
                <a:solidFill>
                  <a:srgbClr val="111827"/>
                </a:solidFill>
              </a:ln>
            </c:spPr>
          </c:dPt>
          <c:dPt>
            <c:idx val="52"/>
            <c:spPr>
              <a:solidFill>
                <a:srgbClr val="F6B26B"/>
              </a:solidFill>
              <a:ln w="9525">
                <a:solidFill>
                  <a:srgbClr val="111827"/>
                </a:solidFill>
              </a:ln>
            </c:spPr>
          </c:dPt>
          <c:dPt>
            <c:idx val="53"/>
            <c:spPr>
              <a:solidFill>
                <a:srgbClr val="F6B26B"/>
              </a:solidFill>
              <a:ln w="9525">
                <a:solidFill>
                  <a:srgbClr val="111827"/>
                </a:solidFill>
              </a:ln>
            </c:spPr>
          </c:dPt>
          <c:dPt>
            <c:idx val="54"/>
            <c:spPr>
              <a:solidFill>
                <a:srgbClr val="FFD966"/>
              </a:solidFill>
              <a:ln w="9525">
                <a:solidFill>
                  <a:srgbClr val="111827"/>
                </a:solidFill>
              </a:ln>
            </c:spPr>
          </c:dPt>
          <c:dPt>
            <c:idx val="55"/>
            <c:spPr>
              <a:solidFill>
                <a:srgbClr val="B6D7A8"/>
              </a:solidFill>
              <a:ln w="9525">
                <a:solidFill>
                  <a:srgbClr val="111827"/>
                </a:solidFill>
              </a:ln>
            </c:spPr>
          </c:dPt>
          <c:dPt>
            <c:idx val="56"/>
            <c:spPr>
              <a:solidFill>
                <a:srgbClr val="B6D7A8"/>
              </a:solidFill>
              <a:ln w="9525">
                <a:solidFill>
                  <a:srgbClr val="111827"/>
                </a:solidFill>
              </a:ln>
            </c:spPr>
          </c:dPt>
          <c:dPt>
            <c:idx val="57"/>
            <c:spPr>
              <a:solidFill>
                <a:srgbClr val="FFD966"/>
              </a:solidFill>
              <a:ln w="9525">
                <a:solidFill>
                  <a:srgbClr val="111827"/>
                </a:solidFill>
              </a:ln>
            </c:spPr>
          </c:dPt>
          <c:dPt>
            <c:idx val="58"/>
            <c:spPr>
              <a:solidFill>
                <a:srgbClr val="B6D7A8"/>
              </a:solidFill>
              <a:ln w="9525">
                <a:solidFill>
                  <a:srgbClr val="111827"/>
                </a:solidFill>
              </a:ln>
            </c:spPr>
          </c:dPt>
          <c:dPt>
            <c:idx val="59"/>
            <c:spPr>
              <a:solidFill>
                <a:srgbClr val="B6D7A8"/>
              </a:solidFill>
              <a:ln w="9525">
                <a:solidFill>
                  <a:srgbClr val="111827"/>
                </a:solidFill>
              </a:ln>
            </c:spPr>
          </c:dPt>
          <c:dPt>
            <c:idx val="60"/>
            <c:spPr>
              <a:solidFill>
                <a:srgbClr val="FFD966"/>
              </a:solidFill>
              <a:ln w="9525">
                <a:solidFill>
                  <a:srgbClr val="111827"/>
                </a:solidFill>
              </a:ln>
            </c:spPr>
          </c:dPt>
          <c:dPt>
            <c:idx val="61"/>
            <c:spPr>
              <a:solidFill>
                <a:srgbClr val="F6B26B"/>
              </a:solidFill>
              <a:ln w="9525">
                <a:solidFill>
                  <a:srgbClr val="111827"/>
                </a:solidFill>
              </a:ln>
            </c:spPr>
          </c:dPt>
          <c:dPt>
            <c:idx val="62"/>
            <c:spPr>
              <a:solidFill>
                <a:srgbClr val="FFD966"/>
              </a:solidFill>
              <a:ln w="9525">
                <a:solidFill>
                  <a:srgbClr val="111827"/>
                </a:solidFill>
              </a:ln>
            </c:spPr>
          </c:dPt>
          <c:dPt>
            <c:idx val="63"/>
            <c:spPr>
              <a:solidFill>
                <a:srgbClr val="B6D7A8"/>
              </a:solidFill>
              <a:ln w="9525">
                <a:solidFill>
                  <a:srgbClr val="111827"/>
                </a:solidFill>
              </a:ln>
            </c:spPr>
          </c:dPt>
          <c:dPt>
            <c:idx val="64"/>
            <c:spPr>
              <a:solidFill>
                <a:srgbClr val="B6D7A8"/>
              </a:solidFill>
              <a:ln w="9525">
                <a:solidFill>
                  <a:srgbClr val="111827"/>
                </a:solidFill>
              </a:ln>
            </c:spPr>
          </c:dPt>
          <c:dPt>
            <c:idx val="65"/>
            <c:spPr>
              <a:solidFill>
                <a:srgbClr val="FFD966"/>
              </a:solidFill>
              <a:ln w="9525">
                <a:solidFill>
                  <a:srgbClr val="111827"/>
                </a:solidFill>
              </a:ln>
            </c:spPr>
          </c:dPt>
          <c:dPt>
            <c:idx val="66"/>
            <c:spPr>
              <a:solidFill>
                <a:srgbClr val="FFD966"/>
              </a:solidFill>
              <a:ln w="9525">
                <a:solidFill>
                  <a:srgbClr val="111827"/>
                </a:solidFill>
              </a:ln>
            </c:spPr>
          </c:dPt>
          <c:dPt>
            <c:idx val="67"/>
            <c:spPr>
              <a:solidFill>
                <a:srgbClr val="B6D7A8"/>
              </a:solidFill>
              <a:ln w="9525">
                <a:solidFill>
                  <a:srgbClr val="111827"/>
                </a:solidFill>
              </a:ln>
            </c:spPr>
          </c:dPt>
          <c:dPt>
            <c:idx val="68"/>
            <c:spPr>
              <a:solidFill>
                <a:srgbClr val="B6D7A8"/>
              </a:solidFill>
              <a:ln w="9525">
                <a:solidFill>
                  <a:srgbClr val="111827"/>
                </a:solidFill>
              </a:ln>
            </c:spPr>
          </c:dPt>
          <c:dPt>
            <c:idx val="69"/>
            <c:spPr>
              <a:solidFill>
                <a:srgbClr val="FFD966"/>
              </a:solidFill>
              <a:ln w="9525">
                <a:solidFill>
                  <a:srgbClr val="111827"/>
                </a:solidFill>
              </a:ln>
            </c:spPr>
          </c:dPt>
          <c:dPt>
            <c:idx val="70"/>
            <c:spPr>
              <a:solidFill>
                <a:srgbClr val="FFD966"/>
              </a:solidFill>
              <a:ln w="9525">
                <a:solidFill>
                  <a:srgbClr val="111827"/>
                </a:solidFill>
              </a:ln>
            </c:spPr>
          </c:dPt>
          <c:dPt>
            <c:idx val="71"/>
            <c:spPr>
              <a:solidFill>
                <a:srgbClr val="F6B26B"/>
              </a:solidFill>
              <a:ln w="9525">
                <a:solidFill>
                  <a:srgbClr val="111827"/>
                </a:solidFill>
              </a:ln>
            </c:spPr>
          </c:dPt>
          <c:dPt>
            <c:idx val="72"/>
            <c:spPr>
              <a:solidFill>
                <a:srgbClr val="FFD966"/>
              </a:solidFill>
              <a:ln w="9525">
                <a:solidFill>
                  <a:srgbClr val="111827"/>
                </a:solidFill>
              </a:ln>
            </c:spPr>
          </c:dPt>
          <c:cat>
            <c:strRef>
              <c:f>Sheet1!$A$2:$A$74</c:f>
              <c:strCache>
                <c:ptCount val="73"/>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pt idx="51">
                  <c:v>Q52</c:v>
                </c:pt>
                <c:pt idx="52">
                  <c:v>Q53</c:v>
                </c:pt>
                <c:pt idx="53">
                  <c:v>Q54</c:v>
                </c:pt>
                <c:pt idx="54">
                  <c:v>Q55</c:v>
                </c:pt>
                <c:pt idx="55">
                  <c:v>Q56</c:v>
                </c:pt>
                <c:pt idx="56">
                  <c:v>Q57</c:v>
                </c:pt>
                <c:pt idx="57">
                  <c:v>Q58</c:v>
                </c:pt>
                <c:pt idx="58">
                  <c:v>Q59</c:v>
                </c:pt>
                <c:pt idx="59">
                  <c:v>Q60</c:v>
                </c:pt>
                <c:pt idx="60">
                  <c:v>Q61</c:v>
                </c:pt>
                <c:pt idx="61">
                  <c:v>Q62</c:v>
                </c:pt>
                <c:pt idx="62">
                  <c:v>Q63</c:v>
                </c:pt>
                <c:pt idx="63">
                  <c:v>Q64</c:v>
                </c:pt>
                <c:pt idx="64">
                  <c:v>Q65</c:v>
                </c:pt>
                <c:pt idx="65">
                  <c:v>Q66</c:v>
                </c:pt>
                <c:pt idx="66">
                  <c:v>Q67</c:v>
                </c:pt>
                <c:pt idx="67">
                  <c:v>Q68</c:v>
                </c:pt>
                <c:pt idx="68">
                  <c:v>Q69</c:v>
                </c:pt>
                <c:pt idx="69">
                  <c:v>Q70</c:v>
                </c:pt>
                <c:pt idx="70">
                  <c:v>Q71</c:v>
                </c:pt>
                <c:pt idx="71">
                  <c:v>Q72</c:v>
                </c:pt>
                <c:pt idx="72">
                  <c:v>Q73</c:v>
                </c:pt>
              </c:strCache>
            </c:strRef>
          </c:cat>
          <c:val>
            <c:numRef>
              <c:f>Sheet1!$B$2:$B$74</c:f>
              <c:numCache>
                <c:formatCode>General</c:formatCode>
                <c:ptCount val="73"/>
                <c:pt idx="0">
                  <c:v>1.0</c:v>
                </c:pt>
                <c:pt idx="1">
                  <c:v>1.0</c:v>
                </c:pt>
                <c:pt idx="2">
                  <c:v>1.0</c:v>
                </c:pt>
                <c:pt idx="3">
                  <c:v>1.0</c:v>
                </c:pt>
                <c:pt idx="4">
                  <c:v>1.0</c:v>
                </c:pt>
                <c:pt idx="5">
                  <c:v>2.0</c:v>
                </c:pt>
                <c:pt idx="6">
                  <c:v>2.0</c:v>
                </c:pt>
                <c:pt idx="7">
                  <c:v>2.0</c:v>
                </c:pt>
                <c:pt idx="8">
                  <c:v>1.0</c:v>
                </c:pt>
                <c:pt idx="9">
                  <c:v>1.0</c:v>
                </c:pt>
                <c:pt idx="10">
                  <c:v>1.0</c:v>
                </c:pt>
                <c:pt idx="11">
                  <c:v>2.0</c:v>
                </c:pt>
                <c:pt idx="12">
                  <c:v>1.5</c:v>
                </c:pt>
                <c:pt idx="13">
                  <c:v>1.5</c:v>
                </c:pt>
                <c:pt idx="14">
                  <c:v>1.0</c:v>
                </c:pt>
                <c:pt idx="15">
                  <c:v>1.5</c:v>
                </c:pt>
                <c:pt idx="16">
                  <c:v>1.0</c:v>
                </c:pt>
                <c:pt idx="17">
                  <c:v>2.5</c:v>
                </c:pt>
                <c:pt idx="18">
                  <c:v>2.0</c:v>
                </c:pt>
                <c:pt idx="19">
                  <c:v>1.0</c:v>
                </c:pt>
                <c:pt idx="20">
                  <c:v>2.0</c:v>
                </c:pt>
                <c:pt idx="21">
                  <c:v>2.0</c:v>
                </c:pt>
                <c:pt idx="22">
                  <c:v>1.0</c:v>
                </c:pt>
                <c:pt idx="23">
                  <c:v>2.5</c:v>
                </c:pt>
                <c:pt idx="24">
                  <c:v>2.5</c:v>
                </c:pt>
                <c:pt idx="25">
                  <c:v>2.0</c:v>
                </c:pt>
                <c:pt idx="26">
                  <c:v>2.0</c:v>
                </c:pt>
                <c:pt idx="27">
                  <c:v>1.5</c:v>
                </c:pt>
                <c:pt idx="28">
                  <c:v>2.5</c:v>
                </c:pt>
                <c:pt idx="29">
                  <c:v>2.0</c:v>
                </c:pt>
                <c:pt idx="30">
                  <c:v>3.0</c:v>
                </c:pt>
                <c:pt idx="31">
                  <c:v>1.0</c:v>
                </c:pt>
                <c:pt idx="32">
                  <c:v>2.0</c:v>
                </c:pt>
                <c:pt idx="33">
                  <c:v>3.0</c:v>
                </c:pt>
                <c:pt idx="34">
                  <c:v>2.0</c:v>
                </c:pt>
                <c:pt idx="35">
                  <c:v>1.5</c:v>
                </c:pt>
                <c:pt idx="36">
                  <c:v>1.5</c:v>
                </c:pt>
                <c:pt idx="37">
                  <c:v>2.0</c:v>
                </c:pt>
                <c:pt idx="38">
                  <c:v>2.0</c:v>
                </c:pt>
                <c:pt idx="39">
                  <c:v>1.0</c:v>
                </c:pt>
                <c:pt idx="40">
                  <c:v>2.5</c:v>
                </c:pt>
                <c:pt idx="41">
                  <c:v>2.5</c:v>
                </c:pt>
                <c:pt idx="42">
                  <c:v>3.0</c:v>
                </c:pt>
                <c:pt idx="43">
                  <c:v>2.0</c:v>
                </c:pt>
                <c:pt idx="44">
                  <c:v>2.0</c:v>
                </c:pt>
                <c:pt idx="45">
                  <c:v>1.0</c:v>
                </c:pt>
                <c:pt idx="46">
                  <c:v>1.0</c:v>
                </c:pt>
                <c:pt idx="47">
                  <c:v>2.0</c:v>
                </c:pt>
                <c:pt idx="48">
                  <c:v>1.0</c:v>
                </c:pt>
                <c:pt idx="49">
                  <c:v>2.0</c:v>
                </c:pt>
                <c:pt idx="50">
                  <c:v>2.0</c:v>
                </c:pt>
                <c:pt idx="51">
                  <c:v>2.0</c:v>
                </c:pt>
                <c:pt idx="52">
                  <c:v>3.0</c:v>
                </c:pt>
                <c:pt idx="53">
                  <c:v>3.0</c:v>
                </c:pt>
                <c:pt idx="54">
                  <c:v>2.0</c:v>
                </c:pt>
                <c:pt idx="55">
                  <c:v>1.0</c:v>
                </c:pt>
                <c:pt idx="56">
                  <c:v>1.0</c:v>
                </c:pt>
                <c:pt idx="57">
                  <c:v>2.0</c:v>
                </c:pt>
                <c:pt idx="58">
                  <c:v>1.0</c:v>
                </c:pt>
                <c:pt idx="59">
                  <c:v>1.0</c:v>
                </c:pt>
                <c:pt idx="60">
                  <c:v>2.0</c:v>
                </c:pt>
                <c:pt idx="61">
                  <c:v>3.0</c:v>
                </c:pt>
                <c:pt idx="62">
                  <c:v>2.0</c:v>
                </c:pt>
                <c:pt idx="63">
                  <c:v>1.0</c:v>
                </c:pt>
                <c:pt idx="64">
                  <c:v>1.0</c:v>
                </c:pt>
                <c:pt idx="65">
                  <c:v>2.0</c:v>
                </c:pt>
                <c:pt idx="66">
                  <c:v>2.0</c:v>
                </c:pt>
                <c:pt idx="67">
                  <c:v>1.0</c:v>
                </c:pt>
                <c:pt idx="68">
                  <c:v>1.0</c:v>
                </c:pt>
                <c:pt idx="69">
                  <c:v>2.0</c:v>
                </c:pt>
                <c:pt idx="70">
                  <c:v>2.5</c:v>
                </c:pt>
                <c:pt idx="71">
                  <c:v>3.0</c:v>
                </c:pt>
                <c:pt idx="72">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puts the symmetry counterexamples under the heading 'Reflexive' and has a typo '$(8,3)$' for $(6,3)$; it never verifies transitivity beyond saying 'yes'. Fixed: reflexive check by the four diagonal pairs, the four non-symmetric pairs listed correctly, and transitivity shown explicitly via $(3,6),(6,12)\Rightarrow(3,12)$.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'y=wx not always' for symmetry of $R$ without a reason; for $w\neq0$ symmetry does hold ($y=\frac1wx$). It fails only for $w=0$, i.e. the pair $(0,1)$. Corrected to give this exact counterexample.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symmetry step for Statement-2 reads 'No, because if $x=\alpha x$ not always' (garbled, no counterexample), and its transitivity lines for Statement-1 mix the variable order. Rewritten with the exact counterexample $(0,1)\in B$, $(1,0)\notin B$ and a clean transitivity chain.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lists the cases as '$a\in Y,a\in Z$', '$a\in Y,a\in Y$', '$a\in Z,a\in Y$'; these are typos (the first is the forbidden 'in both' case and the second repeats $Y$). Correct cases: $Y$ only, $Z$ only, neither. Count $3^5$ unchanged (verified by brute force: 243).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$n(B)=8$ (it means $n(A\times B)=8$; $n(B)=4$) and '$2^8=250$' (it is $256$). The final subtraction $256-37=219$ uses the correct $256$. Answer 219 verified by $\sum_{k=3}^{8}\binom8k=219$.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Case 2 line reads $x-2\sqrt{x}+12=0$; the correct simplification is $x-8\sqrt{x}+12=0$ (since $-2\sqrt{x}-6\sqrt{x}=-8\sqrt{x}$). The next line $t^2-8t+12=0$ in the PDF is correct, so only that typo is fixed. The PDF's case labels 'x&lt;a' and 'x&gt;=a' are garbled and mean $x\ge 9$ and $x&lt;9$.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symmetry step concludes '$PBP^{-1}=P^{-1}BP$ can be true for some $P=P^{-1}$, i.e. $P^2=I$', which wrongly restricts $P$ and does not prove symmetry for the given $P$; the correct step is to use $Q=P^{-1}$. Its transitivity step also uses the same $P$ twice ($P^2A(P^2)^{-1}$); two different matrices $P$, $Q$ are needed and give $(QP)A(QP)^{-1}$. The final answer (B)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Case I roots as '$\frac{-1\pm\sqrt{173}}{2}$' and then '$\frac{1+\sqrt{73}}{2}$'. From $x^2+x-18=0$ the discriminant is $1+72=73$, so the roots are $\frac{-1\pm\sqrt{73}}{2}$ and the accepted one is $\frac{-1+\sqrt{73}}{2}$. The case structure, the count of 2 and the answer (A)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working has typos: it writes A-B=(1,1) (correct: (-1,1)) and A union B = 'P(-infinity,1) union [3,infinity)' (the stray 'P' is a misprint). The conclusions and the final answer (B) are right; the corrected working is shown.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prime list omits 19 (it uses 14 primes), so it gets n(R1)=36 (with 2x10 for the others) and n(R2)=2x14=28. With all 15 primes up to 50, n(R1)=38 and n(R2)=30. The difference, 8, and the answer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solution (as printed) only tests reflexivity and then claims 'R is symmetric' because $\gcd(a,b)=\gcd(b,a)$, ignoring the condition $2a\neq b$; this contradicts its own key (D), and it never tests transitivity. Correct: $(2,1)\in R$ but $(1,2)\notin R$, so $R$ is not symmetric; and $(1,3),(3,2)\in R$ but $(1,2)\notin R$, so it is not transitive.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text for T is garbled ('a^2-b^2=-I' should read a^2-b^2 = I, an integer). Its step '2+a/b&gt;0 =&gt; a/b&gt;-2 =&gt; b/a&lt;-1/2' is wrong (taking reciprocals of an inequality is invalid when a/b can be positive: then b/a&gt;0). Replaced by the counterexample a=2,b=-5; conclusion (B) unchanged.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lists the first pair as (2,4), but 4 is not in B={8,9,12}; it should be (2,8). The count (6 pairs, 36) and the answer D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lists R1, R2, R3 (three relations) but then states the answer 4. Brute force over all 512 relations on {1,2,3} gives exactly 3 (R1, R1+(2,1), R1+(3,2)); adding (3,1) or both (2,1),(3,2) forces the full (symmetric) relation. The printed key 4 appears wrong; correct answer is 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wrote 'B∩A ∈ φ' (typo for ≠ φ) and gave the transitivity counterexample with sets of ordered pairs such as A={(1,2),(2,3)}, which are not subsets of S. Replaced by genuine subsets A={1,2}, B={2,3}, C={3,4}; the conclusion (A)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only states 'x=45, y=1' and sums to 46; it gives no argument that this is the only element of C. The answer is right; the mod-4 uniqueness step was added (and $y=0$ if $0\in\mathbb{N}$ gives $x^2=2024$, not a square).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printed 'Ans. 11' is wrong: its own working rejects x=11 and gets x=10, and a brute-force check confirms the maximum is 10 (the PDF itself notes 'Matrix answer NTA (10)'). Added the justification why x=11 fails; the working was otherwise kept.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'(n = 5)' but then evaluates $2^{10}-2^6$, which is the value for $n=4$ (the set $\{1,2,3,4\}$); for $n=5$ the formula would give $2^{15}-2^{10}$. Only the label was wrong; the answer 960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list of symmetric additions is '(2,1),(4,1),(3,1)': the symmetric partner of (2,3) is (3,2), not (3,1). With (3,1) listed again in the transitive step and (3,2) never added, the printed list is not a valid closure. Fixed to (2,1),(3,2),(4,1) and transitive additions (1,3),(3,1),(3,4),(4,3),(2,4),(4,2); the count 13 added and n=16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'(3,7)R(4,3) and (4,3)R(1,3) =&gt; (3,7)R(1,3)' and '(1,2)R(3,4) =&gt; (3,4)R(1,2)', which as printed are false implications (the intended arrows are 'does not imply', i.e. counter-examples); it never states the verdict on (II) explicitly. The counter-example pairs and answer (A) are right; corrected by showing the failing inequalities and stating that (II) is false.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Printed working has (i) a typo '14-x' for the region $M\cap P$ only (should be $40-x$, as the totals $165+x=210$ show), and (ii) the labels reversed: it calls $x=30$ the minimum $m$ and $x=15$ the maximum $n$. Actually the largest sets give $x=15$, the least value; the smallest sets give $x=45$, which is capped at $30$ by the $P\cap C=30$ condition, so $n=30$. Also the cap at $30$ is not justified in the PDF. $m+n=45$ is unchanged. Brute force over all set sizes confirms $\min x=15$, $\max x=30$.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Set &amp; Relation Sheet (Exercise III) — Paper Analysis</a:t>
            </a:r>
            <a:endParaRPr sz="4000">
              <a:solidFill>
                <a:srgbClr val="FFFFFF"/>
              </a:solidFill>
            </a:endParaRPr>
          </a:p>
          <a:p>
            <a:pPr algn="ctr"/>
            <a:r>
              <a:rPr sz="2200">
                <a:solidFill>
                  <a:srgbClr val="FFFFFF"/>
                </a:solidFill>
                <a:latin typeface="Arial"/>
              </a:rPr>
              <a:t>SHEET SET &amp; RELATION · FCopy JM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[AIEEE-2004]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 not symmetric   (C) reflexive   (D) a function</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$R=\{(1,3),(4,2),(2,4),(2,3),(3,1)\}$</a:t>
                </a:r>
                <a:r>
                  <a:rPr sz="2400" b="0">
                    <a:solidFill>
                      <a:srgbClr val="111827"/>
                    </a:solidFill>
                    <a:latin typeface="Arial"/>
                  </a:rPr>
                  <a:t> be a relation on the set </a:t>
                </a:r>
                <a:r>
                  <a:rPr lang="en-IN" sz="2400">
                    <a:solidFill>
                      <a:srgbClr val="111827"/>
                    </a:solidFill>
                    <a:latin typeface="Cambria Math" panose="02040503050406030204" pitchFamily="18" charset="0"/>
                  </a:rPr>
                  <a:t>$A=\{1,2,3,4\}$</a:t>
                </a:r>
                <a:r>
                  <a:rPr sz="2400" b="0">
                    <a:solidFill>
                      <a:srgbClr val="111827"/>
                    </a:solidFill>
                    <a:latin typeface="Arial"/>
                  </a:rPr>
                  <a:t>. The relation </a:t>
                </a:r>
                <a:r>
                  <a:rPr lang="en-IN" sz="2400">
                    <a:solidFill>
                      <a:srgbClr val="111827"/>
                    </a:solidFill>
                    <a:latin typeface="Cambria Math" panose="02040503050406030204" pitchFamily="18" charset="0"/>
                  </a:rPr>
                  <a:t>$R$</a:t>
                </a:r>
                <a:r>
                  <a:rPr sz="2400" b="0">
                    <a:solidFill>
                      <a:srgbClr val="111827"/>
                    </a:solidFill>
                    <a:latin typeface="Arial"/>
                  </a:rPr>
                  <a:t> is : [AIEEE-2004]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 not symmetric   (C) reflexive   (D) a function</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One missing mirror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decides symmetry.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One missing mirror pair, </a:t>
                </a:r>
                <a:r>
                  <a:rPr lang="en-IN" sz="2400">
                    <a:solidFill>
                      <a:srgbClr val="78350F"/>
                    </a:solidFill>
                    <a:latin typeface="Cambria Math" panose="02040503050406030204" pitchFamily="18" charset="0"/>
                  </a:rPr>
                  <a:t>$(2,3)\in R$</a:t>
                </a:r>
                <a:r>
                  <a:rPr sz="2400" b="0">
                    <a:solidFill>
                      <a:srgbClr val="78350F"/>
                    </a:solidFill>
                    <a:latin typeface="Arial"/>
                  </a:rPr>
                  <a:t> but </a:t>
                </a:r>
                <a:r>
                  <a:rPr lang="en-IN" sz="2400">
                    <a:solidFill>
                      <a:srgbClr val="78350F"/>
                    </a:solidFill>
                    <a:latin typeface="Cambria Math" panose="02040503050406030204" pitchFamily="18" charset="0"/>
                  </a:rPr>
                  <a:t>$(3,2)\notin R$</a:t>
                </a:r>
                <a:r>
                  <a:rPr sz="2400" b="0">
                    <a:solidFill>
                      <a:srgbClr val="78350F"/>
                    </a:solidFill>
                    <a:latin typeface="Arial"/>
                  </a:rPr>
                  <a:t>, decides symmetry.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the three properties for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No,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No,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so (B) is true.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the three properties for </a:t>
                </a:r>
                <a:r>
                  <a:rPr lang="en-IN" sz="2400">
                    <a:solidFill>
                      <a:srgbClr val="111827"/>
                    </a:solidFill>
                    <a:latin typeface="Cambria Math" panose="02040503050406030204" pitchFamily="18" charset="0"/>
                  </a:rPr>
                  <a:t>$R=\{(1,3),(4,2),(2,4),(2,3),(3,1)\}$</a:t>
                </a:r>
                <a:r>
                  <a:rPr sz="2400" b="0">
                    <a:solidFill>
                      <a:srgbClr val="111827"/>
                    </a:solidFill>
                    <a:latin typeface="Arial"/>
                  </a:rPr>
                  <a:t> on </a:t>
                </a:r>
                <a:r>
                  <a:rPr lang="en-IN" sz="2400">
                    <a:solidFill>
                      <a:srgbClr val="111827"/>
                    </a:solidFill>
                    <a:latin typeface="Cambria Math" panose="02040503050406030204" pitchFamily="18" charset="0"/>
                  </a:rPr>
                  <a:t>$A=\{1,2,3,4\}$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No, because </a:t>
                </a:r>
                <a:r>
                  <a:rPr lang="en-IN" sz="2400">
                    <a:solidFill>
                      <a:srgbClr val="111827"/>
                    </a:solidFill>
                    <a:latin typeface="Cambria Math" panose="02040503050406030204" pitchFamily="18" charset="0"/>
                  </a:rPr>
                  <a:t>$(1,1)\notin R$</a:t>
                </a:r>
                <a:r>
                  <a:rPr sz="2400" b="0">
                    <a:solidFill>
                      <a:srgbClr val="111827"/>
                    </a:solidFill>
                    <a:latin typeface="Arial"/>
                  </a:rPr>
                  <a:t> (also </a:t>
                </a:r>
                <a:r>
                  <a:rPr lang="en-IN" sz="2400">
                    <a:solidFill>
                      <a:srgbClr val="111827"/>
                    </a:solidFill>
                    <a:latin typeface="Cambria Math" panose="02040503050406030204" pitchFamily="18" charset="0"/>
                  </a:rPr>
                  <a:t>$(2,2),(3,3),(4,4)\notin R$</a:t>
                </a:r>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No, because </a:t>
                </a:r>
                <a:r>
                  <a:rPr lang="en-IN" sz="2400">
                    <a:solidFill>
                      <a:srgbClr val="111827"/>
                    </a:solidFill>
                    <a:latin typeface="Cambria Math" panose="02040503050406030204" pitchFamily="18" charset="0"/>
                  </a:rPr>
                  <a:t>$(2,3)\in R$</a:t>
                </a:r>
                <a:r>
                  <a:rPr sz="2400" b="0">
                    <a:solidFill>
                      <a:srgbClr val="111827"/>
                    </a:solidFill>
                    <a:latin typeface="Arial"/>
                  </a:rPr>
                  <a:t> but </a:t>
                </a:r>
                <a:r>
                  <a:rPr lang="en-IN" sz="2400">
                    <a:solidFill>
                      <a:srgbClr val="111827"/>
                    </a:solidFill>
                    <a:latin typeface="Cambria Math" panose="02040503050406030204" pitchFamily="18" charset="0"/>
                  </a:rPr>
                  <a:t>$(3,2)\notin R$</a:t>
                </a:r>
                <a:r>
                  <a:rPr sz="2400" b="0">
                    <a:solidFill>
                      <a:srgbClr val="111827"/>
                    </a:solidFill>
                    <a:latin typeface="Arial"/>
                  </a:rPr>
                  <a:t>. Hence </a:t>
                </a:r>
                <a:r>
                  <a:rPr lang="en-IN" sz="2400">
                    <a:solidFill>
                      <a:srgbClr val="111827"/>
                    </a:solidFill>
                    <a:latin typeface="Cambria Math" panose="02040503050406030204" pitchFamily="18" charset="0"/>
                  </a:rPr>
                  <a:t>$R$</a:t>
                </a:r>
                <a:r>
                  <a:rPr sz="2400" b="0">
                    <a:solidFill>
                      <a:srgbClr val="111827"/>
                    </a:solidFill>
                    <a:latin typeface="Arial"/>
                  </a:rPr>
                  <a:t> is not symmetric, so (B) is true.</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No,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No, because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related to both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one input has two images.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correct option is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No, because </a:t>
                </a:r>
                <a:r>
                  <a:rPr lang="en-IN" sz="2400">
                    <a:solidFill>
                      <a:srgbClr val="111827"/>
                    </a:solidFill>
                    <a:latin typeface="Cambria Math" panose="02040503050406030204" pitchFamily="18" charset="0"/>
                  </a:rPr>
                  <a:t>$(2,3)\in R$</a:t>
                </a:r>
                <a:r>
                  <a:rPr sz="2400" b="0">
                    <a:solidFill>
                      <a:srgbClr val="111827"/>
                    </a:solidFill>
                    <a:latin typeface="Arial"/>
                  </a:rPr>
                  <a:t> and </a:t>
                </a:r>
                <a:r>
                  <a:rPr lang="en-IN" sz="2400">
                    <a:solidFill>
                      <a:srgbClr val="111827"/>
                    </a:solidFill>
                    <a:latin typeface="Cambria Math" panose="02040503050406030204" pitchFamily="18" charset="0"/>
                  </a:rPr>
                  <a:t>$(3,1)\in R$</a:t>
                </a:r>
                <a:r>
                  <a:rPr sz="2400" b="0">
                    <a:solidFill>
                      <a:srgbClr val="111827"/>
                    </a:solidFill>
                    <a:latin typeface="Arial"/>
                  </a:rPr>
                  <a:t> but </a:t>
                </a:r>
                <a:r>
                  <a:rPr lang="en-IN" sz="2400">
                    <a:solidFill>
                      <a:srgbClr val="111827"/>
                    </a:solidFill>
                    <a:latin typeface="Cambria Math" panose="02040503050406030204" pitchFamily="18" charset="0"/>
                  </a:rPr>
                  <a:t>$(2,1)\notin R$</a:t>
                </a:r>
                <a:r>
                  <a:rPr sz="2400" b="0">
                    <a:solidFill>
                      <a:srgbClr val="111827"/>
                    </a:solidFill>
                    <a:latin typeface="Arial"/>
                  </a:rPr>
                  <a:t>. So (A)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No, because </a:t>
                </a:r>
                <a:r>
                  <a:rPr lang="en-IN" sz="2400">
                    <a:solidFill>
                      <a:srgbClr val="111827"/>
                    </a:solidFill>
                    <a:latin typeface="Cambria Math" panose="02040503050406030204" pitchFamily="18" charset="0"/>
                  </a:rPr>
                  <a:t>$2$</a:t>
                </a:r>
                <a:r>
                  <a:rPr sz="2400" b="0">
                    <a:solidFill>
                      <a:srgbClr val="111827"/>
                    </a:solidFill>
                    <a:latin typeface="Arial"/>
                  </a:rPr>
                  <a:t> is related to both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so one input has two images.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correct option is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not symmetric</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one counterexample is enough: reflexive needs every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symmetric needs every reverse pair; transitive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 function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iff every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appears as first coordinate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cue: look for a first coordinate repeated (not a function), a missing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reflexive) and a chain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absent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-element set there are </a:t>
                </a:r>
                <a14:m>
                  <m:oMath xmlns:m="http://schemas.openxmlformats.org/officeDocument/2006/math">
                    <m:sSup>
                      <m:e>
                        <m:r>
                          <a:rPr lang="en-IN" sz="2400" i="1">
                            <a:solidFill>
                              <a:srgbClr val="111827"/>
                            </a:solidFill>
                            <a:latin typeface="Cambria Math" panose="02040503050406030204" pitchFamily="18" charset="0"/>
                          </a:rPr>
                          <m:t>2</m:t>
                        </m:r>
                      </m:e>
                      <m: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sup>
                    </m:sSup>
                  </m:oMath>
                </a14:m>
                <a:r>
                  <a:rPr sz="2400" b="0">
                    <a:solidFill>
                      <a:srgbClr val="111827"/>
                    </a:solidFill>
                    <a:latin typeface="Arial"/>
                  </a:rPr>
                  <a:t> relations, </a:t>
                </a:r>
                <a14:m>
                  <m:oMath xmlns:m="http://schemas.openxmlformats.org/officeDocument/2006/math">
                    <m:sSup>
                      <m:e>
                        <m:r>
                          <a:rPr lang="en-IN" sz="2400" i="1">
                            <a:solidFill>
                              <a:srgbClr val="111827"/>
                            </a:solidFill>
                            <a:latin typeface="Cambria Math" panose="02040503050406030204" pitchFamily="18" charset="0"/>
                          </a:rPr>
                          <m:t>2</m:t>
                        </m:r>
                      </m:e>
                      <m: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reflexive ones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symmetric ones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one counterexample is enough: reflexive needs every </a:t>
                </a:r>
                <a:r>
                  <a:rPr lang="en-IN" sz="2400">
                    <a:solidFill>
                      <a:srgbClr val="111827"/>
                    </a:solidFill>
                    <a:latin typeface="Cambria Math" panose="02040503050406030204" pitchFamily="18" charset="0"/>
                  </a:rPr>
                  <a:t>$(a,a)$</a:t>
                </a:r>
                <a:r>
                  <a:rPr sz="2400" b="0">
                    <a:solidFill>
                      <a:srgbClr val="111827"/>
                    </a:solidFill>
                    <a:latin typeface="Arial"/>
                  </a:rPr>
                  <a:t>; symmetric needs every reverse pair; transitive needs </a:t>
                </a:r>
                <a:r>
                  <a:rPr lang="en-IN" sz="2400">
                    <a:solidFill>
                      <a:srgbClr val="111827"/>
                    </a:solidFill>
                    <a:latin typeface="Cambria Math" panose="02040503050406030204" pitchFamily="18" charset="0"/>
                  </a:rPr>
                  <a:t>$(a,b),(b,c)\Rightarrow(a,c)$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$R\subseteq A\times A$</a:t>
                </a:r>
                <a:r>
                  <a:rPr sz="2400" b="0">
                    <a:solidFill>
                      <a:srgbClr val="111827"/>
                    </a:solidFill>
                    <a:latin typeface="Arial"/>
                  </a:rPr>
                  <a:t> is a function on </a:t>
                </a:r>
                <a:r>
                  <a:rPr lang="en-IN" sz="2400">
                    <a:solidFill>
                      <a:srgbClr val="111827"/>
                    </a:solidFill>
                    <a:latin typeface="Cambria Math" panose="02040503050406030204" pitchFamily="18" charset="0"/>
                  </a:rPr>
                  <a:t>$A$</a:t>
                </a:r>
                <a:r>
                  <a:rPr sz="2400" b="0">
                    <a:solidFill>
                      <a:srgbClr val="111827"/>
                    </a:solidFill>
                    <a:latin typeface="Arial"/>
                  </a:rPr>
                  <a:t> iff every </a:t>
                </a:r>
                <a:r>
                  <a:rPr lang="en-IN" sz="2400">
                    <a:solidFill>
                      <a:srgbClr val="111827"/>
                    </a:solidFill>
                    <a:latin typeface="Cambria Math" panose="02040503050406030204" pitchFamily="18" charset="0"/>
                  </a:rPr>
                  <a:t>$a\in A$</a:t>
                </a:r>
                <a:r>
                  <a:rPr sz="2400" b="0">
                    <a:solidFill>
                      <a:srgbClr val="111827"/>
                    </a:solidFill>
                    <a:latin typeface="Arial"/>
                  </a:rPr>
                  <a:t> appears as first coordinate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cue: look for a first coordinate repeated (not a function), a missing </a:t>
                </a:r>
                <a:r>
                  <a:rPr lang="en-IN" sz="2400">
                    <a:solidFill>
                      <a:srgbClr val="111827"/>
                    </a:solidFill>
                    <a:latin typeface="Cambria Math" panose="02040503050406030204" pitchFamily="18" charset="0"/>
                  </a:rPr>
                  <a:t>$(a,a)$</a:t>
                </a:r>
                <a:r>
                  <a:rPr sz="2400" b="0">
                    <a:solidFill>
                      <a:srgbClr val="111827"/>
                    </a:solidFill>
                    <a:latin typeface="Arial"/>
                  </a:rPr>
                  <a:t> (not reflexive) and a chain </a:t>
                </a:r>
                <a:r>
                  <a:rPr lang="en-IN" sz="2400">
                    <a:solidFill>
                      <a:srgbClr val="111827"/>
                    </a:solidFill>
                    <a:latin typeface="Cambria Math" panose="02040503050406030204" pitchFamily="18" charset="0"/>
                  </a:rPr>
                  <a:t>$(a,b),(b,c)$</a:t>
                </a:r>
                <a:r>
                  <a:rPr sz="2400" b="0">
                    <a:solidFill>
                      <a:srgbClr val="111827"/>
                    </a:solidFill>
                    <a:latin typeface="Arial"/>
                  </a:rPr>
                  <a:t> with </a:t>
                </a:r>
                <a:r>
                  <a:rPr lang="en-IN" sz="2400">
                    <a:solidFill>
                      <a:srgbClr val="111827"/>
                    </a:solidFill>
                    <a:latin typeface="Cambria Math" panose="02040503050406030204" pitchFamily="18" charset="0"/>
                  </a:rPr>
                  <a:t>$(a,c)$</a:t>
                </a:r>
                <a:r>
                  <a:rPr sz="2400" b="0">
                    <a:solidFill>
                      <a:srgbClr val="111827"/>
                    </a:solidFill>
                    <a:latin typeface="Arial"/>
                  </a:rPr>
                  <a:t> absent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on an </a:t>
                </a:r>
                <a:r>
                  <a:rPr lang="en-IN" sz="2400">
                    <a:solidFill>
                      <a:srgbClr val="111827"/>
                    </a:solidFill>
                    <a:latin typeface="Cambria Math" panose="02040503050406030204" pitchFamily="18" charset="0"/>
                  </a:rPr>
                  <a:t>$n$</a:t>
                </a:r>
                <a:r>
                  <a:rPr sz="2400" b="0">
                    <a:solidFill>
                      <a:srgbClr val="111827"/>
                    </a:solidFill>
                    <a:latin typeface="Arial"/>
                  </a:rPr>
                  <a:t>-element set there are </a:t>
                </a:r>
                <a:r>
                  <a:rPr lang="en-IN" sz="2400">
                    <a:solidFill>
                      <a:srgbClr val="111827"/>
                    </a:solidFill>
                    <a:latin typeface="Cambria Math" panose="02040503050406030204" pitchFamily="18" charset="0"/>
                  </a:rPr>
                  <a:t>$2^{n^2}$</a:t>
                </a:r>
                <a:r>
                  <a:rPr sz="2400" b="0">
                    <a:solidFill>
                      <a:srgbClr val="111827"/>
                    </a:solidFill>
                    <a:latin typeface="Arial"/>
                  </a:rPr>
                  <a:t> relations, </a:t>
                </a:r>
                <a:r>
                  <a:rPr lang="en-IN" sz="2400">
                    <a:solidFill>
                      <a:srgbClr val="111827"/>
                    </a:solidFill>
                    <a:latin typeface="Cambria Math" panose="02040503050406030204" pitchFamily="18" charset="0"/>
                  </a:rPr>
                  <a:t>$2^{n^2-n}$</a:t>
                </a:r>
                <a:r>
                  <a:rPr sz="2400" b="0">
                    <a:solidFill>
                      <a:srgbClr val="111827"/>
                    </a:solidFill>
                    <a:latin typeface="Arial"/>
                  </a:rPr>
                  <a:t> reflexive ones and </a:t>
                </a:r>
                <a:r>
                  <a:rPr lang="en-IN" sz="2400">
                    <a:solidFill>
                      <a:srgbClr val="111827"/>
                    </a:solidFill>
                    <a:latin typeface="Cambria Math" panose="02040503050406030204" pitchFamily="18" charset="0"/>
                  </a:rPr>
                  <a:t>$2^{n(n+1)/2}$</a:t>
                </a:r>
                <a:r>
                  <a:rPr sz="2400" b="0">
                    <a:solidFill>
                      <a:srgbClr val="111827"/>
                    </a:solidFill>
                    <a:latin typeface="Arial"/>
                  </a:rPr>
                  <a:t> symmetric ones (check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$16,4,8$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is : [AIEEE-2005]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only</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$R=\{(3,3),(6,6),(9,9),(12,12),(6,12),(3,9),(3,12),(3,6)\}$</a:t>
                </a:r>
                <a:r>
                  <a:rPr sz="2400" b="0">
                    <a:solidFill>
                      <a:srgbClr val="111827"/>
                    </a:solidFill>
                    <a:latin typeface="Arial"/>
                  </a:rPr>
                  <a:t> be a relation on the set </a:t>
                </a:r>
                <a:r>
                  <a:rPr lang="en-IN" sz="2400">
                    <a:solidFill>
                      <a:srgbClr val="111827"/>
                    </a:solidFill>
                    <a:latin typeface="Cambria Math" panose="02040503050406030204" pitchFamily="18" charset="0"/>
                  </a:rPr>
                  <a:t>$A=\{3,6,9,12\}$</a:t>
                </a:r>
                <a:r>
                  <a:rPr sz="2400" b="0">
                    <a:solidFill>
                      <a:srgbClr val="111827"/>
                    </a:solidFill>
                    <a:latin typeface="Arial"/>
                  </a:rPr>
                  <a:t>. The relation is : [AIEEE-2005]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only</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four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are present and every off-diagonal pair has no reverse, so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reflexive, transitive, not symmetric.</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four </a:t>
                </a:r>
                <a:r>
                  <a:rPr lang="en-IN" sz="2400">
                    <a:solidFill>
                      <a:srgbClr val="78350F"/>
                    </a:solidFill>
                    <a:latin typeface="Cambria Math" panose="02040503050406030204" pitchFamily="18" charset="0"/>
                  </a:rPr>
                  <a:t>$(a,a)$</a:t>
                </a:r>
                <a:r>
                  <a:rPr sz="2400" b="0">
                    <a:solidFill>
                      <a:srgbClr val="78350F"/>
                    </a:solidFill>
                    <a:latin typeface="Arial"/>
                  </a:rPr>
                  <a:t> are present and every off-diagonal pair has no reverse, so </a:t>
                </a:r>
                <a:r>
                  <a:rPr lang="en-IN" sz="2400">
                    <a:solidFill>
                      <a:srgbClr val="78350F"/>
                    </a:solidFill>
                    <a:latin typeface="Cambria Math" panose="02040503050406030204" pitchFamily="18" charset="0"/>
                  </a:rPr>
                  <a:t>$R$</a:t>
                </a:r>
                <a:r>
                  <a:rPr sz="2400" b="0">
                    <a:solidFill>
                      <a:srgbClr val="78350F"/>
                    </a:solidFill>
                    <a:latin typeface="Arial"/>
                  </a:rPr>
                  <a:t> is reflexive, transitive, not symmetric.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contains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four diagonal pairs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No,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contains </a:t>
                </a:r>
                <a:r>
                  <a:rPr lang="en-IN" sz="2400">
                    <a:solidFill>
                      <a:srgbClr val="111827"/>
                    </a:solidFill>
                    <a:latin typeface="Cambria Math" panose="02040503050406030204" pitchFamily="18" charset="0"/>
                  </a:rPr>
                  <a:t>$(3,3),(6,6),(9,9),(12,12)$</a:t>
                </a:r>
                <a:r>
                  <a:rPr sz="2400" b="0">
                    <a:solidFill>
                      <a:srgbClr val="111827"/>
                    </a:solidFill>
                    <a:latin typeface="Arial"/>
                  </a:rPr>
                  <a:t>, all four diagonal pairs of </a:t>
                </a:r>
                <a:r>
                  <a:rPr lang="en-IN" sz="2400">
                    <a:solidFill>
                      <a:srgbClr val="111827"/>
                    </a:solidFill>
                    <a:latin typeface="Cambria Math" panose="02040503050406030204" pitchFamily="18" charset="0"/>
                  </a:rPr>
                  <a:t>$A=\{3,6,9,12\}$</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No, because </a:t>
                </a:r>
                <a:r>
                  <a:rPr lang="en-IN" sz="2400">
                    <a:solidFill>
                      <a:srgbClr val="111827"/>
                    </a:solidFill>
                    <a:latin typeface="Cambria Math" panose="02040503050406030204" pitchFamily="18" charset="0"/>
                  </a:rPr>
                  <a:t>$(6,12)\in R$</a:t>
                </a:r>
                <a:r>
                  <a:rPr sz="2400" b="0">
                    <a:solidFill>
                      <a:srgbClr val="111827"/>
                    </a:solidFill>
                    <a:latin typeface="Arial"/>
                  </a:rPr>
                  <a:t> but </a:t>
                </a:r>
                <a:r>
                  <a:rPr lang="en-IN" sz="2400">
                    <a:solidFill>
                      <a:srgbClr val="111827"/>
                    </a:solidFill>
                    <a:latin typeface="Cambria Math" panose="02040503050406030204" pitchFamily="18" charset="0"/>
                  </a:rPr>
                  <a:t>$(12,6)\notin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$(3,9)\in R$</a:t>
                </a:r>
                <a:r>
                  <a:rPr sz="2400" b="0">
                    <a:solidFill>
                      <a:srgbClr val="111827"/>
                    </a:solidFill>
                    <a:latin typeface="Arial"/>
                  </a:rPr>
                  <a:t> but </a:t>
                </a:r>
                <a:r>
                  <a:rPr lang="en-IN" sz="2400">
                    <a:solidFill>
                      <a:srgbClr val="111827"/>
                    </a:solidFill>
                    <a:latin typeface="Cambria Math" panose="02040503050406030204" pitchFamily="18" charset="0"/>
                  </a:rPr>
                  <a:t>$(9,3)\notin R$</a:t>
                </a:r>
                <a:r>
                  <a:rPr sz="2400" b="0">
                    <a:solidFill>
                      <a:srgbClr val="111827"/>
                    </a:solidFill>
                    <a:latin typeface="Arial"/>
                  </a:rPr>
                  <a:t>; </a:t>
                </a:r>
                <a:r>
                  <a:rPr lang="en-IN" sz="2400">
                    <a:solidFill>
                      <a:srgbClr val="111827"/>
                    </a:solidFill>
                    <a:latin typeface="Cambria Math" panose="02040503050406030204" pitchFamily="18" charset="0"/>
                  </a:rPr>
                  <a:t>$(3,12)\in R$</a:t>
                </a:r>
                <a:r>
                  <a:rPr sz="2400" b="0">
                    <a:solidFill>
                      <a:srgbClr val="111827"/>
                    </a:solidFill>
                    <a:latin typeface="Arial"/>
                  </a:rPr>
                  <a:t> but </a:t>
                </a:r>
                <a:r>
                  <a:rPr lang="en-IN" sz="2400">
                    <a:solidFill>
                      <a:srgbClr val="111827"/>
                    </a:solidFill>
                    <a:latin typeface="Cambria Math" panose="02040503050406030204" pitchFamily="18" charset="0"/>
                  </a:rPr>
                  <a:t>$(12,3)\notin R$</a:t>
                </a:r>
                <a:r>
                  <a:rPr sz="2400" b="0">
                    <a:solidFill>
                      <a:srgbClr val="111827"/>
                    </a:solidFill>
                    <a:latin typeface="Arial"/>
                  </a:rPr>
                  <a:t>; </a:t>
                </a:r>
                <a:r>
                  <a:rPr lang="en-IN" sz="2400">
                    <a:solidFill>
                      <a:srgbClr val="111827"/>
                    </a:solidFill>
                    <a:latin typeface="Cambria Math" panose="02040503050406030204" pitchFamily="18" charset="0"/>
                  </a:rPr>
                  <a:t>$(3,6)\in R$</a:t>
                </a:r>
                <a:r>
                  <a:rPr sz="2400" b="0">
                    <a:solidFill>
                      <a:srgbClr val="111827"/>
                    </a:solidFill>
                    <a:latin typeface="Arial"/>
                  </a:rPr>
                  <a:t> but </a:t>
                </a:r>
                <a:r>
                  <a:rPr lang="en-IN" sz="2400">
                    <a:solidFill>
                      <a:srgbClr val="111827"/>
                    </a:solidFill>
                    <a:latin typeface="Cambria Math" panose="02040503050406030204" pitchFamily="18" charset="0"/>
                  </a:rPr>
                  <a:t>$(6,3)\notin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the only chain with distinct middle element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every other chain uses a diagonal pair, which returns a pair already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transitive but not symmetric, hence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the only chain with distinct middle element is </a:t>
                </a:r>
                <a:r>
                  <a:rPr lang="en-IN" sz="2400">
                    <a:solidFill>
                      <a:srgbClr val="111827"/>
                    </a:solidFill>
                    <a:latin typeface="Cambria Math" panose="02040503050406030204" pitchFamily="18" charset="0"/>
                  </a:rPr>
                  <a:t>$(3,6),(6,12)$</a:t>
                </a:r>
                <a:r>
                  <a:rPr sz="2400" b="0">
                    <a:solidFill>
                      <a:srgbClr val="111827"/>
                    </a:solidFill>
                    <a:latin typeface="Arial"/>
                  </a:rPr>
                  <a:t>, giving </a:t>
                </a:r>
                <a:r>
                  <a:rPr lang="en-IN" sz="2400">
                    <a:solidFill>
                      <a:srgbClr val="111827"/>
                    </a:solidFill>
                    <a:latin typeface="Cambria Math" panose="02040503050406030204" pitchFamily="18" charset="0"/>
                  </a:rPr>
                  <a:t>$(3,12)\in R$</a:t>
                </a:r>
                <a:r>
                  <a:rPr sz="2400" b="0">
                    <a:solidFill>
                      <a:srgbClr val="111827"/>
                    </a:solidFill>
                    <a:latin typeface="Arial"/>
                  </a:rPr>
                  <a:t>; every other chain uses a diagonal pair, which returns a pair already in </a:t>
                </a:r>
                <a:r>
                  <a:rPr lang="en-IN" sz="2400">
                    <a:solidFill>
                      <a:srgbClr val="111827"/>
                    </a:solidFill>
                    <a:latin typeface="Cambria Math" panose="02040503050406030204" pitchFamily="18" charset="0"/>
                  </a:rPr>
                  <a:t>$R$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and transitive but not symmetric, hence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and transitive only</a:t>
            </a:r>
            <a:endParaRPr sz="2800">
              <a:solidFill>
                <a:srgbClr val="15803D"/>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 reflexive + symmetric + transitive; failing any one rules out options such as 'an equivalence relation' or 'reflexive and symmetric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'Divides' or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style relations are reflexive and transitive but not symmetric (partial orders). Here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check transitivity systematically, list the chains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chains through a diagonal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automatically fine.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 reflexive + symmetric + transitive; failing any one rules out options such as 'an equivalence relation' or 'reflexive and symmetric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'Divides' or </a:t>
                </a:r>
                <a:r>
                  <a:rPr lang="en-IN" sz="2400">
                    <a:solidFill>
                      <a:srgbClr val="111827"/>
                    </a:solidFill>
                    <a:latin typeface="Cambria Math" panose="02040503050406030204" pitchFamily="18" charset="0"/>
                  </a:rPr>
                  <a:t>$\le$</a:t>
                </a:r>
                <a:r>
                  <a:rPr sz="2400" b="0">
                    <a:solidFill>
                      <a:srgbClr val="111827"/>
                    </a:solidFill>
                    <a:latin typeface="Arial"/>
                  </a:rPr>
                  <a:t> style relations are reflexive and transitive but not symmetric (partial orders). Here </a:t>
                </a:r>
                <a:r>
                  <a:rPr lang="en-IN" sz="2400">
                    <a:solidFill>
                      <a:srgbClr val="111827"/>
                    </a:solidFill>
                    <a:latin typeface="Cambria Math" panose="02040503050406030204" pitchFamily="18" charset="0"/>
                  </a:rPr>
                  <a:t>$R=\{(a,b): a\mid b\}$</a:t>
                </a:r>
                <a:r>
                  <a:rPr sz="2400" b="0">
                    <a:solidFill>
                      <a:srgbClr val="111827"/>
                    </a:solidFill>
                    <a:latin typeface="Arial"/>
                  </a:rPr>
                  <a:t> on </a:t>
                </a:r>
                <a:r>
                  <a:rPr lang="en-IN" sz="2400">
                    <a:solidFill>
                      <a:srgbClr val="111827"/>
                    </a:solidFill>
                    <a:latin typeface="Cambria Math" panose="02040503050406030204" pitchFamily="18" charset="0"/>
                  </a:rPr>
                  <a:t>$\{3,6,9,12\}$</a:t>
                </a:r>
                <a:r>
                  <a:rPr sz="2400" b="0">
                    <a:solidFill>
                      <a:srgbClr val="111827"/>
                    </a:solidFill>
                    <a:latin typeface="Arial"/>
                  </a:rPr>
                  <a:t> (check: </a:t>
                </a:r>
                <a:r>
                  <a:rPr lang="en-IN" sz="2400">
                    <a:solidFill>
                      <a:srgbClr val="111827"/>
                    </a:solidFill>
                    <a:latin typeface="Cambria Math" panose="02040503050406030204" pitchFamily="18" charset="0"/>
                  </a:rPr>
                  <a:t>$3\mid6,9,12$</a:t>
                </a:r>
                <a:r>
                  <a:rPr sz="2400" b="0">
                    <a:solidFill>
                      <a:srgbClr val="111827"/>
                    </a:solidFill>
                    <a:latin typeface="Arial"/>
                  </a:rPr>
                  <a:t> and </a:t>
                </a:r>
                <a:r>
                  <a:rPr lang="en-IN" sz="2400">
                    <a:solidFill>
                      <a:srgbClr val="111827"/>
                    </a:solidFill>
                    <a:latin typeface="Cambria Math" panose="02040503050406030204" pitchFamily="18" charset="0"/>
                  </a:rPr>
                  <a:t>$6\mid12$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check transitivity systematically, list the chains </a:t>
                </a:r>
                <a:r>
                  <a:rPr lang="en-IN" sz="2400">
                    <a:solidFill>
                      <a:srgbClr val="111827"/>
                    </a:solidFill>
                    <a:latin typeface="Cambria Math" panose="02040503050406030204" pitchFamily="18" charset="0"/>
                  </a:rPr>
                  <a:t>$(a,b),(b,c)$</a:t>
                </a:r>
                <a:r>
                  <a:rPr sz="2400" b="0">
                    <a:solidFill>
                      <a:srgbClr val="111827"/>
                    </a:solidFill>
                    <a:latin typeface="Arial"/>
                  </a:rPr>
                  <a:t>; chains through a diagonal pair </a:t>
                </a:r>
                <a:r>
                  <a:rPr lang="en-IN" sz="2400">
                    <a:solidFill>
                      <a:srgbClr val="111827"/>
                    </a:solidFill>
                    <a:latin typeface="Cambria Math" panose="02040503050406030204" pitchFamily="18" charset="0"/>
                  </a:rPr>
                  <a:t>$(a,a)$</a:t>
                </a:r>
                <a:r>
                  <a:rPr sz="2400" b="0">
                    <a:solidFill>
                      <a:srgbClr val="111827"/>
                    </a:solidFill>
                    <a:latin typeface="Arial"/>
                  </a:rPr>
                  <a:t> are automatically fine.</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denote the words in the English dictionary. Define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words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have at least one letter in common</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[AIEEE-2006]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and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not reflexive, symmetric and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$W$</a:t>
                </a:r>
                <a:r>
                  <a:rPr sz="2400" b="0">
                    <a:solidFill>
                      <a:srgbClr val="111827"/>
                    </a:solidFill>
                    <a:latin typeface="Arial"/>
                  </a:rPr>
                  <a:t> denote the words in the English dictionary. Define the relation </a:t>
                </a:r>
                <a:r>
                  <a:rPr lang="en-IN" sz="2400">
                    <a:solidFill>
                      <a:srgbClr val="111827"/>
                    </a:solidFill>
                    <a:latin typeface="Cambria Math" panose="02040503050406030204" pitchFamily="18" charset="0"/>
                  </a:rPr>
                  <a:t>$R$</a:t>
                </a:r>
                <a:r>
                  <a:rPr sz="2400" b="0">
                    <a:solidFill>
                      <a:srgbClr val="111827"/>
                    </a:solidFill>
                    <a:latin typeface="Arial"/>
                  </a:rPr>
                  <a:t> by </a:t>
                </a:r>
                <a:r>
                  <a:rPr lang="en-IN" sz="2400">
                    <a:solidFill>
                      <a:srgbClr val="111827"/>
                    </a:solidFill>
                    <a:latin typeface="Cambria Math" panose="02040503050406030204" pitchFamily="18" charset="0"/>
                  </a:rPr>
                  <a:t>$R=\{(x,y)\in W\times W\mid$</a:t>
                </a:r>
                <a:r>
                  <a:rPr sz="2400" b="0">
                    <a:solidFill>
                      <a:srgbClr val="111827"/>
                    </a:solidFill>
                    <a:latin typeface="Arial"/>
                  </a:rPr>
                  <a:t> the words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have at least one letter in common</a:t>
                </a:r>
                <a:r>
                  <a:rPr lang="en-IN" sz="2400">
                    <a:solidFill>
                      <a:srgbClr val="111827"/>
                    </a:solidFill>
                    <a:latin typeface="Cambria Math" panose="02040503050406030204" pitchFamily="18" charset="0"/>
                  </a:rPr>
                  <a:t>$\}$</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 [AIEEE-2006]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and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not reflexive, symmetric and transitive</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'Share a letter' is not transitive: find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sharing a letter,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sharing another,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none.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'Share a letter' is not transitive: find </a:t>
                </a:r>
                <a:r>
                  <a:rPr lang="en-IN" sz="2400">
                    <a:solidFill>
                      <a:srgbClr val="78350F"/>
                    </a:solidFill>
                    <a:latin typeface="Cambria Math" panose="02040503050406030204" pitchFamily="18" charset="0"/>
                  </a:rPr>
                  <a:t>$x,y,z$</a:t>
                </a:r>
                <a:r>
                  <a:rPr sz="2400" b="0">
                    <a:solidFill>
                      <a:srgbClr val="78350F"/>
                    </a:solidFill>
                    <a:latin typeface="Arial"/>
                  </a:rPr>
                  <a:t> with </a:t>
                </a:r>
                <a:r>
                  <a:rPr lang="en-IN" sz="2400">
                    <a:solidFill>
                      <a:srgbClr val="78350F"/>
                    </a:solidFill>
                    <a:latin typeface="Cambria Math" panose="02040503050406030204" pitchFamily="18" charset="0"/>
                  </a:rPr>
                  <a:t>$x,y$</a:t>
                </a:r>
                <a:r>
                  <a:rPr sz="2400" b="0">
                    <a:solidFill>
                      <a:srgbClr val="78350F"/>
                    </a:solidFill>
                    <a:latin typeface="Arial"/>
                  </a:rPr>
                  <a:t> sharing a letter, </a:t>
                </a:r>
                <a:r>
                  <a:rPr lang="en-IN" sz="2400">
                    <a:solidFill>
                      <a:srgbClr val="78350F"/>
                    </a:solidFill>
                    <a:latin typeface="Cambria Math" panose="02040503050406030204" pitchFamily="18" charset="0"/>
                  </a:rPr>
                  <a:t>$y,z$</a:t>
                </a:r>
                <a:r>
                  <a:rPr sz="2400" b="0">
                    <a:solidFill>
                      <a:srgbClr val="78350F"/>
                    </a:solidFill>
                    <a:latin typeface="Arial"/>
                  </a:rPr>
                  <a:t> sharing another, </a:t>
                </a:r>
                <a:r>
                  <a:rPr lang="en-IN" sz="2400">
                    <a:solidFill>
                      <a:srgbClr val="78350F"/>
                    </a:solidFill>
                    <a:latin typeface="Cambria Math" panose="02040503050406030204" pitchFamily="18" charset="0"/>
                  </a:rPr>
                  <a:t>$x,z$</a:t>
                </a:r>
                <a:r>
                  <a:rPr sz="2400" b="0">
                    <a:solidFill>
                      <a:srgbClr val="78350F"/>
                    </a:solidFill>
                    <a:latin typeface="Arial"/>
                  </a:rPr>
                  <a:t> none.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every word shares all its letters with itself,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have a letter in common then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have that letter in common.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No.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BAD,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KITE.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every word shares all its letters with itself, so </a:t>
                </a:r>
                <a:r>
                  <a:rPr lang="en-IN" sz="2400">
                    <a:solidFill>
                      <a:srgbClr val="111827"/>
                    </a:solidFill>
                    <a:latin typeface="Cambria Math" panose="02040503050406030204" pitchFamily="18" charset="0"/>
                  </a:rPr>
                  <a:t>$(x,x)\in R$</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have a letter in common then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$x$</a:t>
                </a:r>
                <a:r>
                  <a:rPr sz="2400" b="0">
                    <a:solidFill>
                      <a:srgbClr val="111827"/>
                    </a:solidFill>
                    <a:latin typeface="Arial"/>
                  </a:rPr>
                  <a:t> have that letter in common.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No. Take </a:t>
                </a:r>
                <a:r>
                  <a:rPr lang="en-IN" sz="2400">
                    <a:solidFill>
                      <a:srgbClr val="111827"/>
                    </a:solidFill>
                    <a:latin typeface="Cambria Math" panose="02040503050406030204" pitchFamily="18" charset="0"/>
                  </a:rPr>
                  <a:t>$x=$</a:t>
                </a:r>
                <a:r>
                  <a:rPr sz="2400" b="0">
                    <a:solidFill>
                      <a:srgbClr val="111827"/>
                    </a:solidFill>
                    <a:latin typeface="Arial"/>
                  </a:rPr>
                  <a:t> BAD, </a:t>
                </a:r>
                <a:r>
                  <a:rPr lang="en-IN" sz="2400">
                    <a:solidFill>
                      <a:srgbClr val="111827"/>
                    </a:solidFill>
                    <a:latin typeface="Cambria Math" panose="02040503050406030204" pitchFamily="18" charset="0"/>
                  </a:rPr>
                  <a:t>$y=$</a:t>
                </a:r>
                <a:r>
                  <a:rPr sz="2400" b="0">
                    <a:solidFill>
                      <a:srgbClr val="111827"/>
                    </a:solidFill>
                    <a:latin typeface="Arial"/>
                  </a:rPr>
                  <a:t> CAT, </a:t>
                </a:r>
                <a:r>
                  <a:rPr lang="en-IN" sz="2400">
                    <a:solidFill>
                      <a:srgbClr val="111827"/>
                    </a:solidFill>
                    <a:latin typeface="Cambria Math" panose="02040503050406030204" pitchFamily="18" charset="0"/>
                  </a:rPr>
                  <a:t>$z=$</a:t>
                </a:r>
                <a:r>
                  <a:rPr sz="2400" b="0">
                    <a:solidFill>
                      <a:srgbClr val="111827"/>
                    </a:solidFill>
                    <a:latin typeface="Arial"/>
                  </a:rPr>
                  <a:t> KITE.</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BAD and CAT share the letter A,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CAT and KITE share the letter 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BAD and KITE have no letter in common,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symmetric but not transitive.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BAD and CAT share the letter A, so </a:t>
                </a:r>
                <a:r>
                  <a:rPr lang="en-IN" sz="2400">
                    <a:solidFill>
                      <a:srgbClr val="111827"/>
                    </a:solidFill>
                    <a:latin typeface="Cambria Math" panose="02040503050406030204" pitchFamily="18" charset="0"/>
                  </a:rPr>
                  <a:t>$(x,y)\in R$</a:t>
                </a:r>
                <a:r>
                  <a:rPr sz="2400" b="0">
                    <a:solidFill>
                      <a:srgbClr val="111827"/>
                    </a:solidFill>
                    <a:latin typeface="Arial"/>
                  </a:rPr>
                  <a:t>; CAT and KITE share the letter T, so </a:t>
                </a:r>
                <a:r>
                  <a:rPr lang="en-IN" sz="2400">
                    <a:solidFill>
                      <a:srgbClr val="111827"/>
                    </a:solidFill>
                    <a:latin typeface="Cambria Math" panose="02040503050406030204" pitchFamily="18" charset="0"/>
                  </a:rPr>
                  <a:t>$(y,z)\in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BAD and KITE have no letter in common, so </a:t>
                </a:r>
                <a:r>
                  <a:rPr lang="en-IN" sz="2400">
                    <a:solidFill>
                      <a:srgbClr val="111827"/>
                    </a:solidFill>
                    <a:latin typeface="Cambria Math" panose="02040503050406030204" pitchFamily="18" charset="0"/>
                  </a:rPr>
                  <a:t>$(x,z)\notin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reflexive and symmetric but not transitive.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symmetric and not transitive</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of the type 'share a common element' (sets intersect, words share a letter, numbers share a prime factor) are reflexive (for non-empty objects) and symmetric but in general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transitivity counterexample choose a middle object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carrying two different 'witnesses', one shared with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one with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Contrast: 'have the same first letter' or 'same length' is an equivalence relation, because it is equality of a function value.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of the type 'share a common element' (sets intersect, words share a letter, numbers share a prime factor) are reflexive (for non-empty objects) and symmetric but in general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transitivity counterexample choose a middle object </a:t>
                </a:r>
                <a:r>
                  <a:rPr lang="en-IN" sz="2400">
                    <a:solidFill>
                      <a:srgbClr val="111827"/>
                    </a:solidFill>
                    <a:latin typeface="Cambria Math" panose="02040503050406030204" pitchFamily="18" charset="0"/>
                  </a:rPr>
                  <a:t>$y$</a:t>
                </a:r>
                <a:r>
                  <a:rPr sz="2400" b="0">
                    <a:solidFill>
                      <a:srgbClr val="111827"/>
                    </a:solidFill>
                    <a:latin typeface="Arial"/>
                  </a:rPr>
                  <a:t> carrying two different 'witnesses', one shared with </a:t>
                </a:r>
                <a:r>
                  <a:rPr lang="en-IN" sz="2400">
                    <a:solidFill>
                      <a:srgbClr val="111827"/>
                    </a:solidFill>
                    <a:latin typeface="Cambria Math" panose="02040503050406030204" pitchFamily="18" charset="0"/>
                  </a:rPr>
                  <a:t>$x$</a:t>
                </a:r>
                <a:r>
                  <a:rPr sz="2400" b="0">
                    <a:solidFill>
                      <a:srgbClr val="111827"/>
                    </a:solidFill>
                    <a:latin typeface="Arial"/>
                  </a:rPr>
                  <a:t> and one with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Contrast: 'have the same first letter' or 'same length' is an equivalence relation, because it is equality of a function value.</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the real line. Consider the following subsets of the plane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an integer</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one of the following is true? [AIEEE-2008]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are equivalence relations on </a:t>
                </a:r>
                <a14:m>
                  <m:oMath xmlns:m="http://schemas.openxmlformats.org/officeDocument/2006/math">
                    <m:r>
                      <a:rPr lang="en-IN" sz="2400" i="1">
                        <a:solidFill>
                          <a:srgbClr val="111827"/>
                        </a:solidFill>
                        <a:latin typeface="Cambria Math" panose="02040503050406030204" pitchFamily="18" charset="0"/>
                      </a:rPr>
                      <m:t>𝑅</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the real line. Consider the following subsets of the plane </a:t>
                </a:r>
                <a:r>
                  <a:rPr lang="en-IN" sz="2400">
                    <a:solidFill>
                      <a:srgbClr val="111827"/>
                    </a:solidFill>
                    <a:latin typeface="Cambria Math" panose="02040503050406030204" pitchFamily="18" charset="0"/>
                  </a:rPr>
                  <a:t>$R\times R$</a:t>
                </a:r>
                <a:r>
                  <a:rPr sz="2400" b="0">
                    <a:solidFill>
                      <a:srgbClr val="111827"/>
                    </a:solidFill>
                    <a:latin typeface="Arial"/>
                  </a:rPr>
                  <a:t>: </a:t>
                </a:r>
                <a:r>
                  <a:rPr lang="en-IN" sz="2400">
                    <a:solidFill>
                      <a:srgbClr val="111827"/>
                    </a:solidFill>
                    <a:latin typeface="Cambria Math" panose="02040503050406030204" pitchFamily="18" charset="0"/>
                  </a:rPr>
                  <a:t>$S=\{(x,y): y=x+1$</a:t>
                </a:r>
                <a:r>
                  <a:rPr sz="2400" b="0">
                    <a:solidFill>
                      <a:srgbClr val="111827"/>
                    </a:solidFill>
                    <a:latin typeface="Arial"/>
                  </a:rPr>
                  <a:t> and </a:t>
                </a:r>
                <a:r>
                  <a:rPr lang="en-IN" sz="2400">
                    <a:solidFill>
                      <a:srgbClr val="111827"/>
                    </a:solidFill>
                    <a:latin typeface="Cambria Math" panose="02040503050406030204" pitchFamily="18" charset="0"/>
                  </a:rPr>
                  <a:t>$0&lt;x&lt;2\}$</a:t>
                </a:r>
                <a:r>
                  <a:rPr sz="2400" b="0">
                    <a:solidFill>
                      <a:srgbClr val="111827"/>
                    </a:solidFill>
                    <a:latin typeface="Arial"/>
                  </a:rPr>
                  <a:t>, </a:t>
                </a:r>
                <a:r>
                  <a:rPr lang="en-IN" sz="2400">
                    <a:solidFill>
                      <a:srgbClr val="111827"/>
                    </a:solidFill>
                    <a:latin typeface="Cambria Math" panose="02040503050406030204" pitchFamily="18" charset="0"/>
                  </a:rPr>
                  <a:t>$T=\{(x,y): x-y$</a:t>
                </a:r>
                <a:r>
                  <a:rPr sz="2400" b="0">
                    <a:solidFill>
                      <a:srgbClr val="111827"/>
                    </a:solidFill>
                    <a:latin typeface="Arial"/>
                  </a:rPr>
                  <a:t> is an integer</a:t>
                </a:r>
                <a:r>
                  <a:rPr lang="en-IN" sz="2400">
                    <a:solidFill>
                      <a:srgbClr val="111827"/>
                    </a:solidFill>
                    <a:latin typeface="Cambria Math" panose="02040503050406030204" pitchFamily="18" charset="0"/>
                  </a:rPr>
                  <a:t>$\}$</a:t>
                </a:r>
                <a:r>
                  <a:rPr sz="2400" b="0">
                    <a:solidFill>
                      <a:srgbClr val="111827"/>
                    </a:solidFill>
                    <a:latin typeface="Arial"/>
                  </a:rPr>
                  <a:t>. Which one of the following is true? [AIEEE-2008]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r>
                  <a:rPr lang="en-IN" sz="2400">
                    <a:solidFill>
                      <a:srgbClr val="111827"/>
                    </a:solidFill>
                    <a:latin typeface="Cambria Math" panose="02040503050406030204" pitchFamily="18" charset="0"/>
                  </a:rPr>
                  <a:t>$S$</a:t>
                </a:r>
                <a:r>
                  <a:rPr sz="2400" b="0">
                    <a:solidFill>
                      <a:srgbClr val="111827"/>
                    </a:solidFill>
                    <a:latin typeface="Arial"/>
                  </a:rPr>
                  <a:t> and </a:t>
                </a:r>
                <a:r>
                  <a:rPr lang="en-IN" sz="2400">
                    <a:solidFill>
                      <a:srgbClr val="111827"/>
                    </a:solidFill>
                    <a:latin typeface="Cambria Math" panose="02040503050406030204" pitchFamily="18" charset="0"/>
                  </a:rPr>
                  <a:t>$T$</a:t>
                </a:r>
                <a:r>
                  <a:rPr sz="2400" b="0">
                    <a:solidFill>
                      <a:srgbClr val="111827"/>
                    </a:solidFill>
                    <a:latin typeface="Arial"/>
                  </a:rPr>
                  <a:t> are equivalence relations on </a:t>
                </a:r>
                <a:r>
                  <a:rPr lang="en-IN" sz="2400">
                    <a:solidFill>
                      <a:srgbClr val="111827"/>
                    </a:solidFill>
                    <a:latin typeface="Cambria Math" panose="02040503050406030204" pitchFamily="18" charset="0"/>
                  </a:rPr>
                  <a:t>$R$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r>
                  <a:rPr sz="2400" b="0">
                    <a:solidFill>
                      <a:srgbClr val="111827"/>
                    </a:solidFill>
                    <a:latin typeface="Arial"/>
                  </a:rPr>
                  <a:t> but </a:t>
                </a:r>
                <a:r>
                  <a:rPr lang="en-IN" sz="2400">
                    <a:solidFill>
                      <a:srgbClr val="111827"/>
                    </a:solidFill>
                    <a:latin typeface="Cambria Math" panose="02040503050406030204" pitchFamily="18" charset="0"/>
                  </a:rPr>
                  <a:t>$T$</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r>
                  <a:rPr sz="2400" b="0">
                    <a:solidFill>
                      <a:srgbClr val="111827"/>
                    </a:solidFill>
                    <a:latin typeface="Arial"/>
                  </a:rPr>
                  <a:t> but </a:t>
                </a:r>
                <a:r>
                  <a:rPr lang="en-IN" sz="2400">
                    <a:solidFill>
                      <a:srgbClr val="111827"/>
                    </a:solidFill>
                    <a:latin typeface="Cambria Math" panose="02040503050406030204" pitchFamily="18" charset="0"/>
                  </a:rPr>
                  <a:t>$S$</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r>
                  <a:rPr lang="en-IN" sz="2400">
                    <a:solidFill>
                      <a:srgbClr val="111827"/>
                    </a:solidFill>
                    <a:latin typeface="Cambria Math" panose="02040503050406030204" pitchFamily="18" charset="0"/>
                  </a:rPr>
                  <a:t>$S$</a:t>
                </a:r>
                <a:r>
                  <a:rPr sz="2400" b="0">
                    <a:solidFill>
                      <a:srgbClr val="111827"/>
                    </a:solidFill>
                    <a:latin typeface="Arial"/>
                  </a:rPr>
                  <a:t> nor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already fails reflexivity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is impossible);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passes all three tests by integer arithmetic.</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a:t>
                </a:r>
                <a:r>
                  <a:rPr sz="2400" b="0">
                    <a:solidFill>
                      <a:srgbClr val="78350F"/>
                    </a:solidFill>
                    <a:latin typeface="Arial"/>
                  </a:rPr>
                  <a:t> already fails reflexivity (</a:t>
                </a:r>
                <a:r>
                  <a:rPr lang="en-IN" sz="2400">
                    <a:solidFill>
                      <a:srgbClr val="78350F"/>
                    </a:solidFill>
                    <a:latin typeface="Cambria Math" panose="02040503050406030204" pitchFamily="18" charset="0"/>
                  </a:rPr>
                  <a:t>$x=x+1$</a:t>
                </a:r>
                <a:r>
                  <a:rPr sz="2400" b="0">
                    <a:solidFill>
                      <a:srgbClr val="78350F"/>
                    </a:solidFill>
                    <a:latin typeface="Arial"/>
                  </a:rPr>
                  <a:t> is impossible); </a:t>
                </a:r>
                <a:r>
                  <a:rPr lang="en-IN" sz="2400">
                    <a:solidFill>
                      <a:srgbClr val="78350F"/>
                    </a:solidFill>
                    <a:latin typeface="Cambria Math" panose="02040503050406030204" pitchFamily="18" charset="0"/>
                  </a:rPr>
                  <a:t>$T$</a:t>
                </a:r>
                <a:r>
                  <a:rPr sz="2400" b="0">
                    <a:solidFill>
                      <a:srgbClr val="78350F"/>
                    </a:solidFill>
                    <a:latin typeface="Arial"/>
                  </a:rPr>
                  <a:t> passes all three tests by integer arithmetic.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Reflexive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which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reflexive and hence not an equivalence relation; there is no need to check symmetry or transitivity.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always an integer. Yes.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$S=\{(x,y): y=x+1,\ 0&lt;x&lt;2\}$</a:t>
                </a:r>
                <a:r>
                  <a:rPr sz="2400" b="0">
                    <a:solidFill>
                      <a:srgbClr val="111827"/>
                    </a:solidFill>
                    <a:latin typeface="Arial"/>
                  </a:rPr>
                  <a:t>. Reflexive needs </a:t>
                </a:r>
                <a:r>
                  <a:rPr lang="en-IN" sz="2400">
                    <a:solidFill>
                      <a:srgbClr val="111827"/>
                    </a:solidFill>
                    <a:latin typeface="Cambria Math" panose="02040503050406030204" pitchFamily="18" charset="0"/>
                  </a:rPr>
                  <a:t>$(x,x)\in S$</a:t>
                </a:r>
                <a:r>
                  <a:rPr sz="2400" b="0">
                    <a:solidFill>
                      <a:srgbClr val="111827"/>
                    </a:solidFill>
                    <a:latin typeface="Arial"/>
                  </a:rPr>
                  <a:t> for every real </a:t>
                </a:r>
                <a:r>
                  <a:rPr lang="en-IN" sz="2400">
                    <a:solidFill>
                      <a:srgbClr val="111827"/>
                    </a:solidFill>
                    <a:latin typeface="Cambria Math" panose="02040503050406030204" pitchFamily="18" charset="0"/>
                  </a:rPr>
                  <a:t>$x$</a:t>
                </a:r>
                <a:r>
                  <a:rPr sz="2400" b="0">
                    <a:solidFill>
                      <a:srgbClr val="111827"/>
                    </a:solidFill>
                    <a:latin typeface="Arial"/>
                  </a:rPr>
                  <a:t>, i.e. </a:t>
                </a:r>
                <a:r>
                  <a:rPr lang="en-IN" sz="2400">
                    <a:solidFill>
                      <a:srgbClr val="111827"/>
                    </a:solidFill>
                    <a:latin typeface="Cambria Math" panose="02040503050406030204" pitchFamily="18" charset="0"/>
                  </a:rPr>
                  <a:t>$x=x+1$</a:t>
                </a:r>
                <a:r>
                  <a:rPr sz="2400" b="0">
                    <a:solidFill>
                      <a:srgbClr val="111827"/>
                    </a:solidFill>
                    <a:latin typeface="Arial"/>
                  </a:rPr>
                  <a:t>, which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a:t>
                </a:r>
                <a:r>
                  <a:rPr sz="2400" b="0">
                    <a:solidFill>
                      <a:srgbClr val="111827"/>
                    </a:solidFill>
                    <a:latin typeface="Arial"/>
                  </a:rPr>
                  <a:t> is not reflexive and hence not an equivalence relation; there is no need to check symmetry or transitivity.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$T=\{(x,y): x-y\in\mathbb Z\}$</a:t>
                </a:r>
                <a:r>
                  <a:rPr sz="2400" b="0">
                    <a:solidFill>
                      <a:srgbClr val="111827"/>
                    </a:solidFill>
                    <a:latin typeface="Arial"/>
                  </a:rPr>
                  <a:t>. Reflexive: </a:t>
                </a:r>
                <a:r>
                  <a:rPr lang="en-IN" sz="2400">
                    <a:solidFill>
                      <a:srgbClr val="111827"/>
                    </a:solidFill>
                    <a:latin typeface="Cambria Math" panose="02040503050406030204" pitchFamily="18" charset="0"/>
                  </a:rPr>
                  <a:t>$x-x=0$</a:t>
                </a:r>
                <a:r>
                  <a:rPr sz="2400" b="0">
                    <a:solidFill>
                      <a:srgbClr val="111827"/>
                    </a:solidFill>
                    <a:latin typeface="Arial"/>
                  </a:rPr>
                  <a:t> is always an integer. Yes.</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an integer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an integer.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(ii). Adding (i) and (ii):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$x-y$</a:t>
                </a:r>
                <a:r>
                  <a:rPr sz="2400" b="0">
                    <a:solidFill>
                      <a:srgbClr val="111827"/>
                    </a:solidFill>
                    <a:latin typeface="Arial"/>
                  </a:rPr>
                  <a:t> is an integer then </a:t>
                </a:r>
                <a:r>
                  <a:rPr lang="en-IN" sz="2400">
                    <a:solidFill>
                      <a:srgbClr val="111827"/>
                    </a:solidFill>
                    <a:latin typeface="Cambria Math" panose="02040503050406030204" pitchFamily="18" charset="0"/>
                  </a:rPr>
                  <a:t>$y-x=-(x-y)$</a:t>
                </a:r>
                <a:r>
                  <a:rPr sz="2400" b="0">
                    <a:solidFill>
                      <a:srgbClr val="111827"/>
                    </a:solidFill>
                    <a:latin typeface="Arial"/>
                  </a:rPr>
                  <a:t> is also an integer.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$x-y=m\in\mathbb Z$</a:t>
                </a:r>
                <a:r>
                  <a:rPr sz="2400" b="0">
                    <a:solidFill>
                      <a:srgbClr val="111827"/>
                    </a:solidFill>
                    <a:latin typeface="Arial"/>
                  </a:rPr>
                  <a:t> (i) and </a:t>
                </a:r>
                <a:r>
                  <a:rPr lang="en-IN" sz="2400">
                    <a:solidFill>
                      <a:srgbClr val="111827"/>
                    </a:solidFill>
                    <a:latin typeface="Cambria Math" panose="02040503050406030204" pitchFamily="18" charset="0"/>
                  </a:rPr>
                  <a:t>$y-z=n\in\mathbb Z$</a:t>
                </a:r>
                <a:r>
                  <a:rPr sz="2400" b="0">
                    <a:solidFill>
                      <a:srgbClr val="111827"/>
                    </a:solidFill>
                    <a:latin typeface="Arial"/>
                  </a:rPr>
                  <a:t> (ii). Adding (i) and (ii): </a:t>
                </a:r>
                <a:r>
                  <a:rPr lang="en-IN" sz="2400">
                    <a:solidFill>
                      <a:srgbClr val="111827"/>
                    </a:solidFill>
                    <a:latin typeface="Cambria Math" panose="02040503050406030204" pitchFamily="18" charset="0"/>
                  </a:rPr>
                  <a:t>$x-z=m+n\in\mathbb Z$</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is not.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an equivalence relation on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$T$</a:t>
                </a:r>
                <a:r>
                  <a:rPr sz="2800" b="1">
                    <a:solidFill>
                      <a:srgbClr val="15803D"/>
                    </a:solidFill>
                    <a:latin typeface="Arial"/>
                  </a:rPr>
                  <a:t> is an equivalence relation on </a:t>
                </a:r>
                <a:r>
                  <a:rPr lang="en-IN" sz="2800">
                    <a:solidFill>
                      <a:srgbClr val="15803D"/>
                    </a:solidFill>
                    <a:latin typeface="Cambria Math" panose="02040503050406030204" pitchFamily="18" charset="0"/>
                  </a:rPr>
                  <a:t>$R$</a:t>
                </a:r>
                <a:r>
                  <a:rPr sz="2800" b="1">
                    <a:solidFill>
                      <a:srgbClr val="15803D"/>
                    </a:solidFill>
                    <a:latin typeface="Arial"/>
                  </a:rPr>
                  <a:t>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cr m:val="double-struck"/>
                        <m:sty m:val="p"/>
                      </m:rPr>
                      <a:rPr lang="en-IN" sz="2400">
                        <a:solidFill>
                          <a:srgbClr val="78350F"/>
                        </a:solidFill>
                        <a:latin typeface="Cambria Math" panose="02040503050406030204" pitchFamily="18" charset="0"/>
                      </a:rPr>
                      <m:t>Z</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have the same fractional part, so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is 'equal value of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$x-y\in\mathbb Z$</a:t>
                </a:r>
                <a:r>
                  <a:rPr sz="2400" b="0">
                    <a:solidFill>
                      <a:srgbClr val="78350F"/>
                    </a:solidFill>
                    <a:latin typeface="Arial"/>
                  </a:rPr>
                  <a:t> exactly when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have the same fractional part, so </a:t>
                </a:r>
                <a:r>
                  <a:rPr lang="en-IN" sz="2400">
                    <a:solidFill>
                      <a:srgbClr val="78350F"/>
                    </a:solidFill>
                    <a:latin typeface="Cambria Math" panose="02040503050406030204" pitchFamily="18" charset="0"/>
                  </a:rPr>
                  <a:t>$T$</a:t>
                </a:r>
                <a:r>
                  <a:rPr sz="2400" b="0">
                    <a:solidFill>
                      <a:srgbClr val="78350F"/>
                    </a:solidFill>
                    <a:latin typeface="Arial"/>
                  </a:rPr>
                  <a:t> is 'equal value of </a:t>
                </a:r>
                <a:r>
                  <a:rPr lang="en-IN" sz="2400">
                    <a:solidFill>
                      <a:srgbClr val="78350F"/>
                    </a:solidFill>
                    <a:latin typeface="Cambria Math" panose="02040503050406030204" pitchFamily="18" charset="0"/>
                  </a:rPr>
                  <a:t>$f(x)=\{x\}$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Equality is reflexive, symmetric and transitive, so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$x=\lfloor x\rfloor+\{x\}$</a:t>
                </a:r>
                <a:r>
                  <a:rPr sz="2400" b="0">
                    <a:solidFill>
                      <a:srgbClr val="111827"/>
                    </a:solidFill>
                    <a:latin typeface="Arial"/>
                  </a:rPr>
                  <a:t>. Then </a:t>
                </a:r>
                <a:r>
                  <a:rPr lang="en-IN" sz="2400">
                    <a:solidFill>
                      <a:srgbClr val="111827"/>
                    </a:solidFill>
                    <a:latin typeface="Cambria Math" panose="02040503050406030204" pitchFamily="18" charset="0"/>
                  </a:rPr>
                  <a:t>$x-y=(\lfloor x\rfloor-\lfloor y\rfloor)+(\{x\}-\{y\})$</a:t>
                </a:r>
                <a:r>
                  <a:rPr sz="2400" b="0">
                    <a:solidFill>
                      <a:srgbClr val="111827"/>
                    </a:solidFill>
                    <a:latin typeface="Arial"/>
                  </a:rPr>
                  <a:t>, and </a:t>
                </a:r>
                <a:r>
                  <a:rPr lang="en-IN" sz="2400">
                    <a:solidFill>
                      <a:srgbClr val="111827"/>
                    </a:solidFill>
                    <a:latin typeface="Cambria Math" panose="02040503050406030204" pitchFamily="18" charset="0"/>
                  </a:rPr>
                  <a:t>$\{x\}-\{y\}\in(-1,1)$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$x-y\in\mathbb Z$</a:t>
                </a:r>
                <a:r>
                  <a:rPr sz="2400" b="0">
                    <a:solidFill>
                      <a:srgbClr val="111827"/>
                    </a:solidFill>
                    <a:latin typeface="Arial"/>
                  </a:rPr>
                  <a:t> iff </a:t>
                </a:r>
                <a:r>
                  <a:rPr lang="en-IN" sz="2400">
                    <a:solidFill>
                      <a:srgbClr val="111827"/>
                    </a:solidFill>
                    <a:latin typeface="Cambria Math" panose="02040503050406030204" pitchFamily="18" charset="0"/>
                  </a:rPr>
                  <a:t>$\{x\}-\{y\}\in\mathbb Z\cap(-1,1)=\{0\}$</a:t>
                </a:r>
                <a:r>
                  <a:rPr sz="2400" b="0">
                    <a:solidFill>
                      <a:srgbClr val="111827"/>
                    </a:solidFill>
                    <a:latin typeface="Arial"/>
                  </a:rPr>
                  <a:t>, i.e. iff </a:t>
                </a:r>
                <a:r>
                  <a:rPr lang="en-IN" sz="2400">
                    <a:solidFill>
                      <a:srgbClr val="111827"/>
                    </a:solidFill>
                    <a:latin typeface="Cambria Math" panose="02040503050406030204" pitchFamily="18" charset="0"/>
                  </a:rPr>
                  <a:t>$\{x\}=\{y\}$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$T=\{(x,y):f(x)=f(y)\}$</a:t>
                </a:r>
                <a:r>
                  <a:rPr sz="2400" b="0">
                    <a:solidFill>
                      <a:srgbClr val="111827"/>
                    </a:solidFill>
                    <a:latin typeface="Arial"/>
                  </a:rPr>
                  <a:t> with </a:t>
                </a:r>
                <a:r>
                  <a:rPr lang="en-IN" sz="2400">
                    <a:solidFill>
                      <a:srgbClr val="111827"/>
                    </a:solidFill>
                    <a:latin typeface="Cambria Math" panose="02040503050406030204" pitchFamily="18" charset="0"/>
                  </a:rPr>
                  <a:t>$f(x)=\{x\}$</a:t>
                </a:r>
                <a:r>
                  <a:rPr sz="2400" b="0">
                    <a:solidFill>
                      <a:srgbClr val="111827"/>
                    </a:solidFill>
                    <a:latin typeface="Arial"/>
                  </a:rPr>
                  <a:t>. Equality is reflexive, symmetric and transitive, so </a:t>
                </a:r>
                <a:r>
                  <a:rPr lang="en-IN" sz="2400">
                    <a:solidFill>
                      <a:srgbClr val="111827"/>
                    </a:solidFill>
                    <a:latin typeface="Cambria Math" panose="02040503050406030204" pitchFamily="18" charset="0"/>
                  </a:rPr>
                  <a:t>$T$</a:t>
                </a:r>
                <a:r>
                  <a:rPr sz="2400" b="0">
                    <a:solidFill>
                      <a:srgbClr val="111827"/>
                    </a:solidFill>
                    <a:latin typeface="Arial"/>
                  </a:rPr>
                  <a:t> is an equivalence relation.</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classes are the sets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(one class for each fractional part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fails at once: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Hence only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classes are the sets </a:t>
                </a:r>
                <a:r>
                  <a:rPr lang="en-IN" sz="2400">
                    <a:solidFill>
                      <a:srgbClr val="111827"/>
                    </a:solidFill>
                    <a:latin typeface="Cambria Math" panose="02040503050406030204" pitchFamily="18" charset="0"/>
                  </a:rPr>
                  <a:t>$x+\mathbb Z$</a:t>
                </a:r>
                <a:r>
                  <a:rPr sz="2400" b="0">
                    <a:solidFill>
                      <a:srgbClr val="111827"/>
                    </a:solidFill>
                    <a:latin typeface="Arial"/>
                  </a:rPr>
                  <a:t> (one class for each fractional part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fails at once: </a:t>
                </a:r>
                <a:r>
                  <a:rPr lang="en-IN" sz="2400">
                    <a:solidFill>
                      <a:srgbClr val="111827"/>
                    </a:solidFill>
                    <a:latin typeface="Cambria Math" panose="02040503050406030204" pitchFamily="18" charset="0"/>
                  </a:rPr>
                  <a:t>$(x,x)\in S$</a:t>
                </a:r>
                <a:r>
                  <a:rPr sz="2400" b="0">
                    <a:solidFill>
                      <a:srgbClr val="111827"/>
                    </a:solidFill>
                    <a:latin typeface="Arial"/>
                  </a:rPr>
                  <a:t> would need </a:t>
                </a:r>
                <a:r>
                  <a:rPr lang="en-IN" sz="2400">
                    <a:solidFill>
                      <a:srgbClr val="111827"/>
                    </a:solidFill>
                    <a:latin typeface="Cambria Math" panose="02040503050406030204" pitchFamily="18" charset="0"/>
                  </a:rPr>
                  <a:t>$x=x+1$</a:t>
                </a:r>
                <a:r>
                  <a:rPr sz="2400" b="0">
                    <a:solidFill>
                      <a:srgbClr val="111827"/>
                    </a:solidFill>
                    <a:latin typeface="Arial"/>
                  </a:rPr>
                  <a:t>. Hence only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an equivalence relation on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$T$</a:t>
                </a:r>
                <a:r>
                  <a:rPr sz="2800" b="1">
                    <a:solidFill>
                      <a:srgbClr val="15803D"/>
                    </a:solidFill>
                    <a:latin typeface="Arial"/>
                  </a:rPr>
                  <a:t> is an equivalence relation on </a:t>
                </a:r>
                <a:r>
                  <a:rPr lang="en-IN" sz="2800">
                    <a:solidFill>
                      <a:srgbClr val="15803D"/>
                    </a:solidFill>
                    <a:latin typeface="Cambria Math" panose="02040503050406030204" pitchFamily="18" charset="0"/>
                  </a:rPr>
                  <a:t>$R$</a:t>
                </a:r>
                <a:r>
                  <a:rPr sz="2800" b="1">
                    <a:solidFill>
                      <a:srgbClr val="15803D"/>
                    </a:solidFill>
                    <a:latin typeface="Arial"/>
                  </a:rPr>
                  <a:t>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is any function,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its classes are the fibres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Many JEE examples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same remainder, same absolute value) are of this form.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has classes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in general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gives congruence mod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given by an equation like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never reflexive; an immediate check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kills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restricts the domain (here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cannot be reflexive on all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$f:X\to Y$</a:t>
                </a:r>
                <a:r>
                  <a:rPr sz="2400" b="0">
                    <a:solidFill>
                      <a:srgbClr val="111827"/>
                    </a:solidFill>
                    <a:latin typeface="Arial"/>
                  </a:rPr>
                  <a:t> is any function, </a:t>
                </a:r>
                <a:r>
                  <a:rPr lang="en-IN" sz="2400">
                    <a:solidFill>
                      <a:srgbClr val="111827"/>
                    </a:solidFill>
                    <a:latin typeface="Cambria Math" panose="02040503050406030204" pitchFamily="18" charset="0"/>
                  </a:rPr>
                  <a:t>$x\sim y\iff f(x)=f(y)$</a:t>
                </a:r>
                <a:r>
                  <a:rPr sz="2400" b="0">
                    <a:solidFill>
                      <a:srgbClr val="111827"/>
                    </a:solidFill>
                    <a:latin typeface="Arial"/>
                  </a:rPr>
                  <a:t> is an equivalence relation; its classes are the fibres of </a:t>
                </a:r>
                <a:r>
                  <a:rPr lang="en-IN" sz="2400">
                    <a:solidFill>
                      <a:srgbClr val="111827"/>
                    </a:solidFill>
                    <a:latin typeface="Cambria Math" panose="02040503050406030204" pitchFamily="18" charset="0"/>
                  </a:rPr>
                  <a:t>$f$</a:t>
                </a:r>
                <a:r>
                  <a:rPr sz="2400" b="0">
                    <a:solidFill>
                      <a:srgbClr val="111827"/>
                    </a:solidFill>
                    <a:latin typeface="Arial"/>
                  </a:rPr>
                  <a:t>. Many JEE examples (</a:t>
                </a:r>
                <a:r>
                  <a:rPr lang="en-IN" sz="2400">
                    <a:solidFill>
                      <a:srgbClr val="111827"/>
                    </a:solidFill>
                    <a:latin typeface="Cambria Math" panose="02040503050406030204" pitchFamily="18" charset="0"/>
                  </a:rPr>
                  <a:t>$x-y\in\mathbb Z$</a:t>
                </a:r>
                <a:r>
                  <a:rPr sz="2400" b="0">
                    <a:solidFill>
                      <a:srgbClr val="111827"/>
                    </a:solidFill>
                    <a:latin typeface="Arial"/>
                  </a:rPr>
                  <a:t>, same remainder, same absolute value) are of this form.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$x\equiv y \pmod 1$</a:t>
                </a:r>
                <a:r>
                  <a:rPr sz="2400" b="0">
                    <a:solidFill>
                      <a:srgbClr val="111827"/>
                    </a:solidFill>
                    <a:latin typeface="Arial"/>
                  </a:rPr>
                  <a:t> (</a:t>
                </a:r>
                <a:r>
                  <a:rPr lang="en-IN" sz="2400">
                    <a:solidFill>
                      <a:srgbClr val="111827"/>
                    </a:solidFill>
                    <a:latin typeface="Cambria Math" panose="02040503050406030204" pitchFamily="18" charset="0"/>
                  </a:rPr>
                  <a:t>$x-y\in\mathbb Z$</a:t>
                </a:r>
                <a:r>
                  <a:rPr sz="2400" b="0">
                    <a:solidFill>
                      <a:srgbClr val="111827"/>
                    </a:solidFill>
                    <a:latin typeface="Arial"/>
                  </a:rPr>
                  <a:t>) has classes </a:t>
                </a:r>
                <a:r>
                  <a:rPr lang="en-IN" sz="2400">
                    <a:solidFill>
                      <a:srgbClr val="111827"/>
                    </a:solidFill>
                    <a:latin typeface="Cambria Math" panose="02040503050406030204" pitchFamily="18" charset="0"/>
                  </a:rPr>
                  <a:t>$x+\mathbb Z$</a:t>
                </a:r>
                <a:r>
                  <a:rPr sz="2400" b="0">
                    <a:solidFill>
                      <a:srgbClr val="111827"/>
                    </a:solidFill>
                    <a:latin typeface="Arial"/>
                  </a:rPr>
                  <a:t>; in general </a:t>
                </a:r>
                <a:r>
                  <a:rPr lang="en-IN" sz="2400">
                    <a:solidFill>
                      <a:srgbClr val="111827"/>
                    </a:solidFill>
                    <a:latin typeface="Cambria Math" panose="02040503050406030204" pitchFamily="18" charset="0"/>
                  </a:rPr>
                  <a:t>$x-y\in n\mathbb Z$</a:t>
                </a:r>
                <a:r>
                  <a:rPr sz="2400" b="0">
                    <a:solidFill>
                      <a:srgbClr val="111827"/>
                    </a:solidFill>
                    <a:latin typeface="Arial"/>
                  </a:rPr>
                  <a:t> gives congruence mod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given by an equation like </a:t>
                </a:r>
                <a:r>
                  <a:rPr lang="en-IN" sz="2400">
                    <a:solidFill>
                      <a:srgbClr val="111827"/>
                    </a:solidFill>
                    <a:latin typeface="Cambria Math" panose="02040503050406030204" pitchFamily="18" charset="0"/>
                  </a:rPr>
                  <a:t>$y=x+1$</a:t>
                </a:r>
                <a:r>
                  <a:rPr sz="2400" b="0">
                    <a:solidFill>
                      <a:srgbClr val="111827"/>
                    </a:solidFill>
                    <a:latin typeface="Arial"/>
                  </a:rPr>
                  <a:t> is never reflexive; an immediate check of </a:t>
                </a:r>
                <a:r>
                  <a:rPr lang="en-IN" sz="2400">
                    <a:solidFill>
                      <a:srgbClr val="111827"/>
                    </a:solidFill>
                    <a:latin typeface="Cambria Math" panose="02040503050406030204" pitchFamily="18" charset="0"/>
                  </a:rPr>
                  <a:t>$(x,x)$</a:t>
                </a:r>
                <a:r>
                  <a:rPr sz="2400" b="0">
                    <a:solidFill>
                      <a:srgbClr val="111827"/>
                    </a:solidFill>
                    <a:latin typeface="Arial"/>
                  </a:rPr>
                  <a:t> kills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restricts the domain (here </a:t>
                </a:r>
                <a:r>
                  <a:rPr lang="en-IN" sz="2400">
                    <a:solidFill>
                      <a:srgbClr val="111827"/>
                    </a:solidFill>
                    <a:latin typeface="Cambria Math" panose="02040503050406030204" pitchFamily="18" charset="0"/>
                  </a:rPr>
                  <a:t>$0&lt;x&lt;2$</a:t>
                </a:r>
                <a:r>
                  <a:rPr sz="2400" b="0">
                    <a:solidFill>
                      <a:srgbClr val="111827"/>
                    </a:solidFill>
                    <a:latin typeface="Arial"/>
                  </a:rPr>
                  <a:t>) cannot be reflexive on all of </a:t>
                </a:r>
                <a:r>
                  <a:rPr lang="en-IN" sz="2400">
                    <a:solidFill>
                      <a:srgbClr val="111827"/>
                    </a:solidFill>
                    <a:latin typeface="Cambria Math" panose="02040503050406030204" pitchFamily="18" charset="0"/>
                  </a:rPr>
                  <a:t>$\mathbb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three sets such that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then : [AIEEE-2009]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are three sets such that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a:t>
                </a:r>
                <a:r>
                  <a:rPr sz="2400" b="0">
                    <a:solidFill>
                      <a:srgbClr val="111827"/>
                    </a:solidFill>
                    <a:latin typeface="Arial"/>
                  </a:rPr>
                  <a:t>, then : [AIEEE-2009]</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a:t>
                </a:r>
                <a:r>
                  <a:rPr sz="2400" b="0">
                    <a:solidFill>
                      <a:srgbClr val="111827"/>
                    </a:solidFill>
                    <a:latin typeface="Arial"/>
                  </a:rPr>
                  <a:t>   (B) </a:t>
                </a:r>
                <a:r>
                  <a:rPr lang="en-IN" sz="2400">
                    <a:solidFill>
                      <a:srgbClr val="111827"/>
                    </a:solidFill>
                    <a:latin typeface="Cambria Math" panose="02040503050406030204" pitchFamily="18" charset="0"/>
                  </a:rPr>
                  <a:t>$A=C$</a:t>
                </a:r>
                <a:r>
                  <a:rPr sz="2400" b="0">
                    <a:solidFill>
                      <a:srgbClr val="111827"/>
                    </a:solidFill>
                    <a:latin typeface="Arial"/>
                  </a:rPr>
                  <a:t>   (C) </a:t>
                </a:r>
                <a:r>
                  <a:rPr lang="en-IN" sz="2400">
                    <a:solidFill>
                      <a:srgbClr val="111827"/>
                    </a:solidFill>
                    <a:latin typeface="Cambria Math" panose="02040503050406030204" pitchFamily="18" charset="0"/>
                  </a:rPr>
                  <a:t>$B=C$</a:t>
                </a:r>
                <a:r>
                  <a:rPr sz="2400" b="0">
                    <a:solidFill>
                      <a:srgbClr val="111827"/>
                    </a:solidFill>
                    <a:latin typeface="Arial"/>
                  </a:rPr>
                  <a:t>   (D) </a:t>
                </a:r>
                <a:r>
                  <a:rPr lang="en-IN" sz="2400">
                    <a:solidFill>
                      <a:srgbClr val="111827"/>
                    </a:solidFill>
                    <a:latin typeface="Cambria Math" panose="02040503050406030204" pitchFamily="18" charset="0"/>
                  </a:rPr>
                  <a:t>$A\cap B=\phi$</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Algebra of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the intersection and the union with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agree, so any element of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is forced into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(and conversely).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the intersection and the union with </a:t>
                </a:r>
                <a:r>
                  <a:rPr lang="en-IN" sz="2400">
                    <a:solidFill>
                      <a:srgbClr val="78350F"/>
                    </a:solidFill>
                    <a:latin typeface="Cambria Math" panose="02040503050406030204" pitchFamily="18" charset="0"/>
                  </a:rPr>
                  <a:t>$A$</a:t>
                </a:r>
                <a:r>
                  <a:rPr sz="2400" b="0">
                    <a:solidFill>
                      <a:srgbClr val="78350F"/>
                    </a:solidFill>
                    <a:latin typeface="Arial"/>
                  </a:rPr>
                  <a:t> agree, so any element of </a:t>
                </a:r>
                <a:r>
                  <a:rPr lang="en-IN" sz="2400">
                    <a:solidFill>
                      <a:srgbClr val="78350F"/>
                    </a:solidFill>
                    <a:latin typeface="Cambria Math" panose="02040503050406030204" pitchFamily="18" charset="0"/>
                  </a:rPr>
                  <a:t>$B$</a:t>
                </a:r>
                <a:r>
                  <a:rPr sz="2400" b="0">
                    <a:solidFill>
                      <a:srgbClr val="78350F"/>
                    </a:solidFill>
                    <a:latin typeface="Arial"/>
                  </a:rPr>
                  <a:t> is forced into </a:t>
                </a:r>
                <a:r>
                  <a:rPr lang="en-IN" sz="2400">
                    <a:solidFill>
                      <a:srgbClr val="78350F"/>
                    </a:solidFill>
                    <a:latin typeface="Cambria Math" panose="02040503050406030204" pitchFamily="18" charset="0"/>
                  </a:rPr>
                  <a:t>$C$</a:t>
                </a:r>
                <a:r>
                  <a:rPr sz="2400" b="0">
                    <a:solidFill>
                      <a:srgbClr val="78350F"/>
                    </a:solidFill>
                    <a:latin typeface="Arial"/>
                  </a:rPr>
                  <a:t> (and conversely).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Claim: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 PDF only states this; proof follows).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Case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a:t>
                </a:r>
                <a:r>
                  <a:rPr sz="2400" b="0">
                    <a:solidFill>
                      <a:srgbClr val="111827"/>
                    </a:solidFill>
                    <a:latin typeface="Arial"/>
                  </a:rPr>
                  <a:t>. Claim: </a:t>
                </a:r>
                <a:r>
                  <a:rPr lang="en-IN" sz="2400">
                    <a:solidFill>
                      <a:srgbClr val="111827"/>
                    </a:solidFill>
                    <a:latin typeface="Cambria Math" panose="02040503050406030204" pitchFamily="18" charset="0"/>
                  </a:rPr>
                  <a:t>$B=C$</a:t>
                </a:r>
                <a:r>
                  <a:rPr sz="2400" b="0">
                    <a:solidFill>
                      <a:srgbClr val="111827"/>
                    </a:solidFill>
                    <a:latin typeface="Arial"/>
                  </a:rPr>
                  <a:t> (the PDF only states this; proof follows).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$x\in B$</a:t>
                </a:r>
                <a:r>
                  <a:rPr sz="2400" b="0">
                    <a:solidFill>
                      <a:srgbClr val="111827"/>
                    </a:solidFill>
                    <a:latin typeface="Arial"/>
                  </a:rPr>
                  <a:t>. Case 1: </a:t>
                </a:r>
                <a:r>
                  <a:rPr lang="en-IN" sz="2400">
                    <a:solidFill>
                      <a:srgbClr val="111827"/>
                    </a:solidFill>
                    <a:latin typeface="Cambria Math" panose="02040503050406030204" pitchFamily="18" charset="0"/>
                  </a:rPr>
                  <a:t>$x\in A$</a:t>
                </a:r>
                <a:r>
                  <a:rPr sz="2400" b="0">
                    <a:solidFill>
                      <a:srgbClr val="111827"/>
                    </a:solidFill>
                    <a:latin typeface="Arial"/>
                  </a:rPr>
                  <a:t>. Then </a:t>
                </a:r>
                <a:r>
                  <a:rPr lang="en-IN" sz="2400">
                    <a:solidFill>
                      <a:srgbClr val="111827"/>
                    </a:solidFill>
                    <a:latin typeface="Cambria Math" panose="02040503050406030204" pitchFamily="18" charset="0"/>
                  </a:rPr>
                  <a:t>$x\in A\cap B=A\cap C$</a:t>
                </a:r>
                <a:r>
                  <a:rPr sz="2400" b="0">
                    <a:solidFill>
                      <a:srgbClr val="111827"/>
                    </a:solidFill>
                    <a:latin typeface="Arial"/>
                  </a:rPr>
                  <a:t>, so </a:t>
                </a:r>
                <a:r>
                  <a:rPr lang="en-IN" sz="2400">
                    <a:solidFill>
                      <a:srgbClr val="111827"/>
                    </a:solidFill>
                    <a:latin typeface="Cambria Math" panose="02040503050406030204" pitchFamily="18" charset="0"/>
                  </a:rPr>
                  <a:t>$x\in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$x\notin A$</a:t>
                </a:r>
                <a:r>
                  <a:rPr sz="2400" b="0">
                    <a:solidFill>
                      <a:srgbClr val="111827"/>
                    </a:solidFill>
                    <a:latin typeface="Arial"/>
                  </a:rPr>
                  <a:t>. Then </a:t>
                </a:r>
                <a:r>
                  <a:rPr lang="en-IN" sz="2400">
                    <a:solidFill>
                      <a:srgbClr val="111827"/>
                    </a:solidFill>
                    <a:latin typeface="Cambria Math" panose="02040503050406030204" pitchFamily="18" charset="0"/>
                  </a:rPr>
                  <a:t>$x\in A\cup B=A\cup C$</a:t>
                </a:r>
                <a:r>
                  <a:rPr sz="2400" b="0">
                    <a:solidFill>
                      <a:srgbClr val="111827"/>
                    </a:solidFill>
                    <a:latin typeface="Arial"/>
                  </a:rPr>
                  <a:t>, and since </a:t>
                </a:r>
                <a:r>
                  <a:rPr lang="en-IN" sz="2400">
                    <a:solidFill>
                      <a:srgbClr val="111827"/>
                    </a:solidFill>
                    <a:latin typeface="Cambria Math" panose="02040503050406030204" pitchFamily="18" charset="0"/>
                  </a:rPr>
                  <a:t>$x\notin A$</a:t>
                </a:r>
                <a:r>
                  <a:rPr sz="2400" b="0">
                    <a:solidFill>
                      <a:srgbClr val="111827"/>
                    </a:solidFill>
                    <a:latin typeface="Arial"/>
                  </a:rPr>
                  <a:t> we get </a:t>
                </a:r>
                <a:r>
                  <a:rPr lang="en-IN" sz="2400">
                    <a:solidFill>
                      <a:srgbClr val="111827"/>
                    </a:solidFill>
                    <a:latin typeface="Cambria Math" panose="02040503050406030204" pitchFamily="18" charset="0"/>
                  </a:rPr>
                  <a:t>$x\in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 argument is symmetric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Therefore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forced: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both conditions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them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$B\subseteq C$</a:t>
                </a:r>
                <a:r>
                  <a:rPr sz="2400" b="0">
                    <a:solidFill>
                      <a:srgbClr val="111827"/>
                    </a:solidFill>
                    <a:latin typeface="Arial"/>
                  </a:rPr>
                  <a:t>. The argument is symmetric in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so </a:t>
                </a:r>
                <a:r>
                  <a:rPr lang="en-IN" sz="2400">
                    <a:solidFill>
                      <a:srgbClr val="111827"/>
                    </a:solidFill>
                    <a:latin typeface="Cambria Math" panose="02040503050406030204" pitchFamily="18" charset="0"/>
                  </a:rPr>
                  <a:t>$C\subseteq B$</a:t>
                </a:r>
                <a:r>
                  <a:rPr sz="2400" b="0">
                    <a:solidFill>
                      <a:srgbClr val="111827"/>
                    </a:solidFill>
                    <a:latin typeface="Arial"/>
                  </a:rPr>
                  <a:t>. Therefore </a:t>
                </a:r>
                <a:r>
                  <a:rPr lang="en-IN" sz="2400">
                    <a:solidFill>
                      <a:srgbClr val="111827"/>
                    </a:solidFill>
                    <a:latin typeface="Cambria Math" panose="02040503050406030204" pitchFamily="18" charset="0"/>
                  </a:rPr>
                  <a:t>$B=C$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$B=C$</a:t>
                </a:r>
                <a:r>
                  <a:rPr sz="2400" b="0">
                    <a:solidFill>
                      <a:srgbClr val="111827"/>
                    </a:solidFill>
                    <a:latin typeface="Arial"/>
                  </a:rPr>
                  <a:t> is forced: </a:t>
                </a:r>
                <a:r>
                  <a:rPr lang="en-IN" sz="2400">
                    <a:solidFill>
                      <a:srgbClr val="111827"/>
                    </a:solidFill>
                    <a:latin typeface="Cambria Math" panose="02040503050406030204" pitchFamily="18" charset="0"/>
                  </a:rPr>
                  <a:t>$A=\{1\},B=C=\{2\}$</a:t>
                </a:r>
                <a:r>
                  <a:rPr sz="2400" b="0">
                    <a:solidFill>
                      <a:srgbClr val="111827"/>
                    </a:solidFill>
                    <a:latin typeface="Arial"/>
                  </a:rPr>
                  <a:t> satisfies both conditions with </a:t>
                </a:r>
                <a:r>
                  <a:rPr lang="en-IN" sz="2400">
                    <a:solidFill>
                      <a:srgbClr val="111827"/>
                    </a:solidFill>
                    <a:latin typeface="Cambria Math" panose="02040503050406030204" pitchFamily="18" charset="0"/>
                  </a:rPr>
                  <a:t>$A\neq B$</a:t>
                </a:r>
                <a:r>
                  <a:rPr sz="2400" b="0">
                    <a:solidFill>
                      <a:srgbClr val="111827"/>
                    </a:solidFill>
                    <a:latin typeface="Arial"/>
                  </a:rPr>
                  <a:t> and </a:t>
                </a:r>
                <a:r>
                  <a:rPr lang="en-IN" sz="2400">
                    <a:solidFill>
                      <a:srgbClr val="111827"/>
                    </a:solidFill>
                    <a:latin typeface="Cambria Math" panose="02040503050406030204" pitchFamily="18" charset="0"/>
                  </a:rPr>
                  <a:t>$A\neq C$</a:t>
                </a:r>
                <a:r>
                  <a:rPr sz="2400" b="0">
                    <a:solidFill>
                      <a:srgbClr val="111827"/>
                    </a:solidFill>
                    <a:latin typeface="Arial"/>
                  </a:rPr>
                  <a:t>, and </a:t>
                </a:r>
                <a:r>
                  <a:rPr lang="en-IN" sz="2400">
                    <a:solidFill>
                      <a:srgbClr val="111827"/>
                    </a:solidFill>
                    <a:latin typeface="Cambria Math" panose="02040503050406030204" pitchFamily="18" charset="0"/>
                  </a:rPr>
                  <a:t>$A=B=C=\{1\}$</a:t>
                </a:r>
                <a:r>
                  <a:rPr sz="2400" b="0">
                    <a:solidFill>
                      <a:srgbClr val="111827"/>
                    </a:solidFill>
                    <a:latin typeface="Arial"/>
                  </a:rPr>
                  <a:t> satisfies them with </a:t>
                </a:r>
                <a:r>
                  <a:rPr lang="en-IN" sz="2400">
                    <a:solidFill>
                      <a:srgbClr val="111827"/>
                    </a:solidFill>
                    <a:latin typeface="Cambria Math" panose="02040503050406030204" pitchFamily="18" charset="0"/>
                  </a:rPr>
                  <a:t>$A\cap B\neq\phi$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$B=C$</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Algebra of sets: absorption and distributivity rewrite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in terms of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Algebra of sets: absorption and distributivity rewrite </a:t>
                </a:r>
                <a:r>
                  <a:rPr lang="en-IN" sz="2400">
                    <a:solidFill>
                      <a:srgbClr val="78350F"/>
                    </a:solidFill>
                    <a:latin typeface="Cambria Math" panose="02040503050406030204" pitchFamily="18" charset="0"/>
                  </a:rPr>
                  <a:t>$B$</a:t>
                </a:r>
                <a:r>
                  <a:rPr sz="2400" b="0">
                    <a:solidFill>
                      <a:srgbClr val="78350F"/>
                    </a:solidFill>
                    <a:latin typeface="Arial"/>
                  </a:rPr>
                  <a:t> in terms of </a:t>
                </a:r>
                <a:r>
                  <a:rPr lang="en-IN" sz="2400">
                    <a:solidFill>
                      <a:srgbClr val="78350F"/>
                    </a:solidFill>
                    <a:latin typeface="Cambria Math" panose="02040503050406030204" pitchFamily="18" charset="0"/>
                  </a:rPr>
                  <a:t>$A\cap B$</a:t>
                </a:r>
                <a:r>
                  <a:rPr sz="2400" b="0">
                    <a:solidFill>
                      <a:srgbClr val="78350F"/>
                    </a:solidFill>
                    <a:latin typeface="Arial"/>
                  </a:rPr>
                  <a:t> and </a:t>
                </a:r>
                <a:r>
                  <a:rPr lang="en-IN" sz="2400">
                    <a:solidFill>
                      <a:srgbClr val="78350F"/>
                    </a:solidFill>
                    <a:latin typeface="Cambria Math" panose="02040503050406030204" pitchFamily="18" charset="0"/>
                  </a:rPr>
                  <a:t>$A\cup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again: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$B\subseteq A\cup B$</a:t>
                </a:r>
                <a:r>
                  <a:rPr sz="2400" b="0">
                    <a:solidFill>
                      <a:srgbClr val="111827"/>
                    </a:solidFill>
                    <a:latin typeface="Arial"/>
                  </a:rPr>
                  <a:t>, we have </a:t>
                </a:r>
                <a:r>
                  <a:rPr lang="en-IN" sz="2400">
                    <a:solidFill>
                      <a:srgbClr val="111827"/>
                    </a:solidFill>
                    <a:latin typeface="Cambria Math" panose="02040503050406030204" pitchFamily="18" charset="0"/>
                  </a:rPr>
                  <a:t>$B=B\cap(A\cup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$A\cup B=A\cup C$</a:t>
                </a:r>
                <a:r>
                  <a:rPr sz="2400" b="0">
                    <a:solidFill>
                      <a:srgbClr val="111827"/>
                    </a:solidFill>
                    <a:latin typeface="Arial"/>
                  </a:rPr>
                  <a:t>: </a:t>
                </a:r>
                <a:r>
                  <a:rPr lang="en-IN" sz="2400">
                    <a:solidFill>
                      <a:srgbClr val="111827"/>
                    </a:solidFill>
                    <a:latin typeface="Cambria Math" panose="02040503050406030204" pitchFamily="18" charset="0"/>
                  </a:rPr>
                  <a:t>$B=B\cap(A\cup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a:t>
                </a:r>
                <a:r>
                  <a:rPr lang="en-IN" sz="2400">
                    <a:solidFill>
                      <a:srgbClr val="111827"/>
                    </a:solidFill>
                    <a:latin typeface="Cambria Math" panose="02040503050406030204" pitchFamily="18" charset="0"/>
                  </a:rPr>
                  <a:t>$B\cap(A\cup C)=(B\cap A)\cup(B\cap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$A\cap B=A\cap C$</a:t>
                </a:r>
                <a:r>
                  <a:rPr sz="2400" b="0">
                    <a:solidFill>
                      <a:srgbClr val="111827"/>
                    </a:solidFill>
                    <a:latin typeface="Arial"/>
                  </a:rPr>
                  <a:t>: </a:t>
                </a:r>
                <a:r>
                  <a:rPr lang="en-IN" sz="2400">
                    <a:solidFill>
                      <a:srgbClr val="111827"/>
                    </a:solidFill>
                    <a:latin typeface="Cambria Math" panose="02040503050406030204" pitchFamily="18" charset="0"/>
                  </a:rPr>
                  <a:t>$=(A\cap C)\cup(B\cap C)=C\cap(A\cup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$A\cup B=A\cup C$</a:t>
                </a:r>
                <a:r>
                  <a:rPr sz="2400" b="0">
                    <a:solidFill>
                      <a:srgbClr val="111827"/>
                    </a:solidFill>
                    <a:latin typeface="Arial"/>
                  </a:rPr>
                  <a:t> again: </a:t>
                </a:r>
                <a:r>
                  <a:rPr lang="en-IN" sz="2400">
                    <a:solidFill>
                      <a:srgbClr val="111827"/>
                    </a:solidFill>
                    <a:latin typeface="Cambria Math" panose="02040503050406030204" pitchFamily="18" charset="0"/>
                  </a:rPr>
                  <a:t>$=C\cap(A\cup 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$B=C$</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$B=C$</a:t>
                </a:r>
                <a:endParaRPr sz="2800">
                  <a:solidFill>
                    <a:srgbClr val="15803D"/>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Cancellation law for sets: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together imply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either condition alone does not (take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for the union,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Distributive laws: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 chase: to prove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split into cases on membership of the common set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Cancellation law for sets: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a:t>
                </a:r>
                <a:r>
                  <a:rPr sz="2400" b="0">
                    <a:solidFill>
                      <a:srgbClr val="111827"/>
                    </a:solidFill>
                    <a:latin typeface="Arial"/>
                  </a:rPr>
                  <a:t> together imply </a:t>
                </a:r>
                <a:r>
                  <a:rPr lang="en-IN" sz="2400">
                    <a:solidFill>
                      <a:srgbClr val="111827"/>
                    </a:solidFill>
                    <a:latin typeface="Cambria Math" panose="02040503050406030204" pitchFamily="18" charset="0"/>
                  </a:rPr>
                  <a:t>$B=C$</a:t>
                </a:r>
                <a:r>
                  <a:rPr sz="2400" b="0">
                    <a:solidFill>
                      <a:srgbClr val="111827"/>
                    </a:solidFill>
                    <a:latin typeface="Arial"/>
                  </a:rPr>
                  <a:t>; either condition alone does not (take </a:t>
                </a:r>
                <a:r>
                  <a:rPr lang="en-IN" sz="2400">
                    <a:solidFill>
                      <a:srgbClr val="111827"/>
                    </a:solidFill>
                    <a:latin typeface="Cambria Math" panose="02040503050406030204" pitchFamily="18" charset="0"/>
                  </a:rPr>
                  <a:t>$A=\{1\},B=\{1\},C=\phi$</a:t>
                </a:r>
                <a:r>
                  <a:rPr sz="2400" b="0">
                    <a:solidFill>
                      <a:srgbClr val="111827"/>
                    </a:solidFill>
                    <a:latin typeface="Arial"/>
                  </a:rPr>
                  <a:t> for the union, </a:t>
                </a:r>
                <a:r>
                  <a:rPr lang="en-IN" sz="2400">
                    <a:solidFill>
                      <a:srgbClr val="111827"/>
                    </a:solidFill>
                    <a:latin typeface="Cambria Math" panose="02040503050406030204" pitchFamily="18" charset="0"/>
                  </a:rPr>
                  <a:t>$A=\{1\},B=\{2\},C=\{3\}$</a:t>
                </a:r>
                <a:r>
                  <a:rPr sz="2400" b="0">
                    <a:solidFill>
                      <a:srgbClr val="111827"/>
                    </a:solidFill>
                    <a:latin typeface="Arial"/>
                  </a:rPr>
                  <a:t> for the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a:t>
                </a:r>
                <a:r>
                  <a:rPr lang="en-IN" sz="2400">
                    <a:solidFill>
                      <a:srgbClr val="111827"/>
                    </a:solidFill>
                    <a:latin typeface="Cambria Math" panose="02040503050406030204" pitchFamily="18" charset="0"/>
                  </a:rPr>
                  <a:t>$B\cap(A\cup B)=B$</a:t>
                </a:r>
                <a:r>
                  <a:rPr sz="2400" b="0">
                    <a:solidFill>
                      <a:srgbClr val="111827"/>
                    </a:solidFill>
                    <a:latin typeface="Arial"/>
                  </a:rPr>
                  <a:t> and </a:t>
                </a:r>
                <a:r>
                  <a:rPr lang="en-IN" sz="2400">
                    <a:solidFill>
                      <a:srgbClr val="111827"/>
                    </a:solidFill>
                    <a:latin typeface="Cambria Math" panose="02040503050406030204" pitchFamily="18" charset="0"/>
                  </a:rPr>
                  <a:t>$B\cup(A\cap B)=B$</a:t>
                </a:r>
                <a:r>
                  <a:rPr sz="2400" b="0">
                    <a:solidFill>
                      <a:srgbClr val="111827"/>
                    </a:solidFill>
                    <a:latin typeface="Arial"/>
                  </a:rPr>
                  <a:t>. Distributive laws: </a:t>
                </a:r>
                <a:r>
                  <a:rPr lang="en-IN" sz="2400">
                    <a:solidFill>
                      <a:srgbClr val="111827"/>
                    </a:solidFill>
                    <a:latin typeface="Cambria Math" panose="02040503050406030204" pitchFamily="18" charset="0"/>
                  </a:rPr>
                  <a:t>$B\cap(A\cup C)=(B\cap A)\cup(B\cap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 chase: to prove </a:t>
                </a:r>
                <a:r>
                  <a:rPr lang="en-IN" sz="2400">
                    <a:solidFill>
                      <a:srgbClr val="111827"/>
                    </a:solidFill>
                    <a:latin typeface="Cambria Math" panose="02040503050406030204" pitchFamily="18" charset="0"/>
                  </a:rPr>
                  <a:t>$X\subseteq Y$</a:t>
                </a:r>
                <a:r>
                  <a:rPr sz="2400" b="0">
                    <a:solidFill>
                      <a:srgbClr val="111827"/>
                    </a:solidFill>
                    <a:latin typeface="Arial"/>
                  </a:rPr>
                  <a:t> take </a:t>
                </a:r>
                <a:r>
                  <a:rPr lang="en-IN" sz="2400">
                    <a:solidFill>
                      <a:srgbClr val="111827"/>
                    </a:solidFill>
                    <a:latin typeface="Cambria Math" panose="02040503050406030204" pitchFamily="18" charset="0"/>
                  </a:rPr>
                  <a:t>$x\in X$</a:t>
                </a:r>
                <a:r>
                  <a:rPr sz="2400" b="0">
                    <a:solidFill>
                      <a:srgbClr val="111827"/>
                    </a:solidFill>
                    <a:latin typeface="Arial"/>
                  </a:rPr>
                  <a:t> and split into cases on membership of the common set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relations :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are real numbers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𝑦</m:t>
                    </m:r>
                  </m:oMath>
                </a14:m>
                <a:r>
                  <a:rPr sz="2400" b="0">
                    <a:solidFill>
                      <a:srgbClr val="111827"/>
                    </a:solidFill>
                    <a:latin typeface="Arial"/>
                  </a:rPr>
                  <a:t> for some rational number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are integers such that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 [AIEEE-2010]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but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both are equivalence relations</a:t>
                </a:r>
                <a:endParaRPr sz="2400">
                  <a:solidFill>
                    <a:srgbClr val="111827"/>
                  </a:solidFill>
                </a:endParaRPr>
              </a:p>
            </p:txBody>
          </p:sp>
        </mc:Choice>
        <mc:Fallback>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relations : </a:t>
                </a:r>
                <a:r>
                  <a:rPr lang="en-IN" sz="2400">
                    <a:solidFill>
                      <a:srgbClr val="111827"/>
                    </a:solidFill>
                    <a:latin typeface="Cambria Math" panose="02040503050406030204" pitchFamily="18" charset="0"/>
                  </a:rPr>
                  <a:t>$R=\{(x,y)\mid x,y$</a:t>
                </a:r>
                <a:r>
                  <a:rPr sz="2400" b="0">
                    <a:solidFill>
                      <a:srgbClr val="111827"/>
                    </a:solidFill>
                    <a:latin typeface="Arial"/>
                  </a:rPr>
                  <a:t> are real numbers and </a:t>
                </a:r>
                <a:r>
                  <a:rPr lang="en-IN" sz="2400">
                    <a:solidFill>
                      <a:srgbClr val="111827"/>
                    </a:solidFill>
                    <a:latin typeface="Cambria Math" panose="02040503050406030204" pitchFamily="18" charset="0"/>
                  </a:rPr>
                  <a:t>$x=wy$</a:t>
                </a:r>
                <a:r>
                  <a:rPr sz="2400" b="0">
                    <a:solidFill>
                      <a:srgbClr val="111827"/>
                    </a:solidFill>
                    <a:latin typeface="Arial"/>
                  </a:rPr>
                  <a:t> for some rational number </a:t>
                </a:r>
                <a:r>
                  <a:rPr lang="en-IN" sz="2400">
                    <a:solidFill>
                      <a:srgbClr val="111827"/>
                    </a:solidFill>
                    <a:latin typeface="Cambria Math" panose="02040503050406030204" pitchFamily="18" charset="0"/>
                  </a:rPr>
                  <a:t>$w\}$</a:t>
                </a:r>
                <a:r>
                  <a:rPr sz="2400" b="0">
                    <a:solidFill>
                      <a:srgbClr val="111827"/>
                    </a:solidFill>
                    <a:latin typeface="Arial"/>
                  </a:rPr>
                  <a:t>; </a:t>
                </a:r>
                <a:r>
                  <a:rPr lang="en-IN" sz="2400">
                    <a:solidFill>
                      <a:srgbClr val="111827"/>
                    </a:solidFill>
                    <a:latin typeface="Cambria Math" panose="02040503050406030204" pitchFamily="18" charset="0"/>
                  </a:rPr>
                  <a:t>$S=\{\left(\frac mn,\frac pq\right)\mid m,n,p$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integers such that </a:t>
                </a:r>
                <a:r>
                  <a:rPr lang="en-IN" sz="2400">
                    <a:solidFill>
                      <a:srgbClr val="111827"/>
                    </a:solidFill>
                    <a:latin typeface="Cambria Math" panose="02040503050406030204" pitchFamily="18" charset="0"/>
                  </a:rPr>
                  <a:t>$n,q\neq0$</a:t>
                </a:r>
                <a:r>
                  <a:rPr sz="2400" b="0">
                    <a:solidFill>
                      <a:srgbClr val="111827"/>
                    </a:solidFill>
                    <a:latin typeface="Arial"/>
                  </a:rPr>
                  <a:t> and </a:t>
                </a:r>
                <a:r>
                  <a:rPr lang="en-IN" sz="2400">
                    <a:solidFill>
                      <a:srgbClr val="111827"/>
                    </a:solidFill>
                    <a:latin typeface="Cambria Math" panose="02040503050406030204" pitchFamily="18" charset="0"/>
                  </a:rPr>
                  <a:t>$qm=pn\}$</a:t>
                </a:r>
                <a:r>
                  <a:rPr sz="2400" b="0">
                    <a:solidFill>
                      <a:srgbClr val="111827"/>
                    </a:solidFill>
                    <a:latin typeface="Arial"/>
                  </a:rPr>
                  <a:t>. Then : [AIEEE-2010]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$S$</a:t>
                </a:r>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r>
                  <a:rPr lang="en-IN" sz="2400">
                    <a:solidFill>
                      <a:srgbClr val="111827"/>
                    </a:solidFill>
                    <a:latin typeface="Cambria Math" panose="02040503050406030204" pitchFamily="18" charset="0"/>
                  </a:rPr>
                  <a:t>$R$</a:t>
                </a:r>
                <a:r>
                  <a:rPr sz="2400" b="0">
                    <a:solidFill>
                      <a:srgbClr val="111827"/>
                    </a:solidFill>
                    <a:latin typeface="Arial"/>
                  </a:rPr>
                  <a:t> nor </a:t>
                </a:r>
                <a:r>
                  <a:rPr lang="en-IN" sz="2400">
                    <a:solidFill>
                      <a:srgbClr val="111827"/>
                    </a:solidFill>
                    <a:latin typeface="Cambria Math" panose="02040503050406030204" pitchFamily="18" charset="0"/>
                  </a:rPr>
                  <a:t>$S$</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a:t>
                </a:r>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both are equivalence relations</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𝑤</m:t>
                    </m:r>
                    <m:r>
                      <a:rPr lang="en-IN" sz="2400" i="1">
                        <a:solidFill>
                          <a:srgbClr val="78350F"/>
                        </a:solidFill>
                        <a:latin typeface="Cambria Math" panose="02040503050406030204" pitchFamily="18" charset="0"/>
                      </a:rPr>
                      <m:t>𝑦</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just equality of the fractions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𝑝</m:t>
                        </m:r>
                      </m:num>
                      <m:den>
                        <m:r>
                          <a:rPr lang="en-IN" sz="2400" i="1">
                            <a:solidFill>
                              <a:srgbClr val="78350F"/>
                            </a:solidFill>
                            <a:latin typeface="Cambria Math" panose="02040503050406030204" pitchFamily="18" charset="0"/>
                          </a:rPr>
                          <m:t>𝑞</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$x=wy$</a:t>
                </a:r>
                <a:r>
                  <a:rPr sz="2400" b="0">
                    <a:solidFill>
                      <a:srgbClr val="78350F"/>
                    </a:solidFill>
                    <a:latin typeface="Arial"/>
                  </a:rPr>
                  <a:t> with </a:t>
                </a:r>
                <a:r>
                  <a:rPr lang="en-IN" sz="2400">
                    <a:solidFill>
                      <a:srgbClr val="78350F"/>
                    </a:solidFill>
                    <a:latin typeface="Cambria Math" panose="02040503050406030204" pitchFamily="18" charset="0"/>
                  </a:rPr>
                  <a:t>$w=0$</a:t>
                </a:r>
                <a:r>
                  <a:rPr sz="2400" b="0">
                    <a:solidFill>
                      <a:srgbClr val="78350F"/>
                    </a:solidFill>
                    <a:latin typeface="Arial"/>
                  </a:rPr>
                  <a:t> gives </a:t>
                </a:r>
                <a:r>
                  <a:rPr lang="en-IN" sz="2400">
                    <a:solidFill>
                      <a:srgbClr val="78350F"/>
                    </a:solidFill>
                    <a:latin typeface="Cambria Math" panose="02040503050406030204" pitchFamily="18" charset="0"/>
                  </a:rPr>
                  <a:t>$(0,1)\in R$</a:t>
                </a:r>
                <a:r>
                  <a:rPr sz="2400" b="0">
                    <a:solidFill>
                      <a:srgbClr val="78350F"/>
                    </a:solidFill>
                    <a:latin typeface="Arial"/>
                  </a:rPr>
                  <a:t> but </a:t>
                </a:r>
                <a:r>
                  <a:rPr lang="en-IN" sz="2400">
                    <a:solidFill>
                      <a:srgbClr val="78350F"/>
                    </a:solidFill>
                    <a:latin typeface="Cambria Math" panose="02040503050406030204" pitchFamily="18" charset="0"/>
                  </a:rPr>
                  <a:t>$(1,0)\notin R$</a:t>
                </a:r>
                <a:r>
                  <a:rPr sz="2400" b="0">
                    <a:solidFill>
                      <a:srgbClr val="78350F"/>
                    </a:solidFill>
                    <a:latin typeface="Arial"/>
                  </a:rPr>
                  <a:t>; </a:t>
                </a:r>
                <a:r>
                  <a:rPr lang="en-IN" sz="2400">
                    <a:solidFill>
                      <a:srgbClr val="78350F"/>
                    </a:solidFill>
                    <a:latin typeface="Cambria Math" panose="02040503050406030204" pitchFamily="18" charset="0"/>
                  </a:rPr>
                  <a:t>$S$</a:t>
                </a:r>
                <a:r>
                  <a:rPr sz="2400" b="0">
                    <a:solidFill>
                      <a:srgbClr val="78350F"/>
                    </a:solidFill>
                    <a:latin typeface="Arial"/>
                  </a:rPr>
                  <a:t> is just equality of the fractions </a:t>
                </a:r>
                <a:r>
                  <a:rPr lang="en-IN" sz="2400">
                    <a:solidFill>
                      <a:srgbClr val="78350F"/>
                    </a:solidFill>
                    <a:latin typeface="Cambria Math" panose="02040503050406030204" pitchFamily="18" charset="0"/>
                  </a:rPr>
                  <a:t>$\frac mn=\frac pq$</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reflexive,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rational.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from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𝑦</m:t>
                    </m:r>
                  </m:oMath>
                </a14:m>
                <a:r>
                  <a:rPr sz="2400" b="0">
                    <a:solidFill>
                      <a:srgbClr val="111827"/>
                    </a:solidFill>
                    <a:latin typeface="Arial"/>
                  </a:rPr>
                  <a:t> we would need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𝑤</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for a rational </a:t>
                </a:r>
                <a14:m>
                  <m:oMath xmlns:m="http://schemas.openxmlformats.org/officeDocument/2006/math">
                    <m:sSup>
                      <m:e>
                        <m:r>
                          <a:rPr lang="en-IN" sz="2400" i="1">
                            <a:solidFill>
                              <a:srgbClr val="111827"/>
                            </a:solidFill>
                            <a:latin typeface="Cambria Math" panose="02040503050406030204" pitchFamily="18" charset="0"/>
                          </a:rPr>
                          <m:t>𝑤</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𝑤</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𝑤</m:t>
                        </m:r>
                      </m:den>
                    </m:f>
                  </m:oMath>
                </a14:m>
                <a:r>
                  <a:rPr sz="2400" b="0">
                    <a:solidFill>
                      <a:srgbClr val="111827"/>
                    </a:solidFill>
                    <a:latin typeface="Arial"/>
                  </a:rPr>
                  <a:t>, which exists only if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reflexive, since </a:t>
                </a:r>
                <a:r>
                  <a:rPr lang="en-IN" sz="2400">
                    <a:solidFill>
                      <a:srgbClr val="111827"/>
                    </a:solidFill>
                    <a:latin typeface="Cambria Math" panose="02040503050406030204" pitchFamily="18" charset="0"/>
                  </a:rPr>
                  <a:t>$x=w\cdot x$</a:t>
                </a:r>
                <a:r>
                  <a:rPr sz="2400" b="0">
                    <a:solidFill>
                      <a:srgbClr val="111827"/>
                    </a:solidFill>
                    <a:latin typeface="Arial"/>
                  </a:rPr>
                  <a:t> with </a:t>
                </a:r>
                <a:r>
                  <a:rPr lang="en-IN" sz="2400">
                    <a:solidFill>
                      <a:srgbClr val="111827"/>
                    </a:solidFill>
                    <a:latin typeface="Cambria Math" panose="02040503050406030204" pitchFamily="18" charset="0"/>
                  </a:rPr>
                  <a:t>$w=1$</a:t>
                </a:r>
                <a:r>
                  <a:rPr sz="2400" b="0">
                    <a:solidFill>
                      <a:srgbClr val="111827"/>
                    </a:solidFill>
                    <a:latin typeface="Arial"/>
                  </a:rPr>
                  <a:t> rational.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from </a:t>
                </a:r>
                <a:r>
                  <a:rPr lang="en-IN" sz="2400">
                    <a:solidFill>
                      <a:srgbClr val="111827"/>
                    </a:solidFill>
                    <a:latin typeface="Cambria Math" panose="02040503050406030204" pitchFamily="18" charset="0"/>
                  </a:rPr>
                  <a:t>$x=wy$</a:t>
                </a:r>
                <a:r>
                  <a:rPr sz="2400" b="0">
                    <a:solidFill>
                      <a:srgbClr val="111827"/>
                    </a:solidFill>
                    <a:latin typeface="Arial"/>
                  </a:rPr>
                  <a:t> we would need </a:t>
                </a:r>
                <a:r>
                  <a:rPr lang="en-IN" sz="2400">
                    <a:solidFill>
                      <a:srgbClr val="111827"/>
                    </a:solidFill>
                    <a:latin typeface="Cambria Math" panose="02040503050406030204" pitchFamily="18" charset="0"/>
                  </a:rPr>
                  <a:t>$y=w'x$</a:t>
                </a:r>
                <a:r>
                  <a:rPr sz="2400" b="0">
                    <a:solidFill>
                      <a:srgbClr val="111827"/>
                    </a:solidFill>
                    <a:latin typeface="Arial"/>
                  </a:rPr>
                  <a:t> for a rational </a:t>
                </a:r>
                <a:r>
                  <a:rPr lang="en-IN" sz="2400">
                    <a:solidFill>
                      <a:srgbClr val="111827"/>
                    </a:solidFill>
                    <a:latin typeface="Cambria Math" panose="02040503050406030204" pitchFamily="18" charset="0"/>
                  </a:rPr>
                  <a:t>$w'$</a:t>
                </a:r>
                <a:r>
                  <a:rPr sz="2400" b="0">
                    <a:solidFill>
                      <a:srgbClr val="111827"/>
                    </a:solidFill>
                    <a:latin typeface="Arial"/>
                  </a:rPr>
                  <a:t>, i.e. </a:t>
                </a:r>
                <a:r>
                  <a:rPr lang="en-IN" sz="2400">
                    <a:solidFill>
                      <a:srgbClr val="111827"/>
                    </a:solidFill>
                    <a:latin typeface="Cambria Math" panose="02040503050406030204" pitchFamily="18" charset="0"/>
                  </a:rPr>
                  <a:t>$w'=\frac1w$</a:t>
                </a:r>
                <a:r>
                  <a:rPr sz="2400" b="0">
                    <a:solidFill>
                      <a:srgbClr val="111827"/>
                    </a:solidFill>
                    <a:latin typeface="Arial"/>
                  </a:rPr>
                  <a:t>, which exists only if </a:t>
                </a:r>
                <a:r>
                  <a:rPr lang="en-IN" sz="2400">
                    <a:solidFill>
                      <a:srgbClr val="111827"/>
                    </a:solidFill>
                    <a:latin typeface="Cambria Math" panose="02040503050406030204" pitchFamily="18" charset="0"/>
                  </a:rPr>
                  <a:t>$w\neq0$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Counter-example: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relates two fractions that are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Yes.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Counter-example: </a:t>
                </a:r>
                <a:r>
                  <a:rPr lang="en-IN" sz="2400">
                    <a:solidFill>
                      <a:srgbClr val="111827"/>
                    </a:solidFill>
                    <a:latin typeface="Cambria Math" panose="02040503050406030204" pitchFamily="18" charset="0"/>
                  </a:rPr>
                  <a:t>$(0,1)\in R$</a:t>
                </a:r>
                <a:r>
                  <a:rPr sz="2400" b="0">
                    <a:solidFill>
                      <a:srgbClr val="111827"/>
                    </a:solidFill>
                    <a:latin typeface="Arial"/>
                  </a:rPr>
                  <a:t> since </a:t>
                </a:r>
                <a:r>
                  <a:rPr lang="en-IN" sz="2400">
                    <a:solidFill>
                      <a:srgbClr val="111827"/>
                    </a:solidFill>
                    <a:latin typeface="Cambria Math" panose="02040503050406030204" pitchFamily="18" charset="0"/>
                  </a:rPr>
                  <a:t>$0=0\cdot1$</a:t>
                </a:r>
                <a:r>
                  <a:rPr sz="2400" b="0">
                    <a:solidFill>
                      <a:srgbClr val="111827"/>
                    </a:solidFill>
                    <a:latin typeface="Arial"/>
                  </a:rPr>
                  <a:t>, but </a:t>
                </a:r>
                <a:r>
                  <a:rPr lang="en-IN" sz="2400">
                    <a:solidFill>
                      <a:srgbClr val="111827"/>
                    </a:solidFill>
                    <a:latin typeface="Cambria Math" panose="02040503050406030204" pitchFamily="18" charset="0"/>
                  </a:rPr>
                  <a:t>$(1,0)\notin R$</a:t>
                </a:r>
                <a:r>
                  <a:rPr sz="2400" b="0">
                    <a:solidFill>
                      <a:srgbClr val="111827"/>
                    </a:solidFill>
                    <a:latin typeface="Arial"/>
                  </a:rPr>
                  <a:t> since </a:t>
                </a:r>
                <a:r>
                  <a:rPr lang="en-IN" sz="2400">
                    <a:solidFill>
                      <a:srgbClr val="111827"/>
                    </a:solidFill>
                    <a:latin typeface="Cambria Math" panose="02040503050406030204" pitchFamily="18" charset="0"/>
                  </a:rPr>
                  <a:t>$1=w\cdot0$</a:t>
                </a:r>
                <a:r>
                  <a:rPr sz="2400" b="0">
                    <a:solidFill>
                      <a:srgbClr val="111827"/>
                    </a:solidFill>
                    <a:latin typeface="Arial"/>
                  </a:rPr>
                  <a:t> is impossible. So </a:t>
                </a:r>
                <a:r>
                  <a:rPr lang="en-IN" sz="2400">
                    <a:solidFill>
                      <a:srgbClr val="111827"/>
                    </a:solidFill>
                    <a:latin typeface="Cambria Math" panose="02040503050406030204" pitchFamily="18" charset="0"/>
                  </a:rPr>
                  <a:t>$R$</a:t>
                </a:r>
                <a:r>
                  <a:rPr sz="2400" b="0">
                    <a:solidFill>
                      <a:srgbClr val="111827"/>
                    </a:solidFill>
                    <a:latin typeface="Arial"/>
                  </a:rPr>
                  <a:t> is not symmetric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$qm=pn$</a:t>
                </a:r>
                <a:r>
                  <a:rPr sz="2400" b="0">
                    <a:solidFill>
                      <a:srgbClr val="111827"/>
                    </a:solidFill>
                    <a:latin typeface="Arial"/>
                  </a:rPr>
                  <a:t> means </a:t>
                </a:r>
                <a:r>
                  <a:rPr lang="en-IN" sz="2400">
                    <a:solidFill>
                      <a:srgbClr val="111827"/>
                    </a:solidFill>
                    <a:latin typeface="Cambria Math" panose="02040503050406030204" pitchFamily="18" charset="0"/>
                  </a:rPr>
                  <a:t>$\frac mn=\frac pq$</a:t>
                </a:r>
                <a:r>
                  <a:rPr sz="2400" b="0">
                    <a:solidFill>
                      <a:srgbClr val="111827"/>
                    </a:solidFill>
                    <a:latin typeface="Arial"/>
                  </a:rPr>
                  <a:t>, i.e. </a:t>
                </a:r>
                <a:r>
                  <a:rPr lang="en-IN" sz="2400">
                    <a:solidFill>
                      <a:srgbClr val="111827"/>
                    </a:solidFill>
                    <a:latin typeface="Cambria Math" panose="02040503050406030204" pitchFamily="18" charset="0"/>
                  </a:rPr>
                  <a:t>$S$</a:t>
                </a:r>
                <a:r>
                  <a:rPr sz="2400" b="0">
                    <a:solidFill>
                      <a:srgbClr val="111827"/>
                    </a:solidFill>
                    <a:latin typeface="Arial"/>
                  </a:rPr>
                  <a:t> relates two fractions that are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$\frac mn=\frac mn$</a:t>
                </a:r>
                <a:r>
                  <a:rPr sz="2400" b="0">
                    <a:solidFill>
                      <a:srgbClr val="111827"/>
                    </a:solidFill>
                    <a:latin typeface="Arial"/>
                  </a:rPr>
                  <a:t>. Yes.</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𝑛</m:t>
                    </m:r>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$\frac mn=\frac pq$</a:t>
                </a:r>
                <a:r>
                  <a:rPr sz="2400" b="0">
                    <a:solidFill>
                      <a:srgbClr val="111827"/>
                    </a:solidFill>
                    <a:latin typeface="Arial"/>
                  </a:rPr>
                  <a:t> then </a:t>
                </a:r>
                <a:r>
                  <a:rPr lang="en-IN" sz="2400">
                    <a:solidFill>
                      <a:srgbClr val="111827"/>
                    </a:solidFill>
                    <a:latin typeface="Cambria Math" panose="02040503050406030204" pitchFamily="18" charset="0"/>
                  </a:rPr>
                  <a:t>$\frac pq=\frac mn$</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r>
                  <a:rPr lang="en-IN" sz="2400">
                    <a:solidFill>
                      <a:srgbClr val="111827"/>
                    </a:solidFill>
                    <a:latin typeface="Cambria Math" panose="02040503050406030204" pitchFamily="18" charset="0"/>
                  </a:rPr>
                  <a:t>$\frac mn=\frac pq$</a:t>
                </a:r>
                <a:r>
                  <a:rPr sz="2400" b="0">
                    <a:solidFill>
                      <a:srgbClr val="111827"/>
                    </a:solidFill>
                    <a:latin typeface="Arial"/>
                  </a:rPr>
                  <a:t> and </a:t>
                </a:r>
                <a:r>
                  <a:rPr lang="en-IN" sz="2400">
                    <a:solidFill>
                      <a:srgbClr val="111827"/>
                    </a:solidFill>
                    <a:latin typeface="Cambria Math" panose="02040503050406030204" pitchFamily="18" charset="0"/>
                  </a:rPr>
                  <a:t>$\frac pq=\frac rs$</a:t>
                </a:r>
                <a:r>
                  <a:rPr sz="2400" b="0">
                    <a:solidFill>
                      <a:srgbClr val="111827"/>
                    </a:solidFill>
                    <a:latin typeface="Arial"/>
                  </a:rPr>
                  <a:t> then </a:t>
                </a:r>
                <a:r>
                  <a:rPr lang="en-IN" sz="2400">
                    <a:solidFill>
                      <a:srgbClr val="111827"/>
                    </a:solidFill>
                    <a:latin typeface="Cambria Math" panose="02040503050406030204" pitchFamily="18" charset="0"/>
                  </a:rPr>
                  <a:t>$\frac mn=\frac rs$</a:t>
                </a:r>
                <a:r>
                  <a:rPr sz="2400" b="0">
                    <a:solidFill>
                      <a:srgbClr val="111827"/>
                    </a:solidFill>
                    <a:latin typeface="Arial"/>
                  </a:rPr>
                  <a:t>, i.e. </a:t>
                </a:r>
                <a:r>
                  <a:rPr lang="en-IN" sz="2400">
                    <a:solidFill>
                      <a:srgbClr val="111827"/>
                    </a:solidFill>
                    <a:latin typeface="Cambria Math" panose="02040503050406030204" pitchFamily="18" charset="0"/>
                  </a:rPr>
                  <a:t>$ms=rn$</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a:t>
                </a:r>
                <a:r>
                  <a:rPr sz="2400" b="0">
                    <a:solidFill>
                      <a:srgbClr val="111827"/>
                    </a:solidFill>
                    <a:latin typeface="Arial"/>
                  </a:rPr>
                  <a:t> is an equivalence relation and </a:t>
                </a:r>
                <a:r>
                  <a:rPr lang="en-IN" sz="2400">
                    <a:solidFill>
                      <a:srgbClr val="111827"/>
                    </a:solidFill>
                    <a:latin typeface="Cambria Math" panose="02040503050406030204" pitchFamily="18" charset="0"/>
                  </a:rPr>
                  <a:t>$R$</a:t>
                </a:r>
                <a:r>
                  <a:rPr sz="2400" b="0">
                    <a:solidFill>
                      <a:srgbClr val="111827"/>
                    </a:solidFill>
                    <a:latin typeface="Arial"/>
                  </a:rPr>
                  <a:t> is not.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an equivalence relation but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not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$S$</a:t>
                </a:r>
                <a:r>
                  <a:rPr sz="2800" b="1">
                    <a:solidFill>
                      <a:srgbClr val="15803D"/>
                    </a:solidFill>
                    <a:latin typeface="Arial"/>
                  </a:rPr>
                  <a:t> is an equivalence relation but </a:t>
                </a:r>
                <a:r>
                  <a:rPr lang="en-IN" sz="2800">
                    <a:solidFill>
                      <a:srgbClr val="15803D"/>
                    </a:solidFill>
                    <a:latin typeface="Cambria Math" panose="02040503050406030204" pitchFamily="18" charset="0"/>
                  </a:rPr>
                  <a:t>$R$</a:t>
                </a:r>
                <a:r>
                  <a:rPr sz="2800" b="1">
                    <a:solidFill>
                      <a:srgbClr val="15803D"/>
                    </a:solidFill>
                    <a:latin typeface="Arial"/>
                  </a:rPr>
                  <a:t> is not an equivalence relation</a:t>
                </a:r>
                <a:endParaRPr sz="2800">
                  <a:solidFill>
                    <a:srgbClr val="15803D"/>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the pull-back of equality under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its value, so it is an equivalence relation without checking three axioms.</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$S$</a:t>
                </a:r>
                <a:r>
                  <a:rPr sz="2400" b="0">
                    <a:solidFill>
                      <a:srgbClr val="78350F"/>
                    </a:solidFill>
                    <a:latin typeface="Arial"/>
                  </a:rPr>
                  <a:t> is the pull-back of equality under </a:t>
                </a:r>
                <a:r>
                  <a:rPr lang="en-IN" sz="2400">
                    <a:solidFill>
                      <a:srgbClr val="78350F"/>
                    </a:solidFill>
                    <a:latin typeface="Cambria Math" panose="02040503050406030204" pitchFamily="18" charset="0"/>
                  </a:rPr>
                  <a:t>$\frac mn\mapsto$</a:t>
                </a:r>
                <a:r>
                  <a:rPr sz="2400" b="0">
                    <a:solidFill>
                      <a:srgbClr val="78350F"/>
                    </a:solidFill>
                    <a:latin typeface="Arial"/>
                  </a:rPr>
                  <a:t> its value, so it is an equivalence relation without checking three axioms.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Define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rational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(its value). Then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'same value of a function' is always reflexive, symmetric and transitive, 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its classes are the rational numbers.</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Define </a:t>
                </a:r>
                <a:r>
                  <a:rPr lang="en-IN" sz="2400">
                    <a:solidFill>
                      <a:srgbClr val="111827"/>
                    </a:solidFill>
                    <a:latin typeface="Cambria Math" panose="02040503050406030204" pitchFamily="18" charset="0"/>
                  </a:rPr>
                  <a:t>$f\left(\frac mn\right)=$</a:t>
                </a:r>
                <a:r>
                  <a:rPr sz="2400" b="0">
                    <a:solidFill>
                      <a:srgbClr val="111827"/>
                    </a:solidFill>
                    <a:latin typeface="Arial"/>
                  </a:rPr>
                  <a:t> the rational number </a:t>
                </a:r>
                <a:r>
                  <a:rPr lang="en-IN" sz="2400">
                    <a:solidFill>
                      <a:srgbClr val="111827"/>
                    </a:solidFill>
                    <a:latin typeface="Cambria Math" panose="02040503050406030204" pitchFamily="18" charset="0"/>
                  </a:rPr>
                  <a:t>$\frac mn$</a:t>
                </a:r>
                <a:r>
                  <a:rPr sz="2400" b="0">
                    <a:solidFill>
                      <a:srgbClr val="111827"/>
                    </a:solidFill>
                    <a:latin typeface="Arial"/>
                  </a:rPr>
                  <a:t> (its value). Then </a:t>
                </a:r>
                <a:r>
                  <a:rPr lang="en-IN" sz="2400">
                    <a:solidFill>
                      <a:srgbClr val="111827"/>
                    </a:solidFill>
                    <a:latin typeface="Cambria Math" panose="02040503050406030204" pitchFamily="18" charset="0"/>
                  </a:rPr>
                  <a:t>$\left(\frac mn,\frac pq\right)\in S\iff qm=pn\iff\frac mn=\frac pq\iff f\left(\frac mn\right)=f\left(\frac pq\right)$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'same value of a function' is always reflexive, symmetric and transitive, so </a:t>
                </a:r>
                <a:r>
                  <a:rPr lang="en-IN" sz="2400">
                    <a:solidFill>
                      <a:srgbClr val="111827"/>
                    </a:solidFill>
                    <a:latin typeface="Cambria Math" panose="02040503050406030204" pitchFamily="18" charset="0"/>
                  </a:rPr>
                  <a:t>$S$</a:t>
                </a:r>
                <a:r>
                  <a:rPr sz="2400" b="0">
                    <a:solidFill>
                      <a:srgbClr val="111827"/>
                    </a:solidFill>
                    <a:latin typeface="Arial"/>
                  </a:rPr>
                  <a:t> is an equivalence relation; its classes are the rational numbers.</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use a one-line test: 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were symmetric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would force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an equivalence relation: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a:t>
                </a:r>
                <a:r>
                  <a:rPr sz="2400" b="0">
                    <a:solidFill>
                      <a:srgbClr val="111827"/>
                    </a:solidFill>
                    <a:latin typeface="Arial"/>
                  </a:rPr>
                  <a:t> use a one-line test: if </a:t>
                </a:r>
                <a:r>
                  <a:rPr lang="en-IN" sz="2400">
                    <a:solidFill>
                      <a:srgbClr val="111827"/>
                    </a:solidFill>
                    <a:latin typeface="Cambria Math" panose="02040503050406030204" pitchFamily="18" charset="0"/>
                  </a:rPr>
                  <a:t>$R$</a:t>
                </a:r>
                <a:r>
                  <a:rPr sz="2400" b="0">
                    <a:solidFill>
                      <a:srgbClr val="111827"/>
                    </a:solidFill>
                    <a:latin typeface="Arial"/>
                  </a:rPr>
                  <a:t> were symmetric then </a:t>
                </a:r>
                <a:r>
                  <a:rPr lang="en-IN" sz="2400">
                    <a:solidFill>
                      <a:srgbClr val="111827"/>
                    </a:solidFill>
                    <a:latin typeface="Cambria Math" panose="02040503050406030204" pitchFamily="18" charset="0"/>
                  </a:rPr>
                  <a:t>$(0,1)\in R$</a:t>
                </a:r>
                <a:r>
                  <a:rPr sz="2400" b="0">
                    <a:solidFill>
                      <a:srgbClr val="111827"/>
                    </a:solidFill>
                    <a:latin typeface="Arial"/>
                  </a:rPr>
                  <a:t> (as </a:t>
                </a:r>
                <a:r>
                  <a:rPr lang="en-IN" sz="2400">
                    <a:solidFill>
                      <a:srgbClr val="111827"/>
                    </a:solidFill>
                    <a:latin typeface="Cambria Math" panose="02040503050406030204" pitchFamily="18" charset="0"/>
                  </a:rPr>
                  <a:t>$0=0\cdot 1$</a:t>
                </a:r>
                <a:r>
                  <a:rPr sz="2400" b="0">
                    <a:solidFill>
                      <a:srgbClr val="111827"/>
                    </a:solidFill>
                    <a:latin typeface="Arial"/>
                  </a:rPr>
                  <a:t>) would force </a:t>
                </a:r>
                <a:r>
                  <a:rPr lang="en-IN" sz="2400">
                    <a:solidFill>
                      <a:srgbClr val="111827"/>
                    </a:solidFill>
                    <a:latin typeface="Cambria Math" panose="02040503050406030204" pitchFamily="18" charset="0"/>
                  </a:rPr>
                  <a:t>$(1,0)\in R$</a:t>
                </a:r>
                <a:r>
                  <a:rPr sz="2400" b="0">
                    <a:solidFill>
                      <a:srgbClr val="111827"/>
                    </a:solidFill>
                    <a:latin typeface="Arial"/>
                  </a:rPr>
                  <a:t>, i.e. </a:t>
                </a:r>
                <a:r>
                  <a:rPr lang="en-IN" sz="2400">
                    <a:solidFill>
                      <a:srgbClr val="111827"/>
                    </a:solidFill>
                    <a:latin typeface="Cambria Math" panose="02040503050406030204" pitchFamily="18" charset="0"/>
                  </a:rPr>
                  <a:t>$1=w\cdot0$</a:t>
                </a:r>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not an equivalence relation: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an equivalence relation but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not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$S$</a:t>
                </a:r>
                <a:r>
                  <a:rPr sz="2800" b="1">
                    <a:solidFill>
                      <a:srgbClr val="15803D"/>
                    </a:solidFill>
                    <a:latin typeface="Arial"/>
                  </a:rPr>
                  <a:t> is an equivalence relation but </a:t>
                </a:r>
                <a:r>
                  <a:rPr lang="en-IN" sz="2800">
                    <a:solidFill>
                      <a:srgbClr val="15803D"/>
                    </a:solidFill>
                    <a:latin typeface="Cambria Math" panose="02040503050406030204" pitchFamily="18" charset="0"/>
                  </a:rPr>
                  <a:t>$R$</a:t>
                </a:r>
                <a:r>
                  <a:rPr sz="2800" b="1">
                    <a:solidFill>
                      <a:srgbClr val="15803D"/>
                    </a:solidFill>
                    <a:latin typeface="Arial"/>
                  </a:rPr>
                  <a:t> is not an equivalence relation</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of values under a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always gives an equivalence relation;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is the standard instance and its classes are the rational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𝑦</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from a set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is symmetric only when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contains inverses; for </a:t>
                </a:r>
                <a14:m>
                  <m:oMath xmlns:m="http://schemas.openxmlformats.org/officeDocument/2006/math">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Q</m:t>
                    </m:r>
                  </m:oMath>
                </a14:m>
                <a:r>
                  <a:rPr sz="2400" b="0">
                    <a:solidFill>
                      <a:srgbClr val="111827"/>
                    </a:solidFill>
                    <a:latin typeface="Arial"/>
                  </a:rPr>
                  <a:t> it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(classes </a:t>
                </a:r>
                <a14:m>
                  <m:oMath xmlns:m="http://schemas.openxmlformats.org/officeDocument/2006/math">
                    <m:r>
                      <a:rPr lang="en-IN" sz="2400" i="1">
                        <a:solidFill>
                          <a:srgbClr val="111827"/>
                        </a:solidFill>
                        <a:latin typeface="Cambria Math" panose="02040503050406030204" pitchFamily="18" charset="0"/>
                      </a:rPr>
                      <m:t>𝑟</m:t>
                    </m:r>
                    <m:sSup>
                      <m:e>
                        <m:r>
                          <m:rPr>
                            <m:scr m:val="double-struck"/>
                            <m:sty m:val="p"/>
                          </m:rPr>
                          <a:rPr lang="en-IN" sz="2400">
                            <a:solidFill>
                              <a:srgbClr val="111827"/>
                            </a:solidFill>
                            <a:latin typeface="Cambria Math" panose="02040503050406030204" pitchFamily="18" charset="0"/>
                          </a:rPr>
                          <m:t>Q</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spoils it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 is the usual spoiler in 'x is a multiple of y' relations: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of values under a function (</a:t>
                </a:r>
                <a:r>
                  <a:rPr lang="en-IN" sz="2400">
                    <a:solidFill>
                      <a:srgbClr val="111827"/>
                    </a:solidFill>
                    <a:latin typeface="Cambria Math" panose="02040503050406030204" pitchFamily="18" charset="0"/>
                  </a:rPr>
                  <a:t>$f(a)=f(b)$</a:t>
                </a:r>
                <a:r>
                  <a:rPr sz="2400" b="0">
                    <a:solidFill>
                      <a:srgbClr val="111827"/>
                    </a:solidFill>
                    <a:latin typeface="Arial"/>
                  </a:rPr>
                  <a:t>) always gives an equivalence relation; </a:t>
                </a:r>
                <a:r>
                  <a:rPr lang="en-IN" sz="2400">
                    <a:solidFill>
                      <a:srgbClr val="111827"/>
                    </a:solidFill>
                    <a:latin typeface="Cambria Math" panose="02040503050406030204" pitchFamily="18" charset="0"/>
                  </a:rPr>
                  <a:t>$\frac mn=\frac pq\iff qm=pn$</a:t>
                </a:r>
                <a:r>
                  <a:rPr sz="2400" b="0">
                    <a:solidFill>
                      <a:srgbClr val="111827"/>
                    </a:solidFill>
                    <a:latin typeface="Arial"/>
                  </a:rPr>
                  <a:t> is the standard instance and its classes are the rational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$x=wy$</a:t>
                </a:r>
                <a:r>
                  <a:rPr sz="2400" b="0">
                    <a:solidFill>
                      <a:srgbClr val="111827"/>
                    </a:solidFill>
                    <a:latin typeface="Arial"/>
                  </a:rPr>
                  <a:t> with </a:t>
                </a:r>
                <a:r>
                  <a:rPr lang="en-IN" sz="2400">
                    <a:solidFill>
                      <a:srgbClr val="111827"/>
                    </a:solidFill>
                    <a:latin typeface="Cambria Math" panose="02040503050406030204" pitchFamily="18" charset="0"/>
                  </a:rPr>
                  <a:t>$w$</a:t>
                </a:r>
                <a:r>
                  <a:rPr sz="2400" b="0">
                    <a:solidFill>
                      <a:srgbClr val="111827"/>
                    </a:solidFill>
                    <a:latin typeface="Arial"/>
                  </a:rPr>
                  <a:t> from a set </a:t>
                </a:r>
                <a:r>
                  <a:rPr lang="en-IN" sz="2400">
                    <a:solidFill>
                      <a:srgbClr val="111827"/>
                    </a:solidFill>
                    <a:latin typeface="Cambria Math" panose="02040503050406030204" pitchFamily="18" charset="0"/>
                  </a:rPr>
                  <a:t>$W$</a:t>
                </a:r>
                <a:r>
                  <a:rPr sz="2400" b="0">
                    <a:solidFill>
                      <a:srgbClr val="111827"/>
                    </a:solidFill>
                    <a:latin typeface="Arial"/>
                  </a:rPr>
                  <a:t> is symmetric only when </a:t>
                </a:r>
                <a:r>
                  <a:rPr lang="en-IN" sz="2400">
                    <a:solidFill>
                      <a:srgbClr val="111827"/>
                    </a:solidFill>
                    <a:latin typeface="Cambria Math" panose="02040503050406030204" pitchFamily="18" charset="0"/>
                  </a:rPr>
                  <a:t>$W$</a:t>
                </a:r>
                <a:r>
                  <a:rPr sz="2400" b="0">
                    <a:solidFill>
                      <a:srgbClr val="111827"/>
                    </a:solidFill>
                    <a:latin typeface="Arial"/>
                  </a:rPr>
                  <a:t> contains inverses; for </a:t>
                </a:r>
                <a:r>
                  <a:rPr lang="en-IN" sz="2400">
                    <a:solidFill>
                      <a:srgbClr val="111827"/>
                    </a:solidFill>
                    <a:latin typeface="Cambria Math" panose="02040503050406030204" pitchFamily="18" charset="0"/>
                  </a:rPr>
                  <a:t>$W=\mathbb Q$</a:t>
                </a:r>
                <a:r>
                  <a:rPr sz="2400" b="0">
                    <a:solidFill>
                      <a:srgbClr val="111827"/>
                    </a:solidFill>
                    <a:latin typeface="Arial"/>
                  </a:rPr>
                  <a:t> it is an equivalence relation on </a:t>
                </a:r>
                <a:r>
                  <a:rPr lang="en-IN" sz="2400">
                    <a:solidFill>
                      <a:srgbClr val="111827"/>
                    </a:solidFill>
                    <a:latin typeface="Cambria Math" panose="02040503050406030204" pitchFamily="18" charset="0"/>
                  </a:rPr>
                  <a:t>$\mathbb R\setminus\{0\}$</a:t>
                </a:r>
                <a:r>
                  <a:rPr sz="2400" b="0">
                    <a:solidFill>
                      <a:srgbClr val="111827"/>
                    </a:solidFill>
                    <a:latin typeface="Arial"/>
                  </a:rPr>
                  <a:t> (classes </a:t>
                </a:r>
                <a:r>
                  <a:rPr lang="en-IN" sz="2400">
                    <a:solidFill>
                      <a:srgbClr val="111827"/>
                    </a:solidFill>
                    <a:latin typeface="Cambria Math" panose="02040503050406030204" pitchFamily="18" charset="0"/>
                  </a:rPr>
                  <a:t>$r\mathbb Q^*$</a:t>
                </a:r>
                <a:r>
                  <a:rPr sz="2400" b="0">
                    <a:solidFill>
                      <a:srgbClr val="111827"/>
                    </a:solidFill>
                    <a:latin typeface="Arial"/>
                  </a:rPr>
                  <a:t>), but </a:t>
                </a:r>
                <a:r>
                  <a:rPr lang="en-IN" sz="2400">
                    <a:solidFill>
                      <a:srgbClr val="111827"/>
                    </a:solidFill>
                    <a:latin typeface="Cambria Math" panose="02040503050406030204" pitchFamily="18" charset="0"/>
                  </a:rPr>
                  <a:t>$0$</a:t>
                </a:r>
                <a:r>
                  <a:rPr sz="2400" b="0">
                    <a:solidFill>
                      <a:srgbClr val="111827"/>
                    </a:solidFill>
                    <a:latin typeface="Arial"/>
                  </a:rPr>
                  <a:t> spoils it on </a:t>
                </a:r>
                <a:r>
                  <a:rPr lang="en-IN" sz="2400">
                    <a:solidFill>
                      <a:srgbClr val="111827"/>
                    </a:solidFill>
                    <a:latin typeface="Cambria Math" panose="02040503050406030204" pitchFamily="18" charset="0"/>
                  </a:rPr>
                  <a:t>$\mathbb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 is the usual spoiler in 'x is a multiple of y' relations: </a:t>
                </a:r>
                <a:r>
                  <a:rPr lang="en-IN" sz="2400">
                    <a:solidFill>
                      <a:srgbClr val="111827"/>
                    </a:solidFill>
                    <a:latin typeface="Cambria Math" panose="02040503050406030204" pitchFamily="18" charset="0"/>
                  </a:rPr>
                  <a:t>$0=0\cdot1$</a:t>
                </a:r>
                <a:r>
                  <a:rPr sz="2400" b="0">
                    <a:solidFill>
                      <a:srgbClr val="111827"/>
                    </a:solidFill>
                    <a:latin typeface="Arial"/>
                  </a:rPr>
                  <a:t> but </a:t>
                </a:r>
                <a:r>
                  <a:rPr lang="en-IN" sz="2400">
                    <a:solidFill>
                      <a:srgbClr val="111827"/>
                    </a:solidFill>
                    <a:latin typeface="Cambria Math" panose="02040503050406030204" pitchFamily="18" charset="0"/>
                  </a:rPr>
                  <a:t>$1\neq w\cdot0$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the set of real numbers. Statement-1: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an integer</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Statement-2: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oMath>
                </a14:m>
                <a:r>
                  <a:rPr sz="2400" b="0">
                    <a:solidFill>
                      <a:srgbClr val="111827"/>
                    </a:solidFill>
                    <a:latin typeface="Arial"/>
                  </a:rPr>
                  <a:t> for some rational number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[AIEEE-2011]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Choice>
        <mc:Fallback>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the set of real numbers. Statement-1: </a:t>
                </a:r>
                <a:r>
                  <a:rPr lang="en-IN" sz="2400">
                    <a:solidFill>
                      <a:srgbClr val="111827"/>
                    </a:solidFill>
                    <a:latin typeface="Cambria Math" panose="02040503050406030204" pitchFamily="18" charset="0"/>
                  </a:rPr>
                  <a:t>$A=\{(x,y)\in R\times R: y-x$</a:t>
                </a:r>
                <a:r>
                  <a:rPr sz="2400" b="0">
                    <a:solidFill>
                      <a:srgbClr val="111827"/>
                    </a:solidFill>
                    <a:latin typeface="Arial"/>
                  </a:rPr>
                  <a:t> is an integer</a:t>
                </a:r>
                <a:r>
                  <a:rPr lang="en-IN" sz="2400">
                    <a:solidFill>
                      <a:srgbClr val="111827"/>
                    </a:solidFill>
                    <a:latin typeface="Cambria Math" panose="02040503050406030204" pitchFamily="18" charset="0"/>
                  </a:rPr>
                  <a: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r>
                  <a:rPr sz="2400" b="0">
                    <a:solidFill>
                      <a:srgbClr val="111827"/>
                    </a:solidFill>
                    <a:latin typeface="Arial"/>
                  </a:rPr>
                  <a:t>. Statement-2: </a:t>
                </a:r>
                <a:r>
                  <a:rPr lang="en-IN" sz="2400">
                    <a:solidFill>
                      <a:srgbClr val="111827"/>
                    </a:solidFill>
                    <a:latin typeface="Cambria Math" panose="02040503050406030204" pitchFamily="18" charset="0"/>
                  </a:rPr>
                  <a:t>$B=\{(x,y)\in R\times R: x=\alpha y$</a:t>
                </a:r>
                <a:r>
                  <a:rPr sz="2400" b="0">
                    <a:solidFill>
                      <a:srgbClr val="111827"/>
                    </a:solidFill>
                    <a:latin typeface="Arial"/>
                  </a:rPr>
                  <a:t> for some rational number </a:t>
                </a:r>
                <a:r>
                  <a:rPr lang="en-IN" sz="2400">
                    <a:solidFill>
                      <a:srgbClr val="111827"/>
                    </a:solidFill>
                    <a:latin typeface="Cambria Math" panose="02040503050406030204" pitchFamily="18" charset="0"/>
                  </a:rPr>
                  <a:t>$\alpha\}$</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$R$</a:t>
                </a:r>
                <a:r>
                  <a:rPr sz="2400" b="0">
                    <a:solidFill>
                      <a:srgbClr val="111827"/>
                    </a:solidFill>
                    <a:latin typeface="Arial"/>
                  </a:rPr>
                  <a:t>. [AIEEE-2011]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Statement-1 uses integer arithmetic; Statement-2 fails symmetry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because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is allowed.</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Statement-1 uses integer arithmetic; Statement-2 fails symmetry at </a:t>
                </a:r>
                <a:r>
                  <a:rPr lang="en-IN" sz="2400">
                    <a:solidFill>
                      <a:srgbClr val="78350F"/>
                    </a:solidFill>
                    <a:latin typeface="Cambria Math" panose="02040503050406030204" pitchFamily="18" charset="0"/>
                  </a:rPr>
                  <a:t>$(0,1)$</a:t>
                </a:r>
                <a:r>
                  <a:rPr sz="2400" b="0">
                    <a:solidFill>
                      <a:srgbClr val="78350F"/>
                    </a:solidFill>
                    <a:latin typeface="Arial"/>
                  </a:rPr>
                  <a:t> because </a:t>
                </a:r>
                <a:r>
                  <a:rPr lang="en-IN" sz="2400">
                    <a:solidFill>
                      <a:srgbClr val="78350F"/>
                    </a:solidFill>
                    <a:latin typeface="Cambria Math" panose="02040503050406030204" pitchFamily="18" charset="0"/>
                  </a:rPr>
                  <a:t>$\alpha=0$</a:t>
                </a:r>
                <a:r>
                  <a:rPr sz="2400" b="0">
                    <a:solidFill>
                      <a:srgbClr val="78350F"/>
                    </a:solidFill>
                    <a:latin typeface="Arial"/>
                  </a:rPr>
                  <a:t> is allowed.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Statement-1: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an integer.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an integer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an integer. Yes.</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Statement-1: </a:t>
                </a:r>
                <a:r>
                  <a:rPr lang="en-IN" sz="2400">
                    <a:solidFill>
                      <a:srgbClr val="111827"/>
                    </a:solidFill>
                    <a:latin typeface="Cambria Math" panose="02040503050406030204" pitchFamily="18" charset="0"/>
                  </a:rPr>
                  <a:t>$A=\{(x,y): y-x\in\mathbb Z\}$</a:t>
                </a:r>
                <a:r>
                  <a:rPr sz="2400" b="0">
                    <a:solidFill>
                      <a:srgbClr val="111827"/>
                    </a:solidFill>
                    <a:latin typeface="Arial"/>
                  </a:rPr>
                  <a:t>. Reflexive: </a:t>
                </a:r>
                <a:r>
                  <a:rPr lang="en-IN" sz="2400">
                    <a:solidFill>
                      <a:srgbClr val="111827"/>
                    </a:solidFill>
                    <a:latin typeface="Cambria Math" panose="02040503050406030204" pitchFamily="18" charset="0"/>
                  </a:rPr>
                  <a:t>$y-y=0$</a:t>
                </a:r>
                <a:r>
                  <a:rPr sz="2400" b="0">
                    <a:solidFill>
                      <a:srgbClr val="111827"/>
                    </a:solidFill>
                    <a:latin typeface="Arial"/>
                  </a:rPr>
                  <a:t> is an integer.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$y-x$</a:t>
                </a:r>
                <a:r>
                  <a:rPr sz="2400" b="0">
                    <a:solidFill>
                      <a:srgbClr val="111827"/>
                    </a:solidFill>
                    <a:latin typeface="Arial"/>
                  </a:rPr>
                  <a:t> is an integer then </a:t>
                </a:r>
                <a:r>
                  <a:rPr lang="en-IN" sz="2400">
                    <a:solidFill>
                      <a:srgbClr val="111827"/>
                    </a:solidFill>
                    <a:latin typeface="Cambria Math" panose="02040503050406030204" pitchFamily="18" charset="0"/>
                  </a:rPr>
                  <a:t>$x-y=-(y-x)$</a:t>
                </a:r>
                <a:r>
                  <a:rPr sz="2400" b="0">
                    <a:solidFill>
                      <a:srgbClr val="111827"/>
                    </a:solidFill>
                    <a:latin typeface="Arial"/>
                  </a:rPr>
                  <a:t> is also an integer. Yes.</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(1)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(2). Adding: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Q</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not an equivalence relation: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and Statement-2 false.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$y-x\in\mathbb Z$</a:t>
                </a:r>
                <a:r>
                  <a:rPr sz="2400" b="0">
                    <a:solidFill>
                      <a:srgbClr val="111827"/>
                    </a:solidFill>
                    <a:latin typeface="Arial"/>
                  </a:rPr>
                  <a:t> (1) and </a:t>
                </a:r>
                <a:r>
                  <a:rPr lang="en-IN" sz="2400">
                    <a:solidFill>
                      <a:srgbClr val="111827"/>
                    </a:solidFill>
                    <a:latin typeface="Cambria Math" panose="02040503050406030204" pitchFamily="18" charset="0"/>
                  </a:rPr>
                  <a:t>$z-y\in\mathbb Z$</a:t>
                </a:r>
                <a:r>
                  <a:rPr sz="2400" b="0">
                    <a:solidFill>
                      <a:srgbClr val="111827"/>
                    </a:solidFill>
                    <a:latin typeface="Arial"/>
                  </a:rPr>
                  <a:t> (2). Adding: </a:t>
                </a:r>
                <a:r>
                  <a:rPr lang="en-IN" sz="2400">
                    <a:solidFill>
                      <a:srgbClr val="111827"/>
                    </a:solidFill>
                    <a:latin typeface="Cambria Math" panose="02040503050406030204" pitchFamily="18" charset="0"/>
                  </a:rPr>
                  <a:t>$z-x\in\mathbb Z$</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a:t>
                </a:r>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a:t>
                </a:r>
                <a:r>
                  <a:rPr lang="en-IN" sz="2400">
                    <a:solidFill>
                      <a:srgbClr val="111827"/>
                    </a:solidFill>
                    <a:latin typeface="Cambria Math" panose="02040503050406030204" pitchFamily="18" charset="0"/>
                  </a:rPr>
                  <a:t>$B=\{(x,y): x=\alpha y,\ \alpha\in\mathbb Q\}$</a:t>
                </a:r>
                <a:r>
                  <a:rPr sz="2400" b="0">
                    <a:solidFill>
                      <a:srgbClr val="111827"/>
                    </a:solidFill>
                    <a:latin typeface="Arial"/>
                  </a:rPr>
                  <a:t>. Reflexive: </a:t>
                </a:r>
                <a:r>
                  <a:rPr lang="en-IN" sz="2400">
                    <a:solidFill>
                      <a:srgbClr val="111827"/>
                    </a:solidFill>
                    <a:latin typeface="Cambria Math" panose="02040503050406030204" pitchFamily="18" charset="0"/>
                  </a:rPr>
                  <a:t>$x=1\cdot x$</a:t>
                </a:r>
                <a:r>
                  <a:rPr sz="2400" b="0">
                    <a:solidFill>
                      <a:srgbClr val="111827"/>
                    </a:solidFill>
                    <a:latin typeface="Arial"/>
                  </a:rPr>
                  <a:t> with </a:t>
                </a:r>
                <a:r>
                  <a:rPr lang="en-IN" sz="2400">
                    <a:solidFill>
                      <a:srgbClr val="111827"/>
                    </a:solidFill>
                    <a:latin typeface="Cambria Math" panose="02040503050406030204" pitchFamily="18" charset="0"/>
                  </a:rPr>
                  <a:t>$\alpha=1$</a:t>
                </a:r>
                <a:r>
                  <a:rPr sz="2400" b="0">
                    <a:solidFill>
                      <a:srgbClr val="111827"/>
                    </a:solidFill>
                    <a:latin typeface="Arial"/>
                  </a:rPr>
                  <a:t>.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$(0,1)\in B$</a:t>
                </a:r>
                <a:r>
                  <a:rPr sz="2400" b="0">
                    <a:solidFill>
                      <a:srgbClr val="111827"/>
                    </a:solidFill>
                    <a:latin typeface="Arial"/>
                  </a:rPr>
                  <a:t> since </a:t>
                </a:r>
                <a:r>
                  <a:rPr lang="en-IN" sz="2400">
                    <a:solidFill>
                      <a:srgbClr val="111827"/>
                    </a:solidFill>
                    <a:latin typeface="Cambria Math" panose="02040503050406030204" pitchFamily="18" charset="0"/>
                  </a:rPr>
                  <a:t>$0=0\cdot1$</a:t>
                </a:r>
                <a:r>
                  <a:rPr sz="2400" b="0">
                    <a:solidFill>
                      <a:srgbClr val="111827"/>
                    </a:solidFill>
                    <a:latin typeface="Arial"/>
                  </a:rPr>
                  <a:t>, but </a:t>
                </a:r>
                <a:r>
                  <a:rPr lang="en-IN" sz="2400">
                    <a:solidFill>
                      <a:srgbClr val="111827"/>
                    </a:solidFill>
                    <a:latin typeface="Cambria Math" panose="02040503050406030204" pitchFamily="18" charset="0"/>
                  </a:rPr>
                  <a:t>$(1,0)\notin B$</a:t>
                </a:r>
                <a:r>
                  <a:rPr sz="2400" b="0">
                    <a:solidFill>
                      <a:srgbClr val="111827"/>
                    </a:solidFill>
                    <a:latin typeface="Arial"/>
                  </a:rPr>
                  <a:t> since </a:t>
                </a:r>
                <a:r>
                  <a:rPr lang="en-IN" sz="2400">
                    <a:solidFill>
                      <a:srgbClr val="111827"/>
                    </a:solidFill>
                    <a:latin typeface="Cambria Math" panose="02040503050406030204" pitchFamily="18" charset="0"/>
                  </a:rPr>
                  <a:t>$1=\alpha\cdot0$</a:t>
                </a:r>
                <a:r>
                  <a:rPr sz="2400" b="0">
                    <a:solidFill>
                      <a:srgbClr val="111827"/>
                    </a:solidFill>
                    <a:latin typeface="Arial"/>
                  </a:rPr>
                  <a:t> is impossible. So </a:t>
                </a:r>
                <a:r>
                  <a:rPr lang="en-IN" sz="2400">
                    <a:solidFill>
                      <a:srgbClr val="111827"/>
                    </a:solidFill>
                    <a:latin typeface="Cambria Math" panose="02040503050406030204" pitchFamily="18" charset="0"/>
                  </a:rPr>
                  <a:t>$B$</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a:t>
                </a:r>
                <a:r>
                  <a:rPr sz="2400" b="0">
                    <a:solidFill>
                      <a:srgbClr val="111827"/>
                    </a:solidFill>
                    <a:latin typeface="Arial"/>
                  </a:rPr>
                  <a:t> is not an equivalence relation: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and Statement-2 false.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Statement-1 is true, Statement-2 is false</a:t>
            </a:r>
            <a:endParaRPr sz="2800">
              <a:solidFill>
                <a:srgbClr val="15803D"/>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cr m:val="double-struck"/>
                        <m:sty m:val="p"/>
                      </m:rPr>
                      <a:rPr lang="en-IN" sz="2400">
                        <a:solidFill>
                          <a:srgbClr val="78350F"/>
                        </a:solidFill>
                        <a:latin typeface="Cambria Math" panose="02040503050406030204" pitchFamily="18" charset="0"/>
                      </a:rPr>
                      <m:t>Z</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Statement-1 is 'same fractional part'; Statement-2 fails already on the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$y-x\in\mathbb Z\iff\{x\}=\{y\}$</a:t>
                </a:r>
                <a:r>
                  <a:rPr sz="2400" b="0">
                    <a:solidFill>
                      <a:srgbClr val="78350F"/>
                    </a:solidFill>
                    <a:latin typeface="Arial"/>
                  </a:rPr>
                  <a:t>, so Statement-1 is 'same fractional part'; Statement-2 fails already on the pair </a:t>
                </a:r>
                <a:r>
                  <a:rPr lang="en-IN" sz="2400">
                    <a:solidFill>
                      <a:srgbClr val="78350F"/>
                    </a:solidFill>
                    <a:latin typeface="Cambria Math" panose="02040503050406030204" pitchFamily="18" charset="0"/>
                  </a:rPr>
                  <a:t>$(0,1)$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(fractional parts equal),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of the value of a function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reflexive, symmetric and transitive, hence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an equivalence relation and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test the single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no solution,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not symmetric, Statement-2 is false: option (A).</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$y-x\in\mathbb Z\iff\{x\}=\{y\}$</a:t>
                </a:r>
                <a:r>
                  <a:rPr sz="2400" b="0">
                    <a:solidFill>
                      <a:srgbClr val="111827"/>
                    </a:solidFill>
                    <a:latin typeface="Arial"/>
                  </a:rPr>
                  <a:t> (fractional parts equal), so </a:t>
                </a:r>
                <a:r>
                  <a:rPr lang="en-IN" sz="2400">
                    <a:solidFill>
                      <a:srgbClr val="111827"/>
                    </a:solidFill>
                    <a:latin typeface="Cambria Math" panose="02040503050406030204" pitchFamily="18" charset="0"/>
                  </a:rPr>
                  <a:t>$A=\{(x,y):\{x\}=\{y\}\}$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of the value of a function </a:t>
                </a:r>
                <a:r>
                  <a:rPr lang="en-IN" sz="2400">
                    <a:solidFill>
                      <a:srgbClr val="111827"/>
                    </a:solidFill>
                    <a:latin typeface="Cambria Math" panose="02040503050406030204" pitchFamily="18" charset="0"/>
                  </a:rPr>
                  <a:t>$x\mapsto\{x\}$</a:t>
                </a:r>
                <a:r>
                  <a:rPr sz="2400" b="0">
                    <a:solidFill>
                      <a:srgbClr val="111827"/>
                    </a:solidFill>
                    <a:latin typeface="Arial"/>
                  </a:rPr>
                  <a:t> is reflexive, symmetric and transitive, hence </a:t>
                </a:r>
                <a:r>
                  <a:rPr lang="en-IN" sz="2400">
                    <a:solidFill>
                      <a:srgbClr val="111827"/>
                    </a:solidFill>
                    <a:latin typeface="Cambria Math" panose="02040503050406030204" pitchFamily="18" charset="0"/>
                  </a:rPr>
                  <a:t>$A$</a:t>
                </a:r>
                <a:r>
                  <a:rPr sz="2400" b="0">
                    <a:solidFill>
                      <a:srgbClr val="111827"/>
                    </a:solidFill>
                    <a:latin typeface="Arial"/>
                  </a:rPr>
                  <a:t> is an equivalence relation and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a:t>
                </a:r>
                <a:r>
                  <a:rPr sz="2400" b="0">
                    <a:solidFill>
                      <a:srgbClr val="111827"/>
                    </a:solidFill>
                    <a:latin typeface="Arial"/>
                  </a:rPr>
                  <a:t> test the single pair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$0=0\cdot1$</a:t>
                </a:r>
                <a:r>
                  <a:rPr sz="2400" b="0">
                    <a:solidFill>
                      <a:srgbClr val="111827"/>
                    </a:solidFill>
                    <a:latin typeface="Arial"/>
                  </a:rPr>
                  <a:t> gives </a:t>
                </a:r>
                <a:r>
                  <a:rPr lang="en-IN" sz="2400">
                    <a:solidFill>
                      <a:srgbClr val="111827"/>
                    </a:solidFill>
                    <a:latin typeface="Cambria Math" panose="02040503050406030204" pitchFamily="18" charset="0"/>
                  </a:rPr>
                  <a:t>$(0,1)\in B$</a:t>
                </a:r>
                <a:r>
                  <a:rPr sz="2400" b="0">
                    <a:solidFill>
                      <a:srgbClr val="111827"/>
                    </a:solidFill>
                    <a:latin typeface="Arial"/>
                  </a:rPr>
                  <a:t> but </a:t>
                </a:r>
                <a:r>
                  <a:rPr lang="en-IN" sz="2400">
                    <a:solidFill>
                      <a:srgbClr val="111827"/>
                    </a:solidFill>
                    <a:latin typeface="Cambria Math" panose="02040503050406030204" pitchFamily="18" charset="0"/>
                  </a:rPr>
                  <a:t>$1=\alpha\cdot0$</a:t>
                </a:r>
                <a:r>
                  <a:rPr sz="2400" b="0">
                    <a:solidFill>
                      <a:srgbClr val="111827"/>
                    </a:solidFill>
                    <a:latin typeface="Arial"/>
                  </a:rPr>
                  <a:t> has no solution, so </a:t>
                </a:r>
                <a:r>
                  <a:rPr lang="en-IN" sz="2400">
                    <a:solidFill>
                      <a:srgbClr val="111827"/>
                    </a:solidFill>
                    <a:latin typeface="Cambria Math" panose="02040503050406030204" pitchFamily="18" charset="0"/>
                  </a:rPr>
                  <a:t>$(1,0)\notin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$B$</a:t>
                </a:r>
                <a:r>
                  <a:rPr sz="2400" b="0">
                    <a:solidFill>
                      <a:srgbClr val="111827"/>
                    </a:solidFill>
                    <a:latin typeface="Arial"/>
                  </a:rPr>
                  <a:t> is not symmetric, Statement-2 is false: option (A).</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Statement-1 is true, Statement-2 is false</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'assertion-reason' relation questions check each statement separately with the three axioms; a single counterexample kills a statement.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standard equivalence relation; classes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relations of the type 'x is a rational multiple of y' remember that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 rational multiple of everything but nothing is a multiple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except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'assertion-reason' relation questions check each statement separately with the three axioms; a single counterexample kills a statement.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$x-y\in\mathbb Z\iff\{x\}=\{y\}$</a:t>
                </a:r>
                <a:r>
                  <a:rPr sz="2400" b="0">
                    <a:solidFill>
                      <a:srgbClr val="111827"/>
                    </a:solidFill>
                    <a:latin typeface="Arial"/>
                  </a:rPr>
                  <a:t> is a standard equivalence relation; classes </a:t>
                </a:r>
                <a:r>
                  <a:rPr lang="en-IN" sz="2400">
                    <a:solidFill>
                      <a:srgbClr val="111827"/>
                    </a:solidFill>
                    <a:latin typeface="Cambria Math" panose="02040503050406030204" pitchFamily="18" charset="0"/>
                  </a:rPr>
                  <a:t>$x+\mathbb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relations of the type 'x is a rational multiple of y' remember that </a:t>
                </a:r>
                <a:r>
                  <a:rPr lang="en-IN" sz="2400">
                    <a:solidFill>
                      <a:srgbClr val="111827"/>
                    </a:solidFill>
                    <a:latin typeface="Cambria Math" panose="02040503050406030204" pitchFamily="18" charset="0"/>
                  </a:rPr>
                  <a:t>$0$</a:t>
                </a:r>
                <a:r>
                  <a:rPr sz="2400" b="0">
                    <a:solidFill>
                      <a:srgbClr val="111827"/>
                    </a:solidFill>
                    <a:latin typeface="Arial"/>
                  </a:rPr>
                  <a:t> is a rational multiple of everything but nothing is a multiple of </a:t>
                </a:r>
                <a:r>
                  <a:rPr lang="en-IN" sz="2400">
                    <a:solidFill>
                      <a:srgbClr val="111827"/>
                    </a:solidFill>
                    <a:latin typeface="Cambria Math" panose="02040503050406030204" pitchFamily="18" charset="0"/>
                  </a:rPr>
                  <a:t>$0$</a:t>
                </a:r>
                <a:r>
                  <a:rPr sz="2400" b="0">
                    <a:solidFill>
                      <a:srgbClr val="111827"/>
                    </a:solidFill>
                    <a:latin typeface="Arial"/>
                  </a:rPr>
                  <a:t> except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6511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the set of real square matrices of order 3.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for some invertible matrix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Statement-1: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Statement-2: For any two invertible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matrices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[AIEEE-2011]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false.</a:t>
                </a:r>
                <a:endParaRPr sz="2400">
                  <a:solidFill>
                    <a:srgbClr val="111827"/>
                  </a:solidFill>
                </a:endParaRPr>
              </a:p>
            </p:txBody>
          </p:sp>
        </mc:Choice>
        <mc:Fallback>
          <p:sp>
            <p:nvSpPr>
              <p:cNvPr id="4" name="Rounded Rectangle 3"/>
              <p:cNvSpPr/>
              <p:nvPr/>
            </p:nvSpPr>
            <p:spPr>
              <a:xfrm>
                <a:off x="731520" y="1280160"/>
                <a:ext cx="10725912" cy="486511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 </a:t>
                </a:r>
                <a:r>
                  <a:rPr lang="en-IN" sz="2400">
                    <a:solidFill>
                      <a:srgbClr val="111827"/>
                    </a:solidFill>
                    <a:latin typeface="Cambria Math" panose="02040503050406030204" pitchFamily="18" charset="0"/>
                  </a:rPr>
                  <a:t>$R$</a:t>
                </a:r>
                <a:r>
                  <a:rPr sz="2400" b="0">
                    <a:solidFill>
                      <a:srgbClr val="111827"/>
                    </a:solidFill>
                    <a:latin typeface="Arial"/>
                  </a:rPr>
                  <a:t> on the set of real square matrices of order 3. </a:t>
                </a:r>
                <a:r>
                  <a:rPr lang="en-IN" sz="2400">
                    <a:solidFill>
                      <a:srgbClr val="111827"/>
                    </a:solidFill>
                    <a:latin typeface="Cambria Math" panose="02040503050406030204" pitchFamily="18" charset="0"/>
                  </a:rPr>
                  <a:t>$R=\{(A,B)\mid A=P^{-1}BP$</a:t>
                </a:r>
                <a:r>
                  <a:rPr sz="2400" b="0">
                    <a:solidFill>
                      <a:srgbClr val="111827"/>
                    </a:solidFill>
                    <a:latin typeface="Arial"/>
                  </a:rPr>
                  <a:t> for some invertible matrix </a:t>
                </a:r>
                <a:r>
                  <a:rPr lang="en-IN" sz="2400">
                    <a:solidFill>
                      <a:srgbClr val="111827"/>
                    </a:solidFill>
                    <a:latin typeface="Cambria Math" panose="02040503050406030204" pitchFamily="18" charset="0"/>
                  </a:rPr>
                  <a:t>$P\}$</a:t>
                </a:r>
                <a:r>
                  <a:rPr sz="2400" b="0">
                    <a:solidFill>
                      <a:srgbClr val="111827"/>
                    </a:solidFill>
                    <a:latin typeface="Arial"/>
                  </a:rPr>
                  <a:t>. Statement-1: </a:t>
                </a:r>
                <a:r>
                  <a:rPr lang="en-IN" sz="2400">
                    <a:solidFill>
                      <a:srgbClr val="111827"/>
                    </a:solidFill>
                    <a:latin typeface="Cambria Math" panose="02040503050406030204" pitchFamily="18" charset="0"/>
                  </a:rPr>
                  <a:t>$R$</a:t>
                </a:r>
                <a:r>
                  <a:rPr sz="2400" b="0">
                    <a:solidFill>
                      <a:srgbClr val="111827"/>
                    </a:solidFill>
                    <a:latin typeface="Arial"/>
                  </a:rPr>
                  <a:t> is an equivalence relation. Statement-2: For any two invertible </a:t>
                </a:r>
                <a:r>
                  <a:rPr lang="en-IN" sz="2400">
                    <a:solidFill>
                      <a:srgbClr val="111827"/>
                    </a:solidFill>
                    <a:latin typeface="Cambria Math" panose="02040503050406030204" pitchFamily="18" charset="0"/>
                  </a:rPr>
                  <a:t>$3\times3$</a:t>
                </a:r>
                <a:r>
                  <a:rPr sz="2400" b="0">
                    <a:solidFill>
                      <a:srgbClr val="111827"/>
                    </a:solidFill>
                    <a:latin typeface="Arial"/>
                  </a:rPr>
                  <a:t> matrices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$(MN)^{-1}=N^{-1}M^{-1}$</a:t>
                </a:r>
                <a:r>
                  <a:rPr sz="2400" b="0">
                    <a:solidFill>
                      <a:srgbClr val="111827"/>
                    </a:solidFill>
                    <a:latin typeface="Arial"/>
                  </a:rPr>
                  <a:t>. [AIEEE-2011]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false.</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 Matrices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Symmetry and transitivity of similarity both need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𝑀</m:t>
                    </m:r>
                    <m:r>
                      <a:rPr lang="en-IN" sz="2400" i="1">
                        <a:solidFill>
                          <a:srgbClr val="78350F"/>
                        </a:solidFill>
                        <a:latin typeface="Cambria Math" panose="02040503050406030204" pitchFamily="18" charset="0"/>
                      </a:rPr>
                      <m:t>𝑁</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𝑁</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sSup>
                      <m:e>
                        <m:r>
                          <a:rPr lang="en-IN" sz="2400" i="1">
                            <a:solidFill>
                              <a:srgbClr val="78350F"/>
                            </a:solidFill>
                            <a:latin typeface="Cambria Math" panose="02040503050406030204" pitchFamily="18" charset="0"/>
                          </a:rPr>
                          <m:t>𝑀</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on the product of the conjugating matrices.</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Symmetry and transitivity of similarity both need </a:t>
                </a:r>
                <a:r>
                  <a:rPr lang="en-IN" sz="2400">
                    <a:solidFill>
                      <a:srgbClr val="78350F"/>
                    </a:solidFill>
                    <a:latin typeface="Cambria Math" panose="02040503050406030204" pitchFamily="18" charset="0"/>
                  </a:rPr>
                  <a:t>$(MN)^{-1}=N^{-1}M^{-1}$</a:t>
                </a:r>
                <a:r>
                  <a:rPr sz="2400" b="0">
                    <a:solidFill>
                      <a:srgbClr val="78350F"/>
                    </a:solidFill>
                    <a:latin typeface="Arial"/>
                  </a:rPr>
                  <a:t> on the product of the conjugating matrices.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𝐼</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𝐼</m:t>
                    </m:r>
                  </m:oMath>
                </a14:m>
                <a:r>
                  <a:rPr sz="2400" b="0">
                    <a:solidFill>
                      <a:srgbClr val="111827"/>
                    </a:solidFill>
                    <a:latin typeface="Arial"/>
                  </a:rPr>
                  <a:t> with the invertible matrix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invertible.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$A=I^{-1}AI$</a:t>
                </a:r>
                <a:r>
                  <a:rPr sz="2400" b="0">
                    <a:solidFill>
                      <a:srgbClr val="111827"/>
                    </a:solidFill>
                    <a:latin typeface="Arial"/>
                  </a:rPr>
                  <a:t> with the invertible matrix </a:t>
                </a:r>
                <a:r>
                  <a:rPr lang="en-IN" sz="2400">
                    <a:solidFill>
                      <a:srgbClr val="111827"/>
                    </a:solidFill>
                    <a:latin typeface="Cambria Math" panose="02040503050406030204" pitchFamily="18" charset="0"/>
                  </a:rPr>
                  <a:t>$P=I$</a:t>
                </a:r>
                <a:r>
                  <a:rPr sz="2400" b="0">
                    <a:solidFill>
                      <a:srgbClr val="111827"/>
                    </a:solidFill>
                    <a:latin typeface="Arial"/>
                  </a:rPr>
                  <a:t>. So </a:t>
                </a:r>
                <a:r>
                  <a:rPr lang="en-IN" sz="2400">
                    <a:solidFill>
                      <a:srgbClr val="111827"/>
                    </a:solidFill>
                    <a:latin typeface="Cambria Math" panose="02040503050406030204" pitchFamily="18" charset="0"/>
                  </a:rPr>
                  <a:t>$(A,A)\in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$A=P^{-1}BP$</a:t>
                </a:r>
                <a:r>
                  <a:rPr sz="2400" b="0">
                    <a:solidFill>
                      <a:srgbClr val="111827"/>
                    </a:solidFill>
                    <a:latin typeface="Arial"/>
                  </a:rPr>
                  <a:t>. Then </a:t>
                </a:r>
                <a:r>
                  <a:rPr lang="en-IN" sz="2400">
                    <a:solidFill>
                      <a:srgbClr val="111827"/>
                    </a:solidFill>
                    <a:latin typeface="Cambria Math" panose="02040503050406030204" pitchFamily="18" charset="0"/>
                  </a:rPr>
                  <a:t>$B=PAP^{-1}=(P^{-1})^{-1}AP^{-1}$</a:t>
                </a:r>
                <a:r>
                  <a:rPr sz="2400" b="0">
                    <a:solidFill>
                      <a:srgbClr val="111827"/>
                    </a:solidFill>
                    <a:latin typeface="Arial"/>
                  </a:rPr>
                  <a:t>, with </a:t>
                </a:r>
                <a:r>
                  <a:rPr lang="en-IN" sz="2400">
                    <a:solidFill>
                      <a:srgbClr val="111827"/>
                    </a:solidFill>
                    <a:latin typeface="Cambria Math" panose="02040503050406030204" pitchFamily="18" charset="0"/>
                  </a:rPr>
                  <a:t>$P^{-1}$</a:t>
                </a:r>
                <a:r>
                  <a:rPr sz="2400" b="0">
                    <a:solidFill>
                      <a:srgbClr val="111827"/>
                    </a:solidFill>
                    <a:latin typeface="Arial"/>
                  </a:rPr>
                  <a:t> invertible. So </a:t>
                </a:r>
                <a:r>
                  <a:rPr lang="en-IN" sz="2400">
                    <a:solidFill>
                      <a:srgbClr val="111827"/>
                    </a:solidFill>
                    <a:latin typeface="Cambria Math" panose="02040503050406030204" pitchFamily="18" charset="0"/>
                  </a:rPr>
                  <a:t>$(B,A)\in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(Statement-2):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 invertible.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for invertible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is true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exactly what makes the product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 work in the transitivity step, so it explains Statement-1.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$A=P^{-1}BP$</a:t>
                </a:r>
                <a:r>
                  <a:rPr sz="2400" b="0">
                    <a:solidFill>
                      <a:srgbClr val="111827"/>
                    </a:solidFill>
                    <a:latin typeface="Arial"/>
                  </a:rPr>
                  <a:t> and </a:t>
                </a:r>
                <a:r>
                  <a:rPr lang="en-IN" sz="2400">
                    <a:solidFill>
                      <a:srgbClr val="111827"/>
                    </a:solidFill>
                    <a:latin typeface="Cambria Math" panose="02040503050406030204" pitchFamily="18" charset="0"/>
                  </a:rPr>
                  <a:t>$B=Q^{-1}CQ$</a:t>
                </a:r>
                <a:r>
                  <a:rPr sz="2400" b="0">
                    <a:solidFill>
                      <a:srgbClr val="111827"/>
                    </a:solidFill>
                    <a:latin typeface="Arial"/>
                  </a:rPr>
                  <a:t>. Then </a:t>
                </a:r>
                <a:r>
                  <a:rPr lang="en-IN" sz="2400">
                    <a:solidFill>
                      <a:srgbClr val="111827"/>
                    </a:solidFill>
                    <a:latin typeface="Cambria Math" panose="02040503050406030204" pitchFamily="18" charset="0"/>
                  </a:rPr>
                  <a:t>$A=P^{-1}Q^{-1}CQP$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$(QP)^{-1}=P^{-1}Q^{-1}$</a:t>
                </a:r>
                <a:r>
                  <a:rPr sz="2400" b="0">
                    <a:solidFill>
                      <a:srgbClr val="111827"/>
                    </a:solidFill>
                    <a:latin typeface="Arial"/>
                  </a:rPr>
                  <a:t> (Statement-2): </a:t>
                </a:r>
                <a:r>
                  <a:rPr lang="en-IN" sz="2400">
                    <a:solidFill>
                      <a:srgbClr val="111827"/>
                    </a:solidFill>
                    <a:latin typeface="Cambria Math" panose="02040503050406030204" pitchFamily="18" charset="0"/>
                  </a:rPr>
                  <a:t>$A=(QP)^{-1}C(QP)$</a:t>
                </a:r>
                <a:r>
                  <a:rPr sz="2400" b="0">
                    <a:solidFill>
                      <a:srgbClr val="111827"/>
                    </a:solidFill>
                    <a:latin typeface="Arial"/>
                  </a:rPr>
                  <a:t>, with </a:t>
                </a:r>
                <a:r>
                  <a:rPr lang="en-IN" sz="2400">
                    <a:solidFill>
                      <a:srgbClr val="111827"/>
                    </a:solidFill>
                    <a:latin typeface="Cambria Math" panose="02040503050406030204" pitchFamily="18" charset="0"/>
                  </a:rPr>
                  <a:t>$QP$</a:t>
                </a:r>
                <a:r>
                  <a:rPr sz="2400" b="0">
                    <a:solidFill>
                      <a:srgbClr val="111827"/>
                    </a:solidFill>
                    <a:latin typeface="Arial"/>
                  </a:rPr>
                  <a:t> invertible. So </a:t>
                </a:r>
                <a:r>
                  <a:rPr lang="en-IN" sz="2400">
                    <a:solidFill>
                      <a:srgbClr val="111827"/>
                    </a:solidFill>
                    <a:latin typeface="Cambria Math" panose="02040503050406030204" pitchFamily="18" charset="0"/>
                  </a:rPr>
                  <a:t>$(A,C)\in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a:t>
                </a:r>
                <a:r>
                  <a:rPr lang="en-IN" sz="2400">
                    <a:solidFill>
                      <a:srgbClr val="111827"/>
                    </a:solidFill>
                    <a:latin typeface="Cambria Math" panose="02040503050406030204" pitchFamily="18" charset="0"/>
                  </a:rPr>
                  <a:t>$(MN)^{-1}=N^{-1}M^{-1}$</a:t>
                </a:r>
                <a:r>
                  <a:rPr sz="2400" b="0">
                    <a:solidFill>
                      <a:srgbClr val="111827"/>
                    </a:solidFill>
                    <a:latin typeface="Arial"/>
                  </a:rPr>
                  <a:t> for invertible </a:t>
                </a:r>
                <a:r>
                  <a:rPr lang="en-IN" sz="2400">
                    <a:solidFill>
                      <a:srgbClr val="111827"/>
                    </a:solidFill>
                    <a:latin typeface="Cambria Math" panose="02040503050406030204" pitchFamily="18" charset="0"/>
                  </a:rPr>
                  <a:t>$M,N$</a:t>
                </a:r>
                <a:r>
                  <a:rPr sz="2400" b="0">
                    <a:solidFill>
                      <a:srgbClr val="111827"/>
                    </a:solidFill>
                    <a:latin typeface="Arial"/>
                  </a:rPr>
                  <a:t>, is true since </a:t>
                </a:r>
                <a:r>
                  <a:rPr lang="en-IN" sz="2400">
                    <a:solidFill>
                      <a:srgbClr val="111827"/>
                    </a:solidFill>
                    <a:latin typeface="Cambria Math" panose="02040503050406030204" pitchFamily="18" charset="0"/>
                  </a:rPr>
                  <a:t>$(MN)(N^{-1}M^{-1})=I$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exactly what makes the product </a:t>
                </a:r>
                <a:r>
                  <a:rPr lang="en-IN" sz="2400">
                    <a:solidFill>
                      <a:srgbClr val="111827"/>
                    </a:solidFill>
                    <a:latin typeface="Cambria Math" panose="02040503050406030204" pitchFamily="18" charset="0"/>
                  </a:rPr>
                  <a:t>$QP$</a:t>
                </a:r>
                <a:r>
                  <a:rPr sz="2400" b="0">
                    <a:solidFill>
                      <a:srgbClr val="111827"/>
                    </a:solidFill>
                    <a:latin typeface="Arial"/>
                  </a:rPr>
                  <a:t> work in the transitivity step, so it explains Statement-1.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Statement-1 is true, statement-2 is true; Statement-2 is correct explanation for statement-1.</a:t>
            </a:r>
            <a:endParaRPr sz="2800">
              <a:solidFill>
                <a:srgbClr val="15803D"/>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Similarity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is an equivalence relation 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matrices; its classes are the conjugacy classes (matrices with the same Jordan form over </a:t>
                </a:r>
                <a14:m>
                  <m:oMath xmlns:m="http://schemas.openxmlformats.org/officeDocument/2006/math">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matrices share trace, determinant, rank, characteristic polynomial and eigenvalues (check: </a:t>
                </a:r>
                <a14:m>
                  <m:oMath xmlns:m="http://schemas.openxmlformats.org/officeDocument/2006/math">
                    <m:r>
                      <m:rPr>
                        <m:sty m:val="p"/>
                      </m:rPr>
                      <a:rPr lang="en-IN" sz="2400">
                        <a:solidFill>
                          <a:srgbClr val="111827"/>
                        </a:solidFill>
                        <a:latin typeface="Cambria Math" panose="02040503050406030204" pitchFamily="18" charset="0"/>
                      </a:rPr>
                      <m:t>tr</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Reversal law: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𝑇</m:t>
                        </m:r>
                      </m:sup>
                    </m:sSup>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it is what makes 'invertible group' relations (like conjugation) transitive.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Similarity </a:t>
                </a:r>
                <a:r>
                  <a:rPr lang="en-IN" sz="2400">
                    <a:solidFill>
                      <a:srgbClr val="111827"/>
                    </a:solidFill>
                    <a:latin typeface="Cambria Math" panose="02040503050406030204" pitchFamily="18" charset="0"/>
                  </a:rPr>
                  <a:t>$A=P^{-1}BP$</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$n\times n$</a:t>
                </a:r>
                <a:r>
                  <a:rPr sz="2400" b="0">
                    <a:solidFill>
                      <a:srgbClr val="111827"/>
                    </a:solidFill>
                    <a:latin typeface="Arial"/>
                  </a:rPr>
                  <a:t> matrices; its classes are the conjugacy classes (matrices with the same Jordan form over </a:t>
                </a:r>
                <a:r>
                  <a:rPr lang="en-IN" sz="2400">
                    <a:solidFill>
                      <a:srgbClr val="111827"/>
                    </a:solidFill>
                    <a:latin typeface="Cambria Math" panose="02040503050406030204" pitchFamily="18" charset="0"/>
                  </a:rPr>
                  <a:t>$\mathbb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matrices share trace, determinant, rank, characteristic polynomial and eigenvalues (check: </a:t>
                </a:r>
                <a:r>
                  <a:rPr lang="en-IN" sz="2400">
                    <a:solidFill>
                      <a:srgbClr val="111827"/>
                    </a:solidFill>
                    <a:latin typeface="Cambria Math" panose="02040503050406030204" pitchFamily="18" charset="0"/>
                  </a:rPr>
                  <a:t>$\operatorname{tr}(P^{-1}BP)=\operatorname{tr}(B)$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Reversal law: </a:t>
                </a:r>
                <a:r>
                  <a:rPr lang="en-IN" sz="2400">
                    <a:solidFill>
                      <a:srgbClr val="111827"/>
                    </a:solidFill>
                    <a:latin typeface="Cambria Math" panose="02040503050406030204" pitchFamily="18" charset="0"/>
                  </a:rPr>
                  <a:t>$(MN)^{-1}=N^{-1}M^{-1}$</a:t>
                </a:r>
                <a:r>
                  <a:rPr sz="2400" b="0">
                    <a:solidFill>
                      <a:srgbClr val="111827"/>
                    </a:solidFill>
                    <a:latin typeface="Arial"/>
                  </a:rPr>
                  <a:t> and </a:t>
                </a:r>
                <a:r>
                  <a:rPr lang="en-IN" sz="2400">
                    <a:solidFill>
                      <a:srgbClr val="111827"/>
                    </a:solidFill>
                    <a:latin typeface="Cambria Math" panose="02040503050406030204" pitchFamily="18" charset="0"/>
                  </a:rPr>
                  <a:t>$(MN)^T=N^TM^T$</a:t>
                </a:r>
                <a:r>
                  <a:rPr sz="2400" b="0">
                    <a:solidFill>
                      <a:srgbClr val="111827"/>
                    </a:solidFill>
                    <a:latin typeface="Arial"/>
                  </a:rPr>
                  <a:t>; it is what makes 'invertible group' relations (like conjugation) transitive.</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different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can be formed such that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is empty, is : [AIEEE-2012]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$X=\{1,2,3,4,5\}$</a:t>
                </a:r>
                <a:r>
                  <a:rPr sz="2400" b="0">
                    <a:solidFill>
                      <a:srgbClr val="111827"/>
                    </a:solidFill>
                    <a:latin typeface="Arial"/>
                  </a:rPr>
                  <a:t>. The number of different ordered pairs </a:t>
                </a:r>
                <a:r>
                  <a:rPr lang="en-IN" sz="2400">
                    <a:solidFill>
                      <a:srgbClr val="111827"/>
                    </a:solidFill>
                    <a:latin typeface="Cambria Math" panose="02040503050406030204" pitchFamily="18" charset="0"/>
                  </a:rPr>
                  <a:t>$(Y,Z)$</a:t>
                </a:r>
                <a:r>
                  <a:rPr sz="2400" b="0">
                    <a:solidFill>
                      <a:srgbClr val="111827"/>
                    </a:solidFill>
                    <a:latin typeface="Arial"/>
                  </a:rPr>
                  <a:t> that can be formed such that </a:t>
                </a:r>
                <a:r>
                  <a:rPr lang="en-IN" sz="2400">
                    <a:solidFill>
                      <a:srgbClr val="111827"/>
                    </a:solidFill>
                    <a:latin typeface="Cambria Math" panose="02040503050406030204" pitchFamily="18" charset="0"/>
                  </a:rPr>
                  <a:t>$Y\subseteq X$</a:t>
                </a:r>
                <a:r>
                  <a:rPr sz="2400" b="0">
                    <a:solidFill>
                      <a:srgbClr val="111827"/>
                    </a:solidFill>
                    <a:latin typeface="Arial"/>
                  </a:rPr>
                  <a:t>, </a:t>
                </a:r>
                <a:r>
                  <a:rPr lang="en-IN" sz="2400">
                    <a:solidFill>
                      <a:srgbClr val="111827"/>
                    </a:solidFill>
                    <a:latin typeface="Cambria Math" panose="02040503050406030204" pitchFamily="18" charset="0"/>
                  </a:rPr>
                  <a:t>$Z\subseteq X$</a:t>
                </a:r>
                <a:r>
                  <a:rPr sz="2400" b="0">
                    <a:solidFill>
                      <a:srgbClr val="111827"/>
                    </a:solidFill>
                    <a:latin typeface="Arial"/>
                  </a:rPr>
                  <a:t> and </a:t>
                </a:r>
                <a:r>
                  <a:rPr lang="en-IN" sz="2400">
                    <a:solidFill>
                      <a:srgbClr val="111827"/>
                    </a:solidFill>
                    <a:latin typeface="Cambria Math" panose="02040503050406030204" pitchFamily="18" charset="0"/>
                  </a:rPr>
                  <a:t>$Y\cap Z$</a:t>
                </a:r>
                <a:r>
                  <a:rPr sz="2400" b="0">
                    <a:solidFill>
                      <a:srgbClr val="111827"/>
                    </a:solidFill>
                    <a:latin typeface="Arial"/>
                  </a:rPr>
                  <a:t> is empty, is : [AIEEE-2012]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$5^3$</a:t>
                </a:r>
                <a:r>
                  <a:rPr sz="2400" b="0">
                    <a:solidFill>
                      <a:srgbClr val="111827"/>
                    </a:solidFill>
                    <a:latin typeface="Arial"/>
                  </a:rPr>
                  <a:t>   (B) </a:t>
                </a:r>
                <a:r>
                  <a:rPr lang="en-IN" sz="2400">
                    <a:solidFill>
                      <a:srgbClr val="111827"/>
                    </a:solidFill>
                    <a:latin typeface="Cambria Math" panose="02040503050406030204" pitchFamily="18" charset="0"/>
                  </a:rPr>
                  <a:t>$5^2$</a:t>
                </a:r>
                <a:r>
                  <a:rPr sz="2400" b="0">
                    <a:solidFill>
                      <a:srgbClr val="111827"/>
                    </a:solidFill>
                    <a:latin typeface="Arial"/>
                  </a:rPr>
                  <a:t>   (C) </a:t>
                </a:r>
                <a:r>
                  <a:rPr lang="en-IN" sz="2400">
                    <a:solidFill>
                      <a:srgbClr val="111827"/>
                    </a:solidFill>
                    <a:latin typeface="Cambria Math" panose="02040503050406030204" pitchFamily="18" charset="0"/>
                  </a:rPr>
                  <a:t>$3^5$</a:t>
                </a:r>
                <a:r>
                  <a:rPr sz="2400" b="0">
                    <a:solidFill>
                      <a:srgbClr val="111827"/>
                    </a:solidFill>
                    <a:latin typeface="Arial"/>
                  </a:rPr>
                  <a:t>   (D) </a:t>
                </a:r>
                <a:r>
                  <a:rPr lang="en-IN" sz="2400">
                    <a:solidFill>
                      <a:srgbClr val="111827"/>
                    </a:solidFill>
                    <a:latin typeface="Cambria Math" panose="02040503050406030204" pitchFamily="18" charset="0"/>
                  </a:rPr>
                  <a:t>$2^5$</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element independently goes to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 only, </a:t>
                </a:r>
                <a14:m>
                  <m:oMath xmlns:m="http://schemas.openxmlformats.org/officeDocument/2006/math">
                    <m:r>
                      <a:rPr lang="en-IN" sz="2400" i="1">
                        <a:solidFill>
                          <a:srgbClr val="78350F"/>
                        </a:solidFill>
                        <a:latin typeface="Cambria Math" panose="02040503050406030204" pitchFamily="18" charset="0"/>
                      </a:rPr>
                      <m:t>𝑍</m:t>
                    </m:r>
                  </m:oMath>
                </a14:m>
                <a:r>
                  <a:rPr sz="2400" b="0">
                    <a:solidFill>
                      <a:srgbClr val="78350F"/>
                    </a:solidFill>
                    <a:latin typeface="Arial"/>
                  </a:rPr>
                  <a:t> only, or neither, giving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choices per element.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element independently goes to </a:t>
                </a:r>
                <a:r>
                  <a:rPr lang="en-IN" sz="2400">
                    <a:solidFill>
                      <a:srgbClr val="78350F"/>
                    </a:solidFill>
                    <a:latin typeface="Cambria Math" panose="02040503050406030204" pitchFamily="18" charset="0"/>
                  </a:rPr>
                  <a:t>$Y$</a:t>
                </a:r>
                <a:r>
                  <a:rPr sz="2400" b="0">
                    <a:solidFill>
                      <a:srgbClr val="78350F"/>
                    </a:solidFill>
                    <a:latin typeface="Arial"/>
                  </a:rPr>
                  <a:t> only, </a:t>
                </a:r>
                <a:r>
                  <a:rPr lang="en-IN" sz="2400">
                    <a:solidFill>
                      <a:srgbClr val="78350F"/>
                    </a:solidFill>
                    <a:latin typeface="Cambria Math" panose="02040503050406030204" pitchFamily="18" charset="0"/>
                  </a:rPr>
                  <a:t>$Z$</a:t>
                </a:r>
                <a:r>
                  <a:rPr sz="2400" b="0">
                    <a:solidFill>
                      <a:srgbClr val="78350F"/>
                    </a:solidFill>
                    <a:latin typeface="Arial"/>
                  </a:rPr>
                  <a:t> only, or neither, giving </a:t>
                </a:r>
                <a:r>
                  <a:rPr lang="en-IN" sz="2400">
                    <a:solidFill>
                      <a:srgbClr val="78350F"/>
                    </a:solidFill>
                    <a:latin typeface="Cambria Math" panose="02040503050406030204" pitchFamily="18" charset="0"/>
                  </a:rPr>
                  <a:t>$3$</a:t>
                </a:r>
                <a:r>
                  <a:rPr sz="2400" b="0">
                    <a:solidFill>
                      <a:srgbClr val="78350F"/>
                    </a:solidFill>
                    <a:latin typeface="Arial"/>
                  </a:rPr>
                  <a:t> choices per element.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Take any element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cannot lie in both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Three possibilities remain for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$X=\{1,2,3,4,5\}$</a:t>
                </a:r>
                <a:r>
                  <a:rPr sz="2400" b="0">
                    <a:solidFill>
                      <a:srgbClr val="111827"/>
                    </a:solidFill>
                    <a:latin typeface="Arial"/>
                  </a:rPr>
                  <a:t> and </a:t>
                </a:r>
                <a:r>
                  <a:rPr lang="en-IN" sz="2400">
                    <a:solidFill>
                      <a:srgbClr val="111827"/>
                    </a:solidFill>
                    <a:latin typeface="Cambria Math" panose="02040503050406030204" pitchFamily="18" charset="0"/>
                  </a:rPr>
                  <a:t>$Y,Z\subseteq X$</a:t>
                </a:r>
                <a:r>
                  <a:rPr sz="2400" b="0">
                    <a:solidFill>
                      <a:srgbClr val="111827"/>
                    </a:solidFill>
                    <a:latin typeface="Arial"/>
                  </a:rPr>
                  <a:t> with </a:t>
                </a:r>
                <a:r>
                  <a:rPr lang="en-IN" sz="2400">
                    <a:solidFill>
                      <a:srgbClr val="111827"/>
                    </a:solidFill>
                    <a:latin typeface="Cambria Math" panose="02040503050406030204" pitchFamily="18" charset="0"/>
                  </a:rPr>
                  <a:t>$Y\cap Z=\phi$</a:t>
                </a:r>
                <a:r>
                  <a:rPr sz="2400" b="0">
                    <a:solidFill>
                      <a:srgbClr val="111827"/>
                    </a:solidFill>
                    <a:latin typeface="Arial"/>
                  </a:rPr>
                  <a:t>. Take any element </a:t>
                </a:r>
                <a:r>
                  <a:rPr lang="en-IN" sz="2400">
                    <a:solidFill>
                      <a:srgbClr val="111827"/>
                    </a:solidFill>
                    <a:latin typeface="Cambria Math" panose="02040503050406030204" pitchFamily="18" charset="0"/>
                  </a:rPr>
                  <a:t>$a\in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r>
                  <a:rPr lang="en-IN" sz="2400">
                    <a:solidFill>
                      <a:srgbClr val="111827"/>
                    </a:solidFill>
                    <a:latin typeface="Cambria Math" panose="02040503050406030204" pitchFamily="18" charset="0"/>
                  </a:rPr>
                  <a:t>$Y\cap Z=\phi$</a:t>
                </a:r>
                <a:r>
                  <a:rPr sz="2400" b="0">
                    <a:solidFill>
                      <a:srgbClr val="111827"/>
                    </a:solidFill>
                    <a:latin typeface="Arial"/>
                  </a:rPr>
                  <a:t>, </a:t>
                </a:r>
                <a:r>
                  <a:rPr lang="en-IN" sz="2400">
                    <a:solidFill>
                      <a:srgbClr val="111827"/>
                    </a:solidFill>
                    <a:latin typeface="Cambria Math" panose="02040503050406030204" pitchFamily="18" charset="0"/>
                  </a:rPr>
                  <a:t>$a$</a:t>
                </a:r>
                <a:r>
                  <a:rPr sz="2400" b="0">
                    <a:solidFill>
                      <a:srgbClr val="111827"/>
                    </a:solidFill>
                    <a:latin typeface="Arial"/>
                  </a:rPr>
                  <a:t> cannot lie in both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 Three possibilities remain for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$a\in Y$</a:t>
                </a:r>
                <a:r>
                  <a:rPr sz="2400" b="0">
                    <a:solidFill>
                      <a:srgbClr val="111827"/>
                    </a:solidFill>
                    <a:latin typeface="Arial"/>
                  </a:rPr>
                  <a:t> and </a:t>
                </a:r>
                <a:r>
                  <a:rPr lang="en-IN" sz="2400">
                    <a:solidFill>
                      <a:srgbClr val="111827"/>
                    </a:solidFill>
                    <a:latin typeface="Cambria Math" panose="02040503050406030204" pitchFamily="18" charset="0"/>
                  </a:rPr>
                  <a:t>$a\notin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$a\in Z$</a:t>
                </a:r>
                <a:r>
                  <a:rPr sz="2400" b="0">
                    <a:solidFill>
                      <a:srgbClr val="111827"/>
                    </a:solidFill>
                    <a:latin typeface="Arial"/>
                  </a:rPr>
                  <a:t> and </a:t>
                </a:r>
                <a:r>
                  <a:rPr lang="en-IN" sz="2400">
                    <a:solidFill>
                      <a:srgbClr val="111827"/>
                    </a:solidFill>
                    <a:latin typeface="Cambria Math" panose="02040503050406030204" pitchFamily="18" charset="0"/>
                  </a:rPr>
                  <a:t>$a\notin 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allows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choices for each element, and the choices for different elements are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five elements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the number of ordered pairs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a:t>
                </a:r>
                <a:r>
                  <a:rPr lang="en-IN" sz="2400">
                    <a:solidFill>
                      <a:srgbClr val="111827"/>
                    </a:solidFill>
                    <a:latin typeface="Cambria Math" panose="02040503050406030204" pitchFamily="18" charset="0"/>
                  </a:rPr>
                  <a:t>$a\notin Y$</a:t>
                </a:r>
                <a:r>
                  <a:rPr sz="2400" b="0">
                    <a:solidFill>
                      <a:srgbClr val="111827"/>
                    </a:solidFill>
                    <a:latin typeface="Arial"/>
                  </a:rPr>
                  <a:t> and </a:t>
                </a:r>
                <a:r>
                  <a:rPr lang="en-IN" sz="2400">
                    <a:solidFill>
                      <a:srgbClr val="111827"/>
                    </a:solidFill>
                    <a:latin typeface="Cambria Math" panose="02040503050406030204" pitchFamily="18" charset="0"/>
                  </a:rPr>
                  <a:t>$a\notin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$Y\cap Z=\phi$</a:t>
                </a:r>
                <a:r>
                  <a:rPr sz="2400" b="0">
                    <a:solidFill>
                      <a:srgbClr val="111827"/>
                    </a:solidFill>
                    <a:latin typeface="Arial"/>
                  </a:rPr>
                  <a:t> allows </a:t>
                </a:r>
                <a:r>
                  <a:rPr lang="en-IN" sz="2400">
                    <a:solidFill>
                      <a:srgbClr val="111827"/>
                    </a:solidFill>
                    <a:latin typeface="Cambria Math" panose="02040503050406030204" pitchFamily="18" charset="0"/>
                  </a:rPr>
                  <a:t>$3$</a:t>
                </a:r>
                <a:r>
                  <a:rPr sz="2400" b="0">
                    <a:solidFill>
                      <a:srgbClr val="111827"/>
                    </a:solidFill>
                    <a:latin typeface="Arial"/>
                  </a:rPr>
                  <a:t> choices for each element, and the choices for different elements are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five elements of </a:t>
                </a:r>
                <a:r>
                  <a:rPr lang="en-IN" sz="2400">
                    <a:solidFill>
                      <a:srgbClr val="111827"/>
                    </a:solidFill>
                    <a:latin typeface="Cambria Math" panose="02040503050406030204" pitchFamily="18" charset="0"/>
                  </a:rPr>
                  <a:t>$X$</a:t>
                </a:r>
                <a:r>
                  <a:rPr sz="2400" b="0">
                    <a:solidFill>
                      <a:srgbClr val="111827"/>
                    </a:solidFill>
                    <a:latin typeface="Arial"/>
                  </a:rPr>
                  <a:t> the number of ordered pairs is </a:t>
                </a:r>
                <a:r>
                  <a:rPr lang="en-IN" sz="2400">
                    <a:solidFill>
                      <a:srgbClr val="111827"/>
                    </a:solidFill>
                    <a:latin typeface="Cambria Math" panose="02040503050406030204" pitchFamily="18" charset="0"/>
                  </a:rPr>
                  <a:t>$3\times3\times3\times3\times3=3^5=243$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5</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$3^5$</a:t>
                </a:r>
                <a:endParaRPr sz="2800">
                  <a:solidFill>
                    <a:srgbClr val="15803D"/>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 first, then </a:t>
                </a:r>
                <a14:m>
                  <m:oMath xmlns:m="http://schemas.openxmlformats.org/officeDocument/2006/math">
                    <m:r>
                      <a:rPr lang="en-IN" sz="2400" i="1">
                        <a:solidFill>
                          <a:srgbClr val="78350F"/>
                        </a:solidFill>
                        <a:latin typeface="Cambria Math" panose="02040503050406030204" pitchFamily="18" charset="0"/>
                      </a:rPr>
                      <m:t>𝑍</m:t>
                    </m:r>
                  </m:oMath>
                </a14:m>
                <a:r>
                  <a:rPr sz="2400" b="0">
                    <a:solidFill>
                      <a:srgbClr val="78350F"/>
                    </a:solidFill>
                    <a:latin typeface="Arial"/>
                  </a:rPr>
                  <a:t> is any subset of the other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 elements; the sum is a binomial expansion.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a:t>
                </a:r>
                <a:r>
                  <a:rPr lang="en-IN" sz="2400">
                    <a:solidFill>
                      <a:srgbClr val="78350F"/>
                    </a:solidFill>
                    <a:latin typeface="Cambria Math" panose="02040503050406030204" pitchFamily="18" charset="0"/>
                  </a:rPr>
                  <a:t>$|Y|=k$</a:t>
                </a:r>
                <a:r>
                  <a:rPr sz="2400" b="0">
                    <a:solidFill>
                      <a:srgbClr val="78350F"/>
                    </a:solidFill>
                    <a:latin typeface="Arial"/>
                  </a:rPr>
                  <a:t> first, then </a:t>
                </a:r>
                <a:r>
                  <a:rPr lang="en-IN" sz="2400">
                    <a:solidFill>
                      <a:srgbClr val="78350F"/>
                    </a:solidFill>
                    <a:latin typeface="Cambria Math" panose="02040503050406030204" pitchFamily="18" charset="0"/>
                  </a:rPr>
                  <a:t>$Z$</a:t>
                </a:r>
                <a:r>
                  <a:rPr sz="2400" b="0">
                    <a:solidFill>
                      <a:srgbClr val="78350F"/>
                    </a:solidFill>
                    <a:latin typeface="Arial"/>
                  </a:rPr>
                  <a:t> is any subset of the other </a:t>
                </a:r>
                <a:r>
                  <a:rPr lang="en-IN" sz="2400">
                    <a:solidFill>
                      <a:srgbClr val="78350F"/>
                    </a:solidFill>
                    <a:latin typeface="Cambria Math" panose="02040503050406030204" pitchFamily="18" charset="0"/>
                  </a:rPr>
                  <a:t>$5-k$</a:t>
                </a:r>
                <a:r>
                  <a:rPr sz="2400" b="0">
                    <a:solidFill>
                      <a:srgbClr val="78350F"/>
                    </a:solidFill>
                    <a:latin typeface="Arial"/>
                  </a:rPr>
                  <a:t> elements; the sum is a binomial expansion.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there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such sets.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 set of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elements, so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pairs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e>
                    </m:nary>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a:t>
                </a:r>
                <a:r>
                  <a:rPr lang="en-IN" sz="2400">
                    <a:solidFill>
                      <a:srgbClr val="111827"/>
                    </a:solidFill>
                    <a:latin typeface="Cambria Math" panose="02040503050406030204" pitchFamily="18" charset="0"/>
                  </a:rPr>
                  <a:t>$Y$</a:t>
                </a:r>
                <a:r>
                  <a:rPr sz="2400" b="0">
                    <a:solidFill>
                      <a:srgbClr val="111827"/>
                    </a:solidFill>
                    <a:latin typeface="Arial"/>
                  </a:rPr>
                  <a:t> with </a:t>
                </a:r>
                <a:r>
                  <a:rPr lang="en-IN" sz="2400">
                    <a:solidFill>
                      <a:srgbClr val="111827"/>
                    </a:solidFill>
                    <a:latin typeface="Cambria Math" panose="02040503050406030204" pitchFamily="18" charset="0"/>
                  </a:rPr>
                  <a:t>$|Y|=k$</a:t>
                </a:r>
                <a:r>
                  <a:rPr sz="2400" b="0">
                    <a:solidFill>
                      <a:srgbClr val="111827"/>
                    </a:solidFill>
                    <a:latin typeface="Arial"/>
                  </a:rPr>
                  <a:t>; there are </a:t>
                </a:r>
                <a:r>
                  <a:rPr lang="en-IN" sz="2400">
                    <a:solidFill>
                      <a:srgbClr val="111827"/>
                    </a:solidFill>
                    <a:latin typeface="Cambria Math" panose="02040503050406030204" pitchFamily="18" charset="0"/>
                  </a:rPr>
                  <a:t>$\binom5k$</a:t>
                </a:r>
                <a:r>
                  <a:rPr sz="2400" b="0">
                    <a:solidFill>
                      <a:srgbClr val="111827"/>
                    </a:solidFill>
                    <a:latin typeface="Arial"/>
                  </a:rPr>
                  <a:t> such sets.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$Y\cap Z=\phi$</a:t>
                </a:r>
                <a:r>
                  <a:rPr sz="2400" b="0">
                    <a:solidFill>
                      <a:srgbClr val="111827"/>
                    </a:solidFill>
                    <a:latin typeface="Arial"/>
                  </a:rPr>
                  <a:t> means </a:t>
                </a:r>
                <a:r>
                  <a:rPr lang="en-IN" sz="2400">
                    <a:solidFill>
                      <a:srgbClr val="111827"/>
                    </a:solidFill>
                    <a:latin typeface="Cambria Math" panose="02040503050406030204" pitchFamily="18" charset="0"/>
                  </a:rPr>
                  <a:t>$Z\subseteq X\setminus Y$</a:t>
                </a:r>
                <a:r>
                  <a:rPr sz="2400" b="0">
                    <a:solidFill>
                      <a:srgbClr val="111827"/>
                    </a:solidFill>
                    <a:latin typeface="Arial"/>
                  </a:rPr>
                  <a:t>, a set of </a:t>
                </a:r>
                <a:r>
                  <a:rPr lang="en-IN" sz="2400">
                    <a:solidFill>
                      <a:srgbClr val="111827"/>
                    </a:solidFill>
                    <a:latin typeface="Cambria Math" panose="02040503050406030204" pitchFamily="18" charset="0"/>
                  </a:rPr>
                  <a:t>$5-k$</a:t>
                </a:r>
                <a:r>
                  <a:rPr sz="2400" b="0">
                    <a:solidFill>
                      <a:srgbClr val="111827"/>
                    </a:solidFill>
                    <a:latin typeface="Arial"/>
                  </a:rPr>
                  <a:t> elements, so </a:t>
                </a:r>
                <a:r>
                  <a:rPr lang="en-IN" sz="2400">
                    <a:solidFill>
                      <a:srgbClr val="111827"/>
                    </a:solidFill>
                    <a:latin typeface="Cambria Math" panose="02040503050406030204" pitchFamily="18" charset="0"/>
                  </a:rPr>
                  <a:t>$Z$</a:t>
                </a:r>
                <a:r>
                  <a:rPr sz="2400" b="0">
                    <a:solidFill>
                      <a:srgbClr val="111827"/>
                    </a:solidFill>
                    <a:latin typeface="Arial"/>
                  </a:rPr>
                  <a:t> has </a:t>
                </a:r>
                <a:r>
                  <a:rPr lang="en-IN" sz="2400">
                    <a:solidFill>
                      <a:srgbClr val="111827"/>
                    </a:solidFill>
                    <a:latin typeface="Cambria Math" panose="02040503050406030204" pitchFamily="18" charset="0"/>
                  </a:rPr>
                  <a:t>$2^{5-k}$</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pairs </a:t>
                </a:r>
                <a:r>
                  <a:rPr lang="en-IN" sz="2400">
                    <a:solidFill>
                      <a:srgbClr val="111827"/>
                    </a:solidFill>
                    <a:latin typeface="Cambria Math" panose="02040503050406030204" pitchFamily="18" charset="0"/>
                  </a:rPr>
                  <a:t>$=\sum_{k=0}^{5}\binom5k\,2^{5-k}$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this is </a:t>
                </a:r>
                <a:r>
                  <a:rPr lang="en-IN" sz="2400">
                    <a:solidFill>
                      <a:srgbClr val="111827"/>
                    </a:solidFill>
                    <a:latin typeface="Cambria Math" panose="02040503050406030204" pitchFamily="18" charset="0"/>
                  </a:rPr>
                  <a:t>$(1+2)^5=3^5=243$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5</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$3^5$</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ordered pairs of disjoint subsets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is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of ordered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-tuples of pairwise disjoint subsets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also number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(each element: in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outside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element chooses its 'location' independently: multiply the number of options per element.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ordered pairs of disjoint subsets of an </a:t>
                </a:r>
                <a:r>
                  <a:rPr lang="en-IN" sz="2400">
                    <a:solidFill>
                      <a:srgbClr val="111827"/>
                    </a:solidFill>
                    <a:latin typeface="Cambria Math" panose="02040503050406030204" pitchFamily="18" charset="0"/>
                  </a:rPr>
                  <a:t>$n$</a:t>
                </a:r>
                <a:r>
                  <a:rPr sz="2400" b="0">
                    <a:solidFill>
                      <a:srgbClr val="111827"/>
                    </a:solidFill>
                    <a:latin typeface="Arial"/>
                  </a:rPr>
                  <a:t>-set is </a:t>
                </a:r>
                <a:r>
                  <a:rPr lang="en-IN" sz="2400">
                    <a:solidFill>
                      <a:srgbClr val="111827"/>
                    </a:solidFill>
                    <a:latin typeface="Cambria Math" panose="02040503050406030204" pitchFamily="18" charset="0"/>
                  </a:rPr>
                  <a:t>$3^n$</a:t>
                </a:r>
                <a:r>
                  <a:rPr sz="2400" b="0">
                    <a:solidFill>
                      <a:srgbClr val="111827"/>
                    </a:solidFill>
                    <a:latin typeface="Arial"/>
                  </a:rPr>
                  <a:t>; of ordered </a:t>
                </a:r>
                <a:r>
                  <a:rPr lang="en-IN" sz="2400">
                    <a:solidFill>
                      <a:srgbClr val="111827"/>
                    </a:solidFill>
                    <a:latin typeface="Cambria Math" panose="02040503050406030204" pitchFamily="18" charset="0"/>
                  </a:rPr>
                  <a:t>$r$</a:t>
                </a:r>
                <a:r>
                  <a:rPr sz="2400" b="0">
                    <a:solidFill>
                      <a:srgbClr val="111827"/>
                    </a:solidFill>
                    <a:latin typeface="Arial"/>
                  </a:rPr>
                  <a:t>-tuples of pairwise disjoint subsets it is </a:t>
                </a:r>
                <a:r>
                  <a:rPr lang="en-IN" sz="2400">
                    <a:solidFill>
                      <a:srgbClr val="111827"/>
                    </a:solidFill>
                    <a:latin typeface="Cambria Math" panose="02040503050406030204" pitchFamily="18" charset="0"/>
                  </a:rPr>
                  <a:t>$(r+1)^n$</a:t>
                </a:r>
                <a:r>
                  <a:rPr sz="2400" b="0">
                    <a:solidFill>
                      <a:srgbClr val="111827"/>
                    </a:solidFill>
                    <a:latin typeface="Arial"/>
                  </a:rPr>
                  <a:t> (check </a:t>
                </a:r>
                <a:r>
                  <a:rPr lang="en-IN" sz="2400">
                    <a:solidFill>
                      <a:srgbClr val="111827"/>
                    </a:solidFill>
                    <a:latin typeface="Cambria Math" panose="02040503050406030204" pitchFamily="18" charset="0"/>
                  </a:rPr>
                  <a:t>$n=1,r=2$</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r>
                  <a:rPr lang="en-IN" sz="2400">
                    <a:solidFill>
                      <a:srgbClr val="111827"/>
                    </a:solidFill>
                    <a:latin typeface="Cambria Math" panose="02040503050406030204" pitchFamily="18" charset="0"/>
                  </a:rPr>
                  <a:t>$(Y,Z)$</a:t>
                </a:r>
                <a:r>
                  <a:rPr sz="2400" b="0">
                    <a:solidFill>
                      <a:srgbClr val="111827"/>
                    </a:solidFill>
                    <a:latin typeface="Arial"/>
                  </a:rPr>
                  <a:t> with </a:t>
                </a:r>
                <a:r>
                  <a:rPr lang="en-IN" sz="2400">
                    <a:solidFill>
                      <a:srgbClr val="111827"/>
                    </a:solidFill>
                    <a:latin typeface="Cambria Math" panose="02040503050406030204" pitchFamily="18" charset="0"/>
                  </a:rPr>
                  <a:t>$Y\subseteq Z\subseteq X$</a:t>
                </a:r>
                <a:r>
                  <a:rPr sz="2400" b="0">
                    <a:solidFill>
                      <a:srgbClr val="111827"/>
                    </a:solidFill>
                    <a:latin typeface="Arial"/>
                  </a:rPr>
                  <a:t> also number </a:t>
                </a:r>
                <a:r>
                  <a:rPr lang="en-IN" sz="2400">
                    <a:solidFill>
                      <a:srgbClr val="111827"/>
                    </a:solidFill>
                    <a:latin typeface="Cambria Math" panose="02040503050406030204" pitchFamily="18" charset="0"/>
                  </a:rPr>
                  <a:t>$3^n$</a:t>
                </a:r>
                <a:r>
                  <a:rPr sz="2400" b="0">
                    <a:solidFill>
                      <a:srgbClr val="111827"/>
                    </a:solidFill>
                    <a:latin typeface="Arial"/>
                  </a:rPr>
                  <a:t> (each element: in </a:t>
                </a:r>
                <a:r>
                  <a:rPr lang="en-IN" sz="2400">
                    <a:solidFill>
                      <a:srgbClr val="111827"/>
                    </a:solidFill>
                    <a:latin typeface="Cambria Math" panose="02040503050406030204" pitchFamily="18" charset="0"/>
                  </a:rPr>
                  <a:t>$Y$</a:t>
                </a:r>
                <a:r>
                  <a:rPr sz="2400" b="0">
                    <a:solidFill>
                      <a:srgbClr val="111827"/>
                    </a:solidFill>
                    <a:latin typeface="Arial"/>
                  </a:rPr>
                  <a:t>, in </a:t>
                </a:r>
                <a:r>
                  <a:rPr lang="en-IN" sz="2400">
                    <a:solidFill>
                      <a:srgbClr val="111827"/>
                    </a:solidFill>
                    <a:latin typeface="Cambria Math" panose="02040503050406030204" pitchFamily="18" charset="0"/>
                  </a:rPr>
                  <a:t>$Z\setminus Y$</a:t>
                </a:r>
                <a:r>
                  <a:rPr sz="2400" b="0">
                    <a:solidFill>
                      <a:srgbClr val="111827"/>
                    </a:solidFill>
                    <a:latin typeface="Arial"/>
                  </a:rPr>
                  <a:t>, outside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element chooses its 'location' independently: multiply the number of options per element.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two sets containing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elements respectively. The number of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having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more elements is : [JEE(Main)2013]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256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220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219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211</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two sets containing </a:t>
                </a:r>
                <a:r>
                  <a:rPr lang="en-IN" sz="2400">
                    <a:solidFill>
                      <a:srgbClr val="111827"/>
                    </a:solidFill>
                    <a:latin typeface="Cambria Math" panose="02040503050406030204" pitchFamily="18" charset="0"/>
                  </a:rPr>
                  <a:t>$2$</a:t>
                </a:r>
                <a:r>
                  <a:rPr sz="2400" b="0">
                    <a:solidFill>
                      <a:srgbClr val="111827"/>
                    </a:solidFill>
                    <a:latin typeface="Arial"/>
                  </a:rPr>
                  <a:t> elements and </a:t>
                </a:r>
                <a:r>
                  <a:rPr lang="en-IN" sz="2400">
                    <a:solidFill>
                      <a:srgbClr val="111827"/>
                    </a:solidFill>
                    <a:latin typeface="Cambria Math" panose="02040503050406030204" pitchFamily="18" charset="0"/>
                  </a:rPr>
                  <a:t>$4$</a:t>
                </a:r>
                <a:r>
                  <a:rPr sz="2400" b="0">
                    <a:solidFill>
                      <a:srgbClr val="111827"/>
                    </a:solidFill>
                    <a:latin typeface="Arial"/>
                  </a:rPr>
                  <a:t> elements respectively. The number of subsets of </a:t>
                </a:r>
                <a:r>
                  <a:rPr lang="en-IN" sz="2400">
                    <a:solidFill>
                      <a:srgbClr val="111827"/>
                    </a:solidFill>
                    <a:latin typeface="Cambria Math" panose="02040503050406030204" pitchFamily="18" charset="0"/>
                  </a:rPr>
                  <a:t>$A\times B$</a:t>
                </a:r>
                <a:r>
                  <a:rPr sz="2400" b="0">
                    <a:solidFill>
                      <a:srgbClr val="111827"/>
                    </a:solidFill>
                    <a:latin typeface="Arial"/>
                  </a:rPr>
                  <a:t> having </a:t>
                </a:r>
                <a:r>
                  <a:rPr lang="en-IN" sz="2400">
                    <a:solidFill>
                      <a:srgbClr val="111827"/>
                    </a:solidFill>
                    <a:latin typeface="Cambria Math" panose="02040503050406030204" pitchFamily="18" charset="0"/>
                  </a:rPr>
                  <a:t>$3$</a:t>
                </a:r>
                <a:r>
                  <a:rPr sz="2400" b="0">
                    <a:solidFill>
                      <a:srgbClr val="111827"/>
                    </a:solidFill>
                    <a:latin typeface="Arial"/>
                  </a:rPr>
                  <a:t> or more elements is : [JEE(Main)2013]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$256$</a:t>
                </a:r>
                <a:r>
                  <a:rPr sz="2400" b="0">
                    <a:solidFill>
                      <a:srgbClr val="111827"/>
                    </a:solidFill>
                    <a:latin typeface="Arial"/>
                  </a:rPr>
                  <a:t>   (B) </a:t>
                </a:r>
                <a:r>
                  <a:rPr lang="en-IN" sz="2400">
                    <a:solidFill>
                      <a:srgbClr val="111827"/>
                    </a:solidFill>
                    <a:latin typeface="Cambria Math" panose="02040503050406030204" pitchFamily="18" charset="0"/>
                  </a:rPr>
                  <a:t>$220$</a:t>
                </a:r>
                <a:r>
                  <a:rPr sz="2400" b="0">
                    <a:solidFill>
                      <a:srgbClr val="111827"/>
                    </a:solidFill>
                    <a:latin typeface="Arial"/>
                  </a:rPr>
                  <a:t>   (C) </a:t>
                </a:r>
                <a:r>
                  <a:rPr lang="en-IN" sz="2400">
                    <a:solidFill>
                      <a:srgbClr val="111827"/>
                    </a:solidFill>
                    <a:latin typeface="Cambria Math" panose="02040503050406030204" pitchFamily="18" charset="0"/>
                  </a:rPr>
                  <a:t>$219$</a:t>
                </a:r>
                <a:r>
                  <a:rPr sz="2400" b="0">
                    <a:solidFill>
                      <a:srgbClr val="111827"/>
                    </a:solidFill>
                    <a:latin typeface="Arial"/>
                  </a:rPr>
                  <a:t>   (D) </a:t>
                </a:r>
                <a:r>
                  <a:rPr lang="en-IN" sz="2400">
                    <a:solidFill>
                      <a:srgbClr val="111827"/>
                    </a:solidFill>
                    <a:latin typeface="Cambria Math" panose="02040503050406030204" pitchFamily="18" charset="0"/>
                  </a:rPr>
                  <a:t>$211$</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Cartesian product and subsets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and the count is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8</m:t>
                        </m:r>
                      </m:sup>
                    </m:sSup>
                  </m:oMath>
                </a14:m>
                <a:r>
                  <a:rPr sz="2400" b="0">
                    <a:solidFill>
                      <a:srgbClr val="78350F"/>
                    </a:solidFill>
                    <a:latin typeface="Arial"/>
                  </a:rPr>
                  <a:t> minus the subsets of size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$n(A\times B)=2\cdot4=8$</a:t>
                </a:r>
                <a:r>
                  <a:rPr sz="2400" b="0">
                    <a:solidFill>
                      <a:srgbClr val="78350F"/>
                    </a:solidFill>
                    <a:latin typeface="Arial"/>
                  </a:rPr>
                  <a:t>, and the count is </a:t>
                </a:r>
                <a:r>
                  <a:rPr lang="en-IN" sz="2400">
                    <a:solidFill>
                      <a:srgbClr val="78350F"/>
                    </a:solidFill>
                    <a:latin typeface="Cambria Math" panose="02040503050406030204" pitchFamily="18" charset="0"/>
                  </a:rPr>
                  <a:t>$2^8$</a:t>
                </a:r>
                <a:r>
                  <a:rPr sz="2400" b="0">
                    <a:solidFill>
                      <a:srgbClr val="78350F"/>
                    </a:solidFill>
                    <a:latin typeface="Arial"/>
                  </a:rPr>
                  <a:t> minus the subsets of size </a:t>
                </a:r>
                <a:r>
                  <a:rPr lang="en-IN" sz="2400">
                    <a:solidFill>
                      <a:srgbClr val="78350F"/>
                    </a:solidFill>
                    <a:latin typeface="Cambria Math" panose="02040503050406030204" pitchFamily="18" charset="0"/>
                  </a:rPr>
                  <a:t>$0,1,2$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elements: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element: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$n(A)=2$</a:t>
                </a:r>
                <a:r>
                  <a:rPr sz="2400" b="0">
                    <a:solidFill>
                      <a:srgbClr val="111827"/>
                    </a:solidFill>
                    <a:latin typeface="Arial"/>
                  </a:rPr>
                  <a:t> and </a:t>
                </a:r>
                <a:r>
                  <a:rPr lang="en-IN" sz="2400">
                    <a:solidFill>
                      <a:srgbClr val="111827"/>
                    </a:solidFill>
                    <a:latin typeface="Cambria Math" panose="02040503050406030204" pitchFamily="18" charset="0"/>
                  </a:rPr>
                  <a:t>$n(B)=4$</a:t>
                </a:r>
                <a:r>
                  <a:rPr sz="2400" b="0">
                    <a:solidFill>
                      <a:srgbClr val="111827"/>
                    </a:solidFill>
                    <a:latin typeface="Arial"/>
                  </a:rPr>
                  <a:t>, so </a:t>
                </a:r>
                <a:r>
                  <a:rPr lang="en-IN" sz="2400">
                    <a:solidFill>
                      <a:srgbClr val="111827"/>
                    </a:solidFill>
                    <a:latin typeface="Cambria Math" panose="02040503050406030204" pitchFamily="18" charset="0"/>
                  </a:rPr>
                  <a:t>$n(A\times B)=2\times4=8$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subsets of </a:t>
                </a:r>
                <a:r>
                  <a:rPr lang="en-IN" sz="2400">
                    <a:solidFill>
                      <a:srgbClr val="111827"/>
                    </a:solidFill>
                    <a:latin typeface="Cambria Math" panose="02040503050406030204" pitchFamily="18" charset="0"/>
                  </a:rPr>
                  <a:t>$A\times B$</a:t>
                </a:r>
                <a:r>
                  <a:rPr sz="2400" b="0">
                    <a:solidFill>
                      <a:srgbClr val="111827"/>
                    </a:solidFill>
                    <a:latin typeface="Arial"/>
                  </a:rPr>
                  <a:t> is </a:t>
                </a:r>
                <a:r>
                  <a:rPr lang="en-IN" sz="2400">
                    <a:solidFill>
                      <a:srgbClr val="111827"/>
                    </a:solidFill>
                    <a:latin typeface="Cambria Math" panose="02040503050406030204" pitchFamily="18" charset="0"/>
                  </a:rPr>
                  <a:t>$2^8=256$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$0$</a:t>
                </a:r>
                <a:r>
                  <a:rPr sz="2400" b="0">
                    <a:solidFill>
                      <a:srgbClr val="111827"/>
                    </a:solidFill>
                    <a:latin typeface="Arial"/>
                  </a:rPr>
                  <a:t> elements: </a:t>
                </a:r>
                <a:r>
                  <a:rPr lang="en-IN" sz="2400">
                    <a:solidFill>
                      <a:srgbClr val="111827"/>
                    </a:solidFill>
                    <a:latin typeface="Cambria Math" panose="02040503050406030204" pitchFamily="18" charset="0"/>
                  </a:rPr>
                  <a:t>$\binom80=1$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$1$</a:t>
                </a:r>
                <a:r>
                  <a:rPr sz="2400" b="0">
                    <a:solidFill>
                      <a:srgbClr val="111827"/>
                    </a:solidFill>
                    <a:latin typeface="Arial"/>
                  </a:rPr>
                  <a:t> element: </a:t>
                </a:r>
                <a:r>
                  <a:rPr lang="en-IN" sz="2400">
                    <a:solidFill>
                      <a:srgbClr val="111827"/>
                    </a:solidFill>
                    <a:latin typeface="Cambria Math" panose="02040503050406030204" pitchFamily="18" charset="0"/>
                  </a:rPr>
                  <a:t>$\binom81=8$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$2$</a:t>
                </a:r>
                <a:r>
                  <a:rPr sz="2400" b="0">
                    <a:solidFill>
                      <a:srgbClr val="111827"/>
                    </a:solidFill>
                    <a:latin typeface="Arial"/>
                  </a:rPr>
                  <a:t> elements: </a:t>
                </a:r>
                <a:r>
                  <a:rPr lang="en-IN" sz="2400">
                    <a:solidFill>
                      <a:srgbClr val="111827"/>
                    </a:solidFill>
                    <a:latin typeface="Cambria Math" panose="02040503050406030204" pitchFamily="18" charset="0"/>
                  </a:rPr>
                  <a:t>$\binom82=28$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most </a:t>
                </a:r>
                <a:r>
                  <a:rPr lang="en-IN" sz="2400">
                    <a:solidFill>
                      <a:srgbClr val="111827"/>
                    </a:solidFill>
                    <a:latin typeface="Cambria Math" panose="02040503050406030204" pitchFamily="18" charset="0"/>
                  </a:rPr>
                  <a:t>$2$</a:t>
                </a:r>
                <a:r>
                  <a:rPr sz="2400" b="0">
                    <a:solidFill>
                      <a:srgbClr val="111827"/>
                    </a:solidFill>
                    <a:latin typeface="Arial"/>
                  </a:rPr>
                  <a:t> elements: </a:t>
                </a:r>
                <a:r>
                  <a:rPr lang="en-IN" sz="2400">
                    <a:solidFill>
                      <a:srgbClr val="111827"/>
                    </a:solidFill>
                    <a:latin typeface="Cambria Math" panose="02040503050406030204" pitchFamily="18" charset="0"/>
                  </a:rPr>
                  <a:t>$1+8+28=37$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$=256-(28+8+1)=256-37=219$</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219</a:t>
            </a:r>
            <a:endParaRPr sz="2800">
              <a:solidFill>
                <a:srgbClr val="15803D"/>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set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subsets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subsets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counts are easiest by complement: total minus the small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symmetry: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8</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219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set with </a:t>
                </a:r>
                <a:r>
                  <a:rPr lang="en-IN" sz="2400">
                    <a:solidFill>
                      <a:srgbClr val="111827"/>
                    </a:solidFill>
                    <a:latin typeface="Cambria Math" panose="02040503050406030204" pitchFamily="18" charset="0"/>
                  </a:rPr>
                  <a:t>$m$</a:t>
                </a:r>
                <a:r>
                  <a:rPr sz="2400" b="0">
                    <a:solidFill>
                      <a:srgbClr val="111827"/>
                    </a:solidFill>
                    <a:latin typeface="Arial"/>
                  </a:rPr>
                  <a:t> elements has </a:t>
                </a:r>
                <a:r>
                  <a:rPr lang="en-IN" sz="2400">
                    <a:solidFill>
                      <a:srgbClr val="111827"/>
                    </a:solidFill>
                    <a:latin typeface="Cambria Math" panose="02040503050406030204" pitchFamily="18" charset="0"/>
                  </a:rPr>
                  <a:t>$2^m$</a:t>
                </a:r>
                <a:r>
                  <a:rPr sz="2400" b="0">
                    <a:solidFill>
                      <a:srgbClr val="111827"/>
                    </a:solidFill>
                    <a:latin typeface="Arial"/>
                  </a:rPr>
                  <a:t> subsets and </a:t>
                </a:r>
                <a:r>
                  <a:rPr lang="en-IN" sz="2400">
                    <a:solidFill>
                      <a:srgbClr val="111827"/>
                    </a:solidFill>
                    <a:latin typeface="Cambria Math" panose="02040503050406030204" pitchFamily="18" charset="0"/>
                  </a:rPr>
                  <a:t>$\binom mk$</a:t>
                </a:r>
                <a:r>
                  <a:rPr sz="2400" b="0">
                    <a:solidFill>
                      <a:srgbClr val="111827"/>
                    </a:solidFill>
                    <a:latin typeface="Arial"/>
                  </a:rPr>
                  <a:t> subsets of size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$n(A\times B)=n(A)\,n(B)$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r>
                  <a:rPr lang="en-IN" sz="2400">
                    <a:solidFill>
                      <a:srgbClr val="111827"/>
                    </a:solidFill>
                    <a:latin typeface="Cambria Math" panose="02040503050406030204" pitchFamily="18" charset="0"/>
                  </a:rPr>
                  <a:t>$k$</a:t>
                </a:r>
                <a:r>
                  <a:rPr sz="2400" b="0">
                    <a:solidFill>
                      <a:srgbClr val="111827"/>
                    </a:solidFill>
                    <a:latin typeface="Arial"/>
                  </a:rPr>
                  <a:t>' counts are easiest by complement: total minus the small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symmetry: </a:t>
                </a:r>
                <a:r>
                  <a:rPr lang="en-IN" sz="2400">
                    <a:solidFill>
                      <a:srgbClr val="111827"/>
                    </a:solidFill>
                    <a:latin typeface="Cambria Math" panose="02040503050406030204" pitchFamily="18" charset="0"/>
                  </a:rPr>
                  <a:t>$\sum_{k=0}^{8}\binom8k=256$</a:t>
                </a:r>
                <a:r>
                  <a:rPr sz="2400" b="0">
                    <a:solidFill>
                      <a:srgbClr val="111827"/>
                    </a:solidFill>
                    <a:latin typeface="Arial"/>
                  </a:rPr>
                  <a:t> with </a:t>
                </a:r>
                <a:r>
                  <a:rPr lang="en-IN" sz="2400">
                    <a:solidFill>
                      <a:srgbClr val="111827"/>
                    </a:solidFill>
                    <a:latin typeface="Cambria Math" panose="02040503050406030204" pitchFamily="18" charset="0"/>
                  </a:rPr>
                  <a:t>$\binom80+\binom81+\binom82=37$</a:t>
                </a:r>
                <a:r>
                  <a:rPr sz="2400" b="0">
                    <a:solidFill>
                      <a:srgbClr val="111827"/>
                    </a:solidFill>
                    <a:latin typeface="Arial"/>
                  </a:rPr>
                  <a:t>, so </a:t>
                </a:r>
                <a:r>
                  <a:rPr lang="en-IN" sz="2400">
                    <a:solidFill>
                      <a:srgbClr val="111827"/>
                    </a:solidFill>
                    <a:latin typeface="Cambria Math" panose="02040503050406030204" pitchFamily="18" charset="0"/>
                  </a:rPr>
                  <a:t>$219$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[JEE(Main)2018]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contains exactly two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contains exactly four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an empty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contains exactly one element</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$S=\{x\in\mathbb{R}: x\ge 0$</a:t>
                </a:r>
                <a:r>
                  <a:rPr sz="2400" b="0">
                    <a:solidFill>
                      <a:srgbClr val="111827"/>
                    </a:solidFill>
                    <a:latin typeface="Arial"/>
                  </a:rPr>
                  <a:t> and </a:t>
                </a:r>
                <a:r>
                  <a:rPr lang="en-IN" sz="2400">
                    <a:solidFill>
                      <a:srgbClr val="111827"/>
                    </a:solidFill>
                    <a:latin typeface="Cambria Math" panose="02040503050406030204" pitchFamily="18" charset="0"/>
                  </a:rPr>
                  <a:t>$2|\sqrt{x}-3|+\sqrt{x}(\sqrt{x}-6)+6=0\}$</a:t>
                </a:r>
                <a:r>
                  <a:rPr sz="2400" b="0">
                    <a:solidFill>
                      <a:srgbClr val="111827"/>
                    </a:solidFill>
                    <a:latin typeface="Arial"/>
                  </a:rPr>
                  <a:t>. Then </a:t>
                </a:r>
                <a:r>
                  <a:rPr lang="en-IN" sz="2400">
                    <a:solidFill>
                      <a:srgbClr val="111827"/>
                    </a:solidFill>
                    <a:latin typeface="Cambria Math" panose="02040503050406030204" pitchFamily="18" charset="0"/>
                  </a:rPr>
                  <a:t>$S$</a:t>
                </a:r>
                <a:r>
                  <a:rPr sz="2400" b="0">
                    <a:solidFill>
                      <a:srgbClr val="111827"/>
                    </a:solidFill>
                    <a:latin typeface="Arial"/>
                  </a:rPr>
                  <a:t>: [JEE(Main)2018]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contains exactly two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contains exactly four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an empty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contains exactly one element</a:t>
                </a:r>
                <a:endParaRPr sz="2400">
                  <a:solidFill>
                    <a:srgbClr val="111827"/>
                  </a:solidFill>
                </a:endParaRPr>
              </a:p>
            </p:txBody>
          </p:sp>
        </mc:Fallback>
      </mc:AlternateContent>
      <p:sp>
        <p:nvSpPr>
          <p:cNvPr id="5" name="Rectangle 4"/>
          <p:cNvSpPr/>
          <p:nvPr/>
        </p:nvSpPr>
        <p:spPr>
          <a:xfrm>
            <a:off x="731520" y="4514596"/>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Equations with modulus and radicals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𝑥</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to remove the modulus, then solve in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𝑥</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keep only roots that satisfy the case condition.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r>
                  <a:rPr lang="en-IN" sz="2400">
                    <a:solidFill>
                      <a:srgbClr val="78350F"/>
                    </a:solidFill>
                    <a:latin typeface="Cambria Math" panose="02040503050406030204" pitchFamily="18" charset="0"/>
                  </a:rPr>
                  <a:t>$\sqrt{x}=3$</a:t>
                </a:r>
                <a:r>
                  <a:rPr sz="2400" b="0">
                    <a:solidFill>
                      <a:srgbClr val="78350F"/>
                    </a:solidFill>
                    <a:latin typeface="Arial"/>
                  </a:rPr>
                  <a:t> to remove the modulus, then solve in </a:t>
                </a:r>
                <a:r>
                  <a:rPr lang="en-IN" sz="2400">
                    <a:solidFill>
                      <a:srgbClr val="78350F"/>
                    </a:solidFill>
                    <a:latin typeface="Cambria Math" panose="02040503050406030204" pitchFamily="18" charset="0"/>
                  </a:rPr>
                  <a:t>$t=\sqrt{x}\ge 0$</a:t>
                </a:r>
                <a:r>
                  <a:rPr sz="2400" b="0">
                    <a:solidFill>
                      <a:srgbClr val="78350F"/>
                    </a:solidFill>
                    <a:latin typeface="Arial"/>
                  </a:rPr>
                  <a:t> and keep only roots that satisfy the case condition.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modulus changes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take two cases: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modulus changes at </a:t>
                </a:r>
                <a:r>
                  <a:rPr lang="en-IN" sz="2400">
                    <a:solidFill>
                      <a:srgbClr val="111827"/>
                    </a:solidFill>
                    <a:latin typeface="Cambria Math" panose="02040503050406030204" pitchFamily="18" charset="0"/>
                  </a:rPr>
                  <a:t>$\sqrt{x}=3$</a:t>
                </a:r>
                <a:r>
                  <a:rPr sz="2400" b="0">
                    <a:solidFill>
                      <a:srgbClr val="111827"/>
                    </a:solidFill>
                    <a:latin typeface="Arial"/>
                  </a:rPr>
                  <a:t>, so take two cases: </a:t>
                </a:r>
                <a:r>
                  <a:rPr lang="en-IN" sz="2400">
                    <a:solidFill>
                      <a:srgbClr val="111827"/>
                    </a:solidFill>
                    <a:latin typeface="Cambria Math" panose="02040503050406030204" pitchFamily="18" charset="0"/>
                  </a:rPr>
                  <a:t>$\sqrt{x}-3\ge 0$</a:t>
                </a:r>
                <a:r>
                  <a:rPr sz="2400" b="0">
                    <a:solidFill>
                      <a:srgbClr val="111827"/>
                    </a:solidFill>
                    <a:latin typeface="Arial"/>
                  </a:rPr>
                  <a:t> (i.e. </a:t>
                </a:r>
                <a:r>
                  <a:rPr lang="en-IN" sz="2400">
                    <a:solidFill>
                      <a:srgbClr val="111827"/>
                    </a:solidFill>
                    <a:latin typeface="Cambria Math" panose="02040503050406030204" pitchFamily="18" charset="0"/>
                  </a:rPr>
                  <a:t>$x\ge 9$</a:t>
                </a:r>
                <a:r>
                  <a:rPr sz="2400" b="0">
                    <a:solidFill>
                      <a:srgbClr val="111827"/>
                    </a:solidFill>
                    <a:latin typeface="Arial"/>
                  </a:rPr>
                  <a:t>) and </a:t>
                </a:r>
                <a:r>
                  <a:rPr lang="en-IN" sz="2400">
                    <a:solidFill>
                      <a:srgbClr val="111827"/>
                    </a:solidFill>
                    <a:latin typeface="Cambria Math" panose="02040503050406030204" pitchFamily="18" charset="0"/>
                  </a:rPr>
                  <a:t>$\sqrt{x}-3&lt;0$</a:t>
                </a:r>
                <a:r>
                  <a:rPr sz="2400" b="0">
                    <a:solidFill>
                      <a:srgbClr val="111827"/>
                    </a:solidFill>
                    <a:latin typeface="Arial"/>
                  </a:rPr>
                  <a:t> (i.e. </a:t>
                </a:r>
                <a:r>
                  <a:rPr lang="en-IN" sz="2400">
                    <a:solidFill>
                      <a:srgbClr val="111827"/>
                    </a:solidFill>
                    <a:latin typeface="Cambria Math" panose="02040503050406030204" pitchFamily="18" charset="0"/>
                  </a:rPr>
                  <a:t>$0\le x&lt;9$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$x\ge 9$</a:t>
                </a:r>
                <a:r>
                  <a:rPr sz="2400" b="0">
                    <a:solidFill>
                      <a:srgbClr val="111827"/>
                    </a:solidFill>
                    <a:latin typeface="Arial"/>
                  </a:rPr>
                  <a:t>: </a:t>
                </a:r>
                <a:r>
                  <a:rPr lang="en-IN" sz="2400">
                    <a:solidFill>
                      <a:srgbClr val="111827"/>
                    </a:solidFill>
                    <a:latin typeface="Cambria Math" panose="02040503050406030204" pitchFamily="18" charset="0"/>
                  </a:rPr>
                  <a:t>$|\sqrt{x}-3|=\sqrt{x}-3$</a:t>
                </a:r>
                <a:r>
                  <a:rPr sz="2400" b="0">
                    <a:solidFill>
                      <a:srgbClr val="111827"/>
                    </a:solidFill>
                    <a:latin typeface="Arial"/>
                  </a:rPr>
                  <a:t>, so </a:t>
                </a:r>
                <a:r>
                  <a:rPr lang="en-IN" sz="2400">
                    <a:solidFill>
                      <a:srgbClr val="111827"/>
                    </a:solidFill>
                    <a:latin typeface="Cambria Math" panose="02040503050406030204" pitchFamily="18" charset="0"/>
                  </a:rPr>
                  <a:t>$2(\sqrt{x}-3)+x-6\sqrt{x}+6=0$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$2\sqrt{x}-6+x-6\sqrt{x}+6=0$</a:t>
                </a:r>
                <a:r>
                  <a:rPr sz="2400" b="0">
                    <a:solidFill>
                      <a:srgbClr val="111827"/>
                    </a:solidFill>
                    <a:latin typeface="Arial"/>
                  </a:rPr>
                  <a:t>, i.e. </a:t>
                </a:r>
                <a:r>
                  <a:rPr lang="en-IN" sz="2400">
                    <a:solidFill>
                      <a:srgbClr val="111827"/>
                    </a:solidFill>
                    <a:latin typeface="Cambria Math" panose="02040503050406030204" pitchFamily="18" charset="0"/>
                  </a:rPr>
                  <a:t>$x-4\sqrt{x}=0$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$\sqrt{x}(\sqrt{x}-4)=0$</a:t>
                </a:r>
                <a:r>
                  <a:rPr sz="2400" b="0">
                    <a:solidFill>
                      <a:srgbClr val="111827"/>
                    </a:solidFill>
                    <a:latin typeface="Arial"/>
                  </a:rPr>
                  <a:t>, so </a:t>
                </a:r>
                <a:r>
                  <a:rPr lang="en-IN" sz="2400">
                    <a:solidFill>
                      <a:srgbClr val="111827"/>
                    </a:solidFill>
                    <a:latin typeface="Cambria Math" panose="02040503050406030204" pitchFamily="18" charset="0"/>
                  </a:rPr>
                  <a:t>$\sqrt{x}=0$</a:t>
                </a:r>
                <a:r>
                  <a:rPr sz="2400" b="0">
                    <a:solidFill>
                      <a:srgbClr val="111827"/>
                    </a:solidFill>
                    <a:latin typeface="Arial"/>
                  </a:rPr>
                  <a:t> or </a:t>
                </a:r>
                <a:r>
                  <a:rPr lang="en-IN" sz="2400">
                    <a:solidFill>
                      <a:srgbClr val="111827"/>
                    </a:solidFill>
                    <a:latin typeface="Cambria Math" panose="02040503050406030204" pitchFamily="18" charset="0"/>
                  </a:rPr>
                  <a:t>$\sqrt{x}=4$</a:t>
                </a:r>
                <a:r>
                  <a:rPr sz="2400" b="0">
                    <a:solidFill>
                      <a:srgbClr val="111827"/>
                    </a:solidFill>
                    <a:latin typeface="Arial"/>
                  </a:rPr>
                  <a:t>, i.e. </a:t>
                </a:r>
                <a:r>
                  <a:rPr lang="en-IN" sz="2400">
                    <a:solidFill>
                      <a:srgbClr val="111827"/>
                    </a:solidFill>
                    <a:latin typeface="Cambria Math" panose="02040503050406030204" pitchFamily="18" charset="0"/>
                  </a:rPr>
                  <a:t>$x=0$</a:t>
                </a:r>
                <a:r>
                  <a:rPr sz="2400" b="0">
                    <a:solidFill>
                      <a:srgbClr val="111827"/>
                    </a:solidFill>
                    <a:latin typeface="Arial"/>
                  </a:rPr>
                  <a:t> or </a:t>
                </a:r>
                <a:r>
                  <a:rPr lang="en-IN" sz="2400">
                    <a:solidFill>
                      <a:srgbClr val="111827"/>
                    </a:solidFill>
                    <a:latin typeface="Cambria Math" panose="02040503050406030204" pitchFamily="18" charset="0"/>
                  </a:rPr>
                  <a:t>$x=16$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violates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it is rejected;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it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$x=0$</a:t>
                </a:r>
                <a:r>
                  <a:rPr sz="2400" b="0">
                    <a:solidFill>
                      <a:srgbClr val="111827"/>
                    </a:solidFill>
                    <a:latin typeface="Arial"/>
                  </a:rPr>
                  <a:t> violates </a:t>
                </a:r>
                <a:r>
                  <a:rPr lang="en-IN" sz="2400">
                    <a:solidFill>
                      <a:srgbClr val="111827"/>
                    </a:solidFill>
                    <a:latin typeface="Cambria Math" panose="02040503050406030204" pitchFamily="18" charset="0"/>
                  </a:rPr>
                  <a:t>$x\ge 9$</a:t>
                </a:r>
                <a:r>
                  <a:rPr sz="2400" b="0">
                    <a:solidFill>
                      <a:srgbClr val="111827"/>
                    </a:solidFill>
                    <a:latin typeface="Arial"/>
                  </a:rPr>
                  <a:t>, so it is rejected; </a:t>
                </a:r>
                <a:r>
                  <a:rPr lang="en-IN" sz="2400">
                    <a:solidFill>
                      <a:srgbClr val="111827"/>
                    </a:solidFill>
                    <a:latin typeface="Cambria Math" panose="02040503050406030204" pitchFamily="18" charset="0"/>
                  </a:rPr>
                  <a:t>$x=16$</a:t>
                </a:r>
                <a:r>
                  <a:rPr sz="2400" b="0">
                    <a:solidFill>
                      <a:srgbClr val="111827"/>
                    </a:solidFill>
                    <a:latin typeface="Arial"/>
                  </a:rPr>
                  <a:t> satisfies </a:t>
                </a:r>
                <a:r>
                  <a:rPr lang="en-IN" sz="2400">
                    <a:solidFill>
                      <a:srgbClr val="111827"/>
                    </a:solidFill>
                    <a:latin typeface="Cambria Math" panose="02040503050406030204" pitchFamily="18" charset="0"/>
                  </a:rPr>
                  <a:t>$x\ge 9$</a:t>
                </a:r>
                <a:r>
                  <a:rPr sz="2400" b="0">
                    <a:solidFill>
                      <a:srgbClr val="111827"/>
                    </a:solidFill>
                    <a:latin typeface="Arial"/>
                  </a:rPr>
                  <a:t>, so it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$0\le x&lt;9$</a:t>
                </a:r>
                <a:r>
                  <a:rPr sz="2400" b="0">
                    <a:solidFill>
                      <a:srgbClr val="111827"/>
                    </a:solidFill>
                    <a:latin typeface="Arial"/>
                  </a:rPr>
                  <a:t>: </a:t>
                </a:r>
                <a:r>
                  <a:rPr lang="en-IN" sz="2400">
                    <a:solidFill>
                      <a:srgbClr val="111827"/>
                    </a:solidFill>
                    <a:latin typeface="Cambria Math" panose="02040503050406030204" pitchFamily="18" charset="0"/>
                  </a:rPr>
                  <a:t>$|\sqrt{x}-3|=-(\sqrt{x}-3)$</a:t>
                </a:r>
                <a:r>
                  <a:rPr sz="2400" b="0">
                    <a:solidFill>
                      <a:srgbClr val="111827"/>
                    </a:solidFill>
                    <a:latin typeface="Arial"/>
                  </a:rPr>
                  <a:t>, so </a:t>
                </a:r>
                <a:r>
                  <a:rPr lang="en-IN" sz="2400">
                    <a:solidFill>
                      <a:srgbClr val="111827"/>
                    </a:solidFill>
                    <a:latin typeface="Cambria Math" panose="02040503050406030204" pitchFamily="18" charset="0"/>
                  </a:rPr>
                  <a:t>$-2(\sqrt{x}-3)+x-6\sqrt{x}+6=0$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$-2\sqrt{x}+6+x-6\sqrt{x}+6=0$</a:t>
                </a:r>
                <a:r>
                  <a:rPr sz="2400" b="0">
                    <a:solidFill>
                      <a:srgbClr val="111827"/>
                    </a:solidFill>
                    <a:latin typeface="Arial"/>
                  </a:rPr>
                  <a:t>, i.e. </a:t>
                </a:r>
                <a:r>
                  <a:rPr lang="en-IN" sz="2400">
                    <a:solidFill>
                      <a:srgbClr val="111827"/>
                    </a:solidFill>
                    <a:latin typeface="Cambria Math" panose="02040503050406030204" pitchFamily="18" charset="0"/>
                  </a:rPr>
                  <a:t>$x-8\sqrt{x}+12=0$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$\sqrt{x}=t$</a:t>
                </a:r>
                <a:r>
                  <a:rPr sz="2400" b="0">
                    <a:solidFill>
                      <a:srgbClr val="111827"/>
                    </a:solidFill>
                    <a:latin typeface="Arial"/>
                  </a:rPr>
                  <a:t>: </a:t>
                </a:r>
                <a:r>
                  <a:rPr lang="en-IN" sz="2400">
                    <a:solidFill>
                      <a:srgbClr val="111827"/>
                    </a:solidFill>
                    <a:latin typeface="Cambria Math" panose="02040503050406030204" pitchFamily="18" charset="0"/>
                  </a:rPr>
                  <a:t>$t^2-8t+12=0$</a:t>
                </a:r>
                <a:r>
                  <a:rPr sz="2400" b="0">
                    <a:solidFill>
                      <a:srgbClr val="111827"/>
                    </a:solidFill>
                    <a:latin typeface="Arial"/>
                  </a:rPr>
                  <a:t>, so </a:t>
                </a:r>
                <a:r>
                  <a:rPr lang="en-IN" sz="2400">
                    <a:solidFill>
                      <a:srgbClr val="111827"/>
                    </a:solidFill>
                    <a:latin typeface="Cambria Math" panose="02040503050406030204" pitchFamily="18" charset="0"/>
                  </a:rPr>
                  <a:t>$(t-6)(t-2)=0$</a:t>
                </a:r>
                <a:r>
                  <a:rPr sz="2400" b="0">
                    <a:solidFill>
                      <a:srgbClr val="111827"/>
                    </a:solidFill>
                    <a:latin typeface="Arial"/>
                  </a:rPr>
                  <a:t> and </a:t>
                </a:r>
                <a:r>
                  <a:rPr lang="en-IN" sz="2400">
                    <a:solidFill>
                      <a:srgbClr val="111827"/>
                    </a:solidFill>
                    <a:latin typeface="Cambria Math" panose="02040503050406030204" pitchFamily="18" charset="0"/>
                  </a:rPr>
                  <a:t>$t=6$</a:t>
                </a:r>
                <a:r>
                  <a:rPr sz="2400" b="0">
                    <a:solidFill>
                      <a:srgbClr val="111827"/>
                    </a:solidFill>
                    <a:latin typeface="Arial"/>
                  </a:rPr>
                  <a:t> or </a:t>
                </a:r>
                <a:r>
                  <a:rPr lang="en-IN" sz="2400">
                    <a:solidFill>
                      <a:srgbClr val="111827"/>
                    </a:solidFill>
                    <a:latin typeface="Cambria Math" panose="02040503050406030204" pitchFamily="18" charset="0"/>
                  </a:rPr>
                  <a:t>$t=2$</a:t>
                </a:r>
                <a:r>
                  <a:rPr sz="2400" b="0">
                    <a:solidFill>
                      <a:srgbClr val="111827"/>
                    </a:solidFill>
                    <a:latin typeface="Arial"/>
                  </a:rPr>
                  <a:t>, i.e. </a:t>
                </a:r>
                <a:r>
                  <a:rPr lang="en-IN" sz="2400">
                    <a:solidFill>
                      <a:srgbClr val="111827"/>
                    </a:solidFill>
                    <a:latin typeface="Cambria Math" panose="02040503050406030204" pitchFamily="18" charset="0"/>
                  </a:rPr>
                  <a:t>$x=36$</a:t>
                </a:r>
                <a:r>
                  <a:rPr sz="2400" b="0">
                    <a:solidFill>
                      <a:srgbClr val="111827"/>
                    </a:solidFill>
                    <a:latin typeface="Arial"/>
                  </a:rPr>
                  <a:t> or </a:t>
                </a:r>
                <a:r>
                  <a:rPr lang="en-IN" sz="2400">
                    <a:solidFill>
                      <a:srgbClr val="111827"/>
                    </a:solidFill>
                    <a:latin typeface="Cambria Math" panose="02040503050406030204" pitchFamily="18" charset="0"/>
                  </a:rPr>
                  <a:t>$x=4$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is not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is rejected;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exactly two elements.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$x=36$</a:t>
                </a:r>
                <a:r>
                  <a:rPr sz="2400" b="0">
                    <a:solidFill>
                      <a:srgbClr val="111827"/>
                    </a:solidFill>
                    <a:latin typeface="Arial"/>
                  </a:rPr>
                  <a:t> is not in </a:t>
                </a:r>
                <a:r>
                  <a:rPr lang="en-IN" sz="2400">
                    <a:solidFill>
                      <a:srgbClr val="111827"/>
                    </a:solidFill>
                    <a:latin typeface="Cambria Math" panose="02040503050406030204" pitchFamily="18" charset="0"/>
                  </a:rPr>
                  <a:t>$[0,9)$</a:t>
                </a:r>
                <a:r>
                  <a:rPr sz="2400" b="0">
                    <a:solidFill>
                      <a:srgbClr val="111827"/>
                    </a:solidFill>
                    <a:latin typeface="Arial"/>
                  </a:rPr>
                  <a:t>, so it is rejected; </a:t>
                </a:r>
                <a:r>
                  <a:rPr lang="en-IN" sz="2400">
                    <a:solidFill>
                      <a:srgbClr val="111827"/>
                    </a:solidFill>
                    <a:latin typeface="Cambria Math" panose="02040503050406030204" pitchFamily="18" charset="0"/>
                  </a:rPr>
                  <a:t>$x=4$</a:t>
                </a:r>
                <a:r>
                  <a:rPr sz="2400" b="0">
                    <a:solidFill>
                      <a:srgbClr val="111827"/>
                    </a:solidFill>
                    <a:latin typeface="Arial"/>
                  </a:rPr>
                  <a:t> lies in </a:t>
                </a:r>
                <a:r>
                  <a:rPr lang="en-IN" sz="2400">
                    <a:solidFill>
                      <a:srgbClr val="111827"/>
                    </a:solidFill>
                    <a:latin typeface="Cambria Math" panose="02040503050406030204" pitchFamily="18" charset="0"/>
                  </a:rPr>
                  <a:t>$[0,9)$</a:t>
                </a:r>
                <a:r>
                  <a:rPr sz="2400" b="0">
                    <a:solidFill>
                      <a:srgbClr val="111827"/>
                    </a:solidFill>
                    <a:latin typeface="Arial"/>
                  </a:rPr>
                  <a:t> and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$2|2-3|+2(2-6)+6=2-8+6=0$</a:t>
                </a:r>
                <a:r>
                  <a:rPr sz="2400" b="0">
                    <a:solidFill>
                      <a:srgbClr val="111827"/>
                    </a:solidFill>
                    <a:latin typeface="Arial"/>
                  </a:rPr>
                  <a:t>; check </a:t>
                </a:r>
                <a:r>
                  <a:rPr lang="en-IN" sz="2400">
                    <a:solidFill>
                      <a:srgbClr val="111827"/>
                    </a:solidFill>
                    <a:latin typeface="Cambria Math" panose="02040503050406030204" pitchFamily="18" charset="0"/>
                  </a:rPr>
                  <a:t>$x=16$</a:t>
                </a:r>
                <a:r>
                  <a:rPr sz="2400" b="0">
                    <a:solidFill>
                      <a:srgbClr val="111827"/>
                    </a:solidFill>
                    <a:latin typeface="Arial"/>
                  </a:rPr>
                  <a:t>: </a:t>
                </a:r>
                <a:r>
                  <a:rPr lang="en-IN" sz="2400">
                    <a:solidFill>
                      <a:srgbClr val="111827"/>
                    </a:solidFill>
                    <a:latin typeface="Cambria Math" panose="02040503050406030204" pitchFamily="18" charset="0"/>
                  </a:rPr>
                  <a:t>$2|4-3|+4(4-6)+6=2-8+6=0$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$S=\{4,16\}$</a:t>
                </a:r>
                <a:r>
                  <a:rPr sz="2400" b="0">
                    <a:solidFill>
                      <a:srgbClr val="111827"/>
                    </a:solidFill>
                    <a:latin typeface="Arial"/>
                  </a:rPr>
                  <a:t> contains exactly two elements.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contains exactly two elements</a:t>
            </a:r>
            <a:endParaRPr sz="2800">
              <a:solidFill>
                <a:srgbClr val="15803D"/>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so with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the equation is a quadratic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needs no cases.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r>
                  <a:rPr lang="en-IN" sz="2400">
                    <a:solidFill>
                      <a:srgbClr val="78350F"/>
                    </a:solidFill>
                    <a:latin typeface="Cambria Math" panose="02040503050406030204" pitchFamily="18" charset="0"/>
                  </a:rPr>
                  <a:t>$t^2-6t+6=(t-3)^2-3$</a:t>
                </a:r>
                <a:r>
                  <a:rPr sz="2400" b="0">
                    <a:solidFill>
                      <a:srgbClr val="78350F"/>
                    </a:solidFill>
                    <a:latin typeface="Arial"/>
                  </a:rPr>
                  <a:t>, so with </a:t>
                </a:r>
                <a:r>
                  <a:rPr lang="en-IN" sz="2400">
                    <a:solidFill>
                      <a:srgbClr val="78350F"/>
                    </a:solidFill>
                    <a:latin typeface="Cambria Math" panose="02040503050406030204" pitchFamily="18" charset="0"/>
                  </a:rPr>
                  <a:t>$u=t-3$</a:t>
                </a:r>
                <a:r>
                  <a:rPr sz="2400" b="0">
                    <a:solidFill>
                      <a:srgbClr val="78350F"/>
                    </a:solidFill>
                    <a:latin typeface="Arial"/>
                  </a:rPr>
                  <a:t> the equation is a quadratic in </a:t>
                </a:r>
                <a:r>
                  <a:rPr lang="en-IN" sz="2400">
                    <a:solidFill>
                      <a:srgbClr val="78350F"/>
                    </a:solidFill>
                    <a:latin typeface="Cambria Math" panose="02040503050406030204" pitchFamily="18" charset="0"/>
                  </a:rPr>
                  <a:t>$|u|$</a:t>
                </a:r>
                <a:r>
                  <a:rPr sz="2400" b="0">
                    <a:solidFill>
                      <a:srgbClr val="78350F"/>
                    </a:solidFill>
                    <a:latin typeface="Arial"/>
                  </a:rPr>
                  <a:t> and needs no cases.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equation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$t=\sqrt{x}\ge 0$</a:t>
                </a:r>
                <a:r>
                  <a:rPr sz="2400" b="0">
                    <a:solidFill>
                      <a:srgbClr val="111827"/>
                    </a:solidFill>
                    <a:latin typeface="Arial"/>
                  </a:rPr>
                  <a:t>. The equation is </a:t>
                </a:r>
                <a:r>
                  <a:rPr lang="en-IN" sz="2400">
                    <a:solidFill>
                      <a:srgbClr val="111827"/>
                    </a:solidFill>
                    <a:latin typeface="Cambria Math" panose="02040503050406030204" pitchFamily="18" charset="0"/>
                  </a:rPr>
                  <a:t>$2|t-3|+t^2-6t+6=0$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a:t>
                </a:r>
                <a:r>
                  <a:rPr lang="en-IN" sz="2400">
                    <a:solidFill>
                      <a:srgbClr val="111827"/>
                    </a:solidFill>
                    <a:latin typeface="Cambria Math" panose="02040503050406030204" pitchFamily="18" charset="0"/>
                  </a:rPr>
                  <a:t>$t^2-6t+6=(t-3)^2-3$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$u=t-3$</a:t>
                </a:r>
                <a:r>
                  <a:rPr sz="2400" b="0">
                    <a:solidFill>
                      <a:srgbClr val="111827"/>
                    </a:solidFill>
                    <a:latin typeface="Arial"/>
                  </a:rPr>
                  <a:t>. Then </a:t>
                </a:r>
                <a:r>
                  <a:rPr lang="en-IN" sz="2400">
                    <a:solidFill>
                      <a:srgbClr val="111827"/>
                    </a:solidFill>
                    <a:latin typeface="Cambria Math" panose="02040503050406030204" pitchFamily="18" charset="0"/>
                  </a:rPr>
                  <a:t>$2|u|+u^2-3=0$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$u^2=|u|^2$</a:t>
                </a:r>
                <a:r>
                  <a:rPr sz="2400" b="0">
                    <a:solidFill>
                      <a:srgbClr val="111827"/>
                    </a:solidFill>
                    <a:latin typeface="Arial"/>
                  </a:rPr>
                  <a:t>, this is </a:t>
                </a:r>
                <a:r>
                  <a:rPr lang="en-IN" sz="2400">
                    <a:solidFill>
                      <a:srgbClr val="111827"/>
                    </a:solidFill>
                    <a:latin typeface="Cambria Math" panose="02040503050406030204" pitchFamily="18" charset="0"/>
                  </a:rPr>
                  <a:t>$|u|^2+2|u|-3=0$</a:t>
                </a:r>
                <a:r>
                  <a:rPr sz="2400" b="0">
                    <a:solidFill>
                      <a:srgbClr val="111827"/>
                    </a:solidFill>
                    <a:latin typeface="Arial"/>
                  </a:rPr>
                  <a:t>, i.e. </a:t>
                </a:r>
                <a:r>
                  <a:rPr lang="en-IN" sz="2400">
                    <a:solidFill>
                      <a:srgbClr val="111827"/>
                    </a:solidFill>
                    <a:latin typeface="Cambria Math" panose="02040503050406030204" pitchFamily="18" charset="0"/>
                  </a:rPr>
                  <a:t>$(|u|+3)(|u|-1)=0$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both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has exactly two elements.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$|u|+3&gt;0$</a:t>
                </a:r>
                <a:r>
                  <a:rPr sz="2400" b="0">
                    <a:solidFill>
                      <a:srgbClr val="111827"/>
                    </a:solidFill>
                    <a:latin typeface="Arial"/>
                  </a:rPr>
                  <a:t>, so </a:t>
                </a:r>
                <a:r>
                  <a:rPr lang="en-IN" sz="2400">
                    <a:solidFill>
                      <a:srgbClr val="111827"/>
                    </a:solidFill>
                    <a:latin typeface="Cambria Math" panose="02040503050406030204" pitchFamily="18" charset="0"/>
                  </a:rPr>
                  <a:t>$|u|=1$</a:t>
                </a:r>
                <a:r>
                  <a:rPr sz="2400" b="0">
                    <a:solidFill>
                      <a:srgbClr val="111827"/>
                    </a:solidFill>
                    <a:latin typeface="Arial"/>
                  </a:rPr>
                  <a:t>, giving </a:t>
                </a:r>
                <a:r>
                  <a:rPr lang="en-IN" sz="2400">
                    <a:solidFill>
                      <a:srgbClr val="111827"/>
                    </a:solidFill>
                    <a:latin typeface="Cambria Math" panose="02040503050406030204" pitchFamily="18" charset="0"/>
                  </a:rPr>
                  <a:t>$u=\pm 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$t=3\pm 1$</a:t>
                </a:r>
                <a:r>
                  <a:rPr sz="2400" b="0">
                    <a:solidFill>
                      <a:srgbClr val="111827"/>
                    </a:solidFill>
                    <a:latin typeface="Arial"/>
                  </a:rPr>
                  <a:t>, i.e. </a:t>
                </a:r>
                <a:r>
                  <a:rPr lang="en-IN" sz="2400">
                    <a:solidFill>
                      <a:srgbClr val="111827"/>
                    </a:solidFill>
                    <a:latin typeface="Cambria Math" panose="02040503050406030204" pitchFamily="18" charset="0"/>
                  </a:rPr>
                  <a:t>$t=2$</a:t>
                </a:r>
                <a:r>
                  <a:rPr sz="2400" b="0">
                    <a:solidFill>
                      <a:srgbClr val="111827"/>
                    </a:solidFill>
                    <a:latin typeface="Arial"/>
                  </a:rPr>
                  <a:t> or </a:t>
                </a:r>
                <a:r>
                  <a:rPr lang="en-IN" sz="2400">
                    <a:solidFill>
                      <a:srgbClr val="111827"/>
                    </a:solidFill>
                    <a:latin typeface="Cambria Math" panose="02040503050406030204" pitchFamily="18" charset="0"/>
                  </a:rPr>
                  <a:t>$t=4$</a:t>
                </a:r>
                <a:r>
                  <a:rPr sz="2400" b="0">
                    <a:solidFill>
                      <a:srgbClr val="111827"/>
                    </a:solidFill>
                    <a:latin typeface="Arial"/>
                  </a:rPr>
                  <a:t>; both are </a:t>
                </a:r>
                <a:r>
                  <a:rPr lang="en-IN" sz="2400">
                    <a:solidFill>
                      <a:srgbClr val="111827"/>
                    </a:solidFill>
                    <a:latin typeface="Cambria Math" panose="02040503050406030204" pitchFamily="18" charset="0"/>
                  </a:rPr>
                  <a:t>$\ge 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$x=t^2=4$</a:t>
                </a:r>
                <a:r>
                  <a:rPr sz="2400" b="0">
                    <a:solidFill>
                      <a:srgbClr val="111827"/>
                    </a:solidFill>
                    <a:latin typeface="Arial"/>
                  </a:rPr>
                  <a:t> or </a:t>
                </a:r>
                <a:r>
                  <a:rPr lang="en-IN" sz="2400">
                    <a:solidFill>
                      <a:srgbClr val="111827"/>
                    </a:solidFill>
                    <a:latin typeface="Cambria Math" panose="02040503050406030204" pitchFamily="18" charset="0"/>
                  </a:rPr>
                  <a:t>$16$</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has exactly two elements.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contains exactly two elements</a:t>
            </a:r>
            <a:endParaRPr sz="2800">
              <a:solidFill>
                <a:srgbClr val="15803D"/>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Whenever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occur together, use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to get a quadratic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reject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Example: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to match the modulus: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which pairs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oMath>
                </a14:m>
                <a:r>
                  <a:rPr sz="2400" b="0">
                    <a:solidFill>
                      <a:srgbClr val="111827"/>
                    </a:solidFill>
                    <a:latin typeface="Arial"/>
                  </a:rPr>
                  <a:t> the condition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automatic; in case work every root must be tested against the case interval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satisfied a case equation but not its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modulus equation can also be checked by direct substitution of each candidate; this catches every sign slip.</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Whenever </a:t>
                </a:r>
                <a:r>
                  <a:rPr lang="en-IN" sz="2400">
                    <a:solidFill>
                      <a:srgbClr val="111827"/>
                    </a:solidFill>
                    <a:latin typeface="Cambria Math" panose="02040503050406030204" pitchFamily="18" charset="0"/>
                  </a:rPr>
                  <a:t>$|u|$</a:t>
                </a:r>
                <a:r>
                  <a:rPr sz="2400" b="0">
                    <a:solidFill>
                      <a:srgbClr val="111827"/>
                    </a:solidFill>
                    <a:latin typeface="Arial"/>
                  </a:rPr>
                  <a:t> and </a:t>
                </a:r>
                <a:r>
                  <a:rPr lang="en-IN" sz="2400">
                    <a:solidFill>
                      <a:srgbClr val="111827"/>
                    </a:solidFill>
                    <a:latin typeface="Cambria Math" panose="02040503050406030204" pitchFamily="18" charset="0"/>
                  </a:rPr>
                  <a:t>$u^2$</a:t>
                </a:r>
                <a:r>
                  <a:rPr sz="2400" b="0">
                    <a:solidFill>
                      <a:srgbClr val="111827"/>
                    </a:solidFill>
                    <a:latin typeface="Arial"/>
                  </a:rPr>
                  <a:t> occur together, use </a:t>
                </a:r>
                <a:r>
                  <a:rPr lang="en-IN" sz="2400">
                    <a:solidFill>
                      <a:srgbClr val="111827"/>
                    </a:solidFill>
                    <a:latin typeface="Cambria Math" panose="02040503050406030204" pitchFamily="18" charset="0"/>
                  </a:rPr>
                  <a:t>$u^2=|u|^2$</a:t>
                </a:r>
                <a:r>
                  <a:rPr sz="2400" b="0">
                    <a:solidFill>
                      <a:srgbClr val="111827"/>
                    </a:solidFill>
                    <a:latin typeface="Arial"/>
                  </a:rPr>
                  <a:t> to get a quadratic in </a:t>
                </a:r>
                <a:r>
                  <a:rPr lang="en-IN" sz="2400">
                    <a:solidFill>
                      <a:srgbClr val="111827"/>
                    </a:solidFill>
                    <a:latin typeface="Cambria Math" panose="02040503050406030204" pitchFamily="18" charset="0"/>
                  </a:rPr>
                  <a:t>$|u|$</a:t>
                </a:r>
                <a:r>
                  <a:rPr sz="2400" b="0">
                    <a:solidFill>
                      <a:srgbClr val="111827"/>
                    </a:solidFill>
                    <a:latin typeface="Arial"/>
                  </a:rPr>
                  <a:t>; then reject </a:t>
                </a:r>
                <a:r>
                  <a:rPr lang="en-IN" sz="2400">
                    <a:solidFill>
                      <a:srgbClr val="111827"/>
                    </a:solidFill>
                    <a:latin typeface="Cambria Math" panose="02040503050406030204" pitchFamily="18" charset="0"/>
                  </a:rPr>
                  <a:t>$|u|&lt;0$</a:t>
                </a:r>
                <a:r>
                  <a:rPr sz="2400" b="0">
                    <a:solidFill>
                      <a:srgbClr val="111827"/>
                    </a:solidFill>
                    <a:latin typeface="Arial"/>
                  </a:rPr>
                  <a:t> (here </a:t>
                </a:r>
                <a:r>
                  <a:rPr lang="en-IN" sz="2400">
                    <a:solidFill>
                      <a:srgbClr val="111827"/>
                    </a:solidFill>
                    <a:latin typeface="Cambria Math" panose="02040503050406030204" pitchFamily="18" charset="0"/>
                  </a:rPr>
                  <a:t>$|u|=-3$</a:t>
                </a:r>
                <a:r>
                  <a:rPr sz="2400" b="0">
                    <a:solidFill>
                      <a:srgbClr val="111827"/>
                    </a:solidFill>
                    <a:latin typeface="Arial"/>
                  </a:rPr>
                  <a:t>). Example: </a:t>
                </a:r>
                <a:r>
                  <a:rPr lang="en-IN" sz="2400">
                    <a:solidFill>
                      <a:srgbClr val="111827"/>
                    </a:solidFill>
                    <a:latin typeface="Cambria Math" panose="02040503050406030204" pitchFamily="18" charset="0"/>
                  </a:rPr>
                  <a:t>$|u|^2+2|u|-3=0\Rightarrow |u|=1$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to match the modulus: </a:t>
                </a:r>
                <a:r>
                  <a:rPr lang="en-IN" sz="2400">
                    <a:solidFill>
                      <a:srgbClr val="111827"/>
                    </a:solidFill>
                    <a:latin typeface="Cambria Math" panose="02040503050406030204" pitchFamily="18" charset="0"/>
                  </a:rPr>
                  <a:t>$t^2-6t+6=(t-3)^2-3$</a:t>
                </a:r>
                <a:r>
                  <a:rPr sz="2400" b="0">
                    <a:solidFill>
                      <a:srgbClr val="111827"/>
                    </a:solidFill>
                    <a:latin typeface="Arial"/>
                  </a:rPr>
                  <a:t>, which pairs with </a:t>
                </a:r>
                <a:r>
                  <a:rPr lang="en-IN" sz="2400">
                    <a:solidFill>
                      <a:srgbClr val="111827"/>
                    </a:solidFill>
                    <a:latin typeface="Cambria Math" panose="02040503050406030204" pitchFamily="18" charset="0"/>
                  </a:rPr>
                  <a:t>$|t-3|$</a:t>
                </a:r>
                <a:r>
                  <a:rPr sz="2400" b="0">
                    <a:solidFill>
                      <a:srgbClr val="111827"/>
                    </a:solidFill>
                    <a:latin typeface="Arial"/>
                  </a:rPr>
                  <a:t>. Check: </a:t>
                </a:r>
                <a:r>
                  <a:rPr lang="en-IN" sz="2400">
                    <a:solidFill>
                      <a:srgbClr val="111827"/>
                    </a:solidFill>
                    <a:latin typeface="Cambria Math" panose="02040503050406030204" pitchFamily="18" charset="0"/>
                  </a:rPr>
                  <a:t>$t=5$</a:t>
                </a:r>
                <a:r>
                  <a:rPr sz="2400" b="0">
                    <a:solidFill>
                      <a:srgbClr val="111827"/>
                    </a:solidFill>
                    <a:latin typeface="Arial"/>
                  </a:rPr>
                  <a:t> gives </a:t>
                </a:r>
                <a:r>
                  <a:rPr lang="en-IN" sz="2400">
                    <a:solidFill>
                      <a:srgbClr val="111827"/>
                    </a:solidFill>
                    <a:latin typeface="Cambria Math" panose="02040503050406030204" pitchFamily="18" charset="0"/>
                  </a:rPr>
                  <a:t>$25-30+6=1=(2)^2-3$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$t=\sqrt{x}$</a:t>
                </a:r>
                <a:r>
                  <a:rPr sz="2400" b="0">
                    <a:solidFill>
                      <a:srgbClr val="111827"/>
                    </a:solidFill>
                    <a:latin typeface="Arial"/>
                  </a:rPr>
                  <a:t> the condition </a:t>
                </a:r>
                <a:r>
                  <a:rPr lang="en-IN" sz="2400">
                    <a:solidFill>
                      <a:srgbClr val="111827"/>
                    </a:solidFill>
                    <a:latin typeface="Cambria Math" panose="02040503050406030204" pitchFamily="18" charset="0"/>
                  </a:rPr>
                  <a:t>$t\ge 0$</a:t>
                </a:r>
                <a:r>
                  <a:rPr sz="2400" b="0">
                    <a:solidFill>
                      <a:srgbClr val="111827"/>
                    </a:solidFill>
                    <a:latin typeface="Arial"/>
                  </a:rPr>
                  <a:t> is automatic; in case work every root must be tested against the case interval (here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$x=36$</a:t>
                </a:r>
                <a:r>
                  <a:rPr sz="2400" b="0">
                    <a:solidFill>
                      <a:srgbClr val="111827"/>
                    </a:solidFill>
                    <a:latin typeface="Arial"/>
                  </a:rPr>
                  <a:t> satisfied a case equation but not its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modulus equation can also be checked by direct substitution of each candidate; this catches every sign slip.</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 3-digit number</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sum of all the elements of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274</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400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is equal to ________. [JEE(Main)Feb.2021]</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$A=\{n\in\mathbb{N}: n$</a:t>
                </a:r>
                <a:r>
                  <a:rPr sz="2400" b="0">
                    <a:solidFill>
                      <a:srgbClr val="111827"/>
                    </a:solidFill>
                    <a:latin typeface="Arial"/>
                  </a:rPr>
                  <a:t> is a 3-digit number</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$B=\{9k+2: k\in\mathbb{N}\}$</a:t>
                </a:r>
                <a:r>
                  <a:rPr sz="2400" b="0">
                    <a:solidFill>
                      <a:srgbClr val="111827"/>
                    </a:solidFill>
                    <a:latin typeface="Arial"/>
                  </a:rPr>
                  <a:t> and </a:t>
                </a:r>
                <a:r>
                  <a:rPr lang="en-IN" sz="2400">
                    <a:solidFill>
                      <a:srgbClr val="111827"/>
                    </a:solidFill>
                    <a:latin typeface="Cambria Math" panose="02040503050406030204" pitchFamily="18" charset="0"/>
                  </a:rPr>
                  <a:t>$C=\{9k+l: k\in\mathbb{N}\}$</a:t>
                </a:r>
                <a:r>
                  <a:rPr sz="2400" b="0">
                    <a:solidFill>
                      <a:srgbClr val="111827"/>
                    </a:solidFill>
                    <a:latin typeface="Arial"/>
                  </a:rPr>
                  <a:t> for some </a:t>
                </a:r>
                <a:r>
                  <a:rPr lang="en-IN" sz="2400">
                    <a:solidFill>
                      <a:srgbClr val="111827"/>
                    </a:solidFill>
                    <a:latin typeface="Cambria Math" panose="02040503050406030204" pitchFamily="18" charset="0"/>
                  </a:rPr>
                  <a:t>$l$</a:t>
                </a:r>
                <a:r>
                  <a:rPr sz="2400" b="0">
                    <a:solidFill>
                      <a:srgbClr val="111827"/>
                    </a:solidFill>
                    <a:latin typeface="Arial"/>
                  </a:rPr>
                  <a:t> </a:t>
                </a:r>
                <a:r>
                  <a:rPr lang="en-IN" sz="2400">
                    <a:solidFill>
                      <a:srgbClr val="111827"/>
                    </a:solidFill>
                    <a:latin typeface="Cambria Math" panose="02040503050406030204" pitchFamily="18" charset="0"/>
                  </a:rPr>
                  <a:t>$(0&lt;l&lt;9)$</a:t>
                </a:r>
                <a:r>
                  <a:rPr sz="2400" b="0">
                    <a:solidFill>
                      <a:srgbClr val="111827"/>
                    </a:solidFill>
                    <a:latin typeface="Arial"/>
                  </a:rPr>
                  <a:t>. If the sum of all the elements of the set </a:t>
                </a:r>
                <a:r>
                  <a:rPr lang="en-IN" sz="2400">
                    <a:solidFill>
                      <a:srgbClr val="111827"/>
                    </a:solidFill>
                    <a:latin typeface="Cambria Math" panose="02040503050406030204" pitchFamily="18" charset="0"/>
                  </a:rPr>
                  <a:t>$A\cap(B\cup C)$</a:t>
                </a:r>
                <a:r>
                  <a:rPr sz="2400" b="0">
                    <a:solidFill>
                      <a:srgbClr val="111827"/>
                    </a:solidFill>
                    <a:latin typeface="Arial"/>
                  </a:rPr>
                  <a:t> is </a:t>
                </a:r>
                <a:r>
                  <a:rPr lang="en-IN" sz="2400">
                    <a:solidFill>
                      <a:srgbClr val="111827"/>
                    </a:solidFill>
                    <a:latin typeface="Cambria Math" panose="02040503050406030204" pitchFamily="18" charset="0"/>
                  </a:rPr>
                  <a:t>$274	imes 400$</a:t>
                </a:r>
                <a:r>
                  <a:rPr sz="2400" b="0">
                    <a:solidFill>
                      <a:srgbClr val="111827"/>
                    </a:solidFill>
                    <a:latin typeface="Arial"/>
                  </a:rPr>
                  <a:t>, then </a:t>
                </a:r>
                <a:r>
                  <a:rPr lang="en-IN" sz="2400">
                    <a:solidFill>
                      <a:srgbClr val="111827"/>
                    </a:solidFill>
                    <a:latin typeface="Cambria Math" panose="02040503050406030204" pitchFamily="18" charset="0"/>
                  </a:rPr>
                  <a:t>$l$</a:t>
                </a:r>
                <a:r>
                  <a:rPr sz="2400" b="0">
                    <a:solidFill>
                      <a:srgbClr val="111827"/>
                    </a:solidFill>
                    <a:latin typeface="Arial"/>
                  </a:rPr>
                  <a:t> is equal to ________. [JEE(Main)Feb.2021]</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Union and intersection of sets,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3-digit members of </a:t>
                </a:r>
                <a14:m>
                  <m:oMath xmlns:m="http://schemas.openxmlformats.org/officeDocument/2006/math">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are exactly the terms with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110</m:t>
                    </m:r>
                  </m:oMath>
                </a14:m>
                <a:r>
                  <a:rPr sz="2400" b="0">
                    <a:solidFill>
                      <a:srgbClr val="78350F"/>
                    </a:solidFill>
                    <a:latin typeface="Arial"/>
                  </a:rPr>
                  <a:t>; compare the sum </a:t>
                </a:r>
                <a14:m>
                  <m:oMath xmlns:m="http://schemas.openxmlformats.org/officeDocument/2006/math">
                    <m:r>
                      <a:rPr lang="en-IN" sz="2400" i="1">
                        <a:solidFill>
                          <a:srgbClr val="78350F"/>
                        </a:solidFill>
                        <a:latin typeface="Cambria Math" panose="02040503050406030204" pitchFamily="18" charset="0"/>
                      </a:rPr>
                      <m:t>54650</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274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400</m:t>
                    </m:r>
                  </m:oMath>
                </a14:m>
                <a:r>
                  <a:rPr sz="2400" b="0">
                    <a:solidFill>
                      <a:srgbClr val="78350F"/>
                    </a:solidFill>
                    <a:latin typeface="Arial"/>
                  </a:rPr>
                  <a:t> to find </a:t>
                </a:r>
                <a14:m>
                  <m:oMath xmlns:m="http://schemas.openxmlformats.org/officeDocument/2006/math">
                    <m:r>
                      <a:rPr lang="en-IN" sz="2400" i="1">
                        <a:solidFill>
                          <a:srgbClr val="78350F"/>
                        </a:solidFill>
                        <a:latin typeface="Cambria Math" panose="02040503050406030204" pitchFamily="18" charset="0"/>
                      </a:rPr>
                      <m:t>𝑙</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3-digit members of </a:t>
                </a:r>
                <a:r>
                  <a:rPr lang="en-IN" sz="2400">
                    <a:solidFill>
                      <a:srgbClr val="78350F"/>
                    </a:solidFill>
                    <a:latin typeface="Cambria Math" panose="02040503050406030204" pitchFamily="18" charset="0"/>
                  </a:rPr>
                  <a:t>$9k+r$</a:t>
                </a:r>
                <a:r>
                  <a:rPr sz="2400" b="0">
                    <a:solidFill>
                      <a:srgbClr val="78350F"/>
                    </a:solidFill>
                    <a:latin typeface="Arial"/>
                  </a:rPr>
                  <a:t> are exactly the terms with </a:t>
                </a:r>
                <a:r>
                  <a:rPr lang="en-IN" sz="2400">
                    <a:solidFill>
                      <a:srgbClr val="78350F"/>
                    </a:solidFill>
                    <a:latin typeface="Cambria Math" panose="02040503050406030204" pitchFamily="18" charset="0"/>
                  </a:rPr>
                  <a:t>$k=11,\dots,110$</a:t>
                </a:r>
                <a:r>
                  <a:rPr sz="2400" b="0">
                    <a:solidFill>
                      <a:srgbClr val="78350F"/>
                    </a:solidFill>
                    <a:latin typeface="Arial"/>
                  </a:rPr>
                  <a:t>; compare the sum </a:t>
                </a:r>
                <a:r>
                  <a:rPr lang="en-IN" sz="2400">
                    <a:solidFill>
                      <a:srgbClr val="78350F"/>
                    </a:solidFill>
                    <a:latin typeface="Cambria Math" panose="02040503050406030204" pitchFamily="18" charset="0"/>
                  </a:rPr>
                  <a:t>$54650$</a:t>
                </a:r>
                <a:r>
                  <a:rPr sz="2400" b="0">
                    <a:solidFill>
                      <a:srgbClr val="78350F"/>
                    </a:solidFill>
                    <a:latin typeface="Arial"/>
                  </a:rPr>
                  <a:t> for </a:t>
                </a:r>
                <a:r>
                  <a:rPr lang="en-IN" sz="2400">
                    <a:solidFill>
                      <a:srgbClr val="78350F"/>
                    </a:solidFill>
                    <a:latin typeface="Cambria Math" panose="02040503050406030204" pitchFamily="18" charset="0"/>
                  </a:rPr>
                  <a:t>$B$</a:t>
                </a:r>
                <a:r>
                  <a:rPr sz="2400" b="0">
                    <a:solidFill>
                      <a:srgbClr val="78350F"/>
                    </a:solidFill>
                    <a:latin typeface="Arial"/>
                  </a:rPr>
                  <a:t> with </a:t>
                </a:r>
                <a:r>
                  <a:rPr lang="en-IN" sz="2400">
                    <a:solidFill>
                      <a:srgbClr val="78350F"/>
                    </a:solidFill>
                    <a:latin typeface="Cambria Math" panose="02040503050406030204" pitchFamily="18" charset="0"/>
                  </a:rPr>
                  <a:t>$274\times 400$</a:t>
                </a:r>
                <a:r>
                  <a:rPr sz="2400" b="0">
                    <a:solidFill>
                      <a:srgbClr val="78350F"/>
                    </a:solidFill>
                    <a:latin typeface="Arial"/>
                  </a:rPr>
                  <a:t> to find </a:t>
                </a:r>
                <a:r>
                  <a:rPr lang="en-IN" sz="2400">
                    <a:solidFill>
                      <a:srgbClr val="78350F"/>
                    </a:solidFill>
                    <a:latin typeface="Cambria Math" panose="02040503050406030204" pitchFamily="18" charset="0"/>
                  </a:rPr>
                  <a:t>$l$</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set of 3-digit numbers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992</m:t>
                    </m:r>
                  </m:oMath>
                </a14:m>
                <a:r>
                  <a:rPr sz="2400" b="0">
                    <a:solidFill>
                      <a:srgbClr val="111827"/>
                    </a:solidFill>
                    <a:latin typeface="Arial"/>
                  </a:rPr>
                  <a:t> (100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(this happens only for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110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110</m:t>
                            </m:r>
                          </m:sup>
                          <m:e>
                            <m:r>
                              <a:rPr lang="en-IN" sz="2400" i="1">
                                <a:solidFill>
                                  <a:srgbClr val="111827"/>
                                </a:solidFill>
                                <a:latin typeface="Cambria Math" panose="02040503050406030204" pitchFamily="18" charset="0"/>
                              </a:rPr>
                              <m:t>𝑘</m:t>
                            </m:r>
                          </m:e>
                        </m:nary>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𝑘</m:t>
                            </m:r>
                          </m:e>
                        </m:nary>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have no common element (different residues mod 9).</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the set of 3-digit numbers </a:t>
                </a:r>
                <a:r>
                  <a:rPr lang="en-IN" sz="2400">
                    <a:solidFill>
                      <a:srgbClr val="111827"/>
                    </a:solidFill>
                    <a:latin typeface="Cambria Math" panose="02040503050406030204" pitchFamily="18" charset="0"/>
                  </a:rPr>
                  <a:t>$100,101,\dots,999$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$100\le 9k+2\le 999$</a:t>
                </a:r>
                <a:r>
                  <a:rPr sz="2400" b="0">
                    <a:solidFill>
                      <a:srgbClr val="111827"/>
                    </a:solidFill>
                    <a:latin typeface="Arial"/>
                  </a:rPr>
                  <a:t> gives </a:t>
                </a:r>
                <a:r>
                  <a:rPr lang="en-IN" sz="2400">
                    <a:solidFill>
                      <a:srgbClr val="111827"/>
                    </a:solidFill>
                    <a:latin typeface="Cambria Math" panose="02040503050406030204" pitchFamily="18" charset="0"/>
                  </a:rPr>
                  <a:t>$11\le k\le 110$</a:t>
                </a:r>
                <a:r>
                  <a:rPr sz="2400" b="0">
                    <a:solidFill>
                      <a:srgbClr val="111827"/>
                    </a:solidFill>
                    <a:latin typeface="Arial"/>
                  </a:rPr>
                  <a:t>, i.e. </a:t>
                </a:r>
                <a:r>
                  <a:rPr lang="en-IN" sz="2400">
                    <a:solidFill>
                      <a:srgbClr val="111827"/>
                    </a:solidFill>
                    <a:latin typeface="Cambria Math" panose="02040503050406030204" pitchFamily="18" charset="0"/>
                  </a:rPr>
                  <a:t>$101,110,\dots,992$</a:t>
                </a:r>
                <a:r>
                  <a:rPr sz="2400" b="0">
                    <a:solidFill>
                      <a:srgbClr val="111827"/>
                    </a:solidFill>
                    <a:latin typeface="Arial"/>
                  </a:rPr>
                  <a:t> (100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$B\cup C=B$</a:t>
                </a:r>
                <a:r>
                  <a:rPr sz="2400" b="0">
                    <a:solidFill>
                      <a:srgbClr val="111827"/>
                    </a:solidFill>
                    <a:latin typeface="Arial"/>
                  </a:rPr>
                  <a:t> (this happens only for </a:t>
                </a:r>
                <a:r>
                  <a:rPr lang="en-IN" sz="2400">
                    <a:solidFill>
                      <a:srgbClr val="111827"/>
                    </a:solidFill>
                    <a:latin typeface="Cambria Math" panose="02040503050406030204" pitchFamily="18" charset="0"/>
                  </a:rPr>
                  <a:t>$l=2$</a:t>
                </a:r>
                <a:r>
                  <a:rPr sz="2400" b="0">
                    <a:solidFill>
                      <a:srgbClr val="111827"/>
                    </a:solidFill>
                    <a:latin typeface="Arial"/>
                  </a:rPr>
                  <a:t>), the sum is </a:t>
                </a:r>
                <a:r>
                  <a:rPr lang="en-IN" sz="2400">
                    <a:solidFill>
                      <a:srgbClr val="111827"/>
                    </a:solidFill>
                    <a:latin typeface="Cambria Math" panose="02040503050406030204" pitchFamily="18" charset="0"/>
                  </a:rPr>
                  <a:t>$\sum_{k=11}^{110}(9k+2)=9\left(\sum_{k=1}^{110}k-\sum_{k=1}^{10}k\right)+200$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$=9(6105-55)+200=54450+200=54650$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$54650\neq 274\times 400=109600$</a:t>
                </a:r>
                <a:r>
                  <a:rPr sz="2400" b="0">
                    <a:solidFill>
                      <a:srgbClr val="111827"/>
                    </a:solidFill>
                    <a:latin typeface="Arial"/>
                  </a:rPr>
                  <a:t>, so </a:t>
                </a:r>
                <a:r>
                  <a:rPr lang="en-IN" sz="2400">
                    <a:solidFill>
                      <a:srgbClr val="111827"/>
                    </a:solidFill>
                    <a:latin typeface="Cambria Math" panose="02040503050406030204" pitchFamily="18" charset="0"/>
                  </a:rPr>
                  <a:t>$B\cup C\neq B$</a:t>
                </a:r>
                <a:r>
                  <a:rPr sz="2400" b="0">
                    <a:solidFill>
                      <a:srgbClr val="111827"/>
                    </a:solidFill>
                    <a:latin typeface="Arial"/>
                  </a:rPr>
                  <a:t>: </a:t>
                </a:r>
                <a:r>
                  <a:rPr lang="en-IN" sz="2400">
                    <a:solidFill>
                      <a:srgbClr val="111827"/>
                    </a:solidFill>
                    <a:latin typeface="Cambria Math" panose="02040503050406030204" pitchFamily="18" charset="0"/>
                  </a:rPr>
                  <a:t>$l\neq 2$</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have no common element (different residues mod 9).</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again gives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required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110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110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109100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$100\le 9k+l\le 999$</a:t>
                </a:r>
                <a:r>
                  <a:rPr sz="2400" b="0">
                    <a:solidFill>
                      <a:srgbClr val="111827"/>
                    </a:solidFill>
                    <a:latin typeface="Arial"/>
                  </a:rPr>
                  <a:t> with </a:t>
                </a:r>
                <a:r>
                  <a:rPr lang="en-IN" sz="2400">
                    <a:solidFill>
                      <a:srgbClr val="111827"/>
                    </a:solidFill>
                    <a:latin typeface="Cambria Math" panose="02040503050406030204" pitchFamily="18" charset="0"/>
                  </a:rPr>
                  <a:t>$0&lt;l&lt;9$</a:t>
                </a:r>
                <a:r>
                  <a:rPr sz="2400" b="0">
                    <a:solidFill>
                      <a:srgbClr val="111827"/>
                    </a:solidFill>
                    <a:latin typeface="Arial"/>
                  </a:rPr>
                  <a:t> again gives </a:t>
                </a:r>
                <a:r>
                  <a:rPr lang="en-IN" sz="2400">
                    <a:solidFill>
                      <a:srgbClr val="111827"/>
                    </a:solidFill>
                    <a:latin typeface="Cambria Math" panose="02040503050406030204" pitchFamily="18" charset="0"/>
                  </a:rPr>
                  <a:t>$11\le k\le 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required sum is </a:t>
                </a:r>
                <a:r>
                  <a:rPr lang="en-IN" sz="2400">
                    <a:solidFill>
                      <a:srgbClr val="111827"/>
                    </a:solidFill>
                    <a:latin typeface="Cambria Math" panose="02040503050406030204" pitchFamily="18" charset="0"/>
                  </a:rPr>
                  <a:t>$\sum_{k=11}^{110}(9k+2)+\sum_{k=11}^{110}(9k+l)=274\times 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$54650+\left(9\cdot 6050+100\,l\right)=54650+54450+100\,l=109100+100\,l$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$109100+100\,l=109600$</a:t>
                </a:r>
                <a:r>
                  <a:rPr sz="2400" b="0">
                    <a:solidFill>
                      <a:srgbClr val="111827"/>
                    </a:solidFill>
                    <a:latin typeface="Arial"/>
                  </a:rPr>
                  <a:t>, so </a:t>
                </a:r>
                <a:r>
                  <a:rPr lang="en-IN" sz="2400">
                    <a:solidFill>
                      <a:srgbClr val="111827"/>
                    </a:solidFill>
                    <a:latin typeface="Cambria Math" panose="02040503050406030204" pitchFamily="18" charset="0"/>
                  </a:rPr>
                  <a:t>$100\,l=500$</a:t>
                </a:r>
                <a:r>
                  <a:rPr sz="2400" b="0">
                    <a:solidFill>
                      <a:srgbClr val="111827"/>
                    </a:solidFill>
                    <a:latin typeface="Arial"/>
                  </a:rPr>
                  <a:t> and </a:t>
                </a:r>
                <a:r>
                  <a:rPr lang="en-IN" sz="2400">
                    <a:solidFill>
                      <a:srgbClr val="111827"/>
                    </a:solidFill>
                    <a:latin typeface="Cambria Math" panose="02040503050406030204" pitchFamily="18" charset="0"/>
                  </a:rPr>
                  <a:t>$l=5$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element of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𝑙</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more than the matching element of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so the two sums differ by </a:t>
                </a:r>
                <a14:m>
                  <m:oMath xmlns:m="http://schemas.openxmlformats.org/officeDocument/2006/math">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𝑙</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element of </a:t>
                </a:r>
                <a:r>
                  <a:rPr lang="en-IN" sz="2400">
                    <a:solidFill>
                      <a:srgbClr val="78350F"/>
                    </a:solidFill>
                    <a:latin typeface="Cambria Math" panose="02040503050406030204" pitchFamily="18" charset="0"/>
                  </a:rPr>
                  <a:t>$C$</a:t>
                </a:r>
                <a:r>
                  <a:rPr sz="2400" b="0">
                    <a:solidFill>
                      <a:srgbClr val="78350F"/>
                    </a:solidFill>
                    <a:latin typeface="Arial"/>
                  </a:rPr>
                  <a:t> is </a:t>
                </a:r>
                <a:r>
                  <a:rPr lang="en-IN" sz="2400">
                    <a:solidFill>
                      <a:srgbClr val="78350F"/>
                    </a:solidFill>
                    <a:latin typeface="Cambria Math" panose="02040503050406030204" pitchFamily="18" charset="0"/>
                  </a:rPr>
                  <a:t>$(l-2)$</a:t>
                </a:r>
                <a:r>
                  <a:rPr sz="2400" b="0">
                    <a:solidFill>
                      <a:srgbClr val="78350F"/>
                    </a:solidFill>
                    <a:latin typeface="Arial"/>
                  </a:rPr>
                  <a:t> more than the matching element of </a:t>
                </a:r>
                <a:r>
                  <a:rPr lang="en-IN" sz="2400">
                    <a:solidFill>
                      <a:srgbClr val="78350F"/>
                    </a:solidFill>
                    <a:latin typeface="Cambria Math" panose="02040503050406030204" pitchFamily="18" charset="0"/>
                  </a:rPr>
                  <a:t>$B$</a:t>
                </a:r>
                <a:r>
                  <a:rPr sz="2400" b="0">
                    <a:solidFill>
                      <a:srgbClr val="78350F"/>
                    </a:solidFill>
                    <a:latin typeface="Arial"/>
                  </a:rPr>
                  <a:t>, so the two sums differ by </a:t>
                </a:r>
                <a:r>
                  <a:rPr lang="en-IN" sz="2400">
                    <a:solidFill>
                      <a:srgbClr val="78350F"/>
                    </a:solidFill>
                    <a:latin typeface="Cambria Math" panose="02040503050406030204" pitchFamily="18" charset="0"/>
                  </a:rPr>
                  <a:t>$100(l-2)$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have exactly 100 three-digit members,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 paired by the same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(sum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's 3-digit terms: 100 terms, first </a:t>
                </a:r>
                <a14:m>
                  <m:oMath xmlns:m="http://schemas.openxmlformats.org/officeDocument/2006/math">
                    <m:r>
                      <a:rPr lang="en-IN" sz="2400" i="1">
                        <a:solidFill>
                          <a:srgbClr val="111827"/>
                        </a:solidFill>
                        <a:latin typeface="Cambria Math" panose="02040503050406030204" pitchFamily="18" charset="0"/>
                      </a:rPr>
                      <m:t>101</m:t>
                    </m:r>
                  </m:oMath>
                </a14:m>
                <a:r>
                  <a:rPr sz="2400" b="0">
                    <a:solidFill>
                      <a:srgbClr val="111827"/>
                    </a:solidFill>
                    <a:latin typeface="Arial"/>
                  </a:rPr>
                  <a:t>, last </a:t>
                </a:r>
                <a14:m>
                  <m:oMath xmlns:m="http://schemas.openxmlformats.org/officeDocument/2006/math">
                    <m:r>
                      <a:rPr lang="en-IN" sz="2400" i="1">
                        <a:solidFill>
                          <a:srgbClr val="111827"/>
                        </a:solidFill>
                        <a:latin typeface="Cambria Math" panose="02040503050406030204" pitchFamily="18" charset="0"/>
                      </a:rPr>
                      <m:t>992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have exactly 100 three-digit members, </a:t>
                </a:r>
                <a:r>
                  <a:rPr lang="en-IN" sz="2400">
                    <a:solidFill>
                      <a:srgbClr val="111827"/>
                    </a:solidFill>
                    <a:latin typeface="Cambria Math" panose="02040503050406030204" pitchFamily="18" charset="0"/>
                  </a:rPr>
                  <a:t>$9k+2$</a:t>
                </a:r>
                <a:r>
                  <a:rPr sz="2400" b="0">
                    <a:solidFill>
                      <a:srgbClr val="111827"/>
                    </a:solidFill>
                    <a:latin typeface="Arial"/>
                  </a:rPr>
                  <a:t> and </a:t>
                </a:r>
                <a:r>
                  <a:rPr lang="en-IN" sz="2400">
                    <a:solidFill>
                      <a:srgbClr val="111827"/>
                    </a:solidFill>
                    <a:latin typeface="Cambria Math" panose="02040503050406030204" pitchFamily="18" charset="0"/>
                  </a:rPr>
                  <a:t>$9k+l$</a:t>
                </a:r>
                <a:r>
                  <a:rPr sz="2400" b="0">
                    <a:solidFill>
                      <a:srgbClr val="111827"/>
                    </a:solidFill>
                    <a:latin typeface="Arial"/>
                  </a:rPr>
                  <a:t> for </a:t>
                </a:r>
                <a:r>
                  <a:rPr lang="en-IN" sz="2400">
                    <a:solidFill>
                      <a:srgbClr val="111827"/>
                    </a:solidFill>
                    <a:latin typeface="Cambria Math" panose="02040503050406030204" pitchFamily="18" charset="0"/>
                  </a:rPr>
                  <a:t>$k=11,\dots,110$</a:t>
                </a:r>
                <a:r>
                  <a:rPr sz="2400" b="0">
                    <a:solidFill>
                      <a:srgbClr val="111827"/>
                    </a:solidFill>
                    <a:latin typeface="Arial"/>
                  </a:rPr>
                  <a:t>, paired by the same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(sum of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(sum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$+100(l-2)$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t>
                </a:r>
                <a:r>
                  <a:rPr lang="en-IN" sz="2400">
                    <a:solidFill>
                      <a:srgbClr val="111827"/>
                    </a:solidFill>
                    <a:latin typeface="Cambria Math" panose="02040503050406030204" pitchFamily="18" charset="0"/>
                  </a:rPr>
                  <a:t>$B$</a:t>
                </a:r>
                <a:r>
                  <a:rPr sz="2400" b="0">
                    <a:solidFill>
                      <a:srgbClr val="111827"/>
                    </a:solidFill>
                    <a:latin typeface="Arial"/>
                  </a:rPr>
                  <a:t>'s 3-digit terms: 100 terms, first </a:t>
                </a:r>
                <a:r>
                  <a:rPr lang="en-IN" sz="2400">
                    <a:solidFill>
                      <a:srgbClr val="111827"/>
                    </a:solidFill>
                    <a:latin typeface="Cambria Math" panose="02040503050406030204" pitchFamily="18" charset="0"/>
                  </a:rPr>
                  <a:t>$101$</a:t>
                </a:r>
                <a:r>
                  <a:rPr sz="2400" b="0">
                    <a:solidFill>
                      <a:srgbClr val="111827"/>
                    </a:solidFill>
                    <a:latin typeface="Arial"/>
                  </a:rPr>
                  <a:t>, last </a:t>
                </a:r>
                <a:r>
                  <a:rPr lang="en-IN" sz="2400">
                    <a:solidFill>
                      <a:srgbClr val="111827"/>
                    </a:solidFill>
                    <a:latin typeface="Cambria Math" panose="02040503050406030204" pitchFamily="18" charset="0"/>
                  </a:rPr>
                  <a:t>$992$</a:t>
                </a:r>
                <a:r>
                  <a:rPr sz="2400" b="0">
                    <a:solidFill>
                      <a:srgbClr val="111827"/>
                    </a:solidFill>
                    <a:latin typeface="Arial"/>
                  </a:rPr>
                  <a:t>: </a:t>
                </a:r>
                <a:r>
                  <a:rPr lang="en-IN" sz="2400">
                    <a:solidFill>
                      <a:srgbClr val="111827"/>
                    </a:solidFill>
                    <a:latin typeface="Cambria Math" panose="02040503050406030204" pitchFamily="18" charset="0"/>
                  </a:rPr>
                  <a:t>$50(101+992)=54650$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union is just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the sum would be </a:t>
                </a: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$l=2$</a:t>
                </a:r>
                <a:r>
                  <a:rPr sz="2400" b="0">
                    <a:solidFill>
                      <a:srgbClr val="111827"/>
                    </a:solidFill>
                    <a:latin typeface="Arial"/>
                  </a:rPr>
                  <a:t> the union is just </a:t>
                </a:r>
                <a:r>
                  <a:rPr lang="en-IN" sz="2400">
                    <a:solidFill>
                      <a:srgbClr val="111827"/>
                    </a:solidFill>
                    <a:latin typeface="Cambria Math" panose="02040503050406030204" pitchFamily="18" charset="0"/>
                  </a:rPr>
                  <a:t>$B$</a:t>
                </a:r>
                <a:r>
                  <a:rPr sz="2400" b="0">
                    <a:solidFill>
                      <a:srgbClr val="111827"/>
                    </a:solidFill>
                    <a:latin typeface="Arial"/>
                  </a:rPr>
                  <a:t> and the sum would be </a:t>
                </a:r>
                <a:r>
                  <a:rPr lang="en-IN" sz="2400">
                    <a:solidFill>
                      <a:srgbClr val="111827"/>
                    </a:solidFill>
                    <a:latin typeface="Cambria Math" panose="02040503050406030204" pitchFamily="18" charset="0"/>
                  </a:rPr>
                  <a:t>$54650\neq 109600$</a:t>
                </a:r>
                <a:r>
                  <a:rPr sz="2400" b="0">
                    <a:solidFill>
                      <a:srgbClr val="111827"/>
                    </a:solidFill>
                    <a:latin typeface="Arial"/>
                  </a:rPr>
                  <a:t>; so </a:t>
                </a:r>
                <a:r>
                  <a:rPr lang="en-IN" sz="2400">
                    <a:solidFill>
                      <a:srgbClr val="111827"/>
                    </a:solidFill>
                    <a:latin typeface="Cambria Math" panose="02040503050406030204" pitchFamily="18" charset="0"/>
                  </a:rPr>
                  <a:t>$l\neq 2$</a:t>
                </a:r>
                <a:r>
                  <a:rPr sz="2400" b="0">
                    <a:solidFill>
                      <a:srgbClr val="111827"/>
                    </a:solidFill>
                    <a:latin typeface="Arial"/>
                  </a:rPr>
                  <a:t> and </a:t>
                </a:r>
                <a:r>
                  <a:rPr lang="en-IN" sz="2400">
                    <a:solidFill>
                      <a:srgbClr val="111827"/>
                    </a:solidFill>
                    <a:latin typeface="Cambria Math" panose="02040503050406030204" pitchFamily="18" charset="0"/>
                  </a:rPr>
                  <a:t>$B\cap C=\varnothing$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$=54650+54650+100(l-2)=109600$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$100(l-2)=109600-109300=300$</a:t>
                </a:r>
                <a:r>
                  <a:rPr sz="2400" b="0">
                    <a:solidFill>
                      <a:srgbClr val="111827"/>
                    </a:solidFill>
                    <a:latin typeface="Arial"/>
                  </a:rPr>
                  <a:t>, so </a:t>
                </a:r>
                <a:r>
                  <a:rPr lang="en-IN" sz="2400">
                    <a:solidFill>
                      <a:srgbClr val="111827"/>
                    </a:solidFill>
                    <a:latin typeface="Cambria Math" panose="02040503050406030204" pitchFamily="18" charset="0"/>
                  </a:rPr>
                  <a:t>$l-2=3$</a:t>
                </a:r>
                <a:r>
                  <a:rPr sz="2400" b="0">
                    <a:solidFill>
                      <a:srgbClr val="111827"/>
                    </a:solidFill>
                    <a:latin typeface="Arial"/>
                  </a:rPr>
                  <a:t> and </a:t>
                </a:r>
                <a:r>
                  <a:rPr lang="en-IN" sz="2400">
                    <a:solidFill>
                      <a:srgbClr val="111827"/>
                    </a:solidFill>
                    <a:latin typeface="Cambria Math" panose="02040503050406030204" pitchFamily="18" charset="0"/>
                  </a:rPr>
                  <a:t>$l=5$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3-digit range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(900 numbers, a multiple of 9) each residue class mod 9 has exactly 100 members. For residue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𝑟</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arithmetic progressions with different residues mod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never meet, so the sum over a union is the plain sum of the two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the degenerate case (here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before assuming the sets are disjoint.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3-digit range </a:t>
                </a:r>
                <a:r>
                  <a:rPr lang="en-IN" sz="2400">
                    <a:solidFill>
                      <a:srgbClr val="111827"/>
                    </a:solidFill>
                    <a:latin typeface="Cambria Math" panose="02040503050406030204" pitchFamily="18" charset="0"/>
                  </a:rPr>
                  <a:t>$100$</a:t>
                </a:r>
                <a:r>
                  <a:rPr sz="2400" b="0">
                    <a:solidFill>
                      <a:srgbClr val="111827"/>
                    </a:solidFill>
                    <a:latin typeface="Arial"/>
                  </a:rPr>
                  <a:t> to </a:t>
                </a:r>
                <a:r>
                  <a:rPr lang="en-IN" sz="2400">
                    <a:solidFill>
                      <a:srgbClr val="111827"/>
                    </a:solidFill>
                    <a:latin typeface="Cambria Math" panose="02040503050406030204" pitchFamily="18" charset="0"/>
                  </a:rPr>
                  <a:t>$999$</a:t>
                </a:r>
                <a:r>
                  <a:rPr sz="2400" b="0">
                    <a:solidFill>
                      <a:srgbClr val="111827"/>
                    </a:solidFill>
                    <a:latin typeface="Arial"/>
                  </a:rPr>
                  <a:t> (900 numbers, a multiple of 9) each residue class mod 9 has exactly 100 members. For residue </a:t>
                </a:r>
                <a:r>
                  <a:rPr lang="en-IN" sz="2400">
                    <a:solidFill>
                      <a:srgbClr val="111827"/>
                    </a:solidFill>
                    <a:latin typeface="Cambria Math" panose="02040503050406030204" pitchFamily="18" charset="0"/>
                  </a:rPr>
                  <a:t>$r$</a:t>
                </a:r>
                <a:r>
                  <a:rPr sz="2400" b="0">
                    <a:solidFill>
                      <a:srgbClr val="111827"/>
                    </a:solidFill>
                    <a:latin typeface="Arial"/>
                  </a:rPr>
                  <a:t> the sum is </a:t>
                </a:r>
                <a:r>
                  <a:rPr lang="en-IN" sz="2400">
                    <a:solidFill>
                      <a:srgbClr val="111827"/>
                    </a:solidFill>
                    <a:latin typeface="Cambria Math" panose="02040503050406030204" pitchFamily="18" charset="0"/>
                  </a:rPr>
                  <a:t>$9\cdot 6050+100r=54450+100r$</a:t>
                </a:r>
                <a:r>
                  <a:rPr sz="2400" b="0">
                    <a:solidFill>
                      <a:srgbClr val="111827"/>
                    </a:solidFill>
                    <a:latin typeface="Arial"/>
                  </a:rPr>
                  <a:t>. Check: </a:t>
                </a:r>
                <a:r>
                  <a:rPr lang="en-IN" sz="2400">
                    <a:solidFill>
                      <a:srgbClr val="111827"/>
                    </a:solidFill>
                    <a:latin typeface="Cambria Math" panose="02040503050406030204" pitchFamily="18" charset="0"/>
                  </a:rPr>
                  <a:t>$r=2$</a:t>
                </a:r>
                <a:r>
                  <a:rPr sz="2400" b="0">
                    <a:solidFill>
                      <a:srgbClr val="111827"/>
                    </a:solidFill>
                    <a:latin typeface="Arial"/>
                  </a:rPr>
                  <a:t> gives </a:t>
                </a:r>
                <a:r>
                  <a:rPr lang="en-IN" sz="2400">
                    <a:solidFill>
                      <a:srgbClr val="111827"/>
                    </a:solidFill>
                    <a:latin typeface="Cambria Math" panose="02040503050406030204" pitchFamily="18" charset="0"/>
                  </a:rPr>
                  <a:t>$54650$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arithmetic progressions with different residues mod </a:t>
                </a:r>
                <a:r>
                  <a:rPr lang="en-IN" sz="2400">
                    <a:solidFill>
                      <a:srgbClr val="111827"/>
                    </a:solidFill>
                    <a:latin typeface="Cambria Math" panose="02040503050406030204" pitchFamily="18" charset="0"/>
                  </a:rPr>
                  <a:t>$m$</a:t>
                </a:r>
                <a:r>
                  <a:rPr sz="2400" b="0">
                    <a:solidFill>
                      <a:srgbClr val="111827"/>
                    </a:solidFill>
                    <a:latin typeface="Arial"/>
                  </a:rPr>
                  <a:t> never meet, so the sum over a union is the plain sum of the two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r>
                  <a:rPr lang="en-IN" sz="2400">
                    <a:solidFill>
                      <a:srgbClr val="111827"/>
                    </a:solidFill>
                    <a:latin typeface="Cambria Math" panose="02040503050406030204" pitchFamily="18" charset="0"/>
                  </a:rPr>
                  <a:t>$=\frac{n}{2}(a_1+a_n)$</a:t>
                </a:r>
                <a:r>
                  <a:rPr sz="2400" b="0">
                    <a:solidFill>
                      <a:srgbClr val="111827"/>
                    </a:solidFill>
                    <a:latin typeface="Arial"/>
                  </a:rPr>
                  <a:t>; here </a:t>
                </a:r>
                <a:r>
                  <a:rPr lang="en-IN" sz="2400">
                    <a:solidFill>
                      <a:srgbClr val="111827"/>
                    </a:solidFill>
                    <a:latin typeface="Cambria Math" panose="02040503050406030204" pitchFamily="18" charset="0"/>
                  </a:rPr>
                  <a:t>$\frac{100}{2}(101+992)=54650$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the degenerate case (here </a:t>
                </a:r>
                <a:r>
                  <a:rPr lang="en-IN" sz="2400">
                    <a:solidFill>
                      <a:srgbClr val="111827"/>
                    </a:solidFill>
                    <a:latin typeface="Cambria Math" panose="02040503050406030204" pitchFamily="18" charset="0"/>
                  </a:rPr>
                  <a:t>$l=2$</a:t>
                </a:r>
                <a:r>
                  <a:rPr sz="2400" b="0">
                    <a:solidFill>
                      <a:srgbClr val="111827"/>
                    </a:solidFill>
                    <a:latin typeface="Arial"/>
                  </a:rPr>
                  <a:t>, where </a:t>
                </a:r>
                <a:r>
                  <a:rPr lang="en-IN" sz="2400">
                    <a:solidFill>
                      <a:srgbClr val="111827"/>
                    </a:solidFill>
                    <a:latin typeface="Cambria Math" panose="02040503050406030204" pitchFamily="18" charset="0"/>
                  </a:rPr>
                  <a:t>$C=B$</a:t>
                </a:r>
                <a:r>
                  <a:rPr sz="2400" b="0">
                    <a:solidFill>
                      <a:srgbClr val="111827"/>
                    </a:solidFill>
                    <a:latin typeface="Arial"/>
                  </a:rPr>
                  <a:t>) before assuming the sets are disjoint.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Q13 – Q18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are at the same distance from the origin</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then the equivalence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set: [JEE(Main)Feb.2021]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$R=\{(P,Q)\mid 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at the same distance from the origin</a:t>
                </a:r>
                <a:r>
                  <a:rPr lang="en-IN" sz="2400">
                    <a:solidFill>
                      <a:srgbClr val="111827"/>
                    </a:solidFill>
                    <a:latin typeface="Cambria Math" panose="02040503050406030204" pitchFamily="18" charset="0"/>
                  </a:rPr>
                  <a:t>$\}$</a:t>
                </a:r>
                <a:r>
                  <a:rPr sz="2400" b="0">
                    <a:solidFill>
                      <a:srgbClr val="111827"/>
                    </a:solidFill>
                    <a:latin typeface="Arial"/>
                  </a:rPr>
                  <a:t> be a relation, then the equivalence class of </a:t>
                </a:r>
                <a:r>
                  <a:rPr lang="en-IN" sz="2400">
                    <a:solidFill>
                      <a:srgbClr val="111827"/>
                    </a:solidFill>
                    <a:latin typeface="Cambria Math" panose="02040503050406030204" pitchFamily="18" charset="0"/>
                  </a:rPr>
                  <a:t>$(1,-1)$</a:t>
                </a:r>
                <a:r>
                  <a:rPr sz="2400" b="0">
                    <a:solidFill>
                      <a:srgbClr val="111827"/>
                    </a:solidFill>
                    <a:latin typeface="Arial"/>
                  </a:rPr>
                  <a:t> is the set: [JEE(Main)Feb.2021]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$S=\{(x,y)\mid x^2+y^2=\sqrt{2}\}$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$S=\{(x,y)\mid x^2+y^2=2\}$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$S=\{(x,y)\mid x^2+y^2=4\}$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$S=\{(x,y)\mid x^2+y^2=1\}$</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and equivalence class, Circle as a locus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class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everything at the same distance from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i.e. the circle of radius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 about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class of </a:t>
                </a:r>
                <a:r>
                  <a:rPr lang="en-IN" sz="2400">
                    <a:solidFill>
                      <a:srgbClr val="78350F"/>
                    </a:solidFill>
                    <a:latin typeface="Cambria Math" panose="02040503050406030204" pitchFamily="18" charset="0"/>
                  </a:rPr>
                  <a:t>$(1,-1)$</a:t>
                </a:r>
                <a:r>
                  <a:rPr sz="2400" b="0">
                    <a:solidFill>
                      <a:srgbClr val="78350F"/>
                    </a:solidFill>
                    <a:latin typeface="Arial"/>
                  </a:rPr>
                  <a:t> is everything at the same distance from </a:t>
                </a:r>
                <a:r>
                  <a:rPr lang="en-IN" sz="2400">
                    <a:solidFill>
                      <a:srgbClr val="78350F"/>
                    </a:solidFill>
                    <a:latin typeface="Cambria Math" panose="02040503050406030204" pitchFamily="18" charset="0"/>
                  </a:rPr>
                  <a:t>$O$</a:t>
                </a:r>
                <a:r>
                  <a:rPr sz="2400" b="0">
                    <a:solidFill>
                      <a:srgbClr val="78350F"/>
                    </a:solidFill>
                    <a:latin typeface="Arial"/>
                  </a:rPr>
                  <a:t> as </a:t>
                </a:r>
                <a:r>
                  <a:rPr lang="en-IN" sz="2400">
                    <a:solidFill>
                      <a:srgbClr val="78350F"/>
                    </a:solidFill>
                    <a:latin typeface="Cambria Math" panose="02040503050406030204" pitchFamily="18" charset="0"/>
                  </a:rPr>
                  <a:t>$(1,-1)$</a:t>
                </a:r>
                <a:r>
                  <a:rPr sz="2400" b="0">
                    <a:solidFill>
                      <a:srgbClr val="78350F"/>
                    </a:solidFill>
                    <a:latin typeface="Arial"/>
                  </a:rPr>
                  <a:t>, i.e. the circle of radius </a:t>
                </a:r>
                <a:r>
                  <a:rPr lang="en-IN" sz="2400">
                    <a:solidFill>
                      <a:srgbClr val="78350F"/>
                    </a:solidFill>
                    <a:latin typeface="Cambria Math" panose="02040503050406030204" pitchFamily="18" charset="0"/>
                  </a:rPr>
                  <a:t>$\sqrt{2}$</a:t>
                </a:r>
                <a:r>
                  <a:rPr sz="2400" b="0">
                    <a:solidFill>
                      <a:srgbClr val="78350F"/>
                    </a:solidFill>
                    <a:latin typeface="Arial"/>
                  </a:rPr>
                  <a:t> about </a:t>
                </a:r>
                <a:r>
                  <a:rPr lang="en-IN" sz="2400">
                    <a:solidFill>
                      <a:srgbClr val="78350F"/>
                    </a:solidFill>
                    <a:latin typeface="Cambria Math" panose="02040503050406030204" pitchFamily="18" charset="0"/>
                  </a:rPr>
                  <a:t>$O$</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relates points equidistant from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it is an equivalence relation, and the class of a point is the set of all points related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relates points equidistant from the origin </a:t>
                </a:r>
                <a:r>
                  <a:rPr lang="en-IN" sz="2400">
                    <a:solidFill>
                      <a:srgbClr val="111827"/>
                    </a:solidFill>
                    <a:latin typeface="Cambria Math" panose="02040503050406030204" pitchFamily="18" charset="0"/>
                  </a:rPr>
                  <a:t>$O$</a:t>
                </a:r>
                <a:r>
                  <a:rPr sz="2400" b="0">
                    <a:solidFill>
                      <a:srgbClr val="111827"/>
                    </a:solidFill>
                    <a:latin typeface="Arial"/>
                  </a:rPr>
                  <a:t>; it is an equivalence relation, and the class of a point is the set of all points related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$R_0=(1,-1)$</a:t>
                </a:r>
                <a:r>
                  <a:rPr sz="2400" b="0">
                    <a:solidFill>
                      <a:srgbClr val="111827"/>
                    </a:solidFill>
                    <a:latin typeface="Arial"/>
                  </a:rPr>
                  <a:t>, </a:t>
                </a:r>
                <a:r>
                  <a:rPr lang="en-IN" sz="2400">
                    <a:solidFill>
                      <a:srgbClr val="111827"/>
                    </a:solidFill>
                    <a:latin typeface="Cambria Math" panose="02040503050406030204" pitchFamily="18" charset="0"/>
                  </a:rPr>
                  <a:t>$P=(h,k)$</a:t>
                </a:r>
                <a:r>
                  <a:rPr sz="2400" b="0">
                    <a:solidFill>
                      <a:srgbClr val="111827"/>
                    </a:solidFill>
                    <a:latin typeface="Arial"/>
                  </a:rPr>
                  <a:t> and </a:t>
                </a:r>
                <a:r>
                  <a:rPr lang="en-IN" sz="2400">
                    <a:solidFill>
                      <a:srgbClr val="111827"/>
                    </a:solidFill>
                    <a:latin typeface="Cambria Math" panose="02040503050406030204" pitchFamily="18" charset="0"/>
                  </a:rPr>
                  <a:t>$O=(0,0)$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in the equivalence class of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locus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(B) (note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in (A) would be a circle of radius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itself satisfies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so does every point of the circle, e.g.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is in the equivalence class of </a:t>
                </a:r>
                <a:r>
                  <a:rPr lang="en-IN" sz="2400">
                    <a:solidFill>
                      <a:srgbClr val="111827"/>
                    </a:solidFill>
                    <a:latin typeface="Cambria Math" panose="02040503050406030204" pitchFamily="18" charset="0"/>
                  </a:rPr>
                  <a:t>$R_0$</a:t>
                </a:r>
                <a:r>
                  <a:rPr sz="2400" b="0">
                    <a:solidFill>
                      <a:srgbClr val="111827"/>
                    </a:solidFill>
                    <a:latin typeface="Arial"/>
                  </a:rPr>
                  <a:t> exactly when </a:t>
                </a:r>
                <a:r>
                  <a:rPr lang="en-IN" sz="2400">
                    <a:solidFill>
                      <a:srgbClr val="111827"/>
                    </a:solidFill>
                    <a:latin typeface="Cambria Math" panose="02040503050406030204" pitchFamily="18" charset="0"/>
                  </a:rPr>
                  <a:t>$OR_0=OP$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$OR_0=\sqrt{1^2+(-1)^2}=\sqrt{2}$</a:t>
                </a:r>
                <a:r>
                  <a:rPr sz="2400" b="0">
                    <a:solidFill>
                      <a:srgbClr val="111827"/>
                    </a:solidFill>
                    <a:latin typeface="Arial"/>
                  </a:rPr>
                  <a:t>, so </a:t>
                </a:r>
                <a:r>
                  <a:rPr lang="en-IN" sz="2400">
                    <a:solidFill>
                      <a:srgbClr val="111827"/>
                    </a:solidFill>
                    <a:latin typeface="Cambria Math" panose="02040503050406030204" pitchFamily="18" charset="0"/>
                  </a:rPr>
                  <a:t>$OP=\sqrt{2}$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$h^2+k^2=2$</a:t>
                </a:r>
                <a:r>
                  <a:rPr sz="2400" b="0">
                    <a:solidFill>
                      <a:srgbClr val="111827"/>
                    </a:solidFill>
                    <a:latin typeface="Arial"/>
                  </a:rPr>
                  <a:t>; the locus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$x^2+y^2=2$</a:t>
                </a:r>
                <a:r>
                  <a:rPr sz="2400" b="0">
                    <a:solidFill>
                      <a:srgbClr val="111827"/>
                    </a:solidFill>
                    <a:latin typeface="Arial"/>
                  </a:rPr>
                  <a:t>, option (B) (note </a:t>
                </a:r>
                <a:r>
                  <a:rPr lang="en-IN" sz="2400">
                    <a:solidFill>
                      <a:srgbClr val="111827"/>
                    </a:solidFill>
                    <a:latin typeface="Cambria Math" panose="02040503050406030204" pitchFamily="18" charset="0"/>
                  </a:rPr>
                  <a:t>$x^2+y^2=\sqrt{2}$</a:t>
                </a:r>
                <a:r>
                  <a:rPr sz="2400" b="0">
                    <a:solidFill>
                      <a:srgbClr val="111827"/>
                    </a:solidFill>
                    <a:latin typeface="Arial"/>
                  </a:rPr>
                  <a:t> in (A) would be a circle of radius </a:t>
                </a:r>
                <a:r>
                  <a:rPr lang="en-IN" sz="2400">
                    <a:solidFill>
                      <a:srgbClr val="111827"/>
                    </a:solidFill>
                    <a:latin typeface="Cambria Math" panose="02040503050406030204" pitchFamily="18" charset="0"/>
                  </a:rPr>
                  <a:t>$2^{1/4}$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$(1,-1)$</a:t>
                </a:r>
                <a:r>
                  <a:rPr sz="2400" b="0">
                    <a:solidFill>
                      <a:srgbClr val="111827"/>
                    </a:solidFill>
                    <a:latin typeface="Arial"/>
                  </a:rPr>
                  <a:t> itself satisfies </a:t>
                </a:r>
                <a:r>
                  <a:rPr lang="en-IN" sz="2400">
                    <a:solidFill>
                      <a:srgbClr val="111827"/>
                    </a:solidFill>
                    <a:latin typeface="Cambria Math" panose="02040503050406030204" pitchFamily="18" charset="0"/>
                  </a:rPr>
                  <a:t>$1+1=2$</a:t>
                </a:r>
                <a:r>
                  <a:rPr sz="2400" b="0">
                    <a:solidFill>
                      <a:srgbClr val="111827"/>
                    </a:solidFill>
                    <a:latin typeface="Arial"/>
                  </a:rPr>
                  <a:t>, and so does every point of the circle, e.g. </a:t>
                </a:r>
                <a:r>
                  <a:rPr lang="en-IN" sz="2400">
                    <a:solidFill>
                      <a:srgbClr val="111827"/>
                    </a:solidFill>
                    <a:latin typeface="Cambria Math" panose="02040503050406030204" pitchFamily="18" charset="0"/>
                  </a:rPr>
                  <a:t>$(\sqrt{2},0)$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$S=\{(x,y)\mid x^2+y^2=2\}$</a:t>
                </a:r>
                <a:endParaRPr sz="2800">
                  <a:solidFill>
                    <a:srgbClr val="15803D"/>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reflexivity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belongs to its own class, so test each option's equation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reflexivity </a:t>
                </a:r>
                <a:r>
                  <a:rPr lang="en-IN" sz="2400">
                    <a:solidFill>
                      <a:srgbClr val="78350F"/>
                    </a:solidFill>
                    <a:latin typeface="Cambria Math" panose="02040503050406030204" pitchFamily="18" charset="0"/>
                  </a:rPr>
                  <a:t>$(1,-1)$</a:t>
                </a:r>
                <a:r>
                  <a:rPr sz="2400" b="0">
                    <a:solidFill>
                      <a:srgbClr val="78350F"/>
                    </a:solidFill>
                    <a:latin typeface="Arial"/>
                  </a:rPr>
                  <a:t> belongs to its own class, so test each option's equation at </a:t>
                </a:r>
                <a:r>
                  <a:rPr lang="en-IN" sz="2400">
                    <a:solidFill>
                      <a:srgbClr val="78350F"/>
                    </a:solidFill>
                    <a:latin typeface="Cambria Math" panose="02040503050406030204" pitchFamily="18" charset="0"/>
                  </a:rPr>
                  <a:t>$(1,-1)$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set of the form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means equal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in its own class and must satisfy the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the options: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only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matches, so the class is (B).</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 of </a:t>
                </a:r>
                <a:r>
                  <a:rPr lang="en-IN" sz="2400">
                    <a:solidFill>
                      <a:srgbClr val="111827"/>
                    </a:solidFill>
                    <a:latin typeface="Cambria Math" panose="02040503050406030204" pitchFamily="18" charset="0"/>
                  </a:rPr>
                  <a:t>$(1,-1)$</a:t>
                </a:r>
                <a:r>
                  <a:rPr sz="2400" b="0">
                    <a:solidFill>
                      <a:srgbClr val="111827"/>
                    </a:solidFill>
                    <a:latin typeface="Arial"/>
                  </a:rPr>
                  <a:t> is a set of the form </a:t>
                </a:r>
                <a:r>
                  <a:rPr lang="en-IN" sz="2400">
                    <a:solidFill>
                      <a:srgbClr val="111827"/>
                    </a:solidFill>
                    <a:latin typeface="Cambria Math" panose="02040503050406030204" pitchFamily="18" charset="0"/>
                  </a:rPr>
                  <a:t>$\{(x,y): x^2+y^2=c\}$</a:t>
                </a:r>
                <a:r>
                  <a:rPr sz="2400" b="0">
                    <a:solidFill>
                      <a:srgbClr val="111827"/>
                    </a:solidFill>
                    <a:latin typeface="Arial"/>
                  </a:rPr>
                  <a:t> (equal distance from </a:t>
                </a:r>
                <a:r>
                  <a:rPr lang="en-IN" sz="2400">
                    <a:solidFill>
                      <a:srgbClr val="111827"/>
                    </a:solidFill>
                    <a:latin typeface="Cambria Math" panose="02040503050406030204" pitchFamily="18" charset="0"/>
                  </a:rPr>
                  <a:t>$O$</a:t>
                </a:r>
                <a:r>
                  <a:rPr sz="2400" b="0">
                    <a:solidFill>
                      <a:srgbClr val="111827"/>
                    </a:solidFill>
                    <a:latin typeface="Arial"/>
                  </a:rPr>
                  <a:t> means equal </a:t>
                </a:r>
                <a:r>
                  <a:rPr lang="en-IN" sz="2400">
                    <a:solidFill>
                      <a:srgbClr val="111827"/>
                    </a:solidFill>
                    <a:latin typeface="Cambria Math" panose="02040503050406030204" pitchFamily="18" charset="0"/>
                  </a:rPr>
                  <a:t>$x^2+y^2$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so </a:t>
                </a:r>
                <a:r>
                  <a:rPr lang="en-IN" sz="2400">
                    <a:solidFill>
                      <a:srgbClr val="111827"/>
                    </a:solidFill>
                    <a:latin typeface="Cambria Math" panose="02040503050406030204" pitchFamily="18" charset="0"/>
                  </a:rPr>
                  <a:t>$(1,-1)$</a:t>
                </a:r>
                <a:r>
                  <a:rPr sz="2400" b="0">
                    <a:solidFill>
                      <a:srgbClr val="111827"/>
                    </a:solidFill>
                    <a:latin typeface="Arial"/>
                  </a:rPr>
                  <a:t> lies in its own class and must satisfy the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$x^2+y^2=1+1=2$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the options: </a:t>
                </a:r>
                <a:r>
                  <a:rPr lang="en-IN" sz="2400">
                    <a:solidFill>
                      <a:srgbClr val="111827"/>
                    </a:solidFill>
                    <a:latin typeface="Cambria Math" panose="02040503050406030204" pitchFamily="18" charset="0"/>
                  </a:rPr>
                  <a:t>$\sqrt{2}$</a:t>
                </a:r>
                <a:r>
                  <a:rPr sz="2400" b="0">
                    <a:solidFill>
                      <a:srgbClr val="111827"/>
                    </a:solidFill>
                    <a:latin typeface="Arial"/>
                  </a:rPr>
                  <a:t> (A), </a:t>
                </a:r>
                <a:r>
                  <a:rPr lang="en-IN" sz="2400">
                    <a:solidFill>
                      <a:srgbClr val="111827"/>
                    </a:solidFill>
                    <a:latin typeface="Cambria Math" panose="02040503050406030204" pitchFamily="18" charset="0"/>
                  </a:rPr>
                  <a:t>$2$</a:t>
                </a:r>
                <a:r>
                  <a:rPr sz="2400" b="0">
                    <a:solidFill>
                      <a:srgbClr val="111827"/>
                    </a:solidFill>
                    <a:latin typeface="Arial"/>
                  </a:rPr>
                  <a:t> (B), </a:t>
                </a:r>
                <a:r>
                  <a:rPr lang="en-IN" sz="2400">
                    <a:solidFill>
                      <a:srgbClr val="111827"/>
                    </a:solidFill>
                    <a:latin typeface="Cambria Math" panose="02040503050406030204" pitchFamily="18" charset="0"/>
                  </a:rPr>
                  <a:t>$4$</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only </a:t>
                </a:r>
                <a:r>
                  <a:rPr lang="en-IN" sz="2400">
                    <a:solidFill>
                      <a:srgbClr val="111827"/>
                    </a:solidFill>
                    <a:latin typeface="Cambria Math" panose="02040503050406030204" pitchFamily="18" charset="0"/>
                  </a:rPr>
                  <a:t>$2$</a:t>
                </a:r>
                <a:r>
                  <a:rPr sz="2400" b="0">
                    <a:solidFill>
                      <a:srgbClr val="111827"/>
                    </a:solidFill>
                    <a:latin typeface="Arial"/>
                  </a:rPr>
                  <a:t> matches, so the class is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$S=\{(x,y)\mid x^2+y^2=2\}$</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relation is defined by equality of a function value,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always an equivalence relation and the class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the level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partition the set: they are disjoint and their union is the whole set. Here the classes are the concentric circles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the single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the origin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equal distance means equal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Check: the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always lies in its own class (reflexivity): use this to eliminate options quickly.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relation is defined by equality of a function value, </a:t>
                </a:r>
                <a:r>
                  <a:rPr lang="en-IN" sz="2400">
                    <a:solidFill>
                      <a:srgbClr val="111827"/>
                    </a:solidFill>
                    <a:latin typeface="Cambria Math" panose="02040503050406030204" pitchFamily="18" charset="0"/>
                  </a:rPr>
                  <a:t>$a\sim b \iff f(a)=f(b)$</a:t>
                </a:r>
                <a:r>
                  <a:rPr sz="2400" b="0">
                    <a:solidFill>
                      <a:srgbClr val="111827"/>
                    </a:solidFill>
                    <a:latin typeface="Arial"/>
                  </a:rPr>
                  <a:t>, it is always an equivalence relation and the class of </a:t>
                </a:r>
                <a:r>
                  <a:rPr lang="en-IN" sz="2400">
                    <a:solidFill>
                      <a:srgbClr val="111827"/>
                    </a:solidFill>
                    <a:latin typeface="Cambria Math" panose="02040503050406030204" pitchFamily="18" charset="0"/>
                  </a:rPr>
                  <a:t>$a$</a:t>
                </a:r>
                <a:r>
                  <a:rPr sz="2400" b="0">
                    <a:solidFill>
                      <a:srgbClr val="111827"/>
                    </a:solidFill>
                    <a:latin typeface="Arial"/>
                  </a:rPr>
                  <a:t> is the level set </a:t>
                </a:r>
                <a:r>
                  <a:rPr lang="en-IN" sz="2400">
                    <a:solidFill>
                      <a:srgbClr val="111827"/>
                    </a:solidFill>
                    <a:latin typeface="Cambria Math" panose="02040503050406030204" pitchFamily="18" charset="0"/>
                  </a:rPr>
                  <a:t>$\{x: f(x)=f(a)\}$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partition the set: they are disjoint and their union is the whole set. Here the classes are the concentric circles </a:t>
                </a:r>
                <a:r>
                  <a:rPr lang="en-IN" sz="2400">
                    <a:solidFill>
                      <a:srgbClr val="111827"/>
                    </a:solidFill>
                    <a:latin typeface="Cambria Math" panose="02040503050406030204" pitchFamily="18" charset="0"/>
                  </a:rPr>
                  <a:t>$x^2+y^2=c$</a:t>
                </a:r>
                <a:r>
                  <a:rPr sz="2400" b="0">
                    <a:solidFill>
                      <a:srgbClr val="111827"/>
                    </a:solidFill>
                    <a:latin typeface="Arial"/>
                  </a:rPr>
                  <a:t> and the single point </a:t>
                </a:r>
                <a:r>
                  <a:rPr lang="en-IN" sz="2400">
                    <a:solidFill>
                      <a:srgbClr val="111827"/>
                    </a:solidFill>
                    <a:latin typeface="Cambria Math" panose="02040503050406030204" pitchFamily="18" charset="0"/>
                  </a:rPr>
                  <a:t>$O$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the origin is </a:t>
                </a:r>
                <a:r>
                  <a:rPr lang="en-IN" sz="2400">
                    <a:solidFill>
                      <a:srgbClr val="111827"/>
                    </a:solidFill>
                    <a:latin typeface="Cambria Math" panose="02040503050406030204" pitchFamily="18" charset="0"/>
                  </a:rPr>
                  <a:t>$\sqrt{x^2+y^2}$</a:t>
                </a:r>
                <a:r>
                  <a:rPr sz="2400" b="0">
                    <a:solidFill>
                      <a:srgbClr val="111827"/>
                    </a:solidFill>
                    <a:latin typeface="Arial"/>
                  </a:rPr>
                  <a:t>, so equal distance means equal </a:t>
                </a:r>
                <a:r>
                  <a:rPr lang="en-IN" sz="2400">
                    <a:solidFill>
                      <a:srgbClr val="111827"/>
                    </a:solidFill>
                    <a:latin typeface="Cambria Math" panose="02040503050406030204" pitchFamily="18" charset="0"/>
                  </a:rPr>
                  <a:t>$x^2+y^2$</a:t>
                </a:r>
                <a:r>
                  <a:rPr sz="2400" b="0">
                    <a:solidFill>
                      <a:srgbClr val="111827"/>
                    </a:solidFill>
                    <a:latin typeface="Arial"/>
                  </a:rPr>
                  <a:t>. Check: the class of </a:t>
                </a:r>
                <a:r>
                  <a:rPr lang="en-IN" sz="2400">
                    <a:solidFill>
                      <a:srgbClr val="111827"/>
                    </a:solidFill>
                    <a:latin typeface="Cambria Math" panose="02040503050406030204" pitchFamily="18" charset="0"/>
                  </a:rPr>
                  <a:t>$(3,4)$</a:t>
                </a:r>
                <a:r>
                  <a:rPr sz="2400" b="0">
                    <a:solidFill>
                      <a:srgbClr val="111827"/>
                    </a:solidFill>
                    <a:latin typeface="Arial"/>
                  </a:rPr>
                  <a:t> is </a:t>
                </a:r>
                <a:r>
                  <a:rPr lang="en-IN" sz="2400">
                    <a:solidFill>
                      <a:srgbClr val="111827"/>
                    </a:solidFill>
                    <a:latin typeface="Cambria Math" panose="02040503050406030204" pitchFamily="18" charset="0"/>
                  </a:rPr>
                  <a:t>$x^2+y^2=25$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always lies in its own class (reflexivity): use this to eliminate options quickly.</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Define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over a class of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real matrices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iff there exists a non-singular matrix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Then which of the following is true?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but not transitive</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Define a relation </a:t>
                </a:r>
                <a:r>
                  <a:rPr lang="en-IN" sz="2400">
                    <a:solidFill>
                      <a:srgbClr val="111827"/>
                    </a:solidFill>
                    <a:latin typeface="Cambria Math" panose="02040503050406030204" pitchFamily="18" charset="0"/>
                  </a:rPr>
                  <a:t>$R$</a:t>
                </a:r>
                <a:r>
                  <a:rPr sz="2400" b="0">
                    <a:solidFill>
                      <a:srgbClr val="111827"/>
                    </a:solidFill>
                    <a:latin typeface="Arial"/>
                  </a:rPr>
                  <a:t> over a class of </a:t>
                </a:r>
                <a:r>
                  <a:rPr lang="en-IN" sz="2400">
                    <a:solidFill>
                      <a:srgbClr val="111827"/>
                    </a:solidFill>
                    <a:latin typeface="Cambria Math" panose="02040503050406030204" pitchFamily="18" charset="0"/>
                  </a:rPr>
                  <a:t>$n\times n$</a:t>
                </a:r>
                <a:r>
                  <a:rPr sz="2400" b="0">
                    <a:solidFill>
                      <a:srgbClr val="111827"/>
                    </a:solidFill>
                    <a:latin typeface="Arial"/>
                  </a:rPr>
                  <a:t> real matrices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as '</a:t>
                </a:r>
                <a:r>
                  <a:rPr lang="en-IN" sz="2400">
                    <a:solidFill>
                      <a:srgbClr val="111827"/>
                    </a:solidFill>
                    <a:latin typeface="Cambria Math" panose="02040503050406030204" pitchFamily="18" charset="0"/>
                  </a:rPr>
                  <a:t>$ARB$</a:t>
                </a:r>
                <a:r>
                  <a:rPr sz="2400" b="0">
                    <a:solidFill>
                      <a:srgbClr val="111827"/>
                    </a:solidFill>
                    <a:latin typeface="Arial"/>
                  </a:rPr>
                  <a:t> iff there exists a non-singular matrix </a:t>
                </a:r>
                <a:r>
                  <a:rPr lang="en-IN" sz="2400">
                    <a:solidFill>
                      <a:srgbClr val="111827"/>
                    </a:solidFill>
                    <a:latin typeface="Cambria Math" panose="02040503050406030204" pitchFamily="18" charset="0"/>
                  </a:rPr>
                  <a:t>$P$</a:t>
                </a:r>
                <a:r>
                  <a:rPr sz="2400" b="0">
                    <a:solidFill>
                      <a:srgbClr val="111827"/>
                    </a:solidFill>
                    <a:latin typeface="Arial"/>
                  </a:rPr>
                  <a:t> such that </a:t>
                </a:r>
                <a:r>
                  <a:rPr lang="en-IN" sz="2400">
                    <a:solidFill>
                      <a:srgbClr val="111827"/>
                    </a:solidFill>
                    <a:latin typeface="Cambria Math" panose="02040503050406030204" pitchFamily="18" charset="0"/>
                  </a:rPr>
                  <a:t>$PAP^{-1}=B$</a:t>
                </a:r>
                <a:r>
                  <a:rPr sz="2400" b="0">
                    <a:solidFill>
                      <a:srgbClr val="111827"/>
                    </a:solidFill>
                    <a:latin typeface="Arial"/>
                  </a:rPr>
                  <a:t>'. Then which of the following is true?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a:t>
                </a:r>
                <a:r>
                  <a:rPr sz="2400" b="0">
                    <a:solidFill>
                      <a:srgbClr val="111827"/>
                    </a:solidFill>
                    <a:latin typeface="Arial"/>
                  </a:rPr>
                  <a:t> is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$R$</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$R$</a:t>
                </a:r>
                <a:r>
                  <a:rPr sz="2400" b="0">
                    <a:solidFill>
                      <a:srgbClr val="111827"/>
                    </a:solidFill>
                    <a:latin typeface="Arial"/>
                  </a:rPr>
                  <a:t> is symmetric,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a:t>
                </a:r>
                <a:r>
                  <a:rPr sz="2400" b="0">
                    <a:solidFill>
                      <a:srgbClr val="111827"/>
                    </a:solidFill>
                    <a:latin typeface="Arial"/>
                  </a:rPr>
                  <a:t> is reflexive, symmetric but not transitive</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Similar matrices (conjugation by an invertible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𝑃</m:t>
                    </m:r>
                  </m:oMath>
                </a14:m>
                <a:r>
                  <a:rPr sz="2400" b="0">
                    <a:solidFill>
                      <a:srgbClr val="78350F"/>
                    </a:solidFill>
                    <a:latin typeface="Arial"/>
                  </a:rPr>
                  <a:t>: the identity, the inverse and the product of invertible matrices are invertible, so all three properties hold.</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$P=I$</a:t>
                </a:r>
                <a:r>
                  <a:rPr sz="2400" b="0">
                    <a:solidFill>
                      <a:srgbClr val="78350F"/>
                    </a:solidFill>
                    <a:latin typeface="Arial"/>
                  </a:rPr>
                  <a:t>, </a:t>
                </a:r>
                <a:r>
                  <a:rPr lang="en-IN" sz="2400">
                    <a:solidFill>
                      <a:srgbClr val="78350F"/>
                    </a:solidFill>
                    <a:latin typeface="Cambria Math" panose="02040503050406030204" pitchFamily="18" charset="0"/>
                  </a:rPr>
                  <a:t>$P^{-1}$</a:t>
                </a:r>
                <a:r>
                  <a:rPr sz="2400" b="0">
                    <a:solidFill>
                      <a:srgbClr val="78350F"/>
                    </a:solidFill>
                    <a:latin typeface="Arial"/>
                  </a:rPr>
                  <a:t> and </a:t>
                </a:r>
                <a:r>
                  <a:rPr lang="en-IN" sz="2400">
                    <a:solidFill>
                      <a:srgbClr val="78350F"/>
                    </a:solidFill>
                    <a:latin typeface="Cambria Math" panose="02040503050406030204" pitchFamily="18" charset="0"/>
                  </a:rPr>
                  <a:t>$QP$</a:t>
                </a:r>
                <a:r>
                  <a:rPr sz="2400" b="0">
                    <a:solidFill>
                      <a:srgbClr val="78350F"/>
                    </a:solidFill>
                    <a:latin typeface="Arial"/>
                  </a:rPr>
                  <a:t>: the identity, the inverse and the product of invertible matrices are invertible, so all three properties hold.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 needs an invertible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for some non-singular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$ARA$</a:t>
                </a:r>
                <a:r>
                  <a:rPr sz="2400" b="0">
                    <a:solidFill>
                      <a:srgbClr val="111827"/>
                    </a:solidFill>
                    <a:latin typeface="Arial"/>
                  </a:rPr>
                  <a:t> needs an invertible </a:t>
                </a:r>
                <a:r>
                  <a:rPr lang="en-IN" sz="2400">
                    <a:solidFill>
                      <a:srgbClr val="111827"/>
                    </a:solidFill>
                    <a:latin typeface="Cambria Math" panose="02040503050406030204" pitchFamily="18" charset="0"/>
                  </a:rPr>
                  <a:t>$P$</a:t>
                </a:r>
                <a:r>
                  <a:rPr sz="2400" b="0">
                    <a:solidFill>
                      <a:srgbClr val="111827"/>
                    </a:solidFill>
                    <a:latin typeface="Arial"/>
                  </a:rPr>
                  <a:t> with </a:t>
                </a:r>
                <a:r>
                  <a:rPr lang="en-IN" sz="2400">
                    <a:solidFill>
                      <a:srgbClr val="111827"/>
                    </a:solidFill>
                    <a:latin typeface="Cambria Math" panose="02040503050406030204" pitchFamily="18" charset="0"/>
                  </a:rPr>
                  <a:t>$PAP^{-1}=A$</a:t>
                </a:r>
                <a:r>
                  <a:rPr sz="2400" b="0">
                    <a:solidFill>
                      <a:srgbClr val="111827"/>
                    </a:solidFill>
                    <a:latin typeface="Arial"/>
                  </a:rPr>
                  <a:t>. Take </a:t>
                </a:r>
                <a:r>
                  <a:rPr lang="en-IN" sz="2400">
                    <a:solidFill>
                      <a:srgbClr val="111827"/>
                    </a:solidFill>
                    <a:latin typeface="Cambria Math" panose="02040503050406030204" pitchFamily="18" charset="0"/>
                  </a:rPr>
                  <a:t>$P=I$</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$ARB$</a:t>
                </a:r>
                <a:r>
                  <a:rPr sz="2400" b="0">
                    <a:solidFill>
                      <a:srgbClr val="111827"/>
                    </a:solidFill>
                    <a:latin typeface="Arial"/>
                  </a:rPr>
                  <a:t>, i.e. </a:t>
                </a:r>
                <a:r>
                  <a:rPr lang="en-IN" sz="2400">
                    <a:solidFill>
                      <a:srgbClr val="111827"/>
                    </a:solidFill>
                    <a:latin typeface="Cambria Math" panose="02040503050406030204" pitchFamily="18" charset="0"/>
                  </a:rPr>
                  <a:t>$PAP^{-1}=B$</a:t>
                </a:r>
                <a:r>
                  <a:rPr sz="2400" b="0">
                    <a:solidFill>
                      <a:srgbClr val="111827"/>
                    </a:solidFill>
                    <a:latin typeface="Arial"/>
                  </a:rPr>
                  <a:t> for some non-singular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Pre-multiply by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post-multiply by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(non-singular) this reads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(no condition like </a:t>
                </a:r>
                <a14:m>
                  <m:oMath xmlns:m="http://schemas.openxmlformats.org/officeDocument/2006/math">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𝐶</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non-singular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(not necessarily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 is non-singular,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and transitive, hence an equivalence relation: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Pre-multiply by </a:t>
                </a:r>
                <a:r>
                  <a:rPr lang="en-IN" sz="2400">
                    <a:solidFill>
                      <a:srgbClr val="111827"/>
                    </a:solidFill>
                    <a:latin typeface="Cambria Math" panose="02040503050406030204" pitchFamily="18" charset="0"/>
                  </a:rPr>
                  <a:t>$P^{-1}$</a:t>
                </a:r>
                <a:r>
                  <a:rPr sz="2400" b="0">
                    <a:solidFill>
                      <a:srgbClr val="111827"/>
                    </a:solidFill>
                    <a:latin typeface="Arial"/>
                  </a:rPr>
                  <a:t> and post-multiply by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$P^{-1}(PAP^{-1})P=P^{-1}BP$</a:t>
                </a:r>
                <a:r>
                  <a:rPr sz="2400" b="0">
                    <a:solidFill>
                      <a:srgbClr val="111827"/>
                    </a:solidFill>
                    <a:latin typeface="Arial"/>
                  </a:rPr>
                  <a:t>, so </a:t>
                </a:r>
                <a:r>
                  <a:rPr lang="en-IN" sz="2400">
                    <a:solidFill>
                      <a:srgbClr val="111827"/>
                    </a:solidFill>
                    <a:latin typeface="Cambria Math" panose="02040503050406030204" pitchFamily="18" charset="0"/>
                  </a:rPr>
                  <a:t>$A=P^{-1}BP$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$Q=P^{-1}$</a:t>
                </a:r>
                <a:r>
                  <a:rPr sz="2400" b="0">
                    <a:solidFill>
                      <a:srgbClr val="111827"/>
                    </a:solidFill>
                    <a:latin typeface="Arial"/>
                  </a:rPr>
                  <a:t> (non-singular) this reads </a:t>
                </a:r>
                <a:r>
                  <a:rPr lang="en-IN" sz="2400">
                    <a:solidFill>
                      <a:srgbClr val="111827"/>
                    </a:solidFill>
                    <a:latin typeface="Cambria Math" panose="02040503050406030204" pitchFamily="18" charset="0"/>
                  </a:rPr>
                  <a:t>$QBQ^{-1}=A$</a:t>
                </a:r>
                <a:r>
                  <a:rPr sz="2400" b="0">
                    <a:solidFill>
                      <a:srgbClr val="111827"/>
                    </a:solidFill>
                    <a:latin typeface="Arial"/>
                  </a:rPr>
                  <a:t>, which is </a:t>
                </a:r>
                <a:r>
                  <a:rPr lang="en-IN" sz="2400">
                    <a:solidFill>
                      <a:srgbClr val="111827"/>
                    </a:solidFill>
                    <a:latin typeface="Cambria Math" panose="02040503050406030204" pitchFamily="18" charset="0"/>
                  </a:rPr>
                  <a:t>$BRA$</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symmetric (no condition like </a:t>
                </a:r>
                <a:r>
                  <a:rPr lang="en-IN" sz="2400">
                    <a:solidFill>
                      <a:srgbClr val="111827"/>
                    </a:solidFill>
                    <a:latin typeface="Cambria Math" panose="02040503050406030204" pitchFamily="18" charset="0"/>
                  </a:rPr>
                  <a:t>$P^2=I$</a:t>
                </a:r>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$ARB$</a:t>
                </a:r>
                <a:r>
                  <a:rPr sz="2400" b="0">
                    <a:solidFill>
                      <a:srgbClr val="111827"/>
                    </a:solidFill>
                    <a:latin typeface="Arial"/>
                  </a:rPr>
                  <a:t> and </a:t>
                </a:r>
                <a:r>
                  <a:rPr lang="en-IN" sz="2400">
                    <a:solidFill>
                      <a:srgbClr val="111827"/>
                    </a:solidFill>
                    <a:latin typeface="Cambria Math" panose="02040503050406030204" pitchFamily="18" charset="0"/>
                  </a:rPr>
                  <a:t>$BRC$</a:t>
                </a:r>
                <a:r>
                  <a:rPr sz="2400" b="0">
                    <a:solidFill>
                      <a:srgbClr val="111827"/>
                    </a:solidFill>
                    <a:latin typeface="Arial"/>
                  </a:rPr>
                  <a:t>, i.e. </a:t>
                </a:r>
                <a:r>
                  <a:rPr lang="en-IN" sz="2400">
                    <a:solidFill>
                      <a:srgbClr val="111827"/>
                    </a:solidFill>
                    <a:latin typeface="Cambria Math" panose="02040503050406030204" pitchFamily="18" charset="0"/>
                  </a:rPr>
                  <a:t>$B=PAP^{-1}$</a:t>
                </a:r>
                <a:r>
                  <a:rPr sz="2400" b="0">
                    <a:solidFill>
                      <a:srgbClr val="111827"/>
                    </a:solidFill>
                    <a:latin typeface="Arial"/>
                  </a:rPr>
                  <a:t> and </a:t>
                </a:r>
                <a:r>
                  <a:rPr lang="en-IN" sz="2400">
                    <a:solidFill>
                      <a:srgbClr val="111827"/>
                    </a:solidFill>
                    <a:latin typeface="Cambria Math" panose="02040503050406030204" pitchFamily="18" charset="0"/>
                  </a:rPr>
                  <a:t>$C=QBQ^{-1}$</a:t>
                </a:r>
                <a:r>
                  <a:rPr sz="2400" b="0">
                    <a:solidFill>
                      <a:srgbClr val="111827"/>
                    </a:solidFill>
                    <a:latin typeface="Arial"/>
                  </a:rPr>
                  <a:t> with non-singular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$Q$</a:t>
                </a:r>
                <a:r>
                  <a:rPr sz="2400" b="0">
                    <a:solidFill>
                      <a:srgbClr val="111827"/>
                    </a:solidFill>
                    <a:latin typeface="Arial"/>
                  </a:rPr>
                  <a:t> (not necessarily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$C=Q(PAP^{-1})Q^{-1}=(QP)A(QP)^{-1}$</a:t>
                </a:r>
                <a:r>
                  <a:rPr sz="2400" b="0">
                    <a:solidFill>
                      <a:srgbClr val="111827"/>
                    </a:solidFill>
                    <a:latin typeface="Arial"/>
                  </a:rPr>
                  <a:t>, and </a:t>
                </a:r>
                <a:r>
                  <a:rPr lang="en-IN" sz="2400">
                    <a:solidFill>
                      <a:srgbClr val="111827"/>
                    </a:solidFill>
                    <a:latin typeface="Cambria Math" panose="02040503050406030204" pitchFamily="18" charset="0"/>
                  </a:rPr>
                  <a:t>$QP$</a:t>
                </a:r>
                <a:r>
                  <a:rPr sz="2400" b="0">
                    <a:solidFill>
                      <a:srgbClr val="111827"/>
                    </a:solidFill>
                    <a:latin typeface="Arial"/>
                  </a:rPr>
                  <a:t> is non-singular, so </a:t>
                </a:r>
                <a:r>
                  <a:rPr lang="en-IN" sz="2400">
                    <a:solidFill>
                      <a:srgbClr val="111827"/>
                    </a:solidFill>
                    <a:latin typeface="Cambria Math" panose="02040503050406030204" pitchFamily="18" charset="0"/>
                  </a:rPr>
                  <a:t>$ARC$</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symmetric and transitive, hence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$R$</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𝐵</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are matrices of one linear map in two bases; 'same map' is an equivalence relation.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$ARB$</a:t>
                </a:r>
                <a:r>
                  <a:rPr sz="2400" b="0">
                    <a:solidFill>
                      <a:srgbClr val="78350F"/>
                    </a:solidFill>
                    <a:latin typeface="Arial"/>
                  </a:rPr>
                  <a:t> means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are matrices of one linear map in two bases; 'same map' is an equivalence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represent the same linear transformation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of </a:t>
                </a:r>
                <a14:m>
                  <m:oMath xmlns:m="http://schemas.openxmlformats.org/officeDocument/2006/math">
                    <m:sSup>
                      <m:e>
                        <m:r>
                          <m:rPr>
                            <m:scr m:val="double-struck"/>
                            <m:sty m:val="p"/>
                          </m:rPr>
                          <a:rPr lang="en-IN" sz="2400">
                            <a:solidFill>
                              <a:srgbClr val="111827"/>
                            </a:solidFill>
                            <a:latin typeface="Cambria Math" panose="02040503050406030204" pitchFamily="18" charset="0"/>
                          </a:rPr>
                          <m:t>R</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respect to two bases,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being the change-of-basis matrix.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represents the same map as itself (same basis,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represent one map, then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do (the change from the second basis back to the first is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$B=PAP^{-1}$</a:t>
                </a:r>
                <a:r>
                  <a:rPr sz="2400" b="0">
                    <a:solidFill>
                      <a:srgbClr val="111827"/>
                    </a:solidFill>
                    <a:latin typeface="Arial"/>
                  </a:rPr>
                  <a:t> means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represent the same linear transformation </a:t>
                </a:r>
                <a:r>
                  <a:rPr lang="en-IN" sz="2400">
                    <a:solidFill>
                      <a:srgbClr val="111827"/>
                    </a:solidFill>
                    <a:latin typeface="Cambria Math" panose="02040503050406030204" pitchFamily="18" charset="0"/>
                  </a:rPr>
                  <a:t>$T$</a:t>
                </a:r>
                <a:r>
                  <a:rPr sz="2400" b="0">
                    <a:solidFill>
                      <a:srgbClr val="111827"/>
                    </a:solidFill>
                    <a:latin typeface="Arial"/>
                  </a:rPr>
                  <a:t> of </a:t>
                </a:r>
                <a:r>
                  <a:rPr lang="en-IN" sz="2400">
                    <a:solidFill>
                      <a:srgbClr val="111827"/>
                    </a:solidFill>
                    <a:latin typeface="Cambria Math" panose="02040503050406030204" pitchFamily="18" charset="0"/>
                  </a:rPr>
                  <a:t>$\mathbb{R}^n$</a:t>
                </a:r>
                <a:r>
                  <a:rPr sz="2400" b="0">
                    <a:solidFill>
                      <a:srgbClr val="111827"/>
                    </a:solidFill>
                    <a:latin typeface="Arial"/>
                  </a:rPr>
                  <a:t> with respect to two bases, </a:t>
                </a:r>
                <a:r>
                  <a:rPr lang="en-IN" sz="2400">
                    <a:solidFill>
                      <a:srgbClr val="111827"/>
                    </a:solidFill>
                    <a:latin typeface="Cambria Math" panose="02040503050406030204" pitchFamily="18" charset="0"/>
                  </a:rPr>
                  <a:t>$P$</a:t>
                </a:r>
                <a:r>
                  <a:rPr sz="2400" b="0">
                    <a:solidFill>
                      <a:srgbClr val="111827"/>
                    </a:solidFill>
                    <a:latin typeface="Arial"/>
                  </a:rPr>
                  <a:t> being the change-of-basis matrix.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a:t>
                </a:r>
                <a:r>
                  <a:rPr sz="2400" b="0">
                    <a:solidFill>
                      <a:srgbClr val="111827"/>
                    </a:solidFill>
                    <a:latin typeface="Arial"/>
                  </a:rPr>
                  <a:t> represents the same map as itself (same basis, </a:t>
                </a:r>
                <a:r>
                  <a:rPr lang="en-IN" sz="2400">
                    <a:solidFill>
                      <a:srgbClr val="111827"/>
                    </a:solidFill>
                    <a:latin typeface="Cambria Math" panose="02040503050406030204" pitchFamily="18" charset="0"/>
                  </a:rPr>
                  <a:t>$P=I$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represent one map, then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 do (the change from the second basis back to the first is </a:t>
                </a:r>
                <a:r>
                  <a:rPr lang="en-IN" sz="2400">
                    <a:solidFill>
                      <a:srgbClr val="111827"/>
                    </a:solidFill>
                    <a:latin typeface="Cambria Math" panose="02040503050406030204" pitchFamily="18" charset="0"/>
                  </a:rPr>
                  <a:t>$P^{-1}$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represent the same map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 same map,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do (compose the two basis changes).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'Represents the same linear map' is an equivalence relation,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(B). Its classes are the similarity classes.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r>
                  <a:rPr lang="en-IN" sz="2400">
                    <a:solidFill>
                      <a:srgbClr val="111827"/>
                    </a:solidFill>
                    <a:latin typeface="Cambria Math" panose="02040503050406030204" pitchFamily="18" charset="0"/>
                  </a:rPr>
                  <a:t>$A,B$</a:t>
                </a:r>
                <a:r>
                  <a:rPr sz="2400" b="0">
                    <a:solidFill>
                      <a:srgbClr val="111827"/>
                    </a:solidFill>
                    <a:latin typeface="Arial"/>
                  </a:rPr>
                  <a:t> represent the same map and </a:t>
                </a:r>
                <a:r>
                  <a:rPr lang="en-IN" sz="2400">
                    <a:solidFill>
                      <a:srgbClr val="111827"/>
                    </a:solidFill>
                    <a:latin typeface="Cambria Math" panose="02040503050406030204" pitchFamily="18" charset="0"/>
                  </a:rPr>
                  <a:t>$B,C$</a:t>
                </a:r>
                <a:r>
                  <a:rPr sz="2400" b="0">
                    <a:solidFill>
                      <a:srgbClr val="111827"/>
                    </a:solidFill>
                    <a:latin typeface="Arial"/>
                  </a:rPr>
                  <a:t> the same map, then </a:t>
                </a:r>
                <a:r>
                  <a:rPr lang="en-IN" sz="2400">
                    <a:solidFill>
                      <a:srgbClr val="111827"/>
                    </a:solidFill>
                    <a:latin typeface="Cambria Math" panose="02040503050406030204" pitchFamily="18" charset="0"/>
                  </a:rPr>
                  <a:t>$A,C$</a:t>
                </a:r>
                <a:r>
                  <a:rPr sz="2400" b="0">
                    <a:solidFill>
                      <a:srgbClr val="111827"/>
                    </a:solidFill>
                    <a:latin typeface="Arial"/>
                  </a:rPr>
                  <a:t> do (compose the two basis changes).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'Represents the same linear map' is an equivalence relation, 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(B). Its classes are the similarity classes.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$R$</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Matrices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are similar: they have equal determinant, trace, rank, characteristic polynomial and eigenvalues. Check: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5</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trace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for a relation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 a group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check identity (reflexive), inverse (symmetric) and composition (transitive); the group axioms give an equivalence relation. Same for congruence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and equivalence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oMath>
                </a14:m>
                <a:r>
                  <a:rPr sz="2400" b="0">
                    <a:solidFill>
                      <a:srgbClr val="111827"/>
                    </a:solidFill>
                    <a:latin typeface="Arial"/>
                  </a:rPr>
                  <a:t> invertible).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transitivity proof the two witnesses are different in general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never reuse one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of this relation are the similarity classes; the identity matrix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is alone in its class since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𝐼</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Matrices </a:t>
                </a:r>
                <a:r>
                  <a:rPr lang="en-IN" sz="2400">
                    <a:solidFill>
                      <a:srgbClr val="111827"/>
                    </a:solidFill>
                    <a:latin typeface="Cambria Math" panose="02040503050406030204" pitchFamily="18" charset="0"/>
                  </a:rPr>
                  <a:t>$A\sim B$</a:t>
                </a:r>
                <a:r>
                  <a:rPr sz="2400" b="0">
                    <a:solidFill>
                      <a:srgbClr val="111827"/>
                    </a:solidFill>
                    <a:latin typeface="Arial"/>
                  </a:rPr>
                  <a:t> (</a:t>
                </a:r>
                <a:r>
                  <a:rPr lang="en-IN" sz="2400">
                    <a:solidFill>
                      <a:srgbClr val="111827"/>
                    </a:solidFill>
                    <a:latin typeface="Cambria Math" panose="02040503050406030204" pitchFamily="18" charset="0"/>
                  </a:rPr>
                  <a:t>$B=PAP^{-1}$</a:t>
                </a:r>
                <a:r>
                  <a:rPr sz="2400" b="0">
                    <a:solidFill>
                      <a:srgbClr val="111827"/>
                    </a:solidFill>
                    <a:latin typeface="Arial"/>
                  </a:rPr>
                  <a:t>) are similar: they have equal determinant, trace, rank, characteristic polynomial and eigenvalues. Check: </a:t>
                </a:r>
                <a:r>
                  <a:rPr lang="en-IN" sz="2400">
                    <a:solidFill>
                      <a:srgbClr val="111827"/>
                    </a:solidFill>
                    <a:latin typeface="Cambria Math" panose="02040503050406030204" pitchFamily="18" charset="0"/>
                  </a:rPr>
                  <a:t>$A=\begin{pmatrix}1&amp;2\\3&amp;5\end{pmatrix}$</a:t>
                </a:r>
                <a:r>
                  <a:rPr sz="2400" b="0">
                    <a:solidFill>
                      <a:srgbClr val="111827"/>
                    </a:solidFill>
                    <a:latin typeface="Arial"/>
                  </a:rPr>
                  <a:t>, </a:t>
                </a:r>
                <a:r>
                  <a:rPr lang="en-IN" sz="2400">
                    <a:solidFill>
                      <a:srgbClr val="111827"/>
                    </a:solidFill>
                    <a:latin typeface="Cambria Math" panose="02040503050406030204" pitchFamily="18" charset="0"/>
                  </a:rPr>
                  <a:t>$P=\begin{pmatrix}2&amp;1\\1&amp;1\end{pmatrix}$</a:t>
                </a:r>
                <a:r>
                  <a:rPr sz="2400" b="0">
                    <a:solidFill>
                      <a:srgbClr val="111827"/>
                    </a:solidFill>
                    <a:latin typeface="Arial"/>
                  </a:rPr>
                  <a:t> give </a:t>
                </a:r>
                <a:r>
                  <a:rPr lang="en-IN" sz="2400">
                    <a:solidFill>
                      <a:srgbClr val="111827"/>
                    </a:solidFill>
                    <a:latin typeface="Cambria Math" panose="02040503050406030204" pitchFamily="18" charset="0"/>
                  </a:rPr>
                  <a:t>$PAP^{-1}$</a:t>
                </a:r>
                <a:r>
                  <a:rPr sz="2400" b="0">
                    <a:solidFill>
                      <a:srgbClr val="111827"/>
                    </a:solidFill>
                    <a:latin typeface="Arial"/>
                  </a:rPr>
                  <a:t> with trace </a:t>
                </a:r>
                <a:r>
                  <a:rPr lang="en-IN" sz="2400">
                    <a:solidFill>
                      <a:srgbClr val="111827"/>
                    </a:solidFill>
                    <a:latin typeface="Cambria Math" panose="02040503050406030204" pitchFamily="18" charset="0"/>
                  </a:rPr>
                  <a:t>$6=$</a:t>
                </a:r>
                <a:r>
                  <a:rPr sz="2400" b="0">
                    <a:solidFill>
                      <a:srgbClr val="111827"/>
                    </a:solidFill>
                    <a:latin typeface="Arial"/>
                  </a:rPr>
                  <a:t> trace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for a relation '</a:t>
                </a:r>
                <a:r>
                  <a:rPr lang="en-IN" sz="2400">
                    <a:solidFill>
                      <a:srgbClr val="111827"/>
                    </a:solidFill>
                    <a:latin typeface="Cambria Math" panose="02040503050406030204" pitchFamily="18" charset="0"/>
                  </a:rPr>
                  <a:t>$B=g(A)$</a:t>
                </a:r>
                <a:r>
                  <a:rPr sz="2400" b="0">
                    <a:solidFill>
                      <a:srgbClr val="111827"/>
                    </a:solidFill>
                    <a:latin typeface="Arial"/>
                  </a:rPr>
                  <a:t> for some </a:t>
                </a:r>
                <a:r>
                  <a:rPr lang="en-IN" sz="2400">
                    <a:solidFill>
                      <a:srgbClr val="111827"/>
                    </a:solidFill>
                    <a:latin typeface="Cambria Math" panose="02040503050406030204" pitchFamily="18" charset="0"/>
                  </a:rPr>
                  <a:t>$g$</a:t>
                </a:r>
                <a:r>
                  <a:rPr sz="2400" b="0">
                    <a:solidFill>
                      <a:srgbClr val="111827"/>
                    </a:solidFill>
                    <a:latin typeface="Arial"/>
                  </a:rPr>
                  <a:t> in a group </a:t>
                </a:r>
                <a:r>
                  <a:rPr lang="en-IN" sz="2400">
                    <a:solidFill>
                      <a:srgbClr val="111827"/>
                    </a:solidFill>
                    <a:latin typeface="Cambria Math" panose="02040503050406030204" pitchFamily="18" charset="0"/>
                  </a:rPr>
                  <a:t>$G$</a:t>
                </a:r>
                <a:r>
                  <a:rPr sz="2400" b="0">
                    <a:solidFill>
                      <a:srgbClr val="111827"/>
                    </a:solidFill>
                    <a:latin typeface="Arial"/>
                  </a:rPr>
                  <a:t>' check identity (reflexive), inverse (symmetric) and composition (transitive); the group axioms give an equivalence relation. Same for congruence </a:t>
                </a:r>
                <a:r>
                  <a:rPr lang="en-IN" sz="2400">
                    <a:solidFill>
                      <a:srgbClr val="111827"/>
                    </a:solidFill>
                    <a:latin typeface="Cambria Math" panose="02040503050406030204" pitchFamily="18" charset="0"/>
                  </a:rPr>
                  <a:t>$B=PAP^{T}$</a:t>
                </a:r>
                <a:r>
                  <a:rPr sz="2400" b="0">
                    <a:solidFill>
                      <a:srgbClr val="111827"/>
                    </a:solidFill>
                    <a:latin typeface="Arial"/>
                  </a:rPr>
                  <a:t> and equivalence </a:t>
                </a:r>
                <a:r>
                  <a:rPr lang="en-IN" sz="2400">
                    <a:solidFill>
                      <a:srgbClr val="111827"/>
                    </a:solidFill>
                    <a:latin typeface="Cambria Math" panose="02040503050406030204" pitchFamily="18" charset="0"/>
                  </a:rPr>
                  <a:t>$B=PAQ$</a:t>
                </a:r>
                <a:r>
                  <a:rPr sz="2400" b="0">
                    <a:solidFill>
                      <a:srgbClr val="111827"/>
                    </a:solidFill>
                    <a:latin typeface="Arial"/>
                  </a:rPr>
                  <a:t> (</a:t>
                </a:r>
                <a:r>
                  <a:rPr lang="en-IN" sz="2400">
                    <a:solidFill>
                      <a:srgbClr val="111827"/>
                    </a:solidFill>
                    <a:latin typeface="Cambria Math" panose="02040503050406030204" pitchFamily="18" charset="0"/>
                  </a:rPr>
                  <a:t>$P,Q$</a:t>
                </a:r>
                <a:r>
                  <a:rPr sz="2400" b="0">
                    <a:solidFill>
                      <a:srgbClr val="111827"/>
                    </a:solidFill>
                    <a:latin typeface="Arial"/>
                  </a:rPr>
                  <a:t> invertible).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transitivity proof the two witnesses are different in general (</a:t>
                </a:r>
                <a:r>
                  <a:rPr lang="en-IN" sz="2400">
                    <a:solidFill>
                      <a:srgbClr val="111827"/>
                    </a:solidFill>
                    <a:latin typeface="Cambria Math" panose="02040503050406030204" pitchFamily="18" charset="0"/>
                  </a:rPr>
                  <a:t>$P$</a:t>
                </a:r>
                <a:r>
                  <a:rPr sz="2400" b="0">
                    <a:solidFill>
                      <a:srgbClr val="111827"/>
                    </a:solidFill>
                    <a:latin typeface="Arial"/>
                  </a:rPr>
                  <a:t> for </a:t>
                </a:r>
                <a:r>
                  <a:rPr lang="en-IN" sz="2400">
                    <a:solidFill>
                      <a:srgbClr val="111827"/>
                    </a:solidFill>
                    <a:latin typeface="Cambria Math" panose="02040503050406030204" pitchFamily="18" charset="0"/>
                  </a:rPr>
                  <a:t>$A\to B$</a:t>
                </a:r>
                <a:r>
                  <a:rPr sz="2400" b="0">
                    <a:solidFill>
                      <a:srgbClr val="111827"/>
                    </a:solidFill>
                    <a:latin typeface="Arial"/>
                  </a:rPr>
                  <a:t>, </a:t>
                </a:r>
                <a:r>
                  <a:rPr lang="en-IN" sz="2400">
                    <a:solidFill>
                      <a:srgbClr val="111827"/>
                    </a:solidFill>
                    <a:latin typeface="Cambria Math" panose="02040503050406030204" pitchFamily="18" charset="0"/>
                  </a:rPr>
                  <a:t>$Q$</a:t>
                </a:r>
                <a:r>
                  <a:rPr sz="2400" b="0">
                    <a:solidFill>
                      <a:srgbClr val="111827"/>
                    </a:solidFill>
                    <a:latin typeface="Arial"/>
                  </a:rPr>
                  <a:t> for </a:t>
                </a:r>
                <a:r>
                  <a:rPr lang="en-IN" sz="2400">
                    <a:solidFill>
                      <a:srgbClr val="111827"/>
                    </a:solidFill>
                    <a:latin typeface="Cambria Math" panose="02040503050406030204" pitchFamily="18" charset="0"/>
                  </a:rPr>
                  <a:t>$B\to C$</a:t>
                </a:r>
                <a:r>
                  <a:rPr sz="2400" b="0">
                    <a:solidFill>
                      <a:srgbClr val="111827"/>
                    </a:solidFill>
                    <a:latin typeface="Arial"/>
                  </a:rPr>
                  <a:t>); never reuse one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of this relation are the similarity classes; the identity matrix </a:t>
                </a:r>
                <a:r>
                  <a:rPr lang="en-IN" sz="2400">
                    <a:solidFill>
                      <a:srgbClr val="111827"/>
                    </a:solidFill>
                    <a:latin typeface="Cambria Math" panose="02040503050406030204" pitchFamily="18" charset="0"/>
                  </a:rPr>
                  <a:t>$I$</a:t>
                </a:r>
                <a:r>
                  <a:rPr sz="2400" b="0">
                    <a:solidFill>
                      <a:srgbClr val="111827"/>
                    </a:solidFill>
                    <a:latin typeface="Arial"/>
                  </a:rPr>
                  <a:t> is alone in its class since </a:t>
                </a:r>
                <a:r>
                  <a:rPr lang="en-IN" sz="2400">
                    <a:solidFill>
                      <a:srgbClr val="111827"/>
                    </a:solidFill>
                    <a:latin typeface="Cambria Math" panose="02040503050406030204" pitchFamily="18" charset="0"/>
                  </a:rPr>
                  <a:t>$PIP^{-1}=I$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47381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school, there are three types of games to be played. Some of the students play two types of games, but none play all the three games. Which Venn diagrams can justify the above statement?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(Figures not reproduced here. P: a large circle containing two smaller circles that overlap each other. Q: a large circle overlapped on its left and right by two smaller circles that overlap each other inside it. R: a large circle, one small circle sticking out on its left, another small circle inside it on the right, the two small circles overlapping each other.)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P and Q   (B) Q and R   (C) None of these   (D) P and R</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diagrams and intersection of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'None plays all three' means the three circles must have no common region; in each figure the overlap of two circles lies inside the third.</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'Some students play two types of games' means every two of the three circles overlap in a non-empty region.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student plays all three games' means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three circles must have no region in common.</a:t>
                </a:r>
                <a:endParaRPr sz="2400">
                  <a:solidFill>
                    <a:srgbClr val="111827"/>
                  </a:solidFill>
                </a:endParaRPr>
              </a:p>
            </p:txBody>
          </p:sp>
        </mc:Choice>
        <mc:Fallback>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'Some students play two types of games' means every two of the three circles overlap in a non-empty region.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student plays all three games' means </a:t>
                </a:r>
                <a:r>
                  <a:rPr lang="en-IN" sz="2400">
                    <a:solidFill>
                      <a:srgbClr val="111827"/>
                    </a:solidFill>
                    <a:latin typeface="Cambria Math" panose="02040503050406030204" pitchFamily="18" charset="0"/>
                  </a:rPr>
                  <a:t>$A\cap B\cap C=\varnothing$</a:t>
                </a:r>
                <a:r>
                  <a:rPr sz="2400" b="0">
                    <a:solidFill>
                      <a:srgbClr val="111827"/>
                    </a:solidFill>
                    <a:latin typeface="Arial"/>
                  </a:rPr>
                  <a:t>: the three circles must have no region in common.</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 correct Venn diagram has three pairwise overlapping circles with the central triple-overlap region absent.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Diagram P: the lens where the two small circles overlap lies wholly inside the large circle, so it belongs to all three circles. Not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Diagram Q: the lens where the two small circles overlap lies in the middle of the large circle, again common to all three. Not valid.</a:t>
            </a:r>
            <a:endParaRPr sz="2400">
              <a:solidFill>
                <a:srgbClr val="111827"/>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Diagram R: the two small circles overlap in a lens that lies within the large circle, common to all three. Not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None of P, Q, R shows an empty triple overlap, so none of them represents the statement: option (C).</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None of these</a:t>
            </a:r>
            <a:endParaRPr sz="2800">
              <a:solidFill>
                <a:srgbClr val="15803D"/>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element is in all three sets' is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'some are in exactly two' means the pairwise intersections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are non-empty.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an empty triple overlap the last term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Check: 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if two of the circles overlap and that lens lies inside a third circle, the triple intersection is non-empty.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element is in all three sets' is </a:t>
                </a:r>
                <a:r>
                  <a:rPr lang="en-IN" sz="2400">
                    <a:solidFill>
                      <a:srgbClr val="111827"/>
                    </a:solidFill>
                    <a:latin typeface="Cambria Math" panose="02040503050406030204" pitchFamily="18" charset="0"/>
                  </a:rPr>
                  <a:t>$A\cap B\cap C=\varnothing$</a:t>
                </a:r>
                <a:r>
                  <a:rPr sz="2400" b="0">
                    <a:solidFill>
                      <a:srgbClr val="111827"/>
                    </a:solidFill>
                    <a:latin typeface="Arial"/>
                  </a:rPr>
                  <a:t>; 'some are in exactly two' means the pairwise intersections </a:t>
                </a:r>
                <a:r>
                  <a:rPr lang="en-IN" sz="2400">
                    <a:solidFill>
                      <a:srgbClr val="111827"/>
                    </a:solidFill>
                    <a:latin typeface="Cambria Math" panose="02040503050406030204" pitchFamily="18" charset="0"/>
                  </a:rPr>
                  <a:t>$A\cap B$</a:t>
                </a:r>
                <a:r>
                  <a:rPr sz="2400" b="0">
                    <a:solidFill>
                      <a:srgbClr val="111827"/>
                    </a:solidFill>
                    <a:latin typeface="Arial"/>
                  </a:rPr>
                  <a:t>, </a:t>
                </a:r>
                <a:r>
                  <a:rPr lang="en-IN" sz="2400">
                    <a:solidFill>
                      <a:srgbClr val="111827"/>
                    </a:solidFill>
                    <a:latin typeface="Cambria Math" panose="02040503050406030204" pitchFamily="18" charset="0"/>
                  </a:rPr>
                  <a:t>$B\cap C$</a:t>
                </a:r>
                <a:r>
                  <a:rPr sz="2400" b="0">
                    <a:solidFill>
                      <a:srgbClr val="111827"/>
                    </a:solidFill>
                    <a:latin typeface="Arial"/>
                  </a:rPr>
                  <a:t>, </a:t>
                </a:r>
                <a:r>
                  <a:rPr lang="en-IN" sz="2400">
                    <a:solidFill>
                      <a:srgbClr val="111827"/>
                    </a:solidFill>
                    <a:latin typeface="Cambria Math" panose="02040503050406030204" pitchFamily="18" charset="0"/>
                  </a:rPr>
                  <a:t>$C\cap A$</a:t>
                </a:r>
                <a:r>
                  <a:rPr sz="2400" b="0">
                    <a:solidFill>
                      <a:srgbClr val="111827"/>
                    </a:solidFill>
                    <a:latin typeface="Arial"/>
                  </a:rPr>
                  <a:t> are non-empty.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$n(A\cup B\cup C)=n(A)+n(B)+n(C)-n(A\cap B)-n(B\cap C)-n(C\cap A)+n(A\cap B\cap C)$</a:t>
                </a:r>
                <a:r>
                  <a:rPr sz="2400" b="0">
                    <a:solidFill>
                      <a:srgbClr val="111827"/>
                    </a:solidFill>
                    <a:latin typeface="Arial"/>
                  </a:rPr>
                  <a:t>; with an empty triple overlap the last term is </a:t>
                </a:r>
                <a:r>
                  <a:rPr lang="en-IN" sz="2400">
                    <a:solidFill>
                      <a:srgbClr val="111827"/>
                    </a:solidFill>
                    <a:latin typeface="Cambria Math" panose="02040503050406030204" pitchFamily="18" charset="0"/>
                  </a:rPr>
                  <a:t>$0$</a:t>
                </a:r>
                <a:r>
                  <a:rPr sz="2400" b="0">
                    <a:solidFill>
                      <a:srgbClr val="111827"/>
                    </a:solidFill>
                    <a:latin typeface="Arial"/>
                  </a:rPr>
                  <a:t>. Check: sets </a:t>
                </a:r>
                <a:r>
                  <a:rPr lang="en-IN" sz="2400">
                    <a:solidFill>
                      <a:srgbClr val="111827"/>
                    </a:solidFill>
                    <a:latin typeface="Cambria Math" panose="02040503050406030204" pitchFamily="18" charset="0"/>
                  </a:rPr>
                  <a:t>$\{1,2\},\{2,3\},\{3,1\}$</a:t>
                </a:r>
                <a:r>
                  <a:rPr sz="2400" b="0">
                    <a:solidFill>
                      <a:srgbClr val="111827"/>
                    </a:solidFill>
                    <a:latin typeface="Arial"/>
                  </a:rPr>
                  <a:t> give </a:t>
                </a:r>
                <a:r>
                  <a:rPr lang="en-IN" sz="2400">
                    <a:solidFill>
                      <a:srgbClr val="111827"/>
                    </a:solidFill>
                    <a:latin typeface="Cambria Math" panose="02040503050406030204" pitchFamily="18" charset="0"/>
                  </a:rPr>
                  <a:t>$3=2+2+2-1-1-1+0$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if two of the circles overlap and that lens lies inside a third circle, the triple intersection is non-empty.</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an equivalence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Then the number of ordered pairs which satisfy this equivalence relation with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$A=\{2,3,4,5,\dots,30\}$</a:t>
                </a:r>
                <a:r>
                  <a:rPr sz="2400" b="0">
                    <a:solidFill>
                      <a:srgbClr val="111827"/>
                    </a:solidFill>
                    <a:latin typeface="Arial"/>
                  </a:rPr>
                  <a:t> and '</a:t>
                </a:r>
                <a:r>
                  <a:rPr lang="en-IN" sz="2400">
                    <a:solidFill>
                      <a:srgbClr val="111827"/>
                    </a:solidFill>
                    <a:latin typeface="Cambria Math" panose="02040503050406030204" pitchFamily="18" charset="0"/>
                  </a:rPr>
                  <a:t>$\simeq$</a:t>
                </a:r>
                <a:r>
                  <a:rPr sz="2400" b="0">
                    <a:solidFill>
                      <a:srgbClr val="111827"/>
                    </a:solidFill>
                    <a:latin typeface="Arial"/>
                  </a:rPr>
                  <a:t>' be an equivalence relation on </a:t>
                </a:r>
                <a:r>
                  <a:rPr lang="en-IN" sz="2400">
                    <a:solidFill>
                      <a:srgbClr val="111827"/>
                    </a:solidFill>
                    <a:latin typeface="Cambria Math" panose="02040503050406030204" pitchFamily="18" charset="0"/>
                  </a:rPr>
                  <a:t>$A\times A$</a:t>
                </a:r>
                <a:r>
                  <a:rPr sz="2400" b="0">
                    <a:solidFill>
                      <a:srgbClr val="111827"/>
                    </a:solidFill>
                    <a:latin typeface="Arial"/>
                  </a:rPr>
                  <a:t>, defined by </a:t>
                </a:r>
                <a:r>
                  <a:rPr lang="en-IN" sz="2400">
                    <a:solidFill>
                      <a:srgbClr val="111827"/>
                    </a:solidFill>
                    <a:latin typeface="Cambria Math" panose="02040503050406030204" pitchFamily="18" charset="0"/>
                  </a:rPr>
                  <a:t>$(a,b)\simeq(c,d)$</a:t>
                </a:r>
                <a:r>
                  <a:rPr sz="2400" b="0">
                    <a:solidFill>
                      <a:srgbClr val="111827"/>
                    </a:solidFill>
                    <a:latin typeface="Arial"/>
                  </a:rPr>
                  <a:t> if and only if </a:t>
                </a:r>
                <a:r>
                  <a:rPr lang="en-IN" sz="2400">
                    <a:solidFill>
                      <a:srgbClr val="111827"/>
                    </a:solidFill>
                    <a:latin typeface="Cambria Math" panose="02040503050406030204" pitchFamily="18" charset="0"/>
                  </a:rPr>
                  <a:t>$ad=bc$</a:t>
                </a:r>
                <a:r>
                  <a:rPr sz="2400" b="0">
                    <a:solidFill>
                      <a:srgbClr val="111827"/>
                    </a:solidFill>
                    <a:latin typeface="Arial"/>
                  </a:rPr>
                  <a:t>. Then the number of ordered pairs which satisfy this equivalence relation with ordered pair </a:t>
                </a:r>
                <a:r>
                  <a:rPr lang="en-IN" sz="2400">
                    <a:solidFill>
                      <a:srgbClr val="111827"/>
                    </a:solidFill>
                    <a:latin typeface="Cambria Math" panose="02040503050406030204" pitchFamily="18" charset="0"/>
                  </a:rPr>
                  <a:t>$(4,3)$</a:t>
                </a:r>
                <a:r>
                  <a:rPr sz="2400" b="0">
                    <a:solidFill>
                      <a:srgbClr val="111827"/>
                    </a:solidFill>
                    <a:latin typeface="Arial"/>
                  </a:rPr>
                  <a:t> is equal to: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$6$</a:t>
                </a:r>
                <a:r>
                  <a:rPr sz="2400" b="0">
                    <a:solidFill>
                      <a:srgbClr val="111827"/>
                    </a:solidFill>
                    <a:latin typeface="Arial"/>
                  </a:rPr>
                  <a:t>   (D) </a:t>
                </a:r>
                <a:r>
                  <a:rPr lang="en-IN" sz="2400">
                    <a:solidFill>
                      <a:srgbClr val="111827"/>
                    </a:solidFill>
                    <a:latin typeface="Cambria Math" panose="02040503050406030204" pitchFamily="18" charset="0"/>
                  </a:rPr>
                  <a:t>$7$</a:t>
                </a:r>
                <a:endParaRPr sz="2400">
                  <a:solidFill>
                    <a:srgbClr val="111827"/>
                  </a:solidFill>
                </a:endParaRPr>
              </a:p>
            </p:txBody>
          </p:sp>
        </mc:Fallback>
      </mc:AlternateContent>
      <p:sp>
        <p:nvSpPr>
          <p:cNvPr id="5" name="Rectangle 4"/>
          <p:cNvSpPr/>
          <p:nvPr/>
        </p:nvSpPr>
        <p:spPr>
          <a:xfrm>
            <a:off x="731520" y="43240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and equivalence class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means equal ratio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𝑏</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𝑐</m:t>
                        </m:r>
                      </m:num>
                      <m:den>
                        <m:r>
                          <a:rPr lang="en-IN" sz="2400" i="1">
                            <a:solidFill>
                              <a:srgbClr val="78350F"/>
                            </a:solidFill>
                            <a:latin typeface="Cambria Math" panose="02040503050406030204" pitchFamily="18" charset="0"/>
                          </a:rPr>
                          <m:t>𝑑</m:t>
                        </m:r>
                      </m:den>
                    </m:f>
                  </m:oMath>
                </a14:m>
                <a:r>
                  <a:rPr sz="2400" b="0">
                    <a:solidFill>
                      <a:srgbClr val="78350F"/>
                    </a:solidFill>
                    <a:latin typeface="Arial"/>
                  </a:rPr>
                  <a:t>, so the class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entries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$ad=bc$</a:t>
                </a:r>
                <a:r>
                  <a:rPr sz="2400" b="0">
                    <a:solidFill>
                      <a:srgbClr val="78350F"/>
                    </a:solidFill>
                    <a:latin typeface="Arial"/>
                  </a:rPr>
                  <a:t> means equal ratio </a:t>
                </a:r>
                <a:r>
                  <a:rPr lang="en-IN" sz="2400">
                    <a:solidFill>
                      <a:srgbClr val="78350F"/>
                    </a:solidFill>
                    <a:latin typeface="Cambria Math" panose="02040503050406030204" pitchFamily="18" charset="0"/>
                  </a:rPr>
                  <a:t>$\frac{a}{b}=\frac{c}{d}$</a:t>
                </a:r>
                <a:r>
                  <a:rPr sz="2400" b="0">
                    <a:solidFill>
                      <a:srgbClr val="78350F"/>
                    </a:solidFill>
                    <a:latin typeface="Arial"/>
                  </a:rPr>
                  <a:t>, so the class of </a:t>
                </a:r>
                <a:r>
                  <a:rPr lang="en-IN" sz="2400">
                    <a:solidFill>
                      <a:srgbClr val="78350F"/>
                    </a:solidFill>
                    <a:latin typeface="Cambria Math" panose="02040503050406030204" pitchFamily="18" charset="0"/>
                  </a:rPr>
                  <a:t>$(4,3)$</a:t>
                </a:r>
                <a:r>
                  <a:rPr sz="2400" b="0">
                    <a:solidFill>
                      <a:srgbClr val="78350F"/>
                    </a:solidFill>
                    <a:latin typeface="Arial"/>
                  </a:rPr>
                  <a:t> is </a:t>
                </a:r>
                <a:r>
                  <a:rPr lang="en-IN" sz="2400">
                    <a:solidFill>
                      <a:srgbClr val="78350F"/>
                    </a:solidFill>
                    <a:latin typeface="Cambria Math" panose="02040503050406030204" pitchFamily="18" charset="0"/>
                  </a:rPr>
                  <a:t>$\{(4k,3k)\}$</a:t>
                </a:r>
                <a:r>
                  <a:rPr sz="2400" b="0">
                    <a:solidFill>
                      <a:srgbClr val="78350F"/>
                    </a:solidFill>
                    <a:latin typeface="Arial"/>
                  </a:rPr>
                  <a:t> with entries in </a:t>
                </a:r>
                <a:r>
                  <a:rPr lang="en-IN" sz="2400">
                    <a:solidFill>
                      <a:srgbClr val="78350F"/>
                    </a:solidFill>
                    <a:latin typeface="Cambria Math" panose="02040503050406030204" pitchFamily="18" charset="0"/>
                  </a:rPr>
                  <a:t>$\{2,\dots,30\}$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pairs related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the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for a positive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entries must lie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is fine).</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$(a,b)\simeq(c,d)\iff ad=bc\iff \frac{a}{b}=\frac{c}{d}$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pairs related to </a:t>
                </a:r>
                <a:r>
                  <a:rPr lang="en-IN" sz="2400">
                    <a:solidFill>
                      <a:srgbClr val="111827"/>
                    </a:solidFill>
                    <a:latin typeface="Cambria Math" panose="02040503050406030204" pitchFamily="18" charset="0"/>
                  </a:rPr>
                  <a:t>$(4,3)$</a:t>
                </a:r>
                <a:r>
                  <a:rPr sz="2400" b="0">
                    <a:solidFill>
                      <a:srgbClr val="111827"/>
                    </a:solidFill>
                    <a:latin typeface="Arial"/>
                  </a:rPr>
                  <a:t> are the pairs </a:t>
                </a:r>
                <a:r>
                  <a:rPr lang="en-IN" sz="2400">
                    <a:solidFill>
                      <a:srgbClr val="111827"/>
                    </a:solidFill>
                    <a:latin typeface="Cambria Math" panose="02040503050406030204" pitchFamily="18" charset="0"/>
                  </a:rPr>
                  <a:t>$(c,d)\in A\times A$</a:t>
                </a:r>
                <a:r>
                  <a:rPr sz="2400" b="0">
                    <a:solidFill>
                      <a:srgbClr val="111827"/>
                    </a:solidFill>
                    <a:latin typeface="Arial"/>
                  </a:rPr>
                  <a:t> with </a:t>
                </a:r>
                <a:r>
                  <a:rPr lang="en-IN" sz="2400">
                    <a:solidFill>
                      <a:srgbClr val="111827"/>
                    </a:solidFill>
                    <a:latin typeface="Cambria Math" panose="02040503050406030204" pitchFamily="18" charset="0"/>
                  </a:rPr>
                  <a:t>$\frac{c}{d}=\frac{4}{3}$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$\gcd(4,3)=1$</a:t>
                </a:r>
                <a:r>
                  <a:rPr sz="2400" b="0">
                    <a:solidFill>
                      <a:srgbClr val="111827"/>
                    </a:solidFill>
                    <a:latin typeface="Arial"/>
                  </a:rPr>
                  <a:t>, </a:t>
                </a:r>
                <a:r>
                  <a:rPr lang="en-IN" sz="2400">
                    <a:solidFill>
                      <a:srgbClr val="111827"/>
                    </a:solidFill>
                    <a:latin typeface="Cambria Math" panose="02040503050406030204" pitchFamily="18" charset="0"/>
                  </a:rPr>
                  <a:t>$3c=4d$</a:t>
                </a:r>
                <a:r>
                  <a:rPr sz="2400" b="0">
                    <a:solidFill>
                      <a:srgbClr val="111827"/>
                    </a:solidFill>
                    <a:latin typeface="Arial"/>
                  </a:rPr>
                  <a:t> forces </a:t>
                </a:r>
                <a:r>
                  <a:rPr lang="en-IN" sz="2400">
                    <a:solidFill>
                      <a:srgbClr val="111827"/>
                    </a:solidFill>
                    <a:latin typeface="Cambria Math" panose="02040503050406030204" pitchFamily="18" charset="0"/>
                  </a:rPr>
                  <a:t>$c=4k$</a:t>
                </a:r>
                <a:r>
                  <a:rPr sz="2400" b="0">
                    <a:solidFill>
                      <a:srgbClr val="111827"/>
                    </a:solidFill>
                    <a:latin typeface="Arial"/>
                  </a:rPr>
                  <a:t>, </a:t>
                </a:r>
                <a:r>
                  <a:rPr lang="en-IN" sz="2400">
                    <a:solidFill>
                      <a:srgbClr val="111827"/>
                    </a:solidFill>
                    <a:latin typeface="Cambria Math" panose="02040503050406030204" pitchFamily="18" charset="0"/>
                  </a:rPr>
                  <a:t>$d=3k$</a:t>
                </a:r>
                <a:r>
                  <a:rPr sz="2400" b="0">
                    <a:solidFill>
                      <a:srgbClr val="111827"/>
                    </a:solidFill>
                    <a:latin typeface="Arial"/>
                  </a:rPr>
                  <a:t> for a positive integer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entries must lie in </a:t>
                </a:r>
                <a:r>
                  <a:rPr lang="en-IN" sz="2400">
                    <a:solidFill>
                      <a:srgbClr val="111827"/>
                    </a:solidFill>
                    <a:latin typeface="Cambria Math" panose="02040503050406030204" pitchFamily="18" charset="0"/>
                  </a:rPr>
                  <a:t>$\{2,\dots,30\}$</a:t>
                </a:r>
                <a:r>
                  <a:rPr sz="2400" b="0">
                    <a:solidFill>
                      <a:srgbClr val="111827"/>
                    </a:solidFill>
                    <a:latin typeface="Arial"/>
                  </a:rPr>
                  <a:t>: </a:t>
                </a:r>
                <a:r>
                  <a:rPr lang="en-IN" sz="2400">
                    <a:solidFill>
                      <a:srgbClr val="111827"/>
                    </a:solidFill>
                    <a:latin typeface="Cambria Math" panose="02040503050406030204" pitchFamily="18" charset="0"/>
                  </a:rPr>
                  <a:t>$4k\le 30$</a:t>
                </a:r>
                <a:r>
                  <a:rPr sz="2400" b="0">
                    <a:solidFill>
                      <a:srgbClr val="111827"/>
                    </a:solidFill>
                    <a:latin typeface="Arial"/>
                  </a:rPr>
                  <a:t> gives </a:t>
                </a:r>
                <a:r>
                  <a:rPr lang="en-IN" sz="2400">
                    <a:solidFill>
                      <a:srgbClr val="111827"/>
                    </a:solidFill>
                    <a:latin typeface="Cambria Math" panose="02040503050406030204" pitchFamily="18" charset="0"/>
                  </a:rPr>
                  <a:t>$k\le 7$</a:t>
                </a:r>
                <a:r>
                  <a:rPr sz="2400" b="0">
                    <a:solidFill>
                      <a:srgbClr val="111827"/>
                    </a:solidFill>
                    <a:latin typeface="Arial"/>
                  </a:rPr>
                  <a:t> (and </a:t>
                </a:r>
                <a:r>
                  <a:rPr lang="en-IN" sz="2400">
                    <a:solidFill>
                      <a:srgbClr val="111827"/>
                    </a:solidFill>
                    <a:latin typeface="Cambria Math" panose="02040503050406030204" pitchFamily="18" charset="0"/>
                  </a:rPr>
                  <a:t>$3k\le 21$</a:t>
                </a:r>
                <a:r>
                  <a:rPr sz="2400" b="0">
                    <a:solidFill>
                      <a:srgbClr val="111827"/>
                    </a:solidFill>
                    <a:latin typeface="Arial"/>
                  </a:rPr>
                  <a:t> is fine).</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would give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itself is counted):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$\frac{4}{3}=\frac{8}{6}=\frac{12}{9}=\frac{16}{12}=\frac{20}{15}=\frac{24}{18}=\frac{28}{21}$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a:t>
                </a:r>
                <a:r>
                  <a:rPr lang="en-IN" sz="2400">
                    <a:solidFill>
                      <a:srgbClr val="111827"/>
                    </a:solidFill>
                    <a:latin typeface="Cambria Math" panose="02040503050406030204" pitchFamily="18" charset="0"/>
                  </a:rPr>
                  <a:t>$(4,3),(8,6),(12,9),(16,12),(20,15),(24,18),(28,21)$</a:t>
                </a:r>
                <a:r>
                  <a:rPr sz="2400" b="0">
                    <a:solidFill>
                      <a:srgbClr val="111827"/>
                    </a:solidFill>
                    <a:latin typeface="Arial"/>
                  </a:rPr>
                  <a:t>; </a:t>
                </a:r>
                <a:r>
                  <a:rPr lang="en-IN" sz="2400">
                    <a:solidFill>
                      <a:srgbClr val="111827"/>
                    </a:solidFill>
                    <a:latin typeface="Cambria Math" panose="02040503050406030204" pitchFamily="18" charset="0"/>
                  </a:rPr>
                  <a:t>$k=8$</a:t>
                </a:r>
                <a:r>
                  <a:rPr sz="2400" b="0">
                    <a:solidFill>
                      <a:srgbClr val="111827"/>
                    </a:solidFill>
                    <a:latin typeface="Arial"/>
                  </a:rPr>
                  <a:t> would give </a:t>
                </a:r>
                <a:r>
                  <a:rPr lang="en-IN" sz="2400">
                    <a:solidFill>
                      <a:srgbClr val="111827"/>
                    </a:solidFill>
                    <a:latin typeface="Cambria Math" panose="02040503050406030204" pitchFamily="18" charset="0"/>
                  </a:rPr>
                  <a:t>$32&gt;30$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$=7$</a:t>
                </a:r>
                <a:r>
                  <a:rPr sz="2400" b="0">
                    <a:solidFill>
                      <a:srgbClr val="111827"/>
                    </a:solidFill>
                    <a:latin typeface="Arial"/>
                  </a:rPr>
                  <a:t> (the pair </a:t>
                </a:r>
                <a:r>
                  <a:rPr lang="en-IN" sz="2400">
                    <a:solidFill>
                      <a:srgbClr val="111827"/>
                    </a:solidFill>
                    <a:latin typeface="Cambria Math" panose="02040503050406030204" pitchFamily="18" charset="0"/>
                  </a:rPr>
                  <a:t>$(4,3)$</a:t>
                </a:r>
                <a:r>
                  <a:rPr sz="2400" b="0">
                    <a:solidFill>
                      <a:srgbClr val="111827"/>
                    </a:solidFill>
                    <a:latin typeface="Arial"/>
                  </a:rPr>
                  <a:t> itself is counted):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7</a:t>
            </a:r>
            <a:endParaRPr sz="2800">
              <a:solidFill>
                <a:srgbClr val="15803D"/>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on pairs of non-zero numbers is an equivalence relation: it says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 i.e. two pairs are related when they give the same fraction. Classes are fractions in lowest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Class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(lowest terms)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count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count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pairs are always multiples of the reduced pair, so first reduce by the gcd, then count multiples within the bounds.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r>
                  <a:rPr lang="en-IN" sz="2400">
                    <a:solidFill>
                      <a:srgbClr val="111827"/>
                    </a:solidFill>
                    <a:latin typeface="Cambria Math" panose="02040503050406030204" pitchFamily="18" charset="0"/>
                  </a:rPr>
                  <a:t>$ad=bc$</a:t>
                </a:r>
                <a:r>
                  <a:rPr sz="2400" b="0">
                    <a:solidFill>
                      <a:srgbClr val="111827"/>
                    </a:solidFill>
                    <a:latin typeface="Arial"/>
                  </a:rPr>
                  <a:t> on pairs of non-zero numbers is an equivalence relation: it says </a:t>
                </a:r>
                <a:r>
                  <a:rPr lang="en-IN" sz="2400">
                    <a:solidFill>
                      <a:srgbClr val="111827"/>
                    </a:solidFill>
                    <a:latin typeface="Cambria Math" panose="02040503050406030204" pitchFamily="18" charset="0"/>
                  </a:rPr>
                  <a:t>$\frac{a}{b}=\frac{c}{d}$</a:t>
                </a:r>
                <a:r>
                  <a:rPr sz="2400" b="0">
                    <a:solidFill>
                      <a:srgbClr val="111827"/>
                    </a:solidFill>
                    <a:latin typeface="Arial"/>
                  </a:rPr>
                  <a:t>, i.e. two pairs are related when they give the same fraction. Classes are fractions in lowest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Class of </a:t>
                </a:r>
                <a:r>
                  <a:rPr lang="en-IN" sz="2400">
                    <a:solidFill>
                      <a:srgbClr val="111827"/>
                    </a:solidFill>
                    <a:latin typeface="Cambria Math" panose="02040503050406030204" pitchFamily="18" charset="0"/>
                  </a:rPr>
                  <a:t>$\frac{p}{q}$</a:t>
                </a:r>
                <a:r>
                  <a:rPr sz="2400" b="0">
                    <a:solidFill>
                      <a:srgbClr val="111827"/>
                    </a:solidFill>
                    <a:latin typeface="Arial"/>
                  </a:rPr>
                  <a:t> (lowest terms) in </a:t>
                </a:r>
                <a:r>
                  <a:rPr lang="en-IN" sz="2400">
                    <a:solidFill>
                      <a:srgbClr val="111827"/>
                    </a:solidFill>
                    <a:latin typeface="Cambria Math" panose="02040503050406030204" pitchFamily="18" charset="0"/>
                  </a:rPr>
                  <a:t>$\{2,\dots,n\}^2$</a:t>
                </a:r>
                <a:r>
                  <a:rPr sz="2400" b="0">
                    <a:solidFill>
                      <a:srgbClr val="111827"/>
                    </a:solidFill>
                    <a:latin typeface="Arial"/>
                  </a:rPr>
                  <a:t>: the pairs </a:t>
                </a:r>
                <a:r>
                  <a:rPr lang="en-IN" sz="2400">
                    <a:solidFill>
                      <a:srgbClr val="111827"/>
                    </a:solidFill>
                    <a:latin typeface="Cambria Math" panose="02040503050406030204" pitchFamily="18" charset="0"/>
                  </a:rPr>
                  <a:t>$(pk,qk)$</a:t>
                </a:r>
                <a:r>
                  <a:rPr sz="2400" b="0">
                    <a:solidFill>
                      <a:srgbClr val="111827"/>
                    </a:solidFill>
                    <a:latin typeface="Arial"/>
                  </a:rPr>
                  <a:t>. If </a:t>
                </a:r>
                <a:r>
                  <a:rPr lang="en-IN" sz="2400">
                    <a:solidFill>
                      <a:srgbClr val="111827"/>
                    </a:solidFill>
                    <a:latin typeface="Cambria Math" panose="02040503050406030204" pitchFamily="18" charset="0"/>
                  </a:rPr>
                  <a:t>$p,q\ge 2$</a:t>
                </a:r>
                <a:r>
                  <a:rPr sz="2400" b="0">
                    <a:solidFill>
                      <a:srgbClr val="111827"/>
                    </a:solidFill>
                    <a:latin typeface="Arial"/>
                  </a:rPr>
                  <a:t> the count is </a:t>
                </a:r>
                <a:r>
                  <a:rPr lang="en-IN" sz="2400">
                    <a:solidFill>
                      <a:srgbClr val="111827"/>
                    </a:solidFill>
                    <a:latin typeface="Cambria Math" panose="02040503050406030204" pitchFamily="18" charset="0"/>
                  </a:rPr>
                  <a:t>$\lfloor n/\max(p,q)\rfloor$</a:t>
                </a:r>
                <a:r>
                  <a:rPr sz="2400" b="0">
                    <a:solidFill>
                      <a:srgbClr val="111827"/>
                    </a:solidFill>
                    <a:latin typeface="Arial"/>
                  </a:rPr>
                  <a:t>; if </a:t>
                </a:r>
                <a:r>
                  <a:rPr lang="en-IN" sz="2400">
                    <a:solidFill>
                      <a:srgbClr val="111827"/>
                    </a:solidFill>
                    <a:latin typeface="Cambria Math" panose="02040503050406030204" pitchFamily="18" charset="0"/>
                  </a:rPr>
                  <a:t>$\min(p,q)=1$</a:t>
                </a:r>
                <a:r>
                  <a:rPr sz="2400" b="0">
                    <a:solidFill>
                      <a:srgbClr val="111827"/>
                    </a:solidFill>
                    <a:latin typeface="Arial"/>
                  </a:rPr>
                  <a:t> then </a:t>
                </a:r>
                <a:r>
                  <a:rPr lang="en-IN" sz="2400">
                    <a:solidFill>
                      <a:srgbClr val="111827"/>
                    </a:solidFill>
                    <a:latin typeface="Cambria Math" panose="02040503050406030204" pitchFamily="18" charset="0"/>
                  </a:rPr>
                  <a:t>$k\ge 2$</a:t>
                </a:r>
                <a:r>
                  <a:rPr sz="2400" b="0">
                    <a:solidFill>
                      <a:srgbClr val="111827"/>
                    </a:solidFill>
                    <a:latin typeface="Arial"/>
                  </a:rPr>
                  <a:t> and the count is </a:t>
                </a:r>
                <a:r>
                  <a:rPr lang="en-IN" sz="2400">
                    <a:solidFill>
                      <a:srgbClr val="111827"/>
                    </a:solidFill>
                    <a:latin typeface="Cambria Math" panose="02040503050406030204" pitchFamily="18" charset="0"/>
                  </a:rPr>
                  <a:t>$\lfloor n/\max(p,q)\rfloor-1$</a:t>
                </a:r>
                <a:r>
                  <a:rPr sz="2400" b="0">
                    <a:solidFill>
                      <a:srgbClr val="111827"/>
                    </a:solidFill>
                    <a:latin typeface="Arial"/>
                  </a:rPr>
                  <a:t>. Check, </a:t>
                </a:r>
                <a:r>
                  <a:rPr lang="en-IN" sz="2400">
                    <a:solidFill>
                      <a:srgbClr val="111827"/>
                    </a:solidFill>
                    <a:latin typeface="Cambria Math" panose="02040503050406030204" pitchFamily="18" charset="0"/>
                  </a:rPr>
                  <a:t>$n=30$</a:t>
                </a:r>
                <a:r>
                  <a:rPr sz="2400" b="0">
                    <a:solidFill>
                      <a:srgbClr val="111827"/>
                    </a:solidFill>
                    <a:latin typeface="Arial"/>
                  </a:rPr>
                  <a:t>: </a:t>
                </a:r>
                <a:r>
                  <a:rPr lang="en-IN" sz="2400">
                    <a:solidFill>
                      <a:srgbClr val="111827"/>
                    </a:solidFill>
                    <a:latin typeface="Cambria Math" panose="02040503050406030204" pitchFamily="18" charset="0"/>
                  </a:rPr>
                  <a:t>$\frac{4}{3}$</a:t>
                </a:r>
                <a:r>
                  <a:rPr sz="2400" b="0">
                    <a:solidFill>
                      <a:srgbClr val="111827"/>
                    </a:solidFill>
                    <a:latin typeface="Arial"/>
                  </a:rPr>
                  <a:t> gives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$\frac{1}{2}$</a:t>
                </a:r>
                <a:r>
                  <a:rPr sz="2400" b="0">
                    <a:solidFill>
                      <a:srgbClr val="111827"/>
                    </a:solidFill>
                    <a:latin typeface="Arial"/>
                  </a:rPr>
                  <a:t> gives </a:t>
                </a:r>
                <a:r>
                  <a:rPr lang="en-IN" sz="2400">
                    <a:solidFill>
                      <a:srgbClr val="111827"/>
                    </a:solidFill>
                    <a:latin typeface="Cambria Math" panose="02040503050406030204" pitchFamily="18" charset="0"/>
                  </a:rPr>
                  <a:t>$14$</a:t>
                </a:r>
                <a:r>
                  <a:rPr sz="2400" b="0">
                    <a:solidFill>
                      <a:srgbClr val="111827"/>
                    </a:solidFill>
                    <a:latin typeface="Arial"/>
                  </a:rPr>
                  <a:t>, </a:t>
                </a:r>
                <a:r>
                  <a:rPr lang="en-IN" sz="2400">
                    <a:solidFill>
                      <a:srgbClr val="111827"/>
                    </a:solidFill>
                    <a:latin typeface="Cambria Math" panose="02040503050406030204" pitchFamily="18" charset="0"/>
                  </a:rPr>
                  <a:t>$\frac{1}{1}$</a:t>
                </a:r>
                <a:r>
                  <a:rPr sz="2400" b="0">
                    <a:solidFill>
                      <a:srgbClr val="111827"/>
                    </a:solidFill>
                    <a:latin typeface="Arial"/>
                  </a:rPr>
                  <a:t> gives </a:t>
                </a:r>
                <a:r>
                  <a:rPr lang="en-IN" sz="2400">
                    <a:solidFill>
                      <a:srgbClr val="111827"/>
                    </a:solidFill>
                    <a:latin typeface="Cambria Math" panose="02040503050406030204" pitchFamily="18" charset="0"/>
                  </a:rPr>
                  <a: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pairs are always multiples of the reduced pair, so first reduce by the gcd, then count multiples within the bounds.</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$\{x\in\mathbb{R}: (|x|-3)|x+4|=6\}$</a:t>
                </a:r>
                <a:r>
                  <a:rPr sz="2400" b="0">
                    <a:solidFill>
                      <a:srgbClr val="111827"/>
                    </a:solidFill>
                    <a:latin typeface="Arial"/>
                  </a:rPr>
                  <a:t> is equal to: [JEE(Main)Mar.2021]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$3$</a:t>
                </a:r>
                <a:r>
                  <a:rPr sz="2400" b="0">
                    <a:solidFill>
                      <a:srgbClr val="111827"/>
                    </a:solidFill>
                    <a:latin typeface="Arial"/>
                  </a:rPr>
                  <a:t>   (D) </a:t>
                </a:r>
                <a:r>
                  <a:rPr lang="en-IN" sz="2400">
                    <a:solidFill>
                      <a:srgbClr val="111827"/>
                    </a:solidFill>
                    <a:latin typeface="Cambria Math" panose="02040503050406030204" pitchFamily="18" charset="0"/>
                  </a:rPr>
                  <a:t>$4$</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Equations with modulus (case analysis)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into three intervals, solve each quadratic and discard roots that fall outside their interval.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r>
                  <a:rPr lang="en-IN" sz="2400">
                    <a:solidFill>
                      <a:srgbClr val="78350F"/>
                    </a:solidFill>
                    <a:latin typeface="Cambria Math" panose="02040503050406030204" pitchFamily="18" charset="0"/>
                  </a:rPr>
                  <a:t>$x=0$</a:t>
                </a:r>
                <a:r>
                  <a:rPr sz="2400" b="0">
                    <a:solidFill>
                      <a:srgbClr val="78350F"/>
                    </a:solidFill>
                    <a:latin typeface="Arial"/>
                  </a:rPr>
                  <a:t> and </a:t>
                </a:r>
                <a:r>
                  <a:rPr lang="en-IN" sz="2400">
                    <a:solidFill>
                      <a:srgbClr val="78350F"/>
                    </a:solidFill>
                    <a:latin typeface="Cambria Math" panose="02040503050406030204" pitchFamily="18" charset="0"/>
                  </a:rPr>
                  <a:t>$x=-4$</a:t>
                </a:r>
                <a:r>
                  <a:rPr sz="2400" b="0">
                    <a:solidFill>
                      <a:srgbClr val="78350F"/>
                    </a:solidFill>
                    <a:latin typeface="Arial"/>
                  </a:rPr>
                  <a:t> into three intervals, solve each quadratic and discard roots that fall outside their interval.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moduli change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take three cases: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3.77</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accepted (one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no real root.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moduli change at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$x=-4$</a:t>
                </a:r>
                <a:r>
                  <a:rPr sz="2400" b="0">
                    <a:solidFill>
                      <a:srgbClr val="111827"/>
                    </a:solidFill>
                    <a:latin typeface="Arial"/>
                  </a:rPr>
                  <a:t>, so take three cases: </a:t>
                </a:r>
                <a:r>
                  <a:rPr lang="en-IN" sz="2400">
                    <a:solidFill>
                      <a:srgbClr val="111827"/>
                    </a:solidFill>
                    <a:latin typeface="Cambria Math" panose="02040503050406030204" pitchFamily="18" charset="0"/>
                  </a:rPr>
                  <a:t>$x\ge 0$</a:t>
                </a:r>
                <a:r>
                  <a:rPr sz="2400" b="0">
                    <a:solidFill>
                      <a:srgbClr val="111827"/>
                    </a:solidFill>
                    <a:latin typeface="Arial"/>
                  </a:rPr>
                  <a:t>, </a:t>
                </a:r>
                <a:r>
                  <a:rPr lang="en-IN" sz="2400">
                    <a:solidFill>
                      <a:srgbClr val="111827"/>
                    </a:solidFill>
                    <a:latin typeface="Cambria Math" panose="02040503050406030204" pitchFamily="18" charset="0"/>
                  </a:rPr>
                  <a:t>$-4\le x&lt;0$</a:t>
                </a:r>
                <a:r>
                  <a:rPr sz="2400" b="0">
                    <a:solidFill>
                      <a:srgbClr val="111827"/>
                    </a:solidFill>
                    <a:latin typeface="Arial"/>
                  </a:rPr>
                  <a:t>, </a:t>
                </a:r>
                <a:r>
                  <a:rPr lang="en-IN" sz="2400">
                    <a:solidFill>
                      <a:srgbClr val="111827"/>
                    </a:solidFill>
                    <a:latin typeface="Cambria Math" panose="02040503050406030204" pitchFamily="18" charset="0"/>
                  </a:rPr>
                  <a:t>$x&lt;-4$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r>
                  <a:rPr lang="en-IN" sz="2400">
                    <a:solidFill>
                      <a:srgbClr val="111827"/>
                    </a:solidFill>
                    <a:latin typeface="Cambria Math" panose="02040503050406030204" pitchFamily="18" charset="0"/>
                  </a:rPr>
                  <a:t>$x\ge 0$</a:t>
                </a:r>
                <a:r>
                  <a:rPr sz="2400" b="0">
                    <a:solidFill>
                      <a:srgbClr val="111827"/>
                    </a:solidFill>
                    <a:latin typeface="Arial"/>
                  </a:rPr>
                  <a:t>: </a:t>
                </a:r>
                <a:r>
                  <a:rPr lang="en-IN" sz="2400">
                    <a:solidFill>
                      <a:srgbClr val="111827"/>
                    </a:solidFill>
                    <a:latin typeface="Cambria Math" panose="02040503050406030204" pitchFamily="18" charset="0"/>
                  </a:rPr>
                  <a:t>$(x-3)(x+4)=6$</a:t>
                </a:r>
                <a:r>
                  <a:rPr sz="2400" b="0">
                    <a:solidFill>
                      <a:srgbClr val="111827"/>
                    </a:solidFill>
                    <a:latin typeface="Arial"/>
                  </a:rPr>
                  <a:t>, so </a:t>
                </a:r>
                <a:r>
                  <a:rPr lang="en-IN" sz="2400">
                    <a:solidFill>
                      <a:srgbClr val="111827"/>
                    </a:solidFill>
                    <a:latin typeface="Cambria Math" panose="02040503050406030204" pitchFamily="18" charset="0"/>
                  </a:rPr>
                  <a:t>$x^2+x-12=6$</a:t>
                </a:r>
                <a:r>
                  <a:rPr sz="2400" b="0">
                    <a:solidFill>
                      <a:srgbClr val="111827"/>
                    </a:solidFill>
                    <a:latin typeface="Arial"/>
                  </a:rPr>
                  <a:t>, i.e. </a:t>
                </a:r>
                <a:r>
                  <a:rPr lang="en-IN" sz="2400">
                    <a:solidFill>
                      <a:srgbClr val="111827"/>
                    </a:solidFill>
                    <a:latin typeface="Cambria Math" panose="02040503050406030204" pitchFamily="18" charset="0"/>
                  </a:rPr>
                  <a:t>$x^2+x-18=0$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$x=\frac{-1\pm\sqrt{73}}{2}$</a:t>
                </a:r>
                <a:r>
                  <a:rPr sz="2400" b="0">
                    <a:solidFill>
                      <a:srgbClr val="111827"/>
                    </a:solidFill>
                    <a:latin typeface="Arial"/>
                  </a:rPr>
                  <a:t>; only </a:t>
                </a:r>
                <a:r>
                  <a:rPr lang="en-IN" sz="2400">
                    <a:solidFill>
                      <a:srgbClr val="111827"/>
                    </a:solidFill>
                    <a:latin typeface="Cambria Math" panose="02040503050406030204" pitchFamily="18" charset="0"/>
                  </a:rPr>
                  <a:t>$x=\frac{-1+\sqrt{73}}{2}\approx 3.77&gt;0$</a:t>
                </a:r>
                <a:r>
                  <a:rPr sz="2400" b="0">
                    <a:solidFill>
                      <a:srgbClr val="111827"/>
                    </a:solidFill>
                    <a:latin typeface="Arial"/>
                  </a:rPr>
                  <a:t> is accepted (one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$-4\le x&lt;0$</a:t>
                </a:r>
                <a:r>
                  <a:rPr sz="2400" b="0">
                    <a:solidFill>
                      <a:srgbClr val="111827"/>
                    </a:solidFill>
                    <a:latin typeface="Arial"/>
                  </a:rPr>
                  <a:t>: </a:t>
                </a:r>
                <a:r>
                  <a:rPr lang="en-IN" sz="2400">
                    <a:solidFill>
                      <a:srgbClr val="111827"/>
                    </a:solidFill>
                    <a:latin typeface="Cambria Math" panose="02040503050406030204" pitchFamily="18" charset="0"/>
                  </a:rPr>
                  <a:t>$|x|=-x$</a:t>
                </a:r>
                <a:r>
                  <a:rPr sz="2400" b="0">
                    <a:solidFill>
                      <a:srgbClr val="111827"/>
                    </a:solidFill>
                    <a:latin typeface="Arial"/>
                  </a:rPr>
                  <a:t>, </a:t>
                </a:r>
                <a:r>
                  <a:rPr lang="en-IN" sz="2400">
                    <a:solidFill>
                      <a:srgbClr val="111827"/>
                    </a:solidFill>
                    <a:latin typeface="Cambria Math" panose="02040503050406030204" pitchFamily="18" charset="0"/>
                  </a:rPr>
                  <a:t>$|x+4|=x+4$</a:t>
                </a:r>
                <a:r>
                  <a:rPr sz="2400" b="0">
                    <a:solidFill>
                      <a:srgbClr val="111827"/>
                    </a:solidFill>
                    <a:latin typeface="Arial"/>
                  </a:rPr>
                  <a:t>, so </a:t>
                </a:r>
                <a:r>
                  <a:rPr lang="en-IN" sz="2400">
                    <a:solidFill>
                      <a:srgbClr val="111827"/>
                    </a:solidFill>
                    <a:latin typeface="Cambria Math" panose="02040503050406030204" pitchFamily="18" charset="0"/>
                  </a:rPr>
                  <a:t>$(-x-3)(x+4)=6$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$x^2+7x+12=-6$</a:t>
                </a:r>
                <a:r>
                  <a:rPr sz="2400" b="0">
                    <a:solidFill>
                      <a:srgbClr val="111827"/>
                    </a:solidFill>
                    <a:latin typeface="Arial"/>
                  </a:rPr>
                  <a:t>, i.e. </a:t>
                </a:r>
                <a:r>
                  <a:rPr lang="en-IN" sz="2400">
                    <a:solidFill>
                      <a:srgbClr val="111827"/>
                    </a:solidFill>
                    <a:latin typeface="Cambria Math" panose="02040503050406030204" pitchFamily="18" charset="0"/>
                  </a:rPr>
                  <a:t>$x^2+7x+18=0$</a:t>
                </a:r>
                <a:r>
                  <a:rPr sz="2400" b="0">
                    <a:solidFill>
                      <a:srgbClr val="111827"/>
                    </a:solidFill>
                    <a:latin typeface="Arial"/>
                  </a:rPr>
                  <a:t>, with </a:t>
                </a:r>
                <a:r>
                  <a:rPr lang="en-IN" sz="2400">
                    <a:solidFill>
                      <a:srgbClr val="111827"/>
                    </a:solidFill>
                    <a:latin typeface="Cambria Math" panose="02040503050406030204" pitchFamily="18" charset="0"/>
                  </a:rPr>
                  <a:t>$D=49-72&lt;0$</a:t>
                </a:r>
                <a:r>
                  <a:rPr sz="2400" b="0">
                    <a:solidFill>
                      <a:srgbClr val="111827"/>
                    </a:solidFill>
                    <a:latin typeface="Arial"/>
                  </a:rPr>
                  <a:t>: no real root.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not less than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it is rejected;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solutions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exactly 2 elements,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r>
                  <a:rPr lang="en-IN" sz="2400">
                    <a:solidFill>
                      <a:srgbClr val="111827"/>
                    </a:solidFill>
                    <a:latin typeface="Cambria Math" panose="02040503050406030204" pitchFamily="18" charset="0"/>
                  </a:rPr>
                  <a:t>$x&lt;-4$</a:t>
                </a:r>
                <a:r>
                  <a:rPr sz="2400" b="0">
                    <a:solidFill>
                      <a:srgbClr val="111827"/>
                    </a:solidFill>
                    <a:latin typeface="Arial"/>
                  </a:rPr>
                  <a:t>: </a:t>
                </a:r>
                <a:r>
                  <a:rPr lang="en-IN" sz="2400">
                    <a:solidFill>
                      <a:srgbClr val="111827"/>
                    </a:solidFill>
                    <a:latin typeface="Cambria Math" panose="02040503050406030204" pitchFamily="18" charset="0"/>
                  </a:rPr>
                  <a:t>$|x|=-x$</a:t>
                </a:r>
                <a:r>
                  <a:rPr sz="2400" b="0">
                    <a:solidFill>
                      <a:srgbClr val="111827"/>
                    </a:solidFill>
                    <a:latin typeface="Arial"/>
                  </a:rPr>
                  <a:t>, </a:t>
                </a:r>
                <a:r>
                  <a:rPr lang="en-IN" sz="2400">
                    <a:solidFill>
                      <a:srgbClr val="111827"/>
                    </a:solidFill>
                    <a:latin typeface="Cambria Math" panose="02040503050406030204" pitchFamily="18" charset="0"/>
                  </a:rPr>
                  <a:t>$|x+4|=-(x+4)$</a:t>
                </a:r>
                <a:r>
                  <a:rPr sz="2400" b="0">
                    <a:solidFill>
                      <a:srgbClr val="111827"/>
                    </a:solidFill>
                    <a:latin typeface="Arial"/>
                  </a:rPr>
                  <a:t>, so </a:t>
                </a:r>
                <a:r>
                  <a:rPr lang="en-IN" sz="2400">
                    <a:solidFill>
                      <a:srgbClr val="111827"/>
                    </a:solidFill>
                    <a:latin typeface="Cambria Math" panose="02040503050406030204" pitchFamily="18" charset="0"/>
                  </a:rPr>
                  <a:t>$(-x-3)(-x-4)=6$</a:t>
                </a:r>
                <a:r>
                  <a:rPr sz="2400" b="0">
                    <a:solidFill>
                      <a:srgbClr val="111827"/>
                    </a:solidFill>
                    <a:latin typeface="Arial"/>
                  </a:rPr>
                  <a:t>, i.e. </a:t>
                </a:r>
                <a:r>
                  <a:rPr lang="en-IN" sz="2400">
                    <a:solidFill>
                      <a:srgbClr val="111827"/>
                    </a:solidFill>
                    <a:latin typeface="Cambria Math" panose="02040503050406030204" pitchFamily="18" charset="0"/>
                  </a:rPr>
                  <a:t>$x^2+7x+12=6$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$x^2+7x+6=0$</a:t>
                </a:r>
                <a:r>
                  <a:rPr sz="2400" b="0">
                    <a:solidFill>
                      <a:srgbClr val="111827"/>
                    </a:solidFill>
                    <a:latin typeface="Arial"/>
                  </a:rPr>
                  <a:t> gives </a:t>
                </a:r>
                <a:r>
                  <a:rPr lang="en-IN" sz="2400">
                    <a:solidFill>
                      <a:srgbClr val="111827"/>
                    </a:solidFill>
                    <a:latin typeface="Cambria Math" panose="02040503050406030204" pitchFamily="18" charset="0"/>
                  </a:rPr>
                  <a:t>$(x+1)(x+6)=0$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or </a:t>
                </a:r>
                <a:r>
                  <a:rPr lang="en-IN" sz="2400">
                    <a:solidFill>
                      <a:srgbClr val="111827"/>
                    </a:solidFill>
                    <a:latin typeface="Cambria Math" panose="02040503050406030204" pitchFamily="18" charset="0"/>
                  </a:rPr>
                  <a:t>$x=-6$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a:t>
                </a:r>
                <a:r>
                  <a:rPr sz="2400" b="0">
                    <a:solidFill>
                      <a:srgbClr val="111827"/>
                    </a:solidFill>
                    <a:latin typeface="Arial"/>
                  </a:rPr>
                  <a:t> is not less than </a:t>
                </a:r>
                <a:r>
                  <a:rPr lang="en-IN" sz="2400">
                    <a:solidFill>
                      <a:srgbClr val="111827"/>
                    </a:solidFill>
                    <a:latin typeface="Cambria Math" panose="02040503050406030204" pitchFamily="18" charset="0"/>
                  </a:rPr>
                  <a:t>$-4$</a:t>
                </a:r>
                <a:r>
                  <a:rPr sz="2400" b="0">
                    <a:solidFill>
                      <a:srgbClr val="111827"/>
                    </a:solidFill>
                    <a:latin typeface="Arial"/>
                  </a:rPr>
                  <a:t>, so it is rejected; </a:t>
                </a:r>
                <a:r>
                  <a:rPr lang="en-IN" sz="2400">
                    <a:solidFill>
                      <a:srgbClr val="111827"/>
                    </a:solidFill>
                    <a:latin typeface="Cambria Math" panose="02040503050406030204" pitchFamily="18" charset="0"/>
                  </a:rPr>
                  <a:t>$x=-6$</a:t>
                </a:r>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$x=-6$</a:t>
                </a:r>
                <a:r>
                  <a:rPr sz="2400" b="0">
                    <a:solidFill>
                      <a:srgbClr val="111827"/>
                    </a:solidFill>
                    <a:latin typeface="Arial"/>
                  </a:rPr>
                  <a:t>: </a:t>
                </a:r>
                <a:r>
                  <a:rPr lang="en-IN" sz="2400">
                    <a:solidFill>
                      <a:srgbClr val="111827"/>
                    </a:solidFill>
                    <a:latin typeface="Cambria Math" panose="02040503050406030204" pitchFamily="18" charset="0"/>
                  </a:rPr>
                  <a:t>$(6-3)\,|{-2}|=6$</a:t>
                </a:r>
                <a:r>
                  <a:rPr sz="2400" b="0">
                    <a:solidFill>
                      <a:srgbClr val="111827"/>
                    </a:solidFill>
                    <a:latin typeface="Arial"/>
                  </a:rPr>
                  <a:t>. The solutions are </a:t>
                </a:r>
                <a:r>
                  <a:rPr lang="en-IN" sz="2400">
                    <a:solidFill>
                      <a:srgbClr val="111827"/>
                    </a:solidFill>
                    <a:latin typeface="Cambria Math" panose="02040503050406030204" pitchFamily="18" charset="0"/>
                  </a:rPr>
                  <a:t>$\frac{-1+\sqrt{73}}{2}$</a:t>
                </a:r>
                <a:r>
                  <a:rPr sz="2400" b="0">
                    <a:solidFill>
                      <a:srgbClr val="111827"/>
                    </a:solidFill>
                    <a:latin typeface="Arial"/>
                  </a:rPr>
                  <a:t> and </a:t>
                </a:r>
                <a:r>
                  <a:rPr lang="en-IN" sz="2400">
                    <a:solidFill>
                      <a:srgbClr val="111827"/>
                    </a:solidFill>
                    <a:latin typeface="Cambria Math" panose="02040503050406030204" pitchFamily="18" charset="0"/>
                  </a:rPr>
                  <a:t>$-6$</a:t>
                </a:r>
                <a:r>
                  <a:rPr sz="2400" b="0">
                    <a:solidFill>
                      <a:srgbClr val="111827"/>
                    </a:solidFill>
                    <a:latin typeface="Arial"/>
                  </a:rPr>
                  <a:t>: exactly 2 elements,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intersections of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from the range of each piece, without solving.</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intersections of </a:t>
                </a:r>
                <a:r>
                  <a:rPr lang="en-IN" sz="2400">
                    <a:solidFill>
                      <a:srgbClr val="78350F"/>
                    </a:solidFill>
                    <a:latin typeface="Cambria Math" panose="02040503050406030204" pitchFamily="18" charset="0"/>
                  </a:rPr>
                  <a:t>$y=(|x|-3)|x+4|$</a:t>
                </a:r>
                <a:r>
                  <a:rPr sz="2400" b="0">
                    <a:solidFill>
                      <a:srgbClr val="78350F"/>
                    </a:solidFill>
                    <a:latin typeface="Arial"/>
                  </a:rPr>
                  <a:t> with </a:t>
                </a:r>
                <a:r>
                  <a:rPr lang="en-IN" sz="2400">
                    <a:solidFill>
                      <a:srgbClr val="78350F"/>
                    </a:solidFill>
                    <a:latin typeface="Cambria Math" panose="02040503050406030204" pitchFamily="18" charset="0"/>
                  </a:rPr>
                  <a:t>$y=6$</a:t>
                </a:r>
                <a:r>
                  <a:rPr sz="2400" b="0">
                    <a:solidFill>
                      <a:srgbClr val="78350F"/>
                    </a:solidFill>
                    <a:latin typeface="Arial"/>
                  </a:rPr>
                  <a:t> from the range of each piece, without solving.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(vertex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meets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 downward parabola with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value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6</m:t>
                    </m:r>
                  </m:oMath>
                </a14:m>
                <a:r>
                  <a:rPr sz="2400" b="0">
                    <a:solidFill>
                      <a:srgbClr val="111827"/>
                    </a:solidFill>
                    <a:latin typeface="Arial"/>
                  </a:rPr>
                  <a:t>: no intersection.</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$f(x)=(|x|-3)|x+4|$</a:t>
                </a:r>
                <a:r>
                  <a:rPr sz="2400" b="0">
                    <a:solidFill>
                      <a:srgbClr val="111827"/>
                    </a:solidFill>
                    <a:latin typeface="Arial"/>
                  </a:rPr>
                  <a:t>. For </a:t>
                </a:r>
                <a:r>
                  <a:rPr lang="en-IN" sz="2400">
                    <a:solidFill>
                      <a:srgbClr val="111827"/>
                    </a:solidFill>
                    <a:latin typeface="Cambria Math" panose="02040503050406030204" pitchFamily="18" charset="0"/>
                  </a:rPr>
                  <a:t>$x\ge 0$</a:t>
                </a:r>
                <a:r>
                  <a:rPr sz="2400" b="0">
                    <a:solidFill>
                      <a:srgbClr val="111827"/>
                    </a:solidFill>
                    <a:latin typeface="Arial"/>
                  </a:rPr>
                  <a:t>: </a:t>
                </a:r>
                <a:r>
                  <a:rPr lang="en-IN" sz="2400">
                    <a:solidFill>
                      <a:srgbClr val="111827"/>
                    </a:solidFill>
                    <a:latin typeface="Cambria Math" panose="02040503050406030204" pitchFamily="18" charset="0"/>
                  </a:rPr>
                  <a:t>$f=x^2+x-12$</a:t>
                </a:r>
                <a:r>
                  <a:rPr sz="2400" b="0">
                    <a:solidFill>
                      <a:srgbClr val="111827"/>
                    </a:solidFill>
                    <a:latin typeface="Arial"/>
                  </a:rPr>
                  <a:t>, increasing on </a:t>
                </a:r>
                <a:r>
                  <a:rPr lang="en-IN" sz="2400">
                    <a:solidFill>
                      <a:srgbClr val="111827"/>
                    </a:solidFill>
                    <a:latin typeface="Cambria Math" panose="02040503050406030204" pitchFamily="18" charset="0"/>
                  </a:rPr>
                  <a:t>$[0,\infty)$</a:t>
                </a:r>
                <a:r>
                  <a:rPr sz="2400" b="0">
                    <a:solidFill>
                      <a:srgbClr val="111827"/>
                    </a:solidFill>
                    <a:latin typeface="Arial"/>
                  </a:rPr>
                  <a:t> (vertex at </a:t>
                </a:r>
                <a:r>
                  <a:rPr lang="en-IN" sz="2400">
                    <a:solidFill>
                      <a:srgbClr val="111827"/>
                    </a:solidFill>
                    <a:latin typeface="Cambria Math" panose="02040503050406030204" pitchFamily="18" charset="0"/>
                  </a:rPr>
                  <a:t>$-\frac12$</a:t>
                </a:r>
                <a:r>
                  <a:rPr sz="2400" b="0">
                    <a:solidFill>
                      <a:srgbClr val="111827"/>
                    </a:solidFill>
                    <a:latin typeface="Arial"/>
                  </a:rPr>
                  <a:t>), from </a:t>
                </a:r>
                <a:r>
                  <a:rPr lang="en-IN" sz="2400">
                    <a:solidFill>
                      <a:srgbClr val="111827"/>
                    </a:solidFill>
                    <a:latin typeface="Cambria Math" panose="02040503050406030204" pitchFamily="18" charset="0"/>
                  </a:rPr>
                  <a:t>$f(0)=-12$</a:t>
                </a:r>
                <a:r>
                  <a:rPr sz="2400" b="0">
                    <a:solidFill>
                      <a:srgbClr val="111827"/>
                    </a:solidFill>
                    <a:latin typeface="Arial"/>
                  </a:rPr>
                  <a:t> to </a:t>
                </a:r>
                <a:r>
                  <a:rPr lang="en-IN" sz="2400">
                    <a:solidFill>
                      <a:srgbClr val="111827"/>
                    </a:solidFill>
                    <a:latin typeface="Cambria Math" panose="02040503050406030204" pitchFamily="18" charset="0"/>
                  </a:rPr>
                  <a:t>$\infty$</a:t>
                </a:r>
                <a:r>
                  <a:rPr sz="2400" b="0">
                    <a:solidFill>
                      <a:srgbClr val="111827"/>
                    </a:solidFill>
                    <a:latin typeface="Arial"/>
                  </a:rPr>
                  <a:t>: it meets </a:t>
                </a:r>
                <a:r>
                  <a:rPr lang="en-IN" sz="2400">
                    <a:solidFill>
                      <a:srgbClr val="111827"/>
                    </a:solidFill>
                    <a:latin typeface="Cambria Math" panose="02040503050406030204" pitchFamily="18" charset="0"/>
                  </a:rPr>
                  <a:t>$y=6$</a:t>
                </a:r>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$-4\le x&lt;0$</a:t>
                </a:r>
                <a:r>
                  <a:rPr sz="2400" b="0">
                    <a:solidFill>
                      <a:srgbClr val="111827"/>
                    </a:solidFill>
                    <a:latin typeface="Arial"/>
                  </a:rPr>
                  <a:t>: </a:t>
                </a:r>
                <a:r>
                  <a:rPr lang="en-IN" sz="2400">
                    <a:solidFill>
                      <a:srgbClr val="111827"/>
                    </a:solidFill>
                    <a:latin typeface="Cambria Math" panose="02040503050406030204" pitchFamily="18" charset="0"/>
                  </a:rPr>
                  <a:t>$f=-(x+3)(x+4)=-x^2-7x-12$</a:t>
                </a:r>
                <a:r>
                  <a:rPr sz="2400" b="0">
                    <a:solidFill>
                      <a:srgbClr val="111827"/>
                    </a:solidFill>
                    <a:latin typeface="Arial"/>
                  </a:rPr>
                  <a:t>, a downward parabola with maximum at </a:t>
                </a:r>
                <a:r>
                  <a:rPr lang="en-IN" sz="2400">
                    <a:solidFill>
                      <a:srgbClr val="111827"/>
                    </a:solidFill>
                    <a:latin typeface="Cambria Math" panose="02040503050406030204" pitchFamily="18" charset="0"/>
                  </a:rPr>
                  <a:t>$x=-\frac72$</a:t>
                </a:r>
                <a:r>
                  <a:rPr sz="2400" b="0">
                    <a:solidFill>
                      <a:srgbClr val="111827"/>
                    </a:solidFill>
                    <a:latin typeface="Arial"/>
                  </a:rPr>
                  <a:t>, value </a:t>
                </a:r>
                <a:r>
                  <a:rPr lang="en-IN" sz="2400">
                    <a:solidFill>
                      <a:srgbClr val="111827"/>
                    </a:solidFill>
                    <a:latin typeface="Cambria Math" panose="02040503050406030204" pitchFamily="18" charset="0"/>
                  </a:rPr>
                  <a:t>$\frac14&lt;6$</a:t>
                </a:r>
                <a:r>
                  <a:rPr sz="2400" b="0">
                    <a:solidFill>
                      <a:srgbClr val="111827"/>
                    </a:solidFill>
                    <a:latin typeface="Arial"/>
                  </a:rPr>
                  <a:t>: no intersection.</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which is decreasing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increases from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one intersection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solutions: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$x&lt;-4$</a:t>
                </a:r>
                <a:r>
                  <a:rPr sz="2400" b="0">
                    <a:solidFill>
                      <a:srgbClr val="111827"/>
                    </a:solidFill>
                    <a:latin typeface="Arial"/>
                  </a:rPr>
                  <a:t>: </a:t>
                </a:r>
                <a:r>
                  <a:rPr lang="en-IN" sz="2400">
                    <a:solidFill>
                      <a:srgbClr val="111827"/>
                    </a:solidFill>
                    <a:latin typeface="Cambria Math" panose="02040503050406030204" pitchFamily="18" charset="0"/>
                  </a:rPr>
                  <a:t>$f=(x+3)(x+4)=x^2+7x+12$</a:t>
                </a:r>
                <a:r>
                  <a:rPr sz="2400" b="0">
                    <a:solidFill>
                      <a:srgbClr val="111827"/>
                    </a:solidFill>
                    <a:latin typeface="Arial"/>
                  </a:rPr>
                  <a:t>, which is decreasing for </a:t>
                </a:r>
                <a:r>
                  <a:rPr lang="en-IN" sz="2400">
                    <a:solidFill>
                      <a:srgbClr val="111827"/>
                    </a:solidFill>
                    <a:latin typeface="Cambria Math" panose="02040503050406030204" pitchFamily="18" charset="0"/>
                  </a:rPr>
                  <a:t>$x&lt;-\frac72$</a:t>
                </a:r>
                <a:r>
                  <a:rPr sz="2400" b="0">
                    <a:solidFill>
                      <a:srgbClr val="111827"/>
                    </a:solidFill>
                    <a:latin typeface="Arial"/>
                  </a:rPr>
                  <a:t>, so on </a:t>
                </a:r>
                <a:r>
                  <a:rPr lang="en-IN" sz="2400">
                    <a:solidFill>
                      <a:srgbClr val="111827"/>
                    </a:solidFill>
                    <a:latin typeface="Cambria Math" panose="02040503050406030204" pitchFamily="18" charset="0"/>
                  </a:rPr>
                  <a:t>$x&lt;-4$</a:t>
                </a:r>
                <a:r>
                  <a:rPr sz="2400" b="0">
                    <a:solidFill>
                      <a:srgbClr val="111827"/>
                    </a:solidFill>
                    <a:latin typeface="Arial"/>
                  </a:rPr>
                  <a:t> it increases from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$x=-4$</a:t>
                </a:r>
                <a:r>
                  <a:rPr sz="2400" b="0">
                    <a:solidFill>
                      <a:srgbClr val="111827"/>
                    </a:solidFill>
                    <a:latin typeface="Arial"/>
                  </a:rPr>
                  <a:t>) to </a:t>
                </a:r>
                <a:r>
                  <a:rPr lang="en-IN" sz="2400">
                    <a:solidFill>
                      <a:srgbClr val="111827"/>
                    </a:solidFill>
                    <a:latin typeface="Cambria Math" panose="02040503050406030204" pitchFamily="18" charset="0"/>
                  </a:rPr>
                  <a:t>$\infty$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exactly one intersection with </a:t>
                </a:r>
                <a:r>
                  <a:rPr lang="en-IN" sz="2400">
                    <a:solidFill>
                      <a:srgbClr val="111827"/>
                    </a:solidFill>
                    <a:latin typeface="Cambria Math" panose="02040503050406030204" pitchFamily="18" charset="0"/>
                  </a:rPr>
                  <a:t>$y=6$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solutions: </a:t>
                </a:r>
                <a:r>
                  <a:rPr lang="en-IN" sz="2400">
                    <a:solidFill>
                      <a:srgbClr val="111827"/>
                    </a:solidFill>
                    <a:latin typeface="Cambria Math" panose="02040503050406030204" pitchFamily="18" charset="0"/>
                  </a:rPr>
                  <a:t>$1+0+1=2$</a:t>
                </a:r>
                <a:r>
                  <a:rPr sz="2400" b="0">
                    <a:solidFill>
                      <a:srgbClr val="111827"/>
                    </a:solidFill>
                    <a:latin typeface="Arial"/>
                  </a:rPr>
                  <a:t>: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a:t>
            </a:r>
            <a:endParaRPr sz="2800">
              <a:solidFill>
                <a:srgbClr val="15803D"/>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several moduli, split the line at each zero of a modulus; solve each piece and discard roots outside its interval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was a root of the Case III quadratic but not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piece can be rejected without solving by its discriminant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or by comparing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with the vertex value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peaks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Monotonic pieces cross a horizontal line at most once; use the end behaviour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confirm that they do.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candidates in the original equation: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several moduli, split the line at each zero of a modulus; solve each piece and discard roots outside its interval (here </a:t>
                </a:r>
                <a:r>
                  <a:rPr lang="en-IN" sz="2400">
                    <a:solidFill>
                      <a:srgbClr val="111827"/>
                    </a:solidFill>
                    <a:latin typeface="Cambria Math" panose="02040503050406030204" pitchFamily="18" charset="0"/>
                  </a:rPr>
                  <a:t>$x=-1$</a:t>
                </a:r>
                <a:r>
                  <a:rPr sz="2400" b="0">
                    <a:solidFill>
                      <a:srgbClr val="111827"/>
                    </a:solidFill>
                    <a:latin typeface="Arial"/>
                  </a:rPr>
                  <a:t> was a root of the Case III quadratic but not in </a:t>
                </a:r>
                <a:r>
                  <a:rPr lang="en-IN" sz="2400">
                    <a:solidFill>
                      <a:srgbClr val="111827"/>
                    </a:solidFill>
                    <a:latin typeface="Cambria Math" panose="02040503050406030204" pitchFamily="18" charset="0"/>
                  </a:rPr>
                  <a:t>$x&lt;-4$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piece can be rejected without solving by its discriminant (</a:t>
                </a:r>
                <a:r>
                  <a:rPr lang="en-IN" sz="2400">
                    <a:solidFill>
                      <a:srgbClr val="111827"/>
                    </a:solidFill>
                    <a:latin typeface="Cambria Math" panose="02040503050406030204" pitchFamily="18" charset="0"/>
                  </a:rPr>
                  <a:t>$x^2+7x+18$</a:t>
                </a:r>
                <a:r>
                  <a:rPr sz="2400" b="0">
                    <a:solidFill>
                      <a:srgbClr val="111827"/>
                    </a:solidFill>
                    <a:latin typeface="Arial"/>
                  </a:rPr>
                  <a:t>: </a:t>
                </a:r>
                <a:r>
                  <a:rPr lang="en-IN" sz="2400">
                    <a:solidFill>
                      <a:srgbClr val="111827"/>
                    </a:solidFill>
                    <a:latin typeface="Cambria Math" panose="02040503050406030204" pitchFamily="18" charset="0"/>
                  </a:rPr>
                  <a:t>$D=-23&lt;0$</a:t>
                </a:r>
                <a:r>
                  <a:rPr sz="2400" b="0">
                    <a:solidFill>
                      <a:srgbClr val="111827"/>
                    </a:solidFill>
                    <a:latin typeface="Arial"/>
                  </a:rPr>
                  <a:t>) or by comparing </a:t>
                </a:r>
                <a:r>
                  <a:rPr lang="en-IN" sz="2400">
                    <a:solidFill>
                      <a:srgbClr val="111827"/>
                    </a:solidFill>
                    <a:latin typeface="Cambria Math" panose="02040503050406030204" pitchFamily="18" charset="0"/>
                  </a:rPr>
                  <a:t>$6$</a:t>
                </a:r>
                <a:r>
                  <a:rPr sz="2400" b="0">
                    <a:solidFill>
                      <a:srgbClr val="111827"/>
                    </a:solidFill>
                    <a:latin typeface="Arial"/>
                  </a:rPr>
                  <a:t> with the vertex value (</a:t>
                </a:r>
                <a:r>
                  <a:rPr lang="en-IN" sz="2400">
                    <a:solidFill>
                      <a:srgbClr val="111827"/>
                    </a:solidFill>
                    <a:latin typeface="Cambria Math" panose="02040503050406030204" pitchFamily="18" charset="0"/>
                  </a:rPr>
                  <a:t>$-(x+3)(x+4)$</a:t>
                </a:r>
                <a:r>
                  <a:rPr sz="2400" b="0">
                    <a:solidFill>
                      <a:srgbClr val="111827"/>
                    </a:solidFill>
                    <a:latin typeface="Arial"/>
                  </a:rPr>
                  <a:t> peaks at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Monotonic pieces cross a horizontal line at most once; use the end behaviour (</a:t>
                </a:r>
                <a:r>
                  <a:rPr lang="en-IN" sz="2400">
                    <a:solidFill>
                      <a:srgbClr val="111827"/>
                    </a:solidFill>
                    <a:latin typeface="Cambria Math" panose="02040503050406030204" pitchFamily="18" charset="0"/>
                  </a:rPr>
                  <a:t>$\to\infty$</a:t>
                </a:r>
                <a:r>
                  <a:rPr sz="2400" b="0">
                    <a:solidFill>
                      <a:srgbClr val="111827"/>
                    </a:solidFill>
                    <a:latin typeface="Arial"/>
                  </a:rPr>
                  <a:t>) to confirm that they do.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candidates in the original equation: </a:t>
                </a:r>
                <a:r>
                  <a:rPr lang="en-IN" sz="2400">
                    <a:solidFill>
                      <a:srgbClr val="111827"/>
                    </a:solidFill>
                    <a:latin typeface="Cambria Math" panose="02040503050406030204" pitchFamily="18" charset="0"/>
                  </a:rPr>
                  <a:t>$x=-6$</a:t>
                </a:r>
                <a:r>
                  <a:rPr sz="2400" b="0">
                    <a:solidFill>
                      <a:srgbClr val="111827"/>
                    </a:solidFill>
                    <a:latin typeface="Arial"/>
                  </a:rPr>
                  <a:t>: </a:t>
                </a:r>
                <a:r>
                  <a:rPr lang="en-IN" sz="2400">
                    <a:solidFill>
                      <a:srgbClr val="111827"/>
                    </a:solidFill>
                    <a:latin typeface="Cambria Math" panose="02040503050406030204" pitchFamily="18" charset="0"/>
                  </a:rPr>
                  <a:t>$(6-3)\cdot 2=6$</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$(1-3)\cdot 3=-6\neq 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the set of natural numbers and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defined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[JEE(Main)July2021]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but not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$\mathbb{N}$</a:t>
                </a:r>
                <a:r>
                  <a:rPr sz="2400" b="0">
                    <a:solidFill>
                      <a:srgbClr val="111827"/>
                    </a:solidFill>
                    <a:latin typeface="Arial"/>
                  </a:rPr>
                  <a:t> be the set of natural numbers and a relation </a:t>
                </a:r>
                <a:r>
                  <a:rPr lang="en-IN" sz="2400">
                    <a:solidFill>
                      <a:srgbClr val="111827"/>
                    </a:solidFill>
                    <a:latin typeface="Cambria Math" panose="02040503050406030204" pitchFamily="18" charset="0"/>
                  </a:rPr>
                  <a:t>$R$</a:t>
                </a:r>
                <a:r>
                  <a:rPr sz="2400" b="0">
                    <a:solidFill>
                      <a:srgbClr val="111827"/>
                    </a:solidFill>
                    <a:latin typeface="Arial"/>
                  </a:rPr>
                  <a:t> on </a:t>
                </a:r>
                <a:r>
                  <a:rPr lang="en-IN" sz="2400">
                    <a:solidFill>
                      <a:srgbClr val="111827"/>
                    </a:solidFill>
                    <a:latin typeface="Cambria Math" panose="02040503050406030204" pitchFamily="18" charset="0"/>
                  </a:rPr>
                  <a:t>$\mathbb{N}$</a:t>
                </a:r>
                <a:r>
                  <a:rPr sz="2400" b="0">
                    <a:solidFill>
                      <a:srgbClr val="111827"/>
                    </a:solidFill>
                    <a:latin typeface="Arial"/>
                  </a:rPr>
                  <a:t> be defined by </a:t>
                </a:r>
                <a:r>
                  <a:rPr lang="en-IN" sz="2400">
                    <a:solidFill>
                      <a:srgbClr val="111827"/>
                    </a:solidFill>
                    <a:latin typeface="Cambria Math" panose="02040503050406030204" pitchFamily="18" charset="0"/>
                  </a:rPr>
                  <a:t>$R=\{(x,y)\in\mathbb{N}\times\mathbb{N}: x^3-3x^2y-xy^2+3y^3=0\}$</a:t>
                </a:r>
                <a:r>
                  <a:rPr sz="2400" b="0">
                    <a:solidFill>
                      <a:srgbClr val="111827"/>
                    </a:solidFill>
                    <a:latin typeface="Arial"/>
                  </a:rPr>
                  <a:t>. Then the relation </a:t>
                </a:r>
                <a:r>
                  <a:rPr lang="en-IN" sz="2400">
                    <a:solidFill>
                      <a:srgbClr val="111827"/>
                    </a:solidFill>
                    <a:latin typeface="Cambria Math" panose="02040503050406030204" pitchFamily="18" charset="0"/>
                  </a:rPr>
                  <a:t>$R$</a:t>
                </a:r>
                <a:r>
                  <a:rPr sz="2400" b="0">
                    <a:solidFill>
                      <a:srgbClr val="111827"/>
                    </a:solidFill>
                    <a:latin typeface="Arial"/>
                  </a:rPr>
                  <a:t> is: [JEE(Main)July2021]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but not transitive</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Reflexive, symmetric and transitive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Factorise the homogeneous cubic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𝑦</m:t>
                    </m:r>
                  </m:oMath>
                </a14:m>
                <a:r>
                  <a:rPr sz="2400" b="0">
                    <a:solidFill>
                      <a:srgbClr val="78350F"/>
                    </a:solidFill>
                    <a:latin typeface="Arial"/>
                  </a:rPr>
                  <a:t> iff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𝑦</m:t>
                    </m:r>
                  </m:oMath>
                </a14:m>
                <a:r>
                  <a:rPr sz="2400" b="0">
                    <a:solidFill>
                      <a:srgbClr val="78350F"/>
                    </a:solidFill>
                    <a:latin typeface="Arial"/>
                  </a:rPr>
                  <a:t>; then test the three properties with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Factorise the homogeneous cubic as </a:t>
                </a:r>
                <a:r>
                  <a:rPr lang="en-IN" sz="2400">
                    <a:solidFill>
                      <a:srgbClr val="78350F"/>
                    </a:solidFill>
                    <a:latin typeface="Cambria Math" panose="02040503050406030204" pitchFamily="18" charset="0"/>
                  </a:rPr>
                  <a:t>$(x-y)(x+y)(x-3y)$</a:t>
                </a:r>
                <a:r>
                  <a:rPr sz="2400" b="0">
                    <a:solidFill>
                      <a:srgbClr val="78350F"/>
                    </a:solidFill>
                    <a:latin typeface="Arial"/>
                  </a:rPr>
                  <a:t>, so </a:t>
                </a:r>
                <a:r>
                  <a:rPr lang="en-IN" sz="2400">
                    <a:solidFill>
                      <a:srgbClr val="78350F"/>
                    </a:solidFill>
                    <a:latin typeface="Cambria Math" panose="02040503050406030204" pitchFamily="18" charset="0"/>
                  </a:rPr>
                  <a:t>$xRy$</a:t>
                </a:r>
                <a:r>
                  <a:rPr sz="2400" b="0">
                    <a:solidFill>
                      <a:srgbClr val="78350F"/>
                    </a:solidFill>
                    <a:latin typeface="Arial"/>
                  </a:rPr>
                  <a:t> iff </a:t>
                </a:r>
                <a:r>
                  <a:rPr lang="en-IN" sz="2400">
                    <a:solidFill>
                      <a:srgbClr val="78350F"/>
                    </a:solidFill>
                    <a:latin typeface="Cambria Math" panose="02040503050406030204" pitchFamily="18" charset="0"/>
                  </a:rPr>
                  <a:t>$x=y$</a:t>
                </a:r>
                <a:r>
                  <a:rPr sz="2400" b="0">
                    <a:solidFill>
                      <a:srgbClr val="78350F"/>
                    </a:solidFill>
                    <a:latin typeface="Arial"/>
                  </a:rPr>
                  <a:t> or </a:t>
                </a:r>
                <a:r>
                  <a:rPr lang="en-IN" sz="2400">
                    <a:solidFill>
                      <a:srgbClr val="78350F"/>
                    </a:solidFill>
                    <a:latin typeface="Cambria Math" panose="02040503050406030204" pitchFamily="18" charset="0"/>
                  </a:rPr>
                  <a:t>$x=3y$</a:t>
                </a:r>
                <a:r>
                  <a:rPr sz="2400" b="0">
                    <a:solidFill>
                      <a:srgbClr val="78350F"/>
                    </a:solidFill>
                    <a:latin typeface="Arial"/>
                  </a:rPr>
                  <a:t>; then test the three properties with </a:t>
                </a:r>
                <a:r>
                  <a:rPr lang="en-IN" sz="2400">
                    <a:solidFill>
                      <a:srgbClr val="78350F"/>
                    </a:solidFill>
                    <a:latin typeface="Cambria Math" panose="02040503050406030204" pitchFamily="18" charset="0"/>
                  </a:rPr>
                  <a:t>$(3,1)$</a:t>
                </a:r>
                <a:r>
                  <a:rPr sz="2400" b="0">
                    <a:solidFill>
                      <a:srgbClr val="78350F"/>
                    </a:solidFill>
                    <a:latin typeface="Arial"/>
                  </a:rPr>
                  <a:t> and </a:t>
                </a:r>
                <a:r>
                  <a:rPr lang="en-IN" sz="2400">
                    <a:solidFill>
                      <a:srgbClr val="78350F"/>
                    </a:solidFill>
                    <a:latin typeface="Cambria Math" panose="02040503050406030204" pitchFamily="18" charset="0"/>
                  </a:rPr>
                  <a:t>$(9,3)$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$(x,y)\in\mathbb{N}\times\mathbb{N}$</a:t>
                </a:r>
                <a:r>
                  <a:rPr sz="2400" b="0">
                    <a:solidFill>
                      <a:srgbClr val="111827"/>
                    </a:solidFill>
                    <a:latin typeface="Arial"/>
                  </a:rPr>
                  <a:t>: </a:t>
                </a:r>
                <a:r>
                  <a:rPr lang="en-IN" sz="2400">
                    <a:solidFill>
                      <a:srgbClr val="111827"/>
                    </a:solidFill>
                    <a:latin typeface="Cambria Math" panose="02040503050406030204" pitchFamily="18" charset="0"/>
                  </a:rPr>
                  <a:t>$x^3-3x^2y-xy^2+3y^3=x(x^2-y^2)-3y(x^2-y^2)=0$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$(x-3y)(x^2-y^2)=0$</a:t>
                </a:r>
                <a:r>
                  <a:rPr sz="2400" b="0">
                    <a:solidFill>
                      <a:srgbClr val="111827"/>
                    </a:solidFill>
                    <a:latin typeface="Arial"/>
                  </a:rPr>
                  <a:t>, i.e. </a:t>
                </a:r>
                <a:r>
                  <a:rPr lang="en-IN" sz="2400">
                    <a:solidFill>
                      <a:srgbClr val="111827"/>
                    </a:solidFill>
                    <a:latin typeface="Cambria Math" panose="02040503050406030204" pitchFamily="18" charset="0"/>
                  </a:rPr>
                  <a:t>$(x-y)(x+y)(x-3y)=0$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𝑥</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but neither symmetric nor transitive: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$x=y$</a:t>
                </a:r>
                <a:r>
                  <a:rPr sz="2400" b="0">
                    <a:solidFill>
                      <a:srgbClr val="111827"/>
                    </a:solidFill>
                    <a:latin typeface="Arial"/>
                  </a:rPr>
                  <a:t> or </a:t>
                </a:r>
                <a:r>
                  <a:rPr lang="en-IN" sz="2400">
                    <a:solidFill>
                      <a:srgbClr val="111827"/>
                    </a:solidFill>
                    <a:latin typeface="Cambria Math" panose="02040503050406030204" pitchFamily="18" charset="0"/>
                  </a:rPr>
                  <a:t>$x=-y$</a:t>
                </a:r>
                <a:r>
                  <a:rPr sz="2400" b="0">
                    <a:solidFill>
                      <a:srgbClr val="111827"/>
                    </a:solidFill>
                    <a:latin typeface="Arial"/>
                  </a:rPr>
                  <a:t> or </a:t>
                </a:r>
                <a:r>
                  <a:rPr lang="en-IN" sz="2400">
                    <a:solidFill>
                      <a:srgbClr val="111827"/>
                    </a:solidFill>
                    <a:latin typeface="Cambria Math" panose="02040503050406030204" pitchFamily="18" charset="0"/>
                  </a:rPr>
                  <a:t>$x=3y$</a:t>
                </a:r>
                <a:r>
                  <a:rPr sz="2400" b="0">
                    <a:solidFill>
                      <a:srgbClr val="111827"/>
                    </a:solidFill>
                    <a:latin typeface="Arial"/>
                  </a:rPr>
                  <a:t>; since </a:t>
                </a:r>
                <a:r>
                  <a:rPr lang="en-IN" sz="2400">
                    <a:solidFill>
                      <a:srgbClr val="111827"/>
                    </a:solidFill>
                    <a:latin typeface="Cambria Math" panose="02040503050406030204" pitchFamily="18" charset="0"/>
                  </a:rPr>
                  <a:t>$x,y\in\mathbb{N}$</a:t>
                </a:r>
                <a:r>
                  <a:rPr sz="2400" b="0">
                    <a:solidFill>
                      <a:srgbClr val="111827"/>
                    </a:solidFill>
                    <a:latin typeface="Arial"/>
                  </a:rPr>
                  <a:t>, </a:t>
                </a:r>
                <a:r>
                  <a:rPr lang="en-IN" sz="2400">
                    <a:solidFill>
                      <a:srgbClr val="111827"/>
                    </a:solidFill>
                    <a:latin typeface="Cambria Math" panose="02040503050406030204" pitchFamily="18" charset="0"/>
                  </a:rPr>
                  <a:t>$x=-y$</a:t>
                </a:r>
                <a:r>
                  <a:rPr sz="2400" b="0">
                    <a:solidFill>
                      <a:srgbClr val="111827"/>
                    </a:solidFill>
                    <a:latin typeface="Arial"/>
                  </a:rPr>
                  <a:t> is impossible, so </a:t>
                </a:r>
                <a:r>
                  <a:rPr lang="en-IN" sz="2400">
                    <a:solidFill>
                      <a:srgbClr val="111827"/>
                    </a:solidFill>
                    <a:latin typeface="Cambria Math" panose="02040503050406030204" pitchFamily="18" charset="0"/>
                  </a:rPr>
                  <a:t>$xRy\iff x=y$</a:t>
                </a:r>
                <a:r>
                  <a:rPr sz="2400" b="0">
                    <a:solidFill>
                      <a:srgbClr val="111827"/>
                    </a:solidFill>
                    <a:latin typeface="Arial"/>
                  </a:rPr>
                  <a:t> or </a:t>
                </a:r>
                <a:r>
                  <a:rPr lang="en-IN" sz="2400">
                    <a:solidFill>
                      <a:srgbClr val="111827"/>
                    </a:solidFill>
                    <a:latin typeface="Cambria Math" panose="02040503050406030204" pitchFamily="18" charset="0"/>
                  </a:rPr>
                  <a:t>$x=3y$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$x=y$</a:t>
                </a:r>
                <a:r>
                  <a:rPr sz="2400" b="0">
                    <a:solidFill>
                      <a:srgbClr val="111827"/>
                    </a:solidFill>
                    <a:latin typeface="Arial"/>
                  </a:rPr>
                  <a:t> gives </a:t>
                </a:r>
                <a:r>
                  <a:rPr lang="en-IN" sz="2400">
                    <a:solidFill>
                      <a:srgbClr val="111827"/>
                    </a:solidFill>
                    <a:latin typeface="Cambria Math" panose="02040503050406030204" pitchFamily="18" charset="0"/>
                  </a:rPr>
                  <a:t>$xRx$</a:t>
                </a:r>
                <a:r>
                  <a:rPr sz="2400" b="0">
                    <a:solidFill>
                      <a:srgbClr val="111827"/>
                    </a:solidFill>
                    <a:latin typeface="Arial"/>
                  </a:rPr>
                  <a:t> for every </a:t>
                </a:r>
                <a:r>
                  <a:rPr lang="en-IN" sz="2400">
                    <a:solidFill>
                      <a:srgbClr val="111827"/>
                    </a:solidFill>
                    <a:latin typeface="Cambria Math" panose="02040503050406030204" pitchFamily="18" charset="0"/>
                  </a:rPr>
                  <a:t>$x\in\mathbb{N}$</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$(3,1)\in R$</a:t>
                </a:r>
                <a:r>
                  <a:rPr sz="2400" b="0">
                    <a:solidFill>
                      <a:srgbClr val="111827"/>
                    </a:solidFill>
                    <a:latin typeface="Arial"/>
                  </a:rPr>
                  <a:t> since </a:t>
                </a:r>
                <a:r>
                  <a:rPr lang="en-IN" sz="2400">
                    <a:solidFill>
                      <a:srgbClr val="111827"/>
                    </a:solidFill>
                    <a:latin typeface="Cambria Math" panose="02040503050406030204" pitchFamily="18" charset="0"/>
                  </a:rPr>
                  <a:t>$3=3\cdot 1$</a:t>
                </a:r>
                <a:r>
                  <a:rPr sz="2400" b="0">
                    <a:solidFill>
                      <a:srgbClr val="111827"/>
                    </a:solidFill>
                    <a:latin typeface="Arial"/>
                  </a:rPr>
                  <a:t>, but </a:t>
                </a:r>
                <a:r>
                  <a:rPr lang="en-IN" sz="2400">
                    <a:solidFill>
                      <a:srgbClr val="111827"/>
                    </a:solidFill>
                    <a:latin typeface="Cambria Math" panose="02040503050406030204" pitchFamily="18" charset="0"/>
                  </a:rPr>
                  <a:t>$(1,3)\notin R$</a:t>
                </a:r>
                <a:r>
                  <a:rPr sz="2400" b="0">
                    <a:solidFill>
                      <a:srgbClr val="111827"/>
                    </a:solidFill>
                    <a:latin typeface="Arial"/>
                  </a:rPr>
                  <a:t>: </a:t>
                </a:r>
                <a:r>
                  <a:rPr lang="en-IN" sz="2400">
                    <a:solidFill>
                      <a:srgbClr val="111827"/>
                    </a:solidFill>
                    <a:latin typeface="Cambria Math" panose="02040503050406030204" pitchFamily="18" charset="0"/>
                  </a:rPr>
                  <a:t>$1-9-9+81=64\neq 0$</a:t>
                </a:r>
                <a:r>
                  <a:rPr sz="2400" b="0">
                    <a:solidFill>
                      <a:srgbClr val="111827"/>
                    </a:solidFill>
                    <a:latin typeface="Arial"/>
                  </a:rPr>
                  <a:t>.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$(9,3)\in R$</a:t>
                </a:r>
                <a:r>
                  <a:rPr sz="2400" b="0">
                    <a:solidFill>
                      <a:srgbClr val="111827"/>
                    </a:solidFill>
                    <a:latin typeface="Arial"/>
                  </a:rPr>
                  <a:t> and </a:t>
                </a:r>
                <a:r>
                  <a:rPr lang="en-IN" sz="2400">
                    <a:solidFill>
                      <a:srgbClr val="111827"/>
                    </a:solidFill>
                    <a:latin typeface="Cambria Math" panose="02040503050406030204" pitchFamily="18" charset="0"/>
                  </a:rPr>
                  <a:t>$(3,1)\in R$</a:t>
                </a:r>
                <a:r>
                  <a:rPr sz="2400" b="0">
                    <a:solidFill>
                      <a:srgbClr val="111827"/>
                    </a:solidFill>
                    <a:latin typeface="Arial"/>
                  </a:rPr>
                  <a:t>, but </a:t>
                </a:r>
                <a:r>
                  <a:rPr lang="en-IN" sz="2400">
                    <a:solidFill>
                      <a:srgbClr val="111827"/>
                    </a:solidFill>
                    <a:latin typeface="Cambria Math" panose="02040503050406030204" pitchFamily="18" charset="0"/>
                  </a:rPr>
                  <a:t>$(9,1)\notin R$</a:t>
                </a:r>
                <a:r>
                  <a:rPr sz="2400" b="0">
                    <a:solidFill>
                      <a:srgbClr val="111827"/>
                    </a:solidFill>
                    <a:latin typeface="Arial"/>
                  </a:rPr>
                  <a:t>: </a:t>
                </a:r>
                <a:r>
                  <a:rPr lang="en-IN" sz="2400">
                    <a:solidFill>
                      <a:srgbClr val="111827"/>
                    </a:solidFill>
                    <a:latin typeface="Cambria Math" panose="02040503050406030204" pitchFamily="18" charset="0"/>
                  </a:rPr>
                  <a:t>$729-243-9+3=480\neq 0$</a:t>
                </a:r>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but neither symmetric nor transitive: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but neither symmetric nor transitive</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cubic is homogeneous, so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𝑦</m:t>
                    </m:r>
                  </m:oMath>
                </a14:m>
                <a:r>
                  <a:rPr sz="2400" b="0">
                    <a:solidFill>
                      <a:srgbClr val="78350F"/>
                    </a:solidFill>
                    <a:latin typeface="Arial"/>
                  </a:rPr>
                  <a:t> depends only on the ratio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𝑦</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symmetric/transitive iff the ratio set is closed under reciprocal/product.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cubic is homogeneous, so </a:t>
                </a:r>
                <a:r>
                  <a:rPr lang="en-IN" sz="2400">
                    <a:solidFill>
                      <a:srgbClr val="78350F"/>
                    </a:solidFill>
                    <a:latin typeface="Cambria Math" panose="02040503050406030204" pitchFamily="18" charset="0"/>
                  </a:rPr>
                  <a:t>$xRy$</a:t>
                </a:r>
                <a:r>
                  <a:rPr sz="2400" b="0">
                    <a:solidFill>
                      <a:srgbClr val="78350F"/>
                    </a:solidFill>
                    <a:latin typeface="Arial"/>
                  </a:rPr>
                  <a:t> depends only on the ratio </a:t>
                </a:r>
                <a:r>
                  <a:rPr lang="en-IN" sz="2400">
                    <a:solidFill>
                      <a:srgbClr val="78350F"/>
                    </a:solidFill>
                    <a:latin typeface="Cambria Math" panose="02040503050406030204" pitchFamily="18" charset="0"/>
                  </a:rPr>
                  <a:t>$t=\frac{x}{y}$</a:t>
                </a:r>
                <a:r>
                  <a:rPr sz="2400" b="0">
                    <a:solidFill>
                      <a:srgbClr val="78350F"/>
                    </a:solidFill>
                    <a:latin typeface="Arial"/>
                  </a:rPr>
                  <a:t>; </a:t>
                </a:r>
                <a:r>
                  <a:rPr lang="en-IN" sz="2400">
                    <a:solidFill>
                      <a:srgbClr val="78350F"/>
                    </a:solidFill>
                    <a:latin typeface="Cambria Math" panose="02040503050406030204" pitchFamily="18" charset="0"/>
                  </a:rPr>
                  <a:t>$R$</a:t>
                </a:r>
                <a:r>
                  <a:rPr sz="2400" b="0">
                    <a:solidFill>
                      <a:srgbClr val="78350F"/>
                    </a:solidFill>
                    <a:latin typeface="Arial"/>
                  </a:rPr>
                  <a:t> is symmetric/transitive iff the ratio set is closed under reciprocal/product.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the condition is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positive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Yes.</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$y^3$</a:t>
                </a:r>
                <a:r>
                  <a:rPr sz="2400" b="0">
                    <a:solidFill>
                      <a:srgbClr val="111827"/>
                    </a:solidFill>
                    <a:latin typeface="Arial"/>
                  </a:rPr>
                  <a:t>: with </a:t>
                </a:r>
                <a:r>
                  <a:rPr lang="en-IN" sz="2400">
                    <a:solidFill>
                      <a:srgbClr val="111827"/>
                    </a:solidFill>
                    <a:latin typeface="Cambria Math" panose="02040503050406030204" pitchFamily="18" charset="0"/>
                  </a:rPr>
                  <a:t>$t=\frac{x}{y}$</a:t>
                </a:r>
                <a:r>
                  <a:rPr sz="2400" b="0">
                    <a:solidFill>
                      <a:srgbClr val="111827"/>
                    </a:solidFill>
                    <a:latin typeface="Arial"/>
                  </a:rPr>
                  <a:t> the condition is </a:t>
                </a:r>
                <a:r>
                  <a:rPr lang="en-IN" sz="2400">
                    <a:solidFill>
                      <a:srgbClr val="111827"/>
                    </a:solidFill>
                    <a:latin typeface="Cambria Math" panose="02040503050406030204" pitchFamily="18" charset="0"/>
                  </a:rPr>
                  <a:t>$t^3-3t^2-t+3=0$</a:t>
                </a:r>
                <a:r>
                  <a:rPr sz="2400" b="0">
                    <a:solidFill>
                      <a:srgbClr val="111827"/>
                    </a:solidFill>
                    <a:latin typeface="Arial"/>
                  </a:rPr>
                  <a:t>, i.e. </a:t>
                </a:r>
                <a:r>
                  <a:rPr lang="en-IN" sz="2400">
                    <a:solidFill>
                      <a:srgbClr val="111827"/>
                    </a:solidFill>
                    <a:latin typeface="Cambria Math" panose="02040503050406030204" pitchFamily="18" charset="0"/>
                  </a:rPr>
                  <a:t>$(t-3)(t-1)(t+1)=0$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positive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$t&gt;0$</a:t>
                </a:r>
                <a:r>
                  <a:rPr sz="2400" b="0">
                    <a:solidFill>
                      <a:srgbClr val="111827"/>
                    </a:solidFill>
                    <a:latin typeface="Arial"/>
                  </a:rPr>
                  <a:t>, so </a:t>
                </a:r>
                <a:r>
                  <a:rPr lang="en-IN" sz="2400">
                    <a:solidFill>
                      <a:srgbClr val="111827"/>
                    </a:solidFill>
                    <a:latin typeface="Cambria Math" panose="02040503050406030204" pitchFamily="18" charset="0"/>
                  </a:rPr>
                  <a:t>$xRy\iff t\in 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$\frac{x}{x}=1\in T$</a:t>
                </a:r>
                <a:r>
                  <a:rPr sz="2400" b="0">
                    <a:solidFill>
                      <a:srgbClr val="111827"/>
                    </a:solidFill>
                    <a:latin typeface="Arial"/>
                  </a:rPr>
                  <a:t>. Yes.</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needs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needs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only: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needs </a:t>
                </a:r>
                <a:r>
                  <a:rPr lang="en-IN" sz="2400">
                    <a:solidFill>
                      <a:srgbClr val="111827"/>
                    </a:solidFill>
                    <a:latin typeface="Cambria Math" panose="02040503050406030204" pitchFamily="18" charset="0"/>
                  </a:rPr>
                  <a:t>$t\in T\Rightarrow\frac1t\in T$</a:t>
                </a:r>
                <a:r>
                  <a:rPr sz="2400" b="0">
                    <a:solidFill>
                      <a:srgbClr val="111827"/>
                    </a:solidFill>
                    <a:latin typeface="Arial"/>
                  </a:rPr>
                  <a:t>; but </a:t>
                </a:r>
                <a:r>
                  <a:rPr lang="en-IN" sz="2400">
                    <a:solidFill>
                      <a:srgbClr val="111827"/>
                    </a:solidFill>
                    <a:latin typeface="Cambria Math" panose="02040503050406030204" pitchFamily="18" charset="0"/>
                  </a:rPr>
                  <a:t>$3\in T$</a:t>
                </a:r>
                <a:r>
                  <a:rPr sz="2400" b="0">
                    <a:solidFill>
                      <a:srgbClr val="111827"/>
                    </a:solidFill>
                    <a:latin typeface="Arial"/>
                  </a:rPr>
                  <a:t> and </a:t>
                </a:r>
                <a:r>
                  <a:rPr lang="en-IN" sz="2400">
                    <a:solidFill>
                      <a:srgbClr val="111827"/>
                    </a:solidFill>
                    <a:latin typeface="Cambria Math" panose="02040503050406030204" pitchFamily="18" charset="0"/>
                  </a:rPr>
                  <a:t>$\frac13\notin T$</a:t>
                </a:r>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needs </a:t>
                </a:r>
                <a:r>
                  <a:rPr lang="en-IN" sz="2400">
                    <a:solidFill>
                      <a:srgbClr val="111827"/>
                    </a:solidFill>
                    <a:latin typeface="Cambria Math" panose="02040503050406030204" pitchFamily="18" charset="0"/>
                  </a:rPr>
                  <a:t>$t_1,t_2\in T\Rightarrow t_1t_2\in T$</a:t>
                </a:r>
                <a:r>
                  <a:rPr sz="2400" b="0">
                    <a:solidFill>
                      <a:srgbClr val="111827"/>
                    </a:solidFill>
                    <a:latin typeface="Arial"/>
                  </a:rPr>
                  <a:t> (since </a:t>
                </a:r>
                <a:r>
                  <a:rPr lang="en-IN" sz="2400">
                    <a:solidFill>
                      <a:srgbClr val="111827"/>
                    </a:solidFill>
                    <a:latin typeface="Cambria Math" panose="02040503050406030204" pitchFamily="18" charset="0"/>
                  </a:rPr>
                  <a:t>$\frac{x}{z}=\frac{x}{y}\cdot\frac{y}{z}$</a:t>
                </a:r>
                <a:r>
                  <a:rPr sz="2400" b="0">
                    <a:solidFill>
                      <a:srgbClr val="111827"/>
                    </a:solidFill>
                    <a:latin typeface="Arial"/>
                  </a:rPr>
                  <a:t>); but </a:t>
                </a:r>
                <a:r>
                  <a:rPr lang="en-IN" sz="2400">
                    <a:solidFill>
                      <a:srgbClr val="111827"/>
                    </a:solidFill>
                    <a:latin typeface="Cambria Math" panose="02040503050406030204" pitchFamily="18" charset="0"/>
                  </a:rPr>
                  <a:t>$3\cdot 3=9\notin T$</a:t>
                </a:r>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only: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reflexive but neither symmetric nor transitive</a:t>
            </a:r>
            <a:endParaRPr sz="2800">
              <a:solidFill>
                <a:srgbClr val="15803D"/>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is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homogeneous, then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depends only 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(closed under reciprocals),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give a concrete counterexample with small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by grouping: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factors such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never vanish; over </a:t>
                </a:r>
                <a14:m>
                  <m:oMath xmlns:m="http://schemas.openxmlformats.org/officeDocument/2006/math">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or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they would add the pairs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and change the answer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pairs appear).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$xRy$</a:t>
                </a:r>
                <a:r>
                  <a:rPr sz="2400" b="0">
                    <a:solidFill>
                      <a:srgbClr val="111827"/>
                    </a:solidFill>
                    <a:latin typeface="Arial"/>
                  </a:rPr>
                  <a:t> is defined by </a:t>
                </a:r>
                <a:r>
                  <a:rPr lang="en-IN" sz="2400">
                    <a:solidFill>
                      <a:srgbClr val="111827"/>
                    </a:solidFill>
                    <a:latin typeface="Cambria Math" panose="02040503050406030204" pitchFamily="18" charset="0"/>
                  </a:rPr>
                  <a:t>$f(x,y)=0$</a:t>
                </a:r>
                <a:r>
                  <a:rPr sz="2400" b="0">
                    <a:solidFill>
                      <a:srgbClr val="111827"/>
                    </a:solidFill>
                    <a:latin typeface="Arial"/>
                  </a:rPr>
                  <a:t> with </a:t>
                </a:r>
                <a:r>
                  <a:rPr lang="en-IN" sz="2400">
                    <a:solidFill>
                      <a:srgbClr val="111827"/>
                    </a:solidFill>
                    <a:latin typeface="Cambria Math" panose="02040503050406030204" pitchFamily="18" charset="0"/>
                  </a:rPr>
                  <a:t>$f$</a:t>
                </a:r>
                <a:r>
                  <a:rPr sz="2400" b="0">
                    <a:solidFill>
                      <a:srgbClr val="111827"/>
                    </a:solidFill>
                    <a:latin typeface="Arial"/>
                  </a:rPr>
                  <a:t> homogeneous, then </a:t>
                </a:r>
                <a:r>
                  <a:rPr lang="en-IN" sz="2400">
                    <a:solidFill>
                      <a:srgbClr val="111827"/>
                    </a:solidFill>
                    <a:latin typeface="Cambria Math" panose="02040503050406030204" pitchFamily="18" charset="0"/>
                  </a:rPr>
                  <a:t>$xRy$</a:t>
                </a:r>
                <a:r>
                  <a:rPr sz="2400" b="0">
                    <a:solidFill>
                      <a:srgbClr val="111827"/>
                    </a:solidFill>
                    <a:latin typeface="Arial"/>
                  </a:rPr>
                  <a:t> depends only on </a:t>
                </a:r>
                <a:r>
                  <a:rPr lang="en-IN" sz="2400">
                    <a:solidFill>
                      <a:srgbClr val="111827"/>
                    </a:solidFill>
                    <a:latin typeface="Cambria Math" panose="02040503050406030204" pitchFamily="18" charset="0"/>
                  </a:rPr>
                  <a:t>$t=x/y$</a:t>
                </a:r>
                <a:r>
                  <a:rPr sz="2400" b="0">
                    <a:solidFill>
                      <a:srgbClr val="111827"/>
                    </a:solidFill>
                    <a:latin typeface="Arial"/>
                  </a:rPr>
                  <a:t>: </a:t>
                </a:r>
                <a:r>
                  <a:rPr lang="en-IN" sz="2400">
                    <a:solidFill>
                      <a:srgbClr val="111827"/>
                    </a:solidFill>
                    <a:latin typeface="Cambria Math" panose="02040503050406030204" pitchFamily="18" charset="0"/>
                  </a:rPr>
                  <a:t>$R=\{(x,y): x/y\in T\}$</a:t>
                </a:r>
                <a:r>
                  <a:rPr sz="2400" b="0">
                    <a:solidFill>
                      <a:srgbClr val="111827"/>
                    </a:solidFill>
                    <a:latin typeface="Arial"/>
                  </a:rPr>
                  <a:t>. Then reflexive </a:t>
                </a:r>
                <a:r>
                  <a:rPr lang="en-IN" sz="2400">
                    <a:solidFill>
                      <a:srgbClr val="111827"/>
                    </a:solidFill>
                    <a:latin typeface="Cambria Math" panose="02040503050406030204" pitchFamily="18" charset="0"/>
                  </a:rPr>
                  <a:t>$\iff 1\in T$</a:t>
                </a:r>
                <a:r>
                  <a:rPr sz="2400" b="0">
                    <a:solidFill>
                      <a:srgbClr val="111827"/>
                    </a:solidFill>
                    <a:latin typeface="Arial"/>
                  </a:rPr>
                  <a:t>, symmetric </a:t>
                </a:r>
                <a:r>
                  <a:rPr lang="en-IN" sz="2400">
                    <a:solidFill>
                      <a:srgbClr val="111827"/>
                    </a:solidFill>
                    <a:latin typeface="Cambria Math" panose="02040503050406030204" pitchFamily="18" charset="0"/>
                  </a:rPr>
                  <a:t>$\iff T=T^{-1}$</a:t>
                </a:r>
                <a:r>
                  <a:rPr sz="2400" b="0">
                    <a:solidFill>
                      <a:srgbClr val="111827"/>
                    </a:solidFill>
                    <a:latin typeface="Arial"/>
                  </a:rPr>
                  <a:t> (closed under reciprocals), transitive </a:t>
                </a:r>
                <a:r>
                  <a:rPr lang="en-IN" sz="2400">
                    <a:solidFill>
                      <a:srgbClr val="111827"/>
                    </a:solidFill>
                    <a:latin typeface="Cambria Math" panose="02040503050406030204" pitchFamily="18" charset="0"/>
                  </a:rPr>
                  <a:t>$\iff TT\subseteq 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give a concrete counterexample with small numbers: </a:t>
                </a:r>
                <a:r>
                  <a:rPr lang="en-IN" sz="2400">
                    <a:solidFill>
                      <a:srgbClr val="111827"/>
                    </a:solidFill>
                    <a:latin typeface="Cambria Math" panose="02040503050406030204" pitchFamily="18" charset="0"/>
                  </a:rPr>
                  <a:t>$(3,1)\in R$</a:t>
                </a:r>
                <a:r>
                  <a:rPr sz="2400" b="0">
                    <a:solidFill>
                      <a:srgbClr val="111827"/>
                    </a:solidFill>
                    <a:latin typeface="Arial"/>
                  </a:rPr>
                  <a:t>, </a:t>
                </a:r>
                <a:r>
                  <a:rPr lang="en-IN" sz="2400">
                    <a:solidFill>
                      <a:srgbClr val="111827"/>
                    </a:solidFill>
                    <a:latin typeface="Cambria Math" panose="02040503050406030204" pitchFamily="18" charset="0"/>
                  </a:rPr>
                  <a:t>$(1,3)\notin R$</a:t>
                </a:r>
                <a:r>
                  <a:rPr sz="2400" b="0">
                    <a:solidFill>
                      <a:srgbClr val="111827"/>
                    </a:solidFill>
                    <a:latin typeface="Arial"/>
                  </a:rPr>
                  <a:t>; </a:t>
                </a:r>
                <a:r>
                  <a:rPr lang="en-IN" sz="2400">
                    <a:solidFill>
                      <a:srgbClr val="111827"/>
                    </a:solidFill>
                    <a:latin typeface="Cambria Math" panose="02040503050406030204" pitchFamily="18" charset="0"/>
                  </a:rPr>
                  <a:t>$(9,3),(3,1)\in R$</a:t>
                </a:r>
                <a:r>
                  <a:rPr sz="2400" b="0">
                    <a:solidFill>
                      <a:srgbClr val="111827"/>
                    </a:solidFill>
                    <a:latin typeface="Arial"/>
                  </a:rPr>
                  <a:t>, </a:t>
                </a:r>
                <a:r>
                  <a:rPr lang="en-IN" sz="2400">
                    <a:solidFill>
                      <a:srgbClr val="111827"/>
                    </a:solidFill>
                    <a:latin typeface="Cambria Math" panose="02040503050406030204" pitchFamily="18" charset="0"/>
                  </a:rPr>
                  <a:t>$(9,1)\notin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by grouping: </a:t>
                </a:r>
                <a:r>
                  <a:rPr lang="en-IN" sz="2400">
                    <a:solidFill>
                      <a:srgbClr val="111827"/>
                    </a:solidFill>
                    <a:latin typeface="Cambria Math" panose="02040503050406030204" pitchFamily="18" charset="0"/>
                  </a:rPr>
                  <a:t>$x^3-3x^2y-xy^2+3y^3=x^2(x-3y)-y^2(x-3y)=(x-3y)(x-y)(x+y)$</a:t>
                </a:r>
                <a:r>
                  <a:rPr sz="2400" b="0">
                    <a:solidFill>
                      <a:srgbClr val="111827"/>
                    </a:solidFill>
                    <a:latin typeface="Arial"/>
                  </a:rPr>
                  <a:t>. Check at </a:t>
                </a:r>
                <a:r>
                  <a:rPr lang="en-IN" sz="2400">
                    <a:solidFill>
                      <a:srgbClr val="111827"/>
                    </a:solidFill>
                    <a:latin typeface="Cambria Math" panose="02040503050406030204" pitchFamily="18" charset="0"/>
                  </a:rPr>
                  <a:t>$(x,y)=(2,1)$</a:t>
                </a:r>
                <a:r>
                  <a:rPr sz="2400" b="0">
                    <a:solidFill>
                      <a:srgbClr val="111827"/>
                    </a:solidFill>
                    <a:latin typeface="Arial"/>
                  </a:rPr>
                  <a:t>: </a:t>
                </a:r>
                <a:r>
                  <a:rPr lang="en-IN" sz="2400">
                    <a:solidFill>
                      <a:srgbClr val="111827"/>
                    </a:solidFill>
                    <a:latin typeface="Cambria Math" panose="02040503050406030204" pitchFamily="18" charset="0"/>
                  </a:rPr>
                  <a:t>$8-12-2+3=-3=(-1)(1)(3)$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r>
                  <a:rPr lang="en-IN" sz="2400">
                    <a:solidFill>
                      <a:srgbClr val="111827"/>
                    </a:solidFill>
                    <a:latin typeface="Cambria Math" panose="02040503050406030204" pitchFamily="18" charset="0"/>
                  </a:rPr>
                  <a:t>$\mathbb{N}$</a:t>
                </a:r>
                <a:r>
                  <a:rPr sz="2400" b="0">
                    <a:solidFill>
                      <a:srgbClr val="111827"/>
                    </a:solidFill>
                    <a:latin typeface="Arial"/>
                  </a:rPr>
                  <a:t> factors such as </a:t>
                </a:r>
                <a:r>
                  <a:rPr lang="en-IN" sz="2400">
                    <a:solidFill>
                      <a:srgbClr val="111827"/>
                    </a:solidFill>
                    <a:latin typeface="Cambria Math" panose="02040503050406030204" pitchFamily="18" charset="0"/>
                  </a:rPr>
                  <a:t>$x+y$</a:t>
                </a:r>
                <a:r>
                  <a:rPr sz="2400" b="0">
                    <a:solidFill>
                      <a:srgbClr val="111827"/>
                    </a:solidFill>
                    <a:latin typeface="Arial"/>
                  </a:rPr>
                  <a:t> never vanish; over </a:t>
                </a:r>
                <a:r>
                  <a:rPr lang="en-IN" sz="2400">
                    <a:solidFill>
                      <a:srgbClr val="111827"/>
                    </a:solidFill>
                    <a:latin typeface="Cambria Math" panose="02040503050406030204" pitchFamily="18" charset="0"/>
                  </a:rPr>
                  <a:t>$\mathbb{Z}$</a:t>
                </a:r>
                <a:r>
                  <a:rPr sz="2400" b="0">
                    <a:solidFill>
                      <a:srgbClr val="111827"/>
                    </a:solidFill>
                    <a:latin typeface="Arial"/>
                  </a:rPr>
                  <a:t> or </a:t>
                </a:r>
                <a:r>
                  <a:rPr lang="en-IN" sz="2400">
                    <a:solidFill>
                      <a:srgbClr val="111827"/>
                    </a:solidFill>
                    <a:latin typeface="Cambria Math" panose="02040503050406030204" pitchFamily="18" charset="0"/>
                  </a:rPr>
                  <a:t>$\mathbb{R}$</a:t>
                </a:r>
                <a:r>
                  <a:rPr sz="2400" b="0">
                    <a:solidFill>
                      <a:srgbClr val="111827"/>
                    </a:solidFill>
                    <a:latin typeface="Arial"/>
                  </a:rPr>
                  <a:t> they would add the pairs </a:t>
                </a:r>
                <a:r>
                  <a:rPr lang="en-IN" sz="2400">
                    <a:solidFill>
                      <a:srgbClr val="111827"/>
                    </a:solidFill>
                    <a:latin typeface="Cambria Math" panose="02040503050406030204" pitchFamily="18" charset="0"/>
                  </a:rPr>
                  <a:t>$x=-y$</a:t>
                </a:r>
                <a:r>
                  <a:rPr sz="2400" b="0">
                    <a:solidFill>
                      <a:srgbClr val="111827"/>
                    </a:solidFill>
                    <a:latin typeface="Arial"/>
                  </a:rPr>
                  <a:t> and change the answer (then </a:t>
                </a:r>
                <a:r>
                  <a:rPr lang="en-IN" sz="2400">
                    <a:solidFill>
                      <a:srgbClr val="111827"/>
                    </a:solidFill>
                    <a:latin typeface="Cambria Math" panose="02040503050406030204" pitchFamily="18" charset="0"/>
                  </a:rPr>
                  <a:t>$(x,-x)$</a:t>
                </a:r>
                <a:r>
                  <a:rPr sz="2400" b="0">
                    <a:solidFill>
                      <a:srgbClr val="111827"/>
                    </a:solidFill>
                    <a:latin typeface="Arial"/>
                  </a:rPr>
                  <a:t> pairs appear).</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of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 [JEE(Main)July2021]</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$A=\{n\in\mathbb{N}: n^2\le n+10000\}$</a:t>
                </a:r>
                <a:r>
                  <a:rPr sz="2400" b="0">
                    <a:solidFill>
                      <a:srgbClr val="111827"/>
                    </a:solidFill>
                    <a:latin typeface="Arial"/>
                  </a:rPr>
                  <a:t>, </a:t>
                </a:r>
                <a:r>
                  <a:rPr lang="en-IN" sz="2400">
                    <a:solidFill>
                      <a:srgbClr val="111827"/>
                    </a:solidFill>
                    <a:latin typeface="Cambria Math" panose="02040503050406030204" pitchFamily="18" charset="0"/>
                  </a:rPr>
                  <a:t>$B=\{3k+1: k\in\mathbb{N}\}$</a:t>
                </a:r>
                <a:r>
                  <a:rPr sz="2400" b="0">
                    <a:solidFill>
                      <a:srgbClr val="111827"/>
                    </a:solidFill>
                    <a:latin typeface="Arial"/>
                  </a:rPr>
                  <a:t> and </a:t>
                </a:r>
                <a:r>
                  <a:rPr lang="en-IN" sz="2400">
                    <a:solidFill>
                      <a:srgbClr val="111827"/>
                    </a:solidFill>
                    <a:latin typeface="Cambria Math" panose="02040503050406030204" pitchFamily="18" charset="0"/>
                  </a:rPr>
                  <a:t>$C=\{2k: k\in\mathbb{N}\}$</a:t>
                </a:r>
                <a:r>
                  <a:rPr sz="2400" b="0">
                    <a:solidFill>
                      <a:srgbClr val="111827"/>
                    </a:solidFill>
                    <a:latin typeface="Arial"/>
                  </a:rPr>
                  <a:t>, then the sum of all the elements of the set </a:t>
                </a:r>
                <a:r>
                  <a:rPr lang="en-IN" sz="2400">
                    <a:solidFill>
                      <a:srgbClr val="111827"/>
                    </a:solidFill>
                    <a:latin typeface="Cambria Math" panose="02040503050406030204" pitchFamily="18" charset="0"/>
                  </a:rPr>
                  <a:t>$A\cap(B-C)$</a:t>
                </a:r>
                <a:r>
                  <a:rPr sz="2400" b="0">
                    <a:solidFill>
                      <a:srgbClr val="111827"/>
                    </a:solidFill>
                    <a:latin typeface="Arial"/>
                  </a:rPr>
                  <a:t> is equal to ________. [JEE(Main)July2021]</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Set operations: intersection and difference,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is the odd members of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i.e. an AP </a:t>
                </a:r>
                <a14:m>
                  <m:oMath xmlns:m="http://schemas.openxmlformats.org/officeDocument/2006/math">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97</m:t>
                    </m:r>
                  </m:oMath>
                </a14:m>
                <a:r>
                  <a:rPr sz="2400" b="0">
                    <a:solidFill>
                      <a:srgbClr val="78350F"/>
                    </a:solidFill>
                    <a:latin typeface="Arial"/>
                  </a:rPr>
                  <a:t> with common difference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$A=\{1,\dots,100\}$</a:t>
                </a:r>
                <a:r>
                  <a:rPr sz="2400" b="0">
                    <a:solidFill>
                      <a:srgbClr val="78350F"/>
                    </a:solidFill>
                    <a:latin typeface="Arial"/>
                  </a:rPr>
                  <a:t> and </a:t>
                </a:r>
                <a:r>
                  <a:rPr lang="en-IN" sz="2400">
                    <a:solidFill>
                      <a:srgbClr val="78350F"/>
                    </a:solidFill>
                    <a:latin typeface="Cambria Math" panose="02040503050406030204" pitchFamily="18" charset="0"/>
                  </a:rPr>
                  <a:t>$B-C$</a:t>
                </a:r>
                <a:r>
                  <a:rPr sz="2400" b="0">
                    <a:solidFill>
                      <a:srgbClr val="78350F"/>
                    </a:solidFill>
                    <a:latin typeface="Arial"/>
                  </a:rPr>
                  <a:t> is the odd members of </a:t>
                </a:r>
                <a:r>
                  <a:rPr lang="en-IN" sz="2400">
                    <a:solidFill>
                      <a:srgbClr val="78350F"/>
                    </a:solidFill>
                    <a:latin typeface="Cambria Math" panose="02040503050406030204" pitchFamily="18" charset="0"/>
                  </a:rPr>
                  <a:t>$B$</a:t>
                </a:r>
                <a:r>
                  <a:rPr sz="2400" b="0">
                    <a:solidFill>
                      <a:srgbClr val="78350F"/>
                    </a:solidFill>
                    <a:latin typeface="Arial"/>
                  </a:rPr>
                  <a:t>, i.e. an AP </a:t>
                </a:r>
                <a:r>
                  <a:rPr lang="en-IN" sz="2400">
                    <a:solidFill>
                      <a:srgbClr val="78350F"/>
                    </a:solidFill>
                    <a:latin typeface="Cambria Math" panose="02040503050406030204" pitchFamily="18" charset="0"/>
                  </a:rPr>
                  <a:t>$7,13,\dots,97$</a:t>
                </a:r>
                <a:r>
                  <a:rPr sz="2400" b="0">
                    <a:solidFill>
                      <a:srgbClr val="78350F"/>
                    </a:solidFill>
                    <a:latin typeface="Arial"/>
                  </a:rPr>
                  <a:t> with common difference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printed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m:t>
                    </m:r>
                  </m:oMath>
                </a14:m>
                <a:r>
                  <a:rPr sz="2400" b="0">
                    <a:solidFill>
                      <a:srgbClr val="111827"/>
                    </a:solidFill>
                    <a:latin typeface="Arial"/>
                  </a:rPr>
                  <a:t>' lost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oMath>
                </a14:m>
                <a:r>
                  <a:rPr sz="2400" b="0">
                    <a:solidFill>
                      <a:srgbClr val="111827"/>
                    </a:solidFill>
                    <a:latin typeface="Arial"/>
                  </a:rPr>
                  <a:t>: the product of two consecutive natural numbers must be at most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10000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even numbers).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$A=\{n\in\mathbb{N}: n^2\le n+10000\}$</a:t>
                </a:r>
                <a:r>
                  <a:rPr sz="2400" b="0">
                    <a:solidFill>
                      <a:srgbClr val="111827"/>
                    </a:solidFill>
                    <a:latin typeface="Arial"/>
                  </a:rPr>
                  <a:t> (the printed '</a:t>
                </a:r>
                <a:r>
                  <a:rPr lang="en-IN" sz="2400">
                    <a:solidFill>
                      <a:srgbClr val="111827"/>
                    </a:solidFill>
                    <a:latin typeface="Cambria Math" panose="02040503050406030204" pitchFamily="18" charset="0"/>
                  </a:rPr>
                  <a:t>$n^2\le +10{,}000$</a:t>
                </a:r>
                <a:r>
                  <a:rPr sz="2400" b="0">
                    <a:solidFill>
                      <a:srgbClr val="111827"/>
                    </a:solidFill>
                    <a:latin typeface="Arial"/>
                  </a:rPr>
                  <a:t>' lost the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$n^2\le n+10000\iff n(n-1)\le 10000$</a:t>
                </a:r>
                <a:r>
                  <a:rPr sz="2400" b="0">
                    <a:solidFill>
                      <a:srgbClr val="111827"/>
                    </a:solidFill>
                    <a:latin typeface="Arial"/>
                  </a:rPr>
                  <a:t>: the product of two consecutive natural numbers must be at most </a:t>
                </a:r>
                <a:r>
                  <a:rPr lang="en-IN" sz="2400">
                    <a:solidFill>
                      <a:srgbClr val="111827"/>
                    </a:solidFill>
                    <a:latin typeface="Cambria Math" panose="02040503050406030204" pitchFamily="18" charset="0"/>
                  </a:rPr>
                  <a:t>$10000$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$100\cdot 99=9900\le 10000$</a:t>
                </a:r>
                <a:r>
                  <a:rPr sz="2400" b="0">
                    <a:solidFill>
                      <a:srgbClr val="111827"/>
                    </a:solidFill>
                    <a:latin typeface="Arial"/>
                  </a:rPr>
                  <a:t> but </a:t>
                </a:r>
                <a:r>
                  <a:rPr lang="en-IN" sz="2400">
                    <a:solidFill>
                      <a:srgbClr val="111827"/>
                    </a:solidFill>
                    <a:latin typeface="Cambria Math" panose="02040503050406030204" pitchFamily="18" charset="0"/>
                  </a:rPr>
                  <a:t>$101\cdot 100=10100&gt;10000$</a:t>
                </a:r>
                <a:r>
                  <a:rPr sz="2400" b="0">
                    <a:solidFill>
                      <a:srgbClr val="111827"/>
                    </a:solidFill>
                    <a:latin typeface="Arial"/>
                  </a:rPr>
                  <a:t>, so </a:t>
                </a:r>
                <a:r>
                  <a:rPr lang="en-IN" sz="2400">
                    <a:solidFill>
                      <a:srgbClr val="111827"/>
                    </a:solidFill>
                    <a:latin typeface="Cambria Math" panose="02040503050406030204" pitchFamily="18" charset="0"/>
                  </a:rPr>
                  <a:t>$A=\{1,2,3,\dots,100\}$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$B=\{4,7,10,\dots,97,100,103,\dots\}$</a:t>
                </a:r>
                <a:r>
                  <a:rPr sz="2400" b="0">
                    <a:solidFill>
                      <a:srgbClr val="111827"/>
                    </a:solidFill>
                    <a:latin typeface="Arial"/>
                  </a:rPr>
                  <a:t> and </a:t>
                </a:r>
                <a:r>
                  <a:rPr lang="en-IN" sz="2400">
                    <a:solidFill>
                      <a:srgbClr val="111827"/>
                    </a:solidFill>
                    <a:latin typeface="Cambria Math" panose="02040503050406030204" pitchFamily="18" charset="0"/>
                  </a:rPr>
                  <a:t>$C=\{2,4,6,\dots,98,100,102,\dots\}$</a:t>
                </a:r>
                <a:r>
                  <a:rPr sz="2400" b="0">
                    <a:solidFill>
                      <a:srgbClr val="111827"/>
                    </a:solidFill>
                    <a:latin typeface="Arial"/>
                  </a:rPr>
                  <a:t> (all even numbers).</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keeps the odd members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(common difference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next term </a:t>
                </a:r>
                <a14:m>
                  <m:oMath xmlns:m="http://schemas.openxmlformats.org/officeDocument/2006/math">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a:t>
                </a:r>
                <a14:m>
                  <m:oMath xmlns:m="http://schemas.openxmlformats.org/officeDocument/2006/math">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keeps the odd members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$\{7,13,19,\dots,91,97,\dots\}$</a:t>
                </a:r>
                <a:r>
                  <a:rPr sz="2400" b="0">
                    <a:solidFill>
                      <a:srgbClr val="111827"/>
                    </a:solidFill>
                    <a:latin typeface="Arial"/>
                  </a:rPr>
                  <a:t> (common difference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$A\cap(B-C)=\{7,13,19,\dots,91,97\}$</a:t>
                </a:r>
                <a:r>
                  <a:rPr sz="2400" b="0">
                    <a:solidFill>
                      <a:srgbClr val="111827"/>
                    </a:solidFill>
                    <a:latin typeface="Arial"/>
                  </a:rPr>
                  <a:t> (the next term </a:t>
                </a:r>
                <a:r>
                  <a:rPr lang="en-IN" sz="2400">
                    <a:solidFill>
                      <a:srgbClr val="111827"/>
                    </a:solidFill>
                    <a:latin typeface="Cambria Math" panose="02040503050406030204" pitchFamily="18" charset="0"/>
                  </a:rPr>
                  <a:t>$103&gt;100$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a:t>
                </a:r>
                <a:r>
                  <a:rPr lang="en-IN" sz="2400">
                    <a:solidFill>
                      <a:srgbClr val="111827"/>
                    </a:solidFill>
                    <a:latin typeface="Cambria Math" panose="02040503050406030204" pitchFamily="18" charset="0"/>
                  </a:rPr>
                  <a:t>$97=7+6(m-1)$</a:t>
                </a:r>
                <a:r>
                  <a:rPr sz="2400" b="0">
                    <a:solidFill>
                      <a:srgbClr val="111827"/>
                    </a:solidFill>
                    <a:latin typeface="Arial"/>
                  </a:rPr>
                  <a:t> gives </a:t>
                </a:r>
                <a:r>
                  <a:rPr lang="en-IN" sz="2400">
                    <a:solidFill>
                      <a:srgbClr val="111827"/>
                    </a:solidFill>
                    <a:latin typeface="Cambria Math" panose="02040503050406030204" pitchFamily="18" charset="0"/>
                  </a:rPr>
                  <a:t>$m=16$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$=7+13+\dots+97=\frac{16}{2}(7+97)=8\times 104=832$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832</a:t>
            </a:r>
            <a:endParaRPr sz="2800">
              <a:solidFill>
                <a:srgbClr val="15803D"/>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is the set of odd numbers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i.e. numbers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(excluding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since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sum them by symmetry.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$B-C$</a:t>
                </a:r>
                <a:r>
                  <a:rPr sz="2400" b="0">
                    <a:solidFill>
                      <a:srgbClr val="78350F"/>
                    </a:solidFill>
                    <a:latin typeface="Arial"/>
                  </a:rPr>
                  <a:t> is the set of odd numbers </a:t>
                </a:r>
                <a:r>
                  <a:rPr lang="en-IN" sz="2400">
                    <a:solidFill>
                      <a:srgbClr val="78350F"/>
                    </a:solidFill>
                    <a:latin typeface="Cambria Math" panose="02040503050406030204" pitchFamily="18" charset="0"/>
                  </a:rPr>
                  <a:t>$\equiv 1\pmod 3$</a:t>
                </a:r>
                <a:r>
                  <a:rPr sz="2400" b="0">
                    <a:solidFill>
                      <a:srgbClr val="78350F"/>
                    </a:solidFill>
                    <a:latin typeface="Arial"/>
                  </a:rPr>
                  <a:t>, i.e. numbers </a:t>
                </a:r>
                <a:r>
                  <a:rPr lang="en-IN" sz="2400">
                    <a:solidFill>
                      <a:srgbClr val="78350F"/>
                    </a:solidFill>
                    <a:latin typeface="Cambria Math" panose="02040503050406030204" pitchFamily="18" charset="0"/>
                  </a:rPr>
                  <a:t>$\equiv 1\pmod 6$</a:t>
                </a:r>
                <a:r>
                  <a:rPr sz="2400" b="0">
                    <a:solidFill>
                      <a:srgbClr val="78350F"/>
                    </a:solidFill>
                    <a:latin typeface="Arial"/>
                  </a:rPr>
                  <a:t> (excluding </a:t>
                </a:r>
                <a:r>
                  <a:rPr lang="en-IN" sz="2400">
                    <a:solidFill>
                      <a:srgbClr val="78350F"/>
                    </a:solidFill>
                    <a:latin typeface="Cambria Math" panose="02040503050406030204" pitchFamily="18" charset="0"/>
                  </a:rPr>
                  <a:t>$1$</a:t>
                </a:r>
                <a:r>
                  <a:rPr sz="2400" b="0">
                    <a:solidFill>
                      <a:srgbClr val="78350F"/>
                    </a:solidFill>
                    <a:latin typeface="Arial"/>
                  </a:rPr>
                  <a:t> since </a:t>
                </a:r>
                <a:r>
                  <a:rPr lang="en-IN" sz="2400">
                    <a:solidFill>
                      <a:srgbClr val="78350F"/>
                    </a:solidFill>
                    <a:latin typeface="Cambria Math" panose="02040503050406030204" pitchFamily="18" charset="0"/>
                  </a:rPr>
                  <a:t>$k\ge 1$</a:t>
                </a:r>
                <a:r>
                  <a:rPr sz="2400" b="0">
                    <a:solidFill>
                      <a:srgbClr val="78350F"/>
                    </a:solidFill>
                    <a:latin typeface="Arial"/>
                  </a:rPr>
                  <a:t>); sum them by symmetry.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odd exactly when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even,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𝑜𝑑𝑑 𝑛𝑢𝑚𝑏𝑒𝑟𝑠 𝑜𝑓 𝑡ℎ𝑒 𝑓𝑜𝑟𝑚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are at least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 first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$n^2\le n+10000$</a:t>
                </a:r>
                <a:r>
                  <a:rPr sz="2400" b="0">
                    <a:solidFill>
                      <a:srgbClr val="111827"/>
                    </a:solidFill>
                    <a:latin typeface="Arial"/>
                  </a:rPr>
                  <a:t> gives </a:t>
                </a:r>
                <a:r>
                  <a:rPr lang="en-IN" sz="2400">
                    <a:solidFill>
                      <a:srgbClr val="111827"/>
                    </a:solidFill>
                    <a:latin typeface="Cambria Math" panose="02040503050406030204" pitchFamily="18" charset="0"/>
                  </a:rPr>
                  <a:t>$A=\{1,\dots,100\}$</a:t>
                </a:r>
                <a:r>
                  <a:rPr sz="2400" b="0">
                    <a:solidFill>
                      <a:srgbClr val="111827"/>
                    </a:solidFill>
                    <a:latin typeface="Arial"/>
                  </a:rPr>
                  <a:t> since </a:t>
                </a:r>
                <a:r>
                  <a:rPr lang="en-IN" sz="2400">
                    <a:solidFill>
                      <a:srgbClr val="111827"/>
                    </a:solidFill>
                    <a:latin typeface="Cambria Math" panose="02040503050406030204" pitchFamily="18" charset="0"/>
                  </a:rPr>
                  <a:t>$100\cdot 99\le 10000&lt;101\cdot 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$3k+1$</a:t>
                </a:r>
                <a:r>
                  <a:rPr sz="2400" b="0">
                    <a:solidFill>
                      <a:srgbClr val="111827"/>
                    </a:solidFill>
                    <a:latin typeface="Arial"/>
                  </a:rPr>
                  <a:t> is odd exactly when </a:t>
                </a:r>
                <a:r>
                  <a:rPr lang="en-IN" sz="2400">
                    <a:solidFill>
                      <a:srgbClr val="111827"/>
                    </a:solidFill>
                    <a:latin typeface="Cambria Math" panose="02040503050406030204" pitchFamily="18" charset="0"/>
                  </a:rPr>
                  <a:t>$k$</a:t>
                </a:r>
                <a:r>
                  <a:rPr sz="2400" b="0">
                    <a:solidFill>
                      <a:srgbClr val="111827"/>
                    </a:solidFill>
                    <a:latin typeface="Arial"/>
                  </a:rPr>
                  <a:t> is even, so </a:t>
                </a:r>
                <a:r>
                  <a:rPr lang="en-IN" sz="2400">
                    <a:solidFill>
                      <a:srgbClr val="111827"/>
                    </a:solidFill>
                    <a:latin typeface="Cambria Math" panose="02040503050406030204" pitchFamily="18" charset="0"/>
                  </a:rPr>
                  <a:t>$B-C=\{\text{odd numbers of the form }3k+1\}$</a:t>
                </a:r>
                <a:r>
                  <a:rPr sz="2400" b="0">
                    <a:solidFill>
                      <a:srgbClr val="111827"/>
                    </a:solidFill>
                    <a:latin typeface="Arial"/>
                  </a:rPr>
                  <a:t> = numbers </a:t>
                </a:r>
                <a:r>
                  <a:rPr lang="en-IN" sz="2400">
                    <a:solidFill>
                      <a:srgbClr val="111827"/>
                    </a:solidFill>
                    <a:latin typeface="Cambria Math" panose="02040503050406030204" pitchFamily="18" charset="0"/>
                  </a:rPr>
                  <a:t>$\equiv 1\pmod 6$</a:t>
                </a:r>
                <a:r>
                  <a:rPr sz="2400" b="0">
                    <a:solidFill>
                      <a:srgbClr val="111827"/>
                    </a:solidFill>
                    <a:latin typeface="Arial"/>
                  </a:rPr>
                  <a:t> that are at least </a:t>
                </a:r>
                <a:r>
                  <a:rPr lang="en-IN" sz="2400">
                    <a:solidFill>
                      <a:srgbClr val="111827"/>
                    </a:solidFill>
                    <a:latin typeface="Cambria Math" panose="02040503050406030204" pitchFamily="18" charset="0"/>
                  </a:rPr>
                  <a:t>$7$</a:t>
                </a:r>
                <a:r>
                  <a:rPr sz="2400" b="0">
                    <a:solidFill>
                      <a:srgbClr val="111827"/>
                    </a:solidFill>
                    <a:latin typeface="Arial"/>
                  </a:rPr>
                  <a:t> (the first </a:t>
                </a:r>
                <a:r>
                  <a:rPr lang="en-IN" sz="2400">
                    <a:solidFill>
                      <a:srgbClr val="111827"/>
                    </a:solidFill>
                    <a:latin typeface="Cambria Math" panose="02040503050406030204" pitchFamily="18" charset="0"/>
                  </a:rPr>
                  <a:t>$3k+1$</a:t>
                </a:r>
                <a:r>
                  <a:rPr sz="2400" b="0">
                    <a:solidFill>
                      <a:srgbClr val="111827"/>
                    </a:solidFill>
                    <a:latin typeface="Arial"/>
                  </a:rPr>
                  <a:t> is </a:t>
                </a:r>
                <a:r>
                  <a:rPr lang="en-IN" sz="2400">
                    <a:solidFill>
                      <a:srgbClr val="111827"/>
                    </a:solidFill>
                    <a:latin typeface="Cambria Math" panose="02040503050406030204" pitchFamily="18" charset="0"/>
                  </a:rPr>
                  <a:t>$4$</a:t>
                </a:r>
                <a:r>
                  <a:rPr sz="2400" b="0">
                    <a:solidFill>
                      <a:srgbClr val="111827"/>
                    </a:solidFill>
                    <a:latin typeface="Arial"/>
                  </a:rPr>
                  <a:t>, so </a:t>
                </a:r>
                <a:r>
                  <a:rPr lang="en-IN" sz="2400">
                    <a:solidFill>
                      <a:srgbClr val="111827"/>
                    </a:solidFill>
                    <a:latin typeface="Cambria Math" panose="02040503050406030204" pitchFamily="18" charset="0"/>
                  </a:rPr>
                  <a:t>$1\notin 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oMath>
                </a14:m>
                <a:r>
                  <a:rPr sz="2400" b="0">
                    <a:solidFill>
                      <a:srgbClr val="111827"/>
                    </a:solidFill>
                    <a:latin typeface="Arial"/>
                  </a:rPr>
                  <a:t>, which are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terms with mean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the element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(not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r>
                  <a:rPr lang="en-IN" sz="2400">
                    <a:solidFill>
                      <a:srgbClr val="111827"/>
                    </a:solidFill>
                    <a:latin typeface="Cambria Math" panose="02040503050406030204" pitchFamily="18" charset="0"/>
                  </a:rPr>
                  <a:t>$\equiv 1\pmod 6$</a:t>
                </a:r>
                <a:r>
                  <a:rPr sz="2400" b="0">
                    <a:solidFill>
                      <a:srgbClr val="111827"/>
                    </a:solidFill>
                    <a:latin typeface="Arial"/>
                  </a:rPr>
                  <a:t> up to </a:t>
                </a:r>
                <a:r>
                  <a:rPr lang="en-IN" sz="2400">
                    <a:solidFill>
                      <a:srgbClr val="111827"/>
                    </a:solidFill>
                    <a:latin typeface="Cambria Math" panose="02040503050406030204" pitchFamily="18" charset="0"/>
                  </a:rPr>
                  <a:t>$100$</a:t>
                </a:r>
                <a:r>
                  <a:rPr sz="2400" b="0">
                    <a:solidFill>
                      <a:srgbClr val="111827"/>
                    </a:solidFill>
                    <a:latin typeface="Arial"/>
                  </a:rPr>
                  <a:t>: </a:t>
                </a:r>
                <a:r>
                  <a:rPr lang="en-IN" sz="2400">
                    <a:solidFill>
                      <a:srgbClr val="111827"/>
                    </a:solidFill>
                    <a:latin typeface="Cambria Math" panose="02040503050406030204" pitchFamily="18" charset="0"/>
                  </a:rPr>
                  <a:t>$1,7,\dots,97$</a:t>
                </a:r>
                <a:r>
                  <a:rPr sz="2400" b="0">
                    <a:solidFill>
                      <a:srgbClr val="111827"/>
                    </a:solidFill>
                    <a:latin typeface="Arial"/>
                  </a:rPr>
                  <a:t>, which are </a:t>
                </a:r>
                <a:r>
                  <a:rPr lang="en-IN" sz="2400">
                    <a:solidFill>
                      <a:srgbClr val="111827"/>
                    </a:solidFill>
                    <a:latin typeface="Cambria Math" panose="02040503050406030204" pitchFamily="18" charset="0"/>
                  </a:rPr>
                  <a:t>$17$</a:t>
                </a:r>
                <a:r>
                  <a:rPr sz="2400" b="0">
                    <a:solidFill>
                      <a:srgbClr val="111827"/>
                    </a:solidFill>
                    <a:latin typeface="Arial"/>
                  </a:rPr>
                  <a:t> terms with mean </a:t>
                </a:r>
                <a:r>
                  <a:rPr lang="en-IN" sz="2400">
                    <a:solidFill>
                      <a:srgbClr val="111827"/>
                    </a:solidFill>
                    <a:latin typeface="Cambria Math" panose="02040503050406030204" pitchFamily="18" charset="0"/>
                  </a:rPr>
                  <a:t>$\frac{1+97}{2}=49$</a:t>
                </a:r>
                <a:r>
                  <a:rPr sz="2400" b="0">
                    <a:solidFill>
                      <a:srgbClr val="111827"/>
                    </a:solidFill>
                    <a:latin typeface="Arial"/>
                  </a:rPr>
                  <a:t>, sum </a:t>
                </a:r>
                <a:r>
                  <a:rPr lang="en-IN" sz="2400">
                    <a:solidFill>
                      <a:srgbClr val="111827"/>
                    </a:solidFill>
                    <a:latin typeface="Cambria Math" panose="02040503050406030204" pitchFamily="18" charset="0"/>
                  </a:rPr>
                  <a:t>$17\times 49=833$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the element </a:t>
                </a:r>
                <a:r>
                  <a:rPr lang="en-IN" sz="2400">
                    <a:solidFill>
                      <a:srgbClr val="111827"/>
                    </a:solidFill>
                    <a:latin typeface="Cambria Math" panose="02040503050406030204" pitchFamily="18" charset="0"/>
                  </a:rPr>
                  <a:t>$1$</a:t>
                </a:r>
                <a:r>
                  <a:rPr sz="2400" b="0">
                    <a:solidFill>
                      <a:srgbClr val="111827"/>
                    </a:solidFill>
                    <a:latin typeface="Arial"/>
                  </a:rPr>
                  <a:t> (not in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$833-1=832$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832</a:t>
            </a:r>
            <a:endParaRPr sz="2800">
              <a:solidFill>
                <a:srgbClr val="15803D"/>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use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(product of consecutive integers); or solve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𝑀</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40001</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Intersecting progressions: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even, so odd members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 the progression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first term depends on where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starts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so it starts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(first and last average to the mean). Check: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i.e. the elements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not in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for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 set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even numbers.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$n^2\le n+M$</a:t>
                </a:r>
                <a:r>
                  <a:rPr sz="2400" b="0">
                    <a:solidFill>
                      <a:srgbClr val="111827"/>
                    </a:solidFill>
                    <a:latin typeface="Arial"/>
                  </a:rPr>
                  <a:t> use </a:t>
                </a:r>
                <a:r>
                  <a:rPr lang="en-IN" sz="2400">
                    <a:solidFill>
                      <a:srgbClr val="111827"/>
                    </a:solidFill>
                    <a:latin typeface="Cambria Math" panose="02040503050406030204" pitchFamily="18" charset="0"/>
                  </a:rPr>
                  <a:t>$n(n-1)\le M$</a:t>
                </a:r>
                <a:r>
                  <a:rPr sz="2400" b="0">
                    <a:solidFill>
                      <a:srgbClr val="111827"/>
                    </a:solidFill>
                    <a:latin typeface="Arial"/>
                  </a:rPr>
                  <a:t> (product of consecutive integers); or solve </a:t>
                </a:r>
                <a:r>
                  <a:rPr lang="en-IN" sz="2400">
                    <a:solidFill>
                      <a:srgbClr val="111827"/>
                    </a:solidFill>
                    <a:latin typeface="Cambria Math" panose="02040503050406030204" pitchFamily="18" charset="0"/>
                  </a:rPr>
                  <a:t>$n\le\frac{1+\sqrt{1+4M}}{2}$</a:t>
                </a:r>
                <a:r>
                  <a:rPr sz="2400" b="0">
                    <a:solidFill>
                      <a:srgbClr val="111827"/>
                    </a:solidFill>
                    <a:latin typeface="Arial"/>
                  </a:rPr>
                  <a:t>: here </a:t>
                </a:r>
                <a:r>
                  <a:rPr lang="en-IN" sz="2400">
                    <a:solidFill>
                      <a:srgbClr val="111827"/>
                    </a:solidFill>
                    <a:latin typeface="Cambria Math" panose="02040503050406030204" pitchFamily="18" charset="0"/>
                  </a:rPr>
                  <a:t>$\frac{1+\sqrt{40001}}{2}\approx 100.5$</a:t>
                </a:r>
                <a:r>
                  <a:rPr sz="2400" b="0">
                    <a:solidFill>
                      <a:srgbClr val="111827"/>
                    </a:solidFill>
                    <a:latin typeface="Arial"/>
                  </a:rPr>
                  <a:t>, so </a:t>
                </a:r>
                <a:r>
                  <a:rPr lang="en-IN" sz="2400">
                    <a:solidFill>
                      <a:srgbClr val="111827"/>
                    </a:solidFill>
                    <a:latin typeface="Cambria Math" panose="02040503050406030204" pitchFamily="18" charset="0"/>
                  </a:rPr>
                  <a:t>$n\le 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Intersecting progressions: </a:t>
                </a:r>
                <a:r>
                  <a:rPr lang="en-IN" sz="2400">
                    <a:solidFill>
                      <a:srgbClr val="111827"/>
                    </a:solidFill>
                    <a:latin typeface="Cambria Math" panose="02040503050406030204" pitchFamily="18" charset="0"/>
                  </a:rPr>
                  <a:t>$3k+1$</a:t>
                </a:r>
                <a:r>
                  <a:rPr sz="2400" b="0">
                    <a:solidFill>
                      <a:srgbClr val="111827"/>
                    </a:solidFill>
                    <a:latin typeface="Arial"/>
                  </a:rPr>
                  <a:t> odd </a:t>
                </a:r>
                <a:r>
                  <a:rPr lang="en-IN" sz="2400">
                    <a:solidFill>
                      <a:srgbClr val="111827"/>
                    </a:solidFill>
                    <a:latin typeface="Cambria Math" panose="02040503050406030204" pitchFamily="18" charset="0"/>
                  </a:rPr>
                  <a:t>$\iff k$</a:t>
                </a:r>
                <a:r>
                  <a:rPr sz="2400" b="0">
                    <a:solidFill>
                      <a:srgbClr val="111827"/>
                    </a:solidFill>
                    <a:latin typeface="Arial"/>
                  </a:rPr>
                  <a:t> even, so odd members of </a:t>
                </a:r>
                <a:r>
                  <a:rPr lang="en-IN" sz="2400">
                    <a:solidFill>
                      <a:srgbClr val="111827"/>
                    </a:solidFill>
                    <a:latin typeface="Cambria Math" panose="02040503050406030204" pitchFamily="18" charset="0"/>
                  </a:rPr>
                  <a:t>$\{3k+1\}$</a:t>
                </a:r>
                <a:r>
                  <a:rPr sz="2400" b="0">
                    <a:solidFill>
                      <a:srgbClr val="111827"/>
                    </a:solidFill>
                    <a:latin typeface="Arial"/>
                  </a:rPr>
                  <a:t> form the progression </a:t>
                </a:r>
                <a:r>
                  <a:rPr lang="en-IN" sz="2400">
                    <a:solidFill>
                      <a:srgbClr val="111827"/>
                    </a:solidFill>
                    <a:latin typeface="Cambria Math" panose="02040503050406030204" pitchFamily="18" charset="0"/>
                  </a:rPr>
                  <a:t>$1\pmod 6$</a:t>
                </a:r>
                <a:r>
                  <a:rPr sz="2400" b="0">
                    <a:solidFill>
                      <a:srgbClr val="111827"/>
                    </a:solidFill>
                    <a:latin typeface="Arial"/>
                  </a:rPr>
                  <a:t>; the first term depends on where </a:t>
                </a:r>
                <a:r>
                  <a:rPr lang="en-IN" sz="2400">
                    <a:solidFill>
                      <a:srgbClr val="111827"/>
                    </a:solidFill>
                    <a:latin typeface="Cambria Math" panose="02040503050406030204" pitchFamily="18" charset="0"/>
                  </a:rPr>
                  <a:t>$k$</a:t>
                </a:r>
                <a:r>
                  <a:rPr sz="2400" b="0">
                    <a:solidFill>
                      <a:srgbClr val="111827"/>
                    </a:solidFill>
                    <a:latin typeface="Arial"/>
                  </a:rPr>
                  <a:t> starts (</a:t>
                </a:r>
                <a:r>
                  <a:rPr lang="en-IN" sz="2400">
                    <a:solidFill>
                      <a:srgbClr val="111827"/>
                    </a:solidFill>
                    <a:latin typeface="Cambria Math" panose="02040503050406030204" pitchFamily="18" charset="0"/>
                  </a:rPr>
                  <a:t>$k\ge 1$</a:t>
                </a:r>
                <a:r>
                  <a:rPr sz="2400" b="0">
                    <a:solidFill>
                      <a:srgbClr val="111827"/>
                    </a:solidFill>
                    <a:latin typeface="Arial"/>
                  </a:rPr>
                  <a:t> here, so it starts at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r>
                  <a:rPr lang="en-IN" sz="2400">
                    <a:solidFill>
                      <a:srgbClr val="111827"/>
                    </a:solidFill>
                    <a:latin typeface="Cambria Math" panose="02040503050406030204" pitchFamily="18" charset="0"/>
                  </a:rPr>
                  <a:t>$=\frac{n}{2}(a_1+a_n)=n\times$</a:t>
                </a:r>
                <a:r>
                  <a:rPr sz="2400" b="0">
                    <a:solidFill>
                      <a:srgbClr val="111827"/>
                    </a:solidFill>
                    <a:latin typeface="Arial"/>
                  </a:rPr>
                  <a:t> mean (first and last average to the mean). Check: </a:t>
                </a:r>
                <a:r>
                  <a:rPr lang="en-IN" sz="2400">
                    <a:solidFill>
                      <a:srgbClr val="111827"/>
                    </a:solidFill>
                    <a:latin typeface="Cambria Math" panose="02040503050406030204" pitchFamily="18" charset="0"/>
                  </a:rPr>
                  <a:t>$7+13+19=39=3\times 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$B-C=B\cap C^c$</a:t>
                </a:r>
                <a:r>
                  <a:rPr sz="2400" b="0">
                    <a:solidFill>
                      <a:srgbClr val="111827"/>
                    </a:solidFill>
                    <a:latin typeface="Arial"/>
                  </a:rPr>
                  <a:t>, i.e. the elements of </a:t>
                </a:r>
                <a:r>
                  <a:rPr lang="en-IN" sz="2400">
                    <a:solidFill>
                      <a:srgbClr val="111827"/>
                    </a:solidFill>
                    <a:latin typeface="Cambria Math" panose="02040503050406030204" pitchFamily="18" charset="0"/>
                  </a:rPr>
                  <a:t>$B$</a:t>
                </a:r>
                <a:r>
                  <a:rPr sz="2400" b="0">
                    <a:solidFill>
                      <a:srgbClr val="111827"/>
                    </a:solidFill>
                    <a:latin typeface="Arial"/>
                  </a:rPr>
                  <a:t> not in </a:t>
                </a:r>
                <a:r>
                  <a:rPr lang="en-IN" sz="2400">
                    <a:solidFill>
                      <a:srgbClr val="111827"/>
                    </a:solidFill>
                    <a:latin typeface="Cambria Math" panose="02040503050406030204" pitchFamily="18" charset="0"/>
                  </a:rPr>
                  <a:t>$C$</a:t>
                </a:r>
                <a:r>
                  <a:rPr sz="2400" b="0">
                    <a:solidFill>
                      <a:srgbClr val="111827"/>
                    </a:solidFill>
                    <a:latin typeface="Arial"/>
                  </a:rPr>
                  <a:t>; for </a:t>
                </a:r>
                <a:r>
                  <a:rPr lang="en-IN" sz="2400">
                    <a:solidFill>
                      <a:srgbClr val="111827"/>
                    </a:solidFill>
                    <a:latin typeface="Cambria Math" panose="02040503050406030204" pitchFamily="18" charset="0"/>
                  </a:rPr>
                  <a:t>$\mathbb{N}$</a:t>
                </a:r>
                <a:r>
                  <a:rPr sz="2400" b="0">
                    <a:solidFill>
                      <a:srgbClr val="111827"/>
                    </a:solidFill>
                    <a:latin typeface="Arial"/>
                  </a:rPr>
                  <a:t> the set </a:t>
                </a:r>
                <a:r>
                  <a:rPr lang="en-IN" sz="2400">
                    <a:solidFill>
                      <a:srgbClr val="111827"/>
                    </a:solidFill>
                    <a:latin typeface="Cambria Math" panose="02040503050406030204" pitchFamily="18" charset="0"/>
                  </a:rPr>
                  <a:t>$C$</a:t>
                </a:r>
                <a:r>
                  <a:rPr sz="2400" b="0">
                    <a:solidFill>
                      <a:srgbClr val="111827"/>
                    </a:solidFill>
                    <a:latin typeface="Arial"/>
                  </a:rPr>
                  <a:t> is the even numbers.</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Q20 – Q21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Out of all the patients in a hospital </a:t>
                </a:r>
                <a14:m>
                  <m:oMath xmlns:m="http://schemas.openxmlformats.org/officeDocument/2006/math">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found to be suffering from heart ailment and </a:t>
                </a:r>
                <a14:m>
                  <m:oMath xmlns:m="http://schemas.openxmlformats.org/officeDocument/2006/math">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suffering from lungs infection. If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them are suffering from both ailments, then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can not belong to the set: [JEE(Main)Aug.2021]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Out of all the patients in a hospital </a:t>
                </a:r>
                <a:r>
                  <a:rPr lang="en-IN" sz="2400">
                    <a:solidFill>
                      <a:srgbClr val="111827"/>
                    </a:solidFill>
                    <a:latin typeface="Cambria Math" panose="02040503050406030204" pitchFamily="18" charset="0"/>
                  </a:rPr>
                  <a:t>$89\%$</a:t>
                </a:r>
                <a:r>
                  <a:rPr sz="2400" b="0">
                    <a:solidFill>
                      <a:srgbClr val="111827"/>
                    </a:solidFill>
                    <a:latin typeface="Arial"/>
                  </a:rPr>
                  <a:t> are found to be suffering from heart ailment and </a:t>
                </a:r>
                <a:r>
                  <a:rPr lang="en-IN" sz="2400">
                    <a:solidFill>
                      <a:srgbClr val="111827"/>
                    </a:solidFill>
                    <a:latin typeface="Cambria Math" panose="02040503050406030204" pitchFamily="18" charset="0"/>
                  </a:rPr>
                  <a:t>$98\%$</a:t>
                </a:r>
                <a:r>
                  <a:rPr sz="2400" b="0">
                    <a:solidFill>
                      <a:srgbClr val="111827"/>
                    </a:solidFill>
                    <a:latin typeface="Arial"/>
                  </a:rPr>
                  <a:t> are suffering from lungs infection. If </a:t>
                </a:r>
                <a:r>
                  <a:rPr lang="en-IN" sz="2400">
                    <a:solidFill>
                      <a:srgbClr val="111827"/>
                    </a:solidFill>
                    <a:latin typeface="Cambria Math" panose="02040503050406030204" pitchFamily="18" charset="0"/>
                  </a:rPr>
                  <a:t>$K\%$</a:t>
                </a:r>
                <a:r>
                  <a:rPr sz="2400" b="0">
                    <a:solidFill>
                      <a:srgbClr val="111827"/>
                    </a:solidFill>
                    <a:latin typeface="Arial"/>
                  </a:rPr>
                  <a:t> of them are suffering from both ailments, then </a:t>
                </a:r>
                <a:r>
                  <a:rPr lang="en-IN" sz="2400">
                    <a:solidFill>
                      <a:srgbClr val="111827"/>
                    </a:solidFill>
                    <a:latin typeface="Cambria Math" panose="02040503050406030204" pitchFamily="18" charset="0"/>
                  </a:rPr>
                  <a:t>$K$</a:t>
                </a:r>
                <a:r>
                  <a:rPr sz="2400" b="0">
                    <a:solidFill>
                      <a:srgbClr val="111827"/>
                    </a:solidFill>
                    <a:latin typeface="Arial"/>
                  </a:rPr>
                  <a:t> can not belong to the set: [JEE(Main)Aug.2021]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$\{84,87,90,93\}$</a:t>
                </a:r>
                <a:r>
                  <a:rPr sz="2400" b="0">
                    <a:solidFill>
                      <a:srgbClr val="111827"/>
                    </a:solidFill>
                    <a:latin typeface="Arial"/>
                  </a:rPr>
                  <a:t>   (B) </a:t>
                </a:r>
                <a:r>
                  <a:rPr lang="en-IN" sz="2400">
                    <a:solidFill>
                      <a:srgbClr val="111827"/>
                    </a:solidFill>
                    <a:latin typeface="Cambria Math" panose="02040503050406030204" pitchFamily="18" charset="0"/>
                  </a:rPr>
                  <a:t>$\{79,81,83,85\}$</a:t>
                </a:r>
                <a:r>
                  <a:rPr sz="2400" b="0">
                    <a:solidFill>
                      <a:srgbClr val="111827"/>
                    </a:solidFill>
                    <a:latin typeface="Arial"/>
                  </a:rPr>
                  <a:t>   (C) </a:t>
                </a:r>
                <a:r>
                  <a:rPr lang="en-IN" sz="2400">
                    <a:solidFill>
                      <a:srgbClr val="111827"/>
                    </a:solidFill>
                    <a:latin typeface="Cambria Math" panose="02040503050406030204" pitchFamily="18" charset="0"/>
                  </a:rPr>
                  <a:t>$\{84,86,88,90\}$</a:t>
                </a:r>
                <a:r>
                  <a:rPr sz="2400" b="0">
                    <a:solidFill>
                      <a:srgbClr val="111827"/>
                    </a:solidFill>
                    <a:latin typeface="Arial"/>
                  </a:rPr>
                  <a:t>   (D) </a:t>
                </a:r>
                <a:r>
                  <a:rPr lang="en-IN" sz="2400">
                    <a:solidFill>
                      <a:srgbClr val="111827"/>
                    </a:solidFill>
                    <a:latin typeface="Cambria Math" panose="02040503050406030204" pitchFamily="18" charset="0"/>
                  </a:rPr>
                  <a:t>$\{80,83,86,89\}$</a:t>
                </a:r>
                <a:endParaRPr sz="2400">
                  <a:solidFill>
                    <a:srgbClr val="111827"/>
                  </a:solidFill>
                </a:endParaRPr>
              </a:p>
            </p:txBody>
          </p:sp>
        </mc:Fallback>
      </mc:AlternateContent>
      <p:sp>
        <p:nvSpPr>
          <p:cNvPr id="5" name="Rectangle 4"/>
          <p:cNvSpPr/>
          <p:nvPr/>
        </p:nvSpPr>
        <p:spPr>
          <a:xfrm>
            <a:off x="731520" y="43240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 and inclusion-exclusion for two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Percentages of the whole add to </a:t>
                </a:r>
                <a14:m>
                  <m:oMath xmlns:m="http://schemas.openxmlformats.org/officeDocument/2006/math">
                    <m:r>
                      <a:rPr lang="en-IN" sz="2400" i="1">
                        <a:solidFill>
                          <a:srgbClr val="78350F"/>
                        </a:solidFill>
                        <a:latin typeface="Cambria Math" panose="02040503050406030204" pitchFamily="18" charset="0"/>
                      </a:rPr>
                      <m:t>100</m:t>
                    </m:r>
                  </m:oMath>
                </a14:m>
                <a:r>
                  <a:rPr sz="2400" b="0">
                    <a:solidFill>
                      <a:srgbClr val="78350F"/>
                    </a:solidFill>
                    <a:latin typeface="Arial"/>
                  </a:rPr>
                  <a:t>: both ailments together satisfy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87</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89</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Percentages of the whole add to </a:t>
                </a:r>
                <a:r>
                  <a:rPr lang="en-IN" sz="2400">
                    <a:solidFill>
                      <a:srgbClr val="78350F"/>
                    </a:solidFill>
                    <a:latin typeface="Cambria Math" panose="02040503050406030204" pitchFamily="18" charset="0"/>
                  </a:rPr>
                  <a:t>$100$</a:t>
                </a:r>
                <a:r>
                  <a:rPr sz="2400" b="0">
                    <a:solidFill>
                      <a:srgbClr val="78350F"/>
                    </a:solidFill>
                    <a:latin typeface="Arial"/>
                  </a:rPr>
                  <a:t>: both ailments together satisfy </a:t>
                </a:r>
                <a:r>
                  <a:rPr lang="en-IN" sz="2400">
                    <a:solidFill>
                      <a:srgbClr val="78350F"/>
                    </a:solidFill>
                    <a:latin typeface="Cambria Math" panose="02040503050406030204" pitchFamily="18" charset="0"/>
                  </a:rPr>
                  <a:t>$K\ge 89+98-100=87$</a:t>
                </a:r>
                <a:r>
                  <a:rPr sz="2400" b="0">
                    <a:solidFill>
                      <a:srgbClr val="78350F"/>
                    </a:solidFill>
                    <a:latin typeface="Arial"/>
                  </a:rPr>
                  <a:t>, and </a:t>
                </a:r>
                <a:r>
                  <a:rPr lang="en-IN" sz="2400">
                    <a:solidFill>
                      <a:srgbClr val="78350F"/>
                    </a:solidFill>
                    <a:latin typeface="Cambria Math" panose="02040503050406030204" pitchFamily="18" charset="0"/>
                  </a:rPr>
                  <a:t>$K\le 89$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heart ailment,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lung ailment;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 only heart,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 only lungs,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 both,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 neither (all in percent).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 (1);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 (2);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oMath>
                </a14:m>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(2) and (3):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(1)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heart ailment, </a:t>
                </a:r>
                <a:r>
                  <a:rPr lang="en-IN" sz="2400">
                    <a:solidFill>
                      <a:srgbClr val="111827"/>
                    </a:solidFill>
                    <a:latin typeface="Cambria Math" panose="02040503050406030204" pitchFamily="18" charset="0"/>
                  </a:rPr>
                  <a:t>$B$</a:t>
                </a:r>
                <a:r>
                  <a:rPr sz="2400" b="0">
                    <a:solidFill>
                      <a:srgbClr val="111827"/>
                    </a:solidFill>
                    <a:latin typeface="Arial"/>
                  </a:rPr>
                  <a:t> lung ailment; </a:t>
                </a:r>
                <a:r>
                  <a:rPr lang="en-IN" sz="2400">
                    <a:solidFill>
                      <a:srgbClr val="111827"/>
                    </a:solidFill>
                    <a:latin typeface="Cambria Math" panose="02040503050406030204" pitchFamily="18" charset="0"/>
                  </a:rPr>
                  <a:t>$a$</a:t>
                </a:r>
                <a:r>
                  <a:rPr sz="2400" b="0">
                    <a:solidFill>
                      <a:srgbClr val="111827"/>
                    </a:solidFill>
                    <a:latin typeface="Arial"/>
                  </a:rPr>
                  <a:t> = only heart, </a:t>
                </a:r>
                <a:r>
                  <a:rPr lang="en-IN" sz="2400">
                    <a:solidFill>
                      <a:srgbClr val="111827"/>
                    </a:solidFill>
                    <a:latin typeface="Cambria Math" panose="02040503050406030204" pitchFamily="18" charset="0"/>
                  </a:rPr>
                  <a:t>$b$</a:t>
                </a:r>
                <a:r>
                  <a:rPr sz="2400" b="0">
                    <a:solidFill>
                      <a:srgbClr val="111827"/>
                    </a:solidFill>
                    <a:latin typeface="Arial"/>
                  </a:rPr>
                  <a:t> = only lungs, </a:t>
                </a:r>
                <a:r>
                  <a:rPr lang="en-IN" sz="2400">
                    <a:solidFill>
                      <a:srgbClr val="111827"/>
                    </a:solidFill>
                    <a:latin typeface="Cambria Math" panose="02040503050406030204" pitchFamily="18" charset="0"/>
                  </a:rPr>
                  <a:t>$c$</a:t>
                </a:r>
                <a:r>
                  <a:rPr sz="2400" b="0">
                    <a:solidFill>
                      <a:srgbClr val="111827"/>
                    </a:solidFill>
                    <a:latin typeface="Arial"/>
                  </a:rPr>
                  <a:t> = both, </a:t>
                </a:r>
                <a:r>
                  <a:rPr lang="en-IN" sz="2400">
                    <a:solidFill>
                      <a:srgbClr val="111827"/>
                    </a:solidFill>
                    <a:latin typeface="Cambria Math" panose="02040503050406030204" pitchFamily="18" charset="0"/>
                  </a:rPr>
                  <a:t>$d$</a:t>
                </a:r>
                <a:r>
                  <a:rPr sz="2400" b="0">
                    <a:solidFill>
                      <a:srgbClr val="111827"/>
                    </a:solidFill>
                    <a:latin typeface="Arial"/>
                  </a:rPr>
                  <a:t> = neither (all in percent).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$a+b+c+d=100$</a:t>
                </a:r>
                <a:r>
                  <a:rPr sz="2400" b="0">
                    <a:solidFill>
                      <a:srgbClr val="111827"/>
                    </a:solidFill>
                    <a:latin typeface="Arial"/>
                  </a:rPr>
                  <a:t> ... (1); </a:t>
                </a:r>
                <a:r>
                  <a:rPr lang="en-IN" sz="2400">
                    <a:solidFill>
                      <a:srgbClr val="111827"/>
                    </a:solidFill>
                    <a:latin typeface="Cambria Math" panose="02040503050406030204" pitchFamily="18" charset="0"/>
                  </a:rPr>
                  <a:t>$a+c=89$</a:t>
                </a:r>
                <a:r>
                  <a:rPr sz="2400" b="0">
                    <a:solidFill>
                      <a:srgbClr val="111827"/>
                    </a:solidFill>
                    <a:latin typeface="Arial"/>
                  </a:rPr>
                  <a:t> ... (2); </a:t>
                </a:r>
                <a:r>
                  <a:rPr lang="en-IN" sz="2400">
                    <a:solidFill>
                      <a:srgbClr val="111827"/>
                    </a:solidFill>
                    <a:latin typeface="Cambria Math" panose="02040503050406030204" pitchFamily="18" charset="0"/>
                  </a:rPr>
                  <a:t>$b+c=98$</a:t>
                </a:r>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(2) and (3): </a:t>
                </a:r>
                <a:r>
                  <a:rPr lang="en-IN" sz="2400">
                    <a:solidFill>
                      <a:srgbClr val="111827"/>
                    </a:solidFill>
                    <a:latin typeface="Cambria Math" panose="02040503050406030204" pitchFamily="18" charset="0"/>
                  </a:rPr>
                  <a:t>$a+b+2c=187$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$d\ge 0$</a:t>
                </a:r>
                <a:r>
                  <a:rPr sz="2400" b="0">
                    <a:solidFill>
                      <a:srgbClr val="111827"/>
                    </a:solidFill>
                    <a:latin typeface="Arial"/>
                  </a:rPr>
                  <a:t>, (1) gives </a:t>
                </a:r>
                <a:r>
                  <a:rPr lang="en-IN" sz="2400">
                    <a:solidFill>
                      <a:srgbClr val="111827"/>
                    </a:solidFill>
                    <a:latin typeface="Cambria Math" panose="02040503050406030204" pitchFamily="18" charset="0"/>
                  </a:rPr>
                  <a:t>$a+b+c\le 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(A) contains </a:t>
                </a:r>
                <a14:m>
                  <m:oMath xmlns:m="http://schemas.openxmlformats.org/officeDocument/2006/math">
                    <m:r>
                      <a:rPr lang="en-IN" sz="2400" i="1">
                        <a:solidFill>
                          <a:srgbClr val="111827"/>
                        </a:solidFill>
                        <a:latin typeface="Cambria Math" panose="02040503050406030204" pitchFamily="18" charset="0"/>
                      </a:rPr>
                      <m:t>87</m:t>
                    </m:r>
                  </m:oMath>
                </a14:m>
                <a:r>
                  <a:rPr sz="2400" b="0">
                    <a:solidFill>
                      <a:srgbClr val="111827"/>
                    </a:solidFill>
                    <a:latin typeface="Arial"/>
                  </a:rPr>
                  <a:t>, set (C) contains </a:t>
                </a:r>
                <a14:m>
                  <m:oMath xmlns:m="http://schemas.openxmlformats.org/officeDocument/2006/math">
                    <m:r>
                      <a:rPr lang="en-IN" sz="2400" i="1">
                        <a:solidFill>
                          <a:srgbClr val="111827"/>
                        </a:solidFill>
                        <a:latin typeface="Cambria Math" panose="02040503050406030204" pitchFamily="18" charset="0"/>
                      </a:rPr>
                      <m:t>88</m:t>
                    </m:r>
                  </m:oMath>
                </a14:m>
                <a:r>
                  <a:rPr sz="2400" b="0">
                    <a:solidFill>
                      <a:srgbClr val="111827"/>
                    </a:solidFill>
                    <a:latin typeface="Arial"/>
                  </a:rPr>
                  <a:t> and set (D) contains </a:t>
                </a:r>
                <a14:m>
                  <m:oMath xmlns:m="http://schemas.openxmlformats.org/officeDocument/2006/math">
                    <m:r>
                      <a:rPr lang="en-IN" sz="2400" i="1">
                        <a:solidFill>
                          <a:srgbClr val="111827"/>
                        </a:solidFill>
                        <a:latin typeface="Cambria Math" panose="02040503050406030204" pitchFamily="18" charset="0"/>
                      </a:rPr>
                      <m:t>89</m:t>
                    </m:r>
                  </m:oMath>
                </a14:m>
                <a:r>
                  <a:rPr sz="2400" b="0">
                    <a:solidFill>
                      <a:srgbClr val="111827"/>
                    </a:solidFill>
                    <a:latin typeface="Arial"/>
                  </a:rPr>
                  <a:t>, all possible values of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(B)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no number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cannot belong to it: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$c=(a+b+2c)-(a+b+c)\ge 187-100=87$</a:t>
                </a:r>
                <a:r>
                  <a:rPr sz="2400" b="0">
                    <a:solidFill>
                      <a:srgbClr val="111827"/>
                    </a:solidFill>
                    <a:latin typeface="Arial"/>
                  </a:rPr>
                  <a:t>, so </a:t>
                </a:r>
                <a:r>
                  <a:rPr lang="en-IN" sz="2400">
                    <a:solidFill>
                      <a:srgbClr val="111827"/>
                    </a:solidFill>
                    <a:latin typeface="Cambria Math" panose="02040503050406030204" pitchFamily="18" charset="0"/>
                  </a:rPr>
                  <a:t>$K=c\ge 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$c=89-a\le 89$</a:t>
                </a:r>
                <a:r>
                  <a:rPr sz="2400" b="0">
                    <a:solidFill>
                      <a:srgbClr val="111827"/>
                    </a:solidFill>
                    <a:latin typeface="Arial"/>
                  </a:rPr>
                  <a:t>, so </a:t>
                </a:r>
                <a:r>
                  <a:rPr lang="en-IN" sz="2400">
                    <a:solidFill>
                      <a:srgbClr val="111827"/>
                    </a:solidFill>
                    <a:latin typeface="Cambria Math" panose="02040503050406030204" pitchFamily="18" charset="0"/>
                  </a:rPr>
                  <a:t>$87\le K\le 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(A) contains </a:t>
                </a:r>
                <a:r>
                  <a:rPr lang="en-IN" sz="2400">
                    <a:solidFill>
                      <a:srgbClr val="111827"/>
                    </a:solidFill>
                    <a:latin typeface="Cambria Math" panose="02040503050406030204" pitchFamily="18" charset="0"/>
                  </a:rPr>
                  <a:t>$87$</a:t>
                </a:r>
                <a:r>
                  <a:rPr sz="2400" b="0">
                    <a:solidFill>
                      <a:srgbClr val="111827"/>
                    </a:solidFill>
                    <a:latin typeface="Arial"/>
                  </a:rPr>
                  <a:t>, set (C) contains </a:t>
                </a:r>
                <a:r>
                  <a:rPr lang="en-IN" sz="2400">
                    <a:solidFill>
                      <a:srgbClr val="111827"/>
                    </a:solidFill>
                    <a:latin typeface="Cambria Math" panose="02040503050406030204" pitchFamily="18" charset="0"/>
                  </a:rPr>
                  <a:t>$88$</a:t>
                </a:r>
                <a:r>
                  <a:rPr sz="2400" b="0">
                    <a:solidFill>
                      <a:srgbClr val="111827"/>
                    </a:solidFill>
                    <a:latin typeface="Arial"/>
                  </a:rPr>
                  <a:t> and set (D) contains </a:t>
                </a:r>
                <a:r>
                  <a:rPr lang="en-IN" sz="2400">
                    <a:solidFill>
                      <a:srgbClr val="111827"/>
                    </a:solidFill>
                    <a:latin typeface="Cambria Math" panose="02040503050406030204" pitchFamily="18" charset="0"/>
                  </a:rPr>
                  <a:t>$89$</a:t>
                </a:r>
                <a:r>
                  <a:rPr sz="2400" b="0">
                    <a:solidFill>
                      <a:srgbClr val="111827"/>
                    </a:solidFill>
                    <a:latin typeface="Arial"/>
                  </a:rPr>
                  <a:t>, all possible values of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(B) </a:t>
                </a:r>
                <a:r>
                  <a:rPr lang="en-IN" sz="2400">
                    <a:solidFill>
                      <a:srgbClr val="111827"/>
                    </a:solidFill>
                    <a:latin typeface="Cambria Math" panose="02040503050406030204" pitchFamily="18" charset="0"/>
                  </a:rPr>
                  <a:t>$=\{79,81,83,85\}$</a:t>
                </a:r>
                <a:r>
                  <a:rPr sz="2400" b="0">
                    <a:solidFill>
                      <a:srgbClr val="111827"/>
                    </a:solidFill>
                    <a:latin typeface="Arial"/>
                  </a:rPr>
                  <a:t> contains no number in </a:t>
                </a:r>
                <a:r>
                  <a:rPr lang="en-IN" sz="2400">
                    <a:solidFill>
                      <a:srgbClr val="111827"/>
                    </a:solidFill>
                    <a:latin typeface="Cambria Math" panose="02040503050406030204" pitchFamily="18" charset="0"/>
                  </a:rPr>
                  <a:t>$[87,89]$</a:t>
                </a:r>
                <a:r>
                  <a:rPr sz="2400" b="0">
                    <a:solidFill>
                      <a:srgbClr val="111827"/>
                    </a:solidFill>
                    <a:latin typeface="Arial"/>
                  </a:rPr>
                  <a:t>, so </a:t>
                </a:r>
                <a:r>
                  <a:rPr lang="en-IN" sz="2400">
                    <a:solidFill>
                      <a:srgbClr val="111827"/>
                    </a:solidFill>
                    <a:latin typeface="Cambria Math" panose="02040503050406030204" pitchFamily="18" charset="0"/>
                  </a:rPr>
                  <a:t>$K$</a:t>
                </a:r>
                <a:r>
                  <a:rPr sz="2400" b="0">
                    <a:solidFill>
                      <a:srgbClr val="111827"/>
                    </a:solidFill>
                    <a:latin typeface="Arial"/>
                  </a:rPr>
                  <a:t> cannot belong to it: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85</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$\{79,81,83,85\}$</a:t>
                </a:r>
                <a:endParaRPr sz="2800">
                  <a:solidFill>
                    <a:srgbClr val="15803D"/>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complement: at most </a:t>
                </a:r>
                <a14:m>
                  <m:oMath xmlns:m="http://schemas.openxmlformats.org/officeDocument/2006/math">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lack at least one ailment, so at least </a:t>
                </a:r>
                <a14:m>
                  <m:oMath xmlns:m="http://schemas.openxmlformats.org/officeDocument/2006/math">
                    <m:r>
                      <a:rPr lang="en-IN" sz="2400" i="1">
                        <a:solidFill>
                          <a:srgbClr val="78350F"/>
                        </a:solidFill>
                        <a:latin typeface="Cambria Math" panose="02040503050406030204" pitchFamily="18" charset="0"/>
                      </a:rPr>
                      <m:t>87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have both.</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complement: at most </a:t>
                </a:r>
                <a:r>
                  <a:rPr lang="en-IN" sz="2400">
                    <a:solidFill>
                      <a:srgbClr val="78350F"/>
                    </a:solidFill>
                    <a:latin typeface="Cambria Math" panose="02040503050406030204" pitchFamily="18" charset="0"/>
                  </a:rPr>
                  <a:t>$11\%+2\%=13\%$</a:t>
                </a:r>
                <a:r>
                  <a:rPr sz="2400" b="0">
                    <a:solidFill>
                      <a:srgbClr val="78350F"/>
                    </a:solidFill>
                    <a:latin typeface="Arial"/>
                  </a:rPr>
                  <a:t> lack at least one ailment, so at least </a:t>
                </a:r>
                <a:r>
                  <a:rPr lang="en-IN" sz="2400">
                    <a:solidFill>
                      <a:srgbClr val="78350F"/>
                    </a:solidFill>
                    <a:latin typeface="Cambria Math" panose="02040503050406030204" pitchFamily="18" charset="0"/>
                  </a:rPr>
                  <a:t>$87\%$</a:t>
                </a:r>
                <a:r>
                  <a:rPr sz="2400" b="0">
                    <a:solidFill>
                      <a:srgbClr val="78350F"/>
                    </a:solidFill>
                    <a:latin typeface="Arial"/>
                  </a:rPr>
                  <a:t> have both.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Those without heart ailment are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those without lung infection are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patient not suffering from both lacks at least one ailment, so such patients are at most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Those without heart ailment are </a:t>
                </a:r>
                <a:r>
                  <a:rPr lang="en-IN" sz="2400">
                    <a:solidFill>
                      <a:srgbClr val="111827"/>
                    </a:solidFill>
                    <a:latin typeface="Cambria Math" panose="02040503050406030204" pitchFamily="18" charset="0"/>
                  </a:rPr>
                  <a:t>$100-89=11\%$</a:t>
                </a:r>
                <a:r>
                  <a:rPr sz="2400" b="0">
                    <a:solidFill>
                      <a:srgbClr val="111827"/>
                    </a:solidFill>
                    <a:latin typeface="Arial"/>
                  </a:rPr>
                  <a:t>; those without lung infection are </a:t>
                </a:r>
                <a:r>
                  <a:rPr lang="en-IN" sz="2400">
                    <a:solidFill>
                      <a:srgbClr val="111827"/>
                    </a:solidFill>
                    <a:latin typeface="Cambria Math" panose="02040503050406030204" pitchFamily="18" charset="0"/>
                  </a:rPr>
                  <a:t>$100-98=2\%$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patient not suffering from both lacks at least one ailment, so such patients are at most </a:t>
                </a:r>
                <a:r>
                  <a:rPr lang="en-IN" sz="2400">
                    <a:solidFill>
                      <a:srgbClr val="111827"/>
                    </a:solidFill>
                    <a:latin typeface="Cambria Math" panose="02040503050406030204" pitchFamily="18" charset="0"/>
                  </a:rPr>
                  <a:t>$11+2=13\%$</a:t>
                </a:r>
                <a:r>
                  <a:rPr sz="2400" b="0">
                    <a:solidFill>
                      <a:srgbClr val="111827"/>
                    </a:solidFill>
                    <a:latin typeface="Arial"/>
                  </a:rPr>
                  <a:t> of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$K\ge 100-13=87$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set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no number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$K\le\min(89,98)=89$</a:t>
                </a:r>
                <a:r>
                  <a:rPr sz="2400" b="0">
                    <a:solidFill>
                      <a:srgbClr val="111827"/>
                    </a:solidFill>
                    <a:latin typeface="Arial"/>
                  </a:rPr>
                  <a:t>, so </a:t>
                </a:r>
                <a:r>
                  <a:rPr lang="en-IN" sz="2400">
                    <a:solidFill>
                      <a:srgbClr val="111827"/>
                    </a:solidFill>
                    <a:latin typeface="Cambria Math" panose="02040503050406030204" pitchFamily="18" charset="0"/>
                  </a:rPr>
                  <a:t>$87\le K\le 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set (B) </a:t>
                </a:r>
                <a:r>
                  <a:rPr lang="en-IN" sz="2400">
                    <a:solidFill>
                      <a:srgbClr val="111827"/>
                    </a:solidFill>
                    <a:latin typeface="Cambria Math" panose="02040503050406030204" pitchFamily="18" charset="0"/>
                  </a:rPr>
                  <a:t>$\{79,81,83,85\}$</a:t>
                </a:r>
                <a:r>
                  <a:rPr sz="2400" b="0">
                    <a:solidFill>
                      <a:srgbClr val="111827"/>
                    </a:solidFill>
                    <a:latin typeface="Arial"/>
                  </a:rPr>
                  <a:t> has no number in </a:t>
                </a:r>
                <a:r>
                  <a:rPr lang="en-IN" sz="2400">
                    <a:solidFill>
                      <a:srgbClr val="111827"/>
                    </a:solidFill>
                    <a:latin typeface="Cambria Math" panose="02040503050406030204" pitchFamily="18" charset="0"/>
                  </a:rPr>
                  <a:t>$[87,89]$</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85</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$\{79,81,83,85\}$</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sets in a population of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is the percentage in both. Check: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Complement/union-bound view: those missing at least one property are at most (missing 1st) + (missing 2nd); so the percentage with both is at least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 'cannot belong to the set' carefully: here it asks for the set containing no admissible value.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sets in a population of </a:t>
                </a:r>
                <a:r>
                  <a:rPr lang="en-IN" sz="2400">
                    <a:solidFill>
                      <a:srgbClr val="111827"/>
                    </a:solidFill>
                    <a:latin typeface="Cambria Math" panose="02040503050406030204" pitchFamily="18" charset="0"/>
                  </a:rPr>
                  <a:t>$100$</a:t>
                </a:r>
                <a:r>
                  <a:rPr sz="2400" b="0">
                    <a:solidFill>
                      <a:srgbClr val="111827"/>
                    </a:solidFill>
                    <a:latin typeface="Arial"/>
                  </a:rPr>
                  <a:t>: </a:t>
                </a:r>
                <a:r>
                  <a:rPr lang="en-IN" sz="2400">
                    <a:solidFill>
                      <a:srgbClr val="111827"/>
                    </a:solidFill>
                    <a:latin typeface="Cambria Math" panose="02040503050406030204" pitchFamily="18" charset="0"/>
                  </a:rPr>
                  <a:t>$\max(0,\,p+q-100)\le K\le\min(p,q)$</a:t>
                </a:r>
                <a:r>
                  <a:rPr sz="2400" b="0">
                    <a:solidFill>
                      <a:srgbClr val="111827"/>
                    </a:solidFill>
                    <a:latin typeface="Arial"/>
                  </a:rPr>
                  <a:t>, where </a:t>
                </a:r>
                <a:r>
                  <a:rPr lang="en-IN" sz="2400">
                    <a:solidFill>
                      <a:srgbClr val="111827"/>
                    </a:solidFill>
                    <a:latin typeface="Cambria Math" panose="02040503050406030204" pitchFamily="18" charset="0"/>
                  </a:rPr>
                  <a:t>$K$</a:t>
                </a:r>
                <a:r>
                  <a:rPr sz="2400" b="0">
                    <a:solidFill>
                      <a:srgbClr val="111827"/>
                    </a:solidFill>
                    <a:latin typeface="Arial"/>
                  </a:rPr>
                  <a:t> is the percentage in both. Check: </a:t>
                </a:r>
                <a:r>
                  <a:rPr lang="en-IN" sz="2400">
                    <a:solidFill>
                      <a:srgbClr val="111827"/>
                    </a:solidFill>
                    <a:latin typeface="Cambria Math" panose="02040503050406030204" pitchFamily="18" charset="0"/>
                  </a:rPr>
                  <a:t>$p=89,q=98$</a:t>
                </a:r>
                <a:r>
                  <a:rPr sz="2400" b="0">
                    <a:solidFill>
                      <a:srgbClr val="111827"/>
                    </a:solidFill>
                    <a:latin typeface="Arial"/>
                  </a:rPr>
                  <a:t> gives </a:t>
                </a:r>
                <a:r>
                  <a:rPr lang="en-IN" sz="2400">
                    <a:solidFill>
                      <a:srgbClr val="111827"/>
                    </a:solidFill>
                    <a:latin typeface="Cambria Math" panose="02040503050406030204" pitchFamily="18" charset="0"/>
                  </a:rPr>
                  <a:t>$87\le K\le 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Complement/union-bound view: those missing at least one property are at most (missing 1st) + (missing 2nd); so the percentage with both is at least </a:t>
                </a:r>
                <a:r>
                  <a:rPr lang="en-IN" sz="2400">
                    <a:solidFill>
                      <a:srgbClr val="111827"/>
                    </a:solidFill>
                    <a:latin typeface="Cambria Math" panose="02040503050406030204" pitchFamily="18" charset="0"/>
                  </a:rPr>
                  <a:t>$100-(100-p)-(100-q)$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 'cannot belong to the set' carefully: here it asks for the set containing no admissible value.</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is not correct for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the set of real numbers: [JEE(Main)Aug.2021]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neither transitive nor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reflexive and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reflexive but not symmetric</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is not correct for relation </a:t>
                </a:r>
                <a:r>
                  <a:rPr lang="en-IN" sz="2400">
                    <a:solidFill>
                      <a:srgbClr val="111827"/>
                    </a:solidFill>
                    <a:latin typeface="Cambria Math" panose="02040503050406030204" pitchFamily="18" charset="0"/>
                  </a:rPr>
                  <a:t>$R$</a:t>
                </a:r>
                <a:r>
                  <a:rPr sz="2400" b="0">
                    <a:solidFill>
                      <a:srgbClr val="111827"/>
                    </a:solidFill>
                    <a:latin typeface="Arial"/>
                  </a:rPr>
                  <a:t> on the set of real numbers: [JEE(Main)Aug.2021]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$(x,y)\in R\iff 0&lt;|x|-|y|\le 1$</a:t>
                </a:r>
                <a:r>
                  <a:rPr sz="2400" b="0">
                    <a:solidFill>
                      <a:srgbClr val="111827"/>
                    </a:solidFill>
                    <a:latin typeface="Arial"/>
                  </a:rPr>
                  <a:t> is neither transitive nor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$(x,y)\in R\iff |x-y|\le 1$</a:t>
                </a:r>
                <a:r>
                  <a:rPr sz="2400" b="0">
                    <a:solidFill>
                      <a:srgbClr val="111827"/>
                    </a:solidFill>
                    <a:latin typeface="Arial"/>
                  </a:rPr>
                  <a:t> is reflexive and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$(x,y)\in R\iff 0&lt;|x-y|\le 1$</a:t>
                </a:r>
                <a:r>
                  <a:rPr sz="2400" b="0">
                    <a:solidFill>
                      <a:srgbClr val="111827"/>
                    </a:solidFill>
                    <a:latin typeface="Arial"/>
                  </a:rPr>
                  <a:t> is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$(x,y)\in R\iff |x|-|y|\le 1$</a:t>
                </a:r>
                <a:r>
                  <a:rPr sz="2400" b="0">
                    <a:solidFill>
                      <a:srgbClr val="111827"/>
                    </a:solidFill>
                    <a:latin typeface="Arial"/>
                  </a:rPr>
                  <a:t> is reflexive but not symmetric</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Reflexive, symmetric and transitive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Transitivity of a 'distance at most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relation fails by chaining points a full unit apart, e.g.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Transitivity of a 'distance at most </a:t>
                </a:r>
                <a:r>
                  <a:rPr lang="en-IN" sz="2400">
                    <a:solidFill>
                      <a:srgbClr val="78350F"/>
                    </a:solidFill>
                    <a:latin typeface="Cambria Math" panose="02040503050406030204" pitchFamily="18" charset="0"/>
                  </a:rPr>
                  <a:t>$1$</a:t>
                </a:r>
                <a:r>
                  <a:rPr sz="2400" b="0">
                    <a:solidFill>
                      <a:srgbClr val="78350F"/>
                    </a:solidFill>
                    <a:latin typeface="Arial"/>
                  </a:rPr>
                  <a:t>' relation fails by chaining points a full unit apart, e.g. </a:t>
                </a:r>
                <a:r>
                  <a:rPr lang="en-IN" sz="2400">
                    <a:solidFill>
                      <a:srgbClr val="78350F"/>
                    </a:solidFill>
                    <a:latin typeface="Cambria Math" panose="02040503050406030204" pitchFamily="18" charset="0"/>
                  </a:rPr>
                  <a:t>$0,1,2$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one statement is not correct; test each statement.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symmetric.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symmetric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one statement is not correct; test each statement.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$0&lt;|x|-|y|\le 1$</a:t>
                </a:r>
                <a:r>
                  <a:rPr sz="2400" b="0">
                    <a:solidFill>
                      <a:srgbClr val="111827"/>
                    </a:solidFill>
                    <a:latin typeface="Arial"/>
                  </a:rPr>
                  <a:t>: not reflexive (</a:t>
                </a:r>
                <a:r>
                  <a:rPr lang="en-IN" sz="2400">
                    <a:solidFill>
                      <a:srgbClr val="111827"/>
                    </a:solidFill>
                    <a:latin typeface="Cambria Math" panose="02040503050406030204" pitchFamily="18" charset="0"/>
                  </a:rPr>
                  <a:t>$|x|-|x|=0$</a:t>
                </a:r>
                <a:r>
                  <a:rPr sz="2400" b="0">
                    <a:solidFill>
                      <a:srgbClr val="111827"/>
                    </a:solidFill>
                    <a:latin typeface="Arial"/>
                  </a:rPr>
                  <a:t>). Not symmetric: </a:t>
                </a:r>
                <a:r>
                  <a:rPr lang="en-IN" sz="2400">
                    <a:solidFill>
                      <a:srgbClr val="111827"/>
                    </a:solidFill>
                    <a:latin typeface="Cambria Math" panose="02040503050406030204" pitchFamily="18" charset="0"/>
                  </a:rPr>
                  <a:t>$(1,0)\in R$</a:t>
                </a:r>
                <a:r>
                  <a:rPr sz="2400" b="0">
                    <a:solidFill>
                      <a:srgbClr val="111827"/>
                    </a:solidFill>
                    <a:latin typeface="Arial"/>
                  </a:rPr>
                  <a:t> but </a:t>
                </a:r>
                <a:r>
                  <a:rPr lang="en-IN" sz="2400">
                    <a:solidFill>
                      <a:srgbClr val="111827"/>
                    </a:solidFill>
                    <a:latin typeface="Cambria Math" panose="02040503050406030204" pitchFamily="18" charset="0"/>
                  </a:rPr>
                  <a:t>$(0,1)\notin R$</a:t>
                </a:r>
                <a:r>
                  <a:rPr sz="2400" b="0">
                    <a:solidFill>
                      <a:srgbClr val="111827"/>
                    </a:solidFill>
                    <a:latin typeface="Arial"/>
                  </a:rPr>
                  <a:t> since </a:t>
                </a:r>
                <a:r>
                  <a:rPr lang="en-IN" sz="2400">
                    <a:solidFill>
                      <a:srgbClr val="111827"/>
                    </a:solidFill>
                    <a:latin typeface="Cambria Math" panose="02040503050406030204" pitchFamily="18" charset="0"/>
                  </a:rPr>
                  <a:t>$|0|-|1|=-1$</a:t>
                </a:r>
                <a:r>
                  <a:rPr sz="2400" b="0">
                    <a:solidFill>
                      <a:srgbClr val="111827"/>
                    </a:solidFill>
                    <a:latin typeface="Arial"/>
                  </a:rPr>
                  <a:t>. Not transitive: </a:t>
                </a:r>
                <a:r>
                  <a:rPr lang="en-IN" sz="2400">
                    <a:solidFill>
                      <a:srgbClr val="111827"/>
                    </a:solidFill>
                    <a:latin typeface="Cambria Math" panose="02040503050406030204" pitchFamily="18" charset="0"/>
                  </a:rPr>
                  <a:t>$(1.8,0.9),(0.9,0)\in R$</a:t>
                </a:r>
                <a:r>
                  <a:rPr sz="2400" b="0">
                    <a:solidFill>
                      <a:srgbClr val="111827"/>
                    </a:solidFill>
                    <a:latin typeface="Arial"/>
                  </a:rPr>
                  <a:t> but </a:t>
                </a:r>
                <a:r>
                  <a:rPr lang="en-IN" sz="2400">
                    <a:solidFill>
                      <a:srgbClr val="111827"/>
                    </a:solidFill>
                    <a:latin typeface="Cambria Math" panose="02040503050406030204" pitchFamily="18" charset="0"/>
                  </a:rPr>
                  <a:t>$(1.8,0)\notin R$</a:t>
                </a:r>
                <a:r>
                  <a:rPr sz="2400" b="0">
                    <a:solidFill>
                      <a:srgbClr val="111827"/>
                    </a:solidFill>
                    <a:latin typeface="Arial"/>
                  </a:rPr>
                  <a:t> as </a:t>
                </a:r>
                <a:r>
                  <a:rPr lang="en-IN" sz="2400">
                    <a:solidFill>
                      <a:srgbClr val="111827"/>
                    </a:solidFill>
                    <a:latin typeface="Cambria Math" panose="02040503050406030204" pitchFamily="18" charset="0"/>
                  </a:rPr>
                  <a:t>$1.8&gt;1$</a:t>
                </a:r>
                <a:r>
                  <a:rPr sz="2400" b="0">
                    <a:solidFill>
                      <a:srgbClr val="111827"/>
                    </a:solidFill>
                    <a:latin typeface="Arial"/>
                  </a:rPr>
                  <a:t>.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$|x-y|\le 1$</a:t>
                </a:r>
                <a:r>
                  <a:rPr sz="2400" b="0">
                    <a:solidFill>
                      <a:srgbClr val="111827"/>
                    </a:solidFill>
                    <a:latin typeface="Arial"/>
                  </a:rPr>
                  <a:t>: </a:t>
                </a:r>
                <a:r>
                  <a:rPr lang="en-IN" sz="2400">
                    <a:solidFill>
                      <a:srgbClr val="111827"/>
                    </a:solidFill>
                    <a:latin typeface="Cambria Math" panose="02040503050406030204" pitchFamily="18" charset="0"/>
                  </a:rPr>
                  <a:t>$|x-x|=0\le 1$</a:t>
                </a:r>
                <a:r>
                  <a:rPr sz="2400" b="0">
                    <a:solidFill>
                      <a:srgbClr val="111827"/>
                    </a:solidFill>
                    <a:latin typeface="Arial"/>
                  </a:rPr>
                  <a:t>, so reflexive; </a:t>
                </a:r>
                <a:r>
                  <a:rPr lang="en-IN" sz="2400">
                    <a:solidFill>
                      <a:srgbClr val="111827"/>
                    </a:solidFill>
                    <a:latin typeface="Cambria Math" panose="02040503050406030204" pitchFamily="18" charset="0"/>
                  </a:rPr>
                  <a:t>$|x-y|=|y-x|$</a:t>
                </a:r>
                <a:r>
                  <a:rPr sz="2400" b="0">
                    <a:solidFill>
                      <a:srgbClr val="111827"/>
                    </a:solidFill>
                    <a:latin typeface="Arial"/>
                  </a:rPr>
                  <a:t>, so symmetric.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$0&lt;|x-y|\le 1$</a:t>
                </a:r>
                <a:r>
                  <a:rPr sz="2400" b="0">
                    <a:solidFill>
                      <a:srgbClr val="111827"/>
                    </a:solidFill>
                    <a:latin typeface="Arial"/>
                  </a:rPr>
                  <a:t>: symmetric since </a:t>
                </a:r>
                <a:r>
                  <a:rPr lang="en-IN" sz="2400">
                    <a:solidFill>
                      <a:srgbClr val="111827"/>
                    </a:solidFill>
                    <a:latin typeface="Cambria Math" panose="02040503050406030204" pitchFamily="18" charset="0"/>
                  </a:rPr>
                  <a:t>$|x-y|=|y-x|$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2</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oMath>
                </a14:m>
                <a:r>
                  <a:rPr sz="2400" b="0">
                    <a:solidFill>
                      <a:srgbClr val="111827"/>
                    </a:solidFill>
                    <a:latin typeface="Arial"/>
                  </a:rPr>
                  <a:t>. Not transitive: the statement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 it is symmetric but not transitive.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$0R1$</a:t>
                </a:r>
                <a:r>
                  <a:rPr sz="2400" b="0">
                    <a:solidFill>
                      <a:srgbClr val="111827"/>
                    </a:solidFill>
                    <a:latin typeface="Arial"/>
                  </a:rPr>
                  <a:t> (</a:t>
                </a:r>
                <a:r>
                  <a:rPr lang="en-IN" sz="2400">
                    <a:solidFill>
                      <a:srgbClr val="111827"/>
                    </a:solidFill>
                    <a:latin typeface="Cambria Math" panose="02040503050406030204" pitchFamily="18" charset="0"/>
                  </a:rPr>
                  <a:t>$|0-1|=1$</a:t>
                </a:r>
                <a:r>
                  <a:rPr sz="2400" b="0">
                    <a:solidFill>
                      <a:srgbClr val="111827"/>
                    </a:solidFill>
                    <a:latin typeface="Arial"/>
                  </a:rPr>
                  <a:t>) and </a:t>
                </a:r>
                <a:r>
                  <a:rPr lang="en-IN" sz="2400">
                    <a:solidFill>
                      <a:srgbClr val="111827"/>
                    </a:solidFill>
                    <a:latin typeface="Cambria Math" panose="02040503050406030204" pitchFamily="18" charset="0"/>
                  </a:rPr>
                  <a:t>$1R2$</a:t>
                </a:r>
                <a:r>
                  <a:rPr sz="2400" b="0">
                    <a:solidFill>
                      <a:srgbClr val="111827"/>
                    </a:solidFill>
                    <a:latin typeface="Arial"/>
                  </a:rPr>
                  <a:t>, but </a:t>
                </a:r>
                <a:r>
                  <a:rPr lang="en-IN" sz="2400">
                    <a:solidFill>
                      <a:srgbClr val="111827"/>
                    </a:solidFill>
                    <a:latin typeface="Cambria Math" panose="02040503050406030204" pitchFamily="18" charset="0"/>
                  </a:rPr>
                  <a:t>$|0-2|=2&gt;1$</a:t>
                </a:r>
                <a:r>
                  <a:rPr sz="2400" b="0">
                    <a:solidFill>
                      <a:srgbClr val="111827"/>
                    </a:solidFill>
                    <a:latin typeface="Arial"/>
                  </a:rPr>
                  <a:t>, so </a:t>
                </a:r>
                <a:r>
                  <a:rPr lang="en-IN" sz="2400">
                    <a:solidFill>
                      <a:srgbClr val="111827"/>
                    </a:solidFill>
                    <a:latin typeface="Cambria Math" panose="02040503050406030204" pitchFamily="18" charset="0"/>
                  </a:rPr>
                  <a:t>$0\not R\,2$</a:t>
                </a:r>
                <a:r>
                  <a:rPr sz="2400" b="0">
                    <a:solidFill>
                      <a:srgbClr val="111827"/>
                    </a:solidFill>
                    <a:latin typeface="Arial"/>
                  </a:rPr>
                  <a:t>. Not transitive: the statement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$|x|-|y|\le 1$</a:t>
                </a:r>
                <a:r>
                  <a:rPr sz="2400" b="0">
                    <a:solidFill>
                      <a:srgbClr val="111827"/>
                    </a:solidFill>
                    <a:latin typeface="Arial"/>
                  </a:rPr>
                  <a:t>: reflexive (</a:t>
                </a:r>
                <a:r>
                  <a:rPr lang="en-IN" sz="2400">
                    <a:solidFill>
                      <a:srgbClr val="111827"/>
                    </a:solidFill>
                    <a:latin typeface="Cambria Math" panose="02040503050406030204" pitchFamily="18" charset="0"/>
                  </a:rPr>
                  <a:t>$0\le 1$</a:t>
                </a:r>
                <a:r>
                  <a:rPr sz="2400" b="0">
                    <a:solidFill>
                      <a:srgbClr val="111827"/>
                    </a:solidFill>
                    <a:latin typeface="Arial"/>
                  </a:rPr>
                  <a:t>). Not symmetric: </a:t>
                </a:r>
                <a:r>
                  <a:rPr lang="en-IN" sz="2400">
                    <a:solidFill>
                      <a:srgbClr val="111827"/>
                    </a:solidFill>
                    <a:latin typeface="Cambria Math" panose="02040503050406030204" pitchFamily="18" charset="0"/>
                  </a:rPr>
                  <a:t>$(0,3)\in R$</a:t>
                </a:r>
                <a:r>
                  <a:rPr sz="2400" b="0">
                    <a:solidFill>
                      <a:srgbClr val="111827"/>
                    </a:solidFill>
                    <a:latin typeface="Arial"/>
                  </a:rPr>
                  <a:t> as </a:t>
                </a:r>
                <a:r>
                  <a:rPr lang="en-IN" sz="2400">
                    <a:solidFill>
                      <a:srgbClr val="111827"/>
                    </a:solidFill>
                    <a:latin typeface="Cambria Math" panose="02040503050406030204" pitchFamily="18" charset="0"/>
                  </a:rPr>
                  <a:t>$-3\le 1$</a:t>
                </a:r>
                <a:r>
                  <a:rPr sz="2400" b="0">
                    <a:solidFill>
                      <a:srgbClr val="111827"/>
                    </a:solidFill>
                    <a:latin typeface="Arial"/>
                  </a:rPr>
                  <a:t>, but </a:t>
                </a:r>
                <a:r>
                  <a:rPr lang="en-IN" sz="2400">
                    <a:solidFill>
                      <a:srgbClr val="111827"/>
                    </a:solidFill>
                    <a:latin typeface="Cambria Math" panose="02040503050406030204" pitchFamily="18" charset="0"/>
                  </a:rPr>
                  <a:t>$(3,0)\notin R$</a:t>
                </a:r>
                <a:r>
                  <a:rPr sz="2400" b="0">
                    <a:solidFill>
                      <a:srgbClr val="111827"/>
                    </a:solidFill>
                    <a:latin typeface="Arial"/>
                  </a:rPr>
                  <a:t> as </a:t>
                </a:r>
                <a:r>
                  <a:rPr lang="en-IN" sz="2400">
                    <a:solidFill>
                      <a:srgbClr val="111827"/>
                    </a:solidFill>
                    <a:latin typeface="Cambria Math" panose="02040503050406030204" pitchFamily="18" charset="0"/>
                  </a:rPr>
                  <a:t>$3&gt;1$</a:t>
                </a:r>
                <a:r>
                  <a:rPr sz="2400" b="0">
                    <a:solidFill>
                      <a:srgbClr val="111827"/>
                    </a:solidFill>
                    <a:latin typeface="Arial"/>
                  </a:rPr>
                  <a:t>. Statement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 it is symmetric but not transitive.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&lt;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is symmetric and transitive</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$(x,y)\in R\iff 0&lt;|x-y|\le 1$</a:t>
                </a:r>
                <a:r>
                  <a:rPr sz="2800" b="1">
                    <a:solidFill>
                      <a:srgbClr val="15803D"/>
                    </a:solidFill>
                    <a:latin typeface="Arial"/>
                  </a:rPr>
                  <a:t> is symmetric and transitive</a:t>
                </a:r>
                <a:endParaRPr sz="2800">
                  <a:solidFill>
                    <a:srgbClr val="15803D"/>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Exactly one option is false, so one counterexample to the most suspicious claim (transitivity in (C)) settles it.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of the form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its variant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oMath>
                </a14:m>
                <a:r>
                  <a:rPr sz="2400" b="0">
                    <a:solidFill>
                      <a:srgbClr val="111827"/>
                    </a:solidFill>
                    <a:latin typeface="Arial"/>
                  </a:rPr>
                  <a:t>) are 'closeness' relations; closeness is never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(C):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of the form '</a:t>
                </a:r>
                <a:r>
                  <a:rPr lang="en-IN" sz="2400">
                    <a:solidFill>
                      <a:srgbClr val="111827"/>
                    </a:solidFill>
                    <a:latin typeface="Cambria Math" panose="02040503050406030204" pitchFamily="18" charset="0"/>
                  </a:rPr>
                  <a:t>$|x-y|\le 1$</a:t>
                </a:r>
                <a:r>
                  <a:rPr sz="2400" b="0">
                    <a:solidFill>
                      <a:srgbClr val="111827"/>
                    </a:solidFill>
                    <a:latin typeface="Arial"/>
                  </a:rPr>
                  <a:t>' (and its variant with </a:t>
                </a:r>
                <a:r>
                  <a:rPr lang="en-IN" sz="2400">
                    <a:solidFill>
                      <a:srgbClr val="111827"/>
                    </a:solidFill>
                    <a:latin typeface="Cambria Math" panose="02040503050406030204" pitchFamily="18" charset="0"/>
                  </a:rPr>
                  <a:t>$0&lt;$</a:t>
                </a:r>
                <a:r>
                  <a:rPr sz="2400" b="0">
                    <a:solidFill>
                      <a:srgbClr val="111827"/>
                    </a:solidFill>
                    <a:latin typeface="Arial"/>
                  </a:rPr>
                  <a:t>) are 'closeness' relations; closeness is never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$x=0,y=1,z=2$</a:t>
                </a:r>
                <a:r>
                  <a:rPr sz="2400" b="0">
                    <a:solidFill>
                      <a:srgbClr val="111827"/>
                    </a:solidFill>
                    <a:latin typeface="Arial"/>
                  </a:rPr>
                  <a:t> in (C): </a:t>
                </a:r>
                <a:r>
                  <a:rPr lang="en-IN" sz="2400">
                    <a:solidFill>
                      <a:srgbClr val="111827"/>
                    </a:solidFill>
                    <a:latin typeface="Cambria Math" panose="02040503050406030204" pitchFamily="18" charset="0"/>
                  </a:rPr>
                  <a:t>$0&lt;|0-1|=1\le 1$</a:t>
                </a:r>
                <a:r>
                  <a:rPr sz="2400" b="0">
                    <a:solidFill>
                      <a:srgbClr val="111827"/>
                    </a:solidFill>
                    <a:latin typeface="Arial"/>
                  </a:rPr>
                  <a:t> and </a:t>
                </a:r>
                <a:r>
                  <a:rPr lang="en-IN" sz="2400">
                    <a:solidFill>
                      <a:srgbClr val="111827"/>
                    </a:solidFill>
                    <a:latin typeface="Cambria Math" panose="02040503050406030204" pitchFamily="18" charset="0"/>
                  </a:rPr>
                  <a:t>$0&lt;|1-2|=1\le 1$</a:t>
                </a:r>
                <a:r>
                  <a:rPr sz="2400" b="0">
                    <a:solidFill>
                      <a:srgbClr val="111827"/>
                    </a:solidFill>
                    <a:latin typeface="Arial"/>
                  </a:rPr>
                  <a:t>, but </a:t>
                </a:r>
                <a:r>
                  <a:rPr lang="en-IN" sz="2400">
                    <a:solidFill>
                      <a:srgbClr val="111827"/>
                    </a:solidFill>
                    <a:latin typeface="Cambria Math" panose="02040503050406030204" pitchFamily="18" charset="0"/>
                  </a:rPr>
                  <a:t>$|0-2|=2&gt;1$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(C) is not transitive and the claim 'symmetric and transitive' in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only one option is incorrect, the answer is (C) (the other three were also checked and are correct).</a:t>
            </a:r>
            <a:endParaRPr sz="2400">
              <a:solidFill>
                <a:srgbClr val="111827"/>
              </a:solidFill>
            </a:endParaRPr>
          </a:p>
        </p:txBody>
      </p:sp>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&lt;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is symmetric and transitive</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$(x,y)\in R\iff 0&lt;|x-y|\le 1$</a:t>
                </a:r>
                <a:r>
                  <a:rPr sz="2800" b="1">
                    <a:solidFill>
                      <a:srgbClr val="15803D"/>
                    </a:solidFill>
                    <a:latin typeface="Arial"/>
                  </a:rPr>
                  <a:t> is symmetric and transitive</a:t>
                </a:r>
                <a:endParaRPr sz="2800">
                  <a:solidFill>
                    <a:srgbClr val="15803D"/>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reflexive and symmetric but never transitive: </a:t>
                </a:r>
                <a14:m>
                  <m:oMath xmlns:m="http://schemas.openxmlformats.org/officeDocument/2006/math">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δ</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oMath>
                </a14:m>
                <a:r>
                  <a:rPr sz="2400" b="0">
                    <a:solidFill>
                      <a:srgbClr val="111827"/>
                    </a:solidFill>
                    <a:latin typeface="Arial"/>
                  </a:rPr>
                  <a:t>' to the condition removes the reflexive property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excluded) but keeps symmetry and still fails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relations built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reflexive, not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also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pick numbers on the boundary of the defining inequality.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$|x-y|\le \delta$</a:t>
                </a:r>
                <a:r>
                  <a:rPr sz="2400" b="0">
                    <a:solidFill>
                      <a:srgbClr val="111827"/>
                    </a:solidFill>
                    <a:latin typeface="Arial"/>
                  </a:rPr>
                  <a:t>' (</a:t>
                </a:r>
                <a:r>
                  <a:rPr lang="en-IN" sz="2400">
                    <a:solidFill>
                      <a:srgbClr val="111827"/>
                    </a:solidFill>
                    <a:latin typeface="Cambria Math" panose="02040503050406030204" pitchFamily="18" charset="0"/>
                  </a:rPr>
                  <a:t>$\delta&gt;0$</a:t>
                </a:r>
                <a:r>
                  <a:rPr sz="2400" b="0">
                    <a:solidFill>
                      <a:srgbClr val="111827"/>
                    </a:solidFill>
                    <a:latin typeface="Arial"/>
                  </a:rPr>
                  <a:t>) is reflexive and symmetric but never transitive: </a:t>
                </a:r>
                <a:r>
                  <a:rPr lang="en-IN" sz="2400">
                    <a:solidFill>
                      <a:srgbClr val="111827"/>
                    </a:solidFill>
                    <a:latin typeface="Cambria Math" panose="02040503050406030204" pitchFamily="18" charset="0"/>
                  </a:rPr>
                  <a:t>$0R\delta$</a:t>
                </a:r>
                <a:r>
                  <a:rPr sz="2400" b="0">
                    <a:solidFill>
                      <a:srgbClr val="111827"/>
                    </a:solidFill>
                    <a:latin typeface="Arial"/>
                  </a:rPr>
                  <a:t>, </a:t>
                </a:r>
                <a:r>
                  <a:rPr lang="en-IN" sz="2400">
                    <a:solidFill>
                      <a:srgbClr val="111827"/>
                    </a:solidFill>
                    <a:latin typeface="Cambria Math" panose="02040503050406030204" pitchFamily="18" charset="0"/>
                  </a:rPr>
                  <a:t>$\delta R2\delta$</a:t>
                </a:r>
                <a:r>
                  <a:rPr sz="2400" b="0">
                    <a:solidFill>
                      <a:srgbClr val="111827"/>
                    </a:solidFill>
                    <a:latin typeface="Arial"/>
                  </a:rPr>
                  <a:t>, but </a:t>
                </a:r>
                <a:r>
                  <a:rPr lang="en-IN" sz="2400">
                    <a:solidFill>
                      <a:srgbClr val="111827"/>
                    </a:solidFill>
                    <a:latin typeface="Cambria Math" panose="02040503050406030204" pitchFamily="18" charset="0"/>
                  </a:rPr>
                  <a:t>$|0-2\delta|=2\delta&gt;\delta$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$0&lt;$</a:t>
                </a:r>
                <a:r>
                  <a:rPr sz="2400" b="0">
                    <a:solidFill>
                      <a:srgbClr val="111827"/>
                    </a:solidFill>
                    <a:latin typeface="Arial"/>
                  </a:rPr>
                  <a:t>' to the condition removes the reflexive property (</a:t>
                </a:r>
                <a:r>
                  <a:rPr lang="en-IN" sz="2400">
                    <a:solidFill>
                      <a:srgbClr val="111827"/>
                    </a:solidFill>
                    <a:latin typeface="Cambria Math" panose="02040503050406030204" pitchFamily="18" charset="0"/>
                  </a:rPr>
                  <a:t>$|x-x|=0$</a:t>
                </a:r>
                <a:r>
                  <a:rPr sz="2400" b="0">
                    <a:solidFill>
                      <a:srgbClr val="111827"/>
                    </a:solidFill>
                    <a:latin typeface="Arial"/>
                  </a:rPr>
                  <a:t> is excluded) but keeps symmetry and still fails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relations built from </a:t>
                </a:r>
                <a:r>
                  <a:rPr lang="en-IN" sz="2400">
                    <a:solidFill>
                      <a:srgbClr val="111827"/>
                    </a:solidFill>
                    <a:latin typeface="Cambria Math" panose="02040503050406030204" pitchFamily="18" charset="0"/>
                  </a:rPr>
                  <a:t>$|x|-|y|$</a:t>
                </a:r>
                <a:r>
                  <a:rPr sz="2400" b="0">
                    <a:solidFill>
                      <a:srgbClr val="111827"/>
                    </a:solidFill>
                    <a:latin typeface="Arial"/>
                  </a:rPr>
                  <a:t> (not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$|x|-|y|\le 1$</a:t>
                </a:r>
                <a:r>
                  <a:rPr sz="2400" b="0">
                    <a:solidFill>
                      <a:srgbClr val="111827"/>
                    </a:solidFill>
                    <a:latin typeface="Arial"/>
                  </a:rPr>
                  <a:t> is reflexive, not symmetric (</a:t>
                </a:r>
                <a:r>
                  <a:rPr lang="en-IN" sz="2400">
                    <a:solidFill>
                      <a:srgbClr val="111827"/>
                    </a:solidFill>
                    <a:latin typeface="Cambria Math" panose="02040503050406030204" pitchFamily="18" charset="0"/>
                  </a:rPr>
                  <a:t>$(0,3)\in R$</a:t>
                </a:r>
                <a:r>
                  <a:rPr sz="2400" b="0">
                    <a:solidFill>
                      <a:srgbClr val="111827"/>
                    </a:solidFill>
                    <a:latin typeface="Arial"/>
                  </a:rPr>
                  <a:t> but </a:t>
                </a:r>
                <a:r>
                  <a:rPr lang="en-IN" sz="2400">
                    <a:solidFill>
                      <a:srgbClr val="111827"/>
                    </a:solidFill>
                    <a:latin typeface="Cambria Math" panose="02040503050406030204" pitchFamily="18" charset="0"/>
                  </a:rPr>
                  <a:t>$(3,0)\notin R$</a:t>
                </a:r>
                <a:r>
                  <a:rPr sz="2400" b="0">
                    <a:solidFill>
                      <a:srgbClr val="111827"/>
                    </a:solidFill>
                    <a:latin typeface="Arial"/>
                  </a:rPr>
                  <a:t>), also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a property pick numbers on the boundary of the defining inequality.</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is the set of all integers, then the number of subsets of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is ________. [JEE(Main) Aug 2021]</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$A=\{x\in\mathbb{R}:|x-2|&gt;1\}$</a:t>
                </a:r>
                <a:r>
                  <a:rPr sz="2400" b="0">
                    <a:solidFill>
                      <a:srgbClr val="111827"/>
                    </a:solidFill>
                    <a:latin typeface="Arial"/>
                  </a:rPr>
                  <a:t>, </a:t>
                </a:r>
                <a:r>
                  <a:rPr lang="en-IN" sz="2400">
                    <a:solidFill>
                      <a:srgbClr val="111827"/>
                    </a:solidFill>
                    <a:latin typeface="Cambria Math" panose="02040503050406030204" pitchFamily="18" charset="0"/>
                  </a:rPr>
                  <a:t>$B=\left\{x\in\mathbb{R}:\sqrt{x^2-3}&gt;1\right\}$</a:t>
                </a:r>
                <a:r>
                  <a:rPr sz="2400" b="0">
                    <a:solidFill>
                      <a:srgbClr val="111827"/>
                    </a:solidFill>
                    <a:latin typeface="Arial"/>
                  </a:rPr>
                  <a:t>, </a:t>
                </a:r>
                <a:r>
                  <a:rPr lang="en-IN" sz="2400">
                    <a:solidFill>
                      <a:srgbClr val="111827"/>
                    </a:solidFill>
                    <a:latin typeface="Cambria Math" panose="02040503050406030204" pitchFamily="18" charset="0"/>
                  </a:rPr>
                  <a:t>$C=\{x\in\mathbb{R}:|x-4|\ge2\}$</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 is the set of all integers, then the number of subsets of the set </a:t>
                </a:r>
                <a:r>
                  <a:rPr lang="en-IN" sz="2400">
                    <a:solidFill>
                      <a:srgbClr val="111827"/>
                    </a:solidFill>
                    <a:latin typeface="Cambria Math" panose="02040503050406030204" pitchFamily="18" charset="0"/>
                  </a:rPr>
                  <a:t>$(A\cap B\cap C)^c\cap Z$</a:t>
                </a:r>
                <a:r>
                  <a:rPr sz="2400" b="0">
                    <a:solidFill>
                      <a:srgbClr val="111827"/>
                    </a:solidFill>
                    <a:latin typeface="Arial"/>
                  </a:rPr>
                  <a:t> is ________. [JEE(Main) Aug 2021]</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(intervals) and number of subsets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Intersect the three interval sets, take the complement, keep the integers, then use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subsets.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Intersect the three interval sets, take the complement, keep the integers, then use </a:t>
                </a:r>
                <a:r>
                  <a:rPr lang="en-IN" sz="2400">
                    <a:solidFill>
                      <a:srgbClr val="78350F"/>
                    </a:solidFill>
                    <a:latin typeface="Cambria Math" panose="02040503050406030204" pitchFamily="18" charset="0"/>
                  </a:rPr>
                  <a:t>$2^n$</a:t>
                </a:r>
                <a:r>
                  <a:rPr sz="2400" b="0">
                    <a:solidFill>
                      <a:srgbClr val="78350F"/>
                    </a:solidFill>
                    <a:latin typeface="Arial"/>
                  </a:rPr>
                  <a:t> subsets.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intersecting with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$|x-2|&gt;1$</a:t>
                </a:r>
                <a:r>
                  <a:rPr sz="2400" b="0">
                    <a:solidFill>
                      <a:srgbClr val="111827"/>
                    </a:solidFill>
                    <a:latin typeface="Arial"/>
                  </a:rPr>
                  <a:t> gives </a:t>
                </a:r>
                <a:r>
                  <a:rPr lang="en-IN" sz="2400">
                    <a:solidFill>
                      <a:srgbClr val="111827"/>
                    </a:solidFill>
                    <a:latin typeface="Cambria Math" panose="02040503050406030204" pitchFamily="18" charset="0"/>
                  </a:rPr>
                  <a:t>$x-2&lt;-1$</a:t>
                </a:r>
                <a:r>
                  <a:rPr sz="2400" b="0">
                    <a:solidFill>
                      <a:srgbClr val="111827"/>
                    </a:solidFill>
                    <a:latin typeface="Arial"/>
                  </a:rPr>
                  <a:t> or </a:t>
                </a:r>
                <a:r>
                  <a:rPr lang="en-IN" sz="2400">
                    <a:solidFill>
                      <a:srgbClr val="111827"/>
                    </a:solidFill>
                    <a:latin typeface="Cambria Math" panose="02040503050406030204" pitchFamily="18" charset="0"/>
                  </a:rPr>
                  <a:t>$x-2&gt;1$</a:t>
                </a:r>
                <a:r>
                  <a:rPr sz="2400" b="0">
                    <a:solidFill>
                      <a:srgbClr val="111827"/>
                    </a:solidFill>
                    <a:latin typeface="Arial"/>
                  </a:rPr>
                  <a:t>, i.e. </a:t>
                </a:r>
                <a:r>
                  <a:rPr lang="en-IN" sz="2400">
                    <a:solidFill>
                      <a:srgbClr val="111827"/>
                    </a:solidFill>
                    <a:latin typeface="Cambria Math" panose="02040503050406030204" pitchFamily="18" charset="0"/>
                  </a:rPr>
                  <a:t>$x&lt;1$</a:t>
                </a:r>
                <a:r>
                  <a:rPr sz="2400" b="0">
                    <a:solidFill>
                      <a:srgbClr val="111827"/>
                    </a:solidFill>
                    <a:latin typeface="Arial"/>
                  </a:rPr>
                  <a:t> or </a:t>
                </a:r>
                <a:r>
                  <a:rPr lang="en-IN" sz="2400">
                    <a:solidFill>
                      <a:srgbClr val="111827"/>
                    </a:solidFill>
                    <a:latin typeface="Cambria Math" panose="02040503050406030204" pitchFamily="18" charset="0"/>
                  </a:rPr>
                  <a:t>$x&gt;3$</a:t>
                </a:r>
                <a:r>
                  <a:rPr sz="2400" b="0">
                    <a:solidFill>
                      <a:srgbClr val="111827"/>
                    </a:solidFill>
                    <a:latin typeface="Arial"/>
                  </a:rPr>
                  <a:t>. So </a:t>
                </a:r>
                <a:r>
                  <a:rPr lang="en-IN" sz="2400">
                    <a:solidFill>
                      <a:srgbClr val="111827"/>
                    </a:solidFill>
                    <a:latin typeface="Cambria Math" panose="02040503050406030204" pitchFamily="18" charset="0"/>
                  </a:rPr>
                  <a:t>$A=(-\infty,1)\cup(3,\infty)$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$\sqrt{x^2-3}&gt;1$</a:t>
                </a:r>
                <a:r>
                  <a:rPr sz="2400" b="0">
                    <a:solidFill>
                      <a:srgbClr val="111827"/>
                    </a:solidFill>
                    <a:latin typeface="Arial"/>
                  </a:rPr>
                  <a:t> gives </a:t>
                </a:r>
                <a:r>
                  <a:rPr lang="en-IN" sz="2400">
                    <a:solidFill>
                      <a:srgbClr val="111827"/>
                    </a:solidFill>
                    <a:latin typeface="Cambria Math" panose="02040503050406030204" pitchFamily="18" charset="0"/>
                  </a:rPr>
                  <a:t>$x^2-3&gt;1$</a:t>
                </a:r>
                <a:r>
                  <a:rPr sz="2400" b="0">
                    <a:solidFill>
                      <a:srgbClr val="111827"/>
                    </a:solidFill>
                    <a:latin typeface="Arial"/>
                  </a:rPr>
                  <a:t>, so </a:t>
                </a:r>
                <a:r>
                  <a:rPr lang="en-IN" sz="2400">
                    <a:solidFill>
                      <a:srgbClr val="111827"/>
                    </a:solidFill>
                    <a:latin typeface="Cambria Math" panose="02040503050406030204" pitchFamily="18" charset="0"/>
                  </a:rPr>
                  <a:t>$x^2&gt;4$</a:t>
                </a:r>
                <a:r>
                  <a:rPr sz="2400" b="0">
                    <a:solidFill>
                      <a:srgbClr val="111827"/>
                    </a:solidFill>
                    <a:latin typeface="Arial"/>
                  </a:rPr>
                  <a:t> and </a:t>
                </a:r>
                <a:r>
                  <a:rPr lang="en-IN" sz="2400">
                    <a:solidFill>
                      <a:srgbClr val="111827"/>
                    </a:solidFill>
                    <a:latin typeface="Cambria Math" panose="02040503050406030204" pitchFamily="18" charset="0"/>
                  </a:rPr>
                  <a:t>$B=(-\infty,-2)\cup(2,\infty)$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$|x-4|\ge2$</a:t>
                </a:r>
                <a:r>
                  <a:rPr sz="2400" b="0">
                    <a:solidFill>
                      <a:srgbClr val="111827"/>
                    </a:solidFill>
                    <a:latin typeface="Arial"/>
                  </a:rPr>
                  <a:t> gives </a:t>
                </a:r>
                <a:r>
                  <a:rPr lang="en-IN" sz="2400">
                    <a:solidFill>
                      <a:srgbClr val="111827"/>
                    </a:solidFill>
                    <a:latin typeface="Cambria Math" panose="02040503050406030204" pitchFamily="18" charset="0"/>
                  </a:rPr>
                  <a:t>$x-4\le-2$</a:t>
                </a:r>
                <a:r>
                  <a:rPr sz="2400" b="0">
                    <a:solidFill>
                      <a:srgbClr val="111827"/>
                    </a:solidFill>
                    <a:latin typeface="Arial"/>
                  </a:rPr>
                  <a:t> or </a:t>
                </a:r>
                <a:r>
                  <a:rPr lang="en-IN" sz="2400">
                    <a:solidFill>
                      <a:srgbClr val="111827"/>
                    </a:solidFill>
                    <a:latin typeface="Cambria Math" panose="02040503050406030204" pitchFamily="18" charset="0"/>
                  </a:rPr>
                  <a:t>$x-4\ge2$</a:t>
                </a:r>
                <a:r>
                  <a:rPr sz="2400" b="0">
                    <a:solidFill>
                      <a:srgbClr val="111827"/>
                    </a:solidFill>
                    <a:latin typeface="Arial"/>
                  </a:rPr>
                  <a:t>, i.e. </a:t>
                </a:r>
                <a:r>
                  <a:rPr lang="en-IN" sz="2400">
                    <a:solidFill>
                      <a:srgbClr val="111827"/>
                    </a:solidFill>
                    <a:latin typeface="Cambria Math" panose="02040503050406030204" pitchFamily="18" charset="0"/>
                  </a:rPr>
                  <a:t>$x\le2$</a:t>
                </a:r>
                <a:r>
                  <a:rPr sz="2400" b="0">
                    <a:solidFill>
                      <a:srgbClr val="111827"/>
                    </a:solidFill>
                    <a:latin typeface="Arial"/>
                  </a:rPr>
                  <a:t> or </a:t>
                </a:r>
                <a:r>
                  <a:rPr lang="en-IN" sz="2400">
                    <a:solidFill>
                      <a:srgbClr val="111827"/>
                    </a:solidFill>
                    <a:latin typeface="Cambria Math" panose="02040503050406030204" pitchFamily="18" charset="0"/>
                  </a:rPr>
                  <a:t>$x\ge6$</a:t>
                </a:r>
                <a:r>
                  <a:rPr sz="2400" b="0">
                    <a:solidFill>
                      <a:srgbClr val="111827"/>
                    </a:solidFill>
                    <a:latin typeface="Arial"/>
                  </a:rPr>
                  <a:t>. So </a:t>
                </a:r>
                <a:r>
                  <a:rPr lang="en-IN" sz="2400">
                    <a:solidFill>
                      <a:srgbClr val="111827"/>
                    </a:solidFill>
                    <a:latin typeface="Cambria Math" panose="02040503050406030204" pitchFamily="18" charset="0"/>
                  </a:rPr>
                  <a:t>$C=(-\infty,2]\cup[6,\infty)$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B=(-\infty,-2)\cup(3,\infty)$</a:t>
                </a:r>
                <a:r>
                  <a:rPr sz="2400" b="0">
                    <a:solidFill>
                      <a:srgbClr val="111827"/>
                    </a:solidFill>
                    <a:latin typeface="Arial"/>
                  </a:rPr>
                  <a:t>, and intersecting with </a:t>
                </a:r>
                <a:r>
                  <a:rPr lang="en-IN" sz="2400">
                    <a:solidFill>
                      <a:srgbClr val="111827"/>
                    </a:solidFill>
                    <a:latin typeface="Cambria Math" panose="02040503050406030204" pitchFamily="18" charset="0"/>
                  </a:rPr>
                  <a:t>$C$</a:t>
                </a:r>
                <a:r>
                  <a:rPr sz="2400" b="0">
                    <a:solidFill>
                      <a:srgbClr val="111827"/>
                    </a:solidFill>
                    <a:latin typeface="Arial"/>
                  </a:rPr>
                  <a:t> gives </a:t>
                </a:r>
                <a:r>
                  <a:rPr lang="en-IN" sz="2400">
                    <a:solidFill>
                      <a:srgbClr val="111827"/>
                    </a:solidFill>
                    <a:latin typeface="Cambria Math" panose="02040503050406030204" pitchFamily="18" charset="0"/>
                  </a:rPr>
                  <a:t>$A\cap B\cap C=(-\infty,-2)\cup[6,\infty)$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has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$(A\cap B\cap C)^c=[-2,6)$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B\cap C)^c\cap Z=\{-2,-1,0,1,2,3,4,5\}$</a:t>
                </a:r>
                <a:r>
                  <a:rPr sz="2400" b="0">
                    <a:solidFill>
                      <a:srgbClr val="111827"/>
                    </a:solidFill>
                    <a:latin typeface="Arial"/>
                  </a:rPr>
                  <a:t>, which has </a:t>
                </a:r>
                <a:r>
                  <a:rPr lang="en-IN" sz="2400">
                    <a:solidFill>
                      <a:srgbClr val="111827"/>
                    </a:solidFill>
                    <a:latin typeface="Cambria Math" panose="02040503050406030204" pitchFamily="18" charset="0"/>
                  </a:rPr>
                  <a:t>$8$</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r>
                  <a:rPr lang="en-IN" sz="2400">
                    <a:solidFill>
                      <a:srgbClr val="111827"/>
                    </a:solidFill>
                    <a:latin typeface="Cambria Math" panose="02040503050406030204" pitchFamily="18" charset="0"/>
                  </a:rPr>
                  <a:t>$=2^8=256$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256</a:t>
            </a:r>
            <a:endParaRPr sz="2800">
              <a:solidFill>
                <a:srgbClr val="15803D"/>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De Morgan: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𝑐</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𝑐</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𝑐</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𝐶</m:t>
                        </m:r>
                      </m:e>
                      <m:sup>
                        <m:r>
                          <a:rPr lang="en-IN" sz="2400" i="1">
                            <a:solidFill>
                              <a:srgbClr val="78350F"/>
                            </a:solidFill>
                            <a:latin typeface="Cambria Math" panose="02040503050406030204" pitchFamily="18" charset="0"/>
                          </a:rPr>
                          <m:t>𝑐</m:t>
                        </m:r>
                      </m:sup>
                    </m:sSup>
                  </m:oMath>
                </a14:m>
                <a:r>
                  <a:rPr sz="2400" b="0">
                    <a:solidFill>
                      <a:srgbClr val="78350F"/>
                    </a:solidFill>
                    <a:latin typeface="Arial"/>
                  </a:rPr>
                  <a:t>, and each complement is a simple closed or open interval.</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De Morgan: </a:t>
                </a:r>
                <a:r>
                  <a:rPr lang="en-IN" sz="2400">
                    <a:solidFill>
                      <a:srgbClr val="78350F"/>
                    </a:solidFill>
                    <a:latin typeface="Cambria Math" panose="02040503050406030204" pitchFamily="18" charset="0"/>
                  </a:rPr>
                  <a:t>$(A\cap B\cap C)^c=A^c\cup B^c\cup C^c$</a:t>
                </a:r>
                <a:r>
                  <a:rPr sz="2400" b="0">
                    <a:solidFill>
                      <a:srgbClr val="78350F"/>
                    </a:solidFill>
                    <a:latin typeface="Arial"/>
                  </a:rPr>
                  <a:t>, and each complement is a simple closed or open interval.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𝑜𝑟 𝑢𝑛𝑑𝑒𝑓𝑖𝑛𝑒𝑑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the root is undefined, so those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are not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either).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$A^c=\{x:|x-2|\le1\}=[1,3]$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$B^c=\{x:\sqrt{x^2-3}\le1\ \text{or undefined}\}=\{x:x^2\le4\}=[-2,2]$</a:t>
                </a:r>
                <a:r>
                  <a:rPr sz="2400" b="0">
                    <a:solidFill>
                      <a:srgbClr val="111827"/>
                    </a:solidFill>
                    <a:latin typeface="Arial"/>
                  </a:rPr>
                  <a:t> (when </a:t>
                </a:r>
                <a:r>
                  <a:rPr lang="en-IN" sz="2400">
                    <a:solidFill>
                      <a:srgbClr val="111827"/>
                    </a:solidFill>
                    <a:latin typeface="Cambria Math" panose="02040503050406030204" pitchFamily="18" charset="0"/>
                  </a:rPr>
                  <a:t>$x^2&lt;3$</a:t>
                </a:r>
                <a:r>
                  <a:rPr sz="2400" b="0">
                    <a:solidFill>
                      <a:srgbClr val="111827"/>
                    </a:solidFill>
                    <a:latin typeface="Arial"/>
                  </a:rPr>
                  <a:t> the root is undefined, so those </a:t>
                </a:r>
                <a:r>
                  <a:rPr lang="en-IN" sz="2400">
                    <a:solidFill>
                      <a:srgbClr val="111827"/>
                    </a:solidFill>
                    <a:latin typeface="Cambria Math" panose="02040503050406030204" pitchFamily="18" charset="0"/>
                  </a:rPr>
                  <a:t>$x$</a:t>
                </a:r>
                <a:r>
                  <a:rPr sz="2400" b="0">
                    <a:solidFill>
                      <a:srgbClr val="111827"/>
                    </a:solidFill>
                    <a:latin typeface="Arial"/>
                  </a:rPr>
                  <a:t> are not in </a:t>
                </a:r>
                <a:r>
                  <a:rPr lang="en-IN" sz="2400">
                    <a:solidFill>
                      <a:srgbClr val="111827"/>
                    </a:solidFill>
                    <a:latin typeface="Cambria Math" panose="02040503050406030204" pitchFamily="18" charset="0"/>
                  </a:rPr>
                  <a:t>$B$</a:t>
                </a:r>
                <a:r>
                  <a:rPr sz="2400" b="0">
                    <a:solidFill>
                      <a:srgbClr val="111827"/>
                    </a:solidFill>
                    <a:latin typeface="Arial"/>
                  </a:rPr>
                  <a:t> either).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$C^c=\{x:|x-4|&lt;2\}=(2,6)$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$A^c\cup B^c\cup C^c=[1,3]\cup[-2,2]\cup(2,6)=[-2,6)$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in </a:t>
                </a:r>
                <a:r>
                  <a:rPr lang="en-IN" sz="2400">
                    <a:solidFill>
                      <a:srgbClr val="111827"/>
                    </a:solidFill>
                    <a:latin typeface="Cambria Math" panose="02040503050406030204" pitchFamily="18" charset="0"/>
                  </a:rPr>
                  <a:t>$[-2,6)$</a:t>
                </a:r>
                <a:r>
                  <a:rPr sz="2400" b="0">
                    <a:solidFill>
                      <a:srgbClr val="111827"/>
                    </a:solidFill>
                    <a:latin typeface="Arial"/>
                  </a:rPr>
                  <a:t>: </a:t>
                </a:r>
                <a:r>
                  <a:rPr lang="en-IN" sz="2400">
                    <a:solidFill>
                      <a:srgbClr val="111827"/>
                    </a:solidFill>
                    <a:latin typeface="Cambria Math" panose="02040503050406030204" pitchFamily="18" charset="0"/>
                  </a:rPr>
                  <a:t>$-2,-1,0,1,2,3,4,5$</a:t>
                </a:r>
                <a:r>
                  <a:rPr sz="2400" b="0">
                    <a:solidFill>
                      <a:srgbClr val="111827"/>
                    </a:solidFill>
                    <a:latin typeface="Arial"/>
                  </a:rPr>
                  <a:t>, i.e. </a:t>
                </a:r>
                <a:r>
                  <a:rPr lang="en-IN" sz="2400">
                    <a:solidFill>
                      <a:srgbClr val="111827"/>
                    </a:solidFill>
                    <a:latin typeface="Cambria Math" panose="02040503050406030204" pitchFamily="18" charset="0"/>
                  </a:rPr>
                  <a:t>$8$</a:t>
                </a:r>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r>
                  <a:rPr lang="en-IN" sz="2400">
                    <a:solidFill>
                      <a:srgbClr val="111827"/>
                    </a:solidFill>
                    <a:latin typeface="Cambria Math" panose="02040503050406030204" pitchFamily="18" charset="0"/>
                  </a:rPr>
                  <a:t>$=2^8=256$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256</a:t>
            </a:r>
            <a:endParaRPr sz="2800">
              <a:solidFill>
                <a:srgbClr val="15803D"/>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 for modulus conditions the complements are one interval each, which is much quicker.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the domain condition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then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set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subsets,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non-empty,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proper non-empty.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subsets.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r>
                  <a:rPr lang="en-IN" sz="2400">
                    <a:solidFill>
                      <a:srgbClr val="111827"/>
                    </a:solidFill>
                    <a:latin typeface="Cambria Math" panose="02040503050406030204" pitchFamily="18" charset="0"/>
                  </a:rPr>
                  <a:t>$(A\cap B\cap C)^c=A^c\cup B^c\cup C^c$</a:t>
                </a:r>
                <a:r>
                  <a:rPr sz="2400" b="0">
                    <a:solidFill>
                      <a:srgbClr val="111827"/>
                    </a:solidFill>
                    <a:latin typeface="Arial"/>
                  </a:rPr>
                  <a:t> - for modulus conditions the complements are one interval each, which is much quicker.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$|x-a|&gt;r \iff x&lt;a-r$</a:t>
                </a:r>
                <a:r>
                  <a:rPr sz="2400" b="0">
                    <a:solidFill>
                      <a:srgbClr val="111827"/>
                    </a:solidFill>
                    <a:latin typeface="Arial"/>
                  </a:rPr>
                  <a:t> or </a:t>
                </a:r>
                <a:r>
                  <a:rPr lang="en-IN" sz="2400">
                    <a:solidFill>
                      <a:srgbClr val="111827"/>
                    </a:solidFill>
                    <a:latin typeface="Cambria Math" panose="02040503050406030204" pitchFamily="18" charset="0"/>
                  </a:rPr>
                  <a:t>$x&gt;a+r$</a:t>
                </a:r>
                <a:r>
                  <a:rPr sz="2400" b="0">
                    <a:solidFill>
                      <a:srgbClr val="111827"/>
                    </a:solidFill>
                    <a:latin typeface="Arial"/>
                  </a:rPr>
                  <a:t>; </a:t>
                </a:r>
                <a:r>
                  <a:rPr lang="en-IN" sz="2400">
                    <a:solidFill>
                      <a:srgbClr val="111827"/>
                    </a:solidFill>
                    <a:latin typeface="Cambria Math" panose="02040503050406030204" pitchFamily="18" charset="0"/>
                  </a:rPr>
                  <a:t>$|x-a|\le r\iff a-r\le x\le a+r$</a:t>
                </a:r>
                <a:r>
                  <a:rPr sz="2400" b="0">
                    <a:solidFill>
                      <a:srgbClr val="111827"/>
                    </a:solidFill>
                    <a:latin typeface="Arial"/>
                  </a:rPr>
                  <a:t> (for </a:t>
                </a:r>
                <a:r>
                  <a:rPr lang="en-IN" sz="2400">
                    <a:solidFill>
                      <a:srgbClr val="111827"/>
                    </a:solidFill>
                    <a:latin typeface="Cambria Math" panose="02040503050406030204" pitchFamily="18" charset="0"/>
                  </a:rPr>
                  <a:t>$r&gt;0$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$c&gt;0$</a:t>
                </a:r>
                <a:r>
                  <a:rPr sz="2400" b="0">
                    <a:solidFill>
                      <a:srgbClr val="111827"/>
                    </a:solidFill>
                    <a:latin typeface="Arial"/>
                  </a:rPr>
                  <a:t>: </a:t>
                </a:r>
                <a:r>
                  <a:rPr lang="en-IN" sz="2400">
                    <a:solidFill>
                      <a:srgbClr val="111827"/>
                    </a:solidFill>
                    <a:latin typeface="Cambria Math" panose="02040503050406030204" pitchFamily="18" charset="0"/>
                  </a:rPr>
                  <a:t>$\sqrt{f(x)}&gt;c\iff f(x)&gt;c^2$</a:t>
                </a:r>
                <a:r>
                  <a:rPr sz="2400" b="0">
                    <a:solidFill>
                      <a:srgbClr val="111827"/>
                    </a:solidFill>
                    <a:latin typeface="Arial"/>
                  </a:rPr>
                  <a:t>, and the domain condition </a:t>
                </a:r>
                <a:r>
                  <a:rPr lang="en-IN" sz="2400">
                    <a:solidFill>
                      <a:srgbClr val="111827"/>
                    </a:solidFill>
                    <a:latin typeface="Cambria Math" panose="02040503050406030204" pitchFamily="18" charset="0"/>
                  </a:rPr>
                  <a:t>$f\ge0$</a:t>
                </a:r>
                <a:r>
                  <a:rPr sz="2400" b="0">
                    <a:solidFill>
                      <a:srgbClr val="111827"/>
                    </a:solidFill>
                    <a:latin typeface="Arial"/>
                  </a:rPr>
                  <a:t> is then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set with </a:t>
                </a:r>
                <a:r>
                  <a:rPr lang="en-IN" sz="2400">
                    <a:solidFill>
                      <a:srgbClr val="111827"/>
                    </a:solidFill>
                    <a:latin typeface="Cambria Math" panose="02040503050406030204" pitchFamily="18" charset="0"/>
                  </a:rPr>
                  <a:t>$n$</a:t>
                </a:r>
                <a:r>
                  <a:rPr sz="2400" b="0">
                    <a:solidFill>
                      <a:srgbClr val="111827"/>
                    </a:solidFill>
                    <a:latin typeface="Arial"/>
                  </a:rPr>
                  <a:t> elements has </a:t>
                </a:r>
                <a:r>
                  <a:rPr lang="en-IN" sz="2400">
                    <a:solidFill>
                      <a:srgbClr val="111827"/>
                    </a:solidFill>
                    <a:latin typeface="Cambria Math" panose="02040503050406030204" pitchFamily="18" charset="0"/>
                  </a:rPr>
                  <a:t>$2^n$</a:t>
                </a:r>
                <a:r>
                  <a:rPr sz="2400" b="0">
                    <a:solidFill>
                      <a:srgbClr val="111827"/>
                    </a:solidFill>
                    <a:latin typeface="Arial"/>
                  </a:rPr>
                  <a:t> subsets, </a:t>
                </a:r>
                <a:r>
                  <a:rPr lang="en-IN" sz="2400">
                    <a:solidFill>
                      <a:srgbClr val="111827"/>
                    </a:solidFill>
                    <a:latin typeface="Cambria Math" panose="02040503050406030204" pitchFamily="18" charset="0"/>
                  </a:rPr>
                  <a:t>$2^n-1$</a:t>
                </a:r>
                <a:r>
                  <a:rPr sz="2400" b="0">
                    <a:solidFill>
                      <a:srgbClr val="111827"/>
                    </a:solidFill>
                    <a:latin typeface="Arial"/>
                  </a:rPr>
                  <a:t> non-empty, </a:t>
                </a:r>
                <a:r>
                  <a:rPr lang="en-IN" sz="2400">
                    <a:solidFill>
                      <a:srgbClr val="111827"/>
                    </a:solidFill>
                    <a:latin typeface="Cambria Math" panose="02040503050406030204" pitchFamily="18" charset="0"/>
                  </a:rPr>
                  <a:t>$2^n-2$</a:t>
                </a:r>
                <a:r>
                  <a:rPr sz="2400" b="0">
                    <a:solidFill>
                      <a:srgbClr val="111827"/>
                    </a:solidFill>
                    <a:latin typeface="Arial"/>
                  </a:rPr>
                  <a:t> proper non-empty. Check: </a:t>
                </a:r>
                <a:r>
                  <a:rPr lang="en-IN" sz="2400">
                    <a:solidFill>
                      <a:srgbClr val="111827"/>
                    </a:solidFill>
                    <a:latin typeface="Cambria Math" panose="02040503050406030204" pitchFamily="18" charset="0"/>
                  </a:rPr>
                  <a:t>$n=3$</a:t>
                </a:r>
                <a:r>
                  <a:rPr sz="2400" b="0">
                    <a:solidFill>
                      <a:srgbClr val="111827"/>
                    </a:solidFill>
                    <a:latin typeface="Arial"/>
                  </a:rPr>
                  <a:t> gives </a:t>
                </a:r>
                <a:r>
                  <a:rPr lang="en-IN" sz="2400">
                    <a:solidFill>
                      <a:srgbClr val="111827"/>
                    </a:solidFill>
                    <a:latin typeface="Cambria Math" panose="02040503050406030204" pitchFamily="18" charset="0"/>
                  </a:rPr>
                  <a:t>$8$</a:t>
                </a:r>
                <a:r>
                  <a:rPr sz="2400" b="0">
                    <a:solidFill>
                      <a:srgbClr val="111827"/>
                    </a:solidFill>
                    <a:latin typeface="Arial"/>
                  </a:rPr>
                  <a:t> subsets.</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Q23 – Q25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which one of the following statements is NOT true?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$A=\{x\in\mathbb{R}:|x+1|&lt;2\}$</a:t>
                </a:r>
                <a:r>
                  <a:rPr sz="2400" b="0">
                    <a:solidFill>
                      <a:srgbClr val="111827"/>
                    </a:solidFill>
                    <a:latin typeface="Arial"/>
                  </a:rPr>
                  <a:t> and </a:t>
                </a:r>
                <a:r>
                  <a:rPr lang="en-IN" sz="2400">
                    <a:solidFill>
                      <a:srgbClr val="111827"/>
                    </a:solidFill>
                    <a:latin typeface="Cambria Math" panose="02040503050406030204" pitchFamily="18" charset="0"/>
                  </a:rPr>
                  <a:t>$B=\{x\in\mathbb{R}:|x-1|\ge2\}$</a:t>
                </a:r>
                <a:r>
                  <a:rPr sz="2400" b="0">
                    <a:solidFill>
                      <a:srgbClr val="111827"/>
                    </a:solidFill>
                    <a:latin typeface="Arial"/>
                  </a:rPr>
                  <a:t>. Then which one of the following statements is NOT true?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$A-B=(-1,1)$</a:t>
                </a:r>
                <a:r>
                  <a:rPr sz="2400" b="0">
                    <a:solidFill>
                      <a:srgbClr val="111827"/>
                    </a:solidFill>
                    <a:latin typeface="Arial"/>
                  </a:rPr>
                  <a:t>   (B) </a:t>
                </a:r>
                <a:r>
                  <a:rPr lang="en-IN" sz="2400">
                    <a:solidFill>
                      <a:srgbClr val="111827"/>
                    </a:solidFill>
                    <a:latin typeface="Cambria Math" panose="02040503050406030204" pitchFamily="18" charset="0"/>
                  </a:rPr>
                  <a:t>$B-A=\mathbb{R}-(-3,1)$</a:t>
                </a:r>
                <a:r>
                  <a:rPr sz="2400" b="0">
                    <a:solidFill>
                      <a:srgbClr val="111827"/>
                    </a:solidFill>
                    <a:latin typeface="Arial"/>
                  </a:rPr>
                  <a:t>   (C) </a:t>
                </a:r>
                <a:r>
                  <a:rPr lang="en-IN" sz="2400">
                    <a:solidFill>
                      <a:srgbClr val="111827"/>
                    </a:solidFill>
                    <a:latin typeface="Cambria Math" panose="02040503050406030204" pitchFamily="18" charset="0"/>
                  </a:rPr>
                  <a:t>$A\cap B=(-3,-1]$</a:t>
                </a:r>
                <a:r>
                  <a:rPr sz="2400" b="0">
                    <a:solidFill>
                      <a:srgbClr val="111827"/>
                    </a:solidFill>
                    <a:latin typeface="Arial"/>
                  </a:rPr>
                  <a:t>   (D) </a:t>
                </a:r>
                <a:r>
                  <a:rPr lang="en-IN" sz="2400">
                    <a:solidFill>
                      <a:srgbClr val="111827"/>
                    </a:solidFill>
                    <a:latin typeface="Cambria Math" panose="02040503050406030204" pitchFamily="18" charset="0"/>
                  </a:rPr>
                  <a:t>$A\cup B=\mathbb{R}-[1,3)$</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(intervals)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compute each set on the number line.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$A=(-3,1)$</a:t>
                </a:r>
                <a:r>
                  <a:rPr sz="2400" b="0">
                    <a:solidFill>
                      <a:srgbClr val="78350F"/>
                    </a:solidFill>
                    <a:latin typeface="Arial"/>
                  </a:rPr>
                  <a:t> and </a:t>
                </a:r>
                <a:r>
                  <a:rPr lang="en-IN" sz="2400">
                    <a:solidFill>
                      <a:srgbClr val="78350F"/>
                    </a:solidFill>
                    <a:latin typeface="Cambria Math" panose="02040503050406030204" pitchFamily="18" charset="0"/>
                  </a:rPr>
                  <a:t>$B=(-\infty,-1]\cup[3,\infty)$</a:t>
                </a:r>
                <a:r>
                  <a:rPr sz="2400" b="0">
                    <a:solidFill>
                      <a:srgbClr val="78350F"/>
                    </a:solidFill>
                    <a:latin typeface="Arial"/>
                  </a:rPr>
                  <a:t>, then compute each set on the number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part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(A) is true.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option says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also contains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(B) is not true.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$|x+1|&lt;2\Rightarrow -2&lt;x+1&lt;2\Rightarrow x\in(-3,1)$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$|x-1|\ge2\Rightarrow x-1\in(-\infty,-2]\cup[2,\infty)\Rightarrow x\in(-\infty,-1]\cup[3,\infty)$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$A-B=(-1,1)$</a:t>
                </a:r>
                <a:r>
                  <a:rPr sz="2400" b="0">
                    <a:solidFill>
                      <a:srgbClr val="111827"/>
                    </a:solidFill>
                    <a:latin typeface="Arial"/>
                  </a:rPr>
                  <a:t> (the part of </a:t>
                </a:r>
                <a:r>
                  <a:rPr lang="en-IN" sz="2400">
                    <a:solidFill>
                      <a:srgbClr val="111827"/>
                    </a:solidFill>
                    <a:latin typeface="Cambria Math" panose="02040503050406030204" pitchFamily="18" charset="0"/>
                  </a:rPr>
                  <a:t>$(-3,1)$</a:t>
                </a:r>
                <a:r>
                  <a:rPr sz="2400" b="0">
                    <a:solidFill>
                      <a:srgbClr val="111827"/>
                    </a:solidFill>
                    <a:latin typeface="Arial"/>
                  </a:rPr>
                  <a:t> not in </a:t>
                </a:r>
                <a:r>
                  <a:rPr lang="en-IN" sz="2400">
                    <a:solidFill>
                      <a:srgbClr val="111827"/>
                    </a:solidFill>
                    <a:latin typeface="Cambria Math" panose="02040503050406030204" pitchFamily="18" charset="0"/>
                  </a:rPr>
                  <a:t>$B$</a:t>
                </a:r>
                <a:r>
                  <a:rPr sz="2400" b="0">
                    <a:solidFill>
                      <a:srgbClr val="111827"/>
                    </a:solidFill>
                    <a:latin typeface="Arial"/>
                  </a:rPr>
                  <a:t>), so (A) is true.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$B-A=(-\infty,-3]\cup[3,\infty)=\mathbb{R}-(-3,3)$</a:t>
                </a:r>
                <a:r>
                  <a:rPr sz="2400" b="0">
                    <a:solidFill>
                      <a:srgbClr val="111827"/>
                    </a:solidFill>
                    <a:latin typeface="Arial"/>
                  </a:rPr>
                  <a:t>. The option says </a:t>
                </a:r>
                <a:r>
                  <a:rPr lang="en-IN" sz="2400">
                    <a:solidFill>
                      <a:srgbClr val="111827"/>
                    </a:solidFill>
                    <a:latin typeface="Cambria Math" panose="02040503050406030204" pitchFamily="18" charset="0"/>
                  </a:rPr>
                  <a:t>$\mathbb{R}-(-3,1)$</a:t>
                </a:r>
                <a:r>
                  <a:rPr sz="2400" b="0">
                    <a:solidFill>
                      <a:srgbClr val="111827"/>
                    </a:solidFill>
                    <a:latin typeface="Arial"/>
                  </a:rPr>
                  <a:t>, which also contains </a:t>
                </a:r>
                <a:r>
                  <a:rPr lang="en-IN" sz="2400">
                    <a:solidFill>
                      <a:srgbClr val="111827"/>
                    </a:solidFill>
                    <a:latin typeface="Cambria Math" panose="02040503050406030204" pitchFamily="18" charset="0"/>
                  </a:rPr>
                  <a:t>$[1,3)$</a:t>
                </a:r>
                <a:r>
                  <a:rPr sz="2400" b="0">
                    <a:solidFill>
                      <a:srgbClr val="111827"/>
                    </a:solidFill>
                    <a:latin typeface="Arial"/>
                  </a:rPr>
                  <a:t>, so (B) is not true.</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(C) is true.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true is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B=(-3,-1]$</a:t>
                </a:r>
                <a:r>
                  <a:rPr sz="2400" b="0">
                    <a:solidFill>
                      <a:srgbClr val="111827"/>
                    </a:solidFill>
                    <a:latin typeface="Arial"/>
                  </a:rPr>
                  <a:t>, so (C) is true.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$A\cup B=(-\infty,1)\cup[3,\infty)=\mathbb{R}-[1,3)$</a:t>
                </a:r>
                <a:r>
                  <a:rPr sz="2400" b="0">
                    <a:solidFill>
                      <a:srgbClr val="111827"/>
                    </a:solidFill>
                    <a:latin typeface="Arial"/>
                  </a:rPr>
                  <a:t>, so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true is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m:rPr>
                        <m:scr m:val="double-struck"/>
                        <m:sty m:val="p"/>
                      </m:rPr>
                      <a:rPr lang="en-IN" sz="2800">
                        <a:solidFill>
                          <a:srgbClr val="15803D"/>
                        </a:solidFill>
                        <a:latin typeface="Cambria Math" panose="02040503050406030204" pitchFamily="18" charset="0"/>
                      </a:rPr>
                      <m:t>R</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$B-A=\mathbb{R}-(-3,1)$</a:t>
                </a:r>
                <a:endParaRPr sz="2800">
                  <a:solidFill>
                    <a:srgbClr val="15803D"/>
                  </a:solidFill>
                </a:endParaRPr>
              </a:p>
            </p:txBody>
          </p:sp>
        </mc:Fallback>
      </mc:AlternateContent>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Refute (B) with one witness point, and confirm the others by checking the end-points of the number line.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mark them on a number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sets in (B) differ, so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removes from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piece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lying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leaving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true.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$A=(-3,1)$</a:t>
                </a:r>
                <a:r>
                  <a:rPr sz="2400" b="0">
                    <a:solidFill>
                      <a:srgbClr val="111827"/>
                    </a:solidFill>
                    <a:latin typeface="Arial"/>
                  </a:rPr>
                  <a:t> and </a:t>
                </a:r>
                <a:r>
                  <a:rPr lang="en-IN" sz="2400">
                    <a:solidFill>
                      <a:srgbClr val="111827"/>
                    </a:solidFill>
                    <a:latin typeface="Cambria Math" panose="02040503050406030204" pitchFamily="18" charset="0"/>
                  </a:rPr>
                  <a:t>$B=(-\infty,-1]\cup[3,\infty)$</a:t>
                </a:r>
                <a:r>
                  <a:rPr sz="2400" b="0">
                    <a:solidFill>
                      <a:srgbClr val="111827"/>
                    </a:solidFill>
                    <a:latin typeface="Arial"/>
                  </a:rPr>
                  <a:t>; mark them on a number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$2\notin B$</a:t>
                </a:r>
                <a:r>
                  <a:rPr sz="2400" b="0">
                    <a:solidFill>
                      <a:srgbClr val="111827"/>
                    </a:solidFill>
                    <a:latin typeface="Arial"/>
                  </a:rPr>
                  <a:t> since </a:t>
                </a:r>
                <a:r>
                  <a:rPr lang="en-IN" sz="2400">
                    <a:solidFill>
                      <a:srgbClr val="111827"/>
                    </a:solidFill>
                    <a:latin typeface="Cambria Math" panose="02040503050406030204" pitchFamily="18" charset="0"/>
                  </a:rPr>
                  <a:t>$|2-1|=1&lt;2$</a:t>
                </a:r>
                <a:r>
                  <a:rPr sz="2400" b="0">
                    <a:solidFill>
                      <a:srgbClr val="111827"/>
                    </a:solidFill>
                    <a:latin typeface="Arial"/>
                  </a:rPr>
                  <a:t>, so </a:t>
                </a:r>
                <a:r>
                  <a:rPr lang="en-IN" sz="2400">
                    <a:solidFill>
                      <a:srgbClr val="111827"/>
                    </a:solidFill>
                    <a:latin typeface="Cambria Math" panose="02040503050406030204" pitchFamily="18" charset="0"/>
                  </a:rPr>
                  <a:t>$2\notin B-A$</a:t>
                </a:r>
                <a:r>
                  <a:rPr sz="2400" b="0">
                    <a:solidFill>
                      <a:srgbClr val="111827"/>
                    </a:solidFill>
                    <a:latin typeface="Arial"/>
                  </a:rPr>
                  <a:t>. But </a:t>
                </a:r>
                <a:r>
                  <a:rPr lang="en-IN" sz="2400">
                    <a:solidFill>
                      <a:srgbClr val="111827"/>
                    </a:solidFill>
                    <a:latin typeface="Cambria Math" panose="02040503050406030204" pitchFamily="18" charset="0"/>
                  </a:rPr>
                  <a:t>$2\in\mathbb{R}-(-3,1)$</a:t>
                </a:r>
                <a:r>
                  <a:rPr sz="2400" b="0">
                    <a:solidFill>
                      <a:srgbClr val="111827"/>
                    </a:solidFill>
                    <a:latin typeface="Arial"/>
                  </a:rPr>
                  <a:t>. The sets in (B) differ, so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r>
                  <a:rPr lang="en-IN" sz="2400">
                    <a:solidFill>
                      <a:srgbClr val="111827"/>
                    </a:solidFill>
                    <a:latin typeface="Cambria Math" panose="02040503050406030204" pitchFamily="18" charset="0"/>
                  </a:rPr>
                  <a:t>$A-B$</a:t>
                </a:r>
                <a:r>
                  <a:rPr sz="2400" b="0">
                    <a:solidFill>
                      <a:srgbClr val="111827"/>
                    </a:solidFill>
                    <a:latin typeface="Arial"/>
                  </a:rPr>
                  <a:t> removes from </a:t>
                </a:r>
                <a:r>
                  <a:rPr lang="en-IN" sz="2400">
                    <a:solidFill>
                      <a:srgbClr val="111827"/>
                    </a:solidFill>
                    <a:latin typeface="Cambria Math" panose="02040503050406030204" pitchFamily="18" charset="0"/>
                  </a:rPr>
                  <a:t>$(-3,1)$</a:t>
                </a:r>
                <a:r>
                  <a:rPr sz="2400" b="0">
                    <a:solidFill>
                      <a:srgbClr val="111827"/>
                    </a:solidFill>
                    <a:latin typeface="Arial"/>
                  </a:rPr>
                  <a:t> the piece </a:t>
                </a:r>
                <a:r>
                  <a:rPr lang="en-IN" sz="2400">
                    <a:solidFill>
                      <a:srgbClr val="111827"/>
                    </a:solidFill>
                    <a:latin typeface="Cambria Math" panose="02040503050406030204" pitchFamily="18" charset="0"/>
                  </a:rPr>
                  <a:t>$(-3,-1]$</a:t>
                </a:r>
                <a:r>
                  <a:rPr sz="2400" b="0">
                    <a:solidFill>
                      <a:srgbClr val="111827"/>
                    </a:solidFill>
                    <a:latin typeface="Arial"/>
                  </a:rPr>
                  <a:t> lying in </a:t>
                </a:r>
                <a:r>
                  <a:rPr lang="en-IN" sz="2400">
                    <a:solidFill>
                      <a:srgbClr val="111827"/>
                    </a:solidFill>
                    <a:latin typeface="Cambria Math" panose="02040503050406030204" pitchFamily="18" charset="0"/>
                  </a:rPr>
                  <a:t>$B$</a:t>
                </a:r>
                <a:r>
                  <a:rPr sz="2400" b="0">
                    <a:solidFill>
                      <a:srgbClr val="111827"/>
                    </a:solidFill>
                    <a:latin typeface="Arial"/>
                  </a:rPr>
                  <a:t>, leaving </a:t>
                </a:r>
                <a:r>
                  <a:rPr lang="en-IN" sz="2400">
                    <a:solidFill>
                      <a:srgbClr val="111827"/>
                    </a:solidFill>
                    <a:latin typeface="Cambria Math" panose="02040503050406030204" pitchFamily="18" charset="0"/>
                  </a:rPr>
                  <a:t>$(-1,1)$</a:t>
                </a:r>
                <a:r>
                  <a:rPr sz="2400" b="0">
                    <a:solidFill>
                      <a:srgbClr val="111827"/>
                    </a:solidFill>
                    <a:latin typeface="Arial"/>
                  </a:rPr>
                  <a:t> - true.</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 the overlap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covers everything except the gap between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(not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not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i.e. the gap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true.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 the overlap of </a:t>
                </a:r>
                <a:r>
                  <a:rPr lang="en-IN" sz="2400">
                    <a:solidFill>
                      <a:srgbClr val="111827"/>
                    </a:solidFill>
                    <a:latin typeface="Cambria Math" panose="02040503050406030204" pitchFamily="18" charset="0"/>
                  </a:rPr>
                  <a:t>$(-3,1)$</a:t>
                </a:r>
                <a:r>
                  <a:rPr sz="2400" b="0">
                    <a:solidFill>
                      <a:srgbClr val="111827"/>
                    </a:solidFill>
                    <a:latin typeface="Arial"/>
                  </a:rPr>
                  <a:t> with </a:t>
                </a:r>
                <a:r>
                  <a:rPr lang="en-IN" sz="2400">
                    <a:solidFill>
                      <a:srgbClr val="111827"/>
                    </a:solidFill>
                    <a:latin typeface="Cambria Math" panose="02040503050406030204" pitchFamily="18" charset="0"/>
                  </a:rPr>
                  <a:t>$(-\infty,-1]$</a:t>
                </a:r>
                <a:r>
                  <a:rPr sz="2400" b="0">
                    <a:solidFill>
                      <a:srgbClr val="111827"/>
                    </a:solidFill>
                    <a:latin typeface="Arial"/>
                  </a:rPr>
                  <a:t> is </a:t>
                </a:r>
                <a:r>
                  <a:rPr lang="en-IN" sz="2400">
                    <a:solidFill>
                      <a:srgbClr val="111827"/>
                    </a:solidFill>
                    <a:latin typeface="Cambria Math" panose="02040503050406030204" pitchFamily="18" charset="0"/>
                  </a:rPr>
                  <a:t>$(-3,-1]$</a:t>
                </a:r>
                <a:r>
                  <a:rPr sz="2400" b="0">
                    <a:solidFill>
                      <a:srgbClr val="111827"/>
                    </a:solidFill>
                    <a:latin typeface="Arial"/>
                  </a:rPr>
                  <a:t> -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 </a:t>
                </a:r>
                <a:r>
                  <a:rPr lang="en-IN" sz="2400">
                    <a:solidFill>
                      <a:srgbClr val="111827"/>
                    </a:solidFill>
                    <a:latin typeface="Cambria Math" panose="02040503050406030204" pitchFamily="18" charset="0"/>
                  </a:rPr>
                  <a:t>$A\cup B$</a:t>
                </a:r>
                <a:r>
                  <a:rPr sz="2400" b="0">
                    <a:solidFill>
                      <a:srgbClr val="111827"/>
                    </a:solidFill>
                    <a:latin typeface="Arial"/>
                  </a:rPr>
                  <a:t> covers everything except the gap between </a:t>
                </a:r>
                <a:r>
                  <a:rPr lang="en-IN" sz="2400">
                    <a:solidFill>
                      <a:srgbClr val="111827"/>
                    </a:solidFill>
                    <a:latin typeface="Cambria Math" panose="02040503050406030204" pitchFamily="18" charset="0"/>
                  </a:rPr>
                  <a:t>$1$</a:t>
                </a:r>
                <a:r>
                  <a:rPr sz="2400" b="0">
                    <a:solidFill>
                      <a:srgbClr val="111827"/>
                    </a:solidFill>
                    <a:latin typeface="Arial"/>
                  </a:rPr>
                  <a:t> (not in </a:t>
                </a:r>
                <a:r>
                  <a:rPr lang="en-IN" sz="2400">
                    <a:solidFill>
                      <a:srgbClr val="111827"/>
                    </a:solidFill>
                    <a:latin typeface="Cambria Math" panose="02040503050406030204" pitchFamily="18" charset="0"/>
                  </a:rPr>
                  <a:t>$A$</a:t>
                </a:r>
                <a:r>
                  <a:rPr sz="2400" b="0">
                    <a:solidFill>
                      <a:srgbClr val="111827"/>
                    </a:solidFill>
                    <a:latin typeface="Arial"/>
                  </a:rPr>
                  <a:t>, not in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(in </a:t>
                </a:r>
                <a:r>
                  <a:rPr lang="en-IN" sz="2400">
                    <a:solidFill>
                      <a:srgbClr val="111827"/>
                    </a:solidFill>
                    <a:latin typeface="Cambria Math" panose="02040503050406030204" pitchFamily="18" charset="0"/>
                  </a:rPr>
                  <a:t>$B$</a:t>
                </a:r>
                <a:r>
                  <a:rPr sz="2400" b="0">
                    <a:solidFill>
                      <a:srgbClr val="111827"/>
                    </a:solidFill>
                    <a:latin typeface="Arial"/>
                  </a:rPr>
                  <a:t>), i.e. the gap </a:t>
                </a:r>
                <a:r>
                  <a:rPr lang="en-IN" sz="2400">
                    <a:solidFill>
                      <a:srgbClr val="111827"/>
                    </a:solidFill>
                    <a:latin typeface="Cambria Math" panose="02040503050406030204" pitchFamily="18" charset="0"/>
                  </a:rPr>
                  <a:t>$[1,3)$</a:t>
                </a:r>
                <a:r>
                  <a:rPr sz="2400" b="0">
                    <a:solidFill>
                      <a:srgbClr val="111827"/>
                    </a:solidFill>
                    <a:latin typeface="Arial"/>
                  </a:rPr>
                  <a:t> - true.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m:rPr>
                        <m:scr m:val="double-struck"/>
                        <m:sty m:val="p"/>
                      </m:rPr>
                      <a:rPr lang="en-IN" sz="2800">
                        <a:solidFill>
                          <a:srgbClr val="15803D"/>
                        </a:solidFill>
                        <a:latin typeface="Cambria Math" panose="02040503050406030204" pitchFamily="18" charset="0"/>
                      </a:rPr>
                      <m:t>R</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$B-A=\mathbb{R}-(-3,1)$</a:t>
                </a:r>
                <a:endParaRPr sz="2800">
                  <a:solidFill>
                    <a:srgbClr val="15803D"/>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these two are complements of each other.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'which is NOT true' interval questions, test the end-points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each interval: open vs closed is the usual trap.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witness point refutes an equality of sets: 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in one side but not the other, the sets differ.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$|x-a|&lt;r\iff a-r&lt;x&lt;a+r$</a:t>
                </a:r>
                <a:r>
                  <a:rPr sz="2400" b="0">
                    <a:solidFill>
                      <a:srgbClr val="111827"/>
                    </a:solidFill>
                    <a:latin typeface="Arial"/>
                  </a:rPr>
                  <a:t> and </a:t>
                </a:r>
                <a:r>
                  <a:rPr lang="en-IN" sz="2400">
                    <a:solidFill>
                      <a:srgbClr val="111827"/>
                    </a:solidFill>
                    <a:latin typeface="Cambria Math" panose="02040503050406030204" pitchFamily="18" charset="0"/>
                  </a:rPr>
                  <a:t>$|x-a|\ge r\iff x\le a-r$</a:t>
                </a:r>
                <a:r>
                  <a:rPr sz="2400" b="0">
                    <a:solidFill>
                      <a:srgbClr val="111827"/>
                    </a:solidFill>
                    <a:latin typeface="Arial"/>
                  </a:rPr>
                  <a:t> or </a:t>
                </a:r>
                <a:r>
                  <a:rPr lang="en-IN" sz="2400">
                    <a:solidFill>
                      <a:srgbClr val="111827"/>
                    </a:solidFill>
                    <a:latin typeface="Cambria Math" panose="02040503050406030204" pitchFamily="18" charset="0"/>
                  </a:rPr>
                  <a:t>$x\ge a+r$</a:t>
                </a:r>
                <a:r>
                  <a:rPr sz="2400" b="0">
                    <a:solidFill>
                      <a:srgbClr val="111827"/>
                    </a:solidFill>
                    <a:latin typeface="Arial"/>
                  </a:rPr>
                  <a:t>; these two are complements of each other.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$A-B=A\cap B^c$</a:t>
                </a:r>
                <a:r>
                  <a:rPr sz="2400" b="0">
                    <a:solidFill>
                      <a:srgbClr val="111827"/>
                    </a:solidFill>
                    <a:latin typeface="Arial"/>
                  </a:rPr>
                  <a:t> and </a:t>
                </a:r>
                <a:r>
                  <a:rPr lang="en-IN" sz="2400">
                    <a:solidFill>
                      <a:srgbClr val="111827"/>
                    </a:solidFill>
                    <a:latin typeface="Cambria Math" panose="02040503050406030204" pitchFamily="18" charset="0"/>
                  </a:rPr>
                  <a:t>$B-A=B\cap A^c$</a:t>
                </a:r>
                <a:r>
                  <a:rPr sz="2400" b="0">
                    <a:solidFill>
                      <a:srgbClr val="111827"/>
                    </a:solidFill>
                    <a:latin typeface="Arial"/>
                  </a:rPr>
                  <a:t>; </a:t>
                </a:r>
                <a:r>
                  <a:rPr lang="en-IN" sz="2400">
                    <a:solidFill>
                      <a:srgbClr val="111827"/>
                    </a:solidFill>
                    <a:latin typeface="Cambria Math" panose="02040503050406030204" pitchFamily="18" charset="0"/>
                  </a:rPr>
                  <a:t>$(A\cup B)^c=A^c\cap B^c$</a:t>
                </a:r>
                <a:r>
                  <a:rPr sz="2400" b="0">
                    <a:solidFill>
                      <a:srgbClr val="111827"/>
                    </a:solidFill>
                    <a:latin typeface="Arial"/>
                  </a:rPr>
                  <a:t>. Here </a:t>
                </a:r>
                <a:r>
                  <a:rPr lang="en-IN" sz="2400">
                    <a:solidFill>
                      <a:srgbClr val="111827"/>
                    </a:solidFill>
                    <a:latin typeface="Cambria Math" panose="02040503050406030204" pitchFamily="18" charset="0"/>
                  </a:rPr>
                  <a:t>$B^c=(-1,3)$</a:t>
                </a:r>
                <a:r>
                  <a:rPr sz="2400" b="0">
                    <a:solidFill>
                      <a:srgbClr val="111827"/>
                    </a:solidFill>
                    <a:latin typeface="Arial"/>
                  </a:rPr>
                  <a:t> so </a:t>
                </a:r>
                <a:r>
                  <a:rPr lang="en-IN" sz="2400">
                    <a:solidFill>
                      <a:srgbClr val="111827"/>
                    </a:solidFill>
                    <a:latin typeface="Cambria Math" panose="02040503050406030204" pitchFamily="18" charset="0"/>
                  </a:rPr>
                  <a:t>$A\cup B=\mathbb{R}-(A^c\cap B^c)=\mathbb{R}-[1,3)$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'which is NOT true' interval questions, test the end-points </a:t>
                </a:r>
                <a:r>
                  <a:rPr lang="en-IN" sz="2400">
                    <a:solidFill>
                      <a:srgbClr val="111827"/>
                    </a:solidFill>
                    <a:latin typeface="Cambria Math" panose="02040503050406030204" pitchFamily="18" charset="0"/>
                  </a:rPr>
                  <a:t>$\pm$</a:t>
                </a:r>
                <a:r>
                  <a:rPr sz="2400" b="0">
                    <a:solidFill>
                      <a:srgbClr val="111827"/>
                    </a:solidFill>
                    <a:latin typeface="Arial"/>
                  </a:rPr>
                  <a:t> of each interval: open vs closed is the usual trap.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witness point refutes an equality of sets: if </a:t>
                </a:r>
                <a:r>
                  <a:rPr lang="en-IN" sz="2400">
                    <a:solidFill>
                      <a:srgbClr val="111827"/>
                    </a:solidFill>
                    <a:latin typeface="Cambria Math" panose="02040503050406030204" pitchFamily="18" charset="0"/>
                  </a:rPr>
                  <a:t>$x$</a:t>
                </a:r>
                <a:r>
                  <a:rPr sz="2400" b="0">
                    <a:solidFill>
                      <a:srgbClr val="111827"/>
                    </a:solidFill>
                    <a:latin typeface="Arial"/>
                  </a:rPr>
                  <a:t> is in one side but not the other, the sets differ.</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on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 but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but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$R_1=\{(a,b)\in N\times N:|a-b|\le13\}$</a:t>
                </a:r>
                <a:r>
                  <a:rPr sz="2400" b="0">
                    <a:solidFill>
                      <a:srgbClr val="111827"/>
                    </a:solidFill>
                    <a:latin typeface="Arial"/>
                  </a:rPr>
                  <a:t> and </a:t>
                </a:r>
                <a:r>
                  <a:rPr lang="en-IN" sz="2400">
                    <a:solidFill>
                      <a:srgbClr val="111827"/>
                    </a:solidFill>
                    <a:latin typeface="Cambria Math" panose="02040503050406030204" pitchFamily="18" charset="0"/>
                  </a:rPr>
                  <a:t>$R_2=\{(a,b)\in N\times N:|a-b|\ne13\}$</a:t>
                </a:r>
                <a:r>
                  <a:rPr sz="2400" b="0">
                    <a:solidFill>
                      <a:srgbClr val="111827"/>
                    </a:solidFill>
                    <a:latin typeface="Arial"/>
                  </a:rPr>
                  <a:t>. Then on </a:t>
                </a:r>
                <a:r>
                  <a:rPr lang="en-IN" sz="2400">
                    <a:solidFill>
                      <a:srgbClr val="111827"/>
                    </a:solidFill>
                    <a:latin typeface="Cambria Math" panose="02040503050406030204" pitchFamily="18" charset="0"/>
                  </a:rPr>
                  <a:t>$N$</a:t>
                </a:r>
                <a:r>
                  <a:rPr sz="2400" b="0">
                    <a:solidFill>
                      <a:srgbClr val="111827"/>
                    </a:solidFill>
                    <a:latin typeface="Arial"/>
                  </a:rPr>
                  <a:t> :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$R_2$</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$R_1$</a:t>
                </a:r>
                <a:r>
                  <a:rPr sz="2400" b="0">
                    <a:solidFill>
                      <a:srgbClr val="111827"/>
                    </a:solidFill>
                    <a:latin typeface="Arial"/>
                  </a:rPr>
                  <a:t> is not</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relations are reflexive and symmetric; transitivity fails for each, so a counterexample triple is needed for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for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relations are reflexive and symmetric; transitivity fails for each, so a counterexample triple is needed for </a:t>
                </a:r>
                <a:r>
                  <a:rPr lang="en-IN" sz="2400">
                    <a:solidFill>
                      <a:srgbClr val="78350F"/>
                    </a:solidFill>
                    <a:latin typeface="Cambria Math" panose="02040503050406030204" pitchFamily="18" charset="0"/>
                  </a:rPr>
                  <a:t>$R_1$</a:t>
                </a:r>
                <a:r>
                  <a:rPr sz="2400" b="0">
                    <a:solidFill>
                      <a:srgbClr val="78350F"/>
                    </a:solidFill>
                    <a:latin typeface="Arial"/>
                  </a:rPr>
                  <a:t> and for </a:t>
                </a:r>
                <a:r>
                  <a:rPr lang="en-IN" sz="2400">
                    <a:solidFill>
                      <a:srgbClr val="78350F"/>
                    </a:solidFill>
                    <a:latin typeface="Cambria Math" panose="02040503050406030204" pitchFamily="18" charset="0"/>
                  </a:rPr>
                  <a:t>$R_2$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question is transitivity.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transitive, so not an equivalence relation.</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reflexive (</a:t>
                </a:r>
                <a:r>
                  <a:rPr lang="en-IN" sz="2400">
                    <a:solidFill>
                      <a:srgbClr val="111827"/>
                    </a:solidFill>
                    <a:latin typeface="Cambria Math" panose="02040503050406030204" pitchFamily="18" charset="0"/>
                  </a:rPr>
                  <a:t>$|a-a|=0$</a:t>
                </a:r>
                <a:r>
                  <a:rPr sz="2400" b="0">
                    <a:solidFill>
                      <a:srgbClr val="111827"/>
                    </a:solidFill>
                    <a:latin typeface="Arial"/>
                  </a:rPr>
                  <a:t>) and symmetric (</a:t>
                </a:r>
                <a:r>
                  <a:rPr lang="en-IN" sz="2400">
                    <a:solidFill>
                      <a:srgbClr val="111827"/>
                    </a:solidFill>
                    <a:latin typeface="Cambria Math" panose="02040503050406030204" pitchFamily="18" charset="0"/>
                  </a:rPr>
                  <a:t>$|a-b|=|b-a|$</a:t>
                </a:r>
                <a:r>
                  <a:rPr sz="2400" b="0">
                    <a:solidFill>
                      <a:srgbClr val="111827"/>
                    </a:solidFill>
                    <a:latin typeface="Arial"/>
                  </a:rPr>
                  <a:t>); the question is transitivity.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take </a:t>
                </a:r>
                <a:r>
                  <a:rPr lang="en-IN" sz="2400">
                    <a:solidFill>
                      <a:srgbClr val="111827"/>
                    </a:solidFill>
                    <a:latin typeface="Cambria Math" panose="02040503050406030204" pitchFamily="18" charset="0"/>
                  </a:rPr>
                  <a:t>$a=1,\ b=12,\ c=19$</a:t>
                </a:r>
                <a:r>
                  <a:rPr sz="2400" b="0">
                    <a:solidFill>
                      <a:srgbClr val="111827"/>
                    </a:solidFill>
                    <a:latin typeface="Arial"/>
                  </a:rPr>
                  <a:t>. </a:t>
                </a:r>
                <a:r>
                  <a:rPr lang="en-IN" sz="2400">
                    <a:solidFill>
                      <a:srgbClr val="111827"/>
                    </a:solidFill>
                    <a:latin typeface="Cambria Math" panose="02040503050406030204" pitchFamily="18" charset="0"/>
                  </a:rPr>
                  <a:t>$|1-12|=11\le13$</a:t>
                </a:r>
                <a:r>
                  <a:rPr sz="2400" b="0">
                    <a:solidFill>
                      <a:srgbClr val="111827"/>
                    </a:solidFill>
                    <a:latin typeface="Arial"/>
                  </a:rPr>
                  <a:t>, so </a:t>
                </a:r>
                <a:r>
                  <a:rPr lang="en-IN" sz="2400">
                    <a:solidFill>
                      <a:srgbClr val="111827"/>
                    </a:solidFill>
                    <a:latin typeface="Cambria Math" panose="02040503050406030204" pitchFamily="18" charset="0"/>
                  </a:rPr>
                  <a:t>$(1,12)\in R_1$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$|12-19|=7\le13$</a:t>
                </a:r>
                <a:r>
                  <a:rPr sz="2400" b="0">
                    <a:solidFill>
                      <a:srgbClr val="111827"/>
                    </a:solidFill>
                    <a:latin typeface="Arial"/>
                  </a:rPr>
                  <a:t>, so </a:t>
                </a:r>
                <a:r>
                  <a:rPr lang="en-IN" sz="2400">
                    <a:solidFill>
                      <a:srgbClr val="111827"/>
                    </a:solidFill>
                    <a:latin typeface="Cambria Math" panose="02040503050406030204" pitchFamily="18" charset="0"/>
                  </a:rPr>
                  <a:t>$(12,19)\in R_1$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$|1-19|=18&gt;13$</a:t>
                </a:r>
                <a:r>
                  <a:rPr sz="2400" b="0">
                    <a:solidFill>
                      <a:srgbClr val="111827"/>
                    </a:solidFill>
                    <a:latin typeface="Arial"/>
                  </a:rPr>
                  <a:t>, so </a:t>
                </a:r>
                <a:r>
                  <a:rPr lang="en-IN" sz="2400">
                    <a:solidFill>
                      <a:srgbClr val="111827"/>
                    </a:solidFill>
                    <a:latin typeface="Cambria Math" panose="02040503050406030204" pitchFamily="18" charset="0"/>
                  </a:rPr>
                  <a:t>$(1,19)\notin R_1$</a:t>
                </a:r>
                <a:r>
                  <a:rPr sz="2400" b="0">
                    <a:solidFill>
                      <a:srgbClr val="111827"/>
                    </a:solidFill>
                    <a:latin typeface="Arial"/>
                  </a:rPr>
                  <a:t>. Hence </a:t>
                </a:r>
                <a:r>
                  <a:rPr lang="en-IN" sz="2400">
                    <a:solidFill>
                      <a:srgbClr val="111827"/>
                    </a:solidFill>
                    <a:latin typeface="Cambria Math" panose="02040503050406030204" pitchFamily="18" charset="0"/>
                  </a:rPr>
                  <a:t>$R_1$</a:t>
                </a:r>
                <a:r>
                  <a:rPr sz="2400" b="0">
                    <a:solidFill>
                      <a:srgbClr val="111827"/>
                    </a:solidFill>
                    <a:latin typeface="Arial"/>
                  </a:rPr>
                  <a:t> is not transitive, so not an equivalence relation.</a:t>
                </a:r>
                <a:endParaRPr sz="2400">
                  <a:solidFill>
                    <a:srgbClr val="111827"/>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transitive, so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take </a:t>
                </a:r>
                <a:r>
                  <a:rPr lang="en-IN" sz="2400">
                    <a:solidFill>
                      <a:srgbClr val="111827"/>
                    </a:solidFill>
                    <a:latin typeface="Cambria Math" panose="02040503050406030204" pitchFamily="18" charset="0"/>
                  </a:rPr>
                  <a:t>$a=10,\ b=15,\ c=23$</a:t>
                </a:r>
                <a:r>
                  <a:rPr sz="2400" b="0">
                    <a:solidFill>
                      <a:srgbClr val="111827"/>
                    </a:solidFill>
                    <a:latin typeface="Arial"/>
                  </a:rPr>
                  <a:t>. </a:t>
                </a:r>
                <a:r>
                  <a:rPr lang="en-IN" sz="2400">
                    <a:solidFill>
                      <a:srgbClr val="111827"/>
                    </a:solidFill>
                    <a:latin typeface="Cambria Math" panose="02040503050406030204" pitchFamily="18" charset="0"/>
                  </a:rPr>
                  <a:t>$|10-15|=5\ne13$</a:t>
                </a:r>
                <a:r>
                  <a:rPr sz="2400" b="0">
                    <a:solidFill>
                      <a:srgbClr val="111827"/>
                    </a:solidFill>
                    <a:latin typeface="Arial"/>
                  </a:rPr>
                  <a:t>, so </a:t>
                </a:r>
                <a:r>
                  <a:rPr lang="en-IN" sz="2400">
                    <a:solidFill>
                      <a:srgbClr val="111827"/>
                    </a:solidFill>
                    <a:latin typeface="Cambria Math" panose="02040503050406030204" pitchFamily="18" charset="0"/>
                  </a:rPr>
                  <a:t>$(10,15)\in R_2$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$|15-23|=8\ne13$</a:t>
                </a:r>
                <a:r>
                  <a:rPr sz="2400" b="0">
                    <a:solidFill>
                      <a:srgbClr val="111827"/>
                    </a:solidFill>
                    <a:latin typeface="Arial"/>
                  </a:rPr>
                  <a:t>, so </a:t>
                </a:r>
                <a:r>
                  <a:rPr lang="en-IN" sz="2400">
                    <a:solidFill>
                      <a:srgbClr val="111827"/>
                    </a:solidFill>
                    <a:latin typeface="Cambria Math" panose="02040503050406030204" pitchFamily="18" charset="0"/>
                  </a:rPr>
                  <a:t>$(15,23)\in R_2$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$|10-23|=13$</a:t>
                </a:r>
                <a:r>
                  <a:rPr sz="2400" b="0">
                    <a:solidFill>
                      <a:srgbClr val="111827"/>
                    </a:solidFill>
                    <a:latin typeface="Arial"/>
                  </a:rPr>
                  <a:t>, so </a:t>
                </a:r>
                <a:r>
                  <a:rPr lang="en-IN" sz="2400">
                    <a:solidFill>
                      <a:srgbClr val="111827"/>
                    </a:solidFill>
                    <a:latin typeface="Cambria Math" panose="02040503050406030204" pitchFamily="18" charset="0"/>
                  </a:rPr>
                  <a:t>$(10,23)\notin R_2$</a:t>
                </a:r>
                <a:r>
                  <a:rPr sz="2400" b="0">
                    <a:solidFill>
                      <a:srgbClr val="111827"/>
                    </a:solidFill>
                    <a:latin typeface="Arial"/>
                  </a:rPr>
                  <a:t>. Hence </a:t>
                </a:r>
                <a:r>
                  <a:rPr lang="en-IN" sz="2400">
                    <a:solidFill>
                      <a:srgbClr val="111827"/>
                    </a:solidFill>
                    <a:latin typeface="Cambria Math" panose="02040503050406030204" pitchFamily="18" charset="0"/>
                  </a:rPr>
                  <a:t>$R_2$</a:t>
                </a:r>
                <a:r>
                  <a:rPr sz="2400" b="0">
                    <a:solidFill>
                      <a:srgbClr val="111827"/>
                    </a:solidFill>
                    <a:latin typeface="Arial"/>
                  </a:rPr>
                  <a:t> is not transitive, so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containing every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would join all of </a:t>
                </a:r>
                <a14:m>
                  <m:oMath xmlns:m="http://schemas.openxmlformats.org/officeDocument/2006/math">
                    <m:r>
                      <m:rPr>
                        <m:scr m:val="double-struck"/>
                        <m:sty m:val="p"/>
                      </m:rPr>
                      <a:rPr lang="en-IN" sz="2400">
                        <a:solidFill>
                          <a:srgbClr val="78350F"/>
                        </a:solidFill>
                        <a:latin typeface="Cambria Math" panose="02040503050406030204" pitchFamily="18" charset="0"/>
                      </a:rPr>
                      <m:t>N</m:t>
                    </m:r>
                  </m:oMath>
                </a14:m>
                <a:r>
                  <a:rPr sz="2400" b="0">
                    <a:solidFill>
                      <a:srgbClr val="78350F"/>
                    </a:solidFill>
                    <a:latin typeface="Arial"/>
                  </a:rPr>
                  <a:t> into one class, so it would contain every pair - but both relations miss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containing every pair </a:t>
                </a:r>
                <a:r>
                  <a:rPr lang="en-IN" sz="2400">
                    <a:solidFill>
                      <a:srgbClr val="78350F"/>
                    </a:solidFill>
                    <a:latin typeface="Cambria Math" panose="02040503050406030204" pitchFamily="18" charset="0"/>
                  </a:rPr>
                  <a:t>$(n,n+1)$</a:t>
                </a:r>
                <a:r>
                  <a:rPr sz="2400" b="0">
                    <a:solidFill>
                      <a:srgbClr val="78350F"/>
                    </a:solidFill>
                    <a:latin typeface="Arial"/>
                  </a:rPr>
                  <a:t> would join all of </a:t>
                </a:r>
                <a:r>
                  <a:rPr lang="en-IN" sz="2400">
                    <a:solidFill>
                      <a:srgbClr val="78350F"/>
                    </a:solidFill>
                    <a:latin typeface="Cambria Math" panose="02040503050406030204" pitchFamily="18" charset="0"/>
                  </a:rPr>
                  <a:t>$\mathbb{N}$</a:t>
                </a:r>
                <a:r>
                  <a:rPr sz="2400" b="0">
                    <a:solidFill>
                      <a:srgbClr val="78350F"/>
                    </a:solidFill>
                    <a:latin typeface="Arial"/>
                  </a:rPr>
                  <a:t> into one class, so it would contain every pair - but both relations miss </a:t>
                </a:r>
                <a:r>
                  <a:rPr lang="en-IN" sz="2400">
                    <a:solidFill>
                      <a:srgbClr val="78350F"/>
                    </a:solidFill>
                    <a:latin typeface="Cambria Math" panose="02040503050406030204" pitchFamily="18" charset="0"/>
                  </a:rPr>
                  <a:t>$(1,14)$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both relations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were an equivalence relation, repeated use of transitivity along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force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Contradiction,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both relations </a:t>
                </a:r>
                <a:r>
                  <a:rPr lang="en-IN" sz="2400">
                    <a:solidFill>
                      <a:srgbClr val="111827"/>
                    </a:solidFill>
                    <a:latin typeface="Cambria Math" panose="02040503050406030204" pitchFamily="18" charset="0"/>
                  </a:rPr>
                  <a:t>$(n,n+1)\in R$</a:t>
                </a:r>
                <a:r>
                  <a:rPr sz="2400" b="0">
                    <a:solidFill>
                      <a:srgbClr val="111827"/>
                    </a:solidFill>
                    <a:latin typeface="Arial"/>
                  </a:rPr>
                  <a:t> for every </a:t>
                </a:r>
                <a:r>
                  <a:rPr lang="en-IN" sz="2400">
                    <a:solidFill>
                      <a:srgbClr val="111827"/>
                    </a:solidFill>
                    <a:latin typeface="Cambria Math" panose="02040503050406030204" pitchFamily="18" charset="0"/>
                  </a:rPr>
                  <a:t>$n\in\mathbb{N}$</a:t>
                </a:r>
                <a:r>
                  <a:rPr sz="2400" b="0">
                    <a:solidFill>
                      <a:srgbClr val="111827"/>
                    </a:solidFill>
                    <a:latin typeface="Arial"/>
                  </a:rPr>
                  <a:t>: </a:t>
                </a:r>
                <a:r>
                  <a:rPr lang="en-IN" sz="2400">
                    <a:solidFill>
                      <a:srgbClr val="111827"/>
                    </a:solidFill>
                    <a:latin typeface="Cambria Math" panose="02040503050406030204" pitchFamily="18" charset="0"/>
                  </a:rPr>
                  <a:t>$|n-(n+1)|=1$</a:t>
                </a:r>
                <a:r>
                  <a:rPr sz="2400" b="0">
                    <a:solidFill>
                      <a:srgbClr val="111827"/>
                    </a:solidFill>
                    <a:latin typeface="Arial"/>
                  </a:rPr>
                  <a:t> satisfies </a:t>
                </a:r>
                <a:r>
                  <a:rPr lang="en-IN" sz="2400">
                    <a:solidFill>
                      <a:srgbClr val="111827"/>
                    </a:solidFill>
                    <a:latin typeface="Cambria Math" panose="02040503050406030204" pitchFamily="18" charset="0"/>
                  </a:rPr>
                  <a:t>$1\le13$</a:t>
                </a:r>
                <a:r>
                  <a:rPr sz="2400" b="0">
                    <a:solidFill>
                      <a:srgbClr val="111827"/>
                    </a:solidFill>
                    <a:latin typeface="Arial"/>
                  </a:rPr>
                  <a:t> and </a:t>
                </a:r>
                <a:r>
                  <a:rPr lang="en-IN" sz="2400">
                    <a:solidFill>
                      <a:srgbClr val="111827"/>
                    </a:solidFill>
                    <a:latin typeface="Cambria Math" panose="02040503050406030204" pitchFamily="18" charset="0"/>
                  </a:rPr>
                  <a:t>$1\ne13$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a:t>
                </a:r>
                <a:r>
                  <a:rPr sz="2400" b="0">
                    <a:solidFill>
                      <a:srgbClr val="111827"/>
                    </a:solidFill>
                    <a:latin typeface="Arial"/>
                  </a:rPr>
                  <a:t> were an equivalence relation, repeated use of transitivity along </a:t>
                </a:r>
                <a:r>
                  <a:rPr lang="en-IN" sz="2400">
                    <a:solidFill>
                      <a:srgbClr val="111827"/>
                    </a:solidFill>
                    <a:latin typeface="Cambria Math" panose="02040503050406030204" pitchFamily="18" charset="0"/>
                  </a:rPr>
                  <a:t>$1\sim2\sim3\sim\cdots$</a:t>
                </a:r>
                <a:r>
                  <a:rPr sz="2400" b="0">
                    <a:solidFill>
                      <a:srgbClr val="111827"/>
                    </a:solidFill>
                    <a:latin typeface="Arial"/>
                  </a:rPr>
                  <a:t> would force </a:t>
                </a:r>
                <a:r>
                  <a:rPr lang="en-IN" sz="2400">
                    <a:solidFill>
                      <a:srgbClr val="111827"/>
                    </a:solidFill>
                    <a:latin typeface="Cambria Math" panose="02040503050406030204" pitchFamily="18" charset="0"/>
                  </a:rPr>
                  <a:t>$1\sim m$</a:t>
                </a:r>
                <a:r>
                  <a:rPr sz="2400" b="0">
                    <a:solidFill>
                      <a:srgbClr val="111827"/>
                    </a:solidFill>
                    <a:latin typeface="Arial"/>
                  </a:rPr>
                  <a:t> for every </a:t>
                </a:r>
                <a:r>
                  <a:rPr lang="en-IN" sz="2400">
                    <a:solidFill>
                      <a:srgbClr val="111827"/>
                    </a:solidFill>
                    <a:latin typeface="Cambria Math" panose="02040503050406030204" pitchFamily="18" charset="0"/>
                  </a:rPr>
                  <a:t>$m\in\mathbb{N}$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$R_1$</a:t>
                </a:r>
                <a:r>
                  <a:rPr sz="2400" b="0">
                    <a:solidFill>
                      <a:srgbClr val="111827"/>
                    </a:solidFill>
                    <a:latin typeface="Arial"/>
                  </a:rPr>
                  <a:t> take </a:t>
                </a:r>
                <a:r>
                  <a:rPr lang="en-IN" sz="2400">
                    <a:solidFill>
                      <a:srgbClr val="111827"/>
                    </a:solidFill>
                    <a:latin typeface="Cambria Math" panose="02040503050406030204" pitchFamily="18" charset="0"/>
                  </a:rPr>
                  <a:t>$m=15$</a:t>
                </a:r>
                <a:r>
                  <a:rPr sz="2400" b="0">
                    <a:solidFill>
                      <a:srgbClr val="111827"/>
                    </a:solidFill>
                    <a:latin typeface="Arial"/>
                  </a:rPr>
                  <a:t>: </a:t>
                </a:r>
                <a:r>
                  <a:rPr lang="en-IN" sz="2400">
                    <a:solidFill>
                      <a:srgbClr val="111827"/>
                    </a:solidFill>
                    <a:latin typeface="Cambria Math" panose="02040503050406030204" pitchFamily="18" charset="0"/>
                  </a:rPr>
                  <a:t>$|1-15|=14&gt;13$</a:t>
                </a:r>
                <a:r>
                  <a:rPr sz="2400" b="0">
                    <a:solidFill>
                      <a:srgbClr val="111827"/>
                    </a:solidFill>
                    <a:latin typeface="Arial"/>
                  </a:rPr>
                  <a:t>, so </a:t>
                </a:r>
                <a:r>
                  <a:rPr lang="en-IN" sz="2400">
                    <a:solidFill>
                      <a:srgbClr val="111827"/>
                    </a:solidFill>
                    <a:latin typeface="Cambria Math" panose="02040503050406030204" pitchFamily="18" charset="0"/>
                  </a:rPr>
                  <a:t>$(1,15)\notin R_1$</a:t>
                </a:r>
                <a:r>
                  <a:rPr sz="2400" b="0">
                    <a:solidFill>
                      <a:srgbClr val="111827"/>
                    </a:solidFill>
                    <a:latin typeface="Arial"/>
                  </a:rPr>
                  <a:t>. Contradiction, so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Contradiction,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$R_2$</a:t>
                </a:r>
                <a:r>
                  <a:rPr sz="2400" b="0">
                    <a:solidFill>
                      <a:srgbClr val="111827"/>
                    </a:solidFill>
                    <a:latin typeface="Arial"/>
                  </a:rPr>
                  <a:t> take </a:t>
                </a:r>
                <a:r>
                  <a:rPr lang="en-IN" sz="2400">
                    <a:solidFill>
                      <a:srgbClr val="111827"/>
                    </a:solidFill>
                    <a:latin typeface="Cambria Math" panose="02040503050406030204" pitchFamily="18" charset="0"/>
                  </a:rPr>
                  <a:t>$m=14$</a:t>
                </a:r>
                <a:r>
                  <a:rPr sz="2400" b="0">
                    <a:solidFill>
                      <a:srgbClr val="111827"/>
                    </a:solidFill>
                    <a:latin typeface="Arial"/>
                  </a:rPr>
                  <a:t>: </a:t>
                </a:r>
                <a:r>
                  <a:rPr lang="en-IN" sz="2400">
                    <a:solidFill>
                      <a:srgbClr val="111827"/>
                    </a:solidFill>
                    <a:latin typeface="Cambria Math" panose="02040503050406030204" pitchFamily="18" charset="0"/>
                  </a:rPr>
                  <a:t>$|1-14|=13$</a:t>
                </a:r>
                <a:r>
                  <a:rPr sz="2400" b="0">
                    <a:solidFill>
                      <a:srgbClr val="111827"/>
                    </a:solidFill>
                    <a:latin typeface="Arial"/>
                  </a:rPr>
                  <a:t>, so </a:t>
                </a:r>
                <a:r>
                  <a:rPr lang="en-IN" sz="2400">
                    <a:solidFill>
                      <a:srgbClr val="111827"/>
                    </a:solidFill>
                    <a:latin typeface="Cambria Math" panose="02040503050406030204" pitchFamily="18" charset="0"/>
                  </a:rPr>
                  <a:t>$(1,14)\notin R_2$</a:t>
                </a:r>
                <a:r>
                  <a:rPr sz="2400" b="0">
                    <a:solidFill>
                      <a:srgbClr val="111827"/>
                    </a:solidFill>
                    <a:latin typeface="Arial"/>
                  </a:rPr>
                  <a:t>. Contradiction, so </a:t>
                </a:r>
                <a:r>
                  <a:rPr lang="en-IN" sz="2400">
                    <a:solidFill>
                      <a:srgbClr val="111827"/>
                    </a:solidFill>
                    <a:latin typeface="Cambria Math" panose="02040503050406030204" pitchFamily="18" charset="0"/>
                  </a:rPr>
                  <a:t>$R_2$</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defined by closeness,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are never transitive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or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chain steps of size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to leave the bound.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reflexive and symmetric but not transitive: 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yet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 reflexive + symmetric + transitive; a single triple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𝑐</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disproves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 trick: if a relation contains all consecutive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is transitive, it is the whole </a:t>
                </a:r>
                <a14:m>
                  <m:oMath xmlns:m="http://schemas.openxmlformats.org/officeDocument/2006/math">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Relations defined by closeness, </a:t>
                </a:r>
                <a:r>
                  <a:rPr lang="en-IN" sz="2400">
                    <a:solidFill>
                      <a:srgbClr val="111827"/>
                    </a:solidFill>
                    <a:latin typeface="Cambria Math" panose="02040503050406030204" pitchFamily="18" charset="0"/>
                  </a:rPr>
                  <a:t>$|a-b|\le c$</a:t>
                </a:r>
                <a:r>
                  <a:rPr sz="2400" b="0">
                    <a:solidFill>
                      <a:srgbClr val="111827"/>
                    </a:solidFill>
                    <a:latin typeface="Arial"/>
                  </a:rPr>
                  <a:t> (or </a:t>
                </a:r>
                <a:r>
                  <a:rPr lang="en-IN" sz="2400">
                    <a:solidFill>
                      <a:srgbClr val="111827"/>
                    </a:solidFill>
                    <a:latin typeface="Cambria Math" panose="02040503050406030204" pitchFamily="18" charset="0"/>
                  </a:rPr>
                  <a:t>$&lt;c$</a:t>
                </a:r>
                <a:r>
                  <a:rPr sz="2400" b="0">
                    <a:solidFill>
                      <a:srgbClr val="111827"/>
                    </a:solidFill>
                    <a:latin typeface="Arial"/>
                  </a:rPr>
                  <a:t>) with </a:t>
                </a:r>
                <a:r>
                  <a:rPr lang="en-IN" sz="2400">
                    <a:solidFill>
                      <a:srgbClr val="111827"/>
                    </a:solidFill>
                    <a:latin typeface="Cambria Math" panose="02040503050406030204" pitchFamily="18" charset="0"/>
                  </a:rPr>
                  <a:t>$c&gt;0$</a:t>
                </a:r>
                <a:r>
                  <a:rPr sz="2400" b="0">
                    <a:solidFill>
                      <a:srgbClr val="111827"/>
                    </a:solidFill>
                    <a:latin typeface="Arial"/>
                  </a:rPr>
                  <a:t>, are never transitive on </a:t>
                </a:r>
                <a:r>
                  <a:rPr lang="en-IN" sz="2400">
                    <a:solidFill>
                      <a:srgbClr val="111827"/>
                    </a:solidFill>
                    <a:latin typeface="Cambria Math" panose="02040503050406030204" pitchFamily="18" charset="0"/>
                  </a:rPr>
                  <a:t>$\mathbb{N}$</a:t>
                </a:r>
                <a:r>
                  <a:rPr sz="2400" b="0">
                    <a:solidFill>
                      <a:srgbClr val="111827"/>
                    </a:solidFill>
                    <a:latin typeface="Arial"/>
                  </a:rPr>
                  <a:t> or </a:t>
                </a:r>
                <a:r>
                  <a:rPr lang="en-IN" sz="2400">
                    <a:solidFill>
                      <a:srgbClr val="111827"/>
                    </a:solidFill>
                    <a:latin typeface="Cambria Math" panose="02040503050406030204" pitchFamily="18" charset="0"/>
                  </a:rPr>
                  <a:t>$\mathbb{R}$</a:t>
                </a:r>
                <a:r>
                  <a:rPr sz="2400" b="0">
                    <a:solidFill>
                      <a:srgbClr val="111827"/>
                    </a:solidFill>
                    <a:latin typeface="Arial"/>
                  </a:rPr>
                  <a:t>: chain steps of size </a:t>
                </a:r>
                <a:r>
                  <a:rPr lang="en-IN" sz="2400">
                    <a:solidFill>
                      <a:srgbClr val="111827"/>
                    </a:solidFill>
                    <a:latin typeface="Cambria Math" panose="02040503050406030204" pitchFamily="18" charset="0"/>
                  </a:rPr>
                  <a:t>$c$</a:t>
                </a:r>
                <a:r>
                  <a:rPr sz="2400" b="0">
                    <a:solidFill>
                      <a:srgbClr val="111827"/>
                    </a:solidFill>
                    <a:latin typeface="Arial"/>
                  </a:rPr>
                  <a:t> to leave the bound.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$|a-b|\ne c$</a:t>
                </a:r>
                <a:r>
                  <a:rPr sz="2400" b="0">
                    <a:solidFill>
                      <a:srgbClr val="111827"/>
                    </a:solidFill>
                    <a:latin typeface="Arial"/>
                  </a:rPr>
                  <a:t> (</a:t>
                </a:r>
                <a:r>
                  <a:rPr lang="en-IN" sz="2400">
                    <a:solidFill>
                      <a:srgbClr val="111827"/>
                    </a:solidFill>
                    <a:latin typeface="Cambria Math" panose="02040503050406030204" pitchFamily="18" charset="0"/>
                  </a:rPr>
                  <a:t>$c&gt;0$</a:t>
                </a:r>
                <a:r>
                  <a:rPr sz="2400" b="0">
                    <a:solidFill>
                      <a:srgbClr val="111827"/>
                    </a:solidFill>
                    <a:latin typeface="Arial"/>
                  </a:rPr>
                  <a:t>) is reflexive and symmetric but not transitive: for </a:t>
                </a:r>
                <a:r>
                  <a:rPr lang="en-IN" sz="2400">
                    <a:solidFill>
                      <a:srgbClr val="111827"/>
                    </a:solidFill>
                    <a:latin typeface="Cambria Math" panose="02040503050406030204" pitchFamily="18" charset="0"/>
                  </a:rPr>
                  <a:t>$c=13$</a:t>
                </a:r>
                <a:r>
                  <a:rPr sz="2400" b="0">
                    <a:solidFill>
                      <a:srgbClr val="111827"/>
                    </a:solidFill>
                    <a:latin typeface="Arial"/>
                  </a:rPr>
                  <a:t>, </a:t>
                </a:r>
                <a:r>
                  <a:rPr lang="en-IN" sz="2400">
                    <a:solidFill>
                      <a:srgbClr val="111827"/>
                    </a:solidFill>
                    <a:latin typeface="Cambria Math" panose="02040503050406030204" pitchFamily="18" charset="0"/>
                  </a:rPr>
                  <a:t>$(10,15),(15,23)\in R_2$</a:t>
                </a:r>
                <a:r>
                  <a:rPr sz="2400" b="0">
                    <a:solidFill>
                      <a:srgbClr val="111827"/>
                    </a:solidFill>
                    <a:latin typeface="Arial"/>
                  </a:rPr>
                  <a:t> yet </a:t>
                </a:r>
                <a:r>
                  <a:rPr lang="en-IN" sz="2400">
                    <a:solidFill>
                      <a:srgbClr val="111827"/>
                    </a:solidFill>
                    <a:latin typeface="Cambria Math" panose="02040503050406030204" pitchFamily="18" charset="0"/>
                  </a:rPr>
                  <a:t>$(10,23)\notin R_2$</a:t>
                </a:r>
                <a:r>
                  <a:rPr sz="2400" b="0">
                    <a:solidFill>
                      <a:srgbClr val="111827"/>
                    </a:solidFill>
                    <a:latin typeface="Arial"/>
                  </a:rPr>
                  <a:t> because </a:t>
                </a:r>
                <a:r>
                  <a:rPr lang="en-IN" sz="2400">
                    <a:solidFill>
                      <a:srgbClr val="111827"/>
                    </a:solidFill>
                    <a:latin typeface="Cambria Math" panose="02040503050406030204" pitchFamily="18" charset="0"/>
                  </a:rPr>
                  <a:t>$23-10=13$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 reflexive + symmetric + transitive; a single triple </a:t>
                </a:r>
                <a:r>
                  <a:rPr lang="en-IN" sz="2400">
                    <a:solidFill>
                      <a:srgbClr val="111827"/>
                    </a:solidFill>
                    <a:latin typeface="Cambria Math" panose="02040503050406030204" pitchFamily="18" charset="0"/>
                  </a:rPr>
                  <a:t>$(a,b,c)$</a:t>
                </a:r>
                <a:r>
                  <a:rPr sz="2400" b="0">
                    <a:solidFill>
                      <a:srgbClr val="111827"/>
                    </a:solidFill>
                    <a:latin typeface="Arial"/>
                  </a:rPr>
                  <a:t> with </a:t>
                </a:r>
                <a:r>
                  <a:rPr lang="en-IN" sz="2400">
                    <a:solidFill>
                      <a:srgbClr val="111827"/>
                    </a:solidFill>
                    <a:latin typeface="Cambria Math" panose="02040503050406030204" pitchFamily="18" charset="0"/>
                  </a:rPr>
                  <a:t>$aRb$</a:t>
                </a:r>
                <a:r>
                  <a:rPr sz="2400" b="0">
                    <a:solidFill>
                      <a:srgbClr val="111827"/>
                    </a:solidFill>
                    <a:latin typeface="Arial"/>
                  </a:rPr>
                  <a:t> and </a:t>
                </a:r>
                <a:r>
                  <a:rPr lang="en-IN" sz="2400">
                    <a:solidFill>
                      <a:srgbClr val="111827"/>
                    </a:solidFill>
                    <a:latin typeface="Cambria Math" panose="02040503050406030204" pitchFamily="18" charset="0"/>
                  </a:rPr>
                  <a:t>$bRc$</a:t>
                </a:r>
                <a:r>
                  <a:rPr sz="2400" b="0">
                    <a:solidFill>
                      <a:srgbClr val="111827"/>
                    </a:solidFill>
                    <a:latin typeface="Arial"/>
                  </a:rPr>
                  <a:t> but </a:t>
                </a:r>
                <a:r>
                  <a:rPr lang="en-IN" sz="2400">
                    <a:solidFill>
                      <a:srgbClr val="111827"/>
                    </a:solidFill>
                    <a:latin typeface="Cambria Math" panose="02040503050406030204" pitchFamily="18" charset="0"/>
                  </a:rPr>
                  <a:t>$(a,c)\notin R$</a:t>
                </a:r>
                <a:r>
                  <a:rPr sz="2400" b="0">
                    <a:solidFill>
                      <a:srgbClr val="111827"/>
                    </a:solidFill>
                    <a:latin typeface="Arial"/>
                  </a:rPr>
                  <a:t> disproves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 trick: if a relation contains all consecutive pairs </a:t>
                </a:r>
                <a:r>
                  <a:rPr lang="en-IN" sz="2400">
                    <a:solidFill>
                      <a:srgbClr val="111827"/>
                    </a:solidFill>
                    <a:latin typeface="Cambria Math" panose="02040503050406030204" pitchFamily="18" charset="0"/>
                  </a:rPr>
                  <a:t>$(n,n+1)$</a:t>
                </a:r>
                <a:r>
                  <a:rPr sz="2400" b="0">
                    <a:solidFill>
                      <a:srgbClr val="111827"/>
                    </a:solidFill>
                    <a:latin typeface="Arial"/>
                  </a:rPr>
                  <a:t> and is transitive, it is the whole </a:t>
                </a:r>
                <a:r>
                  <a:rPr lang="en-IN" sz="2400">
                    <a:solidFill>
                      <a:srgbClr val="111827"/>
                    </a:solidFill>
                    <a:latin typeface="Cambria Math" panose="02040503050406030204" pitchFamily="18" charset="0"/>
                  </a:rPr>
                  <a:t>$\mathbb{N}\times\mathbb{N}$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Define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nor/>
                      </m:rPr>
                      <a:rPr lang="en-IN" sz="2400" i="1">
                        <a:solidFill>
                          <a:srgbClr val="111827"/>
                        </a:solidFill>
                        <a:latin typeface="Cambria Math" panose="02040503050406030204" pitchFamily="18" charset="0"/>
                      </a:rPr>
                      <m:t> 𝑖𝑓 𝑎𝑛𝑑 𝑜𝑛𝑙𝑦 𝑖𝑓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set </a:t>
                </a:r>
                <a:r>
                  <a:rPr lang="en-IN" sz="2400">
                    <a:solidFill>
                      <a:srgbClr val="111827"/>
                    </a:solidFill>
                    <a:latin typeface="Cambria Math" panose="02040503050406030204" pitchFamily="18" charset="0"/>
                  </a:rPr>
                  <a:t>$A=A_1\cup A_2\cup\cdots\cup A_k$</a:t>
                </a:r>
                <a:r>
                  <a:rPr sz="2400" b="0">
                    <a:solidFill>
                      <a:srgbClr val="111827"/>
                    </a:solidFill>
                    <a:latin typeface="Arial"/>
                  </a:rPr>
                  <a:t>, where </a:t>
                </a:r>
                <a:r>
                  <a:rPr lang="en-IN" sz="2400">
                    <a:solidFill>
                      <a:srgbClr val="111827"/>
                    </a:solidFill>
                    <a:latin typeface="Cambria Math" panose="02040503050406030204" pitchFamily="18" charset="0"/>
                  </a:rPr>
                  <a:t>$A_i\cap A_j=\phi$</a:t>
                </a:r>
                <a:r>
                  <a:rPr sz="2400" b="0">
                    <a:solidFill>
                      <a:srgbClr val="111827"/>
                    </a:solidFill>
                    <a:latin typeface="Arial"/>
                  </a:rPr>
                  <a:t> for </a:t>
                </a:r>
                <a:r>
                  <a:rPr lang="en-IN" sz="2400">
                    <a:solidFill>
                      <a:srgbClr val="111827"/>
                    </a:solidFill>
                    <a:latin typeface="Cambria Math" panose="02040503050406030204" pitchFamily="18" charset="0"/>
                  </a:rPr>
                  <a:t>$i\ne j$</a:t>
                </a:r>
                <a:r>
                  <a:rPr sz="2400" b="0">
                    <a:solidFill>
                      <a:srgbClr val="111827"/>
                    </a:solidFill>
                    <a:latin typeface="Arial"/>
                  </a:rPr>
                  <a:t>, </a:t>
                </a:r>
                <a:r>
                  <a:rPr lang="en-IN" sz="2400">
                    <a:solidFill>
                      <a:srgbClr val="111827"/>
                    </a:solidFill>
                    <a:latin typeface="Cambria Math" panose="02040503050406030204" pitchFamily="18" charset="0"/>
                  </a:rPr>
                  <a:t>$1\le i,j\le k$</a:t>
                </a:r>
                <a:r>
                  <a:rPr sz="2400" b="0">
                    <a:solidFill>
                      <a:srgbClr val="111827"/>
                    </a:solidFill>
                    <a:latin typeface="Arial"/>
                  </a:rPr>
                  <a:t>. Define the relation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$A$</a:t>
                </a:r>
                <a:r>
                  <a:rPr sz="2400" b="0">
                    <a:solidFill>
                      <a:srgbClr val="111827"/>
                    </a:solidFill>
                    <a:latin typeface="Arial"/>
                  </a:rPr>
                  <a:t> by </a:t>
                </a:r>
                <a:r>
                  <a:rPr lang="en-IN" sz="2400">
                    <a:solidFill>
                      <a:srgbClr val="111827"/>
                    </a:solidFill>
                    <a:latin typeface="Cambria Math" panose="02040503050406030204" pitchFamily="18" charset="0"/>
                  </a:rPr>
                  <a:t>$R=\{(x,y):y\in A_i \text{ if and only if } x\in A_i,\ 1\le i\le k\}$</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 [JEE(Main) June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 and partitions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oMath>
                </a14:m>
                <a:r>
                  <a:rPr sz="2400" b="0">
                    <a:solidFill>
                      <a:srgbClr val="78350F"/>
                    </a:solidFill>
                    <a:latin typeface="Arial"/>
                  </a:rPr>
                  <a:t> says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lie in the same block of the partition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𝑘</m:t>
                        </m:r>
                      </m:sub>
                    </m:sSub>
                  </m:oMath>
                </a14:m>
                <a:r>
                  <a:rPr sz="2400" b="0">
                    <a:solidFill>
                      <a:srgbClr val="78350F"/>
                    </a:solidFill>
                    <a:latin typeface="Arial"/>
                  </a:rPr>
                  <a:t>, and 'same block' is an equivalence relation.</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$x\,R\,y$</a:t>
                </a:r>
                <a:r>
                  <a:rPr sz="2400" b="0">
                    <a:solidFill>
                      <a:srgbClr val="78350F"/>
                    </a:solidFill>
                    <a:latin typeface="Arial"/>
                  </a:rPr>
                  <a:t> says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lie in the same block of the partition </a:t>
                </a:r>
                <a:r>
                  <a:rPr lang="en-IN" sz="2400">
                    <a:solidFill>
                      <a:srgbClr val="78350F"/>
                    </a:solidFill>
                    <a:latin typeface="Cambria Math" panose="02040503050406030204" pitchFamily="18" charset="0"/>
                  </a:rPr>
                  <a:t>$A_1,\dots,A_k$</a:t>
                </a:r>
                <a:r>
                  <a:rPr sz="2400" b="0">
                    <a:solidFill>
                      <a:srgbClr val="78350F"/>
                    </a:solidFill>
                    <a:latin typeface="Arial"/>
                  </a:rPr>
                  <a:t>, and 'same block' is an equivalence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oMath>
                </a14:m>
                <a:r>
                  <a:rPr sz="2400" b="0">
                    <a:solidFill>
                      <a:srgbClr val="111827"/>
                    </a:solidFill>
                    <a:latin typeface="Arial"/>
                  </a:rPr>
                  <a:t> means: for each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Check the three properties.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true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$x\,R\,y$</a:t>
                </a:r>
                <a:r>
                  <a:rPr sz="2400" b="0">
                    <a:solidFill>
                      <a:srgbClr val="111827"/>
                    </a:solidFill>
                    <a:latin typeface="Arial"/>
                  </a:rPr>
                  <a:t> means: for each </a:t>
                </a:r>
                <a:r>
                  <a:rPr lang="en-IN" sz="2400">
                    <a:solidFill>
                      <a:srgbClr val="111827"/>
                    </a:solidFill>
                    <a:latin typeface="Cambria Math" panose="02040503050406030204" pitchFamily="18" charset="0"/>
                  </a:rPr>
                  <a:t>$i$</a:t>
                </a:r>
                <a:r>
                  <a:rPr sz="2400" b="0">
                    <a:solidFill>
                      <a:srgbClr val="111827"/>
                    </a:solidFill>
                    <a:latin typeface="Arial"/>
                  </a:rPr>
                  <a:t>, </a:t>
                </a:r>
                <a:r>
                  <a:rPr lang="en-IN" sz="2400">
                    <a:solidFill>
                      <a:srgbClr val="111827"/>
                    </a:solidFill>
                    <a:latin typeface="Cambria Math" panose="02040503050406030204" pitchFamily="18" charset="0"/>
                  </a:rPr>
                  <a:t>$y\in A_i\iff x\in A_i$</a:t>
                </a:r>
                <a:r>
                  <a:rPr sz="2400" b="0">
                    <a:solidFill>
                      <a:srgbClr val="111827"/>
                    </a:solidFill>
                    <a:latin typeface="Arial"/>
                  </a:rPr>
                  <a:t>. Check the three properties.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for every </a:t>
                </a:r>
                <a:r>
                  <a:rPr lang="en-IN" sz="2400">
                    <a:solidFill>
                      <a:srgbClr val="111827"/>
                    </a:solidFill>
                    <a:latin typeface="Cambria Math" panose="02040503050406030204" pitchFamily="18" charset="0"/>
                  </a:rPr>
                  <a:t>$x\in A$</a:t>
                </a:r>
                <a:r>
                  <a:rPr sz="2400" b="0">
                    <a:solidFill>
                      <a:srgbClr val="111827"/>
                    </a:solidFill>
                    <a:latin typeface="Arial"/>
                  </a:rPr>
                  <a:t>, '</a:t>
                </a:r>
                <a:r>
                  <a:rPr lang="en-IN" sz="2400">
                    <a:solidFill>
                      <a:srgbClr val="111827"/>
                    </a:solidFill>
                    <a:latin typeface="Cambria Math" panose="02040503050406030204" pitchFamily="18" charset="0"/>
                  </a:rPr>
                  <a:t>$x\in A_i\iff x\in A_i$</a:t>
                </a:r>
                <a:r>
                  <a:rPr sz="2400" b="0">
                    <a:solidFill>
                      <a:srgbClr val="111827"/>
                    </a:solidFill>
                    <a:latin typeface="Arial"/>
                  </a:rPr>
                  <a:t>' is true for all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$(x,x)\in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statement read backwards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which says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Chaining the two equivalences gives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and transitive, so it is an equivalence relation: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$(x,y)\in R$</a:t>
                </a:r>
                <a:r>
                  <a:rPr sz="2400" b="0">
                    <a:solidFill>
                      <a:srgbClr val="111827"/>
                    </a:solidFill>
                    <a:latin typeface="Arial"/>
                  </a:rPr>
                  <a:t>, i.e. </a:t>
                </a:r>
                <a:r>
                  <a:rPr lang="en-IN" sz="2400">
                    <a:solidFill>
                      <a:srgbClr val="111827"/>
                    </a:solidFill>
                    <a:latin typeface="Cambria Math" panose="02040503050406030204" pitchFamily="18" charset="0"/>
                  </a:rPr>
                  <a:t>$y\in A_i\iff x\in A_i$</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statement read backwards is </a:t>
                </a:r>
                <a:r>
                  <a:rPr lang="en-IN" sz="2400">
                    <a:solidFill>
                      <a:srgbClr val="111827"/>
                    </a:solidFill>
                    <a:latin typeface="Cambria Math" panose="02040503050406030204" pitchFamily="18" charset="0"/>
                  </a:rPr>
                  <a:t>$x\in A_i\iff y\in A_i$</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 which says </a:t>
                </a:r>
                <a:r>
                  <a:rPr lang="en-IN" sz="2400">
                    <a:solidFill>
                      <a:srgbClr val="111827"/>
                    </a:solidFill>
                    <a:latin typeface="Cambria Math" panose="02040503050406030204" pitchFamily="18" charset="0"/>
                  </a:rPr>
                  <a:t>$(y,x)\in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$(x,y)\in R$</a:t>
                </a:r>
                <a:r>
                  <a:rPr sz="2400" b="0">
                    <a:solidFill>
                      <a:srgbClr val="111827"/>
                    </a:solidFill>
                    <a:latin typeface="Arial"/>
                  </a:rPr>
                  <a:t> and </a:t>
                </a:r>
                <a:r>
                  <a:rPr lang="en-IN" sz="2400">
                    <a:solidFill>
                      <a:srgbClr val="111827"/>
                    </a:solidFill>
                    <a:latin typeface="Cambria Math" panose="02040503050406030204" pitchFamily="18" charset="0"/>
                  </a:rPr>
                  <a:t>$(y,z)\in R$</a:t>
                </a:r>
                <a:r>
                  <a:rPr sz="2400" b="0">
                    <a:solidFill>
                      <a:srgbClr val="111827"/>
                    </a:solidFill>
                    <a:latin typeface="Arial"/>
                  </a:rPr>
                  <a:t>. Then </a:t>
                </a:r>
                <a:r>
                  <a:rPr lang="en-IN" sz="2400">
                    <a:solidFill>
                      <a:srgbClr val="111827"/>
                    </a:solidFill>
                    <a:latin typeface="Cambria Math" panose="02040503050406030204" pitchFamily="18" charset="0"/>
                  </a:rPr>
                  <a:t>$y\in A_i\iff x\in A_i$</a:t>
                </a:r>
                <a:r>
                  <a:rPr sz="2400" b="0">
                    <a:solidFill>
                      <a:srgbClr val="111827"/>
                    </a:solidFill>
                    <a:latin typeface="Arial"/>
                  </a:rPr>
                  <a:t> and </a:t>
                </a:r>
                <a:r>
                  <a:rPr lang="en-IN" sz="2400">
                    <a:solidFill>
                      <a:srgbClr val="111827"/>
                    </a:solidFill>
                    <a:latin typeface="Cambria Math" panose="02040503050406030204" pitchFamily="18" charset="0"/>
                  </a:rPr>
                  <a:t>$z\in A_i\iff y\in A_i$</a:t>
                </a:r>
                <a:r>
                  <a:rPr sz="2400" b="0">
                    <a:solidFill>
                      <a:srgbClr val="111827"/>
                    </a:solidFill>
                    <a:latin typeface="Arial"/>
                  </a:rPr>
                  <a:t> for each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Chaining the two equivalences gives </a:t>
                </a:r>
                <a:r>
                  <a:rPr lang="en-IN" sz="2400">
                    <a:solidFill>
                      <a:srgbClr val="111827"/>
                    </a:solidFill>
                    <a:latin typeface="Cambria Math" panose="02040503050406030204" pitchFamily="18" charset="0"/>
                  </a:rPr>
                  <a:t>$z\in A_i\iff x\in A_i$</a:t>
                </a:r>
                <a:r>
                  <a:rPr sz="2400" b="0">
                    <a:solidFill>
                      <a:srgbClr val="111827"/>
                    </a:solidFill>
                    <a:latin typeface="Arial"/>
                  </a:rPr>
                  <a:t> for each </a:t>
                </a:r>
                <a:r>
                  <a:rPr lang="en-IN" sz="2400">
                    <a:solidFill>
                      <a:srgbClr val="111827"/>
                    </a:solidFill>
                    <a:latin typeface="Cambria Math" panose="02040503050406030204" pitchFamily="18" charset="0"/>
                  </a:rPr>
                  <a:t>$i$</a:t>
                </a:r>
                <a:r>
                  <a:rPr sz="2400" b="0">
                    <a:solidFill>
                      <a:srgbClr val="111827"/>
                    </a:solidFill>
                    <a:latin typeface="Arial"/>
                  </a:rPr>
                  <a:t>, i.e. </a:t>
                </a:r>
                <a:r>
                  <a:rPr lang="en-IN" sz="2400">
                    <a:solidFill>
                      <a:srgbClr val="111827"/>
                    </a:solidFill>
                    <a:latin typeface="Cambria Math" panose="02040503050406030204" pitchFamily="18" charset="0"/>
                  </a:rPr>
                  <a:t>$(x,z)\in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symmetric and transitive, so it is an equivalence relation: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an equivalence relation</a:t>
            </a:r>
            <a:endParaRPr sz="2800">
              <a:solidFill>
                <a:srgbClr val="15803D"/>
              </a:solidFill>
            </a:endParaRP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Define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when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equality of values is always an equivalence.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Define </a:t>
                </a:r>
                <a:r>
                  <a:rPr lang="en-IN" sz="2400">
                    <a:solidFill>
                      <a:srgbClr val="78350F"/>
                    </a:solidFill>
                    <a:latin typeface="Cambria Math" panose="02040503050406030204" pitchFamily="18" charset="0"/>
                  </a:rPr>
                  <a:t>$f:A\to\{1,\dots,k\}$</a:t>
                </a:r>
                <a:r>
                  <a:rPr sz="2400" b="0">
                    <a:solidFill>
                      <a:srgbClr val="78350F"/>
                    </a:solidFill>
                    <a:latin typeface="Arial"/>
                  </a:rPr>
                  <a:t> by </a:t>
                </a:r>
                <a:r>
                  <a:rPr lang="en-IN" sz="2400">
                    <a:solidFill>
                      <a:srgbClr val="78350F"/>
                    </a:solidFill>
                    <a:latin typeface="Cambria Math" panose="02040503050406030204" pitchFamily="18" charset="0"/>
                  </a:rPr>
                  <a:t>$f(x)=i$</a:t>
                </a:r>
                <a:r>
                  <a:rPr sz="2400" b="0">
                    <a:solidFill>
                      <a:srgbClr val="78350F"/>
                    </a:solidFill>
                    <a:latin typeface="Arial"/>
                  </a:rPr>
                  <a:t> when </a:t>
                </a:r>
                <a:r>
                  <a:rPr lang="en-IN" sz="2400">
                    <a:solidFill>
                      <a:srgbClr val="78350F"/>
                    </a:solidFill>
                    <a:latin typeface="Cambria Math" panose="02040503050406030204" pitchFamily="18" charset="0"/>
                  </a:rPr>
                  <a:t>$x\in A_i$</a:t>
                </a:r>
                <a:r>
                  <a:rPr sz="2400" b="0">
                    <a:solidFill>
                      <a:srgbClr val="78350F"/>
                    </a:solidFill>
                    <a:latin typeface="Arial"/>
                  </a:rPr>
                  <a:t>; then </a:t>
                </a:r>
                <a:r>
                  <a:rPr lang="en-IN" sz="2400">
                    <a:solidFill>
                      <a:srgbClr val="78350F"/>
                    </a:solidFill>
                    <a:latin typeface="Cambria Math" panose="02040503050406030204" pitchFamily="18" charset="0"/>
                  </a:rPr>
                  <a:t>$x\,R\,y\iff f(x)=f(y)$</a:t>
                </a:r>
                <a:r>
                  <a:rPr sz="2400" b="0">
                    <a:solidFill>
                      <a:srgbClr val="78350F"/>
                    </a:solidFill>
                    <a:latin typeface="Arial"/>
                  </a:rPr>
                  <a:t>, and equality of values is always an equivalence.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the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pairwise disjoint and cover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lies in exactly one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define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for that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holds exactly when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lie in the same block, i.e. when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the </a:t>
                </a:r>
                <a:r>
                  <a:rPr lang="en-IN" sz="2400">
                    <a:solidFill>
                      <a:srgbClr val="111827"/>
                    </a:solidFill>
                    <a:latin typeface="Cambria Math" panose="02040503050406030204" pitchFamily="18" charset="0"/>
                  </a:rPr>
                  <a:t>$A_i$</a:t>
                </a:r>
                <a:r>
                  <a:rPr sz="2400" b="0">
                    <a:solidFill>
                      <a:srgbClr val="111827"/>
                    </a:solidFill>
                    <a:latin typeface="Arial"/>
                  </a:rPr>
                  <a:t> are pairwise disjoint and cover </a:t>
                </a:r>
                <a:r>
                  <a:rPr lang="en-IN" sz="2400">
                    <a:solidFill>
                      <a:srgbClr val="111827"/>
                    </a:solidFill>
                    <a:latin typeface="Cambria Math" panose="02040503050406030204" pitchFamily="18" charset="0"/>
                  </a:rPr>
                  <a:t>$A$</a:t>
                </a:r>
                <a:r>
                  <a:rPr sz="2400" b="0">
                    <a:solidFill>
                      <a:srgbClr val="111827"/>
                    </a:solidFill>
                    <a:latin typeface="Arial"/>
                  </a:rPr>
                  <a:t>, every </a:t>
                </a:r>
                <a:r>
                  <a:rPr lang="en-IN" sz="2400">
                    <a:solidFill>
                      <a:srgbClr val="111827"/>
                    </a:solidFill>
                    <a:latin typeface="Cambria Math" panose="02040503050406030204" pitchFamily="18" charset="0"/>
                  </a:rPr>
                  <a:t>$x\in A$</a:t>
                </a:r>
                <a:r>
                  <a:rPr sz="2400" b="0">
                    <a:solidFill>
                      <a:srgbClr val="111827"/>
                    </a:solidFill>
                    <a:latin typeface="Arial"/>
                  </a:rPr>
                  <a:t> lies in exactly one </a:t>
                </a:r>
                <a:r>
                  <a:rPr lang="en-IN" sz="2400">
                    <a:solidFill>
                      <a:srgbClr val="111827"/>
                    </a:solidFill>
                    <a:latin typeface="Cambria Math" panose="02040503050406030204" pitchFamily="18" charset="0"/>
                  </a:rPr>
                  <a:t>$A_i$</a:t>
                </a:r>
                <a:r>
                  <a:rPr sz="2400" b="0">
                    <a:solidFill>
                      <a:srgbClr val="111827"/>
                    </a:solidFill>
                    <a:latin typeface="Arial"/>
                  </a:rPr>
                  <a:t>; define </a:t>
                </a:r>
                <a:r>
                  <a:rPr lang="en-IN" sz="2400">
                    <a:solidFill>
                      <a:srgbClr val="111827"/>
                    </a:solidFill>
                    <a:latin typeface="Cambria Math" panose="02040503050406030204" pitchFamily="18" charset="0"/>
                  </a:rPr>
                  <a:t>$f(x)=i$</a:t>
                </a:r>
                <a:r>
                  <a:rPr sz="2400" b="0">
                    <a:solidFill>
                      <a:srgbClr val="111827"/>
                    </a:solidFill>
                    <a:latin typeface="Arial"/>
                  </a:rPr>
                  <a:t> for that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$y\in A_i\iff x\in A_i$</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 holds exactly when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lie in the same block, i.e. when </a:t>
                </a:r>
                <a:r>
                  <a:rPr lang="en-IN" sz="2400">
                    <a:solidFill>
                      <a:srgbClr val="111827"/>
                    </a:solidFill>
                    <a:latin typeface="Cambria Math" panose="02040503050406030204" pitchFamily="18" charset="0"/>
                  </a:rPr>
                  <a:t>$f(x)=f(y)$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$R=\{(x,y):f(x)=f(y)\}$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is reflexive, symmetric and transitive, hence so is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with the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as its equivalence classes: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is reflexive, symmetric and transitive, hence so is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$f(x)=f(x)$</a:t>
                </a:r>
                <a:r>
                  <a:rPr sz="2400" b="0">
                    <a:solidFill>
                      <a:srgbClr val="111827"/>
                    </a:solidFill>
                    <a:latin typeface="Arial"/>
                  </a:rPr>
                  <a:t>; </a:t>
                </a:r>
                <a:r>
                  <a:rPr lang="en-IN" sz="2400">
                    <a:solidFill>
                      <a:srgbClr val="111827"/>
                    </a:solidFill>
                    <a:latin typeface="Cambria Math" panose="02040503050406030204" pitchFamily="18" charset="0"/>
                  </a:rPr>
                  <a:t>$f(x)=f(y)\Rightarrow f(y)=f(x)$</a:t>
                </a:r>
                <a:r>
                  <a:rPr sz="2400" b="0">
                    <a:solidFill>
                      <a:srgbClr val="111827"/>
                    </a:solidFill>
                    <a:latin typeface="Arial"/>
                  </a:rPr>
                  <a:t>; </a:t>
                </a:r>
                <a:r>
                  <a:rPr lang="en-IN" sz="2400">
                    <a:solidFill>
                      <a:srgbClr val="111827"/>
                    </a:solidFill>
                    <a:latin typeface="Cambria Math" panose="02040503050406030204" pitchFamily="18" charset="0"/>
                  </a:rPr>
                  <a:t>$f(x)=f(y)=f(z)\Rightarrow f(x)=f(z)$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an equivalence relation, with the </a:t>
                </a:r>
                <a:r>
                  <a:rPr lang="en-IN" sz="2400">
                    <a:solidFill>
                      <a:srgbClr val="111827"/>
                    </a:solidFill>
                    <a:latin typeface="Cambria Math" panose="02040503050406030204" pitchFamily="18" charset="0"/>
                  </a:rPr>
                  <a:t>$A_i$</a:t>
                </a:r>
                <a:r>
                  <a:rPr sz="2400" b="0">
                    <a:solidFill>
                      <a:srgbClr val="111827"/>
                    </a:solidFill>
                    <a:latin typeface="Arial"/>
                  </a:rPr>
                  <a:t> as its equivalence classes: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an equivalence relation</a:t>
            </a:r>
            <a:endParaRPr sz="2800">
              <a:solidFill>
                <a:srgbClr val="15803D"/>
              </a:solidFill>
            </a:endParaRP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relations on a set correspond exactly to partitions of it: classes are disjoint and cover the set; conversely 'same block' gives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relation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kernel of a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an equivalence relation, e.g.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via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Disjointness and covering are both needed: if blocks overlapped or missed elements, 'same block' could fail reflexivity or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equivalence relations 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is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relations on a set correspond exactly to partitions of it: classes are disjoint and cover the set; conversely 'same block' gives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relation </a:t>
                </a:r>
                <a:r>
                  <a:rPr lang="en-IN" sz="2400">
                    <a:solidFill>
                      <a:srgbClr val="111827"/>
                    </a:solidFill>
                    <a:latin typeface="Cambria Math" panose="02040503050406030204" pitchFamily="18" charset="0"/>
                  </a:rPr>
                  <a:t>$x\,R\,y\iff f(x)=f(y)$</a:t>
                </a:r>
                <a:r>
                  <a:rPr sz="2400" b="0">
                    <a:solidFill>
                      <a:srgbClr val="111827"/>
                    </a:solidFill>
                    <a:latin typeface="Arial"/>
                  </a:rPr>
                  <a:t> (the kernel of a function </a:t>
                </a:r>
                <a:r>
                  <a:rPr lang="en-IN" sz="2400">
                    <a:solidFill>
                      <a:srgbClr val="111827"/>
                    </a:solidFill>
                    <a:latin typeface="Cambria Math" panose="02040503050406030204" pitchFamily="18" charset="0"/>
                  </a:rPr>
                  <a:t>$f$</a:t>
                </a:r>
                <a:r>
                  <a:rPr sz="2400" b="0">
                    <a:solidFill>
                      <a:srgbClr val="111827"/>
                    </a:solidFill>
                    <a:latin typeface="Arial"/>
                  </a:rPr>
                  <a:t>) is an equivalence relation, e.g. </a:t>
                </a:r>
                <a:r>
                  <a:rPr lang="en-IN" sz="2400">
                    <a:solidFill>
                      <a:srgbClr val="111827"/>
                    </a:solidFill>
                    <a:latin typeface="Cambria Math" panose="02040503050406030204" pitchFamily="18" charset="0"/>
                  </a:rPr>
                  <a:t>$x\equiv y\pmod n$</a:t>
                </a:r>
                <a:r>
                  <a:rPr sz="2400" b="0">
                    <a:solidFill>
                      <a:srgbClr val="111827"/>
                    </a:solidFill>
                    <a:latin typeface="Arial"/>
                  </a:rPr>
                  <a:t> via </a:t>
                </a:r>
                <a:r>
                  <a:rPr lang="en-IN" sz="2400">
                    <a:solidFill>
                      <a:srgbClr val="111827"/>
                    </a:solidFill>
                    <a:latin typeface="Cambria Math" panose="02040503050406030204" pitchFamily="18" charset="0"/>
                  </a:rPr>
                  <a:t>$f(x)=x\bmod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Disjointness and covering are both needed: if blocks overlapped or missed elements, 'same block' could fail reflexivity or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equivalence relations on an </a:t>
                </a:r>
                <a:r>
                  <a:rPr lang="en-IN" sz="2400">
                    <a:solidFill>
                      <a:srgbClr val="111827"/>
                    </a:solidFill>
                    <a:latin typeface="Cambria Math" panose="02040503050406030204" pitchFamily="18" charset="0"/>
                  </a:rPr>
                  <a:t>$n$</a:t>
                </a:r>
                <a:r>
                  <a:rPr sz="2400" b="0">
                    <a:solidFill>
                      <a:srgbClr val="111827"/>
                    </a:solidFill>
                    <a:latin typeface="Arial"/>
                  </a:rPr>
                  <a:t>-set is the Bell number </a:t>
                </a:r>
                <a:r>
                  <a:rPr lang="en-IN" sz="2400">
                    <a:solidFill>
                      <a:srgbClr val="111827"/>
                    </a:solidFill>
                    <a:latin typeface="Cambria Math" panose="02040503050406030204" pitchFamily="18" charset="0"/>
                  </a:rPr>
                  <a:t>$B_n$</a:t>
                </a:r>
                <a:r>
                  <a:rPr sz="2400" b="0">
                    <a:solidFill>
                      <a:srgbClr val="111827"/>
                    </a:solidFill>
                    <a:latin typeface="Arial"/>
                  </a:rPr>
                  <a:t> (</a:t>
                </a:r>
                <a:r>
                  <a:rPr lang="en-IN" sz="2400">
                    <a:solidFill>
                      <a:srgbClr val="111827"/>
                    </a:solidFill>
                    <a:latin typeface="Cambria Math" panose="02040503050406030204" pitchFamily="18" charset="0"/>
                  </a:rPr>
                  <a:t>$B_3=5$</a:t>
                </a:r>
                <a:r>
                  <a:rPr sz="2400" b="0">
                    <a:solidFill>
                      <a:srgbClr val="111827"/>
                    </a:solidFill>
                    <a:latin typeface="Arial"/>
                  </a:rPr>
                  <a:t>: </a:t>
                </a:r>
                <a:r>
                  <a:rPr lang="en-IN" sz="2400">
                    <a:solidFill>
                      <a:srgbClr val="111827"/>
                    </a:solidFill>
                    <a:latin typeface="Cambria Math" panose="02040503050406030204" pitchFamily="18" charset="0"/>
                  </a:rPr>
                  <a:t>$\{1,2,3\}$</a:t>
                </a:r>
                <a:r>
                  <a:rPr sz="2400" b="0">
                    <a:solidFill>
                      <a:srgbClr val="111827"/>
                    </a:solidFill>
                    <a:latin typeface="Arial"/>
                  </a:rPr>
                  <a:t>, </a:t>
                </a:r>
                <a:r>
                  <a:rPr lang="en-IN" sz="2400">
                    <a:solidFill>
                      <a:srgbClr val="111827"/>
                    </a:solidFill>
                    <a:latin typeface="Cambria Math" panose="02040503050406030204" pitchFamily="18" charset="0"/>
                  </a:rPr>
                  <a:t>$\{1\}\{2,3\}$</a:t>
                </a:r>
                <a:r>
                  <a:rPr sz="2400" b="0">
                    <a:solidFill>
                      <a:srgbClr val="111827"/>
                    </a:solidFill>
                    <a:latin typeface="Arial"/>
                  </a:rPr>
                  <a:t>, </a:t>
                </a:r>
                <a:r>
                  <a:rPr lang="en-IN" sz="2400">
                    <a:solidFill>
                      <a:srgbClr val="111827"/>
                    </a:solidFill>
                    <a:latin typeface="Cambria Math" panose="02040503050406030204" pitchFamily="18" charset="0"/>
                  </a:rPr>
                  <a:t>$\{2\}\{1,3\}$</a:t>
                </a:r>
                <a:r>
                  <a:rPr sz="2400" b="0">
                    <a:solidFill>
                      <a:srgbClr val="111827"/>
                    </a:solidFill>
                    <a:latin typeface="Arial"/>
                  </a:rPr>
                  <a:t>, </a:t>
                </a:r>
                <a:r>
                  <a:rPr lang="en-IN" sz="2400">
                    <a:solidFill>
                      <a:srgbClr val="111827"/>
                    </a:solidFill>
                    <a:latin typeface="Cambria Math" panose="02040503050406030204" pitchFamily="18" charset="0"/>
                  </a:rPr>
                  <a:t>$\{3\}\{1,2\}$</a:t>
                </a:r>
                <a:r>
                  <a:rPr sz="2400" b="0">
                    <a:solidFill>
                      <a:srgbClr val="111827"/>
                    </a:solidFill>
                    <a:latin typeface="Arial"/>
                  </a:rPr>
                  <a:t>, </a:t>
                </a:r>
                <a:r>
                  <a:rPr lang="en-IN" sz="2400">
                    <a:solidFill>
                      <a:srgbClr val="111827"/>
                    </a:solidFill>
                    <a:latin typeface="Cambria Math" panose="02040503050406030204" pitchFamily="18" charset="0"/>
                  </a:rPr>
                  <a:t>$\{1\}\{2\}\{3\}$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Q26 – 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𝐻.𝐶.𝐹.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________. [JEE(Main) June 2022]</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 N:\text{H.C.F.}(n,45)=1\}$</a:t>
                </a:r>
                <a:r>
                  <a:rPr sz="2400" b="0">
                    <a:solidFill>
                      <a:srgbClr val="111827"/>
                    </a:solidFill>
                    <a:latin typeface="Arial"/>
                  </a:rPr>
                  <a:t> and let </a:t>
                </a:r>
                <a:r>
                  <a:rPr lang="en-IN" sz="2400">
                    <a:solidFill>
                      <a:srgbClr val="111827"/>
                    </a:solidFill>
                    <a:latin typeface="Cambria Math" panose="02040503050406030204" pitchFamily="18" charset="0"/>
                  </a:rPr>
                  <a:t>$B=\{2k:k\in\{1,2,\ldots,100\}\}$</a:t>
                </a:r>
                <a:r>
                  <a:rPr sz="2400" b="0">
                    <a:solidFill>
                      <a:srgbClr val="111827"/>
                    </a:solidFill>
                    <a:latin typeface="Arial"/>
                  </a:rPr>
                  <a:t>. Then the sum of all the elements of </a:t>
                </a:r>
                <a:r>
                  <a:rPr lang="en-IN" sz="2400">
                    <a:solidFill>
                      <a:srgbClr val="111827"/>
                    </a:solidFill>
                    <a:latin typeface="Cambria Math" panose="02040503050406030204" pitchFamily="18" charset="0"/>
                  </a:rPr>
                  <a:t>$A\cap B$</a:t>
                </a:r>
                <a:r>
                  <a:rPr sz="2400" b="0">
                    <a:solidFill>
                      <a:srgbClr val="111827"/>
                    </a:solidFill>
                    <a:latin typeface="Arial"/>
                  </a:rPr>
                  <a:t> is ________. [JEE(Main) June 2022]</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(inclusion-exclusion),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H.C.F.</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is divisible by neither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nor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use inclusion-exclusion on the sum of even numbers.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H.C.F.</a:t>
                </a:r>
                <a:r>
                  <a:rPr lang="en-IN" sz="2400">
                    <a:solidFill>
                      <a:srgbClr val="78350F"/>
                    </a:solidFill>
                    <a:latin typeface="Cambria Math" panose="02040503050406030204" pitchFamily="18" charset="0"/>
                  </a:rPr>
                  <a:t>$(n,45)=1$</a:t>
                </a:r>
                <a:r>
                  <a:rPr sz="2400" b="0">
                    <a:solidFill>
                      <a:srgbClr val="78350F"/>
                    </a:solidFill>
                    <a:latin typeface="Arial"/>
                  </a:rPr>
                  <a:t> means </a:t>
                </a:r>
                <a:r>
                  <a:rPr lang="en-IN" sz="2400">
                    <a:solidFill>
                      <a:srgbClr val="78350F"/>
                    </a:solidFill>
                    <a:latin typeface="Cambria Math" panose="02040503050406030204" pitchFamily="18" charset="0"/>
                  </a:rPr>
                  <a:t>$n$</a:t>
                </a:r>
                <a:r>
                  <a:rPr sz="2400" b="0">
                    <a:solidFill>
                      <a:srgbClr val="78350F"/>
                    </a:solidFill>
                    <a:latin typeface="Arial"/>
                  </a:rPr>
                  <a:t> is divisible by neither </a:t>
                </a:r>
                <a:r>
                  <a:rPr lang="en-IN" sz="2400">
                    <a:solidFill>
                      <a:srgbClr val="78350F"/>
                    </a:solidFill>
                    <a:latin typeface="Cambria Math" panose="02040503050406030204" pitchFamily="18" charset="0"/>
                  </a:rPr>
                  <a:t>$3$</a:t>
                </a:r>
                <a:r>
                  <a:rPr sz="2400" b="0">
                    <a:solidFill>
                      <a:srgbClr val="78350F"/>
                    </a:solidFill>
                    <a:latin typeface="Arial"/>
                  </a:rPr>
                  <a:t> nor </a:t>
                </a:r>
                <a:r>
                  <a:rPr lang="en-IN" sz="2400">
                    <a:solidFill>
                      <a:srgbClr val="78350F"/>
                    </a:solidFill>
                    <a:latin typeface="Cambria Math" panose="02040503050406030204" pitchFamily="18" charset="0"/>
                  </a:rPr>
                  <a:t>$5$</a:t>
                </a:r>
                <a:r>
                  <a:rPr sz="2400" b="0">
                    <a:solidFill>
                      <a:srgbClr val="78350F"/>
                    </a:solidFill>
                    <a:latin typeface="Arial"/>
                  </a:rPr>
                  <a:t>; use inclusion-exclusion on the sum of even numbers.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consists of numbers coprime to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not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even numbers up to </a:t>
                </a:r>
                <a14:m>
                  <m:oMath xmlns:m="http://schemas.openxmlformats.org/officeDocument/2006/math">
                    <m:r>
                      <a:rPr lang="en-IN" sz="2400" i="1">
                        <a:solidFill>
                          <a:srgbClr val="111827"/>
                        </a:solidFill>
                        <a:latin typeface="Cambria Math" panose="02040503050406030204" pitchFamily="18" charset="0"/>
                      </a:rPr>
                      <m:t>200</m:t>
                    </m:r>
                  </m:oMath>
                </a14:m>
                <a:r>
                  <a:rPr sz="2400" b="0">
                    <a:solidFill>
                      <a:srgbClr val="111827"/>
                    </a:solidFill>
                    <a:latin typeface="Arial"/>
                  </a:rPr>
                  <a:t> divisible by neither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𝑚𝑢𝑙𝑡𝑖𝑝𝑙𝑒𝑠 𝑜𝑓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𝑚𝑢𝑙𝑡𝑖𝑝𝑙𝑒𝑠 𝑜𝑓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𝑚𝑢𝑙𝑡𝑖𝑝𝑙𝑒𝑠 𝑜𝑓 </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𝑚𝑢𝑙𝑡𝑖𝑝𝑙𝑒𝑠 𝑜𝑓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up to </a:t>
                </a:r>
                <a14:m>
                  <m:oMath xmlns:m="http://schemas.openxmlformats.org/officeDocument/2006/math">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consists of numbers coprime to </a:t>
                </a:r>
                <a:r>
                  <a:rPr lang="en-IN" sz="2400">
                    <a:solidFill>
                      <a:srgbClr val="111827"/>
                    </a:solidFill>
                    <a:latin typeface="Cambria Math" panose="02040503050406030204" pitchFamily="18" charset="0"/>
                  </a:rPr>
                  <a:t>$45=3^2\cdot5$</a:t>
                </a:r>
                <a:r>
                  <a:rPr sz="2400" b="0">
                    <a:solidFill>
                      <a:srgbClr val="111827"/>
                    </a:solidFill>
                    <a:latin typeface="Arial"/>
                  </a:rPr>
                  <a:t>, i.e. not divisible by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$B=\{2,4,\ldots,200\}$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even numbers up to </a:t>
                </a:r>
                <a:r>
                  <a:rPr lang="en-IN" sz="2400">
                    <a:solidFill>
                      <a:srgbClr val="111827"/>
                    </a:solidFill>
                    <a:latin typeface="Cambria Math" panose="02040503050406030204" pitchFamily="18" charset="0"/>
                  </a:rPr>
                  <a:t>$200$</a:t>
                </a:r>
                <a:r>
                  <a:rPr sz="2400" b="0">
                    <a:solidFill>
                      <a:srgbClr val="111827"/>
                    </a:solidFill>
                    <a:latin typeface="Arial"/>
                  </a:rPr>
                  <a:t> divisible by neither </a:t>
                </a:r>
                <a:r>
                  <a:rPr lang="en-IN" sz="2400">
                    <a:solidFill>
                      <a:srgbClr val="111827"/>
                    </a:solidFill>
                    <a:latin typeface="Cambria Math" panose="02040503050406030204" pitchFamily="18" charset="0"/>
                  </a:rPr>
                  <a:t>$3$</a:t>
                </a:r>
                <a:r>
                  <a:rPr sz="2400" b="0">
                    <a:solidFill>
                      <a:srgbClr val="111827"/>
                    </a:solidFill>
                    <a:latin typeface="Arial"/>
                  </a:rPr>
                  <a:t> nor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$=(\text{multiples of }2)-(\text{multiples of }6)-(\text{multiples of }10)+(\text{multiples of }30)$</a:t>
                </a:r>
                <a:r>
                  <a:rPr sz="2400" b="0">
                    <a:solidFill>
                      <a:srgbClr val="111827"/>
                    </a:solidFill>
                    <a:latin typeface="Arial"/>
                  </a:rPr>
                  <a:t>, all up to </a:t>
                </a:r>
                <a:r>
                  <a:rPr lang="en-IN" sz="2400">
                    <a:solidFill>
                      <a:srgbClr val="111827"/>
                    </a:solidFill>
                    <a:latin typeface="Cambria Math" panose="02040503050406030204" pitchFamily="18" charset="0"/>
                  </a:rPr>
                  <a:t>$200$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$2+4+\cdots+200=2\cdot\frac{100\cdot101}{2}=10100$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3366</m:t>
                    </m:r>
                  </m:oMath>
                </a14:m>
                <a:r>
                  <a:rPr sz="2400" b="0">
                    <a:solidFill>
                      <a:srgbClr val="111827"/>
                    </a:solidFill>
                    <a:latin typeface="Arial"/>
                  </a:rPr>
                  <a:t> (33 terms).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2100</m:t>
                    </m:r>
                  </m:oMath>
                </a14:m>
                <a:r>
                  <a:rPr sz="2400" b="0">
                    <a:solidFill>
                      <a:srgbClr val="111827"/>
                    </a:solidFill>
                    <a:latin typeface="Arial"/>
                  </a:rPr>
                  <a:t> (20 terms).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630</m:t>
                    </m:r>
                  </m:oMath>
                </a14:m>
                <a:r>
                  <a:rPr sz="2400" b="0">
                    <a:solidFill>
                      <a:srgbClr val="111827"/>
                    </a:solidFill>
                    <a:latin typeface="Arial"/>
                  </a:rPr>
                  <a:t> (6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$6+12+\cdots+198=6\cdot\frac{33\cdot34}{2}=3366$</a:t>
                </a:r>
                <a:r>
                  <a:rPr sz="2400" b="0">
                    <a:solidFill>
                      <a:srgbClr val="111827"/>
                    </a:solidFill>
                    <a:latin typeface="Arial"/>
                  </a:rPr>
                  <a:t> (33 terms).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$10+20+\cdots+200=10\cdot\frac{20\cdot21}{2}=2100$</a:t>
                </a:r>
                <a:r>
                  <a:rPr sz="2400" b="0">
                    <a:solidFill>
                      <a:srgbClr val="111827"/>
                    </a:solidFill>
                    <a:latin typeface="Arial"/>
                  </a:rPr>
                  <a:t> (20 terms).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$30+60+\cdots+180=30\cdot\frac{6\cdot7}{2}=630$</a:t>
                </a:r>
                <a:r>
                  <a:rPr sz="2400" b="0">
                    <a:solidFill>
                      <a:srgbClr val="111827"/>
                    </a:solidFill>
                    <a:latin typeface="Arial"/>
                  </a:rPr>
                  <a:t> (6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$=10100-3366-2100+630=5264$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5264</a:t>
            </a:r>
            <a:endParaRPr sz="2800">
              <a:solidFill>
                <a:srgbClr val="15803D"/>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elements as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𝑚</m:t>
                    </m:r>
                  </m:oMath>
                </a14:m>
                <a:r>
                  <a:rPr sz="2400" b="0">
                    <a:solidFill>
                      <a:srgbClr val="78350F"/>
                    </a:solidFill>
                    <a:latin typeface="Arial"/>
                  </a:rPr>
                  <a:t> with </a:t>
                </a:r>
                <a14:m>
                  <m:oMath xmlns:m="http://schemas.openxmlformats.org/officeDocument/2006/math">
                    <m:r>
                      <m:rPr>
                        <m:sty m:val="p"/>
                      </m:rPr>
                      <a:rPr lang="en-IN" sz="2400">
                        <a:solidFill>
                          <a:srgbClr val="78350F"/>
                        </a:solidFill>
                        <a:latin typeface="Cambria Math" panose="02040503050406030204" pitchFamily="18" charset="0"/>
                      </a:rPr>
                      <m:t>gcd</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100</m:t>
                    </m:r>
                  </m:oMath>
                </a14:m>
                <a:r>
                  <a:rPr sz="2400" b="0">
                    <a:solidFill>
                      <a:srgbClr val="78350F"/>
                    </a:solidFill>
                    <a:latin typeface="Arial"/>
                  </a:rPr>
                  <a:t>, and pair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105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oMath>
                </a14:m>
                <a:r>
                  <a:rPr sz="2400" b="0">
                    <a:solidFill>
                      <a:srgbClr val="78350F"/>
                    </a:solidFill>
                    <a:latin typeface="Arial"/>
                  </a:rPr>
                  <a:t> over a full period of </a:t>
                </a:r>
                <a14:m>
                  <m:oMath xmlns:m="http://schemas.openxmlformats.org/officeDocument/2006/math">
                    <m:r>
                      <a:rPr lang="en-IN" sz="2400" i="1">
                        <a:solidFill>
                          <a:srgbClr val="78350F"/>
                        </a:solidFill>
                        <a:latin typeface="Cambria Math" panose="02040503050406030204" pitchFamily="18" charset="0"/>
                      </a:rPr>
                      <m:t>105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elements as </a:t>
                </a:r>
                <a:r>
                  <a:rPr lang="en-IN" sz="2400">
                    <a:solidFill>
                      <a:srgbClr val="78350F"/>
                    </a:solidFill>
                    <a:latin typeface="Cambria Math" panose="02040503050406030204" pitchFamily="18" charset="0"/>
                  </a:rPr>
                  <a:t>$2m$</a:t>
                </a:r>
                <a:r>
                  <a:rPr sz="2400" b="0">
                    <a:solidFill>
                      <a:srgbClr val="78350F"/>
                    </a:solidFill>
                    <a:latin typeface="Arial"/>
                  </a:rPr>
                  <a:t> with </a:t>
                </a:r>
                <a:r>
                  <a:rPr lang="en-IN" sz="2400">
                    <a:solidFill>
                      <a:srgbClr val="78350F"/>
                    </a:solidFill>
                    <a:latin typeface="Cambria Math" panose="02040503050406030204" pitchFamily="18" charset="0"/>
                  </a:rPr>
                  <a:t>$\gcd(m,15)=1$</a:t>
                </a:r>
                <a:r>
                  <a:rPr sz="2400" b="0">
                    <a:solidFill>
                      <a:srgbClr val="78350F"/>
                    </a:solidFill>
                    <a:latin typeface="Arial"/>
                  </a:rPr>
                  <a:t>, </a:t>
                </a:r>
                <a:r>
                  <a:rPr lang="en-IN" sz="2400">
                    <a:solidFill>
                      <a:srgbClr val="78350F"/>
                    </a:solidFill>
                    <a:latin typeface="Cambria Math" panose="02040503050406030204" pitchFamily="18" charset="0"/>
                  </a:rPr>
                  <a:t>$m\le100$</a:t>
                </a:r>
                <a:r>
                  <a:rPr sz="2400" b="0">
                    <a:solidFill>
                      <a:srgbClr val="78350F"/>
                    </a:solidFill>
                    <a:latin typeface="Arial"/>
                  </a:rPr>
                  <a:t>, and pair </a:t>
                </a:r>
                <a:r>
                  <a:rPr lang="en-IN" sz="2400">
                    <a:solidFill>
                      <a:srgbClr val="78350F"/>
                    </a:solidFill>
                    <a:latin typeface="Cambria Math" panose="02040503050406030204" pitchFamily="18" charset="0"/>
                  </a:rPr>
                  <a:t>$m$</a:t>
                </a:r>
                <a:r>
                  <a:rPr sz="2400" b="0">
                    <a:solidFill>
                      <a:srgbClr val="78350F"/>
                    </a:solidFill>
                    <a:latin typeface="Arial"/>
                  </a:rPr>
                  <a:t> with </a:t>
                </a:r>
                <a:r>
                  <a:rPr lang="en-IN" sz="2400">
                    <a:solidFill>
                      <a:srgbClr val="78350F"/>
                    </a:solidFill>
                    <a:latin typeface="Cambria Math" panose="02040503050406030204" pitchFamily="18" charset="0"/>
                  </a:rPr>
                  <a:t>$105-m$</a:t>
                </a:r>
                <a:r>
                  <a:rPr sz="2400" b="0">
                    <a:solidFill>
                      <a:srgbClr val="78350F"/>
                    </a:solidFill>
                    <a:latin typeface="Arial"/>
                  </a:rPr>
                  <a:t> over a full period of </a:t>
                </a:r>
                <a:r>
                  <a:rPr lang="en-IN" sz="2400">
                    <a:solidFill>
                      <a:srgbClr val="78350F"/>
                    </a:solidFill>
                    <a:latin typeface="Cambria Math" panose="02040503050406030204" pitchFamily="18" charset="0"/>
                  </a:rPr>
                  <a:t>$105$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oMath>
                </a14:m>
                <a:r>
                  <a:rPr sz="2400" b="0">
                    <a:solidFill>
                      <a:srgbClr val="111827"/>
                    </a:solidFill>
                    <a:latin typeface="Arial"/>
                  </a:rPr>
                  <a:t> is coprime to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coprime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there are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such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maps this set to itself, so they form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pairs each of sum </a:t>
                </a:r>
                <a14:m>
                  <m:oMath xmlns:m="http://schemas.openxmlformats.org/officeDocument/2006/math">
                    <m:r>
                      <a:rPr lang="en-IN" sz="2400" i="1">
                        <a:solidFill>
                          <a:srgbClr val="111827"/>
                        </a:solidFill>
                        <a:latin typeface="Cambria Math" panose="02040503050406030204" pitchFamily="18" charset="0"/>
                      </a:rPr>
                      <m:t>105</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that are coprime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102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105</m:t>
                    </m:r>
                  </m:oMath>
                </a14:m>
                <a:r>
                  <a:rPr sz="2400" b="0">
                    <a:solidFill>
                      <a:srgbClr val="111827"/>
                    </a:solidFill>
                    <a:latin typeface="Arial"/>
                  </a:rPr>
                  <a:t> are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308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$2m$</a:t>
                </a:r>
                <a:r>
                  <a:rPr sz="2400" b="0">
                    <a:solidFill>
                      <a:srgbClr val="111827"/>
                    </a:solidFill>
                    <a:latin typeface="Arial"/>
                  </a:rPr>
                  <a:t> is coprime to </a:t>
                </a:r>
                <a:r>
                  <a:rPr lang="en-IN" sz="2400">
                    <a:solidFill>
                      <a:srgbClr val="111827"/>
                    </a:solidFill>
                    <a:latin typeface="Cambria Math" panose="02040503050406030204" pitchFamily="18" charset="0"/>
                  </a:rPr>
                  <a:t>$45$</a:t>
                </a:r>
                <a:r>
                  <a:rPr sz="2400" b="0">
                    <a:solidFill>
                      <a:srgbClr val="111827"/>
                    </a:solidFill>
                    <a:latin typeface="Arial"/>
                  </a:rPr>
                  <a:t> iff </a:t>
                </a:r>
                <a:r>
                  <a:rPr lang="en-IN" sz="2400">
                    <a:solidFill>
                      <a:srgbClr val="111827"/>
                    </a:solidFill>
                    <a:latin typeface="Cambria Math" panose="02040503050406030204" pitchFamily="18" charset="0"/>
                  </a:rPr>
                  <a:t>$m$</a:t>
                </a:r>
                <a:r>
                  <a:rPr sz="2400" b="0">
                    <a:solidFill>
                      <a:srgbClr val="111827"/>
                    </a:solidFill>
                    <a:latin typeface="Arial"/>
                  </a:rPr>
                  <a:t> is coprime to </a:t>
                </a:r>
                <a:r>
                  <a:rPr lang="en-IN" sz="2400">
                    <a:solidFill>
                      <a:srgbClr val="111827"/>
                    </a:solidFill>
                    <a:latin typeface="Cambria Math" panose="02040503050406030204" pitchFamily="18" charset="0"/>
                  </a:rPr>
                  <a:t>$15$</a:t>
                </a:r>
                <a:r>
                  <a:rPr sz="2400" b="0">
                    <a:solidFill>
                      <a:srgbClr val="111827"/>
                    </a:solidFill>
                    <a:latin typeface="Arial"/>
                  </a:rPr>
                  <a:t>, so </a:t>
                </a:r>
                <a:r>
                  <a:rPr lang="en-IN" sz="2400">
                    <a:solidFill>
                      <a:srgbClr val="111827"/>
                    </a:solidFill>
                    <a:latin typeface="Cambria Math" panose="02040503050406030204" pitchFamily="18" charset="0"/>
                  </a:rPr>
                  <a:t>$A\cap B=\{2m:1\le m\le100,\ \gcd(m,15)=1\}$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r>
                  <a:rPr lang="en-IN" sz="2400">
                    <a:solidFill>
                      <a:srgbClr val="111827"/>
                    </a:solidFill>
                    <a:latin typeface="Cambria Math" panose="02040503050406030204" pitchFamily="18" charset="0"/>
                  </a:rPr>
                  <a:t>$1\le m\le105$</a:t>
                </a:r>
                <a:r>
                  <a:rPr sz="2400" b="0">
                    <a:solidFill>
                      <a:srgbClr val="111827"/>
                    </a:solidFill>
                    <a:latin typeface="Arial"/>
                  </a:rPr>
                  <a:t> there are </a:t>
                </a:r>
                <a:r>
                  <a:rPr lang="en-IN" sz="2400">
                    <a:solidFill>
                      <a:srgbClr val="111827"/>
                    </a:solidFill>
                    <a:latin typeface="Cambria Math" panose="02040503050406030204" pitchFamily="18" charset="0"/>
                  </a:rPr>
                  <a:t>$7\cdot\varphi(15)=7\cdot8=56$</a:t>
                </a:r>
                <a:r>
                  <a:rPr sz="2400" b="0">
                    <a:solidFill>
                      <a:srgbClr val="111827"/>
                    </a:solidFill>
                    <a:latin typeface="Arial"/>
                  </a:rPr>
                  <a:t> such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$m\mapsto105-m$</a:t>
                </a:r>
                <a:r>
                  <a:rPr sz="2400" b="0">
                    <a:solidFill>
                      <a:srgbClr val="111827"/>
                    </a:solidFill>
                    <a:latin typeface="Arial"/>
                  </a:rPr>
                  <a:t> maps this set to itself, so they form </a:t>
                </a:r>
                <a:r>
                  <a:rPr lang="en-IN" sz="2400">
                    <a:solidFill>
                      <a:srgbClr val="111827"/>
                    </a:solidFill>
                    <a:latin typeface="Cambria Math" panose="02040503050406030204" pitchFamily="18" charset="0"/>
                  </a:rPr>
                  <a:t>$28$</a:t>
                </a:r>
                <a:r>
                  <a:rPr sz="2400" b="0">
                    <a:solidFill>
                      <a:srgbClr val="111827"/>
                    </a:solidFill>
                    <a:latin typeface="Arial"/>
                  </a:rPr>
                  <a:t> pairs each of sum </a:t>
                </a:r>
                <a:r>
                  <a:rPr lang="en-IN" sz="2400">
                    <a:solidFill>
                      <a:srgbClr val="111827"/>
                    </a:solidFill>
                    <a:latin typeface="Cambria Math" panose="02040503050406030204" pitchFamily="18" charset="0"/>
                  </a:rPr>
                  <a:t>$105$</a:t>
                </a:r>
                <a:r>
                  <a:rPr sz="2400" b="0">
                    <a:solidFill>
                      <a:srgbClr val="111827"/>
                    </a:solidFill>
                    <a:latin typeface="Arial"/>
                  </a:rPr>
                  <a:t>: total </a:t>
                </a:r>
                <a:r>
                  <a:rPr lang="en-IN" sz="2400">
                    <a:solidFill>
                      <a:srgbClr val="111827"/>
                    </a:solidFill>
                    <a:latin typeface="Cambria Math" panose="02040503050406030204" pitchFamily="18" charset="0"/>
                  </a:rPr>
                  <a:t>$28\cdot105=2940$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a:t>
                </a:r>
                <a:r>
                  <a:rPr lang="en-IN" sz="2400">
                    <a:solidFill>
                      <a:srgbClr val="111827"/>
                    </a:solidFill>
                    <a:latin typeface="Cambria Math" panose="02040503050406030204" pitchFamily="18" charset="0"/>
                  </a:rPr>
                  <a:t>$m=101,\dots,105$</a:t>
                </a:r>
                <a:r>
                  <a:rPr sz="2400" b="0">
                    <a:solidFill>
                      <a:srgbClr val="111827"/>
                    </a:solidFill>
                    <a:latin typeface="Arial"/>
                  </a:rPr>
                  <a:t> that are coprime to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$101,103,104$</a:t>
                </a:r>
                <a:r>
                  <a:rPr sz="2400" b="0">
                    <a:solidFill>
                      <a:srgbClr val="111827"/>
                    </a:solidFill>
                    <a:latin typeface="Arial"/>
                  </a:rPr>
                  <a:t> (as </a:t>
                </a:r>
                <a:r>
                  <a:rPr lang="en-IN" sz="2400">
                    <a:solidFill>
                      <a:srgbClr val="111827"/>
                    </a:solidFill>
                    <a:latin typeface="Cambria Math" panose="02040503050406030204" pitchFamily="18" charset="0"/>
                  </a:rPr>
                  <a:t>$102$</a:t>
                </a:r>
                <a:r>
                  <a:rPr sz="2400" b="0">
                    <a:solidFill>
                      <a:srgbClr val="111827"/>
                    </a:solidFill>
                    <a:latin typeface="Arial"/>
                  </a:rPr>
                  <a:t> and </a:t>
                </a:r>
                <a:r>
                  <a:rPr lang="en-IN" sz="2400">
                    <a:solidFill>
                      <a:srgbClr val="111827"/>
                    </a:solidFill>
                    <a:latin typeface="Cambria Math" panose="02040503050406030204" pitchFamily="18" charset="0"/>
                  </a:rPr>
                  <a:t>$105$</a:t>
                </a:r>
                <a:r>
                  <a:rPr sz="2400" b="0">
                    <a:solidFill>
                      <a:srgbClr val="111827"/>
                    </a:solidFill>
                    <a:latin typeface="Arial"/>
                  </a:rPr>
                  <a:t> are divisible by </a:t>
                </a:r>
                <a:r>
                  <a:rPr lang="en-IN" sz="2400">
                    <a:solidFill>
                      <a:srgbClr val="111827"/>
                    </a:solidFill>
                    <a:latin typeface="Cambria Math" panose="02040503050406030204" pitchFamily="18" charset="0"/>
                  </a:rPr>
                  <a:t>$3$</a:t>
                </a:r>
                <a:r>
                  <a:rPr sz="2400" b="0">
                    <a:solidFill>
                      <a:srgbClr val="111827"/>
                    </a:solidFill>
                    <a:latin typeface="Arial"/>
                  </a:rPr>
                  <a:t>), sum </a:t>
                </a:r>
                <a:r>
                  <a:rPr lang="en-IN" sz="2400">
                    <a:solidFill>
                      <a:srgbClr val="111827"/>
                    </a:solidFill>
                    <a:latin typeface="Cambria Math" panose="02040503050406030204" pitchFamily="18" charset="0"/>
                  </a:rPr>
                  <a:t>$308$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valid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2940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valid </a:t>
                </a:r>
                <a:r>
                  <a:rPr lang="en-IN" sz="2400">
                    <a:solidFill>
                      <a:srgbClr val="111827"/>
                    </a:solidFill>
                    <a:latin typeface="Cambria Math" panose="02040503050406030204" pitchFamily="18" charset="0"/>
                  </a:rPr>
                  <a:t>$m$</a:t>
                </a:r>
                <a:r>
                  <a:rPr sz="2400" b="0">
                    <a:solidFill>
                      <a:srgbClr val="111827"/>
                    </a:solidFill>
                    <a:latin typeface="Arial"/>
                  </a:rPr>
                  <a:t> is </a:t>
                </a:r>
                <a:r>
                  <a:rPr lang="en-IN" sz="2400">
                    <a:solidFill>
                      <a:srgbClr val="111827"/>
                    </a:solidFill>
                    <a:latin typeface="Cambria Math" panose="02040503050406030204" pitchFamily="18" charset="0"/>
                  </a:rPr>
                  <a:t>$2940-308=2632$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r>
                  <a:rPr lang="en-IN" sz="2400">
                    <a:solidFill>
                      <a:srgbClr val="111827"/>
                    </a:solidFill>
                    <a:latin typeface="Cambria Math" panose="02040503050406030204" pitchFamily="18" charset="0"/>
                  </a:rPr>
                  <a:t>$=2\cdot2632=5264$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5264</a:t>
            </a:r>
            <a:endParaRPr sz="2800">
              <a:solidFill>
                <a:srgbClr val="15803D"/>
              </a:solidFill>
            </a:endParaRP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numbers up to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that are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for 'divisible by neither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total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 of lcm). Use the lcm, not the product,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not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coprime to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 as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so their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 only the prime factors of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matter.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numbers up to </a:t>
                </a:r>
                <a:r>
                  <a:rPr lang="en-IN" sz="2400">
                    <a:solidFill>
                      <a:srgbClr val="111827"/>
                    </a:solidFill>
                    <a:latin typeface="Cambria Math" panose="02040503050406030204" pitchFamily="18" charset="0"/>
                  </a:rPr>
                  <a:t>$N$</a:t>
                </a:r>
                <a:r>
                  <a:rPr sz="2400" b="0">
                    <a:solidFill>
                      <a:srgbClr val="111827"/>
                    </a:solidFill>
                    <a:latin typeface="Arial"/>
                  </a:rPr>
                  <a:t> that are multiples of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$d\cdot\frac{q(q+1)}{2}$</a:t>
                </a:r>
                <a:r>
                  <a:rPr sz="2400" b="0">
                    <a:solidFill>
                      <a:srgbClr val="111827"/>
                    </a:solidFill>
                    <a:latin typeface="Arial"/>
                  </a:rPr>
                  <a:t> with </a:t>
                </a:r>
                <a:r>
                  <a:rPr lang="en-IN" sz="2400">
                    <a:solidFill>
                      <a:srgbClr val="111827"/>
                    </a:solidFill>
                    <a:latin typeface="Cambria Math" panose="02040503050406030204" pitchFamily="18" charset="0"/>
                  </a:rPr>
                  <a:t>$q=\lfloor N/d\rfloor$</a:t>
                </a:r>
                <a:r>
                  <a:rPr sz="2400" b="0">
                    <a:solidFill>
                      <a:srgbClr val="111827"/>
                    </a:solidFill>
                    <a:latin typeface="Arial"/>
                  </a:rPr>
                  <a:t>. Check: multiples of </a:t>
                </a:r>
                <a:r>
                  <a:rPr lang="en-IN" sz="2400">
                    <a:solidFill>
                      <a:srgbClr val="111827"/>
                    </a:solidFill>
                    <a:latin typeface="Cambria Math" panose="02040503050406030204" pitchFamily="18" charset="0"/>
                  </a:rPr>
                  <a:t>$6$</a:t>
                </a:r>
                <a:r>
                  <a:rPr sz="2400" b="0">
                    <a:solidFill>
                      <a:srgbClr val="111827"/>
                    </a:solidFill>
                    <a:latin typeface="Arial"/>
                  </a:rPr>
                  <a:t> up to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$6+12+18=36=6\cdot6$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for 'divisible by neither </a:t>
                </a:r>
                <a:r>
                  <a:rPr lang="en-IN" sz="2400">
                    <a:solidFill>
                      <a:srgbClr val="111827"/>
                    </a:solidFill>
                    <a:latin typeface="Cambria Math" panose="02040503050406030204" pitchFamily="18" charset="0"/>
                  </a:rPr>
                  <a:t>$a$</a:t>
                </a:r>
                <a:r>
                  <a:rPr sz="2400" b="0">
                    <a:solidFill>
                      <a:srgbClr val="111827"/>
                    </a:solidFill>
                    <a:latin typeface="Arial"/>
                  </a:rPr>
                  <a:t> nor </a:t>
                </a:r>
                <a:r>
                  <a:rPr lang="en-IN" sz="2400">
                    <a:solidFill>
                      <a:srgbClr val="111827"/>
                    </a:solidFill>
                    <a:latin typeface="Cambria Math" panose="02040503050406030204" pitchFamily="18" charset="0"/>
                  </a:rPr>
                  <a:t>$b$</a:t>
                </a:r>
                <a:r>
                  <a:rPr sz="2400" b="0">
                    <a:solidFill>
                      <a:srgbClr val="111827"/>
                    </a:solidFill>
                    <a:latin typeface="Arial"/>
                  </a:rPr>
                  <a:t>': total </a:t>
                </a:r>
                <a:r>
                  <a:rPr lang="en-IN" sz="2400">
                    <a:solidFill>
                      <a:srgbClr val="111827"/>
                    </a:solidFill>
                    <a:latin typeface="Cambria Math" panose="02040503050406030204" pitchFamily="18" charset="0"/>
                  </a:rPr>
                  <a:t>$-$</a:t>
                </a:r>
                <a:r>
                  <a:rPr sz="2400" b="0">
                    <a:solidFill>
                      <a:srgbClr val="111827"/>
                    </a:solidFill>
                    <a:latin typeface="Arial"/>
                  </a:rPr>
                  <a:t> (mult. of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(mult.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(mult. of lcm). Use the lcm, not the product, when </a:t>
                </a:r>
                <a:r>
                  <a:rPr lang="en-IN" sz="2400">
                    <a:solidFill>
                      <a:srgbClr val="111827"/>
                    </a:solidFill>
                    <a:latin typeface="Cambria Math" panose="02040503050406030204" pitchFamily="18" charset="0"/>
                  </a:rPr>
                  <a:t>$a,b$</a:t>
                </a:r>
                <a:r>
                  <a:rPr sz="2400" b="0">
                    <a:solidFill>
                      <a:srgbClr val="111827"/>
                    </a:solidFill>
                    <a:latin typeface="Arial"/>
                  </a:rPr>
                  <a:t> are not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coprime to </a:t>
                </a:r>
                <a:r>
                  <a:rPr lang="en-IN" sz="2400">
                    <a:solidFill>
                      <a:srgbClr val="111827"/>
                    </a:solidFill>
                    <a:latin typeface="Cambria Math" panose="02040503050406030204" pitchFamily="18" charset="0"/>
                  </a:rPr>
                  <a:t>$n$</a:t>
                </a:r>
                <a:r>
                  <a:rPr sz="2400" b="0">
                    <a:solidFill>
                      <a:srgbClr val="111827"/>
                    </a:solidFill>
                    <a:latin typeface="Arial"/>
                  </a:rPr>
                  <a:t> in </a:t>
                </a:r>
                <a:r>
                  <a:rPr lang="en-IN" sz="2400">
                    <a:solidFill>
                      <a:srgbClr val="111827"/>
                    </a:solidFill>
                    <a:latin typeface="Cambria Math" panose="02040503050406030204" pitchFamily="18" charset="0"/>
                  </a:rPr>
                  <a:t>$[1,n]$</a:t>
                </a:r>
                <a:r>
                  <a:rPr sz="2400" b="0">
                    <a:solidFill>
                      <a:srgbClr val="111827"/>
                    </a:solidFill>
                    <a:latin typeface="Arial"/>
                  </a:rPr>
                  <a:t> pair as </a:t>
                </a:r>
                <a:r>
                  <a:rPr lang="en-IN" sz="2400">
                    <a:solidFill>
                      <a:srgbClr val="111827"/>
                    </a:solidFill>
                    <a:latin typeface="Cambria Math" panose="02040503050406030204" pitchFamily="18" charset="0"/>
                  </a:rPr>
                  <a:t>$m\leftrightarrow n-m$</a:t>
                </a:r>
                <a:r>
                  <a:rPr sz="2400" b="0">
                    <a:solidFill>
                      <a:srgbClr val="111827"/>
                    </a:solidFill>
                    <a:latin typeface="Arial"/>
                  </a:rPr>
                  <a:t>, so their sum is </a:t>
                </a:r>
                <a:r>
                  <a:rPr lang="en-IN" sz="2400">
                    <a:solidFill>
                      <a:srgbClr val="111827"/>
                    </a:solidFill>
                    <a:latin typeface="Cambria Math" panose="02040503050406030204" pitchFamily="18" charset="0"/>
                  </a:rPr>
                  <a:t>$\frac{n\varphi(n)}{2}$</a:t>
                </a:r>
                <a:r>
                  <a:rPr sz="2400" b="0">
                    <a:solidFill>
                      <a:srgbClr val="111827"/>
                    </a:solidFill>
                    <a:latin typeface="Arial"/>
                  </a:rPr>
                  <a:t> (for </a:t>
                </a:r>
                <a:r>
                  <a:rPr lang="en-IN" sz="2400">
                    <a:solidFill>
                      <a:srgbClr val="111827"/>
                    </a:solidFill>
                    <a:latin typeface="Cambria Math" panose="02040503050406030204" pitchFamily="18" charset="0"/>
                  </a:rPr>
                  <a:t>$n&gt;2$</a:t>
                </a:r>
                <a:r>
                  <a:rPr sz="2400" b="0">
                    <a:solidFill>
                      <a:srgbClr val="111827"/>
                    </a:solidFill>
                    <a:latin typeface="Arial"/>
                  </a:rPr>
                  <a:t>): for </a:t>
                </a:r>
                <a:r>
                  <a:rPr lang="en-IN" sz="2400">
                    <a:solidFill>
                      <a:srgbClr val="111827"/>
                    </a:solidFill>
                    <a:latin typeface="Cambria Math" panose="02040503050406030204" pitchFamily="18" charset="0"/>
                  </a:rPr>
                  <a:t>$n=15$</a:t>
                </a:r>
                <a:r>
                  <a:rPr sz="2400" b="0">
                    <a:solidFill>
                      <a:srgbClr val="111827"/>
                    </a:solidFill>
                    <a:latin typeface="Arial"/>
                  </a:rPr>
                  <a:t>, </a:t>
                </a:r>
                <a:r>
                  <a:rPr lang="en-IN" sz="2400">
                    <a:solidFill>
                      <a:srgbClr val="111827"/>
                    </a:solidFill>
                    <a:latin typeface="Cambria Math" panose="02040503050406030204" pitchFamily="18" charset="0"/>
                  </a:rPr>
                  <a:t>$\frac{15\cdot8}{2}=60$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$\gcd(n,45)=1\iff3\nmid n$</a:t>
                </a:r>
                <a:r>
                  <a:rPr sz="2400" b="0">
                    <a:solidFill>
                      <a:srgbClr val="111827"/>
                    </a:solidFill>
                    <a:latin typeface="Arial"/>
                  </a:rPr>
                  <a:t> and </a:t>
                </a:r>
                <a:r>
                  <a:rPr lang="en-IN" sz="2400">
                    <a:solidFill>
                      <a:srgbClr val="111827"/>
                    </a:solidFill>
                    <a:latin typeface="Cambria Math" panose="02040503050406030204" pitchFamily="18" charset="0"/>
                  </a:rPr>
                  <a:t>$5\nmid n$</a:t>
                </a:r>
                <a:r>
                  <a:rPr sz="2400" b="0">
                    <a:solidFill>
                      <a:srgbClr val="111827"/>
                    </a:solidFill>
                    <a:latin typeface="Arial"/>
                  </a:rPr>
                  <a:t> - only the prime factors of </a:t>
                </a:r>
                <a:r>
                  <a:rPr lang="en-IN" sz="2400">
                    <a:solidFill>
                      <a:srgbClr val="111827"/>
                    </a:solidFill>
                    <a:latin typeface="Cambria Math" panose="02040503050406030204" pitchFamily="18" charset="0"/>
                  </a:rPr>
                  <a:t>$45$</a:t>
                </a:r>
                <a:r>
                  <a:rPr sz="2400" b="0">
                    <a:solidFill>
                      <a:srgbClr val="111827"/>
                    </a:solidFill>
                    <a:latin typeface="Arial"/>
                  </a:rPr>
                  <a:t> matter.</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relations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nor/>
                      </m:rPr>
                      <a:rPr lang="en-IN" sz="2400" i="1">
                        <a:solidFill>
                          <a:srgbClr val="111827"/>
                        </a:solidFill>
                        <a:latin typeface="Cambria Math" panose="02040503050406030204" pitchFamily="18" charset="0"/>
                      </a:rPr>
                      <m:t> 𝑖𝑠 𝑎 𝑝𝑟𝑖𝑚𝑒 𝑎𝑛𝑑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𝑖𝑠 𝑎𝑛 𝑖𝑛𝑡𝑒𝑔𝑒𝑟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nor/>
                      </m:rPr>
                      <a:rPr lang="en-IN" sz="2400" i="1">
                        <a:solidFill>
                          <a:srgbClr val="111827"/>
                        </a:solidFill>
                        <a:latin typeface="Cambria Math" panose="02040503050406030204" pitchFamily="18" charset="0"/>
                      </a:rPr>
                      <m:t> 𝑖𝑠 𝑎 𝑝𝑟𝑖𝑚𝑒 𝑎𝑛𝑑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________. [JEE(Main) June 2022]</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be relations on the set </a:t>
                </a:r>
                <a:r>
                  <a:rPr lang="en-IN" sz="2400">
                    <a:solidFill>
                      <a:srgbClr val="111827"/>
                    </a:solidFill>
                    <a:latin typeface="Cambria Math" panose="02040503050406030204" pitchFamily="18" charset="0"/>
                  </a:rPr>
                  <a:t>$\{1,2,\ldots,50\}$</a:t>
                </a:r>
                <a:r>
                  <a:rPr sz="2400" b="0">
                    <a:solidFill>
                      <a:srgbClr val="111827"/>
                    </a:solidFill>
                    <a:latin typeface="Arial"/>
                  </a:rPr>
                  <a:t> such that </a:t>
                </a:r>
                <a:r>
                  <a:rPr lang="en-IN" sz="2400">
                    <a:solidFill>
                      <a:srgbClr val="111827"/>
                    </a:solidFill>
                    <a:latin typeface="Cambria Math" panose="02040503050406030204" pitchFamily="18" charset="0"/>
                  </a:rPr>
                  <a:t>$R_1=\{(p,p^n):p \text{ is a prime and } n\ge0 \text{ is an integer}\}$</a:t>
                </a:r>
                <a:r>
                  <a:rPr sz="2400" b="0">
                    <a:solidFill>
                      <a:srgbClr val="111827"/>
                    </a:solidFill>
                    <a:latin typeface="Arial"/>
                  </a:rPr>
                  <a:t> and </a:t>
                </a:r>
                <a:r>
                  <a:rPr lang="en-IN" sz="2400">
                    <a:solidFill>
                      <a:srgbClr val="111827"/>
                    </a:solidFill>
                    <a:latin typeface="Cambria Math" panose="02040503050406030204" pitchFamily="18" charset="0"/>
                  </a:rPr>
                  <a:t>$R_2=\{(p,p^n):p \text{ is a prime and } n=0 \text{ or } 1\}$</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$R_1-R_2$</a:t>
                </a:r>
                <a:r>
                  <a:rPr sz="2400" b="0">
                    <a:solidFill>
                      <a:srgbClr val="111827"/>
                    </a:solidFill>
                    <a:latin typeface="Arial"/>
                  </a:rPr>
                  <a:t> is ________. [JEE(Main) June 2022]</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(counting ordered pairs)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keeps exactly the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compute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prime by prime.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$R_1-R_2$</a:t>
                </a:r>
                <a:r>
                  <a:rPr sz="2400" b="0">
                    <a:solidFill>
                      <a:srgbClr val="78350F"/>
                    </a:solidFill>
                    <a:latin typeface="Arial"/>
                  </a:rPr>
                  <a:t> keeps exactly the pairs </a:t>
                </a:r>
                <a:r>
                  <a:rPr lang="en-IN" sz="2400">
                    <a:solidFill>
                      <a:srgbClr val="78350F"/>
                    </a:solidFill>
                    <a:latin typeface="Cambria Math" panose="02040503050406030204" pitchFamily="18" charset="0"/>
                  </a:rPr>
                  <a:t>$(p,p^n)$</a:t>
                </a:r>
                <a:r>
                  <a:rPr sz="2400" b="0">
                    <a:solidFill>
                      <a:srgbClr val="78350F"/>
                    </a:solidFill>
                    <a:latin typeface="Arial"/>
                  </a:rPr>
                  <a:t> with </a:t>
                </a:r>
                <a:r>
                  <a:rPr lang="en-IN" sz="2400">
                    <a:solidFill>
                      <a:srgbClr val="78350F"/>
                    </a:solidFill>
                    <a:latin typeface="Cambria Math" panose="02040503050406030204" pitchFamily="18" charset="0"/>
                  </a:rPr>
                  <a:t>$n\ge2$</a:t>
                </a:r>
                <a:r>
                  <a:rPr sz="2400" b="0">
                    <a:solidFill>
                      <a:srgbClr val="78350F"/>
                    </a:solidFill>
                    <a:latin typeface="Arial"/>
                  </a:rPr>
                  <a:t> and </a:t>
                </a:r>
                <a:r>
                  <a:rPr lang="en-IN" sz="2400">
                    <a:solidFill>
                      <a:srgbClr val="78350F"/>
                    </a:solidFill>
                    <a:latin typeface="Cambria Math" panose="02040503050406030204" pitchFamily="18" charset="0"/>
                  </a:rPr>
                  <a:t>$p^n\le50$</a:t>
                </a:r>
                <a:r>
                  <a:rPr sz="2400" b="0">
                    <a:solidFill>
                      <a:srgbClr val="78350F"/>
                    </a:solidFill>
                    <a:latin typeface="Arial"/>
                  </a:rPr>
                  <a:t>; compute </a:t>
                </a:r>
                <a:r>
                  <a:rPr lang="en-IN" sz="2400">
                    <a:solidFill>
                      <a:srgbClr val="78350F"/>
                    </a:solidFill>
                    <a:latin typeface="Cambria Math" panose="02040503050406030204" pitchFamily="18" charset="0"/>
                  </a:rPr>
                  <a:t>$n(R_1)-n(R_2)$</a:t>
                </a:r>
                <a:r>
                  <a:rPr sz="2400" b="0">
                    <a:solidFill>
                      <a:srgbClr val="78350F"/>
                    </a:solidFill>
                    <a:latin typeface="Arial"/>
                  </a:rPr>
                  <a:t> prime by prime.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must lie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a prime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primes).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each of the other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primes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possible: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pairs.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$p^n$</a:t>
                </a:r>
                <a:r>
                  <a:rPr sz="2400" b="0">
                    <a:solidFill>
                      <a:srgbClr val="111827"/>
                    </a:solidFill>
                    <a:latin typeface="Arial"/>
                  </a:rPr>
                  <a:t> must lie in </a:t>
                </a:r>
                <a:r>
                  <a:rPr lang="en-IN" sz="2400">
                    <a:solidFill>
                      <a:srgbClr val="111827"/>
                    </a:solidFill>
                    <a:latin typeface="Cambria Math" panose="02040503050406030204" pitchFamily="18" charset="0"/>
                  </a:rPr>
                  <a:t>$\{1,\ldots,50\}$</a:t>
                </a:r>
                <a:r>
                  <a:rPr sz="2400" b="0">
                    <a:solidFill>
                      <a:srgbClr val="111827"/>
                    </a:solidFill>
                    <a:latin typeface="Arial"/>
                  </a:rPr>
                  <a:t>, so </a:t>
                </a:r>
                <a:r>
                  <a:rPr lang="en-IN" sz="2400">
                    <a:solidFill>
                      <a:srgbClr val="111827"/>
                    </a:solidFill>
                    <a:latin typeface="Cambria Math" panose="02040503050406030204" pitchFamily="18" charset="0"/>
                  </a:rPr>
                  <a:t>$p$</a:t>
                </a:r>
                <a:r>
                  <a:rPr sz="2400" b="0">
                    <a:solidFill>
                      <a:srgbClr val="111827"/>
                    </a:solidFill>
                    <a:latin typeface="Arial"/>
                  </a:rPr>
                  <a:t> is a prime </a:t>
                </a:r>
                <a:r>
                  <a:rPr lang="en-IN" sz="2400">
                    <a:solidFill>
                      <a:srgbClr val="111827"/>
                    </a:solidFill>
                    <a:latin typeface="Cambria Math" panose="02040503050406030204" pitchFamily="18" charset="0"/>
                  </a:rPr>
                  <a:t>$\le50$</a:t>
                </a:r>
                <a:r>
                  <a:rPr sz="2400" b="0">
                    <a:solidFill>
                      <a:srgbClr val="111827"/>
                    </a:solidFill>
                    <a:latin typeface="Arial"/>
                  </a:rPr>
                  <a:t>: </a:t>
                </a:r>
                <a:r>
                  <a:rPr lang="en-IN" sz="2400">
                    <a:solidFill>
                      <a:srgbClr val="111827"/>
                    </a:solidFill>
                    <a:latin typeface="Cambria Math" panose="02040503050406030204" pitchFamily="18" charset="0"/>
                  </a:rPr>
                  <a:t>$2,3,5,7,11,13,17,19,23,29,31,37,41,43,47$</a:t>
                </a:r>
                <a:r>
                  <a:rPr sz="2400" b="0">
                    <a:solidFill>
                      <a:srgbClr val="111827"/>
                    </a:solidFill>
                    <a:latin typeface="Arial"/>
                  </a:rPr>
                  <a:t> (</a:t>
                </a:r>
                <a:r>
                  <a:rPr lang="en-IN" sz="2400">
                    <a:solidFill>
                      <a:srgbClr val="111827"/>
                    </a:solidFill>
                    <a:latin typeface="Cambria Math" panose="02040503050406030204" pitchFamily="18" charset="0"/>
                  </a:rPr>
                  <a:t>$15$</a:t>
                </a:r>
                <a:r>
                  <a:rPr sz="2400" b="0">
                    <a:solidFill>
                      <a:srgbClr val="111827"/>
                    </a:solidFill>
                    <a:latin typeface="Arial"/>
                  </a:rPr>
                  <a:t> primes).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$n(R_1)$</a:t>
                </a:r>
                <a:r>
                  <a:rPr sz="2400" b="0">
                    <a:solidFill>
                      <a:srgbClr val="111827"/>
                    </a:solidFill>
                    <a:latin typeface="Arial"/>
                  </a:rPr>
                  <a:t>: </a:t>
                </a:r>
                <a:r>
                  <a:rPr lang="en-IN" sz="2400">
                    <a:solidFill>
                      <a:srgbClr val="111827"/>
                    </a:solidFill>
                    <a:latin typeface="Cambria Math" panose="02040503050406030204" pitchFamily="18" charset="0"/>
                  </a:rPr>
                  <a:t>$p=2$</a:t>
                </a:r>
                <a:r>
                  <a:rPr sz="2400" b="0">
                    <a:solidFill>
                      <a:srgbClr val="111827"/>
                    </a:solidFill>
                    <a:latin typeface="Arial"/>
                  </a:rPr>
                  <a:t>: </a:t>
                </a:r>
                <a:r>
                  <a:rPr lang="en-IN" sz="2400">
                    <a:solidFill>
                      <a:srgbClr val="111827"/>
                    </a:solidFill>
                    <a:latin typeface="Cambria Math" panose="02040503050406030204" pitchFamily="18" charset="0"/>
                  </a:rPr>
                  <a:t>$(2,2^0),\ldots,(2,2^5)$</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 pairs; </a:t>
                </a: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$n=0..3$</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$n=0..2$</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$n=0..2$</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each of the other </a:t>
                </a:r>
                <a:r>
                  <a:rPr lang="en-IN" sz="2400">
                    <a:solidFill>
                      <a:srgbClr val="111827"/>
                    </a:solidFill>
                    <a:latin typeface="Cambria Math" panose="02040503050406030204" pitchFamily="18" charset="0"/>
                  </a:rPr>
                  <a:t>$11$</a:t>
                </a:r>
                <a:r>
                  <a:rPr sz="2400" b="0">
                    <a:solidFill>
                      <a:srgbClr val="111827"/>
                    </a:solidFill>
                    <a:latin typeface="Arial"/>
                  </a:rPr>
                  <a:t> primes (</a:t>
                </a:r>
                <a:r>
                  <a:rPr lang="en-IN" sz="2400">
                    <a:solidFill>
                      <a:srgbClr val="111827"/>
                    </a:solidFill>
                    <a:latin typeface="Cambria Math" panose="02040503050406030204" pitchFamily="18" charset="0"/>
                  </a:rPr>
                  <a:t>$11,13,\ldots,47$</a:t>
                </a:r>
                <a:r>
                  <a:rPr sz="2400" b="0">
                    <a:solidFill>
                      <a:srgbClr val="111827"/>
                    </a:solidFill>
                    <a:latin typeface="Arial"/>
                  </a:rPr>
                  <a:t>) only </a:t>
                </a:r>
                <a:r>
                  <a:rPr lang="en-IN" sz="2400">
                    <a:solidFill>
                      <a:srgbClr val="111827"/>
                    </a:solidFill>
                    <a:latin typeface="Cambria Math" panose="02040503050406030204" pitchFamily="18" charset="0"/>
                  </a:rPr>
                  <a:t>$n=0,1$</a:t>
                </a:r>
                <a:r>
                  <a:rPr sz="2400" b="0">
                    <a:solidFill>
                      <a:srgbClr val="111827"/>
                    </a:solidFill>
                    <a:latin typeface="Arial"/>
                  </a:rPr>
                  <a:t> are possible: </a:t>
                </a:r>
                <a:r>
                  <a:rPr lang="en-IN" sz="2400">
                    <a:solidFill>
                      <a:srgbClr val="111827"/>
                    </a:solidFill>
                    <a:latin typeface="Cambria Math" panose="02040503050406030204" pitchFamily="18" charset="0"/>
                  </a:rPr>
                  <a:t>$2\times11=22$</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allows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each prime: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$n(R_1)=6+4+3+3+22=38$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allows </a:t>
                </a:r>
                <a:r>
                  <a:rPr lang="en-IN" sz="2400">
                    <a:solidFill>
                      <a:srgbClr val="111827"/>
                    </a:solidFill>
                    <a:latin typeface="Cambria Math" panose="02040503050406030204" pitchFamily="18" charset="0"/>
                  </a:rPr>
                  <a:t>$n=0$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for each prime: </a:t>
                </a:r>
                <a:r>
                  <a:rPr lang="en-IN" sz="2400">
                    <a:solidFill>
                      <a:srgbClr val="111827"/>
                    </a:solidFill>
                    <a:latin typeface="Cambria Math" panose="02040503050406030204" pitchFamily="18" charset="0"/>
                  </a:rPr>
                  <a:t>$n(R_2)=2\times15=30$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$R_2\subset R_1$</a:t>
                </a:r>
                <a:r>
                  <a:rPr sz="2400" b="0">
                    <a:solidFill>
                      <a:srgbClr val="111827"/>
                    </a:solidFill>
                    <a:latin typeface="Arial"/>
                  </a:rPr>
                  <a:t>, so </a:t>
                </a:r>
                <a:r>
                  <a:rPr lang="en-IN" sz="2400">
                    <a:solidFill>
                      <a:srgbClr val="111827"/>
                    </a:solidFill>
                    <a:latin typeface="Cambria Math" panose="02040503050406030204" pitchFamily="18" charset="0"/>
                  </a:rPr>
                  <a:t>$n(R_1-R_2)=n(R_1)-n(R_2)=38-30=8$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a:t>
            </a:r>
            <a:endParaRPr sz="2800">
              <a:solidFill>
                <a:srgbClr val="15803D"/>
              </a:solidFill>
            </a:endParaRP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exactly the set of pairs with exponent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so count prime powers </a:t>
                </a:r>
                <a14:m>
                  <m:oMath xmlns:m="http://schemas.openxmlformats.org/officeDocument/2006/math">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$R_1-R_2$</a:t>
                </a:r>
                <a:r>
                  <a:rPr sz="2400" b="0">
                    <a:solidFill>
                      <a:srgbClr val="78350F"/>
                    </a:solidFill>
                    <a:latin typeface="Arial"/>
                  </a:rPr>
                  <a:t> is exactly the set of pairs with exponent </a:t>
                </a:r>
                <a:r>
                  <a:rPr lang="en-IN" sz="2400">
                    <a:solidFill>
                      <a:srgbClr val="78350F"/>
                    </a:solidFill>
                    <a:latin typeface="Cambria Math" panose="02040503050406030204" pitchFamily="18" charset="0"/>
                  </a:rPr>
                  <a:t>$n\ge2$</a:t>
                </a:r>
                <a:r>
                  <a:rPr sz="2400" b="0">
                    <a:solidFill>
                      <a:srgbClr val="78350F"/>
                    </a:solidFill>
                    <a:latin typeface="Arial"/>
                  </a:rPr>
                  <a:t>, so count prime powers </a:t>
                </a:r>
                <a:r>
                  <a:rPr lang="en-IN" sz="2400">
                    <a:solidFill>
                      <a:srgbClr val="78350F"/>
                    </a:solidFill>
                    <a:latin typeface="Cambria Math" panose="02040503050406030204" pitchFamily="18" charset="0"/>
                  </a:rPr>
                  <a:t>$p^n\le50$</a:t>
                </a:r>
                <a:r>
                  <a:rPr sz="2400" b="0">
                    <a:solidFill>
                      <a:srgbClr val="78350F"/>
                    </a:solidFill>
                    <a:latin typeface="Arial"/>
                  </a:rPr>
                  <a:t> with </a:t>
                </a:r>
                <a:r>
                  <a:rPr lang="en-IN" sz="2400">
                    <a:solidFill>
                      <a:srgbClr val="78350F"/>
                    </a:solidFill>
                    <a:latin typeface="Cambria Math" panose="02040503050406030204" pitchFamily="18" charset="0"/>
                  </a:rPr>
                  <a:t>$n\ge2$</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pair </a:t>
                </a:r>
                <a:r>
                  <a:rPr lang="en-IN" sz="2400">
                    <a:solidFill>
                      <a:srgbClr val="111827"/>
                    </a:solidFill>
                    <a:latin typeface="Cambria Math" panose="02040503050406030204" pitchFamily="18" charset="0"/>
                  </a:rPr>
                  <a:t>$(p,p^n)$</a:t>
                </a:r>
                <a:r>
                  <a:rPr sz="2400" b="0">
                    <a:solidFill>
                      <a:srgbClr val="111827"/>
                    </a:solidFill>
                    <a:latin typeface="Arial"/>
                  </a:rPr>
                  <a:t> is in </a:t>
                </a:r>
                <a:r>
                  <a:rPr lang="en-IN" sz="2400">
                    <a:solidFill>
                      <a:srgbClr val="111827"/>
                    </a:solidFill>
                    <a:latin typeface="Cambria Math" panose="02040503050406030204" pitchFamily="18" charset="0"/>
                  </a:rPr>
                  <a:t>$R_1-R_2$</a:t>
                </a:r>
                <a:r>
                  <a:rPr sz="2400" b="0">
                    <a:solidFill>
                      <a:srgbClr val="111827"/>
                    </a:solidFill>
                    <a:latin typeface="Arial"/>
                  </a:rPr>
                  <a:t> iff </a:t>
                </a:r>
                <a:r>
                  <a:rPr lang="en-IN" sz="2400">
                    <a:solidFill>
                      <a:srgbClr val="111827"/>
                    </a:solidFill>
                    <a:latin typeface="Cambria Math" panose="02040503050406030204" pitchFamily="18" charset="0"/>
                  </a:rPr>
                  <a:t>$n\ge2$</a:t>
                </a:r>
                <a:r>
                  <a:rPr sz="2400" b="0">
                    <a:solidFill>
                      <a:srgbClr val="111827"/>
                    </a:solidFill>
                    <a:latin typeface="Arial"/>
                  </a:rPr>
                  <a:t> (since </a:t>
                </a:r>
                <a:r>
                  <a:rPr lang="en-IN" sz="2400">
                    <a:solidFill>
                      <a:srgbClr val="111827"/>
                    </a:solidFill>
                    <a:latin typeface="Cambria Math" panose="02040503050406030204" pitchFamily="18" charset="0"/>
                  </a:rPr>
                  <a:t>$n=0,1$</a:t>
                </a:r>
                <a:r>
                  <a:rPr sz="2400" b="0">
                    <a:solidFill>
                      <a:srgbClr val="111827"/>
                    </a:solidFill>
                    <a:latin typeface="Arial"/>
                  </a:rPr>
                  <a:t> are in </a:t>
                </a:r>
                <a:r>
                  <a:rPr lang="en-IN" sz="2400">
                    <a:solidFill>
                      <a:srgbClr val="111827"/>
                    </a:solidFill>
                    <a:latin typeface="Cambria Math" panose="02040503050406030204" pitchFamily="18" charset="0"/>
                  </a:rPr>
                  <a:t>$R_2$</a:t>
                </a:r>
                <a:r>
                  <a:rPr sz="2400" b="0">
                    <a:solidFill>
                      <a:srgbClr val="111827"/>
                    </a:solidFill>
                    <a:latin typeface="Arial"/>
                  </a:rPr>
                  <a:t>) and </a:t>
                </a:r>
                <a:r>
                  <a:rPr lang="en-IN" sz="2400">
                    <a:solidFill>
                      <a:srgbClr val="111827"/>
                    </a:solidFill>
                    <a:latin typeface="Cambria Math" panose="02040503050406030204" pitchFamily="18" charset="0"/>
                  </a:rPr>
                  <a:t>$p^n\le50$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$2^2,3^2,5^2,7^2=4,9,25,49$</a:t>
                </a:r>
                <a:r>
                  <a:rPr sz="2400" b="0">
                    <a:solidFill>
                      <a:srgbClr val="111827"/>
                    </a:solidFill>
                    <a:latin typeface="Arial"/>
                  </a:rPr>
                  <a:t> (</a:t>
                </a:r>
                <a:r>
                  <a:rPr lang="en-IN" sz="2400">
                    <a:solidFill>
                      <a:srgbClr val="111827"/>
                    </a:solidFill>
                    <a:latin typeface="Cambria Math" panose="02040503050406030204" pitchFamily="18" charset="0"/>
                  </a:rPr>
                  <a:t>$11^2=121&gt;50$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$2^3=8,\ 3^3=27$</a:t>
                </a:r>
                <a:r>
                  <a:rPr sz="2400" b="0">
                    <a:solidFill>
                      <a:srgbClr val="111827"/>
                    </a:solidFill>
                    <a:latin typeface="Arial"/>
                  </a:rPr>
                  <a:t> (</a:t>
                </a:r>
                <a:r>
                  <a:rPr lang="en-IN" sz="2400">
                    <a:solidFill>
                      <a:srgbClr val="111827"/>
                    </a:solidFill>
                    <a:latin typeface="Cambria Math" panose="02040503050406030204" pitchFamily="18" charset="0"/>
                  </a:rPr>
                  <a:t>$5^3=125&gt;50$</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pair.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pair.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$2^4=16$</a:t>
                </a:r>
                <a:r>
                  <a:rPr sz="2400" b="0">
                    <a:solidFill>
                      <a:srgbClr val="111827"/>
                    </a:solidFill>
                    <a:latin typeface="Arial"/>
                  </a:rPr>
                  <a:t> (</a:t>
                </a:r>
                <a:r>
                  <a:rPr lang="en-IN" sz="2400">
                    <a:solidFill>
                      <a:srgbClr val="111827"/>
                    </a:solidFill>
                    <a:latin typeface="Cambria Math" panose="02040503050406030204" pitchFamily="18" charset="0"/>
                  </a:rPr>
                  <a:t>$3^4=81&gt;50$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pair.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$2^5=32$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pair. </a:t>
                </a: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$64&gt;50$</a:t>
                </a:r>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$=4+2+1+1=8$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a:t>
            </a:r>
            <a:endParaRPr sz="2800">
              <a:solidFill>
                <a:srgbClr val="15803D"/>
              </a:solidFill>
            </a:endParaRP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relation set-differences, identify what survives the subtraction first: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here is just the pairs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avoiding long totals.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prime powers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 number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pairs; count by exponent: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up to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of them; up to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 missing prime in a hand list is a common slip - recount against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otherwise subtract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relation set-differences, identify what survives the subtraction first: </a:t>
                </a:r>
                <a:r>
                  <a:rPr lang="en-IN" sz="2400">
                    <a:solidFill>
                      <a:srgbClr val="111827"/>
                    </a:solidFill>
                    <a:latin typeface="Cambria Math" panose="02040503050406030204" pitchFamily="18" charset="0"/>
                  </a:rPr>
                  <a:t>$R_1-R_2$</a:t>
                </a:r>
                <a:r>
                  <a:rPr sz="2400" b="0">
                    <a:solidFill>
                      <a:srgbClr val="111827"/>
                    </a:solidFill>
                    <a:latin typeface="Arial"/>
                  </a:rPr>
                  <a:t> here is just the pairs with </a:t>
                </a:r>
                <a:r>
                  <a:rPr lang="en-IN" sz="2400">
                    <a:solidFill>
                      <a:srgbClr val="111827"/>
                    </a:solidFill>
                    <a:latin typeface="Cambria Math" panose="02040503050406030204" pitchFamily="18" charset="0"/>
                  </a:rPr>
                  <a:t>$n\ge2$</a:t>
                </a:r>
                <a:r>
                  <a:rPr sz="2400" b="0">
                    <a:solidFill>
                      <a:srgbClr val="111827"/>
                    </a:solidFill>
                    <a:latin typeface="Arial"/>
                  </a:rPr>
                  <a:t>, avoiding long totals.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prime powers </a:t>
                </a:r>
                <a:r>
                  <a:rPr lang="en-IN" sz="2400">
                    <a:solidFill>
                      <a:srgbClr val="111827"/>
                    </a:solidFill>
                    <a:latin typeface="Cambria Math" panose="02040503050406030204" pitchFamily="18" charset="0"/>
                  </a:rPr>
                  <a:t>$p^n\le N$</a:t>
                </a:r>
                <a:r>
                  <a:rPr sz="2400" b="0">
                    <a:solidFill>
                      <a:srgbClr val="111827"/>
                    </a:solidFill>
                    <a:latin typeface="Arial"/>
                  </a:rPr>
                  <a:t> with </a:t>
                </a:r>
                <a:r>
                  <a:rPr lang="en-IN" sz="2400">
                    <a:solidFill>
                      <a:srgbClr val="111827"/>
                    </a:solidFill>
                    <a:latin typeface="Cambria Math" panose="02040503050406030204" pitchFamily="18" charset="0"/>
                  </a:rPr>
                  <a:t>$n\ge2$</a:t>
                </a:r>
                <a:r>
                  <a:rPr sz="2400" b="0">
                    <a:solidFill>
                      <a:srgbClr val="111827"/>
                    </a:solidFill>
                    <a:latin typeface="Arial"/>
                  </a:rPr>
                  <a:t> = number of </a:t>
                </a:r>
                <a:r>
                  <a:rPr lang="en-IN" sz="2400">
                    <a:solidFill>
                      <a:srgbClr val="111827"/>
                    </a:solidFill>
                    <a:latin typeface="Cambria Math" panose="02040503050406030204" pitchFamily="18" charset="0"/>
                  </a:rPr>
                  <a:t>$(p,n)$</a:t>
                </a:r>
                <a:r>
                  <a:rPr sz="2400" b="0">
                    <a:solidFill>
                      <a:srgbClr val="111827"/>
                    </a:solidFill>
                    <a:latin typeface="Arial"/>
                  </a:rPr>
                  <a:t> pairs; count by exponent: for </a:t>
                </a:r>
                <a:r>
                  <a:rPr lang="en-IN" sz="2400">
                    <a:solidFill>
                      <a:srgbClr val="111827"/>
                    </a:solidFill>
                    <a:latin typeface="Cambria Math" panose="02040503050406030204" pitchFamily="18" charset="0"/>
                  </a:rPr>
                  <a:t>$N=50$</a:t>
                </a:r>
                <a:r>
                  <a:rPr sz="2400" b="0">
                    <a:solidFill>
                      <a:srgbClr val="111827"/>
                    </a:solidFill>
                    <a:latin typeface="Arial"/>
                  </a:rPr>
                  <a:t> it is </a:t>
                </a:r>
                <a:r>
                  <a:rPr lang="en-IN" sz="2400">
                    <a:solidFill>
                      <a:srgbClr val="111827"/>
                    </a:solidFill>
                    <a:latin typeface="Cambria Math" panose="02040503050406030204" pitchFamily="18" charset="0"/>
                  </a:rPr>
                  <a:t>$4+2+1+1=8$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up to </a:t>
                </a:r>
                <a:r>
                  <a:rPr lang="en-IN" sz="2400">
                    <a:solidFill>
                      <a:srgbClr val="111827"/>
                    </a:solidFill>
                    <a:latin typeface="Cambria Math" panose="02040503050406030204" pitchFamily="18" charset="0"/>
                  </a:rPr>
                  <a:t>$50$</a:t>
                </a:r>
                <a:r>
                  <a:rPr sz="2400" b="0">
                    <a:solidFill>
                      <a:srgbClr val="111827"/>
                    </a:solidFill>
                    <a:latin typeface="Arial"/>
                  </a:rPr>
                  <a:t>: </a:t>
                </a:r>
                <a:r>
                  <a:rPr lang="en-IN" sz="2400">
                    <a:solidFill>
                      <a:srgbClr val="111827"/>
                    </a:solidFill>
                    <a:latin typeface="Cambria Math" panose="02040503050406030204" pitchFamily="18" charset="0"/>
                  </a:rPr>
                  <a:t>$15$</a:t>
                </a:r>
                <a:r>
                  <a:rPr sz="2400" b="0">
                    <a:solidFill>
                      <a:srgbClr val="111827"/>
                    </a:solidFill>
                    <a:latin typeface="Arial"/>
                  </a:rPr>
                  <a:t> of them; up to </a:t>
                </a:r>
                <a:r>
                  <a:rPr lang="en-IN" sz="2400">
                    <a:solidFill>
                      <a:srgbClr val="111827"/>
                    </a:solidFill>
                    <a:latin typeface="Cambria Math" panose="02040503050406030204" pitchFamily="18" charset="0"/>
                  </a:rPr>
                  <a:t>$100$</a:t>
                </a:r>
                <a:r>
                  <a:rPr sz="2400" b="0">
                    <a:solidFill>
                      <a:srgbClr val="111827"/>
                    </a:solidFill>
                    <a:latin typeface="Arial"/>
                  </a:rPr>
                  <a:t>: </a:t>
                </a:r>
                <a:r>
                  <a:rPr lang="en-IN" sz="2400">
                    <a:solidFill>
                      <a:srgbClr val="111827"/>
                    </a:solidFill>
                    <a:latin typeface="Cambria Math" panose="02040503050406030204" pitchFamily="18" charset="0"/>
                  </a:rPr>
                  <a:t>$25$</a:t>
                </a:r>
                <a:r>
                  <a:rPr sz="2400" b="0">
                    <a:solidFill>
                      <a:srgbClr val="111827"/>
                    </a:solidFill>
                    <a:latin typeface="Arial"/>
                  </a:rPr>
                  <a:t>. A missing prime in a hand list is a common slip - recount against </a:t>
                </a:r>
                <a:r>
                  <a:rPr lang="en-IN" sz="2400">
                    <a:solidFill>
                      <a:srgbClr val="111827"/>
                    </a:solidFill>
                    <a:latin typeface="Cambria Math" panose="02040503050406030204" pitchFamily="18" charset="0"/>
                  </a:rPr>
                  <a:t>$\pi(50)=15$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$R_2\subseteq R_1$</a:t>
                </a:r>
                <a:r>
                  <a:rPr sz="2400" b="0">
                    <a:solidFill>
                      <a:srgbClr val="111827"/>
                    </a:solidFill>
                    <a:latin typeface="Arial"/>
                  </a:rPr>
                  <a:t> then </a:t>
                </a:r>
                <a:r>
                  <a:rPr lang="en-IN" sz="2400">
                    <a:solidFill>
                      <a:srgbClr val="111827"/>
                    </a:solidFill>
                    <a:latin typeface="Cambria Math" panose="02040503050406030204" pitchFamily="18" charset="0"/>
                  </a:rPr>
                  <a:t>$n(R_1-R_2)=n(R_1)-n(R_2)$</a:t>
                </a:r>
                <a:r>
                  <a:rPr sz="2400" b="0">
                    <a:solidFill>
                      <a:srgbClr val="111827"/>
                    </a:solidFill>
                    <a:latin typeface="Arial"/>
                  </a:rPr>
                  <a:t>; otherwise subtract </a:t>
                </a:r>
                <a:r>
                  <a:rPr lang="en-IN" sz="2400">
                    <a:solidFill>
                      <a:srgbClr val="111827"/>
                    </a:solidFill>
                    <a:latin typeface="Cambria Math" panose="02040503050406030204" pitchFamily="18" charset="0"/>
                  </a:rPr>
                  <a:t>$n(R_1\cap R_2)$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 – Q30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two relations defined 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Then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 but not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but not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be two relations defined on </a:t>
                </a:r>
                <a:r>
                  <a:rPr lang="en-IN" sz="2400">
                    <a:solidFill>
                      <a:srgbClr val="111827"/>
                    </a:solidFill>
                    <a:latin typeface="Cambria Math" panose="02040503050406030204" pitchFamily="18" charset="0"/>
                  </a:rPr>
                  <a:t>$R$</a:t>
                </a:r>
                <a:r>
                  <a:rPr sz="2400" b="0">
                    <a:solidFill>
                      <a:srgbClr val="111827"/>
                    </a:solidFill>
                    <a:latin typeface="Arial"/>
                  </a:rPr>
                  <a:t> by </a:t>
                </a:r>
                <a:r>
                  <a:rPr lang="en-IN" sz="2400">
                    <a:solidFill>
                      <a:srgbClr val="111827"/>
                    </a:solidFill>
                    <a:latin typeface="Cambria Math" panose="02040503050406030204" pitchFamily="18" charset="0"/>
                  </a:rPr>
                  <a:t>$a\,R_1\,b\iff ab\ge0$</a:t>
                </a:r>
                <a:r>
                  <a:rPr sz="2400" b="0">
                    <a:solidFill>
                      <a:srgbClr val="111827"/>
                    </a:solidFill>
                    <a:latin typeface="Arial"/>
                  </a:rPr>
                  <a:t> and </a:t>
                </a:r>
                <a:r>
                  <a:rPr lang="en-IN" sz="2400">
                    <a:solidFill>
                      <a:srgbClr val="111827"/>
                    </a:solidFill>
                    <a:latin typeface="Cambria Math" panose="02040503050406030204" pitchFamily="18" charset="0"/>
                  </a:rPr>
                  <a:t>$a\,R_2\,b\iff a\ge b$</a:t>
                </a:r>
                <a:r>
                  <a:rPr sz="2400" b="0">
                    <a:solidFill>
                      <a:srgbClr val="111827"/>
                    </a:solidFill>
                    <a:latin typeface="Arial"/>
                  </a:rPr>
                  <a:t>. Then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 but not </a:t>
                </a:r>
                <a:r>
                  <a:rPr lang="en-IN" sz="2400">
                    <a:solidFill>
                      <a:srgbClr val="111827"/>
                    </a:solidFill>
                    <a:latin typeface="Cambria Math" panose="02040503050406030204" pitchFamily="18" charset="0"/>
                  </a:rPr>
                  <a:t>$R_2$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but not </a:t>
                </a:r>
                <a:r>
                  <a:rPr lang="en-IN" sz="2400">
                    <a:solidFill>
                      <a:srgbClr val="111827"/>
                    </a:solidFill>
                    <a:latin typeface="Cambria Math" panose="02040503050406030204" pitchFamily="18" charset="0"/>
                  </a:rPr>
                  <a:t>$R_1$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related to every number under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so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chains positives to negatives through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is not symmetric.</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$0$</a:t>
                </a:r>
                <a:r>
                  <a:rPr sz="2400" b="0">
                    <a:solidFill>
                      <a:srgbClr val="78350F"/>
                    </a:solidFill>
                    <a:latin typeface="Arial"/>
                  </a:rPr>
                  <a:t> is related to every number under </a:t>
                </a:r>
                <a:r>
                  <a:rPr lang="en-IN" sz="2400">
                    <a:solidFill>
                      <a:srgbClr val="78350F"/>
                    </a:solidFill>
                    <a:latin typeface="Cambria Math" panose="02040503050406030204" pitchFamily="18" charset="0"/>
                  </a:rPr>
                  <a:t>$R_1$</a:t>
                </a:r>
                <a:r>
                  <a:rPr sz="2400" b="0">
                    <a:solidFill>
                      <a:srgbClr val="78350F"/>
                    </a:solidFill>
                    <a:latin typeface="Arial"/>
                  </a:rPr>
                  <a:t>, so </a:t>
                </a:r>
                <a:r>
                  <a:rPr lang="en-IN" sz="2400">
                    <a:solidFill>
                      <a:srgbClr val="78350F"/>
                    </a:solidFill>
                    <a:latin typeface="Cambria Math" panose="02040503050406030204" pitchFamily="18" charset="0"/>
                  </a:rPr>
                  <a:t>$R_1$</a:t>
                </a:r>
                <a:r>
                  <a:rPr sz="2400" b="0">
                    <a:solidFill>
                      <a:srgbClr val="78350F"/>
                    </a:solidFill>
                    <a:latin typeface="Arial"/>
                  </a:rPr>
                  <a:t> chains positives to negatives through </a:t>
                </a:r>
                <a:r>
                  <a:rPr lang="en-IN" sz="2400">
                    <a:solidFill>
                      <a:srgbClr val="78350F"/>
                    </a:solidFill>
                    <a:latin typeface="Cambria Math" panose="02040503050406030204" pitchFamily="18" charset="0"/>
                  </a:rPr>
                  <a:t>$0$</a:t>
                </a:r>
                <a:r>
                  <a:rPr sz="2400" b="0">
                    <a:solidFill>
                      <a:srgbClr val="78350F"/>
                    </a:solidFill>
                    <a:latin typeface="Arial"/>
                  </a:rPr>
                  <a:t>; and </a:t>
                </a:r>
                <a:r>
                  <a:rPr lang="en-IN" sz="2400">
                    <a:solidFill>
                      <a:srgbClr val="78350F"/>
                    </a:solidFill>
                    <a:latin typeface="Cambria Math" panose="02040503050406030204" pitchFamily="18" charset="0"/>
                  </a:rPr>
                  <a:t>$a\ge b$</a:t>
                </a:r>
                <a:r>
                  <a:rPr sz="2400" b="0">
                    <a:solidFill>
                      <a:srgbClr val="78350F"/>
                    </a:solidFill>
                    <a:latin typeface="Arial"/>
                  </a:rPr>
                  <a:t> is not symmetric.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fails: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$R_1=\{(x,y):xy\ge0\}$</a:t>
                </a:r>
                <a:r>
                  <a:rPr sz="2400" b="0">
                    <a:solidFill>
                      <a:srgbClr val="111827"/>
                    </a:solidFill>
                    <a:latin typeface="Arial"/>
                  </a:rPr>
                  <a:t>. Reflexive: </a:t>
                </a:r>
                <a:r>
                  <a:rPr lang="en-IN" sz="2400">
                    <a:solidFill>
                      <a:srgbClr val="111827"/>
                    </a:solidFill>
                    <a:latin typeface="Cambria Math" panose="02040503050406030204" pitchFamily="18" charset="0"/>
                  </a:rPr>
                  <a:t>$x\cdot x=x^2\ge0$</a:t>
                </a:r>
                <a:r>
                  <a:rPr sz="2400" b="0">
                    <a:solidFill>
                      <a:srgbClr val="111827"/>
                    </a:solidFill>
                    <a:latin typeface="Arial"/>
                  </a:rPr>
                  <a:t>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$xy\ge0\Rightarrow yx\ge0$</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fails: take </a:t>
                </a:r>
                <a:r>
                  <a:rPr lang="en-IN" sz="2400">
                    <a:solidFill>
                      <a:srgbClr val="111827"/>
                    </a:solidFill>
                    <a:latin typeface="Cambria Math" panose="02040503050406030204" pitchFamily="18" charset="0"/>
                  </a:rPr>
                  <a:t>$x=2,\ y=0,\ z=-2$</a:t>
                </a:r>
                <a:r>
                  <a:rPr sz="2400" b="0">
                    <a:solidFill>
                      <a:srgbClr val="111827"/>
                    </a:solidFill>
                    <a:latin typeface="Arial"/>
                  </a:rPr>
                  <a:t>. Then </a:t>
                </a:r>
                <a:r>
                  <a:rPr lang="en-IN" sz="2400">
                    <a:solidFill>
                      <a:srgbClr val="111827"/>
                    </a:solidFill>
                    <a:latin typeface="Cambria Math" panose="02040503050406030204" pitchFamily="18" charset="0"/>
                  </a:rPr>
                  <a:t>$xy=0\ge0$</a:t>
                </a:r>
                <a:r>
                  <a:rPr sz="2400" b="0">
                    <a:solidFill>
                      <a:srgbClr val="111827"/>
                    </a:solidFill>
                    <a:latin typeface="Arial"/>
                  </a:rPr>
                  <a:t> and </a:t>
                </a:r>
                <a:r>
                  <a:rPr lang="en-IN" sz="2400">
                    <a:solidFill>
                      <a:srgbClr val="111827"/>
                    </a:solidFill>
                    <a:latin typeface="Cambria Math" panose="02040503050406030204" pitchFamily="18" charset="0"/>
                  </a:rPr>
                  <a:t>$yz=0\ge0$</a:t>
                </a:r>
                <a:r>
                  <a:rPr sz="2400" b="0">
                    <a:solidFill>
                      <a:srgbClr val="111827"/>
                    </a:solidFill>
                    <a:latin typeface="Arial"/>
                  </a:rPr>
                  <a:t>, but </a:t>
                </a:r>
                <a:r>
                  <a:rPr lang="en-IN" sz="2400">
                    <a:solidFill>
                      <a:srgbClr val="111827"/>
                    </a:solidFill>
                    <a:latin typeface="Cambria Math" panose="02040503050406030204" pitchFamily="18" charset="0"/>
                  </a:rPr>
                  <a:t>$xz=-4&lt;0$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transitive, hence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does not imply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an equivalence relation either. Neither relation is an equivalence relation: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$R_1$</a:t>
                </a:r>
                <a:r>
                  <a:rPr sz="2400" b="0">
                    <a:solidFill>
                      <a:srgbClr val="111827"/>
                    </a:solidFill>
                    <a:latin typeface="Arial"/>
                  </a:rPr>
                  <a:t> is not transitive, hence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$R_2=\{(a,b):a\ge b\}$</a:t>
                </a:r>
                <a:r>
                  <a:rPr sz="2400" b="0">
                    <a:solidFill>
                      <a:srgbClr val="111827"/>
                    </a:solidFill>
                    <a:latin typeface="Arial"/>
                  </a:rPr>
                  <a:t>: </a:t>
                </a:r>
                <a:r>
                  <a:rPr lang="en-IN" sz="2400">
                    <a:solidFill>
                      <a:srgbClr val="111827"/>
                    </a:solidFill>
                    <a:latin typeface="Cambria Math" panose="02040503050406030204" pitchFamily="18" charset="0"/>
                  </a:rPr>
                  <a:t>$a\ge b$</a:t>
                </a:r>
                <a:r>
                  <a:rPr sz="2400" b="0">
                    <a:solidFill>
                      <a:srgbClr val="111827"/>
                    </a:solidFill>
                    <a:latin typeface="Arial"/>
                  </a:rPr>
                  <a:t> does not imply </a:t>
                </a:r>
                <a:r>
                  <a:rPr lang="en-IN" sz="2400">
                    <a:solidFill>
                      <a:srgbClr val="111827"/>
                    </a:solidFill>
                    <a:latin typeface="Cambria Math" panose="02040503050406030204" pitchFamily="18" charset="0"/>
                  </a:rPr>
                  <a:t>$b\ge a$</a:t>
                </a:r>
                <a:r>
                  <a:rPr sz="2400" b="0">
                    <a:solidFill>
                      <a:srgbClr val="111827"/>
                    </a:solidFill>
                    <a:latin typeface="Arial"/>
                  </a:rPr>
                  <a:t> (e.g. </a:t>
                </a:r>
                <a:r>
                  <a:rPr lang="en-IN" sz="2400">
                    <a:solidFill>
                      <a:srgbClr val="111827"/>
                    </a:solidFill>
                    <a:latin typeface="Cambria Math" panose="02040503050406030204" pitchFamily="18" charset="0"/>
                  </a:rPr>
                  <a:t>$2\ge1$</a:t>
                </a:r>
                <a:r>
                  <a:rPr sz="2400" b="0">
                    <a:solidFill>
                      <a:srgbClr val="111827"/>
                    </a:solidFill>
                    <a:latin typeface="Arial"/>
                  </a:rPr>
                  <a:t> but </a:t>
                </a:r>
                <a:r>
                  <a:rPr lang="en-IN" sz="2400">
                    <a:solidFill>
                      <a:srgbClr val="111827"/>
                    </a:solidFill>
                    <a:latin typeface="Cambria Math" panose="02040503050406030204" pitchFamily="18" charset="0"/>
                  </a:rPr>
                  <a:t>$1\ngeq2$</a:t>
                </a:r>
                <a:r>
                  <a:rPr sz="2400" b="0">
                    <a:solidFill>
                      <a:srgbClr val="111827"/>
                    </a:solidFill>
                    <a:latin typeface="Arial"/>
                  </a:rPr>
                  <a:t>), so </a:t>
                </a:r>
                <a:r>
                  <a:rPr lang="en-IN" sz="2400">
                    <a:solidFill>
                      <a:srgbClr val="111827"/>
                    </a:solidFill>
                    <a:latin typeface="Cambria Math" panose="02040503050406030204" pitchFamily="18" charset="0"/>
                  </a:rPr>
                  <a:t>$R_2$</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$R_2$</a:t>
                </a:r>
                <a:r>
                  <a:rPr sz="2400" b="0">
                    <a:solidFill>
                      <a:srgbClr val="111827"/>
                    </a:solidFill>
                    <a:latin typeface="Arial"/>
                  </a:rPr>
                  <a:t> is not an equivalence relation either. Neither relation is an equivalence relation: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reflexive and symmetric, but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breaks transitivity;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(strict) is an equivalence relation (same sign)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reflexive and transitive (preorders) but not symmetric, so never equivalence relations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test order: reflexive, then symmetric, then transitive; one counterexample settles failure.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is reflexive, transitive and antisymmetric is a partial order, not an equivalence (unless it is equality).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$ab\ge0$</a:t>
                </a:r>
                <a:r>
                  <a:rPr sz="2400" b="0">
                    <a:solidFill>
                      <a:srgbClr val="111827"/>
                    </a:solidFill>
                    <a:latin typeface="Arial"/>
                  </a:rPr>
                  <a:t> is reflexive and symmetric, but </a:t>
                </a:r>
                <a:r>
                  <a:rPr lang="en-IN" sz="2400">
                    <a:solidFill>
                      <a:srgbClr val="111827"/>
                    </a:solidFill>
                    <a:latin typeface="Cambria Math" panose="02040503050406030204" pitchFamily="18" charset="0"/>
                  </a:rPr>
                  <a:t>$0$</a:t>
                </a:r>
                <a:r>
                  <a:rPr sz="2400" b="0">
                    <a:solidFill>
                      <a:srgbClr val="111827"/>
                    </a:solidFill>
                    <a:latin typeface="Arial"/>
                  </a:rPr>
                  <a:t> breaks transitivity; </a:t>
                </a:r>
                <a:r>
                  <a:rPr lang="en-IN" sz="2400">
                    <a:solidFill>
                      <a:srgbClr val="111827"/>
                    </a:solidFill>
                    <a:latin typeface="Cambria Math" panose="02040503050406030204" pitchFamily="18" charset="0"/>
                  </a:rPr>
                  <a:t>$ab&gt;0$</a:t>
                </a:r>
                <a:r>
                  <a:rPr sz="2400" b="0">
                    <a:solidFill>
                      <a:srgbClr val="111827"/>
                    </a:solidFill>
                    <a:latin typeface="Arial"/>
                  </a:rPr>
                  <a:t> (strict) is an equivalence relation (same sign) on </a:t>
                </a:r>
                <a:r>
                  <a:rPr lang="en-IN" sz="2400">
                    <a:solidFill>
                      <a:srgbClr val="111827"/>
                    </a:solidFill>
                    <a:latin typeface="Cambria Math" panose="02040503050406030204" pitchFamily="18" charset="0"/>
                  </a:rPr>
                  <a:t>$\mathbb{R}\setminus\{0\}$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$\ge$</a:t>
                </a:r>
                <a:r>
                  <a:rPr sz="2400" b="0">
                    <a:solidFill>
                      <a:srgbClr val="111827"/>
                    </a:solidFill>
                    <a:latin typeface="Arial"/>
                  </a:rPr>
                  <a:t> and </a:t>
                </a:r>
                <a:r>
                  <a:rPr lang="en-IN" sz="2400">
                    <a:solidFill>
                      <a:srgbClr val="111827"/>
                    </a:solidFill>
                    <a:latin typeface="Cambria Math" panose="02040503050406030204" pitchFamily="18" charset="0"/>
                  </a:rPr>
                  <a:t>$\le$</a:t>
                </a:r>
                <a:r>
                  <a:rPr sz="2400" b="0">
                    <a:solidFill>
                      <a:srgbClr val="111827"/>
                    </a:solidFill>
                    <a:latin typeface="Arial"/>
                  </a:rPr>
                  <a:t> are reflexive and transitive (preorders) but not symmetric, so never equivalence relations on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test order: reflexive, then symmetric, then transitive; one counterexample settles failure.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is reflexive, transitive and antisymmetric is a partial order, not an equivalence (unless it is equality).</a:t>
                </a:r>
                <a:endParaRPr sz="2400">
                  <a:solidFill>
                    <a:srgbClr val="111827"/>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consider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given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𝑖𝑠 𝑎 𝑚𝑢𝑙𝑡𝑖𝑝𝑙𝑒 𝑜𝑓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 and only if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the remainder when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the remainder when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7</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$\alpha\in N$</a:t>
                </a:r>
                <a:r>
                  <a:rPr sz="2400" b="0">
                    <a:solidFill>
                      <a:srgbClr val="111827"/>
                    </a:solidFill>
                    <a:latin typeface="Arial"/>
                  </a:rPr>
                  <a:t>, consider a relation </a:t>
                </a:r>
                <a:r>
                  <a:rPr lang="en-IN" sz="2400">
                    <a:solidFill>
                      <a:srgbClr val="111827"/>
                    </a:solidFill>
                    <a:latin typeface="Cambria Math" panose="02040503050406030204" pitchFamily="18" charset="0"/>
                  </a:rPr>
                  <a:t>$R$</a:t>
                </a:r>
                <a:r>
                  <a:rPr sz="2400" b="0">
                    <a:solidFill>
                      <a:srgbClr val="111827"/>
                    </a:solidFill>
                    <a:latin typeface="Arial"/>
                  </a:rPr>
                  <a:t> on </a:t>
                </a:r>
                <a:r>
                  <a:rPr lang="en-IN" sz="2400">
                    <a:solidFill>
                      <a:srgbClr val="111827"/>
                    </a:solidFill>
                    <a:latin typeface="Cambria Math" panose="02040503050406030204" pitchFamily="18" charset="0"/>
                  </a:rPr>
                  <a:t>$N$</a:t>
                </a:r>
                <a:r>
                  <a:rPr sz="2400" b="0">
                    <a:solidFill>
                      <a:srgbClr val="111827"/>
                    </a:solidFill>
                    <a:latin typeface="Arial"/>
                  </a:rPr>
                  <a:t> given by </a:t>
                </a:r>
                <a:r>
                  <a:rPr lang="en-IN" sz="2400">
                    <a:solidFill>
                      <a:srgbClr val="111827"/>
                    </a:solidFill>
                    <a:latin typeface="Cambria Math" panose="02040503050406030204" pitchFamily="18" charset="0"/>
                  </a:rPr>
                  <a:t>$R=\{(x,y):3x+\alpha y \text{ is a multiple of } 7\}$</a:t>
                </a:r>
                <a:r>
                  <a:rPr sz="2400" b="0">
                    <a:solidFill>
                      <a:srgbClr val="111827"/>
                    </a:solidFill>
                    <a:latin typeface="Arial"/>
                  </a:rPr>
                  <a:t>. The relation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 and only if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$\alpha=14$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$\alpha$</a:t>
                </a:r>
                <a:r>
                  <a:rPr sz="2400" b="0">
                    <a:solidFill>
                      <a:srgbClr val="111827"/>
                    </a:solidFill>
                    <a:latin typeface="Arial"/>
                  </a:rPr>
                  <a:t> is a multiple of </a:t>
                </a:r>
                <a:r>
                  <a:rPr lang="en-IN" sz="2400">
                    <a:solidFill>
                      <a:srgbClr val="111827"/>
                    </a:solidFill>
                    <a:latin typeface="Cambria Math" panose="02040503050406030204" pitchFamily="18" charset="0"/>
                  </a:rPr>
                  <a:t>$4$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$4$</a:t>
                </a:r>
                <a:r>
                  <a:rPr sz="2400" b="0">
                    <a:solidFill>
                      <a:srgbClr val="111827"/>
                    </a:solidFill>
                    <a:latin typeface="Arial"/>
                  </a:rPr>
                  <a:t> is the remainder when </a:t>
                </a:r>
                <a:r>
                  <a:rPr lang="en-IN" sz="2400">
                    <a:solidFill>
                      <a:srgbClr val="111827"/>
                    </a:solidFill>
                    <a:latin typeface="Cambria Math" panose="02040503050406030204" pitchFamily="18" charset="0"/>
                  </a:rPr>
                  <a:t>$\alpha$</a:t>
                </a:r>
                <a:r>
                  <a:rPr sz="2400" b="0">
                    <a:solidFill>
                      <a:srgbClr val="111827"/>
                    </a:solidFill>
                    <a:latin typeface="Arial"/>
                  </a:rPr>
                  <a:t> is divided by </a:t>
                </a:r>
                <a:r>
                  <a:rPr lang="en-IN" sz="2400">
                    <a:solidFill>
                      <a:srgbClr val="111827"/>
                    </a:solidFill>
                    <a:latin typeface="Cambria Math" panose="02040503050406030204" pitchFamily="18" charset="0"/>
                  </a:rPr>
                  <a:t>$10$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$4$</a:t>
                </a:r>
                <a:r>
                  <a:rPr sz="2400" b="0">
                    <a:solidFill>
                      <a:srgbClr val="111827"/>
                    </a:solidFill>
                    <a:latin typeface="Arial"/>
                  </a:rPr>
                  <a:t> is the remainder when </a:t>
                </a:r>
                <a:r>
                  <a:rPr lang="en-IN" sz="2400">
                    <a:solidFill>
                      <a:srgbClr val="111827"/>
                    </a:solidFill>
                    <a:latin typeface="Cambria Math" panose="02040503050406030204" pitchFamily="18" charset="0"/>
                  </a:rPr>
                  <a:t>$\alpha$</a:t>
                </a:r>
                <a:r>
                  <a:rPr sz="2400" b="0">
                    <a:solidFill>
                      <a:srgbClr val="111827"/>
                    </a:solidFill>
                    <a:latin typeface="Arial"/>
                  </a:rPr>
                  <a:t> is divided by </a:t>
                </a:r>
                <a:r>
                  <a:rPr lang="en-IN" sz="2400">
                    <a:solidFill>
                      <a:srgbClr val="111827"/>
                    </a:solidFill>
                    <a:latin typeface="Cambria Math" panose="02040503050406030204" pitchFamily="18" charset="0"/>
                  </a:rPr>
                  <a:t>$7$</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 (congruence modulo 7)</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Reflexivity forces </a:t>
                </a:r>
                <a14:m>
                  <m:oMath xmlns:m="http://schemas.openxmlformats.org/officeDocument/2006/math">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for all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i.e.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then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 congruence relation.</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Reflexivity forces </a:t>
                </a:r>
                <a:r>
                  <a:rPr lang="en-IN" sz="2400">
                    <a:solidFill>
                      <a:srgbClr val="78350F"/>
                    </a:solidFill>
                    <a:latin typeface="Cambria Math" panose="02040503050406030204" pitchFamily="18" charset="0"/>
                  </a:rPr>
                  <a:t>$7\mid(3+\alpha)x$</a:t>
                </a:r>
                <a:r>
                  <a:rPr sz="2400" b="0">
                    <a:solidFill>
                      <a:srgbClr val="78350F"/>
                    </a:solidFill>
                    <a:latin typeface="Arial"/>
                  </a:rPr>
                  <a:t> for all </a:t>
                </a:r>
                <a:r>
                  <a:rPr lang="en-IN" sz="2400">
                    <a:solidFill>
                      <a:srgbClr val="78350F"/>
                    </a:solidFill>
                    <a:latin typeface="Cambria Math" panose="02040503050406030204" pitchFamily="18" charset="0"/>
                  </a:rPr>
                  <a:t>$x$</a:t>
                </a:r>
                <a:r>
                  <a:rPr sz="2400" b="0">
                    <a:solidFill>
                      <a:srgbClr val="78350F"/>
                    </a:solidFill>
                    <a:latin typeface="Arial"/>
                  </a:rPr>
                  <a:t>, i.e. </a:t>
                </a:r>
                <a:r>
                  <a:rPr lang="en-IN" sz="2400">
                    <a:solidFill>
                      <a:srgbClr val="78350F"/>
                    </a:solidFill>
                    <a:latin typeface="Cambria Math" panose="02040503050406030204" pitchFamily="18" charset="0"/>
                  </a:rPr>
                  <a:t>$\alpha\equiv4\pmod7$</a:t>
                </a:r>
                <a:r>
                  <a:rPr sz="2400" b="0">
                    <a:solidFill>
                      <a:srgbClr val="78350F"/>
                    </a:solidFill>
                    <a:latin typeface="Arial"/>
                  </a:rPr>
                  <a:t>, and then </a:t>
                </a:r>
                <a:r>
                  <a:rPr lang="en-IN" sz="2400">
                    <a:solidFill>
                      <a:srgbClr val="78350F"/>
                    </a:solidFill>
                    <a:latin typeface="Cambria Math" panose="02040503050406030204" pitchFamily="18" charset="0"/>
                  </a:rPr>
                  <a:t>$3x+\alpha y\equiv3(x-y)$</a:t>
                </a:r>
                <a:r>
                  <a:rPr sz="2400" b="0">
                    <a:solidFill>
                      <a:srgbClr val="78350F"/>
                    </a:solidFill>
                    <a:latin typeface="Arial"/>
                  </a:rPr>
                  <a:t>, a congruence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𝐾</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λ</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leaves remainder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 division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$(x,x)\in R$</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means </a:t>
                </a:r>
                <a:r>
                  <a:rPr lang="en-IN" sz="2400">
                    <a:solidFill>
                      <a:srgbClr val="111827"/>
                    </a:solidFill>
                    <a:latin typeface="Cambria Math" panose="02040503050406030204" pitchFamily="18" charset="0"/>
                  </a:rPr>
                  <a:t>$3x+\alpha x=(3+\alpha)x=7K$</a:t>
                </a:r>
                <a:r>
                  <a:rPr sz="2400" b="0">
                    <a:solidFill>
                      <a:srgbClr val="111827"/>
                    </a:solidFill>
                    <a:latin typeface="Arial"/>
                  </a:rPr>
                  <a:t> for every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$3+\alpha=7\lambda$</a:t>
                </a:r>
                <a:r>
                  <a:rPr sz="2400" b="0">
                    <a:solidFill>
                      <a:srgbClr val="111827"/>
                    </a:solidFill>
                    <a:latin typeface="Arial"/>
                  </a:rPr>
                  <a:t>, so </a:t>
                </a:r>
                <a:r>
                  <a:rPr lang="en-IN" sz="2400">
                    <a:solidFill>
                      <a:srgbClr val="111827"/>
                    </a:solidFill>
                    <a:latin typeface="Cambria Math" panose="02040503050406030204" pitchFamily="18" charset="0"/>
                  </a:rPr>
                  <a:t>$\alpha=7\lambda-3=7N+4$</a:t>
                </a:r>
                <a:r>
                  <a:rPr sz="2400" b="0">
                    <a:solidFill>
                      <a:srgbClr val="111827"/>
                    </a:solidFill>
                    <a:latin typeface="Arial"/>
                  </a:rPr>
                  <a:t>. So </a:t>
                </a:r>
                <a:r>
                  <a:rPr lang="en-IN" sz="2400">
                    <a:solidFill>
                      <a:srgbClr val="111827"/>
                    </a:solidFill>
                    <a:latin typeface="Cambria Math" panose="02040503050406030204" pitchFamily="18" charset="0"/>
                  </a:rPr>
                  <a:t>$\alpha$</a:t>
                </a:r>
                <a:r>
                  <a:rPr sz="2400" b="0">
                    <a:solidFill>
                      <a:srgbClr val="111827"/>
                    </a:solidFill>
                    <a:latin typeface="Arial"/>
                  </a:rPr>
                  <a:t> leaves remainder </a:t>
                </a:r>
                <a:r>
                  <a:rPr lang="en-IN" sz="2400">
                    <a:solidFill>
                      <a:srgbClr val="111827"/>
                    </a:solidFill>
                    <a:latin typeface="Cambria Math" panose="02040503050406030204" pitchFamily="18" charset="0"/>
                  </a:rPr>
                  <a:t>$4$</a:t>
                </a:r>
                <a:r>
                  <a:rPr sz="2400" b="0">
                    <a:solidFill>
                      <a:srgbClr val="111827"/>
                    </a:solidFill>
                    <a:latin typeface="Arial"/>
                  </a:rPr>
                  <a:t> on division by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oMath>
                </a14:m>
                <a:r>
                  <a:rPr sz="2400" b="0">
                    <a:solidFill>
                      <a:srgbClr val="111827"/>
                    </a:solidFill>
                    <a:latin typeface="Arial"/>
                  </a:rPr>
                  <a:t> to be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Adding,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holds when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again.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We want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oMath>
                </a14:m>
                <a:r>
                  <a:rPr sz="2400" b="0">
                    <a:solidFill>
                      <a:srgbClr val="111827"/>
                    </a:solidFill>
                    <a:latin typeface="Arial"/>
                  </a:rPr>
                  <a:t> to be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exactly when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which holds for all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 (Check: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has remainder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so (A) fails.)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$xRy$</a:t>
                </a:r>
                <a:r>
                  <a:rPr sz="2400" b="0">
                    <a:solidFill>
                      <a:srgbClr val="111827"/>
                    </a:solidFill>
                    <a:latin typeface="Arial"/>
                  </a:rPr>
                  <a:t> gives </a:t>
                </a:r>
                <a:r>
                  <a:rPr lang="en-IN" sz="2400">
                    <a:solidFill>
                      <a:srgbClr val="111827"/>
                    </a:solidFill>
                    <a:latin typeface="Cambria Math" panose="02040503050406030204" pitchFamily="18" charset="0"/>
                  </a:rPr>
                  <a:t>$3x+\alpha y=7N_1$</a:t>
                </a:r>
                <a:r>
                  <a:rPr sz="2400" b="0">
                    <a:solidFill>
                      <a:srgbClr val="111827"/>
                    </a:solidFill>
                    <a:latin typeface="Arial"/>
                  </a:rPr>
                  <a:t>; we need </a:t>
                </a:r>
                <a:r>
                  <a:rPr lang="en-IN" sz="2400">
                    <a:solidFill>
                      <a:srgbClr val="111827"/>
                    </a:solidFill>
                    <a:latin typeface="Cambria Math" panose="02040503050406030204" pitchFamily="18" charset="0"/>
                  </a:rPr>
                  <a:t>$3y+\alpha x$</a:t>
                </a:r>
                <a:r>
                  <a:rPr sz="2400" b="0">
                    <a:solidFill>
                      <a:srgbClr val="111827"/>
                    </a:solidFill>
                    <a:latin typeface="Arial"/>
                  </a:rPr>
                  <a:t> to be a multiple of </a:t>
                </a:r>
                <a:r>
                  <a:rPr lang="en-IN" sz="2400">
                    <a:solidFill>
                      <a:srgbClr val="111827"/>
                    </a:solidFill>
                    <a:latin typeface="Cambria Math" panose="02040503050406030204" pitchFamily="18" charset="0"/>
                  </a:rPr>
                  <a:t>$7$</a:t>
                </a:r>
                <a:r>
                  <a:rPr sz="2400" b="0">
                    <a:solidFill>
                      <a:srgbClr val="111827"/>
                    </a:solidFill>
                    <a:latin typeface="Arial"/>
                  </a:rPr>
                  <a:t>. Adding, </a:t>
                </a:r>
                <a:r>
                  <a:rPr lang="en-IN" sz="2400">
                    <a:solidFill>
                      <a:srgbClr val="111827"/>
                    </a:solidFill>
                    <a:latin typeface="Cambria Math" panose="02040503050406030204" pitchFamily="18" charset="0"/>
                  </a:rPr>
                  <a:t>$(3+\alpha)(x+y)=7(N_1+N_2)$</a:t>
                </a:r>
                <a:r>
                  <a:rPr sz="2400" b="0">
                    <a:solidFill>
                      <a:srgbClr val="111827"/>
                    </a:solidFill>
                    <a:latin typeface="Arial"/>
                  </a:rPr>
                  <a:t>, which holds when </a:t>
                </a:r>
                <a:r>
                  <a:rPr lang="en-IN" sz="2400">
                    <a:solidFill>
                      <a:srgbClr val="111827"/>
                    </a:solidFill>
                    <a:latin typeface="Cambria Math" panose="02040503050406030204" pitchFamily="18" charset="0"/>
                  </a:rPr>
                  <a:t>$3+\alpha$</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i.e. </a:t>
                </a:r>
                <a:r>
                  <a:rPr lang="en-IN" sz="2400">
                    <a:solidFill>
                      <a:srgbClr val="111827"/>
                    </a:solidFill>
                    <a:latin typeface="Cambria Math" panose="02040503050406030204" pitchFamily="18" charset="0"/>
                  </a:rPr>
                  <a:t>$\alpha=7N+4$</a:t>
                </a:r>
                <a:r>
                  <a:rPr sz="2400" b="0">
                    <a:solidFill>
                      <a:srgbClr val="111827"/>
                    </a:solidFill>
                    <a:latin typeface="Arial"/>
                  </a:rPr>
                  <a:t> again.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$3x+\alpha y=7N_1$</a:t>
                </a:r>
                <a:r>
                  <a:rPr sz="2400" b="0">
                    <a:solidFill>
                      <a:srgbClr val="111827"/>
                    </a:solidFill>
                    <a:latin typeface="Arial"/>
                  </a:rPr>
                  <a:t> and </a:t>
                </a:r>
                <a:r>
                  <a:rPr lang="en-IN" sz="2400">
                    <a:solidFill>
                      <a:srgbClr val="111827"/>
                    </a:solidFill>
                    <a:latin typeface="Cambria Math" panose="02040503050406030204" pitchFamily="18" charset="0"/>
                  </a:rPr>
                  <a:t>$3y+\alpha z=7N_2$</a:t>
                </a:r>
                <a:r>
                  <a:rPr sz="2400" b="0">
                    <a:solidFill>
                      <a:srgbClr val="111827"/>
                    </a:solidFill>
                    <a:latin typeface="Arial"/>
                  </a:rPr>
                  <a:t>. We want </a:t>
                </a:r>
                <a:r>
                  <a:rPr lang="en-IN" sz="2400">
                    <a:solidFill>
                      <a:srgbClr val="111827"/>
                    </a:solidFill>
                    <a:latin typeface="Cambria Math" panose="02040503050406030204" pitchFamily="18" charset="0"/>
                  </a:rPr>
                  <a:t>$3x+\alpha z$</a:t>
                </a:r>
                <a:r>
                  <a:rPr sz="2400" b="0">
                    <a:solidFill>
                      <a:srgbClr val="111827"/>
                    </a:solidFill>
                    <a:latin typeface="Arial"/>
                  </a:rPr>
                  <a:t> to be a multiple of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$3x+\alpha z=3x+(7N_2-3y)=(7N_1-\alpha y)+7N_2-3y=7(N_1+N_2)-(3+\alpha)y$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multiple of </a:t>
                </a:r>
                <a:r>
                  <a:rPr lang="en-IN" sz="2400">
                    <a:solidFill>
                      <a:srgbClr val="111827"/>
                    </a:solidFill>
                    <a:latin typeface="Cambria Math" panose="02040503050406030204" pitchFamily="18" charset="0"/>
                  </a:rPr>
                  <a:t>$7$</a:t>
                </a:r>
                <a:r>
                  <a:rPr sz="2400" b="0">
                    <a:solidFill>
                      <a:srgbClr val="111827"/>
                    </a:solidFill>
                    <a:latin typeface="Arial"/>
                  </a:rPr>
                  <a:t> exactly when </a:t>
                </a:r>
                <a:r>
                  <a:rPr lang="en-IN" sz="2400">
                    <a:solidFill>
                      <a:srgbClr val="111827"/>
                    </a:solidFill>
                    <a:latin typeface="Cambria Math" panose="02040503050406030204" pitchFamily="18" charset="0"/>
                  </a:rPr>
                  <a:t>$(3+\alpha)y$</a:t>
                </a:r>
                <a:r>
                  <a:rPr sz="2400" b="0">
                    <a:solidFill>
                      <a:srgbClr val="111827"/>
                    </a:solidFill>
                    <a:latin typeface="Arial"/>
                  </a:rPr>
                  <a:t> is, which holds for all </a:t>
                </a:r>
                <a:r>
                  <a:rPr lang="en-IN" sz="2400">
                    <a:solidFill>
                      <a:srgbClr val="111827"/>
                    </a:solidFill>
                    <a:latin typeface="Cambria Math" panose="02040503050406030204" pitchFamily="18" charset="0"/>
                  </a:rPr>
                  <a:t>$y$</a:t>
                </a:r>
                <a:r>
                  <a:rPr sz="2400" b="0">
                    <a:solidFill>
                      <a:srgbClr val="111827"/>
                    </a:solidFill>
                    <a:latin typeface="Arial"/>
                  </a:rPr>
                  <a:t> when </a:t>
                </a:r>
                <a:r>
                  <a:rPr lang="en-IN" sz="2400">
                    <a:solidFill>
                      <a:srgbClr val="111827"/>
                    </a:solidFill>
                    <a:latin typeface="Cambria Math" panose="02040503050406030204" pitchFamily="18" charset="0"/>
                  </a:rPr>
                  <a:t>$\alpha=7N+4$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iff </a:t>
                </a:r>
                <a:r>
                  <a:rPr lang="en-IN" sz="2400">
                    <a:solidFill>
                      <a:srgbClr val="111827"/>
                    </a:solidFill>
                    <a:latin typeface="Cambria Math" panose="02040503050406030204" pitchFamily="18" charset="0"/>
                  </a:rPr>
                  <a:t>$\alpha\equiv4\pmod7$</a:t>
                </a:r>
                <a:r>
                  <a:rPr sz="2400" b="0">
                    <a:solidFill>
                      <a:srgbClr val="111827"/>
                    </a:solidFill>
                    <a:latin typeface="Arial"/>
                  </a:rPr>
                  <a:t>: option (D). (Check: </a:t>
                </a:r>
                <a:r>
                  <a:rPr lang="en-IN" sz="2400">
                    <a:solidFill>
                      <a:srgbClr val="111827"/>
                    </a:solidFill>
                    <a:latin typeface="Cambria Math" panose="02040503050406030204" pitchFamily="18" charset="0"/>
                  </a:rPr>
                  <a:t>$\alpha=14$</a:t>
                </a:r>
                <a:r>
                  <a:rPr sz="2400" b="0">
                    <a:solidFill>
                      <a:srgbClr val="111827"/>
                    </a:solidFill>
                    <a:latin typeface="Arial"/>
                  </a:rPr>
                  <a:t> has remainder </a:t>
                </a:r>
                <a:r>
                  <a:rPr lang="en-IN" sz="2400">
                    <a:solidFill>
                      <a:srgbClr val="111827"/>
                    </a:solidFill>
                    <a:latin typeface="Cambria Math" panose="02040503050406030204" pitchFamily="18" charset="0"/>
                  </a:rPr>
                  <a:t>$0$</a:t>
                </a:r>
                <a:r>
                  <a:rPr sz="2400" b="0">
                    <a:solidFill>
                      <a:srgbClr val="111827"/>
                    </a:solidFill>
                    <a:latin typeface="Arial"/>
                  </a:rPr>
                  <a:t> mod </a:t>
                </a:r>
                <a:r>
                  <a:rPr lang="en-IN" sz="2400">
                    <a:solidFill>
                      <a:srgbClr val="111827"/>
                    </a:solidFill>
                    <a:latin typeface="Cambria Math" panose="02040503050406030204" pitchFamily="18" charset="0"/>
                  </a:rPr>
                  <a:t>$7$</a:t>
                </a:r>
                <a:r>
                  <a:rPr sz="2400" b="0">
                    <a:solidFill>
                      <a:srgbClr val="111827"/>
                    </a:solidFill>
                    <a:latin typeface="Arial"/>
                  </a:rPr>
                  <a:t>, so (A) fails.)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4</m:t>
                    </m:r>
                  </m:oMath>
                </a14:m>
                <a:r>
                  <a:rPr sz="2800" b="1">
                    <a:solidFill>
                      <a:srgbClr val="15803D"/>
                    </a:solidFill>
                    <a:latin typeface="Arial"/>
                  </a:rPr>
                  <a:t> is the remainder when </a:t>
                </a:r>
                <a14:m>
                  <m:oMath xmlns:m="http://schemas.openxmlformats.org/officeDocument/2006/math">
                    <m:r>
                      <a:rPr lang="en-IN" sz="2800" i="1">
                        <a:solidFill>
                          <a:srgbClr val="15803D"/>
                        </a:solidFill>
                        <a:latin typeface="Cambria Math" panose="02040503050406030204" pitchFamily="18" charset="0"/>
                      </a:rPr>
                      <m:t>α</m:t>
                    </m:r>
                  </m:oMath>
                </a14:m>
                <a:r>
                  <a:rPr sz="2800" b="1">
                    <a:solidFill>
                      <a:srgbClr val="15803D"/>
                    </a:solidFill>
                    <a:latin typeface="Arial"/>
                  </a:rPr>
                  <a:t> is divided by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$4$</a:t>
                </a:r>
                <a:r>
                  <a:rPr sz="2800" b="1">
                    <a:solidFill>
                      <a:srgbClr val="15803D"/>
                    </a:solidFill>
                    <a:latin typeface="Arial"/>
                  </a:rPr>
                  <a:t> is the remainder when </a:t>
                </a:r>
                <a:r>
                  <a:rPr lang="en-IN" sz="2800">
                    <a:solidFill>
                      <a:srgbClr val="15803D"/>
                    </a:solidFill>
                    <a:latin typeface="Cambria Math" panose="02040503050406030204" pitchFamily="18" charset="0"/>
                  </a:rPr>
                  <a:t>$\alpha$</a:t>
                </a:r>
                <a:r>
                  <a:rPr sz="2800" b="1">
                    <a:solidFill>
                      <a:srgbClr val="15803D"/>
                    </a:solidFill>
                    <a:latin typeface="Arial"/>
                  </a:rPr>
                  <a:t> is divided by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forced, reduce the relation mod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is invertible mod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just 'congruent mod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a:t>
                </a:r>
                <a:r>
                  <a:rPr lang="en-IN" sz="2400">
                    <a:solidFill>
                      <a:srgbClr val="78350F"/>
                    </a:solidFill>
                    <a:latin typeface="Cambria Math" panose="02040503050406030204" pitchFamily="18" charset="0"/>
                  </a:rPr>
                  <a:t>$\alpha\equiv4\pmod7$</a:t>
                </a:r>
                <a:r>
                  <a:rPr sz="2400" b="0">
                    <a:solidFill>
                      <a:srgbClr val="78350F"/>
                    </a:solidFill>
                    <a:latin typeface="Arial"/>
                  </a:rPr>
                  <a:t> is forced, reduce the relation mod </a:t>
                </a:r>
                <a:r>
                  <a:rPr lang="en-IN" sz="2400">
                    <a:solidFill>
                      <a:srgbClr val="78350F"/>
                    </a:solidFill>
                    <a:latin typeface="Cambria Math" panose="02040503050406030204" pitchFamily="18" charset="0"/>
                  </a:rPr>
                  <a:t>$7$</a:t>
                </a:r>
                <a:r>
                  <a:rPr sz="2400" b="0">
                    <a:solidFill>
                      <a:srgbClr val="78350F"/>
                    </a:solidFill>
                    <a:latin typeface="Arial"/>
                  </a:rPr>
                  <a:t>: </a:t>
                </a:r>
                <a:r>
                  <a:rPr lang="en-IN" sz="2400">
                    <a:solidFill>
                      <a:srgbClr val="78350F"/>
                    </a:solidFill>
                    <a:latin typeface="Cambria Math" panose="02040503050406030204" pitchFamily="18" charset="0"/>
                  </a:rPr>
                  <a:t>$3x+\alpha y\equiv3(x-y)$</a:t>
                </a:r>
                <a:r>
                  <a:rPr sz="2400" b="0">
                    <a:solidFill>
                      <a:srgbClr val="78350F"/>
                    </a:solidFill>
                    <a:latin typeface="Arial"/>
                  </a:rPr>
                  <a:t>, and </a:t>
                </a:r>
                <a:r>
                  <a:rPr lang="en-IN" sz="2400">
                    <a:solidFill>
                      <a:srgbClr val="78350F"/>
                    </a:solidFill>
                    <a:latin typeface="Cambria Math" panose="02040503050406030204" pitchFamily="18" charset="0"/>
                  </a:rPr>
                  <a:t>$3$</a:t>
                </a:r>
                <a:r>
                  <a:rPr sz="2400" b="0">
                    <a:solidFill>
                      <a:srgbClr val="78350F"/>
                    </a:solidFill>
                    <a:latin typeface="Arial"/>
                  </a:rPr>
                  <a:t> is invertible mod </a:t>
                </a:r>
                <a:r>
                  <a:rPr lang="en-IN" sz="2400">
                    <a:solidFill>
                      <a:srgbClr val="78350F"/>
                    </a:solidFill>
                    <a:latin typeface="Cambria Math" panose="02040503050406030204" pitchFamily="18" charset="0"/>
                  </a:rPr>
                  <a:t>$7$</a:t>
                </a:r>
                <a:r>
                  <a:rPr sz="2400" b="0">
                    <a:solidFill>
                      <a:srgbClr val="78350F"/>
                    </a:solidFill>
                    <a:latin typeface="Arial"/>
                  </a:rPr>
                  <a:t>, so </a:t>
                </a:r>
                <a:r>
                  <a:rPr lang="en-IN" sz="2400">
                    <a:solidFill>
                      <a:srgbClr val="78350F"/>
                    </a:solidFill>
                    <a:latin typeface="Cambria Math" panose="02040503050406030204" pitchFamily="18" charset="0"/>
                  </a:rPr>
                  <a:t>$R$</a:t>
                </a:r>
                <a:r>
                  <a:rPr sz="2400" b="0">
                    <a:solidFill>
                      <a:srgbClr val="78350F"/>
                    </a:solidFill>
                    <a:latin typeface="Arial"/>
                  </a:rPr>
                  <a:t> is just 'congruent mod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is necessary.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if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all </a:t>
                </a:r>
                <a:r>
                  <a:rPr lang="en-IN" sz="2400">
                    <a:solidFill>
                      <a:srgbClr val="111827"/>
                    </a:solidFill>
                    <a:latin typeface="Cambria Math" panose="02040503050406030204" pitchFamily="18" charset="0"/>
                  </a:rPr>
                  <a:t>$x$</a:t>
                </a:r>
                <a:r>
                  <a:rPr sz="2400" b="0">
                    <a:solidFill>
                      <a:srgbClr val="111827"/>
                    </a:solidFill>
                    <a:latin typeface="Arial"/>
                  </a:rPr>
                  <a:t> forces </a:t>
                </a:r>
                <a:r>
                  <a:rPr lang="en-IN" sz="2400">
                    <a:solidFill>
                      <a:srgbClr val="111827"/>
                    </a:solidFill>
                    <a:latin typeface="Cambria Math" panose="02040503050406030204" pitchFamily="18" charset="0"/>
                  </a:rPr>
                  <a:t>$7\mid(3+\alpha)$</a:t>
                </a:r>
                <a:r>
                  <a:rPr sz="2400" b="0">
                    <a:solidFill>
                      <a:srgbClr val="111827"/>
                    </a:solidFill>
                    <a:latin typeface="Arial"/>
                  </a:rPr>
                  <a:t> (take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$\alpha\equiv-3\equiv4\pmod7$</a:t>
                </a:r>
                <a:r>
                  <a:rPr sz="2400" b="0">
                    <a:solidFill>
                      <a:srgbClr val="111827"/>
                    </a:solidFill>
                    <a:latin typeface="Arial"/>
                  </a:rPr>
                  <a:t>: this is necessary.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if </a:t>
                </a:r>
                <a:r>
                  <a:rPr lang="en-IN" sz="2400">
                    <a:solidFill>
                      <a:srgbClr val="111827"/>
                    </a:solidFill>
                    <a:latin typeface="Cambria Math" panose="02040503050406030204" pitchFamily="18" charset="0"/>
                  </a:rPr>
                  <a:t>$\alpha\equiv4\pmod7$</a:t>
                </a:r>
                <a:r>
                  <a:rPr sz="2400" b="0">
                    <a:solidFill>
                      <a:srgbClr val="111827"/>
                    </a:solidFill>
                    <a:latin typeface="Arial"/>
                  </a:rPr>
                  <a:t> then </a:t>
                </a:r>
                <a:r>
                  <a:rPr lang="en-IN" sz="2400">
                    <a:solidFill>
                      <a:srgbClr val="111827"/>
                    </a:solidFill>
                    <a:latin typeface="Cambria Math" panose="02040503050406030204" pitchFamily="18" charset="0"/>
                  </a:rPr>
                  <a:t>$3x+\alpha y\equiv3x+4y\equiv3x-3y=3(x-y)\pmod7$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$\gcd(3,7)=1$</a:t>
                </a:r>
                <a:r>
                  <a:rPr sz="2400" b="0">
                    <a:solidFill>
                      <a:srgbClr val="111827"/>
                    </a:solidFill>
                    <a:latin typeface="Arial"/>
                  </a:rPr>
                  <a:t>, </a:t>
                </a:r>
                <a:r>
                  <a:rPr lang="en-IN" sz="2400">
                    <a:solidFill>
                      <a:srgbClr val="111827"/>
                    </a:solidFill>
                    <a:latin typeface="Cambria Math" panose="02040503050406030204" pitchFamily="18" charset="0"/>
                  </a:rPr>
                  <a:t>$7\mid3(x-y)\iff7\mid(x-y)$</a:t>
                </a:r>
                <a:r>
                  <a:rPr sz="2400" b="0">
                    <a:solidFill>
                      <a:srgbClr val="111827"/>
                    </a:solidFill>
                    <a:latin typeface="Arial"/>
                  </a:rPr>
                  <a:t>. So </a:t>
                </a:r>
                <a:r>
                  <a:rPr lang="en-IN" sz="2400">
                    <a:solidFill>
                      <a:srgbClr val="111827"/>
                    </a:solidFill>
                    <a:latin typeface="Cambria Math" panose="02040503050406030204" pitchFamily="18" charset="0"/>
                  </a:rPr>
                  <a:t>$xRy\iff x\equiv y\pmod7$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 reflexive, symmetric and transitive,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r>
                  <a:rPr lang="en-IN" sz="2400">
                    <a:solidFill>
                      <a:srgbClr val="111827"/>
                    </a:solidFill>
                    <a:latin typeface="Cambria Math" panose="02040503050406030204" pitchFamily="18" charset="0"/>
                  </a:rPr>
                  <a:t>$7$</a:t>
                </a:r>
                <a:r>
                  <a:rPr sz="2400" b="0">
                    <a:solidFill>
                      <a:srgbClr val="111827"/>
                    </a:solidFill>
                    <a:latin typeface="Arial"/>
                  </a:rPr>
                  <a:t> is reflexive, symmetric and transitive, 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iff </a:t>
                </a:r>
                <a:r>
                  <a:rPr lang="en-IN" sz="2400">
                    <a:solidFill>
                      <a:srgbClr val="111827"/>
                    </a:solidFill>
                    <a:latin typeface="Cambria Math" panose="02040503050406030204" pitchFamily="18" charset="0"/>
                  </a:rPr>
                  <a:t>$\alpha\equiv4\pmod7$</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4</m:t>
                    </m:r>
                  </m:oMath>
                </a14:m>
                <a:r>
                  <a:rPr sz="2800" b="1">
                    <a:solidFill>
                      <a:srgbClr val="15803D"/>
                    </a:solidFill>
                    <a:latin typeface="Arial"/>
                  </a:rPr>
                  <a:t> is the remainder when </a:t>
                </a:r>
                <a14:m>
                  <m:oMath xmlns:m="http://schemas.openxmlformats.org/officeDocument/2006/math">
                    <m:r>
                      <a:rPr lang="en-IN" sz="2800" i="1">
                        <a:solidFill>
                          <a:srgbClr val="15803D"/>
                        </a:solidFill>
                        <a:latin typeface="Cambria Math" panose="02040503050406030204" pitchFamily="18" charset="0"/>
                      </a:rPr>
                      <m:t>α</m:t>
                    </m:r>
                  </m:oMath>
                </a14:m>
                <a:r>
                  <a:rPr sz="2800" b="1">
                    <a:solidFill>
                      <a:srgbClr val="15803D"/>
                    </a:solidFill>
                    <a:latin typeface="Arial"/>
                  </a:rPr>
                  <a:t> is divided by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$4$</a:t>
                </a:r>
                <a:r>
                  <a:rPr sz="2800" b="1">
                    <a:solidFill>
                      <a:srgbClr val="15803D"/>
                    </a:solidFill>
                    <a:latin typeface="Arial"/>
                  </a:rPr>
                  <a:t> is the remainder when </a:t>
                </a:r>
                <a:r>
                  <a:rPr lang="en-IN" sz="2800">
                    <a:solidFill>
                      <a:srgbClr val="15803D"/>
                    </a:solidFill>
                    <a:latin typeface="Cambria Math" panose="02040503050406030204" pitchFamily="18" charset="0"/>
                  </a:rPr>
                  <a:t>$\alpha$</a:t>
                </a:r>
                <a:r>
                  <a:rPr sz="2800" b="1">
                    <a:solidFill>
                      <a:srgbClr val="15803D"/>
                    </a:solidFill>
                    <a:latin typeface="Arial"/>
                  </a:rPr>
                  <a:t> is divided by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prime modulus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reflexive iff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then equivalent to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of congruence mod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are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residue classes; 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classes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here are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residue classes mod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'iff' is asked, show necessity (from reflexivity) and sufficiency (all three properties) separately.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prime modulus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$p\nmid c$</a:t>
                </a:r>
                <a:r>
                  <a:rPr sz="2400" b="0">
                    <a:solidFill>
                      <a:srgbClr val="111827"/>
                    </a:solidFill>
                    <a:latin typeface="Arial"/>
                  </a:rPr>
                  <a:t>: </a:t>
                </a:r>
                <a:r>
                  <a:rPr lang="en-IN" sz="2400">
                    <a:solidFill>
                      <a:srgbClr val="111827"/>
                    </a:solidFill>
                    <a:latin typeface="Cambria Math" panose="02040503050406030204" pitchFamily="18" charset="0"/>
                  </a:rPr>
                  <a:t>$p\mid c\,m\iff p\mid m$</a:t>
                </a:r>
                <a:r>
                  <a:rPr sz="2400" b="0">
                    <a:solidFill>
                      <a:srgbClr val="111827"/>
                    </a:solidFill>
                    <a:latin typeface="Arial"/>
                  </a:rPr>
                  <a:t> - so </a:t>
                </a:r>
                <a:r>
                  <a:rPr lang="en-IN" sz="2400">
                    <a:solidFill>
                      <a:srgbClr val="111827"/>
                    </a:solidFill>
                    <a:latin typeface="Cambria Math" panose="02040503050406030204" pitchFamily="18" charset="0"/>
                  </a:rPr>
                  <a:t>$c(x-y)\equiv0\pmod p\iff x\equiv y\pmod 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r>
                  <a:rPr lang="en-IN" sz="2400">
                    <a:solidFill>
                      <a:srgbClr val="111827"/>
                    </a:solidFill>
                    <a:latin typeface="Cambria Math" panose="02040503050406030204" pitchFamily="18" charset="0"/>
                  </a:rPr>
                  <a:t>$ax+by\equiv0\pmod n$</a:t>
                </a:r>
                <a:r>
                  <a:rPr sz="2400" b="0">
                    <a:solidFill>
                      <a:srgbClr val="111827"/>
                    </a:solidFill>
                    <a:latin typeface="Arial"/>
                  </a:rPr>
                  <a:t> is reflexive iff </a:t>
                </a:r>
                <a:r>
                  <a:rPr lang="en-IN" sz="2400">
                    <a:solidFill>
                      <a:srgbClr val="111827"/>
                    </a:solidFill>
                    <a:latin typeface="Cambria Math" panose="02040503050406030204" pitchFamily="18" charset="0"/>
                  </a:rPr>
                  <a:t>$n\mid(a+b)$</a:t>
                </a:r>
                <a:r>
                  <a:rPr sz="2400" b="0">
                    <a:solidFill>
                      <a:srgbClr val="111827"/>
                    </a:solidFill>
                    <a:latin typeface="Arial"/>
                  </a:rPr>
                  <a:t>; it is then equivalent to </a:t>
                </a:r>
                <a:r>
                  <a:rPr lang="en-IN" sz="2400">
                    <a:solidFill>
                      <a:srgbClr val="111827"/>
                    </a:solidFill>
                    <a:latin typeface="Cambria Math" panose="02040503050406030204" pitchFamily="18" charset="0"/>
                  </a:rPr>
                  <a:t>$a(x-y)\equiv0$</a:t>
                </a:r>
                <a:r>
                  <a:rPr sz="2400" b="0">
                    <a:solidFill>
                      <a:srgbClr val="111827"/>
                    </a:solidFill>
                    <a:latin typeface="Arial"/>
                  </a:rPr>
                  <a:t> because </a:t>
                </a:r>
                <a:r>
                  <a:rPr lang="en-IN" sz="2400">
                    <a:solidFill>
                      <a:srgbClr val="111827"/>
                    </a:solidFill>
                    <a:latin typeface="Cambria Math" panose="02040503050406030204" pitchFamily="18" charset="0"/>
                  </a:rPr>
                  <a:t>$b\equiv-a$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classes of congruence mod </a:t>
                </a:r>
                <a:r>
                  <a:rPr lang="en-IN" sz="2400">
                    <a:solidFill>
                      <a:srgbClr val="111827"/>
                    </a:solidFill>
                    <a:latin typeface="Cambria Math" panose="02040503050406030204" pitchFamily="18" charset="0"/>
                  </a:rPr>
                  <a:t>$n$</a:t>
                </a:r>
                <a:r>
                  <a:rPr sz="2400" b="0">
                    <a:solidFill>
                      <a:srgbClr val="111827"/>
                    </a:solidFill>
                    <a:latin typeface="Arial"/>
                  </a:rPr>
                  <a:t> are the </a:t>
                </a:r>
                <a:r>
                  <a:rPr lang="en-IN" sz="2400">
                    <a:solidFill>
                      <a:srgbClr val="111827"/>
                    </a:solidFill>
                    <a:latin typeface="Cambria Math" panose="02040503050406030204" pitchFamily="18" charset="0"/>
                  </a:rPr>
                  <a:t>$n$</a:t>
                </a:r>
                <a:r>
                  <a:rPr sz="2400" b="0">
                    <a:solidFill>
                      <a:srgbClr val="111827"/>
                    </a:solidFill>
                    <a:latin typeface="Arial"/>
                  </a:rPr>
                  <a:t> residue classes; for </a:t>
                </a:r>
                <a:r>
                  <a:rPr lang="en-IN" sz="2400">
                    <a:solidFill>
                      <a:srgbClr val="111827"/>
                    </a:solidFill>
                    <a:latin typeface="Cambria Math" panose="02040503050406030204" pitchFamily="18" charset="0"/>
                  </a:rPr>
                  <a:t>$\alpha\equiv4$</a:t>
                </a:r>
                <a:r>
                  <a:rPr sz="2400" b="0">
                    <a:solidFill>
                      <a:srgbClr val="111827"/>
                    </a:solidFill>
                    <a:latin typeface="Arial"/>
                  </a:rPr>
                  <a:t>, the classes of </a:t>
                </a:r>
                <a:r>
                  <a:rPr lang="en-IN" sz="2400">
                    <a:solidFill>
                      <a:srgbClr val="111827"/>
                    </a:solidFill>
                    <a:latin typeface="Cambria Math" panose="02040503050406030204" pitchFamily="18" charset="0"/>
                  </a:rPr>
                  <a:t>$R$</a:t>
                </a:r>
                <a:r>
                  <a:rPr sz="2400" b="0">
                    <a:solidFill>
                      <a:srgbClr val="111827"/>
                    </a:solidFill>
                    <a:latin typeface="Arial"/>
                  </a:rPr>
                  <a:t> here are the </a:t>
                </a:r>
                <a:r>
                  <a:rPr lang="en-IN" sz="2400">
                    <a:solidFill>
                      <a:srgbClr val="111827"/>
                    </a:solidFill>
                    <a:latin typeface="Cambria Math" panose="02040503050406030204" pitchFamily="18" charset="0"/>
                  </a:rPr>
                  <a:t>$7$</a:t>
                </a:r>
                <a:r>
                  <a:rPr sz="2400" b="0">
                    <a:solidFill>
                      <a:srgbClr val="111827"/>
                    </a:solidFill>
                    <a:latin typeface="Arial"/>
                  </a:rPr>
                  <a:t> residue classes mod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'iff' is asked, show necessity (from reflexivity) and sufficiency (all three properties) separately.</a:t>
                </a:r>
                <a:endParaRPr sz="2400">
                  <a:solidFill>
                    <a:srgbClr val="111827"/>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itself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𝑤ℎ𝑒𝑟𝑒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nor/>
                      </m:rPr>
                      <a:rPr lang="en-IN" sz="2400" i="1">
                        <a:solidFill>
                          <a:srgbClr val="111827"/>
                        </a:solidFill>
                        <a:latin typeface="Cambria Math" panose="02040503050406030204" pitchFamily="18" charset="0"/>
                      </a:rPr>
                      <m:t> 𝑎𝑟𝑒 𝑝𝑟𝑖𝑚𝑒 𝑛𝑢𝑚𝑏𝑒𝑟𝑠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600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660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540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720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from the set </a:t>
                </a:r>
                <a:r>
                  <a:rPr lang="en-IN" sz="2400">
                    <a:solidFill>
                      <a:srgbClr val="111827"/>
                    </a:solidFill>
                    <a:latin typeface="Cambria Math" panose="02040503050406030204" pitchFamily="18" charset="0"/>
                  </a:rPr>
                  <a:t>$\{1,2,3,\ldots,60\}$</a:t>
                </a:r>
                <a:r>
                  <a:rPr sz="2400" b="0">
                    <a:solidFill>
                      <a:srgbClr val="111827"/>
                    </a:solidFill>
                    <a:latin typeface="Arial"/>
                  </a:rPr>
                  <a:t> to itself such that </a:t>
                </a:r>
                <a:r>
                  <a:rPr lang="en-IN" sz="2400">
                    <a:solidFill>
                      <a:srgbClr val="111827"/>
                    </a:solidFill>
                    <a:latin typeface="Cambria Math" panose="02040503050406030204" pitchFamily="18" charset="0"/>
                  </a:rPr>
                  <a:t>$R=\{(a,b):b=pq,\text{ where }p,q\ge3\text{ are prime numbers}\}$</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 : [JEE(Main) July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$600$</a:t>
                </a:r>
                <a:r>
                  <a:rPr sz="2400" b="0">
                    <a:solidFill>
                      <a:srgbClr val="111827"/>
                    </a:solidFill>
                    <a:latin typeface="Arial"/>
                  </a:rPr>
                  <a:t>   (B) </a:t>
                </a:r>
                <a:r>
                  <a:rPr lang="en-IN" sz="2400">
                    <a:solidFill>
                      <a:srgbClr val="111827"/>
                    </a:solidFill>
                    <a:latin typeface="Cambria Math" panose="02040503050406030204" pitchFamily="18" charset="0"/>
                  </a:rPr>
                  <a:t>$660$</a:t>
                </a:r>
                <a:r>
                  <a:rPr sz="2400" b="0">
                    <a:solidFill>
                      <a:srgbClr val="111827"/>
                    </a:solidFill>
                    <a:latin typeface="Arial"/>
                  </a:rPr>
                  <a:t>   (C) </a:t>
                </a:r>
                <a:r>
                  <a:rPr lang="en-IN" sz="2400">
                    <a:solidFill>
                      <a:srgbClr val="111827"/>
                    </a:solidFill>
                    <a:latin typeface="Cambria Math" panose="02040503050406030204" pitchFamily="18" charset="0"/>
                  </a:rPr>
                  <a:t>$540$</a:t>
                </a:r>
                <a:r>
                  <a:rPr sz="2400" b="0">
                    <a:solidFill>
                      <a:srgbClr val="111827"/>
                    </a:solidFill>
                    <a:latin typeface="Arial"/>
                  </a:rPr>
                  <a:t>   (D) </a:t>
                </a:r>
                <a:r>
                  <a:rPr lang="en-IN" sz="2400">
                    <a:solidFill>
                      <a:srgbClr val="111827"/>
                    </a:solidFill>
                    <a:latin typeface="Cambria Math" panose="02040503050406030204" pitchFamily="18" charset="0"/>
                  </a:rPr>
                  <a:t>$720$</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(counting ordered pairs)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needs only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to be such a product;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is free, so count the distinct values of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and multiply by </a:t>
                </a:r>
                <a14:m>
                  <m:oMath xmlns:m="http://schemas.openxmlformats.org/officeDocument/2006/math">
                    <m:r>
                      <a:rPr lang="en-IN" sz="2400" i="1">
                        <a:solidFill>
                          <a:srgbClr val="78350F"/>
                        </a:solidFill>
                        <a:latin typeface="Cambria Math" panose="02040503050406030204" pitchFamily="18" charset="0"/>
                      </a:rPr>
                      <m:t>60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pair </a:t>
                </a:r>
                <a:r>
                  <a:rPr lang="en-IN" sz="2400">
                    <a:solidFill>
                      <a:srgbClr val="78350F"/>
                    </a:solidFill>
                    <a:latin typeface="Cambria Math" panose="02040503050406030204" pitchFamily="18" charset="0"/>
                  </a:rPr>
                  <a:t>$(a,b)$</a:t>
                </a:r>
                <a:r>
                  <a:rPr sz="2400" b="0">
                    <a:solidFill>
                      <a:srgbClr val="78350F"/>
                    </a:solidFill>
                    <a:latin typeface="Arial"/>
                  </a:rPr>
                  <a:t> needs only </a:t>
                </a:r>
                <a:r>
                  <a:rPr lang="en-IN" sz="2400">
                    <a:solidFill>
                      <a:srgbClr val="78350F"/>
                    </a:solidFill>
                    <a:latin typeface="Cambria Math" panose="02040503050406030204" pitchFamily="18" charset="0"/>
                  </a:rPr>
                  <a:t>$b$</a:t>
                </a:r>
                <a:r>
                  <a:rPr sz="2400" b="0">
                    <a:solidFill>
                      <a:srgbClr val="78350F"/>
                    </a:solidFill>
                    <a:latin typeface="Arial"/>
                  </a:rPr>
                  <a:t> to be such a product; </a:t>
                </a:r>
                <a:r>
                  <a:rPr lang="en-IN" sz="2400">
                    <a:solidFill>
                      <a:srgbClr val="78350F"/>
                    </a:solidFill>
                    <a:latin typeface="Cambria Math" panose="02040503050406030204" pitchFamily="18" charset="0"/>
                  </a:rPr>
                  <a:t>$a$</a:t>
                </a:r>
                <a:r>
                  <a:rPr sz="2400" b="0">
                    <a:solidFill>
                      <a:srgbClr val="78350F"/>
                    </a:solidFill>
                    <a:latin typeface="Arial"/>
                  </a:rPr>
                  <a:t> is free, so count the distinct values of </a:t>
                </a:r>
                <a:r>
                  <a:rPr lang="en-IN" sz="2400">
                    <a:solidFill>
                      <a:srgbClr val="78350F"/>
                    </a:solidFill>
                    <a:latin typeface="Cambria Math" panose="02040503050406030204" pitchFamily="18" charset="0"/>
                  </a:rPr>
                  <a:t>$b$</a:t>
                </a:r>
                <a:r>
                  <a:rPr sz="2400" b="0">
                    <a:solidFill>
                      <a:srgbClr val="78350F"/>
                    </a:solidFill>
                    <a:latin typeface="Arial"/>
                  </a:rPr>
                  <a:t> and multiply by </a:t>
                </a:r>
                <a:r>
                  <a:rPr lang="en-IN" sz="2400">
                    <a:solidFill>
                      <a:srgbClr val="78350F"/>
                    </a:solidFill>
                    <a:latin typeface="Cambria Math" panose="02040503050406030204" pitchFamily="18" charset="0"/>
                  </a:rPr>
                  <a:t>$60$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possible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unrestricted; only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with primes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57</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values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repeats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possible values of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$60$</a:t>
                </a:r>
                <a:r>
                  <a:rPr sz="2400" b="0">
                    <a:solidFill>
                      <a:srgbClr val="111827"/>
                    </a:solidFill>
                    <a:latin typeface="Arial"/>
                  </a:rPr>
                  <a:t>, since </a:t>
                </a:r>
                <a:r>
                  <a:rPr lang="en-IN" sz="2400">
                    <a:solidFill>
                      <a:srgbClr val="111827"/>
                    </a:solidFill>
                    <a:latin typeface="Cambria Math" panose="02040503050406030204" pitchFamily="18" charset="0"/>
                  </a:rPr>
                  <a:t>$a$</a:t>
                </a:r>
                <a:r>
                  <a:rPr sz="2400" b="0">
                    <a:solidFill>
                      <a:srgbClr val="111827"/>
                    </a:solidFill>
                    <a:latin typeface="Arial"/>
                  </a:rPr>
                  <a:t> is unrestricted; only </a:t>
                </a:r>
                <a:r>
                  <a:rPr lang="en-IN" sz="2400">
                    <a:solidFill>
                      <a:srgbClr val="111827"/>
                    </a:solidFill>
                    <a:latin typeface="Cambria Math" panose="02040503050406030204" pitchFamily="18" charset="0"/>
                  </a:rPr>
                  <a:t>$b=pq\le60$</a:t>
                </a:r>
                <a:r>
                  <a:rPr sz="2400" b="0">
                    <a:solidFill>
                      <a:srgbClr val="111827"/>
                    </a:solidFill>
                    <a:latin typeface="Arial"/>
                  </a:rPr>
                  <a:t> with primes </a:t>
                </a:r>
                <a:r>
                  <a:rPr lang="en-IN" sz="2400">
                    <a:solidFill>
                      <a:srgbClr val="111827"/>
                    </a:solidFill>
                    <a:latin typeface="Cambria Math" panose="02040503050406030204" pitchFamily="18" charset="0"/>
                  </a:rPr>
                  <a:t>$p,q\ge3$</a:t>
                </a:r>
                <a:r>
                  <a:rPr sz="2400" b="0">
                    <a:solidFill>
                      <a:srgbClr val="111827"/>
                    </a:solidFill>
                    <a:latin typeface="Arial"/>
                  </a:rPr>
                  <a:t>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$q=3,5,7,11,13,17,19$</a:t>
                </a:r>
                <a:r>
                  <a:rPr sz="2400" b="0">
                    <a:solidFill>
                      <a:srgbClr val="111827"/>
                    </a:solidFill>
                    <a:latin typeface="Arial"/>
                  </a:rPr>
                  <a:t> gives </a:t>
                </a:r>
                <a:r>
                  <a:rPr lang="en-IN" sz="2400">
                    <a:solidFill>
                      <a:srgbClr val="111827"/>
                    </a:solidFill>
                    <a:latin typeface="Cambria Math" panose="02040503050406030204" pitchFamily="18" charset="0"/>
                  </a:rPr>
                  <a:t>$b=9,15,21,33,39,51,57$</a:t>
                </a:r>
                <a:r>
                  <a:rPr sz="2400" b="0">
                    <a:solidFill>
                      <a:srgbClr val="111827"/>
                    </a:solidFill>
                    <a:latin typeface="Arial"/>
                  </a:rPr>
                  <a:t> - </a:t>
                </a:r>
                <a:r>
                  <a:rPr lang="en-IN" sz="2400">
                    <a:solidFill>
                      <a:srgbClr val="111827"/>
                    </a:solidFill>
                    <a:latin typeface="Cambria Math" panose="02040503050406030204" pitchFamily="18" charset="0"/>
                  </a:rPr>
                  <a:t>$7$</a:t>
                </a:r>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$q=5,7,11$</a:t>
                </a:r>
                <a:r>
                  <a:rPr sz="2400" b="0">
                    <a:solidFill>
                      <a:srgbClr val="111827"/>
                    </a:solidFill>
                    <a:latin typeface="Arial"/>
                  </a:rPr>
                  <a:t> gives </a:t>
                </a:r>
                <a:r>
                  <a:rPr lang="en-IN" sz="2400">
                    <a:solidFill>
                      <a:srgbClr val="111827"/>
                    </a:solidFill>
                    <a:latin typeface="Cambria Math" panose="02040503050406030204" pitchFamily="18" charset="0"/>
                  </a:rPr>
                  <a:t>$b=25,35,55$</a:t>
                </a:r>
                <a:r>
                  <a:rPr sz="2400" b="0">
                    <a:solidFill>
                      <a:srgbClr val="111827"/>
                    </a:solidFill>
                    <a:latin typeface="Arial"/>
                  </a:rPr>
                  <a:t> - </a:t>
                </a:r>
                <a:r>
                  <a:rPr lang="en-IN" sz="2400">
                    <a:solidFill>
                      <a:srgbClr val="111827"/>
                    </a:solidFill>
                    <a:latin typeface="Cambria Math" panose="02040503050406030204" pitchFamily="18" charset="0"/>
                  </a:rPr>
                  <a:t>$3$</a:t>
                </a:r>
                <a:r>
                  <a:rPr sz="2400" b="0">
                    <a:solidFill>
                      <a:srgbClr val="111827"/>
                    </a:solidFill>
                    <a:latin typeface="Arial"/>
                  </a:rPr>
                  <a:t> values (</a:t>
                </a:r>
                <a:r>
                  <a:rPr lang="en-IN" sz="2400">
                    <a:solidFill>
                      <a:srgbClr val="111827"/>
                    </a:solidFill>
                    <a:latin typeface="Cambria Math" panose="02040503050406030204" pitchFamily="18" charset="0"/>
                  </a:rPr>
                  <a:t>$q=3$</a:t>
                </a:r>
                <a:r>
                  <a:rPr sz="2400" b="0">
                    <a:solidFill>
                      <a:srgbClr val="111827"/>
                    </a:solidFill>
                    <a:latin typeface="Arial"/>
                  </a:rPr>
                  <a:t> repeats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value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repeat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there are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distinct values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all different by unique factorisation.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cases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$q=7$</a:t>
                </a:r>
                <a:r>
                  <a:rPr sz="2400" b="0">
                    <a:solidFill>
                      <a:srgbClr val="111827"/>
                    </a:solidFill>
                    <a:latin typeface="Arial"/>
                  </a:rPr>
                  <a:t> gives </a:t>
                </a:r>
                <a:r>
                  <a:rPr lang="en-IN" sz="2400">
                    <a:solidFill>
                      <a:srgbClr val="111827"/>
                    </a:solidFill>
                    <a:latin typeface="Cambria Math" panose="02040503050406030204" pitchFamily="18" charset="0"/>
                  </a:rPr>
                  <a:t>$b=49$</a:t>
                </a:r>
                <a:r>
                  <a:rPr sz="2400" b="0">
                    <a:solidFill>
                      <a:srgbClr val="111827"/>
                    </a:solidFill>
                    <a:latin typeface="Arial"/>
                  </a:rPr>
                  <a:t> - </a:t>
                </a:r>
                <a:r>
                  <a:rPr lang="en-IN" sz="2400">
                    <a:solidFill>
                      <a:srgbClr val="111827"/>
                    </a:solidFill>
                    <a:latin typeface="Cambria Math" panose="02040503050406030204" pitchFamily="18" charset="0"/>
                  </a:rPr>
                  <a:t>$1$</a:t>
                </a:r>
                <a:r>
                  <a:rPr sz="2400" b="0">
                    <a:solidFill>
                      <a:srgbClr val="111827"/>
                    </a:solidFill>
                    <a:latin typeface="Arial"/>
                  </a:rPr>
                  <a:t> value (</a:t>
                </a:r>
                <a:r>
                  <a:rPr lang="en-IN" sz="2400">
                    <a:solidFill>
                      <a:srgbClr val="111827"/>
                    </a:solidFill>
                    <a:latin typeface="Cambria Math" panose="02040503050406030204" pitchFamily="18" charset="0"/>
                  </a:rPr>
                  <a:t>$q=3,5$</a:t>
                </a:r>
                <a:r>
                  <a:rPr sz="2400" b="0">
                    <a:solidFill>
                      <a:srgbClr val="111827"/>
                    </a:solidFill>
                    <a:latin typeface="Arial"/>
                  </a:rPr>
                  <a:t> repeat </a:t>
                </a:r>
                <a:r>
                  <a:rPr lang="en-IN" sz="2400">
                    <a:solidFill>
                      <a:srgbClr val="111827"/>
                    </a:solidFill>
                    <a:latin typeface="Cambria Math" panose="02040503050406030204" pitchFamily="18" charset="0"/>
                  </a:rPr>
                  <a:t>$21,35$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there are </a:t>
                </a:r>
                <a:r>
                  <a:rPr lang="en-IN" sz="2400">
                    <a:solidFill>
                      <a:srgbClr val="111827"/>
                    </a:solidFill>
                    <a:latin typeface="Cambria Math" panose="02040503050406030204" pitchFamily="18" charset="0"/>
                  </a:rPr>
                  <a:t>$7+3+1=11$</a:t>
                </a:r>
                <a:r>
                  <a:rPr sz="2400" b="0">
                    <a:solidFill>
                      <a:srgbClr val="111827"/>
                    </a:solidFill>
                    <a:latin typeface="Arial"/>
                  </a:rPr>
                  <a:t> distinct values of </a:t>
                </a:r>
                <a:r>
                  <a:rPr lang="en-IN" sz="2400">
                    <a:solidFill>
                      <a:srgbClr val="111827"/>
                    </a:solidFill>
                    <a:latin typeface="Cambria Math" panose="02040503050406030204" pitchFamily="18" charset="0"/>
                  </a:rPr>
                  <a:t>$b$</a:t>
                </a:r>
                <a:r>
                  <a:rPr sz="2400" b="0">
                    <a:solidFill>
                      <a:srgbClr val="111827"/>
                    </a:solidFill>
                    <a:latin typeface="Arial"/>
                  </a:rPr>
                  <a:t>, all different by unique factorisation.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cases </a:t>
                </a:r>
                <a:r>
                  <a:rPr lang="en-IN" sz="2400">
                    <a:solidFill>
                      <a:srgbClr val="111827"/>
                    </a:solidFill>
                    <a:latin typeface="Cambria Math" panose="02040503050406030204" pitchFamily="18" charset="0"/>
                  </a:rPr>
                  <a:t>$=60\times11=660$</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660</a:t>
            </a:r>
            <a:endParaRPr sz="2800">
              <a:solidFill>
                <a:srgbClr val="15803D"/>
              </a:solidFill>
            </a:endParaRP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relation from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defined by a condition on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alone,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𝑛𝑢𝑚𝑏𝑒𝑟 𝑜𝑓 𝑎𝑑𝑚𝑖𝑠𝑠𝑖𝑏𝑙𝑒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Unique factorisation: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determines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distinct unordered prime pairs give distinct products. Count unordered pairs to avoid double counting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the largest allowed partner for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only, so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values.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relation from </a:t>
                </a:r>
                <a:r>
                  <a:rPr lang="en-IN" sz="2400">
                    <a:solidFill>
                      <a:srgbClr val="111827"/>
                    </a:solidFill>
                    <a:latin typeface="Cambria Math" panose="02040503050406030204" pitchFamily="18" charset="0"/>
                  </a:rPr>
                  <a:t>$S$</a:t>
                </a:r>
                <a:r>
                  <a:rPr sz="2400" b="0">
                    <a:solidFill>
                      <a:srgbClr val="111827"/>
                    </a:solidFill>
                    <a:latin typeface="Arial"/>
                  </a:rPr>
                  <a:t> to </a:t>
                </a:r>
                <a:r>
                  <a:rPr lang="en-IN" sz="2400">
                    <a:solidFill>
                      <a:srgbClr val="111827"/>
                    </a:solidFill>
                    <a:latin typeface="Cambria Math" panose="02040503050406030204" pitchFamily="18" charset="0"/>
                  </a:rPr>
                  <a:t>$S$</a:t>
                </a:r>
                <a:r>
                  <a:rPr sz="2400" b="0">
                    <a:solidFill>
                      <a:srgbClr val="111827"/>
                    </a:solidFill>
                    <a:latin typeface="Arial"/>
                  </a:rPr>
                  <a:t> defined by a condition on </a:t>
                </a:r>
                <a:r>
                  <a:rPr lang="en-IN" sz="2400">
                    <a:solidFill>
                      <a:srgbClr val="111827"/>
                    </a:solidFill>
                    <a:latin typeface="Cambria Math" panose="02040503050406030204" pitchFamily="18" charset="0"/>
                  </a:rPr>
                  <a:t>$b$</a:t>
                </a:r>
                <a:r>
                  <a:rPr sz="2400" b="0">
                    <a:solidFill>
                      <a:srgbClr val="111827"/>
                    </a:solidFill>
                    <a:latin typeface="Arial"/>
                  </a:rPr>
                  <a:t> alone, </a:t>
                </a:r>
                <a:r>
                  <a:rPr lang="en-IN" sz="2400">
                    <a:solidFill>
                      <a:srgbClr val="111827"/>
                    </a:solidFill>
                    <a:latin typeface="Cambria Math" panose="02040503050406030204" pitchFamily="18" charset="0"/>
                  </a:rPr>
                  <a:t>$n(R)=|S|\times(\text{number of admissible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Unique factorisation: </a:t>
                </a:r>
                <a:r>
                  <a:rPr lang="en-IN" sz="2400">
                    <a:solidFill>
                      <a:srgbClr val="111827"/>
                    </a:solidFill>
                    <a:latin typeface="Cambria Math" panose="02040503050406030204" pitchFamily="18" charset="0"/>
                  </a:rPr>
                  <a:t>$pq$</a:t>
                </a:r>
                <a:r>
                  <a:rPr sz="2400" b="0">
                    <a:solidFill>
                      <a:srgbClr val="111827"/>
                    </a:solidFill>
                    <a:latin typeface="Arial"/>
                  </a:rPr>
                  <a:t> with </a:t>
                </a:r>
                <a:r>
                  <a:rPr lang="en-IN" sz="2400">
                    <a:solidFill>
                      <a:srgbClr val="111827"/>
                    </a:solidFill>
                    <a:latin typeface="Cambria Math" panose="02040503050406030204" pitchFamily="18" charset="0"/>
                  </a:rPr>
                  <a:t>$p\le q$</a:t>
                </a:r>
                <a:r>
                  <a:rPr sz="2400" b="0">
                    <a:solidFill>
                      <a:srgbClr val="111827"/>
                    </a:solidFill>
                    <a:latin typeface="Arial"/>
                  </a:rPr>
                  <a:t> determines </a:t>
                </a:r>
                <a:r>
                  <a:rPr lang="en-IN" sz="2400">
                    <a:solidFill>
                      <a:srgbClr val="111827"/>
                    </a:solidFill>
                    <a:latin typeface="Cambria Math" panose="02040503050406030204" pitchFamily="18" charset="0"/>
                  </a:rPr>
                  <a:t>$\{p,q\}$</a:t>
                </a:r>
                <a:r>
                  <a:rPr sz="2400" b="0">
                    <a:solidFill>
                      <a:srgbClr val="111827"/>
                    </a:solidFill>
                    <a:latin typeface="Arial"/>
                  </a:rPr>
                  <a:t>, so distinct unordered prime pairs give distinct products. Count unordered pairs to avoid double counting </a:t>
                </a:r>
                <a:r>
                  <a:rPr lang="en-IN" sz="2400">
                    <a:solidFill>
                      <a:srgbClr val="111827"/>
                    </a:solidFill>
                    <a:latin typeface="Cambria Math" panose="02040503050406030204" pitchFamily="18" charset="0"/>
                  </a:rPr>
                  <a:t>$(3,5)$</a:t>
                </a:r>
                <a:r>
                  <a:rPr sz="2400" b="0">
                    <a:solidFill>
                      <a:srgbClr val="111827"/>
                    </a:solidFill>
                    <a:latin typeface="Arial"/>
                  </a:rPr>
                  <a:t> and </a:t>
                </a:r>
                <a:r>
                  <a:rPr lang="en-IN" sz="2400">
                    <a:solidFill>
                      <a:srgbClr val="111827"/>
                    </a:solidFill>
                    <a:latin typeface="Cambria Math" panose="02040503050406030204" pitchFamily="18" charset="0"/>
                  </a:rPr>
                  <a:t>$(5,3)$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a:t>
                </a:r>
                <a:r>
                  <a:rPr lang="en-IN" sz="2400">
                    <a:solidFill>
                      <a:srgbClr val="111827"/>
                    </a:solidFill>
                    <a:latin typeface="Cambria Math" panose="02040503050406030204" pitchFamily="18" charset="0"/>
                  </a:rPr>
                  <a:t>$\ge3$</a:t>
                </a:r>
                <a:r>
                  <a:rPr sz="2400" b="0">
                    <a:solidFill>
                      <a:srgbClr val="111827"/>
                    </a:solidFill>
                    <a:latin typeface="Arial"/>
                  </a:rPr>
                  <a:t> up to </a:t>
                </a:r>
                <a:r>
                  <a:rPr lang="en-IN" sz="2400">
                    <a:solidFill>
                      <a:srgbClr val="111827"/>
                    </a:solidFill>
                    <a:latin typeface="Cambria Math" panose="02040503050406030204" pitchFamily="18" charset="0"/>
                  </a:rPr>
                  <a:t>$19$</a:t>
                </a:r>
                <a:r>
                  <a:rPr sz="2400" b="0">
                    <a:solidFill>
                      <a:srgbClr val="111827"/>
                    </a:solidFill>
                    <a:latin typeface="Arial"/>
                  </a:rPr>
                  <a:t>: </a:t>
                </a:r>
                <a:r>
                  <a:rPr lang="en-IN" sz="2400">
                    <a:solidFill>
                      <a:srgbClr val="111827"/>
                    </a:solidFill>
                    <a:latin typeface="Cambria Math" panose="02040503050406030204" pitchFamily="18" charset="0"/>
                  </a:rPr>
                  <a:t>$3,5,7,11,13,17,19$</a:t>
                </a:r>
                <a:r>
                  <a:rPr sz="2400" b="0">
                    <a:solidFill>
                      <a:srgbClr val="111827"/>
                    </a:solidFill>
                    <a:latin typeface="Arial"/>
                  </a:rPr>
                  <a:t>; the largest allowed partner for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$\lfloor60/p\rfloor$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r>
                  <a:rPr lang="en-IN" sz="2400">
                    <a:solidFill>
                      <a:srgbClr val="111827"/>
                    </a:solidFill>
                    <a:latin typeface="Cambria Math" panose="02040503050406030204" pitchFamily="18" charset="0"/>
                  </a:rPr>
                  <a:t>$b\le20$</a:t>
                </a:r>
                <a:r>
                  <a:rPr sz="2400" b="0">
                    <a:solidFill>
                      <a:srgbClr val="111827"/>
                    </a:solidFill>
                    <a:latin typeface="Arial"/>
                  </a:rPr>
                  <a:t> with </a:t>
                </a:r>
                <a:r>
                  <a:rPr lang="en-IN" sz="2400">
                    <a:solidFill>
                      <a:srgbClr val="111827"/>
                    </a:solidFill>
                    <a:latin typeface="Cambria Math" panose="02040503050406030204" pitchFamily="18" charset="0"/>
                  </a:rPr>
                  <a:t>$p,q\ge3$</a:t>
                </a:r>
                <a:r>
                  <a:rPr sz="2400" b="0">
                    <a:solidFill>
                      <a:srgbClr val="111827"/>
                    </a:solidFill>
                    <a:latin typeface="Arial"/>
                  </a:rPr>
                  <a:t> gives </a:t>
                </a:r>
                <a:r>
                  <a:rPr lang="en-IN" sz="2400">
                    <a:solidFill>
                      <a:srgbClr val="111827"/>
                    </a:solidFill>
                    <a:latin typeface="Cambria Math" panose="02040503050406030204" pitchFamily="18" charset="0"/>
                  </a:rPr>
                  <a:t>$9,15$</a:t>
                </a:r>
                <a:r>
                  <a:rPr sz="2400" b="0">
                    <a:solidFill>
                      <a:srgbClr val="111827"/>
                    </a:solidFill>
                    <a:latin typeface="Arial"/>
                  </a:rPr>
                  <a:t> only, so </a:t>
                </a:r>
                <a:r>
                  <a:rPr lang="en-IN" sz="2400">
                    <a:solidFill>
                      <a:srgbClr val="111827"/>
                    </a:solidFill>
                    <a:latin typeface="Cambria Math" panose="02040503050406030204" pitchFamily="18" charset="0"/>
                  </a:rPr>
                  <a:t>$2$</a:t>
                </a:r>
                <a:r>
                  <a:rPr sz="2400" b="0">
                    <a:solidFill>
                      <a:srgbClr val="111827"/>
                    </a:solidFill>
                    <a:latin typeface="Arial"/>
                  </a:rPr>
                  <a:t> values.</a:t>
                </a:r>
                <a:endParaRPr sz="2400">
                  <a:solidFill>
                    <a:srgbClr val="111827"/>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Q31 – Q34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Define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𝑒𝑖𝑡ℎ𝑒𝑟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𝑡ℎ𝑒 𝑠𝑢𝑚 𝑜𝑓 𝑎𝑙𝑙 𝑡ℎ𝑒 𝑒𝑙𝑒𝑚𝑒𝑛𝑡𝑠 𝑜𝑓 </m:t>
                    </m:r>
                    <m:r>
                      <a:rPr lang="en-IN" sz="2400" i="1">
                        <a:solidFill>
                          <a:srgbClr val="111827"/>
                        </a:solidFill>
                        <a:latin typeface="Cambria Math" panose="02040503050406030204" pitchFamily="18" charset="0"/>
                      </a:rPr>
                      <m:t>𝑇</m:t>
                    </m:r>
                    <m:r>
                      <m:rPr>
                        <m:nor/>
                      </m:rPr>
                      <a:rPr lang="en-IN" sz="2400" i="1">
                        <a:solidFill>
                          <a:srgbClr val="111827"/>
                        </a:solidFill>
                        <a:latin typeface="Cambria Math" panose="02040503050406030204" pitchFamily="18" charset="0"/>
                      </a:rPr>
                      <m:t> 𝑖𝑠 𝑎 𝑝𝑟𝑖𝑚𝑒 𝑛𝑢𝑚𝑏𝑒𝑟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________. [JEE(Main) July 2022]</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$A=\{1,2,3,4,5,6,7\}$</a:t>
                </a:r>
                <a:r>
                  <a:rPr sz="2400" b="0">
                    <a:solidFill>
                      <a:srgbClr val="111827"/>
                    </a:solidFill>
                    <a:latin typeface="Arial"/>
                  </a:rPr>
                  <a:t>. Define </a:t>
                </a:r>
                <a:r>
                  <a:rPr lang="en-IN" sz="2400">
                    <a:solidFill>
                      <a:srgbClr val="111827"/>
                    </a:solidFill>
                    <a:latin typeface="Cambria Math" panose="02040503050406030204" pitchFamily="18" charset="0"/>
                  </a:rPr>
                  <a:t>$B=\{T\subseteq A:\text{either }1\notin T\text{ or }2\in T\}$</a:t>
                </a:r>
                <a:r>
                  <a:rPr sz="2400" b="0">
                    <a:solidFill>
                      <a:srgbClr val="111827"/>
                    </a:solidFill>
                    <a:latin typeface="Arial"/>
                  </a:rPr>
                  <a:t> and </a:t>
                </a:r>
                <a:r>
                  <a:rPr lang="en-IN" sz="2400">
                    <a:solidFill>
                      <a:srgbClr val="111827"/>
                    </a:solidFill>
                    <a:latin typeface="Cambria Math" panose="02040503050406030204" pitchFamily="18" charset="0"/>
                  </a:rPr>
                  <a:t>$C=\{T\subseteq A:\text{the sum of all the elements of }T\text{ is a prime number}\}$</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$B\cup C$</a:t>
                </a:r>
                <a:r>
                  <a:rPr sz="2400" b="0">
                    <a:solidFill>
                      <a:srgbClr val="111827"/>
                    </a:solidFill>
                    <a:latin typeface="Arial"/>
                  </a:rPr>
                  <a:t> is ________. [JEE(Main) July 2022]</a:t>
                </a:r>
                <a:endParaRPr sz="2400">
                  <a:solidFill>
                    <a:srgbClr val="111827"/>
                  </a:solidFill>
                </a:endParaRPr>
              </a:p>
            </p:txBody>
          </p:sp>
        </mc:Fallback>
      </mc:AlternateContent>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complement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complement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𝐶</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subsets containing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not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with a non-prime sum.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complement </a:t>
                </a:r>
                <a:r>
                  <a:rPr lang="en-IN" sz="2400">
                    <a:solidFill>
                      <a:srgbClr val="78350F"/>
                    </a:solidFill>
                    <a:latin typeface="Cambria Math" panose="02040503050406030204" pitchFamily="18" charset="0"/>
                  </a:rPr>
                  <a:t>$(B\cup C)'=B'\cap C'$</a:t>
                </a:r>
                <a:r>
                  <a:rPr sz="2400" b="0">
                    <a:solidFill>
                      <a:srgbClr val="78350F"/>
                    </a:solidFill>
                    <a:latin typeface="Arial"/>
                  </a:rPr>
                  <a:t>: subsets containing </a:t>
                </a:r>
                <a:r>
                  <a:rPr lang="en-IN" sz="2400">
                    <a:solidFill>
                      <a:srgbClr val="78350F"/>
                    </a:solidFill>
                    <a:latin typeface="Cambria Math" panose="02040503050406030204" pitchFamily="18" charset="0"/>
                  </a:rPr>
                  <a:t>$1$</a:t>
                </a:r>
                <a:r>
                  <a:rPr sz="2400" b="0">
                    <a:solidFill>
                      <a:srgbClr val="78350F"/>
                    </a:solidFill>
                    <a:latin typeface="Arial"/>
                  </a:rPr>
                  <a:t>, not </a:t>
                </a:r>
                <a:r>
                  <a:rPr lang="en-IN" sz="2400">
                    <a:solidFill>
                      <a:srgbClr val="78350F"/>
                    </a:solidFill>
                    <a:latin typeface="Cambria Math" panose="02040503050406030204" pitchFamily="18" charset="0"/>
                  </a:rPr>
                  <a:t>$2$</a:t>
                </a:r>
                <a:r>
                  <a:rPr sz="2400" b="0">
                    <a:solidFill>
                      <a:srgbClr val="78350F"/>
                    </a:solidFill>
                    <a:latin typeface="Arial"/>
                  </a:rPr>
                  <a:t>, with a non-prime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subsets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containing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not containing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subsets whose sum of elements is not 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count 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which (their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not prime (the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5 elements: sum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 not prime: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4 elements: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subsets, minus omitting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prime) or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prime):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subsets.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$(B\cup C)'=B'\cap C'$</a:t>
                </a:r>
                <a:r>
                  <a:rPr sz="2400" b="0">
                    <a:solidFill>
                      <a:srgbClr val="111827"/>
                    </a:solidFill>
                    <a:latin typeface="Arial"/>
                  </a:rPr>
                  <a:t>, and </a:t>
                </a:r>
                <a:r>
                  <a:rPr lang="en-IN" sz="2400">
                    <a:solidFill>
                      <a:srgbClr val="111827"/>
                    </a:solidFill>
                    <a:latin typeface="Cambria Math" panose="02040503050406030204" pitchFamily="18" charset="0"/>
                  </a:rPr>
                  <a:t>$n(B\cup C)=2^7-n(B'\cap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subsets of </a:t>
                </a:r>
                <a:r>
                  <a:rPr lang="en-IN" sz="2400">
                    <a:solidFill>
                      <a:srgbClr val="111827"/>
                    </a:solidFill>
                    <a:latin typeface="Cambria Math" panose="02040503050406030204" pitchFamily="18" charset="0"/>
                  </a:rPr>
                  <a:t>$A$</a:t>
                </a:r>
                <a:r>
                  <a:rPr sz="2400" b="0">
                    <a:solidFill>
                      <a:srgbClr val="111827"/>
                    </a:solidFill>
                    <a:latin typeface="Arial"/>
                  </a:rPr>
                  <a:t> containing </a:t>
                </a:r>
                <a:r>
                  <a:rPr lang="en-IN" sz="2400">
                    <a:solidFill>
                      <a:srgbClr val="111827"/>
                    </a:solidFill>
                    <a:latin typeface="Cambria Math" panose="02040503050406030204" pitchFamily="18" charset="0"/>
                  </a:rPr>
                  <a:t>$1$</a:t>
                </a:r>
                <a:r>
                  <a:rPr sz="2400" b="0">
                    <a:solidFill>
                      <a:srgbClr val="111827"/>
                    </a:solidFill>
                    <a:latin typeface="Arial"/>
                  </a:rPr>
                  <a:t> and not containing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subsets whose sum of elements is not 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count subsets of </a:t>
                </a:r>
                <a:r>
                  <a:rPr lang="en-IN" sz="2400">
                    <a:solidFill>
                      <a:srgbClr val="111827"/>
                    </a:solidFill>
                    <a:latin typeface="Cambria Math" panose="02040503050406030204" pitchFamily="18" charset="0"/>
                  </a:rPr>
                  <a:t>$\{3,4,5,6,7\}$</a:t>
                </a:r>
                <a:r>
                  <a:rPr sz="2400" b="0">
                    <a:solidFill>
                      <a:srgbClr val="111827"/>
                    </a:solidFill>
                    <a:latin typeface="Arial"/>
                  </a:rPr>
                  <a:t> for which (their sum) </a:t>
                </a:r>
                <a:r>
                  <a:rPr lang="en-IN" sz="2400">
                    <a:solidFill>
                      <a:srgbClr val="111827"/>
                    </a:solidFill>
                    <a:latin typeface="Cambria Math" panose="02040503050406030204" pitchFamily="18" charset="0"/>
                  </a:rPr>
                  <a:t>$+1$</a:t>
                </a:r>
                <a:r>
                  <a:rPr sz="2400" b="0">
                    <a:solidFill>
                      <a:srgbClr val="111827"/>
                    </a:solidFill>
                    <a:latin typeface="Arial"/>
                  </a:rPr>
                  <a:t> is not prime (the </a:t>
                </a:r>
                <a:r>
                  <a:rPr lang="en-IN" sz="2400">
                    <a:solidFill>
                      <a:srgbClr val="111827"/>
                    </a:solidFill>
                    <a:latin typeface="Cambria Math" panose="02040503050406030204" pitchFamily="18" charset="0"/>
                  </a:rPr>
                  <a:t>$1$</a:t>
                </a:r>
                <a:r>
                  <a:rPr sz="2400" b="0">
                    <a:solidFill>
                      <a:srgbClr val="111827"/>
                    </a:solidFill>
                    <a:latin typeface="Arial"/>
                  </a:rPr>
                  <a:t>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5 elements: sum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$25+1=26$</a:t>
                </a:r>
                <a:r>
                  <a:rPr sz="2400" b="0">
                    <a:solidFill>
                      <a:srgbClr val="111827"/>
                    </a:solidFill>
                    <a:latin typeface="Arial"/>
                  </a:rPr>
                  <a:t> - not prime: </a:t>
                </a:r>
                <a:r>
                  <a:rPr lang="en-IN" sz="2400">
                    <a:solidFill>
                      <a:srgbClr val="111827"/>
                    </a:solidFill>
                    <a:latin typeface="Cambria Math" panose="02040503050406030204" pitchFamily="18" charset="0"/>
                  </a:rPr>
                  <a:t>$1$</a:t>
                </a:r>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4 elements: </a:t>
                </a:r>
                <a:r>
                  <a:rPr lang="en-IN" sz="2400">
                    <a:solidFill>
                      <a:srgbClr val="111827"/>
                    </a:solidFill>
                    <a:latin typeface="Cambria Math" panose="02040503050406030204" pitchFamily="18" charset="0"/>
                  </a:rPr>
                  <a:t>$5$</a:t>
                </a:r>
                <a:r>
                  <a:rPr sz="2400" b="0">
                    <a:solidFill>
                      <a:srgbClr val="111827"/>
                    </a:solidFill>
                    <a:latin typeface="Arial"/>
                  </a:rPr>
                  <a:t> subsets, minus omitting </a:t>
                </a:r>
                <a:r>
                  <a:rPr lang="en-IN" sz="2400">
                    <a:solidFill>
                      <a:srgbClr val="111827"/>
                    </a:solidFill>
                    <a:latin typeface="Cambria Math" panose="02040503050406030204" pitchFamily="18" charset="0"/>
                  </a:rPr>
                  <a:t>$3$</a:t>
                </a:r>
                <a:r>
                  <a:rPr sz="2400" b="0">
                    <a:solidFill>
                      <a:srgbClr val="111827"/>
                    </a:solidFill>
                    <a:latin typeface="Arial"/>
                  </a:rPr>
                  <a:t> (sum </a:t>
                </a:r>
                <a:r>
                  <a:rPr lang="en-IN" sz="2400">
                    <a:solidFill>
                      <a:srgbClr val="111827"/>
                    </a:solidFill>
                    <a:latin typeface="Cambria Math" panose="02040503050406030204" pitchFamily="18" charset="0"/>
                  </a:rPr>
                  <a:t>$22$</a:t>
                </a:r>
                <a:r>
                  <a:rPr sz="2400" b="0">
                    <a:solidFill>
                      <a:srgbClr val="111827"/>
                    </a:solidFill>
                    <a:latin typeface="Arial"/>
                  </a:rPr>
                  <a:t>, total </a:t>
                </a:r>
                <a:r>
                  <a:rPr lang="en-IN" sz="2400">
                    <a:solidFill>
                      <a:srgbClr val="111827"/>
                    </a:solidFill>
                    <a:latin typeface="Cambria Math" panose="02040503050406030204" pitchFamily="18" charset="0"/>
                  </a:rPr>
                  <a:t>$23$</a:t>
                </a:r>
                <a:r>
                  <a:rPr sz="2400" b="0">
                    <a:solidFill>
                      <a:srgbClr val="111827"/>
                    </a:solidFill>
                    <a:latin typeface="Arial"/>
                  </a:rPr>
                  <a:t> prime) or </a:t>
                </a:r>
                <a:r>
                  <a:rPr lang="en-IN" sz="2400">
                    <a:solidFill>
                      <a:srgbClr val="111827"/>
                    </a:solidFill>
                    <a:latin typeface="Cambria Math" panose="02040503050406030204" pitchFamily="18" charset="0"/>
                  </a:rPr>
                  <a:t>$7$</a:t>
                </a:r>
                <a:r>
                  <a:rPr sz="2400" b="0">
                    <a:solidFill>
                      <a:srgbClr val="111827"/>
                    </a:solidFill>
                    <a:latin typeface="Arial"/>
                  </a:rPr>
                  <a:t> (sum </a:t>
                </a:r>
                <a:r>
                  <a:rPr lang="en-IN" sz="2400">
                    <a:solidFill>
                      <a:srgbClr val="111827"/>
                    </a:solidFill>
                    <a:latin typeface="Cambria Math" panose="02040503050406030204" pitchFamily="18" charset="0"/>
                  </a:rPr>
                  <a:t>$18$</a:t>
                </a:r>
                <a:r>
                  <a:rPr sz="2400" b="0">
                    <a:solidFill>
                      <a:srgbClr val="111827"/>
                    </a:solidFill>
                    <a:latin typeface="Arial"/>
                  </a:rPr>
                  <a:t>, total </a:t>
                </a:r>
                <a:r>
                  <a:rPr lang="en-IN" sz="2400">
                    <a:solidFill>
                      <a:srgbClr val="111827"/>
                    </a:solidFill>
                    <a:latin typeface="Cambria Math" panose="02040503050406030204" pitchFamily="18" charset="0"/>
                  </a:rPr>
                  <a:t>$19$</a:t>
                </a:r>
                <a:r>
                  <a:rPr sz="2400" b="0">
                    <a:solidFill>
                      <a:srgbClr val="111827"/>
                    </a:solidFill>
                    <a:latin typeface="Arial"/>
                  </a:rPr>
                  <a:t> prime): </a:t>
                </a:r>
                <a:r>
                  <a:rPr lang="en-IN" sz="2400">
                    <a:solidFill>
                      <a:srgbClr val="111827"/>
                    </a:solidFill>
                    <a:latin typeface="Cambria Math" panose="02040503050406030204" pitchFamily="18" charset="0"/>
                  </a:rPr>
                  <a:t>$3$</a:t>
                </a:r>
                <a:r>
                  <a:rPr sz="2400" b="0">
                    <a:solidFill>
                      <a:srgbClr val="111827"/>
                    </a:solidFill>
                    <a:latin typeface="Arial"/>
                  </a:rPr>
                  <a:t> subsets.</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 elements: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subsets, minus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(totals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elements: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subsets, minus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(totals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element: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subsets, minus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(totals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subsets. 0 elements: total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not prime: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 elements: </a:t>
                </a:r>
                <a:r>
                  <a:rPr lang="en-IN" sz="2400">
                    <a:solidFill>
                      <a:srgbClr val="111827"/>
                    </a:solidFill>
                    <a:latin typeface="Cambria Math" panose="02040503050406030204" pitchFamily="18" charset="0"/>
                  </a:rPr>
                  <a:t>$10$</a:t>
                </a:r>
                <a:r>
                  <a:rPr sz="2400" b="0">
                    <a:solidFill>
                      <a:srgbClr val="111827"/>
                    </a:solidFill>
                    <a:latin typeface="Arial"/>
                  </a:rPr>
                  <a:t> subsets, minus </a:t>
                </a:r>
                <a:r>
                  <a:rPr lang="en-IN" sz="2400">
                    <a:solidFill>
                      <a:srgbClr val="111827"/>
                    </a:solidFill>
                    <a:latin typeface="Cambria Math" panose="02040503050406030204" pitchFamily="18" charset="0"/>
                  </a:rPr>
                  <a:t>$\{3,4,5\},\{3,6,7\},\{4,5,7\},\{5,6,7\}$</a:t>
                </a:r>
                <a:r>
                  <a:rPr sz="2400" b="0">
                    <a:solidFill>
                      <a:srgbClr val="111827"/>
                    </a:solidFill>
                    <a:latin typeface="Arial"/>
                  </a:rPr>
                  <a:t> (totals </a:t>
                </a:r>
                <a:r>
                  <a:rPr lang="en-IN" sz="2400">
                    <a:solidFill>
                      <a:srgbClr val="111827"/>
                    </a:solidFill>
                    <a:latin typeface="Cambria Math" panose="02040503050406030204" pitchFamily="18" charset="0"/>
                  </a:rPr>
                  <a:t>$13,17,17,19$</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elements: </a:t>
                </a:r>
                <a:r>
                  <a:rPr lang="en-IN" sz="2400">
                    <a:solidFill>
                      <a:srgbClr val="111827"/>
                    </a:solidFill>
                    <a:latin typeface="Cambria Math" panose="02040503050406030204" pitchFamily="18" charset="0"/>
                  </a:rPr>
                  <a:t>$10$</a:t>
                </a:r>
                <a:r>
                  <a:rPr sz="2400" b="0">
                    <a:solidFill>
                      <a:srgbClr val="111827"/>
                    </a:solidFill>
                    <a:latin typeface="Arial"/>
                  </a:rPr>
                  <a:t> subsets, minus </a:t>
                </a:r>
                <a:r>
                  <a:rPr lang="en-IN" sz="2400">
                    <a:solidFill>
                      <a:srgbClr val="111827"/>
                    </a:solidFill>
                    <a:latin typeface="Cambria Math" panose="02040503050406030204" pitchFamily="18" charset="0"/>
                  </a:rPr>
                  <a:t>$\{3,7\},\{4,6\},\{5,7\}$</a:t>
                </a:r>
                <a:r>
                  <a:rPr sz="2400" b="0">
                    <a:solidFill>
                      <a:srgbClr val="111827"/>
                    </a:solidFill>
                    <a:latin typeface="Arial"/>
                  </a:rPr>
                  <a:t> (totals </a:t>
                </a:r>
                <a:r>
                  <a:rPr lang="en-IN" sz="2400">
                    <a:solidFill>
                      <a:srgbClr val="111827"/>
                    </a:solidFill>
                    <a:latin typeface="Cambria Math" panose="02040503050406030204" pitchFamily="18" charset="0"/>
                  </a:rPr>
                  <a:t>$11,11,13$</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element: </a:t>
                </a:r>
                <a:r>
                  <a:rPr lang="en-IN" sz="2400">
                    <a:solidFill>
                      <a:srgbClr val="111827"/>
                    </a:solidFill>
                    <a:latin typeface="Cambria Math" panose="02040503050406030204" pitchFamily="18" charset="0"/>
                  </a:rPr>
                  <a:t>$5$</a:t>
                </a:r>
                <a:r>
                  <a:rPr sz="2400" b="0">
                    <a:solidFill>
                      <a:srgbClr val="111827"/>
                    </a:solidFill>
                    <a:latin typeface="Arial"/>
                  </a:rPr>
                  <a:t> subsets, minus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$\{6\}$</a:t>
                </a:r>
                <a:r>
                  <a:rPr sz="2400" b="0">
                    <a:solidFill>
                      <a:srgbClr val="111827"/>
                    </a:solidFill>
                    <a:latin typeface="Arial"/>
                  </a:rPr>
                  <a:t> (totals </a:t>
                </a:r>
                <a:r>
                  <a:rPr lang="en-IN" sz="2400">
                    <a:solidFill>
                      <a:srgbClr val="111827"/>
                    </a:solidFill>
                    <a:latin typeface="Cambria Math" panose="02040503050406030204" pitchFamily="18" charset="0"/>
                  </a:rPr>
                  <a:t>$5,7$</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subsets. 0 elements: total </a:t>
                </a:r>
                <a:r>
                  <a:rPr lang="en-IN" sz="2400">
                    <a:solidFill>
                      <a:srgbClr val="111827"/>
                    </a:solidFill>
                    <a:latin typeface="Cambria Math" panose="02040503050406030204" pitchFamily="18" charset="0"/>
                  </a:rPr>
                  <a:t>$1$</a:t>
                </a:r>
                <a:r>
                  <a:rPr sz="2400" b="0">
                    <a:solidFill>
                      <a:srgbClr val="111827"/>
                    </a:solidFill>
                    <a:latin typeface="Arial"/>
                  </a:rPr>
                  <a:t> is not prime: </a:t>
                </a:r>
                <a:r>
                  <a:rPr lang="en-IN" sz="2400">
                    <a:solidFill>
                      <a:srgbClr val="111827"/>
                    </a:solidFill>
                    <a:latin typeface="Cambria Math" panose="02040503050406030204" pitchFamily="18" charset="0"/>
                  </a:rPr>
                  <a:t>$1$</a:t>
                </a:r>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$n(B'\cap C')=1+3+6+7+3+1=21$</a:t>
                </a:r>
                <a:r>
                  <a:rPr sz="2400" b="0">
                    <a:solidFill>
                      <a:srgbClr val="111827"/>
                    </a:solidFill>
                    <a:latin typeface="Arial"/>
                  </a:rPr>
                  <a:t>, so </a:t>
                </a:r>
                <a:r>
                  <a:rPr lang="en-IN" sz="2400">
                    <a:solidFill>
                      <a:srgbClr val="111827"/>
                    </a:solidFill>
                    <a:latin typeface="Cambria Math" panose="02040503050406030204" pitchFamily="18" charset="0"/>
                  </a:rPr>
                  <a:t>$n(B\cup C)=2^7-21=128-21=107$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107</a:t>
            </a:r>
            <a:endParaRPr sz="2800">
              <a:solidFill>
                <a:srgbClr val="15803D"/>
              </a:solidFill>
            </a:endParaRP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least one' or 'either-or' set unions, count the complement via De Morgan: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 'either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has complement 'both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 the 'or' flips to 'and'.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Remember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are not primes: the sums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(empty set) count as non-prime.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to have ready for sums: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the full sum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least one' or 'either-or' set unions, count the complement via De Morgan: </a:t>
                </a:r>
                <a:r>
                  <a:rPr lang="en-IN" sz="2400">
                    <a:solidFill>
                      <a:srgbClr val="111827"/>
                    </a:solidFill>
                    <a:latin typeface="Cambria Math" panose="02040503050406030204" pitchFamily="18" charset="0"/>
                  </a:rPr>
                  <a:t>$n(B\cup C)=n(U)-n(B'\cap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 'either </a:t>
                </a:r>
                <a:r>
                  <a:rPr lang="en-IN" sz="2400">
                    <a:solidFill>
                      <a:srgbClr val="111827"/>
                    </a:solidFill>
                    <a:latin typeface="Cambria Math" panose="02040503050406030204" pitchFamily="18" charset="0"/>
                  </a:rPr>
                  <a:t>$1\notin T$</a:t>
                </a:r>
                <a:r>
                  <a:rPr sz="2400" b="0">
                    <a:solidFill>
                      <a:srgbClr val="111827"/>
                    </a:solidFill>
                    <a:latin typeface="Arial"/>
                  </a:rPr>
                  <a:t> or </a:t>
                </a:r>
                <a:r>
                  <a:rPr lang="en-IN" sz="2400">
                    <a:solidFill>
                      <a:srgbClr val="111827"/>
                    </a:solidFill>
                    <a:latin typeface="Cambria Math" panose="02040503050406030204" pitchFamily="18" charset="0"/>
                  </a:rPr>
                  <a:t>$2\in T$</a:t>
                </a:r>
                <a:r>
                  <a:rPr sz="2400" b="0">
                    <a:solidFill>
                      <a:srgbClr val="111827"/>
                    </a:solidFill>
                    <a:latin typeface="Arial"/>
                  </a:rPr>
                  <a:t>' has complement 'both </a:t>
                </a:r>
                <a:r>
                  <a:rPr lang="en-IN" sz="2400">
                    <a:solidFill>
                      <a:srgbClr val="111827"/>
                    </a:solidFill>
                    <a:latin typeface="Cambria Math" panose="02040503050406030204" pitchFamily="18" charset="0"/>
                  </a:rPr>
                  <a:t>$1\in T$</a:t>
                </a:r>
                <a:r>
                  <a:rPr sz="2400" b="0">
                    <a:solidFill>
                      <a:srgbClr val="111827"/>
                    </a:solidFill>
                    <a:latin typeface="Arial"/>
                  </a:rPr>
                  <a:t> and </a:t>
                </a:r>
                <a:r>
                  <a:rPr lang="en-IN" sz="2400">
                    <a:solidFill>
                      <a:srgbClr val="111827"/>
                    </a:solidFill>
                    <a:latin typeface="Cambria Math" panose="02040503050406030204" pitchFamily="18" charset="0"/>
                  </a:rPr>
                  <a:t>$2\notin T$</a:t>
                </a:r>
                <a:r>
                  <a:rPr sz="2400" b="0">
                    <a:solidFill>
                      <a:srgbClr val="111827"/>
                    </a:solidFill>
                    <a:latin typeface="Arial"/>
                  </a:rPr>
                  <a:t>' - the 'or' flips to 'and'. Here </a:t>
                </a:r>
                <a:r>
                  <a:rPr lang="en-IN" sz="2400">
                    <a:solidFill>
                      <a:srgbClr val="111827"/>
                    </a:solidFill>
                    <a:latin typeface="Cambria Math" panose="02040503050406030204" pitchFamily="18" charset="0"/>
                  </a:rPr>
                  <a:t>$n(B')=2^5=32$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Remember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$0$</a:t>
                </a:r>
                <a:r>
                  <a:rPr sz="2400" b="0">
                    <a:solidFill>
                      <a:srgbClr val="111827"/>
                    </a:solidFill>
                    <a:latin typeface="Arial"/>
                  </a:rPr>
                  <a:t> are not primes: the sums </a:t>
                </a:r>
                <a:r>
                  <a:rPr lang="en-IN" sz="2400">
                    <a:solidFill>
                      <a:srgbClr val="111827"/>
                    </a:solidFill>
                    <a:latin typeface="Cambria Math" panose="02040503050406030204" pitchFamily="18" charset="0"/>
                  </a:rPr>
                  <a:t>$1$</a:t>
                </a:r>
                <a:r>
                  <a:rPr sz="2400" b="0">
                    <a:solidFill>
                      <a:srgbClr val="111827"/>
                    </a:solidFill>
                    <a:latin typeface="Arial"/>
                  </a:rPr>
                  <a:t> (for </a:t>
                </a:r>
                <a:r>
                  <a:rPr lang="en-IN" sz="2400">
                    <a:solidFill>
                      <a:srgbClr val="111827"/>
                    </a:solidFill>
                    <a:latin typeface="Cambria Math" panose="02040503050406030204" pitchFamily="18" charset="0"/>
                  </a:rPr>
                  <a:t>$T=\{1\}$</a:t>
                </a:r>
                <a:r>
                  <a:rPr sz="2400" b="0">
                    <a:solidFill>
                      <a:srgbClr val="111827"/>
                    </a:solidFill>
                    <a:latin typeface="Arial"/>
                  </a:rPr>
                  <a:t>) and </a:t>
                </a:r>
                <a:r>
                  <a:rPr lang="en-IN" sz="2400">
                    <a:solidFill>
                      <a:srgbClr val="111827"/>
                    </a:solidFill>
                    <a:latin typeface="Cambria Math" panose="02040503050406030204" pitchFamily="18" charset="0"/>
                  </a:rPr>
                  <a:t>$0$</a:t>
                </a:r>
                <a:r>
                  <a:rPr sz="2400" b="0">
                    <a:solidFill>
                      <a:srgbClr val="111827"/>
                    </a:solidFill>
                    <a:latin typeface="Arial"/>
                  </a:rPr>
                  <a:t> (empty set) count as non-prime.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to have ready for sums: </a:t>
                </a:r>
                <a:r>
                  <a:rPr lang="en-IN" sz="2400">
                    <a:solidFill>
                      <a:srgbClr val="111827"/>
                    </a:solidFill>
                    <a:latin typeface="Cambria Math" panose="02040503050406030204" pitchFamily="18" charset="0"/>
                  </a:rPr>
                  <a:t>$2,3,5,7,11,13,17,19,23,29,31$</a:t>
                </a:r>
                <a:r>
                  <a:rPr sz="2400" b="0">
                    <a:solidFill>
                      <a:srgbClr val="111827"/>
                    </a:solidFill>
                    <a:latin typeface="Arial"/>
                  </a:rPr>
                  <a:t>; the full sum of </a:t>
                </a:r>
                <a:r>
                  <a:rPr lang="en-IN" sz="2400">
                    <a:solidFill>
                      <a:srgbClr val="111827"/>
                    </a:solidFill>
                    <a:latin typeface="Cambria Math" panose="02040503050406030204" pitchFamily="18" charset="0"/>
                  </a:rPr>
                  <a:t>$\{1,\dots,7\}$</a:t>
                </a:r>
                <a:r>
                  <a:rPr sz="2400" b="0">
                    <a:solidFill>
                      <a:srgbClr val="111827"/>
                    </a:solidFill>
                    <a:latin typeface="Arial"/>
                  </a:rPr>
                  <a:t> is </a:t>
                </a:r>
                <a:r>
                  <a:rPr lang="en-IN" sz="2400">
                    <a:solidFill>
                      <a:srgbClr val="111827"/>
                    </a:solidFill>
                    <a:latin typeface="Cambria Math" panose="02040503050406030204" pitchFamily="18" charset="0"/>
                  </a:rPr>
                  <a:t>$28$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________. [JEE(Main) July 2022]</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$A=\{1,2,3,4,5,6,7\}$</a:t>
                </a:r>
                <a:r>
                  <a:rPr sz="2400" b="0">
                    <a:solidFill>
                      <a:srgbClr val="111827"/>
                    </a:solidFill>
                    <a:latin typeface="Arial"/>
                  </a:rPr>
                  <a:t> and </a:t>
                </a:r>
                <a:r>
                  <a:rPr lang="en-IN" sz="2400">
                    <a:solidFill>
                      <a:srgbClr val="111827"/>
                    </a:solidFill>
                    <a:latin typeface="Cambria Math" panose="02040503050406030204" pitchFamily="18" charset="0"/>
                  </a:rPr>
                  <a:t>$B=\{3,6,7,9\}$</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$\{C\subseteq A:C\cap B\ne\phi\}$</a:t>
                </a:r>
                <a:r>
                  <a:rPr sz="2400" b="0">
                    <a:solidFill>
                      <a:srgbClr val="111827"/>
                    </a:solidFill>
                    <a:latin typeface="Arial"/>
                  </a:rPr>
                  <a:t> is ________. [JEE(Main) July 2022]</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complement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subsets disjoint from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and subtract from all subsets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subsets disjoint from </a:t>
                </a:r>
                <a:r>
                  <a:rPr lang="en-IN" sz="2400">
                    <a:solidFill>
                      <a:srgbClr val="78350F"/>
                    </a:solidFill>
                    <a:latin typeface="Cambria Math" panose="02040503050406030204" pitchFamily="18" charset="0"/>
                  </a:rPr>
                  <a:t>$B$</a:t>
                </a:r>
                <a:r>
                  <a:rPr sz="2400" b="0">
                    <a:solidFill>
                      <a:srgbClr val="78350F"/>
                    </a:solidFill>
                    <a:latin typeface="Arial"/>
                  </a:rPr>
                  <a:t> and subtract from all subsets of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subsets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count the complement: the subsets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contains none of the elements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irrelevant).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subsets of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$2^7=128$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count the complement: the subsets </a:t>
                </a:r>
                <a:r>
                  <a:rPr lang="en-IN" sz="2400">
                    <a:solidFill>
                      <a:srgbClr val="111827"/>
                    </a:solidFill>
                    <a:latin typeface="Cambria Math" panose="02040503050406030204" pitchFamily="18" charset="0"/>
                  </a:rPr>
                  <a:t>$C$</a:t>
                </a:r>
                <a:r>
                  <a:rPr sz="2400" b="0">
                    <a:solidFill>
                      <a:srgbClr val="111827"/>
                    </a:solidFill>
                    <a:latin typeface="Arial"/>
                  </a:rPr>
                  <a:t> with </a:t>
                </a:r>
                <a:r>
                  <a:rPr lang="en-IN" sz="2400">
                    <a:solidFill>
                      <a:srgbClr val="111827"/>
                    </a:solidFill>
                    <a:latin typeface="Cambria Math" panose="02040503050406030204" pitchFamily="18" charset="0"/>
                  </a:rPr>
                  <a:t>$C\cap B=\phi$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$C\cap B=\phi$</a:t>
                </a:r>
                <a:r>
                  <a:rPr sz="2400" b="0">
                    <a:solidFill>
                      <a:srgbClr val="111827"/>
                    </a:solidFill>
                    <a:latin typeface="Arial"/>
                  </a:rPr>
                  <a:t> means </a:t>
                </a:r>
                <a:r>
                  <a:rPr lang="en-IN" sz="2400">
                    <a:solidFill>
                      <a:srgbClr val="111827"/>
                    </a:solidFill>
                    <a:latin typeface="Cambria Math" panose="02040503050406030204" pitchFamily="18" charset="0"/>
                  </a:rPr>
                  <a:t>$C$</a:t>
                </a:r>
                <a:r>
                  <a:rPr sz="2400" b="0">
                    <a:solidFill>
                      <a:srgbClr val="111827"/>
                    </a:solidFill>
                    <a:latin typeface="Arial"/>
                  </a:rPr>
                  <a:t> contains none of the elements of </a:t>
                </a:r>
                <a:r>
                  <a:rPr lang="en-IN" sz="2400">
                    <a:solidFill>
                      <a:srgbClr val="111827"/>
                    </a:solidFill>
                    <a:latin typeface="Cambria Math" panose="02040503050406030204" pitchFamily="18" charset="0"/>
                  </a:rPr>
                  <a:t>$A\cap B=\{3,6,7\}$</a:t>
                </a:r>
                <a:r>
                  <a:rPr sz="2400" b="0">
                    <a:solidFill>
                      <a:srgbClr val="111827"/>
                    </a:solidFill>
                    <a:latin typeface="Arial"/>
                  </a:rPr>
                  <a:t> (</a:t>
                </a:r>
                <a:r>
                  <a:rPr lang="en-IN" sz="2400">
                    <a:solidFill>
                      <a:srgbClr val="111827"/>
                    </a:solidFill>
                    <a:latin typeface="Cambria Math" panose="02040503050406030204" pitchFamily="18" charset="0"/>
                  </a:rPr>
                  <a:t>$9\notin A$</a:t>
                </a:r>
                <a:r>
                  <a:rPr sz="2400" b="0">
                    <a:solidFill>
                      <a:srgbClr val="111827"/>
                    </a:solidFill>
                    <a:latin typeface="Arial"/>
                  </a:rPr>
                  <a:t> is irrelevant).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such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can only use the elements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such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such </a:t>
                </a:r>
                <a:r>
                  <a:rPr lang="en-IN" sz="2400">
                    <a:solidFill>
                      <a:srgbClr val="111827"/>
                    </a:solidFill>
                    <a:latin typeface="Cambria Math" panose="02040503050406030204" pitchFamily="18" charset="0"/>
                  </a:rPr>
                  <a:t>$C$</a:t>
                </a:r>
                <a:r>
                  <a:rPr sz="2400" b="0">
                    <a:solidFill>
                      <a:srgbClr val="111827"/>
                    </a:solidFill>
                    <a:latin typeface="Arial"/>
                  </a:rPr>
                  <a:t> can only use the elements </a:t>
                </a:r>
                <a:r>
                  <a:rPr lang="en-IN" sz="2400">
                    <a:solidFill>
                      <a:srgbClr val="111827"/>
                    </a:solidFill>
                    <a:latin typeface="Cambria Math" panose="02040503050406030204" pitchFamily="18" charset="0"/>
                  </a:rPr>
                  <a:t>$1,2,4,5$</a:t>
                </a:r>
                <a:r>
                  <a:rPr sz="2400" b="0">
                    <a:solidFill>
                      <a:srgbClr val="111827"/>
                    </a:solidFill>
                    <a:latin typeface="Arial"/>
                  </a:rPr>
                  <a:t>, i.e. </a:t>
                </a:r>
                <a:r>
                  <a:rPr lang="en-IN" sz="2400">
                    <a:solidFill>
                      <a:srgbClr val="111827"/>
                    </a:solidFill>
                    <a:latin typeface="Cambria Math" panose="02040503050406030204" pitchFamily="18" charset="0"/>
                  </a:rPr>
                  <a:t>$C\subseteq\{1,2,4,5\}$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such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$2^4=16$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$=128-2^4=112$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112</a:t>
            </a:r>
            <a:endParaRPr sz="2800">
              <a:solidFill>
                <a:srgbClr val="15803D"/>
              </a:solidFill>
            </a:endParaRP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elements of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of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independently and use the product rule.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elements of </a:t>
                </a:r>
                <a:r>
                  <a:rPr lang="en-IN" sz="2400">
                    <a:solidFill>
                      <a:srgbClr val="78350F"/>
                    </a:solidFill>
                    <a:latin typeface="Cambria Math" panose="02040503050406030204" pitchFamily="18" charset="0"/>
                  </a:rPr>
                  <a:t>$A\cap B=\{3,6,7\}$</a:t>
                </a:r>
                <a:r>
                  <a:rPr sz="2400" b="0">
                    <a:solidFill>
                      <a:srgbClr val="78350F"/>
                    </a:solidFill>
                    <a:latin typeface="Arial"/>
                  </a:rPr>
                  <a:t> and of </a:t>
                </a:r>
                <a:r>
                  <a:rPr lang="en-IN" sz="2400">
                    <a:solidFill>
                      <a:srgbClr val="78350F"/>
                    </a:solidFill>
                    <a:latin typeface="Cambria Math" panose="02040503050406030204" pitchFamily="18" charset="0"/>
                  </a:rPr>
                  <a:t>$A\setminus B=\{1,2,4,5\}$</a:t>
                </a:r>
                <a:r>
                  <a:rPr sz="2400" b="0">
                    <a:solidFill>
                      <a:srgbClr val="78350F"/>
                    </a:solidFill>
                    <a:latin typeface="Arial"/>
                  </a:rPr>
                  <a:t> independently and use the product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contains at least one of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elements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lying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Choices for the part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inside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non-empty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inside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unrestricted: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product rule, the number of such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$C\cap B\ne\phi$</a:t>
                </a:r>
                <a:r>
                  <a:rPr sz="2400" b="0">
                    <a:solidFill>
                      <a:srgbClr val="111827"/>
                    </a:solidFill>
                    <a:latin typeface="Arial"/>
                  </a:rPr>
                  <a:t> means </a:t>
                </a:r>
                <a:r>
                  <a:rPr lang="en-IN" sz="2400">
                    <a:solidFill>
                      <a:srgbClr val="111827"/>
                    </a:solidFill>
                    <a:latin typeface="Cambria Math" panose="02040503050406030204" pitchFamily="18" charset="0"/>
                  </a:rPr>
                  <a:t>$C$</a:t>
                </a:r>
                <a:r>
                  <a:rPr sz="2400" b="0">
                    <a:solidFill>
                      <a:srgbClr val="111827"/>
                    </a:solidFill>
                    <a:latin typeface="Arial"/>
                  </a:rPr>
                  <a:t> contains at least one of </a:t>
                </a:r>
                <a:r>
                  <a:rPr lang="en-IN" sz="2400">
                    <a:solidFill>
                      <a:srgbClr val="111827"/>
                    </a:solidFill>
                    <a:latin typeface="Cambria Math" panose="02040503050406030204" pitchFamily="18" charset="0"/>
                  </a:rPr>
                  <a:t>$3,6,7$</a:t>
                </a:r>
                <a:r>
                  <a:rPr sz="2400" b="0">
                    <a:solidFill>
                      <a:srgbClr val="111827"/>
                    </a:solidFill>
                    <a:latin typeface="Arial"/>
                  </a:rPr>
                  <a:t> (the elements of </a:t>
                </a:r>
                <a:r>
                  <a:rPr lang="en-IN" sz="2400">
                    <a:solidFill>
                      <a:srgbClr val="111827"/>
                    </a:solidFill>
                    <a:latin typeface="Cambria Math" panose="02040503050406030204" pitchFamily="18" charset="0"/>
                  </a:rPr>
                  <a:t>$A$</a:t>
                </a:r>
                <a:r>
                  <a:rPr sz="2400" b="0">
                    <a:solidFill>
                      <a:srgbClr val="111827"/>
                    </a:solidFill>
                    <a:latin typeface="Arial"/>
                  </a:rPr>
                  <a:t> lying in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Choices for the part of </a:t>
                </a:r>
                <a:r>
                  <a:rPr lang="en-IN" sz="2400">
                    <a:solidFill>
                      <a:srgbClr val="111827"/>
                    </a:solidFill>
                    <a:latin typeface="Cambria Math" panose="02040503050406030204" pitchFamily="18" charset="0"/>
                  </a:rPr>
                  <a:t>$C$</a:t>
                </a:r>
                <a:r>
                  <a:rPr sz="2400" b="0">
                    <a:solidFill>
                      <a:srgbClr val="111827"/>
                    </a:solidFill>
                    <a:latin typeface="Arial"/>
                  </a:rPr>
                  <a:t> inside </a:t>
                </a:r>
                <a:r>
                  <a:rPr lang="en-IN" sz="2400">
                    <a:solidFill>
                      <a:srgbClr val="111827"/>
                    </a:solidFill>
                    <a:latin typeface="Cambria Math" panose="02040503050406030204" pitchFamily="18" charset="0"/>
                  </a:rPr>
                  <a:t>$\{3,6,7\}$</a:t>
                </a:r>
                <a:r>
                  <a:rPr sz="2400" b="0">
                    <a:solidFill>
                      <a:srgbClr val="111827"/>
                    </a:solidFill>
                    <a:latin typeface="Arial"/>
                  </a:rPr>
                  <a:t>: </a:t>
                </a:r>
                <a:r>
                  <a:rPr lang="en-IN" sz="2400">
                    <a:solidFill>
                      <a:srgbClr val="111827"/>
                    </a:solidFill>
                    <a:latin typeface="Cambria Math" panose="02040503050406030204" pitchFamily="18" charset="0"/>
                  </a:rPr>
                  <a:t>$2^3-1=7$</a:t>
                </a:r>
                <a:r>
                  <a:rPr sz="2400" b="0">
                    <a:solidFill>
                      <a:srgbClr val="111827"/>
                    </a:solidFill>
                    <a:latin typeface="Arial"/>
                  </a:rPr>
                  <a:t> non-empty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 of </a:t>
                </a:r>
                <a:r>
                  <a:rPr lang="en-IN" sz="2400">
                    <a:solidFill>
                      <a:srgbClr val="111827"/>
                    </a:solidFill>
                    <a:latin typeface="Cambria Math" panose="02040503050406030204" pitchFamily="18" charset="0"/>
                  </a:rPr>
                  <a:t>$C$</a:t>
                </a:r>
                <a:r>
                  <a:rPr sz="2400" b="0">
                    <a:solidFill>
                      <a:srgbClr val="111827"/>
                    </a:solidFill>
                    <a:latin typeface="Arial"/>
                  </a:rPr>
                  <a:t> inside </a:t>
                </a:r>
                <a:r>
                  <a:rPr lang="en-IN" sz="2400">
                    <a:solidFill>
                      <a:srgbClr val="111827"/>
                    </a:solidFill>
                    <a:latin typeface="Cambria Math" panose="02040503050406030204" pitchFamily="18" charset="0"/>
                  </a:rPr>
                  <a:t>$\{1,2,4,5\}$</a:t>
                </a:r>
                <a:r>
                  <a:rPr sz="2400" b="0">
                    <a:solidFill>
                      <a:srgbClr val="111827"/>
                    </a:solidFill>
                    <a:latin typeface="Arial"/>
                  </a:rPr>
                  <a:t> is unrestricted: </a:t>
                </a:r>
                <a:r>
                  <a:rPr lang="en-IN" sz="2400">
                    <a:solidFill>
                      <a:srgbClr val="111827"/>
                    </a:solidFill>
                    <a:latin typeface="Cambria Math" panose="02040503050406030204" pitchFamily="18" charset="0"/>
                  </a:rPr>
                  <a:t>$2^4=16$</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product rule, the number of such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$7\times16=112$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112</a:t>
            </a:r>
            <a:endParaRPr sz="2800">
              <a:solidFill>
                <a:srgbClr val="15803D"/>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one' counting: total minus none. Subsets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meeting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elements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matter: here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not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it is irrelevant.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rule on a partition of the ground set: subsets of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correspond to pairs (subset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subset of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subsets meeting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one' counting: total minus none. Subsets of </a:t>
                </a:r>
                <a:r>
                  <a:rPr lang="en-IN" sz="2400">
                    <a:solidFill>
                      <a:srgbClr val="111827"/>
                    </a:solidFill>
                    <a:latin typeface="Cambria Math" panose="02040503050406030204" pitchFamily="18" charset="0"/>
                  </a:rPr>
                  <a:t>$A$</a:t>
                </a:r>
                <a:r>
                  <a:rPr sz="2400" b="0">
                    <a:solidFill>
                      <a:srgbClr val="111827"/>
                    </a:solidFill>
                    <a:latin typeface="Arial"/>
                  </a:rPr>
                  <a:t> meeting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$2^{|A|}-2^{|A\setminus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elements of </a:t>
                </a:r>
                <a:r>
                  <a:rPr lang="en-IN" sz="2400">
                    <a:solidFill>
                      <a:srgbClr val="111827"/>
                    </a:solidFill>
                    <a:latin typeface="Cambria Math" panose="02040503050406030204" pitchFamily="18" charset="0"/>
                  </a:rPr>
                  <a:t>$A\cap B$</a:t>
                </a:r>
                <a:r>
                  <a:rPr sz="2400" b="0">
                    <a:solidFill>
                      <a:srgbClr val="111827"/>
                    </a:solidFill>
                    <a:latin typeface="Arial"/>
                  </a:rPr>
                  <a:t> matter: here </a:t>
                </a:r>
                <a:r>
                  <a:rPr lang="en-IN" sz="2400">
                    <a:solidFill>
                      <a:srgbClr val="111827"/>
                    </a:solidFill>
                    <a:latin typeface="Cambria Math" panose="02040503050406030204" pitchFamily="18" charset="0"/>
                  </a:rPr>
                  <a:t>$9\in B$</a:t>
                </a:r>
                <a:r>
                  <a:rPr sz="2400" b="0">
                    <a:solidFill>
                      <a:srgbClr val="111827"/>
                    </a:solidFill>
                    <a:latin typeface="Arial"/>
                  </a:rPr>
                  <a:t> is not in </a:t>
                </a:r>
                <a:r>
                  <a:rPr lang="en-IN" sz="2400">
                    <a:solidFill>
                      <a:srgbClr val="111827"/>
                    </a:solidFill>
                    <a:latin typeface="Cambria Math" panose="02040503050406030204" pitchFamily="18" charset="0"/>
                  </a:rPr>
                  <a:t>$A$</a:t>
                </a:r>
                <a:r>
                  <a:rPr sz="2400" b="0">
                    <a:solidFill>
                      <a:srgbClr val="111827"/>
                    </a:solidFill>
                    <a:latin typeface="Arial"/>
                  </a:rPr>
                  <a:t>, so it is irrelevant.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rule on a partition of the ground set: subsets of </a:t>
                </a:r>
                <a:r>
                  <a:rPr lang="en-IN" sz="2400">
                    <a:solidFill>
                      <a:srgbClr val="111827"/>
                    </a:solidFill>
                    <a:latin typeface="Cambria Math" panose="02040503050406030204" pitchFamily="18" charset="0"/>
                  </a:rPr>
                  <a:t>$X\cup Y$</a:t>
                </a:r>
                <a:r>
                  <a:rPr sz="2400" b="0">
                    <a:solidFill>
                      <a:srgbClr val="111827"/>
                    </a:solidFill>
                    <a:latin typeface="Arial"/>
                  </a:rPr>
                  <a:t> (</a:t>
                </a:r>
                <a:r>
                  <a:rPr lang="en-IN" sz="2400">
                    <a:solidFill>
                      <a:srgbClr val="111827"/>
                    </a:solidFill>
                    <a:latin typeface="Cambria Math" panose="02040503050406030204" pitchFamily="18" charset="0"/>
                  </a:rPr>
                  <a:t>$X\cap Y=\phi$</a:t>
                </a:r>
                <a:r>
                  <a:rPr sz="2400" b="0">
                    <a:solidFill>
                      <a:srgbClr val="111827"/>
                    </a:solidFill>
                    <a:latin typeface="Arial"/>
                  </a:rPr>
                  <a:t>) correspond to pairs (subset of </a:t>
                </a:r>
                <a:r>
                  <a:rPr lang="en-IN" sz="2400">
                    <a:solidFill>
                      <a:srgbClr val="111827"/>
                    </a:solidFill>
                    <a:latin typeface="Cambria Math" panose="02040503050406030204" pitchFamily="18" charset="0"/>
                  </a:rPr>
                  <a:t>$X$</a:t>
                </a:r>
                <a:r>
                  <a:rPr sz="2400" b="0">
                    <a:solidFill>
                      <a:srgbClr val="111827"/>
                    </a:solidFill>
                    <a:latin typeface="Arial"/>
                  </a:rPr>
                  <a:t>, subset of </a:t>
                </a:r>
                <a:r>
                  <a:rPr lang="en-IN" sz="2400">
                    <a:solidFill>
                      <a:srgbClr val="111827"/>
                    </a:solidFill>
                    <a:latin typeface="Cambria Math" panose="02040503050406030204" pitchFamily="18" charset="0"/>
                  </a:rPr>
                  <a:t>$Y$</a:t>
                </a:r>
                <a:r>
                  <a:rPr sz="2400" b="0">
                    <a:solidFill>
                      <a:srgbClr val="111827"/>
                    </a:solidFill>
                    <a:latin typeface="Arial"/>
                  </a:rPr>
                  <a:t>), giving </a:t>
                </a:r>
                <a:r>
                  <a:rPr lang="en-IN" sz="2400">
                    <a:solidFill>
                      <a:srgbClr val="111827"/>
                    </a:solidFill>
                    <a:latin typeface="Cambria Math" panose="02040503050406030204" pitchFamily="18" charset="0"/>
                  </a:rPr>
                  <a:t>$2^{|X|}\cdot2^{|Y|}$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r>
                  <a:rPr lang="en-IN" sz="2400">
                    <a:solidFill>
                      <a:srgbClr val="111827"/>
                    </a:solidFill>
                    <a:latin typeface="Cambria Math" panose="02040503050406030204" pitchFamily="18" charset="0"/>
                  </a:rPr>
                  <a:t>$A=\{1,2\}$</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subsets meeting </a:t>
                </a:r>
                <a:r>
                  <a:rPr lang="en-IN" sz="2400">
                    <a:solidFill>
                      <a:srgbClr val="111827"/>
                    </a:solidFill>
                    <a:latin typeface="Cambria Math" panose="02040503050406030204" pitchFamily="18" charset="0"/>
                  </a:rPr>
                  <a:t>$B$</a:t>
                </a:r>
                <a:r>
                  <a:rPr sz="2400" b="0">
                    <a:solidFill>
                      <a:srgbClr val="111827"/>
                    </a:solidFill>
                    <a:latin typeface="Arial"/>
                  </a:rPr>
                  <a:t> are </a:t>
                </a:r>
                <a:r>
                  <a:rPr lang="en-IN" sz="2400">
                    <a:solidFill>
                      <a:srgbClr val="111827"/>
                    </a:solidFill>
                    <a:latin typeface="Cambria Math" panose="02040503050406030204" pitchFamily="18" charset="0"/>
                  </a:rPr>
                  <a:t>$\{2\},\{1,2\}$</a:t>
                </a:r>
                <a:r>
                  <a:rPr sz="2400" b="0">
                    <a:solidFill>
                      <a:srgbClr val="111827"/>
                    </a:solidFill>
                    <a:latin typeface="Arial"/>
                  </a:rPr>
                  <a:t>, and </a:t>
                </a:r>
                <a:r>
                  <a:rPr lang="en-IN" sz="2400">
                    <a:solidFill>
                      <a:srgbClr val="111827"/>
                    </a:solidFill>
                    <a:latin typeface="Cambria Math" panose="02040503050406030204" pitchFamily="18" charset="0"/>
                  </a:rPr>
                  <a:t>$2^2-2^1=2$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in the set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equal to ______. [JEE(Main) July 2022]</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$S=\{4,6,9\}$</a:t>
                </a:r>
                <a:r>
                  <a:rPr sz="2400" b="0">
                    <a:solidFill>
                      <a:srgbClr val="111827"/>
                    </a:solidFill>
                    <a:latin typeface="Arial"/>
                  </a:rPr>
                  <a:t> and </a:t>
                </a:r>
                <a:r>
                  <a:rPr lang="en-IN" sz="2400">
                    <a:solidFill>
                      <a:srgbClr val="111827"/>
                    </a:solidFill>
                    <a:latin typeface="Cambria Math" panose="02040503050406030204" pitchFamily="18" charset="0"/>
                  </a:rPr>
                  <a:t>$T=\{9,10,11,\ldots,1000\}$</a:t>
                </a:r>
                <a:r>
                  <a:rPr sz="2400" b="0">
                    <a:solidFill>
                      <a:srgbClr val="111827"/>
                    </a:solidFill>
                    <a:latin typeface="Arial"/>
                  </a:rPr>
                  <a:t>. If </a:t>
                </a:r>
                <a:r>
                  <a:rPr lang="en-IN" sz="2400">
                    <a:solidFill>
                      <a:srgbClr val="111827"/>
                    </a:solidFill>
                    <a:latin typeface="Cambria Math" panose="02040503050406030204" pitchFamily="18" charset="0"/>
                  </a:rPr>
                  <a:t>$A=\{a_1+a_2+\cdots+a_k : k\in\mathbb{N},\ a_1,a_2,\ldots,a_k\in S\}$</a:t>
                </a:r>
                <a:r>
                  <a:rPr sz="2400" b="0">
                    <a:solidFill>
                      <a:srgbClr val="111827"/>
                    </a:solidFill>
                    <a:latin typeface="Arial"/>
                  </a:rPr>
                  <a:t>, then the sum of all the elements in the set </a:t>
                </a:r>
                <a:r>
                  <a:rPr lang="en-IN" sz="2400">
                    <a:solidFill>
                      <a:srgbClr val="111827"/>
                    </a:solidFill>
                    <a:latin typeface="Cambria Math" panose="02040503050406030204" pitchFamily="18" charset="0"/>
                  </a:rPr>
                  <a:t>$T-A$</a:t>
                </a:r>
                <a:r>
                  <a:rPr sz="2400" b="0">
                    <a:solidFill>
                      <a:srgbClr val="111827"/>
                    </a:solidFill>
                    <a:latin typeface="Arial"/>
                  </a:rPr>
                  <a:t> is equal to ______. [JEE(Main) July 2022]</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Set operations (difference of sets), Linear combinations of integers (coin problem)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the set of all non-negative combinations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𝑧</m:t>
                    </m:r>
                  </m:oMath>
                </a14:m>
                <a:r>
                  <a:rPr sz="2400" b="0">
                    <a:solidFill>
                      <a:srgbClr val="78350F"/>
                    </a:solidFill>
                    <a:latin typeface="Arial"/>
                  </a:rPr>
                  <a:t> (not all zero); the only number in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not of this form is </a:t>
                </a:r>
                <a14:m>
                  <m:oMath xmlns:m="http://schemas.openxmlformats.org/officeDocument/2006/math">
                    <m:r>
                      <a:rPr lang="en-IN" sz="2400" i="1">
                        <a:solidFill>
                          <a:srgbClr val="78350F"/>
                        </a:solidFill>
                        <a:latin typeface="Cambria Math" panose="02040503050406030204" pitchFamily="18" charset="0"/>
                      </a:rPr>
                      <m:t>11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a:t>
                </a:r>
                <a:r>
                  <a:rPr sz="2400" b="0">
                    <a:solidFill>
                      <a:srgbClr val="78350F"/>
                    </a:solidFill>
                    <a:latin typeface="Arial"/>
                  </a:rPr>
                  <a:t> is the set of all non-negative combinations </a:t>
                </a:r>
                <a:r>
                  <a:rPr lang="en-IN" sz="2400">
                    <a:solidFill>
                      <a:srgbClr val="78350F"/>
                    </a:solidFill>
                    <a:latin typeface="Cambria Math" panose="02040503050406030204" pitchFamily="18" charset="0"/>
                  </a:rPr>
                  <a:t>$4x+6y+9z$</a:t>
                </a:r>
                <a:r>
                  <a:rPr sz="2400" b="0">
                    <a:solidFill>
                      <a:srgbClr val="78350F"/>
                    </a:solidFill>
                    <a:latin typeface="Arial"/>
                  </a:rPr>
                  <a:t> (not all zero); the only number in </a:t>
                </a:r>
                <a:r>
                  <a:rPr lang="en-IN" sz="2400">
                    <a:solidFill>
                      <a:srgbClr val="78350F"/>
                    </a:solidFill>
                    <a:latin typeface="Cambria Math" panose="02040503050406030204" pitchFamily="18" charset="0"/>
                  </a:rPr>
                  <a:t>$T$</a:t>
                </a:r>
                <a:r>
                  <a:rPr sz="2400" b="0">
                    <a:solidFill>
                      <a:srgbClr val="78350F"/>
                    </a:solidFill>
                    <a:latin typeface="Arial"/>
                  </a:rPr>
                  <a:t> not of this form is </a:t>
                </a:r>
                <a:r>
                  <a:rPr lang="en-IN" sz="2400">
                    <a:solidFill>
                      <a:srgbClr val="78350F"/>
                    </a:solidFill>
                    <a:latin typeface="Cambria Math" panose="02040503050406030204" pitchFamily="18" charset="0"/>
                  </a:rPr>
                  <a:t>$11$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member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 sum of one or more elements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repeats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definition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non-negative integers, not all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 claims: except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every element of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has this form. Check the start of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are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are not sums of elements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 sums below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are only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no combination gives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$S=\{4,6,9\}$</a:t>
                </a:r>
                <a:r>
                  <a:rPr sz="2400" b="0">
                    <a:solidFill>
                      <a:srgbClr val="111827"/>
                    </a:solidFill>
                    <a:latin typeface="Arial"/>
                  </a:rPr>
                  <a:t> and </a:t>
                </a:r>
                <a:r>
                  <a:rPr lang="en-IN" sz="2400">
                    <a:solidFill>
                      <a:srgbClr val="111827"/>
                    </a:solidFill>
                    <a:latin typeface="Cambria Math" panose="02040503050406030204" pitchFamily="18" charset="0"/>
                  </a:rPr>
                  <a:t>$T=\{9,10,11,\ldots,1000\}$</a:t>
                </a:r>
                <a:r>
                  <a:rPr sz="2400" b="0">
                    <a:solidFill>
                      <a:srgbClr val="111827"/>
                    </a:solidFill>
                    <a:latin typeface="Arial"/>
                  </a:rPr>
                  <a:t>. A member of </a:t>
                </a:r>
                <a:r>
                  <a:rPr lang="en-IN" sz="2400">
                    <a:solidFill>
                      <a:srgbClr val="111827"/>
                    </a:solidFill>
                    <a:latin typeface="Cambria Math" panose="02040503050406030204" pitchFamily="18" charset="0"/>
                  </a:rPr>
                  <a:t>$A$</a:t>
                </a:r>
                <a:r>
                  <a:rPr sz="2400" b="0">
                    <a:solidFill>
                      <a:srgbClr val="111827"/>
                    </a:solidFill>
                    <a:latin typeface="Arial"/>
                  </a:rPr>
                  <a:t> is a sum of one or more elements of </a:t>
                </a:r>
                <a:r>
                  <a:rPr lang="en-IN" sz="2400">
                    <a:solidFill>
                      <a:srgbClr val="111827"/>
                    </a:solidFill>
                    <a:latin typeface="Cambria Math" panose="02040503050406030204" pitchFamily="18" charset="0"/>
                  </a:rPr>
                  <a:t>$S$</a:t>
                </a:r>
                <a:r>
                  <a:rPr sz="2400" b="0">
                    <a:solidFill>
                      <a:srgbClr val="111827"/>
                    </a:solidFill>
                    <a:latin typeface="Arial"/>
                  </a:rPr>
                  <a:t>, repeats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definition of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$A=\{a : a=4x+6y+9z\}$</a:t>
                </a:r>
                <a:r>
                  <a:rPr sz="2400" b="0">
                    <a:solidFill>
                      <a:srgbClr val="111827"/>
                    </a:solidFill>
                    <a:latin typeface="Arial"/>
                  </a:rPr>
                  <a:t> with </a:t>
                </a:r>
                <a:r>
                  <a:rPr lang="en-IN" sz="2400">
                    <a:solidFill>
                      <a:srgbClr val="111827"/>
                    </a:solidFill>
                    <a:latin typeface="Cambria Math" panose="02040503050406030204" pitchFamily="18" charset="0"/>
                  </a:rPr>
                  <a:t>$x,y,z$</a:t>
                </a:r>
                <a:r>
                  <a:rPr sz="2400" b="0">
                    <a:solidFill>
                      <a:srgbClr val="111827"/>
                    </a:solidFill>
                    <a:latin typeface="Arial"/>
                  </a:rPr>
                  <a:t> non-negative integers, not all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 claims: except </a:t>
                </a:r>
                <a:r>
                  <a:rPr lang="en-IN" sz="2400">
                    <a:solidFill>
                      <a:srgbClr val="111827"/>
                    </a:solidFill>
                    <a:latin typeface="Cambria Math" panose="02040503050406030204" pitchFamily="18" charset="0"/>
                  </a:rPr>
                  <a:t>$11$</a:t>
                </a:r>
                <a:r>
                  <a:rPr sz="2400" b="0">
                    <a:solidFill>
                      <a:srgbClr val="111827"/>
                    </a:solidFill>
                    <a:latin typeface="Arial"/>
                  </a:rPr>
                  <a:t>, every element of </a:t>
                </a:r>
                <a:r>
                  <a:rPr lang="en-IN" sz="2400">
                    <a:solidFill>
                      <a:srgbClr val="111827"/>
                    </a:solidFill>
                    <a:latin typeface="Cambria Math" panose="02040503050406030204" pitchFamily="18" charset="0"/>
                  </a:rPr>
                  <a:t>$T$</a:t>
                </a:r>
                <a:r>
                  <a:rPr sz="2400" b="0">
                    <a:solidFill>
                      <a:srgbClr val="111827"/>
                    </a:solidFill>
                    <a:latin typeface="Arial"/>
                  </a:rPr>
                  <a:t> has this form. Check the start of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$9=9$</a:t>
                </a:r>
                <a:r>
                  <a:rPr sz="2400" b="0">
                    <a:solidFill>
                      <a:srgbClr val="111827"/>
                    </a:solidFill>
                    <a:latin typeface="Arial"/>
                  </a:rPr>
                  <a:t> and </a:t>
                </a:r>
                <a:r>
                  <a:rPr lang="en-IN" sz="2400">
                    <a:solidFill>
                      <a:srgbClr val="111827"/>
                    </a:solidFill>
                    <a:latin typeface="Cambria Math" panose="02040503050406030204" pitchFamily="18" charset="0"/>
                  </a:rPr>
                  <a:t>$10=4+6$</a:t>
                </a:r>
                <a:r>
                  <a:rPr sz="2400" b="0">
                    <a:solidFill>
                      <a:srgbClr val="111827"/>
                    </a:solidFill>
                    <a:latin typeface="Arial"/>
                  </a:rPr>
                  <a:t> are in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$11\notin A$</a:t>
                </a:r>
                <a:r>
                  <a:rPr sz="2400" b="0">
                    <a:solidFill>
                      <a:srgbClr val="111827"/>
                    </a:solidFill>
                    <a:latin typeface="Arial"/>
                  </a:rPr>
                  <a:t>: </a:t>
                </a:r>
                <a:r>
                  <a:rPr lang="en-IN" sz="2400">
                    <a:solidFill>
                      <a:srgbClr val="111827"/>
                    </a:solidFill>
                    <a:latin typeface="Cambria Math" panose="02040503050406030204" pitchFamily="18" charset="0"/>
                  </a:rPr>
                  <a:t>$11-9=2$</a:t>
                </a:r>
                <a:r>
                  <a:rPr sz="2400" b="0">
                    <a:solidFill>
                      <a:srgbClr val="111827"/>
                    </a:solidFill>
                    <a:latin typeface="Arial"/>
                  </a:rPr>
                  <a:t>, </a:t>
                </a:r>
                <a:r>
                  <a:rPr lang="en-IN" sz="2400">
                    <a:solidFill>
                      <a:srgbClr val="111827"/>
                    </a:solidFill>
                    <a:latin typeface="Cambria Math" panose="02040503050406030204" pitchFamily="18" charset="0"/>
                  </a:rPr>
                  <a:t>$11-6=5$</a:t>
                </a:r>
                <a:r>
                  <a:rPr sz="2400" b="0">
                    <a:solidFill>
                      <a:srgbClr val="111827"/>
                    </a:solidFill>
                    <a:latin typeface="Arial"/>
                  </a:rPr>
                  <a:t>, </a:t>
                </a:r>
                <a:r>
                  <a:rPr lang="en-IN" sz="2400">
                    <a:solidFill>
                      <a:srgbClr val="111827"/>
                    </a:solidFill>
                    <a:latin typeface="Cambria Math" panose="02040503050406030204" pitchFamily="18" charset="0"/>
                  </a:rPr>
                  <a:t>$11-4=7$</a:t>
                </a:r>
                <a:r>
                  <a:rPr sz="2400" b="0">
                    <a:solidFill>
                      <a:srgbClr val="111827"/>
                    </a:solidFill>
                    <a:latin typeface="Arial"/>
                  </a:rPr>
                  <a:t> are not sums of elements of </a:t>
                </a:r>
                <a:r>
                  <a:rPr lang="en-IN" sz="2400">
                    <a:solidFill>
                      <a:srgbClr val="111827"/>
                    </a:solidFill>
                    <a:latin typeface="Cambria Math" panose="02040503050406030204" pitchFamily="18" charset="0"/>
                  </a:rPr>
                  <a:t>$S$</a:t>
                </a:r>
                <a:r>
                  <a:rPr sz="2400" b="0">
                    <a:solidFill>
                      <a:srgbClr val="111827"/>
                    </a:solidFill>
                    <a:latin typeface="Arial"/>
                  </a:rPr>
                  <a:t> (the sums below </a:t>
                </a:r>
                <a:r>
                  <a:rPr lang="en-IN" sz="2400">
                    <a:solidFill>
                      <a:srgbClr val="111827"/>
                    </a:solidFill>
                    <a:latin typeface="Cambria Math" panose="02040503050406030204" pitchFamily="18" charset="0"/>
                  </a:rPr>
                  <a:t>$11$</a:t>
                </a:r>
                <a:r>
                  <a:rPr sz="2400" b="0">
                    <a:solidFill>
                      <a:srgbClr val="111827"/>
                    </a:solidFill>
                    <a:latin typeface="Arial"/>
                  </a:rPr>
                  <a:t> are only </a:t>
                </a:r>
                <a:r>
                  <a:rPr lang="en-IN" sz="2400">
                    <a:solidFill>
                      <a:srgbClr val="111827"/>
                    </a:solidFill>
                    <a:latin typeface="Cambria Math" panose="02040503050406030204" pitchFamily="18" charset="0"/>
                  </a:rPr>
                  <a:t>$4,6,8,9,10$</a:t>
                </a:r>
                <a:r>
                  <a:rPr sz="2400" b="0">
                    <a:solidFill>
                      <a:srgbClr val="111827"/>
                    </a:solidFill>
                    <a:latin typeface="Arial"/>
                  </a:rPr>
                  <a:t>), so no combination gives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four consecutive integers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are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to a member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gives a member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generate every integer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every element of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other than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lies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the elements of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$12=4+4+4$</a:t>
                </a:r>
                <a:r>
                  <a:rPr sz="2400" b="0">
                    <a:solidFill>
                      <a:srgbClr val="111827"/>
                    </a:solidFill>
                    <a:latin typeface="Arial"/>
                  </a:rPr>
                  <a:t>, </a:t>
                </a:r>
                <a:r>
                  <a:rPr lang="en-IN" sz="2400">
                    <a:solidFill>
                      <a:srgbClr val="111827"/>
                    </a:solidFill>
                    <a:latin typeface="Cambria Math" panose="02040503050406030204" pitchFamily="18" charset="0"/>
                  </a:rPr>
                  <a:t>$13=4+9$</a:t>
                </a:r>
                <a:r>
                  <a:rPr sz="2400" b="0">
                    <a:solidFill>
                      <a:srgbClr val="111827"/>
                    </a:solidFill>
                    <a:latin typeface="Arial"/>
                  </a:rPr>
                  <a:t>, </a:t>
                </a:r>
                <a:r>
                  <a:rPr lang="en-IN" sz="2400">
                    <a:solidFill>
                      <a:srgbClr val="111827"/>
                    </a:solidFill>
                    <a:latin typeface="Cambria Math" panose="02040503050406030204" pitchFamily="18" charset="0"/>
                  </a:rPr>
                  <a:t>$14=4+4+6$</a:t>
                </a:r>
                <a:r>
                  <a:rPr sz="2400" b="0">
                    <a:solidFill>
                      <a:srgbClr val="111827"/>
                    </a:solidFill>
                    <a:latin typeface="Arial"/>
                  </a:rPr>
                  <a:t>, </a:t>
                </a:r>
                <a:r>
                  <a:rPr lang="en-IN" sz="2400">
                    <a:solidFill>
                      <a:srgbClr val="111827"/>
                    </a:solidFill>
                    <a:latin typeface="Cambria Math" panose="02040503050406030204" pitchFamily="18" charset="0"/>
                  </a:rPr>
                  <a:t>$15=6+9$</a:t>
                </a:r>
                <a:r>
                  <a:rPr sz="2400" b="0">
                    <a:solidFill>
                      <a:srgbClr val="111827"/>
                    </a:solidFill>
                    <a:latin typeface="Arial"/>
                  </a:rPr>
                  <a:t>: four consecutive integers </a:t>
                </a:r>
                <a:r>
                  <a:rPr lang="en-IN" sz="2400">
                    <a:solidFill>
                      <a:srgbClr val="111827"/>
                    </a:solidFill>
                    <a:latin typeface="Cambria Math" panose="02040503050406030204" pitchFamily="18" charset="0"/>
                  </a:rPr>
                  <a:t>$12$</a:t>
                </a:r>
                <a:r>
                  <a:rPr sz="2400" b="0">
                    <a:solidFill>
                      <a:srgbClr val="111827"/>
                    </a:solidFill>
                    <a:latin typeface="Arial"/>
                  </a:rPr>
                  <a:t> to </a:t>
                </a:r>
                <a:r>
                  <a:rPr lang="en-IN" sz="2400">
                    <a:solidFill>
                      <a:srgbClr val="111827"/>
                    </a:solidFill>
                    <a:latin typeface="Cambria Math" panose="02040503050406030204" pitchFamily="18" charset="0"/>
                  </a:rPr>
                  <a:t>$15$</a:t>
                </a:r>
                <a:r>
                  <a:rPr sz="2400" b="0">
                    <a:solidFill>
                      <a:srgbClr val="111827"/>
                    </a:solidFill>
                    <a:latin typeface="Arial"/>
                  </a:rPr>
                  <a:t> are in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$4$</a:t>
                </a:r>
                <a:r>
                  <a:rPr sz="2400" b="0">
                    <a:solidFill>
                      <a:srgbClr val="111827"/>
                    </a:solidFill>
                    <a:latin typeface="Arial"/>
                  </a:rPr>
                  <a:t> to a member of </a:t>
                </a:r>
                <a:r>
                  <a:rPr lang="en-IN" sz="2400">
                    <a:solidFill>
                      <a:srgbClr val="111827"/>
                    </a:solidFill>
                    <a:latin typeface="Cambria Math" panose="02040503050406030204" pitchFamily="18" charset="0"/>
                  </a:rPr>
                  <a:t>$A$</a:t>
                </a:r>
                <a:r>
                  <a:rPr sz="2400" b="0">
                    <a:solidFill>
                      <a:srgbClr val="111827"/>
                    </a:solidFill>
                    <a:latin typeface="Arial"/>
                  </a:rPr>
                  <a:t> gives a member of </a:t>
                </a:r>
                <a:r>
                  <a:rPr lang="en-IN" sz="2400">
                    <a:solidFill>
                      <a:srgbClr val="111827"/>
                    </a:solidFill>
                    <a:latin typeface="Cambria Math" panose="02040503050406030204" pitchFamily="18" charset="0"/>
                  </a:rPr>
                  <a:t>$A$</a:t>
                </a:r>
                <a:r>
                  <a:rPr sz="2400" b="0">
                    <a:solidFill>
                      <a:srgbClr val="111827"/>
                    </a:solidFill>
                    <a:latin typeface="Arial"/>
                  </a:rPr>
                  <a:t>, so </a:t>
                </a:r>
                <a:r>
                  <a:rPr lang="en-IN" sz="2400">
                    <a:solidFill>
                      <a:srgbClr val="111827"/>
                    </a:solidFill>
                    <a:latin typeface="Cambria Math" panose="02040503050406030204" pitchFamily="18" charset="0"/>
                  </a:rPr>
                  <a:t>$12,13,14,15$</a:t>
                </a:r>
                <a:r>
                  <a:rPr sz="2400" b="0">
                    <a:solidFill>
                      <a:srgbClr val="111827"/>
                    </a:solidFill>
                    <a:latin typeface="Arial"/>
                  </a:rPr>
                  <a:t> generate every integer </a:t>
                </a:r>
                <a:r>
                  <a:rPr lang="en-IN" sz="2400">
                    <a:solidFill>
                      <a:srgbClr val="111827"/>
                    </a:solidFill>
                    <a:latin typeface="Cambria Math" panose="02040503050406030204" pitchFamily="18" charset="0"/>
                  </a:rPr>
                  <a:t>$n\ge12$</a:t>
                </a:r>
                <a:r>
                  <a:rPr sz="2400" b="0">
                    <a:solidFill>
                      <a:srgbClr val="111827"/>
                    </a:solidFill>
                    <a:latin typeface="Arial"/>
                  </a:rPr>
                  <a:t> (as </a:t>
                </a:r>
                <a:r>
                  <a:rPr lang="en-IN" sz="2400">
                    <a:solidFill>
                      <a:srgbClr val="111827"/>
                    </a:solidFill>
                    <a:latin typeface="Cambria Math" panose="02040503050406030204" pitchFamily="18" charset="0"/>
                  </a:rPr>
                  <a:t>$n=12+r+4m$</a:t>
                </a:r>
                <a:r>
                  <a:rPr sz="2400" b="0">
                    <a:solidFill>
                      <a:srgbClr val="111827"/>
                    </a:solidFill>
                    <a:latin typeface="Arial"/>
                  </a:rPr>
                  <a:t>, </a:t>
                </a:r>
                <a:r>
                  <a:rPr lang="en-IN" sz="2400">
                    <a:solidFill>
                      <a:srgbClr val="111827"/>
                    </a:solidFill>
                    <a:latin typeface="Cambria Math" panose="02040503050406030204" pitchFamily="18" charset="0"/>
                  </a:rPr>
                  <a:t>$r\in\{0,1,2,3\}$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every element of </a:t>
                </a:r>
                <a:r>
                  <a:rPr lang="en-IN" sz="2400">
                    <a:solidFill>
                      <a:srgbClr val="111827"/>
                    </a:solidFill>
                    <a:latin typeface="Cambria Math" panose="02040503050406030204" pitchFamily="18" charset="0"/>
                  </a:rPr>
                  <a:t>$T$</a:t>
                </a:r>
                <a:r>
                  <a:rPr sz="2400" b="0">
                    <a:solidFill>
                      <a:srgbClr val="111827"/>
                    </a:solidFill>
                    <a:latin typeface="Arial"/>
                  </a:rPr>
                  <a:t> other than </a:t>
                </a:r>
                <a:r>
                  <a:rPr lang="en-IN" sz="2400">
                    <a:solidFill>
                      <a:srgbClr val="111827"/>
                    </a:solidFill>
                    <a:latin typeface="Cambria Math" panose="02040503050406030204" pitchFamily="18" charset="0"/>
                  </a:rPr>
                  <a:t>$11$</a:t>
                </a:r>
                <a:r>
                  <a:rPr sz="2400" b="0">
                    <a:solidFill>
                      <a:srgbClr val="111827"/>
                    </a:solidFill>
                    <a:latin typeface="Arial"/>
                  </a:rPr>
                  <a:t> lies in </a:t>
                </a:r>
                <a:r>
                  <a:rPr lang="en-IN" sz="2400">
                    <a:solidFill>
                      <a:srgbClr val="111827"/>
                    </a:solidFill>
                    <a:latin typeface="Cambria Math" panose="02040503050406030204" pitchFamily="18" charset="0"/>
                  </a:rPr>
                  <a:t>$A$</a:t>
                </a:r>
                <a:r>
                  <a:rPr sz="2400" b="0">
                    <a:solidFill>
                      <a:srgbClr val="111827"/>
                    </a:solidFill>
                    <a:latin typeface="Arial"/>
                  </a:rPr>
                  <a:t>, so </a:t>
                </a:r>
                <a:r>
                  <a:rPr lang="en-IN" sz="2400">
                    <a:solidFill>
                      <a:srgbClr val="111827"/>
                    </a:solidFill>
                    <a:latin typeface="Cambria Math" panose="02040503050406030204" pitchFamily="18" charset="0"/>
                  </a:rPr>
                  <a:t>$T-A=\{11\}$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the elements of </a:t>
                </a:r>
                <a:r>
                  <a:rPr lang="en-IN" sz="2400">
                    <a:solidFill>
                      <a:srgbClr val="111827"/>
                    </a:solidFill>
                    <a:latin typeface="Cambria Math" panose="02040503050406030204" pitchFamily="18" charset="0"/>
                  </a:rPr>
                  <a:t>$T-A$</a:t>
                </a:r>
                <a:r>
                  <a:rPr sz="2400" b="0">
                    <a:solidFill>
                      <a:srgbClr val="111827"/>
                    </a:solidFill>
                    <a:latin typeface="Arial"/>
                  </a:rPr>
                  <a:t>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modulo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find the smallest member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in each residue class mod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every larger number of that class is in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by adding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modulo </a:t>
                </a:r>
                <a:r>
                  <a:rPr lang="en-IN" sz="2400">
                    <a:solidFill>
                      <a:srgbClr val="78350F"/>
                    </a:solidFill>
                    <a:latin typeface="Cambria Math" panose="02040503050406030204" pitchFamily="18" charset="0"/>
                  </a:rPr>
                  <a:t>$4$</a:t>
                </a:r>
                <a:r>
                  <a:rPr sz="2400" b="0">
                    <a:solidFill>
                      <a:srgbClr val="78350F"/>
                    </a:solidFill>
                    <a:latin typeface="Arial"/>
                  </a:rPr>
                  <a:t>: find the smallest member of </a:t>
                </a:r>
                <a:r>
                  <a:rPr lang="en-IN" sz="2400">
                    <a:solidFill>
                      <a:srgbClr val="78350F"/>
                    </a:solidFill>
                    <a:latin typeface="Cambria Math" panose="02040503050406030204" pitchFamily="18" charset="0"/>
                  </a:rPr>
                  <a:t>$A$</a:t>
                </a:r>
                <a:r>
                  <a:rPr sz="2400" b="0">
                    <a:solidFill>
                      <a:srgbClr val="78350F"/>
                    </a:solidFill>
                    <a:latin typeface="Arial"/>
                  </a:rPr>
                  <a:t> in each residue class mod </a:t>
                </a:r>
                <a:r>
                  <a:rPr lang="en-IN" sz="2400">
                    <a:solidFill>
                      <a:srgbClr val="78350F"/>
                    </a:solidFill>
                    <a:latin typeface="Cambria Math" panose="02040503050406030204" pitchFamily="18" charset="0"/>
                  </a:rPr>
                  <a:t>$4$</a:t>
                </a:r>
                <a:r>
                  <a:rPr sz="2400" b="0">
                    <a:solidFill>
                      <a:srgbClr val="78350F"/>
                    </a:solidFill>
                    <a:latin typeface="Arial"/>
                  </a:rPr>
                  <a:t>; every larger number of that class is in </a:t>
                </a:r>
                <a:r>
                  <a:rPr lang="en-IN" sz="2400">
                    <a:solidFill>
                      <a:srgbClr val="78350F"/>
                    </a:solidFill>
                    <a:latin typeface="Cambria Math" panose="02040503050406030204" pitchFamily="18" charset="0"/>
                  </a:rPr>
                  <a:t>$A$</a:t>
                </a:r>
                <a:r>
                  <a:rPr sz="2400" b="0">
                    <a:solidFill>
                      <a:srgbClr val="78350F"/>
                    </a:solidFill>
                    <a:latin typeface="Arial"/>
                  </a:rPr>
                  <a:t> by adding </a:t>
                </a:r>
                <a:r>
                  <a:rPr lang="en-IN" sz="2400">
                    <a:solidFill>
                      <a:srgbClr val="78350F"/>
                    </a:solidFill>
                    <a:latin typeface="Cambria Math" panose="02040503050406030204" pitchFamily="18" charset="0"/>
                  </a:rPr>
                  <a:t>$4$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keeps a number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for each residue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only the smallest member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with that residue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Residue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Residue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members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below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none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least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members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below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(residues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none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the least is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$4$</a:t>
                </a:r>
                <a:r>
                  <a:rPr sz="2400" b="0">
                    <a:solidFill>
                      <a:srgbClr val="111827"/>
                    </a:solidFill>
                    <a:latin typeface="Arial"/>
                  </a:rPr>
                  <a:t> keeps a number in </a:t>
                </a:r>
                <a:r>
                  <a:rPr lang="en-IN" sz="2400">
                    <a:solidFill>
                      <a:srgbClr val="111827"/>
                    </a:solidFill>
                    <a:latin typeface="Cambria Math" panose="02040503050406030204" pitchFamily="18" charset="0"/>
                  </a:rPr>
                  <a:t>$A$</a:t>
                </a:r>
                <a:r>
                  <a:rPr sz="2400" b="0">
                    <a:solidFill>
                      <a:srgbClr val="111827"/>
                    </a:solidFill>
                    <a:latin typeface="Arial"/>
                  </a:rPr>
                  <a:t>, so for each residue </a:t>
                </a:r>
                <a:r>
                  <a:rPr lang="en-IN" sz="2400">
                    <a:solidFill>
                      <a:srgbClr val="111827"/>
                    </a:solidFill>
                    <a:latin typeface="Cambria Math" panose="02040503050406030204" pitchFamily="18" charset="0"/>
                  </a:rPr>
                  <a:t>$r$</a:t>
                </a:r>
                <a:r>
                  <a:rPr sz="2400" b="0">
                    <a:solidFill>
                      <a:srgbClr val="111827"/>
                    </a:solidFill>
                    <a:latin typeface="Arial"/>
                  </a:rPr>
                  <a:t> mod </a:t>
                </a:r>
                <a:r>
                  <a:rPr lang="en-IN" sz="2400">
                    <a:solidFill>
                      <a:srgbClr val="111827"/>
                    </a:solidFill>
                    <a:latin typeface="Cambria Math" panose="02040503050406030204" pitchFamily="18" charset="0"/>
                  </a:rPr>
                  <a:t>$4$</a:t>
                </a:r>
                <a:r>
                  <a:rPr sz="2400" b="0">
                    <a:solidFill>
                      <a:srgbClr val="111827"/>
                    </a:solidFill>
                    <a:latin typeface="Arial"/>
                  </a:rPr>
                  <a:t> only the smallest member of </a:t>
                </a:r>
                <a:r>
                  <a:rPr lang="en-IN" sz="2400">
                    <a:solidFill>
                      <a:srgbClr val="111827"/>
                    </a:solidFill>
                    <a:latin typeface="Cambria Math" panose="02040503050406030204" pitchFamily="18" charset="0"/>
                  </a:rPr>
                  <a:t>$A$</a:t>
                </a:r>
                <a:r>
                  <a:rPr sz="2400" b="0">
                    <a:solidFill>
                      <a:srgbClr val="111827"/>
                    </a:solidFill>
                    <a:latin typeface="Arial"/>
                  </a:rPr>
                  <a:t> with that residue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Residue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Residue </a:t>
                </a:r>
                <a:r>
                  <a:rPr lang="en-IN" sz="2400">
                    <a:solidFill>
                      <a:srgbClr val="111827"/>
                    </a:solidFill>
                    <a:latin typeface="Cambria Math" panose="02040503050406030204" pitchFamily="18" charset="0"/>
                  </a:rPr>
                  <a:t>$1$</a:t>
                </a:r>
                <a:r>
                  <a:rPr sz="2400" b="0">
                    <a:solidFill>
                      <a:srgbClr val="111827"/>
                    </a:solidFill>
                    <a:latin typeface="Arial"/>
                  </a:rPr>
                  <a:t>: the members of </a:t>
                </a:r>
                <a:r>
                  <a:rPr lang="en-IN" sz="2400">
                    <a:solidFill>
                      <a:srgbClr val="111827"/>
                    </a:solidFill>
                    <a:latin typeface="Cambria Math" panose="02040503050406030204" pitchFamily="18" charset="0"/>
                  </a:rPr>
                  <a:t>$A$</a:t>
                </a:r>
                <a:r>
                  <a:rPr sz="2400" b="0">
                    <a:solidFill>
                      <a:srgbClr val="111827"/>
                    </a:solidFill>
                    <a:latin typeface="Arial"/>
                  </a:rPr>
                  <a:t> below </a:t>
                </a:r>
                <a:r>
                  <a:rPr lang="en-IN" sz="2400">
                    <a:solidFill>
                      <a:srgbClr val="111827"/>
                    </a:solidFill>
                    <a:latin typeface="Cambria Math" panose="02040503050406030204" pitchFamily="18" charset="0"/>
                  </a:rPr>
                  <a:t>$9$</a:t>
                </a:r>
                <a:r>
                  <a:rPr sz="2400" b="0">
                    <a:solidFill>
                      <a:srgbClr val="111827"/>
                    </a:solidFill>
                    <a:latin typeface="Arial"/>
                  </a:rPr>
                  <a:t> are </a:t>
                </a:r>
                <a:r>
                  <a:rPr lang="en-IN" sz="2400">
                    <a:solidFill>
                      <a:srgbClr val="111827"/>
                    </a:solidFill>
                    <a:latin typeface="Cambria Math" panose="02040503050406030204" pitchFamily="18" charset="0"/>
                  </a:rPr>
                  <a:t>$4,6,8$</a:t>
                </a:r>
                <a:r>
                  <a:rPr sz="2400" b="0">
                    <a:solidFill>
                      <a:srgbClr val="111827"/>
                    </a:solidFill>
                    <a:latin typeface="Arial"/>
                  </a:rPr>
                  <a:t>, none </a:t>
                </a:r>
                <a:r>
                  <a:rPr lang="en-IN" sz="2400">
                    <a:solidFill>
                      <a:srgbClr val="111827"/>
                    </a:solidFill>
                    <a:latin typeface="Cambria Math" panose="02040503050406030204" pitchFamily="18" charset="0"/>
                  </a:rPr>
                  <a:t>$\equiv1$</a:t>
                </a:r>
                <a:r>
                  <a:rPr sz="2400" b="0">
                    <a:solidFill>
                      <a:srgbClr val="111827"/>
                    </a:solidFill>
                    <a:latin typeface="Arial"/>
                  </a:rPr>
                  <a:t>, so the least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a:t>
                </a:r>
                <a:r>
                  <a:rPr lang="en-IN" sz="2400">
                    <a:solidFill>
                      <a:srgbClr val="111827"/>
                    </a:solidFill>
                    <a:latin typeface="Cambria Math" panose="02040503050406030204" pitchFamily="18" charset="0"/>
                  </a:rPr>
                  <a:t>$3$</a:t>
                </a:r>
                <a:r>
                  <a:rPr sz="2400" b="0">
                    <a:solidFill>
                      <a:srgbClr val="111827"/>
                    </a:solidFill>
                    <a:latin typeface="Arial"/>
                  </a:rPr>
                  <a:t>: the members of </a:t>
                </a:r>
                <a:r>
                  <a:rPr lang="en-IN" sz="2400">
                    <a:solidFill>
                      <a:srgbClr val="111827"/>
                    </a:solidFill>
                    <a:latin typeface="Cambria Math" panose="02040503050406030204" pitchFamily="18" charset="0"/>
                  </a:rPr>
                  <a:t>$A$</a:t>
                </a:r>
                <a:r>
                  <a:rPr sz="2400" b="0">
                    <a:solidFill>
                      <a:srgbClr val="111827"/>
                    </a:solidFill>
                    <a:latin typeface="Arial"/>
                  </a:rPr>
                  <a:t> below </a:t>
                </a:r>
                <a:r>
                  <a:rPr lang="en-IN" sz="2400">
                    <a:solidFill>
                      <a:srgbClr val="111827"/>
                    </a:solidFill>
                    <a:latin typeface="Cambria Math" panose="02040503050406030204" pitchFamily="18" charset="0"/>
                  </a:rPr>
                  <a:t>$15$</a:t>
                </a:r>
                <a:r>
                  <a:rPr sz="2400" b="0">
                    <a:solidFill>
                      <a:srgbClr val="111827"/>
                    </a:solidFill>
                    <a:latin typeface="Arial"/>
                  </a:rPr>
                  <a:t> are </a:t>
                </a:r>
                <a:r>
                  <a:rPr lang="en-IN" sz="2400">
                    <a:solidFill>
                      <a:srgbClr val="111827"/>
                    </a:solidFill>
                    <a:latin typeface="Cambria Math" panose="02040503050406030204" pitchFamily="18" charset="0"/>
                  </a:rPr>
                  <a:t>$4,6,8,9,10,12,13,14$</a:t>
                </a:r>
                <a:r>
                  <a:rPr sz="2400" b="0">
                    <a:solidFill>
                      <a:srgbClr val="111827"/>
                    </a:solidFill>
                    <a:latin typeface="Arial"/>
                  </a:rPr>
                  <a:t> (residues </a:t>
                </a:r>
                <a:r>
                  <a:rPr lang="en-IN" sz="2400">
                    <a:solidFill>
                      <a:srgbClr val="111827"/>
                    </a:solidFill>
                    <a:latin typeface="Cambria Math" panose="02040503050406030204" pitchFamily="18" charset="0"/>
                  </a:rPr>
                  <a:t>$0,2,0,1,2,0,1,2$</a:t>
                </a:r>
                <a:r>
                  <a:rPr sz="2400" b="0">
                    <a:solidFill>
                      <a:srgbClr val="111827"/>
                    </a:solidFill>
                    <a:latin typeface="Arial"/>
                  </a:rPr>
                  <a:t>), none </a:t>
                </a:r>
                <a:r>
                  <a:rPr lang="en-IN" sz="2400">
                    <a:solidFill>
                      <a:srgbClr val="111827"/>
                    </a:solidFill>
                    <a:latin typeface="Cambria Math" panose="02040503050406030204" pitchFamily="18" charset="0"/>
                  </a:rPr>
                  <a:t>$\equiv3$</a:t>
                </a:r>
                <a:r>
                  <a:rPr sz="2400" b="0">
                    <a:solidFill>
                      <a:srgbClr val="111827"/>
                    </a:solidFill>
                    <a:latin typeface="Arial"/>
                  </a:rPr>
                  <a:t>; and </a:t>
                </a:r>
                <a:r>
                  <a:rPr lang="en-IN" sz="2400">
                    <a:solidFill>
                      <a:srgbClr val="111827"/>
                    </a:solidFill>
                    <a:latin typeface="Cambria Math" panose="02040503050406030204" pitchFamily="18" charset="0"/>
                  </a:rPr>
                  <a:t>$15=6+9$</a:t>
                </a:r>
                <a:r>
                  <a:rPr sz="2400" b="0">
                    <a:solidFill>
                      <a:srgbClr val="111827"/>
                    </a:solidFill>
                    <a:latin typeface="Arial"/>
                  </a:rPr>
                  <a:t>. So the least is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members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the numbers missing are those with residue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below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only (as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is not in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required sum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members of </a:t>
                </a:r>
                <a:r>
                  <a:rPr lang="en-IN" sz="2400">
                    <a:solidFill>
                      <a:srgbClr val="111827"/>
                    </a:solidFill>
                    <a:latin typeface="Cambria Math" panose="02040503050406030204" pitchFamily="18" charset="0"/>
                  </a:rPr>
                  <a:t>$A$</a:t>
                </a:r>
                <a:r>
                  <a:rPr sz="2400" b="0">
                    <a:solidFill>
                      <a:srgbClr val="111827"/>
                    </a:solidFill>
                    <a:latin typeface="Arial"/>
                  </a:rPr>
                  <a:t> are: </a:t>
                </a:r>
                <a:r>
                  <a:rPr lang="en-IN" sz="2400">
                    <a:solidFill>
                      <a:srgbClr val="111827"/>
                    </a:solidFill>
                    <a:latin typeface="Cambria Math" panose="02040503050406030204" pitchFamily="18" charset="0"/>
                  </a:rPr>
                  <a:t>$4,8,12,\ldots$</a:t>
                </a:r>
                <a:r>
                  <a:rPr sz="2400" b="0">
                    <a:solidFill>
                      <a:srgbClr val="111827"/>
                    </a:solidFill>
                    <a:latin typeface="Arial"/>
                  </a:rPr>
                  <a:t>; </a:t>
                </a:r>
                <a:r>
                  <a:rPr lang="en-IN" sz="2400">
                    <a:solidFill>
                      <a:srgbClr val="111827"/>
                    </a:solidFill>
                    <a:latin typeface="Cambria Math" panose="02040503050406030204" pitchFamily="18" charset="0"/>
                  </a:rPr>
                  <a:t>$9,13,17,\ldots$</a:t>
                </a:r>
                <a:r>
                  <a:rPr sz="2400" b="0">
                    <a:solidFill>
                      <a:srgbClr val="111827"/>
                    </a:solidFill>
                    <a:latin typeface="Arial"/>
                  </a:rPr>
                  <a:t>; </a:t>
                </a:r>
                <a:r>
                  <a:rPr lang="en-IN" sz="2400">
                    <a:solidFill>
                      <a:srgbClr val="111827"/>
                    </a:solidFill>
                    <a:latin typeface="Cambria Math" panose="02040503050406030204" pitchFamily="18" charset="0"/>
                  </a:rPr>
                  <a:t>$6,10,14,\ldots$</a:t>
                </a:r>
                <a:r>
                  <a:rPr sz="2400" b="0">
                    <a:solidFill>
                      <a:srgbClr val="111827"/>
                    </a:solidFill>
                    <a:latin typeface="Arial"/>
                  </a:rPr>
                  <a:t>; </a:t>
                </a:r>
                <a:r>
                  <a:rPr lang="en-IN" sz="2400">
                    <a:solidFill>
                      <a:srgbClr val="111827"/>
                    </a:solidFill>
                    <a:latin typeface="Cambria Math" panose="02040503050406030204" pitchFamily="18" charset="0"/>
                  </a:rPr>
                  <a:t>$15,19,23,\ldots$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a:t>
                </a:r>
                <a:r>
                  <a:rPr sz="2400" b="0">
                    <a:solidFill>
                      <a:srgbClr val="111827"/>
                    </a:solidFill>
                    <a:latin typeface="Arial"/>
                  </a:rPr>
                  <a:t> (from </a:t>
                </a:r>
                <a:r>
                  <a:rPr lang="en-IN" sz="2400">
                    <a:solidFill>
                      <a:srgbClr val="111827"/>
                    </a:solidFill>
                    <a:latin typeface="Cambria Math" panose="02040503050406030204" pitchFamily="18" charset="0"/>
                  </a:rPr>
                  <a:t>$9$</a:t>
                </a:r>
                <a:r>
                  <a:rPr sz="2400" b="0">
                    <a:solidFill>
                      <a:srgbClr val="111827"/>
                    </a:solidFill>
                    <a:latin typeface="Arial"/>
                  </a:rPr>
                  <a:t>) the numbers missing are those with residue </a:t>
                </a:r>
                <a:r>
                  <a:rPr lang="en-IN" sz="2400">
                    <a:solidFill>
                      <a:srgbClr val="111827"/>
                    </a:solidFill>
                    <a:latin typeface="Cambria Math" panose="02040503050406030204" pitchFamily="18" charset="0"/>
                  </a:rPr>
                  <a:t>$3$</a:t>
                </a:r>
                <a:r>
                  <a:rPr sz="2400" b="0">
                    <a:solidFill>
                      <a:srgbClr val="111827"/>
                    </a:solidFill>
                    <a:latin typeface="Arial"/>
                  </a:rPr>
                  <a:t> below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$11$</a:t>
                </a:r>
                <a:r>
                  <a:rPr sz="2400" b="0">
                    <a:solidFill>
                      <a:srgbClr val="111827"/>
                    </a:solidFill>
                    <a:latin typeface="Arial"/>
                  </a:rPr>
                  <a:t> only (as </a:t>
                </a:r>
                <a:r>
                  <a:rPr lang="en-IN" sz="2400">
                    <a:solidFill>
                      <a:srgbClr val="111827"/>
                    </a:solidFill>
                    <a:latin typeface="Cambria Math" panose="02040503050406030204" pitchFamily="18" charset="0"/>
                  </a:rPr>
                  <a:t>$7&lt;9$</a:t>
                </a:r>
                <a:r>
                  <a:rPr sz="2400" b="0">
                    <a:solidFill>
                      <a:srgbClr val="111827"/>
                    </a:solidFill>
                    <a:latin typeface="Arial"/>
                  </a:rPr>
                  <a:t> is not in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$T-A=\{11\}$</a:t>
                </a:r>
                <a:r>
                  <a:rPr sz="2400" b="0">
                    <a:solidFill>
                      <a:srgbClr val="111827"/>
                    </a:solidFill>
                    <a:latin typeface="Arial"/>
                  </a:rPr>
                  <a:t> and the required sum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a:t>
            </a:r>
            <a:endParaRPr sz="2800">
              <a:solidFill>
                <a:srgbClr val="15803D"/>
              </a:solidFill>
            </a:endParaRP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Two-generator coin problem: for coprime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 largest non-representable number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there are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non-representable positive integers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largest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count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consecutive integers are representable by a set of generators containing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every larger integer is (add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repeatedly).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Apery-set method: for generators including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record the least representable number in each residue class mod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the gaps are exactly the numbers below that least value in their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least values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for residues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 only gap at or above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Two-generator coin problem: for coprime </a:t>
                </a:r>
                <a:r>
                  <a:rPr lang="en-IN" sz="2400">
                    <a:solidFill>
                      <a:srgbClr val="111827"/>
                    </a:solidFill>
                    <a:latin typeface="Cambria Math" panose="02040503050406030204" pitchFamily="18" charset="0"/>
                  </a:rPr>
                  <a:t>$a,b$</a:t>
                </a:r>
                <a:r>
                  <a:rPr sz="2400" b="0">
                    <a:solidFill>
                      <a:srgbClr val="111827"/>
                    </a:solidFill>
                    <a:latin typeface="Arial"/>
                  </a:rPr>
                  <a:t> the largest non-representable number is </a:t>
                </a:r>
                <a:r>
                  <a:rPr lang="en-IN" sz="2400">
                    <a:solidFill>
                      <a:srgbClr val="111827"/>
                    </a:solidFill>
                    <a:latin typeface="Cambria Math" panose="02040503050406030204" pitchFamily="18" charset="0"/>
                  </a:rPr>
                  <a:t>$ab-a-b$</a:t>
                </a:r>
                <a:r>
                  <a:rPr sz="2400" b="0">
                    <a:solidFill>
                      <a:srgbClr val="111827"/>
                    </a:solidFill>
                    <a:latin typeface="Arial"/>
                  </a:rPr>
                  <a:t> and there are </a:t>
                </a:r>
                <a:r>
                  <a:rPr lang="en-IN" sz="2400">
                    <a:solidFill>
                      <a:srgbClr val="111827"/>
                    </a:solidFill>
                    <a:latin typeface="Cambria Math" panose="02040503050406030204" pitchFamily="18" charset="0"/>
                  </a:rPr>
                  <a:t>$\frac{(a-1)(b-1)}{2}$</a:t>
                </a:r>
                <a:r>
                  <a:rPr sz="2400" b="0">
                    <a:solidFill>
                      <a:srgbClr val="111827"/>
                    </a:solidFill>
                    <a:latin typeface="Arial"/>
                  </a:rPr>
                  <a:t> non-representable positive integers (check </a:t>
                </a:r>
                <a:r>
                  <a:rPr lang="en-IN" sz="2400">
                    <a:solidFill>
                      <a:srgbClr val="111827"/>
                    </a:solidFill>
                    <a:latin typeface="Cambria Math" panose="02040503050406030204" pitchFamily="18" charset="0"/>
                  </a:rPr>
                  <a:t>$a=4,b=9$</a:t>
                </a:r>
                <a:r>
                  <a:rPr sz="2400" b="0">
                    <a:solidFill>
                      <a:srgbClr val="111827"/>
                    </a:solidFill>
                    <a:latin typeface="Arial"/>
                  </a:rPr>
                  <a:t>: largest </a:t>
                </a:r>
                <a:r>
                  <a:rPr lang="en-IN" sz="2400">
                    <a:solidFill>
                      <a:srgbClr val="111827"/>
                    </a:solidFill>
                    <a:latin typeface="Cambria Math" panose="02040503050406030204" pitchFamily="18" charset="0"/>
                  </a:rPr>
                  <a:t>$23$</a:t>
                </a:r>
                <a:r>
                  <a:rPr sz="2400" b="0">
                    <a:solidFill>
                      <a:srgbClr val="111827"/>
                    </a:solidFill>
                    <a:latin typeface="Arial"/>
                  </a:rPr>
                  <a:t>, count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$m$</a:t>
                </a:r>
                <a:r>
                  <a:rPr sz="2400" b="0">
                    <a:solidFill>
                      <a:srgbClr val="111827"/>
                    </a:solidFill>
                    <a:latin typeface="Arial"/>
                  </a:rPr>
                  <a:t> consecutive integers are representable by a set of generators containing </a:t>
                </a:r>
                <a:r>
                  <a:rPr lang="en-IN" sz="2400">
                    <a:solidFill>
                      <a:srgbClr val="111827"/>
                    </a:solidFill>
                    <a:latin typeface="Cambria Math" panose="02040503050406030204" pitchFamily="18" charset="0"/>
                  </a:rPr>
                  <a:t>$m$</a:t>
                </a:r>
                <a:r>
                  <a:rPr sz="2400" b="0">
                    <a:solidFill>
                      <a:srgbClr val="111827"/>
                    </a:solidFill>
                    <a:latin typeface="Arial"/>
                  </a:rPr>
                  <a:t>, every larger integer is (add </a:t>
                </a:r>
                <a:r>
                  <a:rPr lang="en-IN" sz="2400">
                    <a:solidFill>
                      <a:srgbClr val="111827"/>
                    </a:solidFill>
                    <a:latin typeface="Cambria Math" panose="02040503050406030204" pitchFamily="18" charset="0"/>
                  </a:rPr>
                  <a:t>$m$</a:t>
                </a:r>
                <a:r>
                  <a:rPr sz="2400" b="0">
                    <a:solidFill>
                      <a:srgbClr val="111827"/>
                    </a:solidFill>
                    <a:latin typeface="Arial"/>
                  </a:rPr>
                  <a:t> repeatedly).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Apery-set method: for generators including </a:t>
                </a:r>
                <a:r>
                  <a:rPr lang="en-IN" sz="2400">
                    <a:solidFill>
                      <a:srgbClr val="111827"/>
                    </a:solidFill>
                    <a:latin typeface="Cambria Math" panose="02040503050406030204" pitchFamily="18" charset="0"/>
                  </a:rPr>
                  <a:t>$m$</a:t>
                </a:r>
                <a:r>
                  <a:rPr sz="2400" b="0">
                    <a:solidFill>
                      <a:srgbClr val="111827"/>
                    </a:solidFill>
                    <a:latin typeface="Arial"/>
                  </a:rPr>
                  <a:t>, record the least representable number in each residue class mod </a:t>
                </a:r>
                <a:r>
                  <a:rPr lang="en-IN" sz="2400">
                    <a:solidFill>
                      <a:srgbClr val="111827"/>
                    </a:solidFill>
                    <a:latin typeface="Cambria Math" panose="02040503050406030204" pitchFamily="18" charset="0"/>
                  </a:rPr>
                  <a:t>$m$</a:t>
                </a:r>
                <a:r>
                  <a:rPr sz="2400" b="0">
                    <a:solidFill>
                      <a:srgbClr val="111827"/>
                    </a:solidFill>
                    <a:latin typeface="Arial"/>
                  </a:rPr>
                  <a:t>; the gaps are exactly the numbers below that least value in their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r>
                  <a:rPr lang="en-IN" sz="2400">
                    <a:solidFill>
                      <a:srgbClr val="111827"/>
                    </a:solidFill>
                    <a:latin typeface="Cambria Math" panose="02040503050406030204" pitchFamily="18" charset="0"/>
                  </a:rPr>
                  <a:t>$S=\{4,6,9\}$</a:t>
                </a:r>
                <a:r>
                  <a:rPr sz="2400" b="0">
                    <a:solidFill>
                      <a:srgbClr val="111827"/>
                    </a:solidFill>
                    <a:latin typeface="Arial"/>
                  </a:rPr>
                  <a:t> gives least values </a:t>
                </a:r>
                <a:r>
                  <a:rPr lang="en-IN" sz="2400">
                    <a:solidFill>
                      <a:srgbClr val="111827"/>
                    </a:solidFill>
                    <a:latin typeface="Cambria Math" panose="02040503050406030204" pitchFamily="18" charset="0"/>
                  </a:rPr>
                  <a:t>$4,9,6,15$</a:t>
                </a:r>
                <a:r>
                  <a:rPr sz="2400" b="0">
                    <a:solidFill>
                      <a:srgbClr val="111827"/>
                    </a:solidFill>
                    <a:latin typeface="Arial"/>
                  </a:rPr>
                  <a:t> for residues </a:t>
                </a:r>
                <a:r>
                  <a:rPr lang="en-IN" sz="2400">
                    <a:solidFill>
                      <a:srgbClr val="111827"/>
                    </a:solidFill>
                    <a:latin typeface="Cambria Math" panose="02040503050406030204" pitchFamily="18" charset="0"/>
                  </a:rPr>
                  <a:t>$0,1,2,3$</a:t>
                </a:r>
                <a:r>
                  <a:rPr sz="2400" b="0">
                    <a:solidFill>
                      <a:srgbClr val="111827"/>
                    </a:solidFill>
                    <a:latin typeface="Arial"/>
                  </a:rPr>
                  <a:t> mod </a:t>
                </a:r>
                <a:r>
                  <a:rPr lang="en-IN" sz="2400">
                    <a:solidFill>
                      <a:srgbClr val="111827"/>
                    </a:solidFill>
                    <a:latin typeface="Cambria Math" panose="02040503050406030204" pitchFamily="18" charset="0"/>
                  </a:rPr>
                  <a:t>$4$</a:t>
                </a:r>
                <a:r>
                  <a:rPr sz="2400" b="0">
                    <a:solidFill>
                      <a:srgbClr val="111827"/>
                    </a:solidFill>
                    <a:latin typeface="Arial"/>
                  </a:rPr>
                  <a:t>; the only gap at or above </a:t>
                </a:r>
                <a:r>
                  <a:rPr lang="en-IN" sz="2400">
                    <a:solidFill>
                      <a:srgbClr val="111827"/>
                    </a:solidFill>
                    <a:latin typeface="Cambria Math" panose="02040503050406030204" pitchFamily="18" charset="0"/>
                  </a:rPr>
                  <a:t>$9$</a:t>
                </a:r>
                <a:r>
                  <a:rPr sz="2400" b="0">
                    <a:solidFill>
                      <a:srgbClr val="111827"/>
                    </a:solidFill>
                    <a:latin typeface="Arial"/>
                  </a:rPr>
                  <a:t>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 [JEE(Main) July 2022]</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$S=\{(x,y)\in\mathbb{N}\times\mathbb{N} : 9(x-3)^2+16(y-4)^2\le144\}$</a:t>
                </a:r>
                <a:r>
                  <a:rPr sz="2400" b="0">
                    <a:solidFill>
                      <a:srgbClr val="111827"/>
                    </a:solidFill>
                    <a:latin typeface="Arial"/>
                  </a:rPr>
                  <a:t> and </a:t>
                </a:r>
                <a:r>
                  <a:rPr lang="en-IN" sz="2400">
                    <a:solidFill>
                      <a:srgbClr val="111827"/>
                    </a:solidFill>
                    <a:latin typeface="Cambria Math" panose="02040503050406030204" pitchFamily="18" charset="0"/>
                  </a:rPr>
                  <a:t>$T=\{(x,y)\in\mathbb{R}\times\mathbb{R} : (x-7)^2+(y-4)^2\le36\}$</a:t>
                </a:r>
                <a:r>
                  <a:rPr sz="2400" b="0">
                    <a:solidFill>
                      <a:srgbClr val="111827"/>
                    </a:solidFill>
                    <a:latin typeface="Arial"/>
                  </a:rPr>
                  <a:t>. Then </a:t>
                </a:r>
                <a:r>
                  <a:rPr lang="en-IN" sz="2400">
                    <a:solidFill>
                      <a:srgbClr val="111827"/>
                    </a:solidFill>
                    <a:latin typeface="Cambria Math" panose="02040503050406030204" pitchFamily="18" charset="0"/>
                  </a:rPr>
                  <a:t>$n(S\cap T)$</a:t>
                </a:r>
                <a:r>
                  <a:rPr sz="2400" b="0">
                    <a:solidFill>
                      <a:srgbClr val="111827"/>
                    </a:solidFill>
                    <a:latin typeface="Arial"/>
                  </a:rPr>
                  <a:t> is equal to ______. [JEE(Main) July 2022]</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Intersection of sets, Lattice points in an ellipse and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the origin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count lattice points row by row, using the tighter of the ellipse and circle bounds in each row.</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the origin to </a:t>
                </a:r>
                <a:r>
                  <a:rPr lang="en-IN" sz="2400">
                    <a:solidFill>
                      <a:srgbClr val="78350F"/>
                    </a:solidFill>
                    <a:latin typeface="Cambria Math" panose="02040503050406030204" pitchFamily="18" charset="0"/>
                  </a:rPr>
                  <a:t>$(3,4)$</a:t>
                </a:r>
                <a:r>
                  <a:rPr sz="2400" b="0">
                    <a:solidFill>
                      <a:srgbClr val="78350F"/>
                    </a:solidFill>
                    <a:latin typeface="Arial"/>
                  </a:rPr>
                  <a:t> and count lattice points row by row, using the tighter of the ellipse and circle bounds in each row.</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 ellipse with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 circle,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i.e. a circle with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in the new coordinates.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$\frac{(x-3)^2}{16}+\frac{(y-4)^2}{9}\le1$</a:t>
                </a:r>
                <a:r>
                  <a:rPr sz="2400" b="0">
                    <a:solidFill>
                      <a:srgbClr val="111827"/>
                    </a:solidFill>
                    <a:latin typeface="Arial"/>
                  </a:rPr>
                  <a:t> with </a:t>
                </a:r>
                <a:r>
                  <a:rPr lang="en-IN" sz="2400">
                    <a:solidFill>
                      <a:srgbClr val="111827"/>
                    </a:solidFill>
                    <a:latin typeface="Cambria Math" panose="02040503050406030204" pitchFamily="18" charset="0"/>
                  </a:rPr>
                  <a:t>$x,y\in\{1,2,3,\ldots\}$</a:t>
                </a:r>
                <a:r>
                  <a:rPr sz="2400" b="0">
                    <a:solidFill>
                      <a:srgbClr val="111827"/>
                    </a:solidFill>
                    <a:latin typeface="Arial"/>
                  </a:rPr>
                  <a:t> (an ellipse with centre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$(x-7)^2+(y-4)^2\le36$</a:t>
                </a:r>
                <a:r>
                  <a:rPr sz="2400" b="0">
                    <a:solidFill>
                      <a:srgbClr val="111827"/>
                    </a:solidFill>
                    <a:latin typeface="Arial"/>
                  </a:rPr>
                  <a:t> (a circle, centre </a:t>
                </a:r>
                <a:r>
                  <a:rPr lang="en-IN" sz="2400">
                    <a:solidFill>
                      <a:srgbClr val="111827"/>
                    </a:solidFill>
                    <a:latin typeface="Cambria Math" panose="02040503050406030204" pitchFamily="18" charset="0"/>
                  </a:rPr>
                  <a:t>$(7,4)$</a:t>
                </a:r>
                <a:r>
                  <a:rPr sz="2400" b="0">
                    <a:solidFill>
                      <a:srgbClr val="111827"/>
                    </a:solidFill>
                    <a:latin typeface="Arial"/>
                  </a:rPr>
                  <a:t>, radius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$x-3=x'$</a:t>
                </a:r>
                <a:r>
                  <a:rPr sz="2400" b="0">
                    <a:solidFill>
                      <a:srgbClr val="111827"/>
                    </a:solidFill>
                    <a:latin typeface="Arial"/>
                  </a:rPr>
                  <a:t> and </a:t>
                </a:r>
                <a:r>
                  <a:rPr lang="en-IN" sz="2400">
                    <a:solidFill>
                      <a:srgbClr val="111827"/>
                    </a:solidFill>
                    <a:latin typeface="Cambria Math" panose="02040503050406030204" pitchFamily="18" charset="0"/>
                  </a:rPr>
                  <a:t>$y-4=y'$</a:t>
                </a:r>
                <a:r>
                  <a:rPr sz="2400" b="0">
                    <a:solidFill>
                      <a:srgbClr val="111827"/>
                    </a:solidFill>
                    <a:latin typeface="Arial"/>
                  </a:rPr>
                  <a:t>. Then </a:t>
                </a: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$\frac{x'^2}{16}+\frac{y'^2}{9}\le1$</a:t>
                </a:r>
                <a:r>
                  <a:rPr sz="2400" b="0">
                    <a:solidFill>
                      <a:srgbClr val="111827"/>
                    </a:solidFill>
                    <a:latin typeface="Arial"/>
                  </a:rPr>
                  <a:t> with </a:t>
                </a:r>
                <a:r>
                  <a:rPr lang="en-IN" sz="2400">
                    <a:solidFill>
                      <a:srgbClr val="111827"/>
                    </a:solidFill>
                    <a:latin typeface="Cambria Math" panose="02040503050406030204" pitchFamily="18" charset="0"/>
                  </a:rPr>
                  <a:t>$x'\in\{-2,-1,0,1,\ldots\}$</a:t>
                </a:r>
                <a:r>
                  <a:rPr sz="2400" b="0">
                    <a:solidFill>
                      <a:srgbClr val="111827"/>
                    </a:solidFill>
                    <a:latin typeface="Arial"/>
                  </a:rPr>
                  <a:t> and </a:t>
                </a:r>
                <a:r>
                  <a:rPr lang="en-IN" sz="2400">
                    <a:solidFill>
                      <a:srgbClr val="111827"/>
                    </a:solidFill>
                    <a:latin typeface="Cambria Math" panose="02040503050406030204" pitchFamily="18" charset="0"/>
                  </a:rPr>
                  <a:t>$y'\in\{-3,-2,-1,0,1,\ldots\}$</a:t>
                </a:r>
                <a:r>
                  <a:rPr sz="2400" b="0">
                    <a:solidFill>
                      <a:srgbClr val="111827"/>
                    </a:solidFill>
                    <a:latin typeface="Arial"/>
                  </a:rPr>
                  <a:t> (because </a:t>
                </a:r>
                <a:r>
                  <a:rPr lang="en-IN" sz="2400">
                    <a:solidFill>
                      <a:srgbClr val="111827"/>
                    </a:solidFill>
                    <a:latin typeface="Cambria Math" panose="02040503050406030204" pitchFamily="18" charset="0"/>
                  </a:rPr>
                  <a:t>$x,y\ge1$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$(x'-4)^2+y'^2\le36$</a:t>
                </a:r>
                <a:r>
                  <a:rPr sz="2400" b="0">
                    <a:solidFill>
                      <a:srgbClr val="111827"/>
                    </a:solidFill>
                    <a:latin typeface="Arial"/>
                  </a:rPr>
                  <a:t>, i.e. a circle with centre </a:t>
                </a:r>
                <a:r>
                  <a:rPr lang="en-IN" sz="2400">
                    <a:solidFill>
                      <a:srgbClr val="111827"/>
                    </a:solidFill>
                    <a:latin typeface="Cambria Math" panose="02040503050406030204" pitchFamily="18" charset="0"/>
                  </a:rPr>
                  <a:t>$(4,0)$</a:t>
                </a:r>
                <a:r>
                  <a:rPr sz="2400" b="0">
                    <a:solidFill>
                      <a:srgbClr val="111827"/>
                    </a:solidFill>
                    <a:latin typeface="Arial"/>
                  </a:rPr>
                  <a:t> and radius </a:t>
                </a:r>
                <a:r>
                  <a:rPr lang="en-IN" sz="2400">
                    <a:solidFill>
                      <a:srgbClr val="111827"/>
                    </a:solidFill>
                    <a:latin typeface="Cambria Math" panose="02040503050406030204" pitchFamily="18" charset="0"/>
                  </a:rPr>
                  <a:t>$6$</a:t>
                </a:r>
                <a:r>
                  <a:rPr sz="2400" b="0">
                    <a:solidFill>
                      <a:srgbClr val="111827"/>
                    </a:solidFill>
                    <a:latin typeface="Arial"/>
                  </a:rPr>
                  <a:t> in the new coordinates.</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ellipse gives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the circle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ellipse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128</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circle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Points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same bounds, points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points.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 </a:t>
                </a:r>
                <a:r>
                  <a:rPr lang="en-IN" sz="2400">
                    <a:solidFill>
                      <a:srgbClr val="111827"/>
                    </a:solidFill>
                    <a:latin typeface="Cambria Math" panose="02040503050406030204" pitchFamily="18" charset="0"/>
                  </a:rPr>
                  <a:t>$y'=0$</a:t>
                </a:r>
                <a:r>
                  <a:rPr sz="2400" b="0">
                    <a:solidFill>
                      <a:srgbClr val="111827"/>
                    </a:solidFill>
                    <a:latin typeface="Arial"/>
                  </a:rPr>
                  <a:t>: the ellipse gives </a:t>
                </a:r>
                <a:r>
                  <a:rPr lang="en-IN" sz="2400">
                    <a:solidFill>
                      <a:srgbClr val="111827"/>
                    </a:solidFill>
                    <a:latin typeface="Cambria Math" panose="02040503050406030204" pitchFamily="18" charset="0"/>
                  </a:rPr>
                  <a:t>$|x'|\le4$</a:t>
                </a:r>
                <a:r>
                  <a:rPr sz="2400" b="0">
                    <a:solidFill>
                      <a:srgbClr val="111827"/>
                    </a:solidFill>
                    <a:latin typeface="Arial"/>
                  </a:rPr>
                  <a:t> and the circle gives </a:t>
                </a:r>
                <a:r>
                  <a:rPr lang="en-IN" sz="2400">
                    <a:solidFill>
                      <a:srgbClr val="111827"/>
                    </a:solidFill>
                    <a:latin typeface="Cambria Math" panose="02040503050406030204" pitchFamily="18" charset="0"/>
                  </a:rPr>
                  <a:t>$-2\le x'\le10$</a:t>
                </a:r>
                <a:r>
                  <a:rPr sz="2400" b="0">
                    <a:solidFill>
                      <a:srgbClr val="111827"/>
                    </a:solidFill>
                    <a:latin typeface="Arial"/>
                  </a:rPr>
                  <a:t>; so </a:t>
                </a:r>
                <a:r>
                  <a:rPr lang="en-IN" sz="2400">
                    <a:solidFill>
                      <a:srgbClr val="111827"/>
                    </a:solidFill>
                    <a:latin typeface="Cambria Math" panose="02040503050406030204" pitchFamily="18" charset="0"/>
                  </a:rPr>
                  <a:t>$x'=-2,\ldots,4$</a:t>
                </a:r>
                <a:r>
                  <a:rPr sz="2400" b="0">
                    <a:solidFill>
                      <a:srgbClr val="111827"/>
                    </a:solidFill>
                    <a:latin typeface="Arial"/>
                  </a:rPr>
                  <a:t>: </a:t>
                </a:r>
                <a:r>
                  <a:rPr lang="en-IN" sz="2400">
                    <a:solidFill>
                      <a:srgbClr val="111827"/>
                    </a:solidFill>
                    <a:latin typeface="Cambria Math" panose="02040503050406030204" pitchFamily="18" charset="0"/>
                  </a:rPr>
                  <a:t>$(-2,0),(-1,0),\ldots,(4,0)$</a:t>
                </a:r>
                <a:r>
                  <a:rPr sz="2400" b="0">
                    <a:solidFill>
                      <a:srgbClr val="111827"/>
                    </a:solidFill>
                    <a:latin typeface="Arial"/>
                  </a:rPr>
                  <a:t>, which is </a:t>
                </a:r>
                <a:r>
                  <a:rPr lang="en-IN" sz="2400">
                    <a:solidFill>
                      <a:srgbClr val="111827"/>
                    </a:solidFill>
                    <a:latin typeface="Cambria Math" panose="02040503050406030204" pitchFamily="18" charset="0"/>
                  </a:rPr>
                  <a:t>$7$</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r>
                  <a:rPr lang="en-IN" sz="2400">
                    <a:solidFill>
                      <a:srgbClr val="111827"/>
                    </a:solidFill>
                    <a:latin typeface="Cambria Math" panose="02040503050406030204" pitchFamily="18" charset="0"/>
                  </a:rPr>
                  <a:t>$y'=1$</a:t>
                </a:r>
                <a:r>
                  <a:rPr sz="2400" b="0">
                    <a:solidFill>
                      <a:srgbClr val="111827"/>
                    </a:solidFill>
                    <a:latin typeface="Arial"/>
                  </a:rPr>
                  <a:t>: ellipse </a:t>
                </a:r>
                <a:r>
                  <a:rPr lang="en-IN" sz="2400">
                    <a:solidFill>
                      <a:srgbClr val="111827"/>
                    </a:solidFill>
                    <a:latin typeface="Cambria Math" panose="02040503050406030204" pitchFamily="18" charset="0"/>
                  </a:rPr>
                  <a:t>$x'^2\le\frac{128}{9}$</a:t>
                </a:r>
                <a:r>
                  <a:rPr sz="2400" b="0">
                    <a:solidFill>
                      <a:srgbClr val="111827"/>
                    </a:solidFill>
                    <a:latin typeface="Arial"/>
                  </a:rPr>
                  <a:t> gives </a:t>
                </a:r>
                <a:r>
                  <a:rPr lang="en-IN" sz="2400">
                    <a:solidFill>
                      <a:srgbClr val="111827"/>
                    </a:solidFill>
                    <a:latin typeface="Cambria Math" panose="02040503050406030204" pitchFamily="18" charset="0"/>
                  </a:rPr>
                  <a:t>$|x'|\le3$</a:t>
                </a:r>
                <a:r>
                  <a:rPr sz="2400" b="0">
                    <a:solidFill>
                      <a:srgbClr val="111827"/>
                    </a:solidFill>
                    <a:latin typeface="Arial"/>
                  </a:rPr>
                  <a:t>; circle </a:t>
                </a:r>
                <a:r>
                  <a:rPr lang="en-IN" sz="2400">
                    <a:solidFill>
                      <a:srgbClr val="111827"/>
                    </a:solidFill>
                    <a:latin typeface="Cambria Math" panose="02040503050406030204" pitchFamily="18" charset="0"/>
                  </a:rPr>
                  <a:t>$(x'-4)^2\le35$</a:t>
                </a:r>
                <a:r>
                  <a:rPr sz="2400" b="0">
                    <a:solidFill>
                      <a:srgbClr val="111827"/>
                    </a:solidFill>
                    <a:latin typeface="Arial"/>
                  </a:rPr>
                  <a:t> gives </a:t>
                </a:r>
                <a:r>
                  <a:rPr lang="en-IN" sz="2400">
                    <a:solidFill>
                      <a:srgbClr val="111827"/>
                    </a:solidFill>
                    <a:latin typeface="Cambria Math" panose="02040503050406030204" pitchFamily="18" charset="0"/>
                  </a:rPr>
                  <a:t>$x'\ge-1$</a:t>
                </a:r>
                <a:r>
                  <a:rPr sz="2400" b="0">
                    <a:solidFill>
                      <a:srgbClr val="111827"/>
                    </a:solidFill>
                    <a:latin typeface="Arial"/>
                  </a:rPr>
                  <a:t>. Points </a:t>
                </a:r>
                <a:r>
                  <a:rPr lang="en-IN" sz="2400">
                    <a:solidFill>
                      <a:srgbClr val="111827"/>
                    </a:solidFill>
                    <a:latin typeface="Cambria Math" panose="02040503050406030204" pitchFamily="18" charset="0"/>
                  </a:rPr>
                  <a:t>$(-1,1),\ldots,(3,1)$</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r>
                  <a:rPr lang="en-IN" sz="2400">
                    <a:solidFill>
                      <a:srgbClr val="111827"/>
                    </a:solidFill>
                    <a:latin typeface="Cambria Math" panose="02040503050406030204" pitchFamily="18" charset="0"/>
                  </a:rPr>
                  <a:t>$y'=-1$</a:t>
                </a:r>
                <a:r>
                  <a:rPr sz="2400" b="0">
                    <a:solidFill>
                      <a:srgbClr val="111827"/>
                    </a:solidFill>
                    <a:latin typeface="Arial"/>
                  </a:rPr>
                  <a:t>: same bounds, points </a:t>
                </a:r>
                <a:r>
                  <a:rPr lang="en-IN" sz="2400">
                    <a:solidFill>
                      <a:srgbClr val="111827"/>
                    </a:solidFill>
                    <a:latin typeface="Cambria Math" panose="02040503050406030204" pitchFamily="18" charset="0"/>
                  </a:rPr>
                  <a:t>$(-1,-1),\ldots,(3,-1)$</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points.</a:t>
                </a:r>
                <a:endParaRPr sz="2400">
                  <a:solidFill>
                    <a:srgbClr val="111827"/>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ellipse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circle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Points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points in each row.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ellipse allows only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holds.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below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are excluded since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rows above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lie outside the ellipse. 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Rows </a:t>
                </a:r>
                <a:r>
                  <a:rPr lang="en-IN" sz="2400">
                    <a:solidFill>
                      <a:srgbClr val="111827"/>
                    </a:solidFill>
                    <a:latin typeface="Cambria Math" panose="02040503050406030204" pitchFamily="18" charset="0"/>
                  </a:rPr>
                  <a:t>$y'=\pm2$</a:t>
                </a:r>
                <a:r>
                  <a:rPr sz="2400" b="0">
                    <a:solidFill>
                      <a:srgbClr val="111827"/>
                    </a:solidFill>
                    <a:latin typeface="Arial"/>
                  </a:rPr>
                  <a:t>: ellipse </a:t>
                </a:r>
                <a:r>
                  <a:rPr lang="en-IN" sz="2400">
                    <a:solidFill>
                      <a:srgbClr val="111827"/>
                    </a:solidFill>
                    <a:latin typeface="Cambria Math" panose="02040503050406030204" pitchFamily="18" charset="0"/>
                  </a:rPr>
                  <a:t>$x'^2\le\frac{80}{9}$</a:t>
                </a:r>
                <a:r>
                  <a:rPr sz="2400" b="0">
                    <a:solidFill>
                      <a:srgbClr val="111827"/>
                    </a:solidFill>
                    <a:latin typeface="Arial"/>
                  </a:rPr>
                  <a:t> gives </a:t>
                </a:r>
                <a:r>
                  <a:rPr lang="en-IN" sz="2400">
                    <a:solidFill>
                      <a:srgbClr val="111827"/>
                    </a:solidFill>
                    <a:latin typeface="Cambria Math" panose="02040503050406030204" pitchFamily="18" charset="0"/>
                  </a:rPr>
                  <a:t>$|x'|\le2$</a:t>
                </a:r>
                <a:r>
                  <a:rPr sz="2400" b="0">
                    <a:solidFill>
                      <a:srgbClr val="111827"/>
                    </a:solidFill>
                    <a:latin typeface="Arial"/>
                  </a:rPr>
                  <a:t>; circle </a:t>
                </a:r>
                <a:r>
                  <a:rPr lang="en-IN" sz="2400">
                    <a:solidFill>
                      <a:srgbClr val="111827"/>
                    </a:solidFill>
                    <a:latin typeface="Cambria Math" panose="02040503050406030204" pitchFamily="18" charset="0"/>
                  </a:rPr>
                  <a:t>$(x'-4)^2\le32$</a:t>
                </a:r>
                <a:r>
                  <a:rPr sz="2400" b="0">
                    <a:solidFill>
                      <a:srgbClr val="111827"/>
                    </a:solidFill>
                    <a:latin typeface="Arial"/>
                  </a:rPr>
                  <a:t> gives </a:t>
                </a:r>
                <a:r>
                  <a:rPr lang="en-IN" sz="2400">
                    <a:solidFill>
                      <a:srgbClr val="111827"/>
                    </a:solidFill>
                    <a:latin typeface="Cambria Math" panose="02040503050406030204" pitchFamily="18" charset="0"/>
                  </a:rPr>
                  <a:t>$x'\ge-1$</a:t>
                </a:r>
                <a:r>
                  <a:rPr sz="2400" b="0">
                    <a:solidFill>
                      <a:srgbClr val="111827"/>
                    </a:solidFill>
                    <a:latin typeface="Arial"/>
                  </a:rPr>
                  <a:t>. Points </a:t>
                </a:r>
                <a:r>
                  <a:rPr lang="en-IN" sz="2400">
                    <a:solidFill>
                      <a:srgbClr val="111827"/>
                    </a:solidFill>
                    <a:latin typeface="Cambria Math" panose="02040503050406030204" pitchFamily="18" charset="0"/>
                  </a:rPr>
                  <a:t>$x'=-1,0,1,2$</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points in each row.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a:t>
                </a:r>
                <a:r>
                  <a:rPr lang="en-IN" sz="2400">
                    <a:solidFill>
                      <a:srgbClr val="111827"/>
                    </a:solidFill>
                    <a:latin typeface="Cambria Math" panose="02040503050406030204" pitchFamily="18" charset="0"/>
                  </a:rPr>
                  <a:t>$y'=\pm3$</a:t>
                </a:r>
                <a:r>
                  <a:rPr sz="2400" b="0">
                    <a:solidFill>
                      <a:srgbClr val="111827"/>
                    </a:solidFill>
                    <a:latin typeface="Arial"/>
                  </a:rPr>
                  <a:t>: the ellipse allows only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$(0-4)^2+9=25\le36$</a:t>
                </a:r>
                <a:r>
                  <a:rPr sz="2400" b="0">
                    <a:solidFill>
                      <a:srgbClr val="111827"/>
                    </a:solidFill>
                    <a:latin typeface="Arial"/>
                  </a:rPr>
                  <a:t> holds. So </a:t>
                </a:r>
                <a:r>
                  <a:rPr lang="en-IN" sz="2400">
                    <a:solidFill>
                      <a:srgbClr val="111827"/>
                    </a:solidFill>
                    <a:latin typeface="Cambria Math" panose="02040503050406030204" pitchFamily="18" charset="0"/>
                  </a:rPr>
                  <a:t>$(0,3)$</a:t>
                </a:r>
                <a:r>
                  <a:rPr sz="2400" b="0">
                    <a:solidFill>
                      <a:srgbClr val="111827"/>
                    </a:solidFill>
                    <a:latin typeface="Arial"/>
                  </a:rPr>
                  <a:t> and </a:t>
                </a:r>
                <a:r>
                  <a:rPr lang="en-IN" sz="2400">
                    <a:solidFill>
                      <a:srgbClr val="111827"/>
                    </a:solidFill>
                    <a:latin typeface="Cambria Math" panose="02040503050406030204" pitchFamily="18" charset="0"/>
                  </a:rPr>
                  <a:t>$(0,-3)$</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below </a:t>
                </a:r>
                <a:r>
                  <a:rPr lang="en-IN" sz="2400">
                    <a:solidFill>
                      <a:srgbClr val="111827"/>
                    </a:solidFill>
                    <a:latin typeface="Cambria Math" panose="02040503050406030204" pitchFamily="18" charset="0"/>
                  </a:rPr>
                  <a:t>$y'=-3$</a:t>
                </a:r>
                <a:r>
                  <a:rPr sz="2400" b="0">
                    <a:solidFill>
                      <a:srgbClr val="111827"/>
                    </a:solidFill>
                    <a:latin typeface="Arial"/>
                  </a:rPr>
                  <a:t> are excluded since </a:t>
                </a:r>
                <a:r>
                  <a:rPr lang="en-IN" sz="2400">
                    <a:solidFill>
                      <a:srgbClr val="111827"/>
                    </a:solidFill>
                    <a:latin typeface="Cambria Math" panose="02040503050406030204" pitchFamily="18" charset="0"/>
                  </a:rPr>
                  <a:t>$y\ge1$</a:t>
                </a:r>
                <a:r>
                  <a:rPr sz="2400" b="0">
                    <a:solidFill>
                      <a:srgbClr val="111827"/>
                    </a:solidFill>
                    <a:latin typeface="Arial"/>
                  </a:rPr>
                  <a:t>; rows above </a:t>
                </a:r>
                <a:r>
                  <a:rPr lang="en-IN" sz="2400">
                    <a:solidFill>
                      <a:srgbClr val="111827"/>
                    </a:solidFill>
                    <a:latin typeface="Cambria Math" panose="02040503050406030204" pitchFamily="18" charset="0"/>
                  </a:rPr>
                  <a:t>$y'=3$</a:t>
                </a:r>
                <a:r>
                  <a:rPr sz="2400" b="0">
                    <a:solidFill>
                      <a:srgbClr val="111827"/>
                    </a:solidFill>
                    <a:latin typeface="Arial"/>
                  </a:rPr>
                  <a:t> lie outside the ellipse. Total </a:t>
                </a:r>
                <a:r>
                  <a:rPr lang="en-IN" sz="2400">
                    <a:solidFill>
                      <a:srgbClr val="111827"/>
                    </a:solidFill>
                    <a:latin typeface="Cambria Math" panose="02040503050406030204" pitchFamily="18" charset="0"/>
                  </a:rPr>
                  <a:t>$=7+5+5+4+4+2=27$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27</a:t>
            </a:r>
            <a:endParaRPr sz="2800">
              <a:solidFill>
                <a:srgbClr val="15803D"/>
              </a:solidFill>
            </a:endParaRP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lattice points in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fix an integer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read off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scan the rows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rows give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intersection of two regions, in each row take the tighter of the two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-bounds, and then apply the domain restriction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JEE).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Translating the origin to the ellipse centre makes the bounds symmetric and the rows easy; remember to translate the domain restriction as well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sanity check is to count a row from both bounds separately before intersecting; a missed circle bound (here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usual slip.</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lattice points in </a:t>
                </a:r>
                <a:r>
                  <a:rPr lang="en-IN" sz="2400">
                    <a:solidFill>
                      <a:srgbClr val="111827"/>
                    </a:solidFill>
                    <a:latin typeface="Cambria Math" panose="02040503050406030204" pitchFamily="18" charset="0"/>
                  </a:rPr>
                  <a:t>$\frac{x^2}{a^2}+\frac{y^2}{b^2}\le1$</a:t>
                </a:r>
                <a:r>
                  <a:rPr sz="2400" b="0">
                    <a:solidFill>
                      <a:srgbClr val="111827"/>
                    </a:solidFill>
                    <a:latin typeface="Arial"/>
                  </a:rPr>
                  <a:t>, fix an integer </a:t>
                </a:r>
                <a:r>
                  <a:rPr lang="en-IN" sz="2400">
                    <a:solidFill>
                      <a:srgbClr val="111827"/>
                    </a:solidFill>
                    <a:latin typeface="Cambria Math" panose="02040503050406030204" pitchFamily="18" charset="0"/>
                  </a:rPr>
                  <a:t>$y$</a:t>
                </a:r>
                <a:r>
                  <a:rPr sz="2400" b="0">
                    <a:solidFill>
                      <a:srgbClr val="111827"/>
                    </a:solidFill>
                    <a:latin typeface="Arial"/>
                  </a:rPr>
                  <a:t> and read off </a:t>
                </a:r>
                <a:r>
                  <a:rPr lang="en-IN" sz="2400">
                    <a:solidFill>
                      <a:srgbClr val="111827"/>
                    </a:solidFill>
                    <a:latin typeface="Cambria Math" panose="02040503050406030204" pitchFamily="18" charset="0"/>
                  </a:rPr>
                  <a:t>$|x|\le a\sqrt{1-y^2/b^2}$</a:t>
                </a:r>
                <a:r>
                  <a:rPr sz="2400" b="0">
                    <a:solidFill>
                      <a:srgbClr val="111827"/>
                    </a:solidFill>
                    <a:latin typeface="Arial"/>
                  </a:rPr>
                  <a:t>; scan the rows </a:t>
                </a:r>
                <a:r>
                  <a:rPr lang="en-IN" sz="2400">
                    <a:solidFill>
                      <a:srgbClr val="111827"/>
                    </a:solidFill>
                    <a:latin typeface="Cambria Math" panose="02040503050406030204" pitchFamily="18" charset="0"/>
                  </a:rPr>
                  <a:t>$|y|\le b$</a:t>
                </a:r>
                <a:r>
                  <a:rPr sz="2400" b="0">
                    <a:solidFill>
                      <a:srgbClr val="111827"/>
                    </a:solidFill>
                    <a:latin typeface="Arial"/>
                  </a:rPr>
                  <a:t> (check </a:t>
                </a:r>
                <a:r>
                  <a:rPr lang="en-IN" sz="2400">
                    <a:solidFill>
                      <a:srgbClr val="111827"/>
                    </a:solidFill>
                    <a:latin typeface="Cambria Math" panose="02040503050406030204" pitchFamily="18" charset="0"/>
                  </a:rPr>
                  <a:t>$a=4,b=3$</a:t>
                </a:r>
                <a:r>
                  <a:rPr sz="2400" b="0">
                    <a:solidFill>
                      <a:srgbClr val="111827"/>
                    </a:solidFill>
                    <a:latin typeface="Arial"/>
                  </a:rPr>
                  <a:t>: rows give </a:t>
                </a:r>
                <a:r>
                  <a:rPr lang="en-IN" sz="2400">
                    <a:solidFill>
                      <a:srgbClr val="111827"/>
                    </a:solidFill>
                    <a:latin typeface="Cambria Math" panose="02040503050406030204" pitchFamily="18" charset="0"/>
                  </a:rPr>
                  <a:t>$9,7,7,5,5,1,1$</a:t>
                </a:r>
                <a:r>
                  <a:rPr sz="2400" b="0">
                    <a:solidFill>
                      <a:srgbClr val="111827"/>
                    </a:solidFill>
                    <a:latin typeface="Arial"/>
                  </a:rPr>
                  <a:t>, total </a:t>
                </a:r>
                <a:r>
                  <a:rPr lang="en-IN" sz="2400">
                    <a:solidFill>
                      <a:srgbClr val="111827"/>
                    </a:solidFill>
                    <a:latin typeface="Cambria Math" panose="02040503050406030204" pitchFamily="18" charset="0"/>
                  </a:rPr>
                  <a:t>$35$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intersection of two regions, in each row take the tighter of the two </a:t>
                </a:r>
                <a:r>
                  <a:rPr lang="en-IN" sz="2400">
                    <a:solidFill>
                      <a:srgbClr val="111827"/>
                    </a:solidFill>
                    <a:latin typeface="Cambria Math" panose="02040503050406030204" pitchFamily="18" charset="0"/>
                  </a:rPr>
                  <a:t>$x$</a:t>
                </a:r>
                <a:r>
                  <a:rPr sz="2400" b="0">
                    <a:solidFill>
                      <a:srgbClr val="111827"/>
                    </a:solidFill>
                    <a:latin typeface="Arial"/>
                  </a:rPr>
                  <a:t>-bounds, and then apply the domain restriction (</a:t>
                </a:r>
                <a:r>
                  <a:rPr lang="en-IN" sz="2400">
                    <a:solidFill>
                      <a:srgbClr val="111827"/>
                    </a:solidFill>
                    <a:latin typeface="Cambria Math" panose="02040503050406030204" pitchFamily="18" charset="0"/>
                  </a:rPr>
                  <a:t>$\mathbb{N}$</a:t>
                </a:r>
                <a:r>
                  <a:rPr sz="2400" b="0">
                    <a:solidFill>
                      <a:srgbClr val="111827"/>
                    </a:solidFill>
                    <a:latin typeface="Arial"/>
                  </a:rPr>
                  <a:t> means </a:t>
                </a:r>
                <a:r>
                  <a:rPr lang="en-IN" sz="2400">
                    <a:solidFill>
                      <a:srgbClr val="111827"/>
                    </a:solidFill>
                    <a:latin typeface="Cambria Math" panose="02040503050406030204" pitchFamily="18" charset="0"/>
                  </a:rPr>
                  <a:t>$x,y\ge1$</a:t>
                </a:r>
                <a:r>
                  <a:rPr sz="2400" b="0">
                    <a:solidFill>
                      <a:srgbClr val="111827"/>
                    </a:solidFill>
                    <a:latin typeface="Arial"/>
                  </a:rPr>
                  <a:t> in JEE).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Translating the origin to the ellipse centre makes the bounds symmetric and the rows easy; remember to translate the domain restriction as well (</a:t>
                </a:r>
                <a:r>
                  <a:rPr lang="en-IN" sz="2400">
                    <a:solidFill>
                      <a:srgbClr val="111827"/>
                    </a:solidFill>
                    <a:latin typeface="Cambria Math" panose="02040503050406030204" pitchFamily="18" charset="0"/>
                  </a:rPr>
                  <a:t>$x\ge1\Rightarrow x'\ge-2$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sanity check is to count a row from both bounds separately before intersecting; a missed circle bound (here </a:t>
                </a:r>
                <a:r>
                  <a:rPr lang="en-IN" sz="2400">
                    <a:solidFill>
                      <a:srgbClr val="111827"/>
                    </a:solidFill>
                    <a:latin typeface="Cambria Math" panose="02040503050406030204" pitchFamily="18" charset="0"/>
                  </a:rPr>
                  <a:t>$x'\ge-1$</a:t>
                </a:r>
                <a:r>
                  <a:rPr sz="2400" b="0">
                    <a:solidFill>
                      <a:srgbClr val="111827"/>
                    </a:solidFill>
                    <a:latin typeface="Arial"/>
                  </a:rPr>
                  <a:t> for </a:t>
                </a:r>
                <a:r>
                  <a:rPr lang="en-IN" sz="2400">
                    <a:solidFill>
                      <a:srgbClr val="111827"/>
                    </a:solidFill>
                    <a:latin typeface="Cambria Math" panose="02040503050406030204" pitchFamily="18" charset="0"/>
                  </a:rPr>
                  <a:t>$|y'|\ge1$</a:t>
                </a:r>
                <a:r>
                  <a:rPr sz="2400" b="0">
                    <a:solidFill>
                      <a:srgbClr val="111827"/>
                    </a:solidFill>
                    <a:latin typeface="Arial"/>
                  </a:rPr>
                  <a:t>) is the usual slip.</a:t>
                </a:r>
                <a:endParaRPr sz="2400">
                  <a:solidFill>
                    <a:srgbClr val="111827"/>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Q35 – Q41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symmetric nor transitive</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relation </a:t>
                </a:r>
                <a:r>
                  <a:rPr lang="en-IN" sz="2400">
                    <a:solidFill>
                      <a:srgbClr val="111827"/>
                    </a:solidFill>
                    <a:latin typeface="Cambria Math" panose="02040503050406030204" pitchFamily="18" charset="0"/>
                  </a:rPr>
                  <a:t>$R=\{(a,b) : \gcd(a,b)=1,\ 2a\neq b,\ a,b\in\mathbb{Z}\}$</a:t>
                </a:r>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symmetric nor transitive</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gcd</m:t>
                    </m:r>
                  </m:oMath>
                </a14:m>
                <a:r>
                  <a:rPr sz="2400" b="0">
                    <a:solidFill>
                      <a:srgbClr val="78350F"/>
                    </a:solidFill>
                    <a:latin typeface="Arial"/>
                  </a:rPr>
                  <a:t> is symmetric but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is not, so one counterexample breaks symmetry; another chain breaks transitivity.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$\gcd$</a:t>
                </a:r>
                <a:r>
                  <a:rPr sz="2400" b="0">
                    <a:solidFill>
                      <a:srgbClr val="78350F"/>
                    </a:solidFill>
                    <a:latin typeface="Arial"/>
                  </a:rPr>
                  <a:t> is symmetric but </a:t>
                </a:r>
                <a:r>
                  <a:rPr lang="en-IN" sz="2400">
                    <a:solidFill>
                      <a:srgbClr val="78350F"/>
                    </a:solidFill>
                    <a:latin typeface="Cambria Math" panose="02040503050406030204" pitchFamily="18" charset="0"/>
                  </a:rPr>
                  <a:t>$2a\neq b$</a:t>
                </a:r>
                <a:r>
                  <a:rPr sz="2400" b="0">
                    <a:solidFill>
                      <a:srgbClr val="78350F"/>
                    </a:solidFill>
                    <a:latin typeface="Arial"/>
                  </a:rPr>
                  <a:t> is not, so one counterexample breaks symmetry; another chain breaks transitivity.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needs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reflexive. Hence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The condition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symmetric in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not.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and (A) is false.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$(a,a)\in R$</a:t>
                </a:r>
                <a:r>
                  <a:rPr sz="2400" b="0">
                    <a:solidFill>
                      <a:srgbClr val="111827"/>
                    </a:solidFill>
                    <a:latin typeface="Arial"/>
                  </a:rPr>
                  <a:t> needs </a:t>
                </a:r>
                <a:r>
                  <a:rPr lang="en-IN" sz="2400">
                    <a:solidFill>
                      <a:srgbClr val="111827"/>
                    </a:solidFill>
                    <a:latin typeface="Cambria Math" panose="02040503050406030204" pitchFamily="18" charset="0"/>
                  </a:rPr>
                  <a:t>$\gcd(a,a)=|a|=1$</a:t>
                </a:r>
                <a:r>
                  <a:rPr sz="2400" b="0">
                    <a:solidFill>
                      <a:srgbClr val="111827"/>
                    </a:solidFill>
                    <a:latin typeface="Arial"/>
                  </a:rPr>
                  <a:t>, so </a:t>
                </a:r>
                <a:r>
                  <a:rPr lang="en-IN" sz="2400">
                    <a:solidFill>
                      <a:srgbClr val="111827"/>
                    </a:solidFill>
                    <a:latin typeface="Cambria Math" panose="02040503050406030204" pitchFamily="18" charset="0"/>
                  </a:rPr>
                  <a:t>$(2,2)\notin 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reflexive. Hence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The condition </a:t>
                </a:r>
                <a:r>
                  <a:rPr lang="en-IN" sz="2400">
                    <a:solidFill>
                      <a:srgbClr val="111827"/>
                    </a:solidFill>
                    <a:latin typeface="Cambria Math" panose="02040503050406030204" pitchFamily="18" charset="0"/>
                  </a:rPr>
                  <a:t>$\gcd(a,b)=1$</a:t>
                </a:r>
                <a:r>
                  <a:rPr sz="2400" b="0">
                    <a:solidFill>
                      <a:srgbClr val="111827"/>
                    </a:solidFill>
                    <a:latin typeface="Arial"/>
                  </a:rPr>
                  <a:t> is symmetric in </a:t>
                </a:r>
                <a:r>
                  <a:rPr lang="en-IN" sz="2400">
                    <a:solidFill>
                      <a:srgbClr val="111827"/>
                    </a:solidFill>
                    <a:latin typeface="Cambria Math" panose="02040503050406030204" pitchFamily="18" charset="0"/>
                  </a:rPr>
                  <a:t>$a,b$</a:t>
                </a:r>
                <a:r>
                  <a:rPr sz="2400" b="0">
                    <a:solidFill>
                      <a:srgbClr val="111827"/>
                    </a:solidFill>
                    <a:latin typeface="Arial"/>
                  </a:rPr>
                  <a:t>, but </a:t>
                </a:r>
                <a:r>
                  <a:rPr lang="en-IN" sz="2400">
                    <a:solidFill>
                      <a:srgbClr val="111827"/>
                    </a:solidFill>
                    <a:latin typeface="Cambria Math" panose="02040503050406030204" pitchFamily="18" charset="0"/>
                  </a:rPr>
                  <a:t>$2a\neq b$</a:t>
                </a:r>
                <a:r>
                  <a:rPr sz="2400" b="0">
                    <a:solidFill>
                      <a:srgbClr val="111827"/>
                    </a:solidFill>
                    <a:latin typeface="Arial"/>
                  </a:rPr>
                  <a:t> is not. Take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$\gcd=1$</a:t>
                </a:r>
                <a:r>
                  <a:rPr sz="2400" b="0">
                    <a:solidFill>
                      <a:srgbClr val="111827"/>
                    </a:solidFill>
                    <a:latin typeface="Arial"/>
                  </a:rPr>
                  <a:t> and </a:t>
                </a:r>
                <a:r>
                  <a:rPr lang="en-IN" sz="2400">
                    <a:solidFill>
                      <a:srgbClr val="111827"/>
                    </a:solidFill>
                    <a:latin typeface="Cambria Math" panose="02040503050406030204" pitchFamily="18" charset="0"/>
                  </a:rPr>
                  <a:t>$2\cdot2=4\neq1$</a:t>
                </a:r>
                <a:r>
                  <a:rPr sz="2400" b="0">
                    <a:solidFill>
                      <a:srgbClr val="111827"/>
                    </a:solidFill>
                    <a:latin typeface="Arial"/>
                  </a:rPr>
                  <a:t>, so </a:t>
                </a:r>
                <a:r>
                  <a:rPr lang="en-IN" sz="2400">
                    <a:solidFill>
                      <a:srgbClr val="111827"/>
                    </a:solidFill>
                    <a:latin typeface="Cambria Math" panose="02040503050406030204" pitchFamily="18" charset="0"/>
                  </a:rPr>
                  <a:t>$(2,1)\in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$2\cdot1=2=b$</a:t>
                </a:r>
                <a:r>
                  <a:rPr sz="2400" b="0">
                    <a:solidFill>
                      <a:srgbClr val="111827"/>
                    </a:solidFill>
                    <a:latin typeface="Arial"/>
                  </a:rPr>
                  <a:t>, so </a:t>
                </a:r>
                <a:r>
                  <a:rPr lang="en-IN" sz="2400">
                    <a:solidFill>
                      <a:srgbClr val="111827"/>
                    </a:solidFill>
                    <a:latin typeface="Cambria Math" panose="02040503050406030204" pitchFamily="18" charset="0"/>
                  </a:rPr>
                  <a:t>$(1,2)\notin R$</a:t>
                </a:r>
                <a:r>
                  <a:rPr sz="2400" b="0">
                    <a:solidFill>
                      <a:srgbClr val="111827"/>
                    </a:solidFill>
                    <a:latin typeface="Arial"/>
                  </a:rPr>
                  <a:t>. Hence </a:t>
                </a:r>
                <a:r>
                  <a:rPr lang="en-IN" sz="2400">
                    <a:solidFill>
                      <a:srgbClr val="111827"/>
                    </a:solidFill>
                    <a:latin typeface="Cambria Math" panose="02040503050406030204" pitchFamily="18" charset="0"/>
                  </a:rPr>
                  <a:t>$R$</a:t>
                </a:r>
                <a:r>
                  <a:rPr sz="2400" b="0">
                    <a:solidFill>
                      <a:srgbClr val="111827"/>
                    </a:solidFill>
                    <a:latin typeface="Arial"/>
                  </a:rPr>
                  <a:t> is not symmetric, and (A) is false.</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(shown above), although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 and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neither symmetric nor transitive: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$\gcd(1,3)=1$</a:t>
                </a:r>
                <a:r>
                  <a:rPr sz="2400" b="0">
                    <a:solidFill>
                      <a:srgbClr val="111827"/>
                    </a:solidFill>
                    <a:latin typeface="Arial"/>
                  </a:rPr>
                  <a:t> and </a:t>
                </a:r>
                <a:r>
                  <a:rPr lang="en-IN" sz="2400">
                    <a:solidFill>
                      <a:srgbClr val="111827"/>
                    </a:solidFill>
                    <a:latin typeface="Cambria Math" panose="02040503050406030204" pitchFamily="18" charset="0"/>
                  </a:rPr>
                  <a:t>$2\neq3$</a:t>
                </a:r>
                <a:r>
                  <a:rPr sz="2400" b="0">
                    <a:solidFill>
                      <a:srgbClr val="111827"/>
                    </a:solidFill>
                    <a:latin typeface="Arial"/>
                  </a:rPr>
                  <a:t>, so </a:t>
                </a:r>
                <a:r>
                  <a:rPr lang="en-IN" sz="2400">
                    <a:solidFill>
                      <a:srgbClr val="111827"/>
                    </a:solidFill>
                    <a:latin typeface="Cambria Math" panose="02040503050406030204" pitchFamily="18" charset="0"/>
                  </a:rPr>
                  <a:t>$(1,3)\in R$</a:t>
                </a:r>
                <a:r>
                  <a:rPr sz="2400" b="0">
                    <a:solidFill>
                      <a:srgbClr val="111827"/>
                    </a:solidFill>
                    <a:latin typeface="Arial"/>
                  </a:rPr>
                  <a:t>. Take </a:t>
                </a:r>
                <a:r>
                  <a:rPr lang="en-IN" sz="2400">
                    <a:solidFill>
                      <a:srgbClr val="111827"/>
                    </a:solidFill>
                    <a:latin typeface="Cambria Math" panose="02040503050406030204" pitchFamily="18" charset="0"/>
                  </a:rPr>
                  <a:t>$(3,2)$</a:t>
                </a:r>
                <a:r>
                  <a:rPr sz="2400" b="0">
                    <a:solidFill>
                      <a:srgbClr val="111827"/>
                    </a:solidFill>
                    <a:latin typeface="Arial"/>
                  </a:rPr>
                  <a:t>: </a:t>
                </a:r>
                <a:r>
                  <a:rPr lang="en-IN" sz="2400">
                    <a:solidFill>
                      <a:srgbClr val="111827"/>
                    </a:solidFill>
                    <a:latin typeface="Cambria Math" panose="02040503050406030204" pitchFamily="18" charset="0"/>
                  </a:rPr>
                  <a:t>$\gcd(3,2)=1$</a:t>
                </a:r>
                <a:r>
                  <a:rPr sz="2400" b="0">
                    <a:solidFill>
                      <a:srgbClr val="111827"/>
                    </a:solidFill>
                    <a:latin typeface="Arial"/>
                  </a:rPr>
                  <a:t> and </a:t>
                </a:r>
                <a:r>
                  <a:rPr lang="en-IN" sz="2400">
                    <a:solidFill>
                      <a:srgbClr val="111827"/>
                    </a:solidFill>
                    <a:latin typeface="Cambria Math" panose="02040503050406030204" pitchFamily="18" charset="0"/>
                  </a:rPr>
                  <a:t>$6\neq2$</a:t>
                </a:r>
                <a:r>
                  <a:rPr sz="2400" b="0">
                    <a:solidFill>
                      <a:srgbClr val="111827"/>
                    </a:solidFill>
                    <a:latin typeface="Arial"/>
                  </a:rPr>
                  <a:t>, so </a:t>
                </a:r>
                <a:r>
                  <a:rPr lang="en-IN" sz="2400">
                    <a:solidFill>
                      <a:srgbClr val="111827"/>
                    </a:solidFill>
                    <a:latin typeface="Cambria Math" panose="02040503050406030204" pitchFamily="18" charset="0"/>
                  </a:rPr>
                  <a:t>$(3,2)\in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$(1,2)\notin R$</a:t>
                </a:r>
                <a:r>
                  <a:rPr sz="2400" b="0">
                    <a:solidFill>
                      <a:srgbClr val="111827"/>
                    </a:solidFill>
                    <a:latin typeface="Arial"/>
                  </a:rPr>
                  <a:t> (shown above), although </a:t>
                </a:r>
                <a:r>
                  <a:rPr lang="en-IN" sz="2400">
                    <a:solidFill>
                      <a:srgbClr val="111827"/>
                    </a:solidFill>
                    <a:latin typeface="Cambria Math" panose="02040503050406030204" pitchFamily="18" charset="0"/>
                  </a:rPr>
                  <a:t>$(1,3),(3,2)\in R$</a:t>
                </a:r>
                <a:r>
                  <a:rPr sz="2400" b="0">
                    <a:solidFill>
                      <a:srgbClr val="111827"/>
                    </a:solidFill>
                    <a:latin typeface="Arial"/>
                  </a:rPr>
                  <a:t>. Hence </a:t>
                </a:r>
                <a:r>
                  <a:rPr lang="en-IN" sz="2400">
                    <a:solidFill>
                      <a:srgbClr val="111827"/>
                    </a:solidFill>
                    <a:latin typeface="Cambria Math" panose="02040503050406030204" pitchFamily="18" charset="0"/>
                  </a:rPr>
                  <a:t>$R$</a:t>
                </a:r>
                <a:r>
                  <a:rPr sz="2400" b="0">
                    <a:solidFill>
                      <a:srgbClr val="111827"/>
                    </a:solidFill>
                    <a:latin typeface="Arial"/>
                  </a:rPr>
                  <a:t> is not transitive, and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neither symmetric nor transitive: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neither symmetric nor transitive</a:t>
            </a:r>
            <a:endParaRPr sz="2800">
              <a:solidFill>
                <a:srgbClr val="15803D"/>
              </a:solidFill>
            </a:endParaRP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gcd</m:t>
                    </m:r>
                  </m:oMath>
                </a14:m>
                <a:r>
                  <a:rPr sz="2400" b="0">
                    <a:solidFill>
                      <a:srgbClr val="111827"/>
                    </a:solidFill>
                    <a:latin typeface="Arial"/>
                  </a:rPr>
                  <a:t>-type relation is reflexive only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can never be reflexive on all of </a:t>
                </a:r>
                <a14:m>
                  <m:oMath xmlns:m="http://schemas.openxmlformats.org/officeDocument/2006/math">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relation is defined by a formula that is symmetric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an extra asymmetric condition (like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symmetry fails; look for a pair where the extra condition kills only one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transitivity find a chain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forbidden; here the forbidden pair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any odd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works as the middle (check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counterexample disproves a property; proving it needs an argument for all elements.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$\gcd(a,a)=|a|$</a:t>
                </a:r>
                <a:r>
                  <a:rPr sz="2400" b="0">
                    <a:solidFill>
                      <a:srgbClr val="111827"/>
                    </a:solidFill>
                    <a:latin typeface="Arial"/>
                  </a:rPr>
                  <a:t>, so a </a:t>
                </a:r>
                <a:r>
                  <a:rPr lang="en-IN" sz="2400">
                    <a:solidFill>
                      <a:srgbClr val="111827"/>
                    </a:solidFill>
                    <a:latin typeface="Cambria Math" panose="02040503050406030204" pitchFamily="18" charset="0"/>
                  </a:rPr>
                  <a:t>$\gcd$</a:t>
                </a:r>
                <a:r>
                  <a:rPr sz="2400" b="0">
                    <a:solidFill>
                      <a:srgbClr val="111827"/>
                    </a:solidFill>
                    <a:latin typeface="Arial"/>
                  </a:rPr>
                  <a:t>-type relation is reflexive only at </a:t>
                </a:r>
                <a:r>
                  <a:rPr lang="en-IN" sz="2400">
                    <a:solidFill>
                      <a:srgbClr val="111827"/>
                    </a:solidFill>
                    <a:latin typeface="Cambria Math" panose="02040503050406030204" pitchFamily="18" charset="0"/>
                  </a:rPr>
                  <a:t>$a=\pm1$</a:t>
                </a:r>
                <a:r>
                  <a:rPr sz="2400" b="0">
                    <a:solidFill>
                      <a:srgbClr val="111827"/>
                    </a:solidFill>
                    <a:latin typeface="Arial"/>
                  </a:rPr>
                  <a:t>; it can never be reflexive on all of </a:t>
                </a:r>
                <a:r>
                  <a:rPr lang="en-IN" sz="2400">
                    <a:solidFill>
                      <a:srgbClr val="111827"/>
                    </a:solidFill>
                    <a:latin typeface="Cambria Math" panose="02040503050406030204" pitchFamily="18" charset="0"/>
                  </a:rPr>
                  <a:t>$\mathbb{Z}$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relation is defined by a formula that is symmetric in </a:t>
                </a:r>
                <a:r>
                  <a:rPr lang="en-IN" sz="2400">
                    <a:solidFill>
                      <a:srgbClr val="111827"/>
                    </a:solidFill>
                    <a:latin typeface="Cambria Math" panose="02040503050406030204" pitchFamily="18" charset="0"/>
                  </a:rPr>
                  <a:t>$(a,b)$</a:t>
                </a:r>
                <a:r>
                  <a:rPr sz="2400" b="0">
                    <a:solidFill>
                      <a:srgbClr val="111827"/>
                    </a:solidFill>
                    <a:latin typeface="Arial"/>
                  </a:rPr>
                  <a:t> AND an extra asymmetric condition (like </a:t>
                </a:r>
                <a:r>
                  <a:rPr lang="en-IN" sz="2400">
                    <a:solidFill>
                      <a:srgbClr val="111827"/>
                    </a:solidFill>
                    <a:latin typeface="Cambria Math" panose="02040503050406030204" pitchFamily="18" charset="0"/>
                  </a:rPr>
                  <a:t>$2a\neq b$</a:t>
                </a:r>
                <a:r>
                  <a:rPr sz="2400" b="0">
                    <a:solidFill>
                      <a:srgbClr val="111827"/>
                    </a:solidFill>
                    <a:latin typeface="Arial"/>
                  </a:rPr>
                  <a:t>, </a:t>
                </a:r>
                <a:r>
                  <a:rPr lang="en-IN" sz="2400">
                    <a:solidFill>
                      <a:srgbClr val="111827"/>
                    </a:solidFill>
                    <a:latin typeface="Cambria Math" panose="02040503050406030204" pitchFamily="18" charset="0"/>
                  </a:rPr>
                  <a:t>$a&lt;b$</a:t>
                </a:r>
                <a:r>
                  <a:rPr sz="2400" b="0">
                    <a:solidFill>
                      <a:srgbClr val="111827"/>
                    </a:solidFill>
                    <a:latin typeface="Arial"/>
                  </a:rPr>
                  <a:t>, </a:t>
                </a:r>
                <a:r>
                  <a:rPr lang="en-IN" sz="2400">
                    <a:solidFill>
                      <a:srgbClr val="111827"/>
                    </a:solidFill>
                    <a:latin typeface="Cambria Math" panose="02040503050406030204" pitchFamily="18" charset="0"/>
                  </a:rPr>
                  <a:t>$a=2b$</a:t>
                </a:r>
                <a:r>
                  <a:rPr sz="2400" b="0">
                    <a:solidFill>
                      <a:srgbClr val="111827"/>
                    </a:solidFill>
                    <a:latin typeface="Arial"/>
                  </a:rPr>
                  <a:t>), symmetry fails; look for a pair where the extra condition kills only one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transitivity find a chain </a:t>
                </a:r>
                <a:r>
                  <a:rPr lang="en-IN" sz="2400">
                    <a:solidFill>
                      <a:srgbClr val="111827"/>
                    </a:solidFill>
                    <a:latin typeface="Cambria Math" panose="02040503050406030204" pitchFamily="18" charset="0"/>
                  </a:rPr>
                  <a:t>$a\to b\to c$</a:t>
                </a:r>
                <a:r>
                  <a:rPr sz="2400" b="0">
                    <a:solidFill>
                      <a:srgbClr val="111827"/>
                    </a:solidFill>
                    <a:latin typeface="Arial"/>
                  </a:rPr>
                  <a:t> with </a:t>
                </a:r>
                <a:r>
                  <a:rPr lang="en-IN" sz="2400">
                    <a:solidFill>
                      <a:srgbClr val="111827"/>
                    </a:solidFill>
                    <a:latin typeface="Cambria Math" panose="02040503050406030204" pitchFamily="18" charset="0"/>
                  </a:rPr>
                  <a:t>$(a,c)$</a:t>
                </a:r>
                <a:r>
                  <a:rPr sz="2400" b="0">
                    <a:solidFill>
                      <a:srgbClr val="111827"/>
                    </a:solidFill>
                    <a:latin typeface="Arial"/>
                  </a:rPr>
                  <a:t> forbidden; here the forbidden pair is </a:t>
                </a:r>
                <a:r>
                  <a:rPr lang="en-IN" sz="2400">
                    <a:solidFill>
                      <a:srgbClr val="111827"/>
                    </a:solidFill>
                    <a:latin typeface="Cambria Math" panose="02040503050406030204" pitchFamily="18" charset="0"/>
                  </a:rPr>
                  <a:t>$(1,2)$</a:t>
                </a:r>
                <a:r>
                  <a:rPr sz="2400" b="0">
                    <a:solidFill>
                      <a:srgbClr val="111827"/>
                    </a:solidFill>
                    <a:latin typeface="Arial"/>
                  </a:rPr>
                  <a:t> and any odd </a:t>
                </a:r>
                <a:r>
                  <a:rPr lang="en-IN" sz="2400">
                    <a:solidFill>
                      <a:srgbClr val="111827"/>
                    </a:solidFill>
                    <a:latin typeface="Cambria Math" panose="02040503050406030204" pitchFamily="18" charset="0"/>
                  </a:rPr>
                  <a:t>$b\ne1$</a:t>
                </a:r>
                <a:r>
                  <a:rPr sz="2400" b="0">
                    <a:solidFill>
                      <a:srgbClr val="111827"/>
                    </a:solidFill>
                    <a:latin typeface="Arial"/>
                  </a:rPr>
                  <a:t> works as the middle (check </a:t>
                </a:r>
                <a:r>
                  <a:rPr lang="en-IN" sz="2400">
                    <a:solidFill>
                      <a:srgbClr val="111827"/>
                    </a:solidFill>
                    <a:latin typeface="Cambria Math" panose="02040503050406030204" pitchFamily="18" charset="0"/>
                  </a:rPr>
                  <a:t>$b=5$</a:t>
                </a:r>
                <a:r>
                  <a:rPr sz="2400" b="0">
                    <a:solidFill>
                      <a:srgbClr val="111827"/>
                    </a:solidFill>
                    <a:latin typeface="Arial"/>
                  </a:rPr>
                  <a:t>: </a:t>
                </a:r>
                <a:r>
                  <a:rPr lang="en-IN" sz="2400">
                    <a:solidFill>
                      <a:srgbClr val="111827"/>
                    </a:solidFill>
                    <a:latin typeface="Cambria Math" panose="02040503050406030204" pitchFamily="18" charset="0"/>
                  </a:rPr>
                  <a:t>$(1,5),(5,2)\in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counterexample disproves a property; proving it needs an argument for all elements.</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defined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not symmetric</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defined on </a:t>
                </a:r>
                <a:r>
                  <a:rPr lang="en-IN" sz="2400">
                    <a:solidFill>
                      <a:srgbClr val="111827"/>
                    </a:solidFill>
                    <a:latin typeface="Cambria Math" panose="02040503050406030204" pitchFamily="18" charset="0"/>
                  </a:rPr>
                  <a:t>$\mathbb{N}$</a:t>
                </a:r>
                <a:r>
                  <a:rPr sz="2400" b="0">
                    <a:solidFill>
                      <a:srgbClr val="111827"/>
                    </a:solidFill>
                    <a:latin typeface="Arial"/>
                  </a:rPr>
                  <a:t> as </a:t>
                </a:r>
                <a:r>
                  <a:rPr lang="en-IN" sz="2400">
                    <a:solidFill>
                      <a:srgbClr val="111827"/>
                    </a:solidFill>
                    <a:latin typeface="Cambria Math" panose="02040503050406030204" pitchFamily="18" charset="0"/>
                  </a:rPr>
                  <a:t>$a\,R\,b$</a:t>
                </a:r>
                <a:r>
                  <a:rPr sz="2400" b="0">
                    <a:solidFill>
                      <a:srgbClr val="111827"/>
                    </a:solidFill>
                    <a:latin typeface="Arial"/>
                  </a:rPr>
                  <a:t> if </a:t>
                </a:r>
                <a:r>
                  <a:rPr lang="en-IN" sz="2400">
                    <a:solidFill>
                      <a:srgbClr val="111827"/>
                    </a:solidFill>
                    <a:latin typeface="Cambria Math" panose="02040503050406030204" pitchFamily="18" charset="0"/>
                  </a:rPr>
                  <a:t>$2a+3b$</a:t>
                </a:r>
                <a:r>
                  <a:rPr sz="2400" b="0">
                    <a:solidFill>
                      <a:srgbClr val="111827"/>
                    </a:solidFill>
                    <a:latin typeface="Arial"/>
                  </a:rPr>
                  <a:t> is a multiple of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$a,b\in\mathbb{N}$</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not symmetric</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𝑏</m:t>
                    </m:r>
                  </m:oMath>
                </a14:m>
                <a:r>
                  <a:rPr sz="2400" b="0">
                    <a:solidFill>
                      <a:srgbClr val="78350F"/>
                    </a:solidFill>
                    <a:latin typeface="Arial"/>
                  </a:rPr>
                  <a:t> is just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test the three properties directly.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$2a+3b=5b+2(a-b)$</a:t>
                </a:r>
                <a:r>
                  <a:rPr sz="2400" b="0">
                    <a:solidFill>
                      <a:srgbClr val="78350F"/>
                    </a:solidFill>
                    <a:latin typeface="Arial"/>
                  </a:rPr>
                  <a:t>, so </a:t>
                </a:r>
                <a:r>
                  <a:rPr lang="en-IN" sz="2400">
                    <a:solidFill>
                      <a:srgbClr val="78350F"/>
                    </a:solidFill>
                    <a:latin typeface="Cambria Math" panose="02040503050406030204" pitchFamily="18" charset="0"/>
                  </a:rPr>
                  <a:t>$a\,R\,b$</a:t>
                </a:r>
                <a:r>
                  <a:rPr sz="2400" b="0">
                    <a:solidFill>
                      <a:srgbClr val="78350F"/>
                    </a:solidFill>
                    <a:latin typeface="Arial"/>
                  </a:rPr>
                  <a:t> is just </a:t>
                </a:r>
                <a:r>
                  <a:rPr lang="en-IN" sz="2400">
                    <a:solidFill>
                      <a:srgbClr val="78350F"/>
                    </a:solidFill>
                    <a:latin typeface="Cambria Math" panose="02040503050406030204" pitchFamily="18" charset="0"/>
                  </a:rPr>
                  <a:t>$a\equiv b\pmod 5$</a:t>
                </a:r>
                <a:r>
                  <a:rPr sz="2400" b="0">
                    <a:solidFill>
                      <a:srgbClr val="78350F"/>
                    </a:solidFill>
                    <a:latin typeface="Arial"/>
                  </a:rPr>
                  <a:t>; test the three properties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oMath>
                </a14:m>
                <a:r>
                  <a:rPr sz="2400" b="0">
                    <a:solidFill>
                      <a:srgbClr val="111827"/>
                    </a:solidFill>
                    <a:latin typeface="Arial"/>
                  </a:rPr>
                  <a:t>, which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t>
                </a:r>
                <a:r>
                  <a:rPr lang="en-IN" sz="2400">
                    <a:solidFill>
                      <a:srgbClr val="111827"/>
                    </a:solidFill>
                    <a:latin typeface="Cambria Math" panose="02040503050406030204" pitchFamily="18" charset="0"/>
                  </a:rPr>
                  <a:t>$(a,a)$</a:t>
                </a:r>
                <a:r>
                  <a:rPr sz="2400" b="0">
                    <a:solidFill>
                      <a:srgbClr val="111827"/>
                    </a:solidFill>
                    <a:latin typeface="Arial"/>
                  </a:rPr>
                  <a:t>, </a:t>
                </a:r>
                <a:r>
                  <a:rPr lang="en-IN" sz="2400">
                    <a:solidFill>
                      <a:srgbClr val="111827"/>
                    </a:solidFill>
                    <a:latin typeface="Cambria Math" panose="02040503050406030204" pitchFamily="18" charset="0"/>
                  </a:rPr>
                  <a:t>$2a+3a=5a$</a:t>
                </a:r>
                <a:r>
                  <a:rPr sz="2400" b="0">
                    <a:solidFill>
                      <a:srgbClr val="111827"/>
                    </a:solidFill>
                    <a:latin typeface="Arial"/>
                  </a:rPr>
                  <a:t>, which is divisible by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$(a,a)\in R$</a:t>
                </a:r>
                <a:r>
                  <a:rPr sz="2400" b="0">
                    <a:solidFill>
                      <a:srgbClr val="111827"/>
                    </a:solidFill>
                    <a:latin typeface="Arial"/>
                  </a:rPr>
                  <a:t> for all </a:t>
                </a:r>
                <a:r>
                  <a:rPr lang="en-IN" sz="2400">
                    <a:solidFill>
                      <a:srgbClr val="111827"/>
                    </a:solidFill>
                    <a:latin typeface="Cambria Math" panose="02040503050406030204" pitchFamily="18" charset="0"/>
                  </a:rPr>
                  <a:t>$a\in\mathbb{N}$</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$(a,b)\in R$</a:t>
                </a:r>
                <a:r>
                  <a:rPr sz="2400" b="0">
                    <a:solidFill>
                      <a:srgbClr val="111827"/>
                    </a:solidFill>
                    <a:latin typeface="Arial"/>
                  </a:rPr>
                  <a:t>, so </a:t>
                </a:r>
                <a:r>
                  <a:rPr lang="en-IN" sz="2400">
                    <a:solidFill>
                      <a:srgbClr val="111827"/>
                    </a:solidFill>
                    <a:latin typeface="Cambria Math" panose="02040503050406030204" pitchFamily="18" charset="0"/>
                  </a:rPr>
                  <a:t>$2a+3b=5k_1$</a:t>
                </a:r>
                <a:r>
                  <a:rPr sz="2400" b="0">
                    <a:solidFill>
                      <a:srgbClr val="111827"/>
                    </a:solidFill>
                    <a:latin typeface="Arial"/>
                  </a:rPr>
                  <a:t>. Also </a:t>
                </a:r>
                <a:r>
                  <a:rPr lang="en-IN" sz="2400">
                    <a:solidFill>
                      <a:srgbClr val="111827"/>
                    </a:solidFill>
                    <a:latin typeface="Cambria Math" panose="02040503050406030204" pitchFamily="18" charset="0"/>
                  </a:rPr>
                  <a:t>$5a+5b=5k_2$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a:t>
                </a:r>
                <a:r>
                  <a:rPr lang="en-IN" sz="2400">
                    <a:solidFill>
                      <a:srgbClr val="111827"/>
                    </a:solidFill>
                    <a:latin typeface="Cambria Math" panose="02040503050406030204" pitchFamily="18" charset="0"/>
                  </a:rPr>
                  <a:t>$5a+5b-2a-3b=5(k_2-k_1)$</a:t>
                </a:r>
                <a:r>
                  <a:rPr sz="2400" b="0">
                    <a:solidFill>
                      <a:srgbClr val="111827"/>
                    </a:solidFill>
                    <a:latin typeface="Arial"/>
                  </a:rPr>
                  <a:t>, i.e. </a:t>
                </a:r>
                <a:r>
                  <a:rPr lang="en-IN" sz="2400">
                    <a:solidFill>
                      <a:srgbClr val="111827"/>
                    </a:solidFill>
                    <a:latin typeface="Cambria Math" panose="02040503050406030204" pitchFamily="18" charset="0"/>
                  </a:rPr>
                  <a:t>$3a+2b=5(k_2-k_1)$</a:t>
                </a:r>
                <a:r>
                  <a:rPr sz="2400" b="0">
                    <a:solidFill>
                      <a:srgbClr val="111827"/>
                    </a:solidFill>
                    <a:latin typeface="Arial"/>
                  </a:rPr>
                  <a:t>, which is </a:t>
                </a:r>
                <a:r>
                  <a:rPr lang="en-IN" sz="2400">
                    <a:solidFill>
                      <a:srgbClr val="111827"/>
                    </a:solidFill>
                    <a:latin typeface="Cambria Math" panose="02040503050406030204" pitchFamily="18" charset="0"/>
                  </a:rPr>
                  <a:t>$2b+3a=5k$</a:t>
                </a:r>
                <a:r>
                  <a:rPr sz="2400" b="0">
                    <a:solidFill>
                      <a:srgbClr val="111827"/>
                    </a:solidFill>
                    <a:latin typeface="Arial"/>
                  </a:rPr>
                  <a:t>. So </a:t>
                </a:r>
                <a:r>
                  <a:rPr lang="en-IN" sz="2400">
                    <a:solidFill>
                      <a:srgbClr val="111827"/>
                    </a:solidFill>
                    <a:latin typeface="Cambria Math" panose="02040503050406030204" pitchFamily="18" charset="0"/>
                  </a:rPr>
                  <a:t>$(b,a)\in 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$(a,b),(b,c)\in R$</a:t>
                </a:r>
                <a:r>
                  <a:rPr sz="2400" b="0">
                    <a:solidFill>
                      <a:srgbClr val="111827"/>
                    </a:solidFill>
                    <a:latin typeface="Arial"/>
                  </a:rPr>
                  <a:t>, so </a:t>
                </a:r>
                <a:r>
                  <a:rPr lang="en-IN" sz="2400">
                    <a:solidFill>
                      <a:srgbClr val="111827"/>
                    </a:solidFill>
                    <a:latin typeface="Cambria Math" panose="02040503050406030204" pitchFamily="18" charset="0"/>
                  </a:rPr>
                  <a:t>$2a+3b=5k_1$</a:t>
                </a:r>
                <a:r>
                  <a:rPr sz="2400" b="0">
                    <a:solidFill>
                      <a:srgbClr val="111827"/>
                    </a:solidFill>
                    <a:latin typeface="Arial"/>
                  </a:rPr>
                  <a:t> and </a:t>
                </a:r>
                <a:r>
                  <a:rPr lang="en-IN" sz="2400">
                    <a:solidFill>
                      <a:srgbClr val="111827"/>
                    </a:solidFill>
                    <a:latin typeface="Cambria Math" panose="02040503050406030204" pitchFamily="18" charset="0"/>
                  </a:rPr>
                  <a:t>$2b+3c=5k_2$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and transitive, so it is an equivalence relation: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$2a+3b+2b+3c=5(k_1+k_2)$</a:t>
                </a:r>
                <a:r>
                  <a:rPr sz="2400" b="0">
                    <a:solidFill>
                      <a:srgbClr val="111827"/>
                    </a:solidFill>
                    <a:latin typeface="Arial"/>
                  </a:rPr>
                  <a:t>, so </a:t>
                </a:r>
                <a:r>
                  <a:rPr lang="en-IN" sz="2400">
                    <a:solidFill>
                      <a:srgbClr val="111827"/>
                    </a:solidFill>
                    <a:latin typeface="Cambria Math" panose="02040503050406030204" pitchFamily="18" charset="0"/>
                  </a:rPr>
                  <a:t>$2a+3c=5(k_1+k_2)-5b=5\lambda$</a:t>
                </a:r>
                <a:r>
                  <a:rPr sz="2400" b="0">
                    <a:solidFill>
                      <a:srgbClr val="111827"/>
                    </a:solidFill>
                    <a:latin typeface="Arial"/>
                  </a:rPr>
                  <a:t> with </a:t>
                </a:r>
                <a:r>
                  <a:rPr lang="en-IN" sz="2400">
                    <a:solidFill>
                      <a:srgbClr val="111827"/>
                    </a:solidFill>
                    <a:latin typeface="Cambria Math" panose="02040503050406030204" pitchFamily="18" charset="0"/>
                  </a:rPr>
                  <a:t>$\lambda=k_1+k_2-b$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$(a,c)\in 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symmetric and transitive, so it is an equivalence relation: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an equivalence relation</a:t>
            </a:r>
            <a:endParaRPr sz="2800">
              <a:solidFill>
                <a:srgbClr val="15803D"/>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Rewrite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𝑏</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because </a:t>
                </a:r>
                <a14:m>
                  <m:oMath xmlns:m="http://schemas.openxmlformats.org/officeDocument/2006/math">
                    <m:r>
                      <m:rPr>
                        <m:sty m:val="p"/>
                      </m:rPr>
                      <a:rPr lang="en-IN" sz="2400">
                        <a:solidFill>
                          <a:srgbClr val="78350F"/>
                        </a:solidFill>
                        <a:latin typeface="Cambria Math" panose="02040503050406030204" pitchFamily="18" charset="0"/>
                      </a:rPr>
                      <m:t>gcd</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congruence mod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Rewrite </a:t>
                </a:r>
                <a:r>
                  <a:rPr lang="en-IN" sz="2400">
                    <a:solidFill>
                      <a:srgbClr val="78350F"/>
                    </a:solidFill>
                    <a:latin typeface="Cambria Math" panose="02040503050406030204" pitchFamily="18" charset="0"/>
                  </a:rPr>
                  <a:t>$2a+3b=2(a-b)+5b$</a:t>
                </a:r>
                <a:r>
                  <a:rPr sz="2400" b="0">
                    <a:solidFill>
                      <a:srgbClr val="78350F"/>
                    </a:solidFill>
                    <a:latin typeface="Arial"/>
                  </a:rPr>
                  <a:t>, so </a:t>
                </a:r>
                <a:r>
                  <a:rPr lang="en-IN" sz="2400">
                    <a:solidFill>
                      <a:srgbClr val="78350F"/>
                    </a:solidFill>
                    <a:latin typeface="Cambria Math" panose="02040503050406030204" pitchFamily="18" charset="0"/>
                  </a:rPr>
                  <a:t>$5\mid 2a+3b\iff5\mid(a-b)$</a:t>
                </a:r>
                <a:r>
                  <a:rPr sz="2400" b="0">
                    <a:solidFill>
                      <a:srgbClr val="78350F"/>
                    </a:solidFill>
                    <a:latin typeface="Arial"/>
                  </a:rPr>
                  <a:t> because </a:t>
                </a:r>
                <a:r>
                  <a:rPr lang="en-IN" sz="2400">
                    <a:solidFill>
                      <a:srgbClr val="78350F"/>
                    </a:solidFill>
                    <a:latin typeface="Cambria Math" panose="02040503050406030204" pitchFamily="18" charset="0"/>
                  </a:rPr>
                  <a:t>$\gcd(2,5)=1$</a:t>
                </a:r>
                <a:r>
                  <a:rPr sz="2400" b="0">
                    <a:solidFill>
                      <a:srgbClr val="78350F"/>
                    </a:solidFill>
                    <a:latin typeface="Arial"/>
                  </a:rPr>
                  <a:t>: </a:t>
                </a:r>
                <a:r>
                  <a:rPr lang="en-IN" sz="2400">
                    <a:solidFill>
                      <a:srgbClr val="78350F"/>
                    </a:solidFill>
                    <a:latin typeface="Cambria Math" panose="02040503050406030204" pitchFamily="18" charset="0"/>
                  </a:rPr>
                  <a:t>$R$</a:t>
                </a:r>
                <a:r>
                  <a:rPr sz="2400" b="0">
                    <a:solidFill>
                      <a:srgbClr val="78350F"/>
                    </a:solidFill>
                    <a:latin typeface="Arial"/>
                  </a:rPr>
                  <a:t> is congruence mod </a:t>
                </a:r>
                <a:r>
                  <a:rPr lang="en-IN" sz="2400">
                    <a:solidFill>
                      <a:srgbClr val="78350F"/>
                    </a:solidFill>
                    <a:latin typeface="Cambria Math" panose="02040503050406030204" pitchFamily="18" charset="0"/>
                  </a:rPr>
                  <a:t>$5$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prime and does not divide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$2a+3b=2(a-b)+5b$</a:t>
                </a:r>
                <a:r>
                  <a:rPr sz="2400" b="0">
                    <a:solidFill>
                      <a:srgbClr val="111827"/>
                    </a:solidFill>
                    <a:latin typeface="Arial"/>
                  </a:rPr>
                  <a:t>, so </a:t>
                </a:r>
                <a:r>
                  <a:rPr lang="en-IN" sz="2400">
                    <a:solidFill>
                      <a:srgbClr val="111827"/>
                    </a:solidFill>
                    <a:latin typeface="Cambria Math" panose="02040503050406030204" pitchFamily="18" charset="0"/>
                  </a:rPr>
                  <a:t>$5\mid(2a+3b)\iff5\mid2(a-b)$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$5$</a:t>
                </a:r>
                <a:r>
                  <a:rPr sz="2400" b="0">
                    <a:solidFill>
                      <a:srgbClr val="111827"/>
                    </a:solidFill>
                    <a:latin typeface="Arial"/>
                  </a:rPr>
                  <a:t> is prime and does not divide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$5\mid2(a-b)\iff5\mid(a-b)$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$a\,R\,b\iff a\equiv b\pmod5$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reflexive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symmetric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transitive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(with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classes, by remainders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r>
                  <a:rPr lang="en-IN" sz="2400">
                    <a:solidFill>
                      <a:srgbClr val="111827"/>
                    </a:solidFill>
                    <a:latin typeface="Cambria Math" panose="02040503050406030204" pitchFamily="18" charset="0"/>
                  </a:rPr>
                  <a:t>$5$</a:t>
                </a:r>
                <a:r>
                  <a:rPr sz="2400" b="0">
                    <a:solidFill>
                      <a:srgbClr val="111827"/>
                    </a:solidFill>
                    <a:latin typeface="Arial"/>
                  </a:rPr>
                  <a:t> is reflexive (</a:t>
                </a:r>
                <a:r>
                  <a:rPr lang="en-IN" sz="2400">
                    <a:solidFill>
                      <a:srgbClr val="111827"/>
                    </a:solidFill>
                    <a:latin typeface="Cambria Math" panose="02040503050406030204" pitchFamily="18" charset="0"/>
                  </a:rPr>
                  <a:t>$a-a=0$</a:t>
                </a:r>
                <a:r>
                  <a:rPr sz="2400" b="0">
                    <a:solidFill>
                      <a:srgbClr val="111827"/>
                    </a:solidFill>
                    <a:latin typeface="Arial"/>
                  </a:rPr>
                  <a:t>), symmetric (</a:t>
                </a:r>
                <a:r>
                  <a:rPr lang="en-IN" sz="2400">
                    <a:solidFill>
                      <a:srgbClr val="111827"/>
                    </a:solidFill>
                    <a:latin typeface="Cambria Math" panose="02040503050406030204" pitchFamily="18" charset="0"/>
                  </a:rPr>
                  <a:t>$5\mid a-b\Rightarrow5\mid b-a$</a:t>
                </a:r>
                <a:r>
                  <a:rPr sz="2400" b="0">
                    <a:solidFill>
                      <a:srgbClr val="111827"/>
                    </a:solidFill>
                    <a:latin typeface="Arial"/>
                  </a:rPr>
                  <a:t>) and transitive (</a:t>
                </a:r>
                <a:r>
                  <a:rPr lang="en-IN" sz="2400">
                    <a:solidFill>
                      <a:srgbClr val="111827"/>
                    </a:solidFill>
                    <a:latin typeface="Cambria Math" panose="02040503050406030204" pitchFamily="18" charset="0"/>
                  </a:rPr>
                  <a:t>$5\mid a-b,\ 5\mid b-c\Rightarrow5\mid 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(with </a:t>
                </a:r>
                <a:r>
                  <a:rPr lang="en-IN" sz="2400">
                    <a:solidFill>
                      <a:srgbClr val="111827"/>
                    </a:solidFill>
                    <a:latin typeface="Cambria Math" panose="02040503050406030204" pitchFamily="18" charset="0"/>
                  </a:rPr>
                  <a:t>$5$</a:t>
                </a:r>
                <a:r>
                  <a:rPr sz="2400" b="0">
                    <a:solidFill>
                      <a:srgbClr val="111827"/>
                    </a:solidFill>
                    <a:latin typeface="Arial"/>
                  </a:rPr>
                  <a:t> classes, by remainders </a:t>
                </a:r>
                <a:r>
                  <a:rPr lang="en-IN" sz="2400">
                    <a:solidFill>
                      <a:srgbClr val="111827"/>
                    </a:solidFill>
                    <a:latin typeface="Cambria Math" panose="02040503050406030204" pitchFamily="18" charset="0"/>
                  </a:rPr>
                  <a:t>$0,1,2,3,4$</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an equivalence relation</a:t>
            </a:r>
            <a:endParaRPr sz="2800">
              <a:solidFill>
                <a:srgbClr val="15803D"/>
              </a:solidFill>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when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it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it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also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relation is exactly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has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equivalence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reflexivity test for linear-condition relations: substitute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 condition should hold for all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Congruence mod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the model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or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its classes are the remainder classes.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$a\,R\,b\iff pa+qb\equiv0\pmod m$</a:t>
                </a:r>
                <a:r>
                  <a:rPr sz="2400" b="0">
                    <a:solidFill>
                      <a:srgbClr val="111827"/>
                    </a:solidFill>
                    <a:latin typeface="Arial"/>
                  </a:rPr>
                  <a:t> is an equivalence relation when </a:t>
                </a:r>
                <a:r>
                  <a:rPr lang="en-IN" sz="2400">
                    <a:solidFill>
                      <a:srgbClr val="111827"/>
                    </a:solidFill>
                    <a:latin typeface="Cambria Math" panose="02040503050406030204" pitchFamily="18" charset="0"/>
                  </a:rPr>
                  <a:t>$p+q\equiv0\pmod m$</a:t>
                </a:r>
                <a:r>
                  <a:rPr sz="2400" b="0">
                    <a:solidFill>
                      <a:srgbClr val="111827"/>
                    </a:solidFill>
                    <a:latin typeface="Arial"/>
                  </a:rPr>
                  <a:t> (then it is </a:t>
                </a:r>
                <a:r>
                  <a:rPr lang="en-IN" sz="2400">
                    <a:solidFill>
                      <a:srgbClr val="111827"/>
                    </a:solidFill>
                    <a:latin typeface="Cambria Math" panose="02040503050406030204" pitchFamily="18" charset="0"/>
                  </a:rPr>
                  <a:t>$p(a-b)\equiv0$</a:t>
                </a:r>
                <a:r>
                  <a:rPr sz="2400" b="0">
                    <a:solidFill>
                      <a:srgbClr val="111827"/>
                    </a:solidFill>
                    <a:latin typeface="Arial"/>
                  </a:rPr>
                  <a:t>). Check </a:t>
                </a:r>
                <a:r>
                  <a:rPr lang="en-IN" sz="2400">
                    <a:solidFill>
                      <a:srgbClr val="111827"/>
                    </a:solidFill>
                    <a:latin typeface="Cambria Math" panose="02040503050406030204" pitchFamily="18" charset="0"/>
                  </a:rPr>
                  <a:t>$m=5,p=2,q=3$</a:t>
                </a:r>
                <a:r>
                  <a:rPr sz="2400" b="0">
                    <a:solidFill>
                      <a:srgbClr val="111827"/>
                    </a:solidFill>
                    <a:latin typeface="Arial"/>
                  </a:rPr>
                  <a:t>; for </a:t>
                </a:r>
                <a:r>
                  <a:rPr lang="en-IN" sz="2400">
                    <a:solidFill>
                      <a:srgbClr val="111827"/>
                    </a:solidFill>
                    <a:latin typeface="Cambria Math" panose="02040503050406030204" pitchFamily="18" charset="0"/>
                  </a:rPr>
                  <a:t>$2a+3b\bmod7$</a:t>
                </a:r>
                <a:r>
                  <a:rPr sz="2400" b="0">
                    <a:solidFill>
                      <a:srgbClr val="111827"/>
                    </a:solidFill>
                    <a:latin typeface="Arial"/>
                  </a:rPr>
                  <a:t>, </a:t>
                </a:r>
                <a:r>
                  <a:rPr lang="en-IN" sz="2400">
                    <a:solidFill>
                      <a:srgbClr val="111827"/>
                    </a:solidFill>
                    <a:latin typeface="Cambria Math" panose="02040503050406030204" pitchFamily="18" charset="0"/>
                  </a:rPr>
                  <a:t>$(1,1)$</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 so it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also </a:t>
                </a:r>
                <a:r>
                  <a:rPr lang="en-IN" sz="2400">
                    <a:solidFill>
                      <a:srgbClr val="111827"/>
                    </a:solidFill>
                    <a:latin typeface="Cambria Math" panose="02040503050406030204" pitchFamily="18" charset="0"/>
                  </a:rPr>
                  <a:t>$\gcd(p,m)=1$</a:t>
                </a:r>
                <a:r>
                  <a:rPr sz="2400" b="0">
                    <a:solidFill>
                      <a:srgbClr val="111827"/>
                    </a:solidFill>
                    <a:latin typeface="Arial"/>
                  </a:rPr>
                  <a:t>, the relation is exactly </a:t>
                </a:r>
                <a:r>
                  <a:rPr lang="en-IN" sz="2400">
                    <a:solidFill>
                      <a:srgbClr val="111827"/>
                    </a:solidFill>
                    <a:latin typeface="Cambria Math" panose="02040503050406030204" pitchFamily="18" charset="0"/>
                  </a:rPr>
                  <a:t>$a\equiv b\pmod m$</a:t>
                </a:r>
                <a:r>
                  <a:rPr sz="2400" b="0">
                    <a:solidFill>
                      <a:srgbClr val="111827"/>
                    </a:solidFill>
                    <a:latin typeface="Arial"/>
                  </a:rPr>
                  <a:t> and has </a:t>
                </a:r>
                <a:r>
                  <a:rPr lang="en-IN" sz="2400">
                    <a:solidFill>
                      <a:srgbClr val="111827"/>
                    </a:solidFill>
                    <a:latin typeface="Cambria Math" panose="02040503050406030204" pitchFamily="18" charset="0"/>
                  </a:rPr>
                  <a:t>$m$</a:t>
                </a:r>
                <a:r>
                  <a:rPr sz="2400" b="0">
                    <a:solidFill>
                      <a:srgbClr val="111827"/>
                    </a:solidFill>
                    <a:latin typeface="Arial"/>
                  </a:rPr>
                  <a:t> equivalence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reflexivity test for linear-condition relations: substitute </a:t>
                </a:r>
                <a:r>
                  <a:rPr lang="en-IN" sz="2400">
                    <a:solidFill>
                      <a:srgbClr val="111827"/>
                    </a:solidFill>
                    <a:latin typeface="Cambria Math" panose="02040503050406030204" pitchFamily="18" charset="0"/>
                  </a:rPr>
                  <a:t>$b=a$</a:t>
                </a:r>
                <a:r>
                  <a:rPr sz="2400" b="0">
                    <a:solidFill>
                      <a:srgbClr val="111827"/>
                    </a:solidFill>
                    <a:latin typeface="Arial"/>
                  </a:rPr>
                  <a:t>; the condition should hold for all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Congruence mod </a:t>
                </a:r>
                <a:r>
                  <a:rPr lang="en-IN" sz="2400">
                    <a:solidFill>
                      <a:srgbClr val="111827"/>
                    </a:solidFill>
                    <a:latin typeface="Cambria Math" panose="02040503050406030204" pitchFamily="18" charset="0"/>
                  </a:rPr>
                  <a:t>$m$</a:t>
                </a:r>
                <a:r>
                  <a:rPr sz="2400" b="0">
                    <a:solidFill>
                      <a:srgbClr val="111827"/>
                    </a:solidFill>
                    <a:latin typeface="Arial"/>
                  </a:rPr>
                  <a:t> is the model equivalence relation on </a:t>
                </a:r>
                <a:r>
                  <a:rPr lang="en-IN" sz="2400">
                    <a:solidFill>
                      <a:srgbClr val="111827"/>
                    </a:solidFill>
                    <a:latin typeface="Cambria Math" panose="02040503050406030204" pitchFamily="18" charset="0"/>
                  </a:rPr>
                  <a:t>$\mathbb{Z}$</a:t>
                </a:r>
                <a:r>
                  <a:rPr sz="2400" b="0">
                    <a:solidFill>
                      <a:srgbClr val="111827"/>
                    </a:solidFill>
                    <a:latin typeface="Arial"/>
                  </a:rPr>
                  <a:t> or </a:t>
                </a:r>
                <a:r>
                  <a:rPr lang="en-IN" sz="2400">
                    <a:solidFill>
                      <a:srgbClr val="111827"/>
                    </a:solidFill>
                    <a:latin typeface="Cambria Math" panose="02040503050406030204" pitchFamily="18" charset="0"/>
                  </a:rPr>
                  <a:t>$\mathbb{N}$</a:t>
                </a:r>
                <a:r>
                  <a:rPr sz="2400" b="0">
                    <a:solidFill>
                      <a:srgbClr val="111827"/>
                    </a:solidFill>
                    <a:latin typeface="Arial"/>
                  </a:rPr>
                  <a:t>; its classes are the remainder classes.</a:t>
                </a:r>
                <a:endParaRPr sz="2400">
                  <a:solidFill>
                    <a:srgbClr val="111827"/>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minimum number of elements that must be added to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that it becomes symmetric and transitive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minimum number of elements that must be added to the relation </a:t>
                </a:r>
                <a:r>
                  <a:rPr lang="en-IN" sz="2400">
                    <a:solidFill>
                      <a:srgbClr val="111827"/>
                    </a:solidFill>
                    <a:latin typeface="Cambria Math" panose="02040503050406030204" pitchFamily="18" charset="0"/>
                  </a:rPr>
                  <a:t>$R=\{(a,b),(b,c)\}$</a:t>
                </a:r>
                <a:r>
                  <a:rPr sz="2400" b="0">
                    <a:solidFill>
                      <a:srgbClr val="111827"/>
                    </a:solidFill>
                    <a:latin typeface="Arial"/>
                  </a:rPr>
                  <a:t> on the set </a:t>
                </a:r>
                <a:r>
                  <a:rPr lang="en-IN" sz="2400">
                    <a:solidFill>
                      <a:srgbClr val="111827"/>
                    </a:solidFill>
                    <a:latin typeface="Cambria Math" panose="02040503050406030204" pitchFamily="18" charset="0"/>
                  </a:rPr>
                  <a:t>$\{a,b,c\}$</a:t>
                </a:r>
                <a:r>
                  <a:rPr sz="2400" b="0">
                    <a:solidFill>
                      <a:srgbClr val="111827"/>
                    </a:solidFill>
                    <a:latin typeface="Arial"/>
                  </a:rPr>
                  <a:t> so that it becomes symmetric and transitive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a:t>
                </a:r>
                <a:r>
                  <a:rPr sz="2400" b="0">
                    <a:solidFill>
                      <a:srgbClr val="111827"/>
                    </a:solidFill>
                    <a:latin typeface="Arial"/>
                  </a:rPr>
                  <a:t>   (B) </a:t>
                </a:r>
                <a:r>
                  <a:rPr lang="en-IN" sz="2400">
                    <a:solidFill>
                      <a:srgbClr val="111827"/>
                    </a:solidFill>
                    <a:latin typeface="Cambria Math" panose="02040503050406030204" pitchFamily="18" charset="0"/>
                  </a:rPr>
                  <a:t>$3$</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and transitive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Symmetry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transitivity then forces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reflexive pairs, i.e. the full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relation.</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Symmetry gives </a:t>
                </a:r>
                <a:r>
                  <a:rPr lang="en-IN" sz="2400">
                    <a:solidFill>
                      <a:srgbClr val="78350F"/>
                    </a:solidFill>
                    <a:latin typeface="Cambria Math" panose="02040503050406030204" pitchFamily="18" charset="0"/>
                  </a:rPr>
                  <a:t>$(b,a),(c,b)$</a:t>
                </a:r>
                <a:r>
                  <a:rPr sz="2400" b="0">
                    <a:solidFill>
                      <a:srgbClr val="78350F"/>
                    </a:solidFill>
                    <a:latin typeface="Arial"/>
                  </a:rPr>
                  <a:t>; transitivity then forces </a:t>
                </a:r>
                <a:r>
                  <a:rPr lang="en-IN" sz="2400">
                    <a:solidFill>
                      <a:srgbClr val="78350F"/>
                    </a:solidFill>
                    <a:latin typeface="Cambria Math" panose="02040503050406030204" pitchFamily="18" charset="0"/>
                  </a:rPr>
                  <a:t>$(a,c),(c,a)$</a:t>
                </a:r>
                <a:r>
                  <a:rPr sz="2400" b="0">
                    <a:solidFill>
                      <a:srgbClr val="78350F"/>
                    </a:solidFill>
                    <a:latin typeface="Arial"/>
                  </a:rPr>
                  <a:t> and the reflexive pairs, i.e. the full </a:t>
                </a:r>
                <a:r>
                  <a:rPr lang="en-IN" sz="2400">
                    <a:solidFill>
                      <a:srgbClr val="78350F"/>
                    </a:solidFill>
                    <a:latin typeface="Cambria Math" panose="02040503050406030204" pitchFamily="18" charset="0"/>
                  </a:rPr>
                  <a:t>$3\times3$</a:t>
                </a:r>
                <a:r>
                  <a:rPr sz="2400" b="0">
                    <a:solidFill>
                      <a:srgbClr val="78350F"/>
                    </a:solidFill>
                    <a:latin typeface="Arial"/>
                  </a:rPr>
                  <a:t>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symmetric again: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again: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symmetric: </a:t>
                </a:r>
                <a:r>
                  <a:rPr lang="en-IN" sz="2400">
                    <a:solidFill>
                      <a:srgbClr val="111827"/>
                    </a:solidFill>
                    <a:latin typeface="Cambria Math" panose="02040503050406030204" pitchFamily="18" charset="0"/>
                  </a:rPr>
                  <a:t>$(a,b),(b,c)\in R$</a:t>
                </a:r>
                <a:r>
                  <a:rPr sz="2400" b="0">
                    <a:solidFill>
                      <a:srgbClr val="111827"/>
                    </a:solidFill>
                    <a:latin typeface="Arial"/>
                  </a:rPr>
                  <a:t> forces </a:t>
                </a:r>
                <a:r>
                  <a:rPr lang="en-IN" sz="2400">
                    <a:solidFill>
                      <a:srgbClr val="111827"/>
                    </a:solidFill>
                    <a:latin typeface="Cambria Math" panose="02040503050406030204" pitchFamily="18" charset="0"/>
                  </a:rPr>
                  <a:t>$(b,a),(c,b)\in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transitive: </a:t>
                </a:r>
                <a:r>
                  <a:rPr lang="en-IN" sz="2400">
                    <a:solidFill>
                      <a:srgbClr val="111827"/>
                    </a:solidFill>
                    <a:latin typeface="Cambria Math" panose="02040503050406030204" pitchFamily="18" charset="0"/>
                  </a:rPr>
                  <a:t>$(a,b),(b,c)\in R$</a:t>
                </a:r>
                <a:r>
                  <a:rPr sz="2400" b="0">
                    <a:solidFill>
                      <a:srgbClr val="111827"/>
                    </a:solidFill>
                    <a:latin typeface="Arial"/>
                  </a:rPr>
                  <a:t> forces </a:t>
                </a:r>
                <a:r>
                  <a:rPr lang="en-IN" sz="2400">
                    <a:solidFill>
                      <a:srgbClr val="111827"/>
                    </a:solidFill>
                    <a:latin typeface="Cambria Math" panose="02040503050406030204" pitchFamily="18" charset="0"/>
                  </a:rPr>
                  <a:t>$(a,c)\in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symmetric again: </a:t>
                </a:r>
                <a:r>
                  <a:rPr lang="en-IN" sz="2400">
                    <a:solidFill>
                      <a:srgbClr val="111827"/>
                    </a:solidFill>
                    <a:latin typeface="Cambria Math" panose="02040503050406030204" pitchFamily="18" charset="0"/>
                  </a:rPr>
                  <a:t>$(a,c)\in R$</a:t>
                </a:r>
                <a:r>
                  <a:rPr sz="2400" b="0">
                    <a:solidFill>
                      <a:srgbClr val="111827"/>
                    </a:solidFill>
                    <a:latin typeface="Arial"/>
                  </a:rPr>
                  <a:t> forces </a:t>
                </a:r>
                <a:r>
                  <a:rPr lang="en-IN" sz="2400">
                    <a:solidFill>
                      <a:srgbClr val="111827"/>
                    </a:solidFill>
                    <a:latin typeface="Cambria Math" panose="02040503050406030204" pitchFamily="18" charset="0"/>
                  </a:rPr>
                  <a:t>$(c,a)\in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again: </a:t>
                </a:r>
                <a:r>
                  <a:rPr lang="en-IN" sz="2400">
                    <a:solidFill>
                      <a:srgbClr val="111827"/>
                    </a:solidFill>
                    <a:latin typeface="Cambria Math" panose="02040503050406030204" pitchFamily="18" charset="0"/>
                  </a:rPr>
                  <a:t>$(a,b),(b,a)\in R$</a:t>
                </a:r>
                <a:r>
                  <a:rPr sz="2400" b="0">
                    <a:solidFill>
                      <a:srgbClr val="111827"/>
                    </a:solidFill>
                    <a:latin typeface="Arial"/>
                  </a:rPr>
                  <a:t> forces </a:t>
                </a:r>
                <a:r>
                  <a:rPr lang="en-IN" sz="2400">
                    <a:solidFill>
                      <a:srgbClr val="111827"/>
                    </a:solidFill>
                    <a:latin typeface="Cambria Math" panose="02040503050406030204" pitchFamily="18" charset="0"/>
                  </a:rPr>
                  <a:t>$(a,a)\in R$</a:t>
                </a:r>
                <a:r>
                  <a:rPr sz="2400" b="0">
                    <a:solidFill>
                      <a:srgbClr val="111827"/>
                    </a:solidFill>
                    <a:latin typeface="Arial"/>
                  </a:rPr>
                  <a:t>; also </a:t>
                </a:r>
                <a:r>
                  <a:rPr lang="en-IN" sz="2400">
                    <a:solidFill>
                      <a:srgbClr val="111827"/>
                    </a:solidFill>
                    <a:latin typeface="Cambria Math" panose="02040503050406030204" pitchFamily="18" charset="0"/>
                  </a:rPr>
                  <a:t>$(b,c),(c,b)\in R$</a:t>
                </a:r>
                <a:r>
                  <a:rPr sz="2400" b="0">
                    <a:solidFill>
                      <a:srgbClr val="111827"/>
                    </a:solidFill>
                    <a:latin typeface="Arial"/>
                  </a:rPr>
                  <a:t> forces </a:t>
                </a:r>
                <a:r>
                  <a:rPr lang="en-IN" sz="2400">
                    <a:solidFill>
                      <a:srgbClr val="111827"/>
                    </a:solidFill>
                    <a:latin typeface="Cambria Math" panose="02040503050406030204" pitchFamily="18" charset="0"/>
                  </a:rPr>
                  <a:t>$(b,b)\in R$</a:t>
                </a:r>
                <a:r>
                  <a:rPr sz="2400" b="0">
                    <a:solidFill>
                      <a:srgbClr val="111827"/>
                    </a:solidFill>
                    <a:latin typeface="Arial"/>
                  </a:rPr>
                  <a:t> and </a:t>
                </a:r>
                <a:r>
                  <a:rPr lang="en-IN" sz="2400">
                    <a:solidFill>
                      <a:srgbClr val="111827"/>
                    </a:solidFill>
                    <a:latin typeface="Cambria Math" panose="02040503050406030204" pitchFamily="18" charset="0"/>
                  </a:rPr>
                  <a:t>$(c,c)\in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Elements to be added: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these is forced, and the resulting relation is all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pairs, which is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to be added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(that is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Elements to be added: </a:t>
                </a:r>
                <a:r>
                  <a:rPr lang="en-IN" sz="2400">
                    <a:solidFill>
                      <a:srgbClr val="111827"/>
                    </a:solidFill>
                    <a:latin typeface="Cambria Math" panose="02040503050406030204" pitchFamily="18" charset="0"/>
                  </a:rPr>
                  <a:t>$(b,a),(c,b),(a,c),(c,a),(a,a),(b,b),(c,c)$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these is forced, and the resulting relation is all </a:t>
                </a:r>
                <a:r>
                  <a:rPr lang="en-IN" sz="2400">
                    <a:solidFill>
                      <a:srgbClr val="111827"/>
                    </a:solidFill>
                    <a:latin typeface="Cambria Math" panose="02040503050406030204" pitchFamily="18" charset="0"/>
                  </a:rPr>
                  <a:t>$9$</a:t>
                </a:r>
                <a:r>
                  <a:rPr sz="2400" b="0">
                    <a:solidFill>
                      <a:srgbClr val="111827"/>
                    </a:solidFill>
                    <a:latin typeface="Arial"/>
                  </a:rPr>
                  <a:t> pairs, which is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to be added </a:t>
                </a:r>
                <a:r>
                  <a:rPr lang="en-IN" sz="2400">
                    <a:solidFill>
                      <a:srgbClr val="111827"/>
                    </a:solidFill>
                    <a:latin typeface="Cambria Math" panose="02040503050406030204" pitchFamily="18" charset="0"/>
                  </a:rPr>
                  <a:t>$=7$</a:t>
                </a:r>
                <a:r>
                  <a:rPr sz="2400" b="0">
                    <a:solidFill>
                      <a:srgbClr val="111827"/>
                    </a:solidFill>
                    <a:latin typeface="Arial"/>
                  </a:rPr>
                  <a:t> (that is </a:t>
                </a:r>
                <a:r>
                  <a:rPr lang="en-IN" sz="2400">
                    <a:solidFill>
                      <a:srgbClr val="111827"/>
                    </a:solidFill>
                    <a:latin typeface="Cambria Math" panose="02040503050406030204" pitchFamily="18" charset="0"/>
                  </a:rPr>
                  <a:t>$9-2$</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a:t>
            </a:r>
            <a:endParaRPr sz="2800">
              <a:solidFill>
                <a:srgbClr val="15803D"/>
              </a:solidFill>
            </a:endParaRP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symmetric transitive relation links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into one class, so it must contain every pair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pairs.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symmetric transitive relation links </a:t>
                </a:r>
                <a:r>
                  <a:rPr lang="en-IN" sz="2400">
                    <a:solidFill>
                      <a:srgbClr val="78350F"/>
                    </a:solidFill>
                    <a:latin typeface="Cambria Math" panose="02040503050406030204" pitchFamily="18" charset="0"/>
                  </a:rPr>
                  <a:t>$a,b,c$</a:t>
                </a:r>
                <a:r>
                  <a:rPr sz="2400" b="0">
                    <a:solidFill>
                      <a:srgbClr val="78350F"/>
                    </a:solidFill>
                    <a:latin typeface="Arial"/>
                  </a:rPr>
                  <a:t> into one class, so it must contain every pair of </a:t>
                </a:r>
                <a:r>
                  <a:rPr lang="en-IN" sz="2400">
                    <a:solidFill>
                      <a:srgbClr val="78350F"/>
                    </a:solidFill>
                    <a:latin typeface="Cambria Math" panose="02040503050406030204" pitchFamily="18" charset="0"/>
                  </a:rPr>
                  <a:t>$\{a,b,c\}$</a:t>
                </a:r>
                <a:r>
                  <a:rPr sz="2400" b="0">
                    <a:solidFill>
                      <a:srgbClr val="78350F"/>
                    </a:solidFill>
                    <a:latin typeface="Arial"/>
                  </a:rPr>
                  <a:t>: </a:t>
                </a:r>
                <a:r>
                  <a:rPr lang="en-IN" sz="2400">
                    <a:solidFill>
                      <a:srgbClr val="78350F"/>
                    </a:solidFill>
                    <a:latin typeface="Cambria Math" panose="02040503050406030204" pitchFamily="18" charset="0"/>
                  </a:rPr>
                  <a:t>$3^2=9$</a:t>
                </a:r>
                <a:r>
                  <a:rPr sz="2400" b="0">
                    <a:solidFill>
                      <a:srgbClr val="78350F"/>
                    </a:solidFill>
                    <a:latin typeface="Arial"/>
                  </a:rPr>
                  <a:t> pairs.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symmetric and transitive relation,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all related to each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related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symmetry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transitivity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every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must therefore be all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ordered pairs, and this relation is indeed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already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so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must be added: option (A).</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symmetric and transitive relation, </a:t>
                </a:r>
                <a:r>
                  <a:rPr lang="en-IN" sz="2400">
                    <a:solidFill>
                      <a:srgbClr val="111827"/>
                    </a:solidFill>
                    <a:latin typeface="Cambria Math" panose="02040503050406030204" pitchFamily="18" charset="0"/>
                  </a:rPr>
                  <a:t>$a\sim b$</a:t>
                </a:r>
                <a:r>
                  <a:rPr sz="2400" b="0">
                    <a:solidFill>
                      <a:srgbClr val="111827"/>
                    </a:solidFill>
                    <a:latin typeface="Arial"/>
                  </a:rPr>
                  <a:t> and </a:t>
                </a:r>
                <a:r>
                  <a:rPr lang="en-IN" sz="2400">
                    <a:solidFill>
                      <a:srgbClr val="111827"/>
                    </a:solidFill>
                    <a:latin typeface="Cambria Math" panose="02040503050406030204" pitchFamily="18" charset="0"/>
                  </a:rPr>
                  <a:t>$b\sim c$</a:t>
                </a:r>
                <a:r>
                  <a:rPr sz="2400" b="0">
                    <a:solidFill>
                      <a:srgbClr val="111827"/>
                    </a:solidFill>
                    <a:latin typeface="Arial"/>
                  </a:rPr>
                  <a:t> give </a:t>
                </a:r>
                <a:r>
                  <a:rPr lang="en-IN" sz="2400">
                    <a:solidFill>
                      <a:srgbClr val="111827"/>
                    </a:solidFill>
                    <a:latin typeface="Cambria Math" panose="02040503050406030204" pitchFamily="18" charset="0"/>
                  </a:rPr>
                  <a:t>$a\sim c$</a:t>
                </a:r>
                <a:r>
                  <a:rPr sz="2400" b="0">
                    <a:solidFill>
                      <a:srgbClr val="111827"/>
                    </a:solidFill>
                    <a:latin typeface="Arial"/>
                  </a:rPr>
                  <a:t>, so </a:t>
                </a:r>
                <a:r>
                  <a:rPr lang="en-IN" sz="2400">
                    <a:solidFill>
                      <a:srgbClr val="111827"/>
                    </a:solidFill>
                    <a:latin typeface="Cambria Math" panose="02040503050406030204" pitchFamily="18" charset="0"/>
                  </a:rPr>
                  <a:t>$a,b,c$</a:t>
                </a:r>
                <a:r>
                  <a:rPr sz="2400" b="0">
                    <a:solidFill>
                      <a:srgbClr val="111827"/>
                    </a:solidFill>
                    <a:latin typeface="Arial"/>
                  </a:rPr>
                  <a:t> are all related to each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related </a:t>
                </a:r>
                <a:r>
                  <a:rPr lang="en-IN" sz="2400">
                    <a:solidFill>
                      <a:srgbClr val="111827"/>
                    </a:solidFill>
                    <a:latin typeface="Cambria Math" panose="02040503050406030204" pitchFamily="18" charset="0"/>
                  </a:rPr>
                  <a:t>$x\sim y$</a:t>
                </a:r>
                <a:r>
                  <a:rPr sz="2400" b="0">
                    <a:solidFill>
                      <a:srgbClr val="111827"/>
                    </a:solidFill>
                    <a:latin typeface="Arial"/>
                  </a:rPr>
                  <a:t> symmetry gives </a:t>
                </a:r>
                <a:r>
                  <a:rPr lang="en-IN" sz="2400">
                    <a:solidFill>
                      <a:srgbClr val="111827"/>
                    </a:solidFill>
                    <a:latin typeface="Cambria Math" panose="02040503050406030204" pitchFamily="18" charset="0"/>
                  </a:rPr>
                  <a:t>$y\sim x$</a:t>
                </a:r>
                <a:r>
                  <a:rPr sz="2400" b="0">
                    <a:solidFill>
                      <a:srgbClr val="111827"/>
                    </a:solidFill>
                    <a:latin typeface="Arial"/>
                  </a:rPr>
                  <a:t> and transitivity gives </a:t>
                </a:r>
                <a:r>
                  <a:rPr lang="en-IN" sz="2400">
                    <a:solidFill>
                      <a:srgbClr val="111827"/>
                    </a:solidFill>
                    <a:latin typeface="Cambria Math" panose="02040503050406030204" pitchFamily="18" charset="0"/>
                  </a:rPr>
                  <a:t>$x\sim x$</a:t>
                </a:r>
                <a:r>
                  <a:rPr sz="2400" b="0">
                    <a:solidFill>
                      <a:srgbClr val="111827"/>
                    </a:solidFill>
                    <a:latin typeface="Arial"/>
                  </a:rPr>
                  <a:t>; so every </a:t>
                </a:r>
                <a:r>
                  <a:rPr lang="en-IN" sz="2400">
                    <a:solidFill>
                      <a:srgbClr val="111827"/>
                    </a:solidFill>
                    <a:latin typeface="Cambria Math" panose="02040503050406030204" pitchFamily="18" charset="0"/>
                  </a:rPr>
                  <a:t>$(x,y)$</a:t>
                </a:r>
                <a:r>
                  <a:rPr sz="2400" b="0">
                    <a:solidFill>
                      <a:srgbClr val="111827"/>
                    </a:solidFill>
                    <a:latin typeface="Arial"/>
                  </a:rPr>
                  <a:t> with </a:t>
                </a:r>
                <a:r>
                  <a:rPr lang="en-IN" sz="2400">
                    <a:solidFill>
                      <a:srgbClr val="111827"/>
                    </a:solidFill>
                    <a:latin typeface="Cambria Math" panose="02040503050406030204" pitchFamily="18" charset="0"/>
                  </a:rPr>
                  <a:t>$x,y\in\{a,b,c\}$</a:t>
                </a:r>
                <a:r>
                  <a:rPr sz="2400" b="0">
                    <a:solidFill>
                      <a:srgbClr val="111827"/>
                    </a:solidFill>
                    <a:latin typeface="Arial"/>
                  </a:rPr>
                  <a:t> is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must therefore be all </a:t>
                </a:r>
                <a:r>
                  <a:rPr lang="en-IN" sz="2400">
                    <a:solidFill>
                      <a:srgbClr val="111827"/>
                    </a:solidFill>
                    <a:latin typeface="Cambria Math" panose="02040503050406030204" pitchFamily="18" charset="0"/>
                  </a:rPr>
                  <a:t>$3\times3=9$</a:t>
                </a:r>
                <a:r>
                  <a:rPr sz="2400" b="0">
                    <a:solidFill>
                      <a:srgbClr val="111827"/>
                    </a:solidFill>
                    <a:latin typeface="Arial"/>
                  </a:rPr>
                  <a:t> ordered pairs, and this relation is indeed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already has </a:t>
                </a:r>
                <a:r>
                  <a:rPr lang="en-IN" sz="2400">
                    <a:solidFill>
                      <a:srgbClr val="111827"/>
                    </a:solidFill>
                    <a:latin typeface="Cambria Math" panose="02040503050406030204" pitchFamily="18" charset="0"/>
                  </a:rPr>
                  <a:t>$2$</a:t>
                </a:r>
                <a:r>
                  <a:rPr sz="2400" b="0">
                    <a:solidFill>
                      <a:srgbClr val="111827"/>
                    </a:solidFill>
                    <a:latin typeface="Arial"/>
                  </a:rPr>
                  <a:t> pairs, so </a:t>
                </a:r>
                <a:r>
                  <a:rPr lang="en-IN" sz="2400">
                    <a:solidFill>
                      <a:srgbClr val="111827"/>
                    </a:solidFill>
                    <a:latin typeface="Cambria Math" panose="02040503050406030204" pitchFamily="18" charset="0"/>
                  </a:rPr>
                  <a:t>$9-2=7$</a:t>
                </a:r>
                <a:r>
                  <a:rPr sz="2400" b="0">
                    <a:solidFill>
                      <a:srgbClr val="111827"/>
                    </a:solidFill>
                    <a:latin typeface="Arial"/>
                  </a:rPr>
                  <a:t> must be added: option (A).</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a:t>
            </a:r>
            <a:endParaRPr sz="2800">
              <a:solidFill>
                <a:srgbClr val="15803D"/>
              </a:solidFill>
            </a:endParaRP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and transitive relation is reflexive on every element that appears in some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symmetric transitive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over the connected components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of the graph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its size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one component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also adds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elements in no pair; it has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pairs with isolated points as components of size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symmetric-transitive-but-not-reflexive example: the empty relation on a set, 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and transitive relation is reflexive on every element that appears in some pair: </a:t>
                </a:r>
                <a:r>
                  <a:rPr lang="en-IN" sz="2400">
                    <a:solidFill>
                      <a:srgbClr val="111827"/>
                    </a:solidFill>
                    <a:latin typeface="Cambria Math" panose="02040503050406030204" pitchFamily="18" charset="0"/>
                  </a:rPr>
                  <a:t>$(x,y)\in R\Rightarrow(y,x)\in R\Rightarrow(x,x)\in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symmetric transitive relation containing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$\bigcup C_i\times C_i$</a:t>
                </a:r>
                <a:r>
                  <a:rPr sz="2400" b="0">
                    <a:solidFill>
                      <a:srgbClr val="111827"/>
                    </a:solidFill>
                    <a:latin typeface="Arial"/>
                  </a:rPr>
                  <a:t> over the connected components </a:t>
                </a:r>
                <a:r>
                  <a:rPr lang="en-IN" sz="2400">
                    <a:solidFill>
                      <a:srgbClr val="111827"/>
                    </a:solidFill>
                    <a:latin typeface="Cambria Math" panose="02040503050406030204" pitchFamily="18" charset="0"/>
                  </a:rPr>
                  <a:t>$C_i$</a:t>
                </a:r>
                <a:r>
                  <a:rPr sz="2400" b="0">
                    <a:solidFill>
                      <a:srgbClr val="111827"/>
                    </a:solidFill>
                    <a:latin typeface="Arial"/>
                  </a:rPr>
                  <a:t> of the graph of </a:t>
                </a:r>
                <a:r>
                  <a:rPr lang="en-IN" sz="2400">
                    <a:solidFill>
                      <a:srgbClr val="111827"/>
                    </a:solidFill>
                    <a:latin typeface="Cambria Math" panose="02040503050406030204" pitchFamily="18" charset="0"/>
                  </a:rPr>
                  <a:t>$R$</a:t>
                </a:r>
                <a:r>
                  <a:rPr sz="2400" b="0">
                    <a:solidFill>
                      <a:srgbClr val="111827"/>
                    </a:solidFill>
                    <a:latin typeface="Arial"/>
                  </a:rPr>
                  <a:t>; its size is </a:t>
                </a:r>
                <a:r>
                  <a:rPr lang="en-IN" sz="2400">
                    <a:solidFill>
                      <a:srgbClr val="111827"/>
                    </a:solidFill>
                    <a:latin typeface="Cambria Math" panose="02040503050406030204" pitchFamily="18" charset="0"/>
                  </a:rPr>
                  <a:t>$\sum|C_i|^2$</a:t>
                </a:r>
                <a:r>
                  <a:rPr sz="2400" b="0">
                    <a:solidFill>
                      <a:srgbClr val="111827"/>
                    </a:solidFill>
                    <a:latin typeface="Arial"/>
                  </a:rPr>
                  <a:t> (here one component of </a:t>
                </a:r>
                <a:r>
                  <a:rPr lang="en-IN" sz="2400">
                    <a:solidFill>
                      <a:srgbClr val="111827"/>
                    </a:solidFill>
                    <a:latin typeface="Cambria Math" panose="02040503050406030204" pitchFamily="18" charset="0"/>
                  </a:rPr>
                  <a:t>$3$</a:t>
                </a:r>
                <a:r>
                  <a:rPr sz="2400" b="0">
                    <a:solidFill>
                      <a:srgbClr val="111827"/>
                    </a:solidFill>
                    <a:latin typeface="Arial"/>
                  </a:rPr>
                  <a:t> elements: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r>
                  <a:rPr lang="en-IN" sz="2400">
                    <a:solidFill>
                      <a:srgbClr val="111827"/>
                    </a:solidFill>
                    <a:latin typeface="Cambria Math" panose="02040503050406030204" pitchFamily="18" charset="0"/>
                  </a:rPr>
                  <a:t>$R$</a:t>
                </a:r>
                <a:r>
                  <a:rPr sz="2400" b="0">
                    <a:solidFill>
                      <a:srgbClr val="111827"/>
                    </a:solidFill>
                    <a:latin typeface="Arial"/>
                  </a:rPr>
                  <a:t> also adds </a:t>
                </a:r>
                <a:r>
                  <a:rPr lang="en-IN" sz="2400">
                    <a:solidFill>
                      <a:srgbClr val="111827"/>
                    </a:solidFill>
                    <a:latin typeface="Cambria Math" panose="02040503050406030204" pitchFamily="18" charset="0"/>
                  </a:rPr>
                  <a:t>$(x,x)$</a:t>
                </a:r>
                <a:r>
                  <a:rPr sz="2400" b="0">
                    <a:solidFill>
                      <a:srgbClr val="111827"/>
                    </a:solidFill>
                    <a:latin typeface="Arial"/>
                  </a:rPr>
                  <a:t> for elements in no pair; it has </a:t>
                </a:r>
                <a:r>
                  <a:rPr lang="en-IN" sz="2400">
                    <a:solidFill>
                      <a:srgbClr val="111827"/>
                    </a:solidFill>
                    <a:latin typeface="Cambria Math" panose="02040503050406030204" pitchFamily="18" charset="0"/>
                  </a:rPr>
                  <a:t>$\sum|C_i|^2$</a:t>
                </a:r>
                <a:r>
                  <a:rPr sz="2400" b="0">
                    <a:solidFill>
                      <a:srgbClr val="111827"/>
                    </a:solidFill>
                    <a:latin typeface="Arial"/>
                  </a:rPr>
                  <a:t> pairs with isolated points as components of size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symmetric-transitive-but-not-reflexive example: the empty relation on a set, or </a:t>
                </a:r>
                <a:r>
                  <a:rPr lang="en-IN" sz="2400">
                    <a:solidFill>
                      <a:srgbClr val="111827"/>
                    </a:solidFill>
                    <a:latin typeface="Cambria Math" panose="02040503050406030204" pitchFamily="18" charset="0"/>
                  </a:rPr>
                  <a:t>$\{(a,a)\}$</a:t>
                </a:r>
                <a:r>
                  <a:rPr sz="2400" b="0">
                    <a:solidFill>
                      <a:srgbClr val="111827"/>
                    </a:solidFill>
                    <a:latin typeface="Arial"/>
                  </a:rPr>
                  <a:t> on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and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neither reflexive nor symmetric</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$\mathbb{N}\times\mathbb{N}$</a:t>
                </a:r>
                <a:r>
                  <a:rPr sz="2400" b="0">
                    <a:solidFill>
                      <a:srgbClr val="111827"/>
                    </a:solidFill>
                    <a:latin typeface="Arial"/>
                  </a:rPr>
                  <a:t> defined by </a:t>
                </a:r>
                <a:r>
                  <a:rPr lang="en-IN" sz="2400">
                    <a:solidFill>
                      <a:srgbClr val="111827"/>
                    </a:solidFill>
                    <a:latin typeface="Cambria Math" panose="02040503050406030204" pitchFamily="18" charset="0"/>
                  </a:rPr>
                  <a:t>$(a,b)\,R\,(c,d)$</a:t>
                </a:r>
                <a:r>
                  <a:rPr sz="2400" b="0">
                    <a:solidFill>
                      <a:srgbClr val="111827"/>
                    </a:solidFill>
                    <a:latin typeface="Arial"/>
                  </a:rPr>
                  <a:t> if and only if </a:t>
                </a:r>
                <a:r>
                  <a:rPr lang="en-IN" sz="2400">
                    <a:solidFill>
                      <a:srgbClr val="111827"/>
                    </a:solidFill>
                    <a:latin typeface="Cambria Math" panose="02040503050406030204" pitchFamily="18" charset="0"/>
                  </a:rPr>
                  <a:t>$ad(b-c)=bc(a-d)$</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and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neither reflexive nor symmetric</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r>
                      <a:rPr lang="en-IN" sz="2400" i="1">
                        <a:solidFill>
                          <a:srgbClr val="78350F"/>
                        </a:solidFill>
                        <a:latin typeface="Cambria Math" panose="02040503050406030204" pitchFamily="18" charset="0"/>
                      </a:rPr>
                      <m:t>𝑑</m:t>
                    </m:r>
                  </m:oMath>
                </a14:m>
                <a:r>
                  <a:rPr sz="2400" b="0">
                    <a:solidFill>
                      <a:srgbClr val="78350F"/>
                    </a:solidFill>
                    <a:latin typeface="Arial"/>
                  </a:rPr>
                  <a:t> turns the condition into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𝑎</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𝑏</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𝑑</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𝑐</m:t>
                        </m:r>
                      </m:den>
                    </m:f>
                  </m:oMath>
                </a14:m>
                <a:r>
                  <a:rPr sz="2400" b="0">
                    <a:solidFill>
                      <a:srgbClr val="78350F"/>
                    </a:solidFill>
                    <a:latin typeface="Arial"/>
                  </a:rPr>
                  <a:t>, i.e. the two 'differences' are negatives of each other.</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r>
                  <a:rPr lang="en-IN" sz="2400">
                    <a:solidFill>
                      <a:srgbClr val="78350F"/>
                    </a:solidFill>
                    <a:latin typeface="Cambria Math" panose="02040503050406030204" pitchFamily="18" charset="0"/>
                  </a:rPr>
                  <a:t>$abcd$</a:t>
                </a:r>
                <a:r>
                  <a:rPr sz="2400" b="0">
                    <a:solidFill>
                      <a:srgbClr val="78350F"/>
                    </a:solidFill>
                    <a:latin typeface="Arial"/>
                  </a:rPr>
                  <a:t> turns the condition into </a:t>
                </a:r>
                <a:r>
                  <a:rPr lang="en-IN" sz="2400">
                    <a:solidFill>
                      <a:srgbClr val="78350F"/>
                    </a:solidFill>
                    <a:latin typeface="Cambria Math" panose="02040503050406030204" pitchFamily="18" charset="0"/>
                  </a:rPr>
                  <a:t>$\frac1a-\frac1b=\frac1d-\frac1c$</a:t>
                </a:r>
                <a:r>
                  <a:rPr sz="2400" b="0">
                    <a:solidFill>
                      <a:srgbClr val="78350F"/>
                    </a:solidFill>
                    <a:latin typeface="Arial"/>
                  </a:rPr>
                  <a:t>, i.e. the two 'differences' are negatives of each other.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den>
                    </m:f>
                  </m:oMath>
                </a14:m>
                <a:r>
                  <a:rPr sz="2400" b="0">
                    <a:solidFill>
                      <a:srgbClr val="111827"/>
                    </a:solidFill>
                    <a:latin typeface="Arial"/>
                  </a:rPr>
                  <a:t> (divide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which rearranges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need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This is false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reflexive.</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$(a,b)\,R\,(c,d)\iff\frac{b-c}{bc}=\frac{a-d}{ad}$</a:t>
                </a:r>
                <a:r>
                  <a:rPr sz="2400" b="0">
                    <a:solidFill>
                      <a:srgbClr val="111827"/>
                    </a:solidFill>
                    <a:latin typeface="Arial"/>
                  </a:rPr>
                  <a:t> (divide </a:t>
                </a:r>
                <a:r>
                  <a:rPr lang="en-IN" sz="2400">
                    <a:solidFill>
                      <a:srgbClr val="111827"/>
                    </a:solidFill>
                    <a:latin typeface="Cambria Math" panose="02040503050406030204" pitchFamily="18" charset="0"/>
                  </a:rPr>
                  <a:t>$ad(b-c)=bc(a-d)$</a:t>
                </a:r>
                <a:r>
                  <a:rPr sz="2400" b="0">
                    <a:solidFill>
                      <a:srgbClr val="111827"/>
                    </a:solidFill>
                    <a:latin typeface="Arial"/>
                  </a:rPr>
                  <a:t> by </a:t>
                </a:r>
                <a:r>
                  <a:rPr lang="en-IN" sz="2400">
                    <a:solidFill>
                      <a:srgbClr val="111827"/>
                    </a:solidFill>
                    <a:latin typeface="Cambria Math" panose="02040503050406030204" pitchFamily="18" charset="0"/>
                  </a:rPr>
                  <a:t>$abcd$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$\frac1c-\frac1b=\frac1d-\frac1a$</a:t>
                </a:r>
                <a:r>
                  <a:rPr sz="2400" b="0">
                    <a:solidFill>
                      <a:srgbClr val="111827"/>
                    </a:solidFill>
                    <a:latin typeface="Arial"/>
                  </a:rPr>
                  <a:t>, which rearranges to </a:t>
                </a:r>
                <a:r>
                  <a:rPr lang="en-IN" sz="2400">
                    <a:solidFill>
                      <a:srgbClr val="111827"/>
                    </a:solidFill>
                    <a:latin typeface="Cambria Math" panose="02040503050406030204" pitchFamily="18" charset="0"/>
                  </a:rPr>
                  <a:t>$\frac1a-\frac1b=\frac1d-\frac1c$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$(a,b)\,R\,(a,b)$</a:t>
                </a:r>
                <a:r>
                  <a:rPr sz="2400" b="0">
                    <a:solidFill>
                      <a:srgbClr val="111827"/>
                    </a:solidFill>
                    <a:latin typeface="Arial"/>
                  </a:rPr>
                  <a:t> would need </a:t>
                </a:r>
                <a:r>
                  <a:rPr lang="en-IN" sz="2400">
                    <a:solidFill>
                      <a:srgbClr val="111827"/>
                    </a:solidFill>
                    <a:latin typeface="Cambria Math" panose="02040503050406030204" pitchFamily="18" charset="0"/>
                  </a:rPr>
                  <a:t>$\frac1a-\frac1b=\frac1b-\frac1a$</a:t>
                </a:r>
                <a:r>
                  <a:rPr sz="2400" b="0">
                    <a:solidFill>
                      <a:srgbClr val="111827"/>
                    </a:solidFill>
                    <a:latin typeface="Arial"/>
                  </a:rPr>
                  <a:t>, i.e. </a:t>
                </a:r>
                <a:r>
                  <a:rPr lang="en-IN" sz="2400">
                    <a:solidFill>
                      <a:srgbClr val="111827"/>
                    </a:solidFill>
                    <a:latin typeface="Cambria Math" panose="02040503050406030204" pitchFamily="18" charset="0"/>
                  </a:rPr>
                  <a:t>$a=b$</a:t>
                </a:r>
                <a:r>
                  <a:rPr sz="2400" b="0">
                    <a:solidFill>
                      <a:srgbClr val="111827"/>
                    </a:solidFill>
                    <a:latin typeface="Arial"/>
                  </a:rPr>
                  <a:t>. This is false for </a:t>
                </a:r>
                <a:r>
                  <a:rPr lang="en-IN" sz="2400">
                    <a:solidFill>
                      <a:srgbClr val="111827"/>
                    </a:solidFill>
                    <a:latin typeface="Cambria Math" panose="02040503050406030204" pitchFamily="18" charset="0"/>
                  </a:rPr>
                  <a:t>$a\ne b$</a:t>
                </a:r>
                <a:r>
                  <a:rPr sz="2400" b="0">
                    <a:solidFill>
                      <a:srgbClr val="111827"/>
                    </a:solidFill>
                    <a:latin typeface="Arial"/>
                  </a:rPr>
                  <a:t> (e.g. </a:t>
                </a:r>
                <a:r>
                  <a:rPr lang="en-IN" sz="2400">
                    <a:solidFill>
                      <a:srgbClr val="111827"/>
                    </a:solidFill>
                    <a:latin typeface="Cambria Math" panose="02040503050406030204" pitchFamily="18" charset="0"/>
                  </a:rPr>
                  <a:t>$(1,2)$</a:t>
                </a:r>
                <a:r>
                  <a:rPr sz="2400" b="0">
                    <a:solidFill>
                      <a:srgbClr val="111827"/>
                    </a:solidFill>
                    <a:latin typeface="Arial"/>
                  </a:rPr>
                  <a:t>). Not reflexive.</a:t>
                </a:r>
                <a:endParaRPr sz="2400">
                  <a:solidFill>
                    <a:srgbClr val="111827"/>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Multiplying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which is the condition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𝑓</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$(a,b)\,R\,(c,d)$</a:t>
                </a:r>
                <a:r>
                  <a:rPr sz="2400" b="0">
                    <a:solidFill>
                      <a:srgbClr val="111827"/>
                    </a:solidFill>
                    <a:latin typeface="Arial"/>
                  </a:rPr>
                  <a:t> gives </a:t>
                </a:r>
                <a:r>
                  <a:rPr lang="en-IN" sz="2400">
                    <a:solidFill>
                      <a:srgbClr val="111827"/>
                    </a:solidFill>
                    <a:latin typeface="Cambria Math" panose="02040503050406030204" pitchFamily="18" charset="0"/>
                  </a:rPr>
                  <a:t>$\frac1a-\frac1b=\frac1d-\frac1c$</a:t>
                </a:r>
                <a:r>
                  <a:rPr sz="2400" b="0">
                    <a:solidFill>
                      <a:srgbClr val="111827"/>
                    </a:solidFill>
                    <a:latin typeface="Arial"/>
                  </a:rPr>
                  <a:t>. Multiplying by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$\frac1c-\frac1d=\frac1b-\frac1a$</a:t>
                </a:r>
                <a:r>
                  <a:rPr sz="2400" b="0">
                    <a:solidFill>
                      <a:srgbClr val="111827"/>
                    </a:solidFill>
                    <a:latin typeface="Arial"/>
                  </a:rPr>
                  <a:t>, which is the condition for </a:t>
                </a:r>
                <a:r>
                  <a:rPr lang="en-IN" sz="2400">
                    <a:solidFill>
                      <a:srgbClr val="111827"/>
                    </a:solidFill>
                    <a:latin typeface="Cambria Math" panose="02040503050406030204" pitchFamily="18" charset="0"/>
                  </a:rPr>
                  <a:t>$(c,d)\,R\,(a,b)$</a:t>
                </a:r>
                <a:r>
                  <a:rPr sz="2400" b="0">
                    <a:solidFill>
                      <a:srgbClr val="111827"/>
                    </a:solidFill>
                    <a:latin typeface="Arial"/>
                  </a:rPr>
                  <a: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$(a,b)\,R\,(c,d)$</a:t>
                </a:r>
                <a:r>
                  <a:rPr sz="2400" b="0">
                    <a:solidFill>
                      <a:srgbClr val="111827"/>
                    </a:solidFill>
                    <a:latin typeface="Arial"/>
                  </a:rPr>
                  <a:t> gives </a:t>
                </a:r>
                <a:r>
                  <a:rPr lang="en-IN" sz="2400">
                    <a:solidFill>
                      <a:srgbClr val="111827"/>
                    </a:solidFill>
                    <a:latin typeface="Cambria Math" panose="02040503050406030204" pitchFamily="18" charset="0"/>
                  </a:rPr>
                  <a:t>$\frac1a-\frac1b=\frac1d-\frac1c$</a:t>
                </a:r>
                <a:r>
                  <a:rPr sz="2400" b="0">
                    <a:solidFill>
                      <a:srgbClr val="111827"/>
                    </a:solidFill>
                    <a:latin typeface="Arial"/>
                  </a:rPr>
                  <a:t>, and </a:t>
                </a:r>
                <a:r>
                  <a:rPr lang="en-IN" sz="2400">
                    <a:solidFill>
                      <a:srgbClr val="111827"/>
                    </a:solidFill>
                    <a:latin typeface="Cambria Math" panose="02040503050406030204" pitchFamily="18" charset="0"/>
                  </a:rPr>
                  <a:t>$(c,d)\,R\,(e,f)$</a:t>
                </a:r>
                <a:r>
                  <a:rPr sz="2400" b="0">
                    <a:solidFill>
                      <a:srgbClr val="111827"/>
                    </a:solidFill>
                    <a:latin typeface="Arial"/>
                  </a:rPr>
                  <a:t> gives </a:t>
                </a:r>
                <a:r>
                  <a:rPr lang="en-IN" sz="2400">
                    <a:solidFill>
                      <a:srgbClr val="111827"/>
                    </a:solidFill>
                    <a:latin typeface="Cambria Math" panose="02040503050406030204" pitchFamily="18" charset="0"/>
                  </a:rPr>
                  <a:t>$\frac1c-\frac1d=\frac1f-\frac1e$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Together these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𝑓</m:t>
                        </m:r>
                      </m:den>
                    </m:f>
                  </m:oMath>
                </a14:m>
                <a:r>
                  <a:rPr sz="2400" b="0">
                    <a:solidFill>
                      <a:srgbClr val="111827"/>
                    </a:solidFill>
                    <a:latin typeface="Arial"/>
                  </a:rPr>
                  <a:t>, which is not the condition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𝑓</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unless both sides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Not transitive in general.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fails.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but neither reflexive nor transitive: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Together these give </a:t>
                </a:r>
                <a:r>
                  <a:rPr lang="en-IN" sz="2400">
                    <a:solidFill>
                      <a:srgbClr val="111827"/>
                    </a:solidFill>
                    <a:latin typeface="Cambria Math" panose="02040503050406030204" pitchFamily="18" charset="0"/>
                  </a:rPr>
                  <a:t>$\frac1a-\frac1b=\frac1e-\frac1f$</a:t>
                </a:r>
                <a:r>
                  <a:rPr sz="2400" b="0">
                    <a:solidFill>
                      <a:srgbClr val="111827"/>
                    </a:solidFill>
                    <a:latin typeface="Arial"/>
                  </a:rPr>
                  <a:t>, which is not the condition </a:t>
                </a:r>
                <a:r>
                  <a:rPr lang="en-IN" sz="2400">
                    <a:solidFill>
                      <a:srgbClr val="111827"/>
                    </a:solidFill>
                    <a:latin typeface="Cambria Math" panose="02040503050406030204" pitchFamily="18" charset="0"/>
                  </a:rPr>
                  <a:t>$\frac1a-\frac1b=\frac1f-\frac1e$</a:t>
                </a:r>
                <a:r>
                  <a:rPr sz="2400" b="0">
                    <a:solidFill>
                      <a:srgbClr val="111827"/>
                    </a:solidFill>
                    <a:latin typeface="Arial"/>
                  </a:rPr>
                  <a:t> for </a:t>
                </a:r>
                <a:r>
                  <a:rPr lang="en-IN" sz="2400">
                    <a:solidFill>
                      <a:srgbClr val="111827"/>
                    </a:solidFill>
                    <a:latin typeface="Cambria Math" panose="02040503050406030204" pitchFamily="18" charset="0"/>
                  </a:rPr>
                  <a:t>$(a,b)\,R\,(e,f)$</a:t>
                </a:r>
                <a:r>
                  <a:rPr sz="2400" b="0">
                    <a:solidFill>
                      <a:srgbClr val="111827"/>
                    </a:solidFill>
                    <a:latin typeface="Arial"/>
                  </a:rPr>
                  <a:t> unless both sides are </a:t>
                </a:r>
                <a:r>
                  <a:rPr lang="en-IN" sz="2400">
                    <a:solidFill>
                      <a:srgbClr val="111827"/>
                    </a:solidFill>
                    <a:latin typeface="Cambria Math" panose="02040503050406030204" pitchFamily="18" charset="0"/>
                  </a:rPr>
                  <a:t>$0$</a:t>
                </a:r>
                <a:r>
                  <a:rPr sz="2400" b="0">
                    <a:solidFill>
                      <a:srgbClr val="111827"/>
                    </a:solidFill>
                    <a:latin typeface="Arial"/>
                  </a:rPr>
                  <a:t>. Not transitive in general.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r>
                  <a:rPr lang="en-IN" sz="2400">
                    <a:solidFill>
                      <a:srgbClr val="111827"/>
                    </a:solidFill>
                    <a:latin typeface="Cambria Math" panose="02040503050406030204" pitchFamily="18" charset="0"/>
                  </a:rPr>
                  <a:t>$(1,2)\,R\,(2,1)$</a:t>
                </a:r>
                <a:r>
                  <a:rPr sz="2400" b="0">
                    <a:solidFill>
                      <a:srgbClr val="111827"/>
                    </a:solidFill>
                    <a:latin typeface="Arial"/>
                  </a:rPr>
                  <a:t> and </a:t>
                </a:r>
                <a:r>
                  <a:rPr lang="en-IN" sz="2400">
                    <a:solidFill>
                      <a:srgbClr val="111827"/>
                    </a:solidFill>
                    <a:latin typeface="Cambria Math" panose="02040503050406030204" pitchFamily="18" charset="0"/>
                  </a:rPr>
                  <a:t>$(2,1)\,R\,(1,2)$</a:t>
                </a:r>
                <a:r>
                  <a:rPr sz="2400" b="0">
                    <a:solidFill>
                      <a:srgbClr val="111827"/>
                    </a:solidFill>
                    <a:latin typeface="Arial"/>
                  </a:rPr>
                  <a:t>, but </a:t>
                </a:r>
                <a:r>
                  <a:rPr lang="en-IN" sz="2400">
                    <a:solidFill>
                      <a:srgbClr val="111827"/>
                    </a:solidFill>
                    <a:latin typeface="Cambria Math" panose="02040503050406030204" pitchFamily="18" charset="0"/>
                  </a:rPr>
                  <a:t>$(1,2)\,R\,(1,2)$</a:t>
                </a:r>
                <a:r>
                  <a:rPr sz="2400" b="0">
                    <a:solidFill>
                      <a:srgbClr val="111827"/>
                    </a:solidFill>
                    <a:latin typeface="Arial"/>
                  </a:rPr>
                  <a:t> fails. Hence </a:t>
                </a:r>
                <a:r>
                  <a:rPr lang="en-IN" sz="2400">
                    <a:solidFill>
                      <a:srgbClr val="111827"/>
                    </a:solidFill>
                    <a:latin typeface="Cambria Math" panose="02040503050406030204" pitchFamily="18" charset="0"/>
                  </a:rPr>
                  <a:t>$R$</a:t>
                </a:r>
                <a:r>
                  <a:rPr sz="2400" b="0">
                    <a:solidFill>
                      <a:srgbClr val="111827"/>
                    </a:solidFill>
                    <a:latin typeface="Arial"/>
                  </a:rPr>
                  <a:t> is symmetric but neither reflexive nor transitive: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symmetric but neither reflexive nor transitive</a:t>
            </a:r>
            <a:endParaRPr sz="2800">
              <a:solidFill>
                <a:srgbClr val="15803D"/>
              </a:solidFill>
            </a:endParaRP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polynomial condition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directly: swapping the two pairs gives the same equation, and small integer pairs refute the other two properties.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polynomial condition </a:t>
                </a:r>
                <a:r>
                  <a:rPr lang="en-IN" sz="2400">
                    <a:solidFill>
                      <a:srgbClr val="78350F"/>
                    </a:solidFill>
                    <a:latin typeface="Cambria Math" panose="02040503050406030204" pitchFamily="18" charset="0"/>
                  </a:rPr>
                  <a:t>$ad(b-c)=bc(a-d)$</a:t>
                </a:r>
                <a:r>
                  <a:rPr sz="2400" b="0">
                    <a:solidFill>
                      <a:srgbClr val="78350F"/>
                    </a:solidFill>
                    <a:latin typeface="Arial"/>
                  </a:rPr>
                  <a:t> directly: swapping the two pairs gives the same equation, and small integer pairs refute the other two properties.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Multiplying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original equation.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false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gives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True.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$(c,d)\,R\,(a,b)$</a:t>
                </a:r>
                <a:r>
                  <a:rPr sz="2400" b="0">
                    <a:solidFill>
                      <a:srgbClr val="111827"/>
                    </a:solidFill>
                    <a:latin typeface="Arial"/>
                  </a:rPr>
                  <a:t> means </a:t>
                </a:r>
                <a:r>
                  <a:rPr lang="en-IN" sz="2400">
                    <a:solidFill>
                      <a:srgbClr val="111827"/>
                    </a:solidFill>
                    <a:latin typeface="Cambria Math" panose="02040503050406030204" pitchFamily="18" charset="0"/>
                  </a:rPr>
                  <a:t>$cb(d-a)=da(c-b)$</a:t>
                </a:r>
                <a:r>
                  <a:rPr sz="2400" b="0">
                    <a:solidFill>
                      <a:srgbClr val="111827"/>
                    </a:solidFill>
                    <a:latin typeface="Arial"/>
                  </a:rPr>
                  <a:t>. Multiplying by </a:t>
                </a:r>
                <a:r>
                  <a:rPr lang="en-IN" sz="2400">
                    <a:solidFill>
                      <a:srgbClr val="111827"/>
                    </a:solidFill>
                    <a:latin typeface="Cambria Math" panose="02040503050406030204" pitchFamily="18" charset="0"/>
                  </a:rPr>
                  <a:t>$-1$</a:t>
                </a:r>
                <a:r>
                  <a:rPr sz="2400" b="0">
                    <a:solidFill>
                      <a:srgbClr val="111827"/>
                    </a:solidFill>
                    <a:latin typeface="Arial"/>
                  </a:rPr>
                  <a:t> gives </a:t>
                </a:r>
                <a:r>
                  <a:rPr lang="en-IN" sz="2400">
                    <a:solidFill>
                      <a:srgbClr val="111827"/>
                    </a:solidFill>
                    <a:latin typeface="Cambria Math" panose="02040503050406030204" pitchFamily="18" charset="0"/>
                  </a:rPr>
                  <a:t>$bc(a-d)=ad(b-c)$</a:t>
                </a:r>
                <a:r>
                  <a:rPr sz="2400" b="0">
                    <a:solidFill>
                      <a:srgbClr val="111827"/>
                    </a:solidFill>
                    <a:latin typeface="Arial"/>
                  </a:rPr>
                  <a:t>, the original equation. So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$(a,b)\,R\,(a,b)$</a:t>
                </a:r>
                <a:r>
                  <a:rPr sz="2400" b="0">
                    <a:solidFill>
                      <a:srgbClr val="111827"/>
                    </a:solidFill>
                    <a:latin typeface="Arial"/>
                  </a:rPr>
                  <a:t> means </a:t>
                </a:r>
                <a:r>
                  <a:rPr lang="en-IN" sz="2400">
                    <a:solidFill>
                      <a:srgbClr val="111827"/>
                    </a:solidFill>
                    <a:latin typeface="Cambria Math" panose="02040503050406030204" pitchFamily="18" charset="0"/>
                  </a:rPr>
                  <a:t>$ab(b-a)=ba(a-b)$</a:t>
                </a:r>
                <a:r>
                  <a:rPr sz="2400" b="0">
                    <a:solidFill>
                      <a:srgbClr val="111827"/>
                    </a:solidFill>
                    <a:latin typeface="Arial"/>
                  </a:rPr>
                  <a:t>, i.e. </a:t>
                </a:r>
                <a:r>
                  <a:rPr lang="en-IN" sz="2400">
                    <a:solidFill>
                      <a:srgbClr val="111827"/>
                    </a:solidFill>
                    <a:latin typeface="Cambria Math" panose="02040503050406030204" pitchFamily="18" charset="0"/>
                  </a:rPr>
                  <a:t>$2ab(b-a)=0$</a:t>
                </a:r>
                <a:r>
                  <a:rPr sz="2400" b="0">
                    <a:solidFill>
                      <a:srgbClr val="111827"/>
                    </a:solidFill>
                    <a:latin typeface="Arial"/>
                  </a:rPr>
                  <a:t>, false for </a:t>
                </a:r>
                <a:r>
                  <a:rPr lang="en-IN" sz="2400">
                    <a:solidFill>
                      <a:srgbClr val="111827"/>
                    </a:solidFill>
                    <a:latin typeface="Cambria Math" panose="02040503050406030204" pitchFamily="18" charset="0"/>
                  </a:rPr>
                  <a:t>$(1,2)$</a:t>
                </a:r>
                <a:r>
                  <a:rPr sz="2400" b="0">
                    <a:solidFill>
                      <a:srgbClr val="111827"/>
                    </a:solidFill>
                    <a:latin typeface="Arial"/>
                  </a:rPr>
                  <a:t> (it gives </a:t>
                </a:r>
                <a:r>
                  <a:rPr lang="en-IN" sz="2400">
                    <a:solidFill>
                      <a:srgbClr val="111827"/>
                    </a:solidFill>
                    <a:latin typeface="Cambria Math" panose="02040503050406030204" pitchFamily="18" charset="0"/>
                  </a:rPr>
                  <a:t>$4\ne0$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$(1,2)\,R\,(2,1)$</a:t>
                </a:r>
                <a:r>
                  <a:rPr sz="2400" b="0">
                    <a:solidFill>
                      <a:srgbClr val="111827"/>
                    </a:solidFill>
                    <a:latin typeface="Arial"/>
                  </a:rPr>
                  <a:t>: </a:t>
                </a:r>
                <a:r>
                  <a:rPr lang="en-IN" sz="2400">
                    <a:solidFill>
                      <a:srgbClr val="111827"/>
                    </a:solidFill>
                    <a:latin typeface="Cambria Math" panose="02040503050406030204" pitchFamily="18" charset="0"/>
                  </a:rPr>
                  <a:t>$ad(b-c)=1\cdot1\cdot(2-2)=0$</a:t>
                </a:r>
                <a:r>
                  <a:rPr sz="2400" b="0">
                    <a:solidFill>
                      <a:srgbClr val="111827"/>
                    </a:solidFill>
                    <a:latin typeface="Arial"/>
                  </a:rPr>
                  <a:t> and </a:t>
                </a:r>
                <a:r>
                  <a:rPr lang="en-IN" sz="2400">
                    <a:solidFill>
                      <a:srgbClr val="111827"/>
                    </a:solidFill>
                    <a:latin typeface="Cambria Math" panose="02040503050406030204" pitchFamily="18" charset="0"/>
                  </a:rPr>
                  <a:t>$bc(a-d)=2\cdot2\cdot(1-1)=0$</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true. 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were transitive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was shown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not reflexive and not transitive: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r>
                  <a:rPr lang="en-IN" sz="2400">
                    <a:solidFill>
                      <a:srgbClr val="111827"/>
                    </a:solidFill>
                    <a:latin typeface="Cambria Math" panose="02040503050406030204" pitchFamily="18" charset="0"/>
                  </a:rPr>
                  <a:t>$(2,1)\,R\,(1,2)$</a:t>
                </a:r>
                <a:r>
                  <a:rPr sz="2400" b="0">
                    <a:solidFill>
                      <a:srgbClr val="111827"/>
                    </a:solidFill>
                    <a:latin typeface="Arial"/>
                  </a:rPr>
                  <a:t> is also true. If </a:t>
                </a:r>
                <a:r>
                  <a:rPr lang="en-IN" sz="2400">
                    <a:solidFill>
                      <a:srgbClr val="111827"/>
                    </a:solidFill>
                    <a:latin typeface="Cambria Math" panose="02040503050406030204" pitchFamily="18" charset="0"/>
                  </a:rPr>
                  <a:t>$R$</a:t>
                </a:r>
                <a:r>
                  <a:rPr sz="2400" b="0">
                    <a:solidFill>
                      <a:srgbClr val="111827"/>
                    </a:solidFill>
                    <a:latin typeface="Arial"/>
                  </a:rPr>
                  <a:t> were transitive then </a:t>
                </a:r>
                <a:r>
                  <a:rPr lang="en-IN" sz="2400">
                    <a:solidFill>
                      <a:srgbClr val="111827"/>
                    </a:solidFill>
                    <a:latin typeface="Cambria Math" panose="02040503050406030204" pitchFamily="18" charset="0"/>
                  </a:rPr>
                  <a:t>$(1,2)\,R\,(1,2)$</a:t>
                </a:r>
                <a:r>
                  <a:rPr sz="2400" b="0">
                    <a:solidFill>
                      <a:srgbClr val="111827"/>
                    </a:solidFill>
                    <a:latin typeface="Arial"/>
                  </a:rPr>
                  <a:t>, which was shown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symmetric, not reflexive and not transitive: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symmetric but neither reflexive nor transitive</a:t>
            </a:r>
            <a:endParaRPr sz="2800">
              <a:solidFill>
                <a:srgbClr val="15803D"/>
              </a:solidFill>
            </a:endParaRP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 relation defined by a product identity by the product of the variables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𝑑</m:t>
                    </m:r>
                  </m:oMath>
                </a14:m>
                <a:r>
                  <a:rPr sz="2400" b="0">
                    <a:solidFill>
                      <a:srgbClr val="111827"/>
                    </a:solidFill>
                    <a:latin typeface="Arial"/>
                  </a:rPr>
                  <a:t> here) to reveal a hidden difference or ratio form: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an equivalence relation (classes = level sets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symmetric and in general neither reflexive nor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reflexive only where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is transitive only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the elements involved (here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vanishes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pair-relations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test small points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before attempting a general proof.</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 relation defined by a product identity by the product of the variables (</a:t>
                </a:r>
                <a:r>
                  <a:rPr lang="en-IN" sz="2400">
                    <a:solidFill>
                      <a:srgbClr val="111827"/>
                    </a:solidFill>
                    <a:latin typeface="Cambria Math" panose="02040503050406030204" pitchFamily="18" charset="0"/>
                  </a:rPr>
                  <a:t>$abcd$</a:t>
                </a:r>
                <a:r>
                  <a:rPr sz="2400" b="0">
                    <a:solidFill>
                      <a:srgbClr val="111827"/>
                    </a:solidFill>
                    <a:latin typeface="Arial"/>
                  </a:rPr>
                  <a:t> here) to reveal a hidden difference or ratio form: </a:t>
                </a:r>
                <a:r>
                  <a:rPr lang="en-IN" sz="2400">
                    <a:solidFill>
                      <a:srgbClr val="111827"/>
                    </a:solidFill>
                    <a:latin typeface="Cambria Math" panose="02040503050406030204" pitchFamily="18" charset="0"/>
                  </a:rPr>
                  <a:t>$\frac{b-c}{bc}=\frac1c-\frac1b$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$f(x)=f(y)$</a:t>
                </a:r>
                <a:r>
                  <a:rPr sz="2400" b="0">
                    <a:solidFill>
                      <a:srgbClr val="111827"/>
                    </a:solidFill>
                    <a:latin typeface="Arial"/>
                  </a:rPr>
                  <a:t> is always an equivalence relation (classes = level sets of </a:t>
                </a:r>
                <a:r>
                  <a:rPr lang="en-IN" sz="2400">
                    <a:solidFill>
                      <a:srgbClr val="111827"/>
                    </a:solidFill>
                    <a:latin typeface="Cambria Math" panose="02040503050406030204" pitchFamily="18" charset="0"/>
                  </a:rPr>
                  <a:t>$f$</a:t>
                </a:r>
                <a:r>
                  <a:rPr sz="2400" b="0">
                    <a:solidFill>
                      <a:srgbClr val="111827"/>
                    </a:solidFill>
                    <a:latin typeface="Arial"/>
                  </a:rPr>
                  <a:t>); but </a:t>
                </a:r>
                <a:r>
                  <a:rPr lang="en-IN" sz="2400">
                    <a:solidFill>
                      <a:srgbClr val="111827"/>
                    </a:solidFill>
                    <a:latin typeface="Cambria Math" panose="02040503050406030204" pitchFamily="18" charset="0"/>
                  </a:rPr>
                  <a:t>$f(x)=-f(y)$</a:t>
                </a:r>
                <a:r>
                  <a:rPr sz="2400" b="0">
                    <a:solidFill>
                      <a:srgbClr val="111827"/>
                    </a:solidFill>
                    <a:latin typeface="Arial"/>
                  </a:rPr>
                  <a:t>, i.e. </a:t>
                </a:r>
                <a:r>
                  <a:rPr lang="en-IN" sz="2400">
                    <a:solidFill>
                      <a:srgbClr val="111827"/>
                    </a:solidFill>
                    <a:latin typeface="Cambria Math" panose="02040503050406030204" pitchFamily="18" charset="0"/>
                  </a:rPr>
                  <a:t>$f(x)+f(y)=0$</a:t>
                </a:r>
                <a:r>
                  <a:rPr sz="2400" b="0">
                    <a:solidFill>
                      <a:srgbClr val="111827"/>
                    </a:solidFill>
                    <a:latin typeface="Arial"/>
                  </a:rPr>
                  <a:t>, is symmetric and in general neither reflexive nor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$f(x)=-f(y)$</a:t>
                </a:r>
                <a:r>
                  <a:rPr sz="2400" b="0">
                    <a:solidFill>
                      <a:srgbClr val="111827"/>
                    </a:solidFill>
                    <a:latin typeface="Arial"/>
                  </a:rPr>
                  <a:t> is reflexive only where </a:t>
                </a:r>
                <a:r>
                  <a:rPr lang="en-IN" sz="2400">
                    <a:solidFill>
                      <a:srgbClr val="111827"/>
                    </a:solidFill>
                    <a:latin typeface="Cambria Math" panose="02040503050406030204" pitchFamily="18" charset="0"/>
                  </a:rPr>
                  <a:t>$f(x)=0$</a:t>
                </a:r>
                <a:r>
                  <a:rPr sz="2400" b="0">
                    <a:solidFill>
                      <a:srgbClr val="111827"/>
                    </a:solidFill>
                    <a:latin typeface="Arial"/>
                  </a:rPr>
                  <a:t> and is transitive only if </a:t>
                </a:r>
                <a:r>
                  <a:rPr lang="en-IN" sz="2400">
                    <a:solidFill>
                      <a:srgbClr val="111827"/>
                    </a:solidFill>
                    <a:latin typeface="Cambria Math" panose="02040503050406030204" pitchFamily="18" charset="0"/>
                  </a:rPr>
                  <a:t>$f=0$</a:t>
                </a:r>
                <a:r>
                  <a:rPr sz="2400" b="0">
                    <a:solidFill>
                      <a:srgbClr val="111827"/>
                    </a:solidFill>
                    <a:latin typeface="Arial"/>
                  </a:rPr>
                  <a:t> on the elements involved (here </a:t>
                </a:r>
                <a:r>
                  <a:rPr lang="en-IN" sz="2400">
                    <a:solidFill>
                      <a:srgbClr val="111827"/>
                    </a:solidFill>
                    <a:latin typeface="Cambria Math" panose="02040503050406030204" pitchFamily="18" charset="0"/>
                  </a:rPr>
                  <a:t>$f(a,b)=\frac1a-\frac1b$</a:t>
                </a:r>
                <a:r>
                  <a:rPr sz="2400" b="0">
                    <a:solidFill>
                      <a:srgbClr val="111827"/>
                    </a:solidFill>
                    <a:latin typeface="Arial"/>
                  </a:rPr>
                  <a:t> vanishes iff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pair-relations on </a:t>
                </a:r>
                <a:r>
                  <a:rPr lang="en-IN" sz="2400">
                    <a:solidFill>
                      <a:srgbClr val="111827"/>
                    </a:solidFill>
                    <a:latin typeface="Cambria Math" panose="02040503050406030204" pitchFamily="18" charset="0"/>
                  </a:rPr>
                  <a:t>$\mathbb{N}\times\mathbb{N}$</a:t>
                </a:r>
                <a:r>
                  <a:rPr sz="2400" b="0">
                    <a:solidFill>
                      <a:srgbClr val="111827"/>
                    </a:solidFill>
                    <a:latin typeface="Arial"/>
                  </a:rPr>
                  <a:t>, test small points such as </a:t>
                </a:r>
                <a:r>
                  <a:rPr lang="en-IN" sz="2400">
                    <a:solidFill>
                      <a:srgbClr val="111827"/>
                    </a:solidFill>
                    <a:latin typeface="Cambria Math" panose="02040503050406030204" pitchFamily="18" charset="0"/>
                  </a:rPr>
                  <a:t>$(1,2),(2,1)$</a:t>
                </a:r>
                <a:r>
                  <a:rPr sz="2400" b="0">
                    <a:solidFill>
                      <a:srgbClr val="111827"/>
                    </a:solidFill>
                    <a:latin typeface="Arial"/>
                  </a:rPr>
                  <a:t> before attempting a general proof.</a:t>
                </a:r>
                <a:endParaRPr sz="2400">
                  <a:solidFill>
                    <a:srgbClr val="111827"/>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given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nor/>
                      </m:rPr>
                      <a:rPr lang="en-IN" sz="2400" i="1">
                        <a:solidFill>
                          <a:srgbClr val="111827"/>
                        </a:solidFill>
                        <a:latin typeface="Cambria Math" panose="02040503050406030204" pitchFamily="18" charset="0"/>
                      </a:rPr>
                      <m:t> 𝑖𝑠 𝑎𝑛 𝑖𝑟𝑟𝑎𝑡𝑖𝑜𝑛𝑎𝑙 𝑛𝑢𝑚𝑏𝑒𝑟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transitive but not symmetric</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$\mathbb{R}$</a:t>
                </a:r>
                <a:r>
                  <a:rPr sz="2400" b="0">
                    <a:solidFill>
                      <a:srgbClr val="111827"/>
                    </a:solidFill>
                    <a:latin typeface="Arial"/>
                  </a:rPr>
                  <a:t>, given by </a:t>
                </a:r>
                <a:r>
                  <a:rPr lang="en-IN" sz="2400">
                    <a:solidFill>
                      <a:srgbClr val="111827"/>
                    </a:solidFill>
                    <a:latin typeface="Cambria Math" panose="02040503050406030204" pitchFamily="18" charset="0"/>
                  </a:rPr>
                  <a:t>$R=\{(a,b) : 3a-3b+\sqrt7\text{ is an irrational number}\}$</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transitive but not symmetric</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depends on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e>
                    </m:rad>
                  </m:oMath>
                </a14:m>
                <a:r>
                  <a:rPr sz="2400" b="0">
                    <a:solidFill>
                      <a:srgbClr val="78350F"/>
                    </a:solidFill>
                    <a:latin typeface="Arial"/>
                  </a:rPr>
                  <a:t>, so choose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so that this expression is rational in one direction only.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$(a,b)\in R$</a:t>
                </a:r>
                <a:r>
                  <a:rPr sz="2400" b="0">
                    <a:solidFill>
                      <a:srgbClr val="78350F"/>
                    </a:solidFill>
                    <a:latin typeface="Arial"/>
                  </a:rPr>
                  <a:t> depends on </a:t>
                </a:r>
                <a:r>
                  <a:rPr lang="en-IN" sz="2400">
                    <a:solidFill>
                      <a:srgbClr val="78350F"/>
                    </a:solidFill>
                    <a:latin typeface="Cambria Math" panose="02040503050406030204" pitchFamily="18" charset="0"/>
                  </a:rPr>
                  <a:t>$3(a-b)+\sqrt7$</a:t>
                </a:r>
                <a:r>
                  <a:rPr sz="2400" b="0">
                    <a:solidFill>
                      <a:srgbClr val="78350F"/>
                    </a:solidFill>
                    <a:latin typeface="Arial"/>
                  </a:rPr>
                  <a:t>, so choose </a:t>
                </a:r>
                <a:r>
                  <a:rPr lang="en-IN" sz="2400">
                    <a:solidFill>
                      <a:srgbClr val="78350F"/>
                    </a:solidFill>
                    <a:latin typeface="Cambria Math" panose="02040503050406030204" pitchFamily="18" charset="0"/>
                  </a:rPr>
                  <a:t>$a-b$</a:t>
                </a:r>
                <a:r>
                  <a:rPr sz="2400" b="0">
                    <a:solidFill>
                      <a:srgbClr val="78350F"/>
                    </a:solidFill>
                    <a:latin typeface="Arial"/>
                  </a:rPr>
                  <a:t> so that this expression is rational in one direction only.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which is irrational,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irrational,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is 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irrational,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$3(a-a)+\sqrt7=\sqrt7$</a:t>
                </a:r>
                <a:r>
                  <a:rPr sz="2400" b="0">
                    <a:solidFill>
                      <a:srgbClr val="111827"/>
                    </a:solidFill>
                    <a:latin typeface="Arial"/>
                  </a:rPr>
                  <a:t>, which is irrational, so </a:t>
                </a:r>
                <a:r>
                  <a:rPr lang="en-IN" sz="2400">
                    <a:solidFill>
                      <a:srgbClr val="111827"/>
                    </a:solidFill>
                    <a:latin typeface="Cambria Math" panose="02040503050406030204" pitchFamily="18" charset="0"/>
                  </a:rPr>
                  <a:t>$(a,a)\in R$</a:t>
                </a:r>
                <a:r>
                  <a:rPr sz="2400" b="0">
                    <a:solidFill>
                      <a:srgbClr val="111827"/>
                    </a:solidFill>
                    <a:latin typeface="Arial"/>
                  </a:rPr>
                  <a:t> for every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take </a:t>
                </a:r>
                <a:r>
                  <a:rPr lang="en-IN" sz="2400">
                    <a:solidFill>
                      <a:srgbClr val="111827"/>
                    </a:solidFill>
                    <a:latin typeface="Cambria Math" panose="02040503050406030204" pitchFamily="18" charset="0"/>
                  </a:rPr>
                  <a:t>$a=\frac{\sqrt7}{3}$</a:t>
                </a:r>
                <a:r>
                  <a:rPr sz="2400" b="0">
                    <a:solidFill>
                      <a:srgbClr val="111827"/>
                    </a:solidFill>
                    <a:latin typeface="Arial"/>
                  </a:rPr>
                  <a:t>, </a:t>
                </a:r>
                <a:r>
                  <a:rPr lang="en-IN" sz="2400">
                    <a:solidFill>
                      <a:srgbClr val="111827"/>
                    </a:solidFill>
                    <a:latin typeface="Cambria Math" panose="02040503050406030204" pitchFamily="18" charset="0"/>
                  </a:rPr>
                  <a:t>$b=0$</a:t>
                </a:r>
                <a:r>
                  <a:rPr sz="2400" b="0">
                    <a:solidFill>
                      <a:srgbClr val="111827"/>
                    </a:solidFill>
                    <a:latin typeface="Arial"/>
                  </a:rPr>
                  <a:t>. Then </a:t>
                </a:r>
                <a:r>
                  <a:rPr lang="en-IN" sz="2400">
                    <a:solidFill>
                      <a:srgbClr val="111827"/>
                    </a:solidFill>
                    <a:latin typeface="Cambria Math" panose="02040503050406030204" pitchFamily="18" charset="0"/>
                  </a:rPr>
                  <a:t>$3a-3b+\sqrt7=2\sqrt7$</a:t>
                </a:r>
                <a:r>
                  <a:rPr sz="2400" b="0">
                    <a:solidFill>
                      <a:srgbClr val="111827"/>
                    </a:solidFill>
                    <a:latin typeface="Arial"/>
                  </a:rPr>
                  <a:t>, irrational, so </a:t>
                </a:r>
                <a:r>
                  <a:rPr lang="en-IN" sz="2400">
                    <a:solidFill>
                      <a:srgbClr val="111827"/>
                    </a:solidFill>
                    <a:latin typeface="Cambria Math" panose="02040503050406030204" pitchFamily="18" charset="0"/>
                  </a:rPr>
                  <a:t>$(a,b)\in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$3(b-a)+\sqrt7=-\sqrt7+\sqrt7=0$</a:t>
                </a:r>
                <a:r>
                  <a:rPr sz="2400" b="0">
                    <a:solidFill>
                      <a:srgbClr val="111827"/>
                    </a:solidFill>
                    <a:latin typeface="Arial"/>
                  </a:rPr>
                  <a:t>, which is rational, so </a:t>
                </a:r>
                <a:r>
                  <a:rPr lang="en-IN" sz="2400">
                    <a:solidFill>
                      <a:srgbClr val="111827"/>
                    </a:solidFill>
                    <a:latin typeface="Cambria Math" panose="02040503050406030204" pitchFamily="18" charset="0"/>
                  </a:rPr>
                  <a:t>$(b,a)\notin R$</a:t>
                </a:r>
                <a:r>
                  <a:rPr sz="2400" b="0">
                    <a:solidFill>
                      <a:srgbClr val="111827"/>
                    </a:solidFill>
                    <a:latin typeface="Arial"/>
                  </a:rPr>
                  <a:t>. Hence </a:t>
                </a:r>
                <a:r>
                  <a:rPr lang="en-IN" sz="2400">
                    <a:solidFill>
                      <a:srgbClr val="111827"/>
                    </a:solidFill>
                    <a:latin typeface="Cambria Math" panose="02040503050406030204" pitchFamily="18" charset="0"/>
                  </a:rPr>
                  <a:t>$R$</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r>
                  <a:rPr lang="en-IN" sz="2400">
                    <a:solidFill>
                      <a:srgbClr val="111827"/>
                    </a:solidFill>
                    <a:latin typeface="Cambria Math" panose="02040503050406030204" pitchFamily="18" charset="0"/>
                  </a:rPr>
                  <a:t>$(a,b)=\left(\frac{\sqrt7}{3},1\right)$</a:t>
                </a:r>
                <a:r>
                  <a:rPr sz="2400" b="0">
                    <a:solidFill>
                      <a:srgbClr val="111827"/>
                    </a:solidFill>
                    <a:latin typeface="Arial"/>
                  </a:rPr>
                  <a:t>: </a:t>
                </a:r>
                <a:r>
                  <a:rPr lang="en-IN" sz="2400">
                    <a:solidFill>
                      <a:srgbClr val="111827"/>
                    </a:solidFill>
                    <a:latin typeface="Cambria Math" panose="02040503050406030204" pitchFamily="18" charset="0"/>
                  </a:rPr>
                  <a:t>$\sqrt7-3+\sqrt7=2\sqrt7-3$</a:t>
                </a:r>
                <a:r>
                  <a:rPr sz="2400" b="0">
                    <a:solidFill>
                      <a:srgbClr val="111827"/>
                    </a:solidFill>
                    <a:latin typeface="Arial"/>
                  </a:rPr>
                  <a:t>, irrational, so </a:t>
                </a:r>
                <a:r>
                  <a:rPr lang="en-IN" sz="2400">
                    <a:solidFill>
                      <a:srgbClr val="111827"/>
                    </a:solidFill>
                    <a:latin typeface="Cambria Math" panose="02040503050406030204" pitchFamily="18" charset="0"/>
                  </a:rPr>
                  <a:t>$(a,b)\in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irrational,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but neither symmetric nor transitive: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$(b,c)=\left(1,\frac{2\sqrt7}{3}\right)$</a:t>
                </a:r>
                <a:r>
                  <a:rPr sz="2400" b="0">
                    <a:solidFill>
                      <a:srgbClr val="111827"/>
                    </a:solidFill>
                    <a:latin typeface="Arial"/>
                  </a:rPr>
                  <a:t>: </a:t>
                </a:r>
                <a:r>
                  <a:rPr lang="en-IN" sz="2400">
                    <a:solidFill>
                      <a:srgbClr val="111827"/>
                    </a:solidFill>
                    <a:latin typeface="Cambria Math" panose="02040503050406030204" pitchFamily="18" charset="0"/>
                  </a:rPr>
                  <a:t>$3-2\sqrt7+\sqrt7=3-\sqrt7$</a:t>
                </a:r>
                <a:r>
                  <a:rPr sz="2400" b="0">
                    <a:solidFill>
                      <a:srgbClr val="111827"/>
                    </a:solidFill>
                    <a:latin typeface="Arial"/>
                  </a:rPr>
                  <a:t>, irrational, so </a:t>
                </a:r>
                <a:r>
                  <a:rPr lang="en-IN" sz="2400">
                    <a:solidFill>
                      <a:srgbClr val="111827"/>
                    </a:solidFill>
                    <a:latin typeface="Cambria Math" panose="02040503050406030204" pitchFamily="18" charset="0"/>
                  </a:rPr>
                  <a:t>$(b,c)\in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$(a,c)=\left(\frac{\sqrt7}{3},\frac{2\sqrt7}{3}\right)$</a:t>
                </a:r>
                <a:r>
                  <a:rPr sz="2400" b="0">
                    <a:solidFill>
                      <a:srgbClr val="111827"/>
                    </a:solidFill>
                    <a:latin typeface="Arial"/>
                  </a:rPr>
                  <a:t>: </a:t>
                </a:r>
                <a:r>
                  <a:rPr lang="en-IN" sz="2400">
                    <a:solidFill>
                      <a:srgbClr val="111827"/>
                    </a:solidFill>
                    <a:latin typeface="Cambria Math" panose="02040503050406030204" pitchFamily="18" charset="0"/>
                  </a:rPr>
                  <a:t>$\sqrt7-2\sqrt7+\sqrt7=0$</a:t>
                </a:r>
                <a:r>
                  <a:rPr sz="2400" b="0">
                    <a:solidFill>
                      <a:srgbClr val="111827"/>
                    </a:solidFill>
                    <a:latin typeface="Arial"/>
                  </a:rPr>
                  <a:t>, rational, so </a:t>
                </a:r>
                <a:r>
                  <a:rPr lang="en-IN" sz="2400">
                    <a:solidFill>
                      <a:srgbClr val="111827"/>
                    </a:solidFill>
                    <a:latin typeface="Cambria Math" panose="02040503050406030204" pitchFamily="18" charset="0"/>
                  </a:rPr>
                  <a:t>$(a,c)\notin R$</a:t>
                </a:r>
                <a:r>
                  <a:rPr sz="2400" b="0">
                    <a:solidFill>
                      <a:srgbClr val="111827"/>
                    </a:solidFill>
                    <a:latin typeface="Arial"/>
                  </a:rPr>
                  <a:t>. Hence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but neither symmetric nor transitive: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reflexive but neither symmetric nor transitive</a:t>
            </a:r>
            <a:endParaRPr sz="2800">
              <a:solidFill>
                <a:srgbClr val="15803D"/>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depends only on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holds iff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oMath>
                </a14:m>
                <a:r>
                  <a:rPr sz="2400" b="0">
                    <a:solidFill>
                      <a:srgbClr val="78350F"/>
                    </a:solidFill>
                    <a:latin typeface="Arial"/>
                  </a:rPr>
                  <a:t> where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e>
                    </m:rad>
                    <m:r>
                      <m:rPr>
                        <m:sty m:val="p"/>
                      </m:rPr>
                      <a:rPr lang="en-IN" sz="2400">
                        <a:solidFill>
                          <a:srgbClr val="78350F"/>
                        </a:solidFill>
                        <a:latin typeface="Cambria Math" panose="02040503050406030204" pitchFamily="18" charset="0"/>
                      </a:rPr>
                      <m:t>∉</m:t>
                    </m:r>
                    <m:r>
                      <m:rPr>
                        <m:scr m:val="double-struck"/>
                        <m:sty m:val="p"/>
                      </m:rPr>
                      <a:rPr lang="en-IN" sz="2400">
                        <a:solidFill>
                          <a:srgbClr val="78350F"/>
                        </a:solidFill>
                        <a:latin typeface="Cambria Math" panose="02040503050406030204" pitchFamily="18" charset="0"/>
                      </a:rPr>
                      <m:t>Q</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Reflexive iff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oMath>
                </a14:m>
                <a:r>
                  <a:rPr sz="2400" b="0">
                    <a:solidFill>
                      <a:srgbClr val="78350F"/>
                    </a:solidFill>
                    <a:latin typeface="Arial"/>
                  </a:rPr>
                  <a:t>, symmetric iff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oMath>
                </a14:m>
                <a:r>
                  <a:rPr sz="2400" b="0">
                    <a:solidFill>
                      <a:srgbClr val="78350F"/>
                    </a:solidFill>
                    <a:latin typeface="Arial"/>
                  </a:rPr>
                  <a:t>, transitive iff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$R$</a:t>
                </a:r>
                <a:r>
                  <a:rPr sz="2400" b="0">
                    <a:solidFill>
                      <a:srgbClr val="78350F"/>
                    </a:solidFill>
                    <a:latin typeface="Arial"/>
                  </a:rPr>
                  <a:t> depends only on </a:t>
                </a:r>
                <a:r>
                  <a:rPr lang="en-IN" sz="2400">
                    <a:solidFill>
                      <a:srgbClr val="78350F"/>
                    </a:solidFill>
                    <a:latin typeface="Cambria Math" panose="02040503050406030204" pitchFamily="18" charset="0"/>
                  </a:rPr>
                  <a:t>$d=a-b$</a:t>
                </a:r>
                <a:r>
                  <a:rPr sz="2400" b="0">
                    <a:solidFill>
                      <a:srgbClr val="78350F"/>
                    </a:solidFill>
                    <a:latin typeface="Arial"/>
                  </a:rPr>
                  <a:t>: </a:t>
                </a:r>
                <a:r>
                  <a:rPr lang="en-IN" sz="2400">
                    <a:solidFill>
                      <a:srgbClr val="78350F"/>
                    </a:solidFill>
                    <a:latin typeface="Cambria Math" panose="02040503050406030204" pitchFamily="18" charset="0"/>
                  </a:rPr>
                  <a:t>$R$</a:t>
                </a:r>
                <a:r>
                  <a:rPr sz="2400" b="0">
                    <a:solidFill>
                      <a:srgbClr val="78350F"/>
                    </a:solidFill>
                    <a:latin typeface="Arial"/>
                  </a:rPr>
                  <a:t> holds iff </a:t>
                </a:r>
                <a:r>
                  <a:rPr lang="en-IN" sz="2400">
                    <a:solidFill>
                      <a:srgbClr val="78350F"/>
                    </a:solidFill>
                    <a:latin typeface="Cambria Math" panose="02040503050406030204" pitchFamily="18" charset="0"/>
                  </a:rPr>
                  <a:t>$d\in D$</a:t>
                </a:r>
                <a:r>
                  <a:rPr sz="2400" b="0">
                    <a:solidFill>
                      <a:srgbClr val="78350F"/>
                    </a:solidFill>
                    <a:latin typeface="Arial"/>
                  </a:rPr>
                  <a:t> where </a:t>
                </a:r>
                <a:r>
                  <a:rPr lang="en-IN" sz="2400">
                    <a:solidFill>
                      <a:srgbClr val="78350F"/>
                    </a:solidFill>
                    <a:latin typeface="Cambria Math" panose="02040503050406030204" pitchFamily="18" charset="0"/>
                  </a:rPr>
                  <a:t>$D=\{d:3d+\sqrt7\notin\mathbb{Q}\}$</a:t>
                </a:r>
                <a:r>
                  <a:rPr sz="2400" b="0">
                    <a:solidFill>
                      <a:srgbClr val="78350F"/>
                    </a:solidFill>
                    <a:latin typeface="Arial"/>
                  </a:rPr>
                  <a:t>. Reflexive iff </a:t>
                </a:r>
                <a:r>
                  <a:rPr lang="en-IN" sz="2400">
                    <a:solidFill>
                      <a:srgbClr val="78350F"/>
                    </a:solidFill>
                    <a:latin typeface="Cambria Math" panose="02040503050406030204" pitchFamily="18" charset="0"/>
                  </a:rPr>
                  <a:t>$0\in D$</a:t>
                </a:r>
                <a:r>
                  <a:rPr sz="2400" b="0">
                    <a:solidFill>
                      <a:srgbClr val="78350F"/>
                    </a:solidFill>
                    <a:latin typeface="Arial"/>
                  </a:rPr>
                  <a:t>, symmetric iff </a:t>
                </a:r>
                <a:r>
                  <a:rPr lang="en-IN" sz="2400">
                    <a:solidFill>
                      <a:srgbClr val="78350F"/>
                    </a:solidFill>
                    <a:latin typeface="Cambria Math" panose="02040503050406030204" pitchFamily="18" charset="0"/>
                  </a:rPr>
                  <a:t>$D=-D$</a:t>
                </a:r>
                <a:r>
                  <a:rPr sz="2400" b="0">
                    <a:solidFill>
                      <a:srgbClr val="78350F"/>
                    </a:solidFill>
                    <a:latin typeface="Arial"/>
                  </a:rPr>
                  <a:t>, transitive iff </a:t>
                </a:r>
                <a:r>
                  <a:rPr lang="en-IN" sz="2400">
                    <a:solidFill>
                      <a:srgbClr val="78350F"/>
                    </a:solidFill>
                    <a:latin typeface="Cambria Math" panose="02040503050406030204" pitchFamily="18" charset="0"/>
                  </a:rPr>
                  <a:t>$D+D\subseteq 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minus the set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Q</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is irrational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needs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irrational,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Not symmetric.</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$(a,b)\in R\iff d=a-b\in D$</a:t>
                </a:r>
                <a:r>
                  <a:rPr sz="2400" b="0">
                    <a:solidFill>
                      <a:srgbClr val="111827"/>
                    </a:solidFill>
                    <a:latin typeface="Arial"/>
                  </a:rPr>
                  <a:t>, where </a:t>
                </a:r>
                <a:r>
                  <a:rPr lang="en-IN" sz="2400">
                    <a:solidFill>
                      <a:srgbClr val="111827"/>
                    </a:solidFill>
                    <a:latin typeface="Cambria Math" panose="02040503050406030204" pitchFamily="18" charset="0"/>
                  </a:rPr>
                  <a:t>$D$</a:t>
                </a:r>
                <a:r>
                  <a:rPr sz="2400" b="0">
                    <a:solidFill>
                      <a:srgbClr val="111827"/>
                    </a:solidFill>
                    <a:latin typeface="Arial"/>
                  </a:rPr>
                  <a:t> is </a:t>
                </a:r>
                <a:r>
                  <a:rPr lang="en-IN" sz="2400">
                    <a:solidFill>
                      <a:srgbClr val="111827"/>
                    </a:solidFill>
                    <a:latin typeface="Cambria Math" panose="02040503050406030204" pitchFamily="18" charset="0"/>
                  </a:rPr>
                  <a:t>$\mathbb{R}$</a:t>
                </a:r>
                <a:r>
                  <a:rPr sz="2400" b="0">
                    <a:solidFill>
                      <a:srgbClr val="111827"/>
                    </a:solidFill>
                    <a:latin typeface="Arial"/>
                  </a:rPr>
                  <a:t> minus the set </a:t>
                </a:r>
                <a:r>
                  <a:rPr lang="en-IN" sz="2400">
                    <a:solidFill>
                      <a:srgbClr val="111827"/>
                    </a:solidFill>
                    <a:latin typeface="Cambria Math" panose="02040503050406030204" pitchFamily="18" charset="0"/>
                  </a:rPr>
                  <a:t>$E=\left\{\frac{q-\sqrt7}{3}:q\in\mathbb{Q}\right\}$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$a-a=0\in D$</a:t>
                </a:r>
                <a:r>
                  <a:rPr sz="2400" b="0">
                    <a:solidFill>
                      <a:srgbClr val="111827"/>
                    </a:solidFill>
                    <a:latin typeface="Arial"/>
                  </a:rPr>
                  <a:t> because </a:t>
                </a:r>
                <a:r>
                  <a:rPr lang="en-IN" sz="2400">
                    <a:solidFill>
                      <a:srgbClr val="111827"/>
                    </a:solidFill>
                    <a:latin typeface="Cambria Math" panose="02040503050406030204" pitchFamily="18" charset="0"/>
                  </a:rPr>
                  <a:t>$3\cdot0+\sqrt7=\sqrt7$</a:t>
                </a:r>
                <a:r>
                  <a:rPr sz="2400" b="0">
                    <a:solidFill>
                      <a:srgbClr val="111827"/>
                    </a:solidFill>
                    <a:latin typeface="Arial"/>
                  </a:rPr>
                  <a:t> is irrational (</a:t>
                </a:r>
                <a:r>
                  <a:rPr lang="en-IN" sz="2400">
                    <a:solidFill>
                      <a:srgbClr val="111827"/>
                    </a:solidFill>
                    <a:latin typeface="Cambria Math" panose="02040503050406030204" pitchFamily="18" charset="0"/>
                  </a:rPr>
                  <a:t>$0\notin 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needs </a:t>
                </a:r>
                <a:r>
                  <a:rPr lang="en-IN" sz="2400">
                    <a:solidFill>
                      <a:srgbClr val="111827"/>
                    </a:solidFill>
                    <a:latin typeface="Cambria Math" panose="02040503050406030204" pitchFamily="18" charset="0"/>
                  </a:rPr>
                  <a:t>$d\in D\Rightarrow-d\in D$</a:t>
                </a:r>
                <a:r>
                  <a:rPr sz="2400" b="0">
                    <a:solidFill>
                      <a:srgbClr val="111827"/>
                    </a:solidFill>
                    <a:latin typeface="Arial"/>
                  </a:rPr>
                  <a:t>. Take </a:t>
                </a:r>
                <a:r>
                  <a:rPr lang="en-IN" sz="2400">
                    <a:solidFill>
                      <a:srgbClr val="111827"/>
                    </a:solidFill>
                    <a:latin typeface="Cambria Math" panose="02040503050406030204" pitchFamily="18" charset="0"/>
                  </a:rPr>
                  <a:t>$d=\frac{\sqrt7}{3}$</a:t>
                </a:r>
                <a:r>
                  <a:rPr sz="2400" b="0">
                    <a:solidFill>
                      <a:srgbClr val="111827"/>
                    </a:solidFill>
                    <a:latin typeface="Arial"/>
                  </a:rPr>
                  <a:t>: </a:t>
                </a:r>
                <a:r>
                  <a:rPr lang="en-IN" sz="2400">
                    <a:solidFill>
                      <a:srgbClr val="111827"/>
                    </a:solidFill>
                    <a:latin typeface="Cambria Math" panose="02040503050406030204" pitchFamily="18" charset="0"/>
                  </a:rPr>
                  <a:t>$3d+\sqrt7=2\sqrt7$</a:t>
                </a:r>
                <a:r>
                  <a:rPr sz="2400" b="0">
                    <a:solidFill>
                      <a:srgbClr val="111827"/>
                    </a:solidFill>
                    <a:latin typeface="Arial"/>
                  </a:rPr>
                  <a:t> irrational, so </a:t>
                </a:r>
                <a:r>
                  <a:rPr lang="en-IN" sz="2400">
                    <a:solidFill>
                      <a:srgbClr val="111827"/>
                    </a:solidFill>
                    <a:latin typeface="Cambria Math" panose="02040503050406030204" pitchFamily="18" charset="0"/>
                  </a:rPr>
                  <a:t>$d\in D$</a:t>
                </a:r>
                <a:r>
                  <a:rPr sz="2400" b="0">
                    <a:solidFill>
                      <a:srgbClr val="111827"/>
                    </a:solidFill>
                    <a:latin typeface="Arial"/>
                  </a:rPr>
                  <a:t>; but </a:t>
                </a:r>
                <a:r>
                  <a:rPr lang="en-IN" sz="2400">
                    <a:solidFill>
                      <a:srgbClr val="111827"/>
                    </a:solidFill>
                    <a:latin typeface="Cambria Math" panose="02040503050406030204" pitchFamily="18" charset="0"/>
                  </a:rPr>
                  <a:t>$-d=-\frac{\sqrt7}{3}\in E$</a:t>
                </a:r>
                <a:r>
                  <a:rPr sz="2400" b="0">
                    <a:solidFill>
                      <a:srgbClr val="111827"/>
                    </a:solidFill>
                    <a:latin typeface="Arial"/>
                  </a:rPr>
                  <a:t> (take </a:t>
                </a:r>
                <a:r>
                  <a:rPr lang="en-IN" sz="2400">
                    <a:solidFill>
                      <a:srgbClr val="111827"/>
                    </a:solidFill>
                    <a:latin typeface="Cambria Math" panose="02040503050406030204" pitchFamily="18" charset="0"/>
                  </a:rPr>
                  <a:t>$q=0$</a:t>
                </a:r>
                <a:r>
                  <a:rPr sz="2400" b="0">
                    <a:solidFill>
                      <a:srgbClr val="111827"/>
                    </a:solidFill>
                    <a:latin typeface="Arial"/>
                  </a:rPr>
                  <a:t>), so </a:t>
                </a:r>
                <a:r>
                  <a:rPr lang="en-IN" sz="2400">
                    <a:solidFill>
                      <a:srgbClr val="111827"/>
                    </a:solidFill>
                    <a:latin typeface="Cambria Math" panose="02040503050406030204" pitchFamily="18" charset="0"/>
                  </a:rPr>
                  <a:t>$-d\notin D$</a:t>
                </a:r>
                <a:r>
                  <a:rPr sz="2400" b="0">
                    <a:solidFill>
                      <a:srgbClr val="111827"/>
                    </a:solidFill>
                    <a:latin typeface="Arial"/>
                  </a:rPr>
                  <a:t>. Not symmetric.</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needs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irrational,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but neither symmetric nor transitive: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needs </a:t>
                </a:r>
                <a:r>
                  <a:rPr lang="en-IN" sz="2400">
                    <a:solidFill>
                      <a:srgbClr val="111827"/>
                    </a:solidFill>
                    <a:latin typeface="Cambria Math" panose="02040503050406030204" pitchFamily="18" charset="0"/>
                  </a:rPr>
                  <a:t>$x,y\in D\Rightarrow x+y\in D$</a:t>
                </a:r>
                <a:r>
                  <a:rPr sz="2400" b="0">
                    <a:solidFill>
                      <a:srgbClr val="111827"/>
                    </a:solidFill>
                    <a:latin typeface="Arial"/>
                  </a:rPr>
                  <a:t>. Take </a:t>
                </a:r>
                <a:r>
                  <a:rPr lang="en-IN" sz="2400">
                    <a:solidFill>
                      <a:srgbClr val="111827"/>
                    </a:solidFill>
                    <a:latin typeface="Cambria Math" panose="02040503050406030204" pitchFamily="18" charset="0"/>
                  </a:rPr>
                  <a:t>$x=y=-\frac{\sqrt7}{6}$</a:t>
                </a:r>
                <a:r>
                  <a:rPr sz="2400" b="0">
                    <a:solidFill>
                      <a:srgbClr val="111827"/>
                    </a:solidFill>
                    <a:latin typeface="Arial"/>
                  </a:rPr>
                  <a:t>: </a:t>
                </a:r>
                <a:r>
                  <a:rPr lang="en-IN" sz="2400">
                    <a:solidFill>
                      <a:srgbClr val="111827"/>
                    </a:solidFill>
                    <a:latin typeface="Cambria Math" panose="02040503050406030204" pitchFamily="18" charset="0"/>
                  </a:rPr>
                  <a:t>$3x+\sqrt7=\frac{\sqrt7}{2}$</a:t>
                </a:r>
                <a:r>
                  <a:rPr sz="2400" b="0">
                    <a:solidFill>
                      <a:srgbClr val="111827"/>
                    </a:solidFill>
                    <a:latin typeface="Arial"/>
                  </a:rPr>
                  <a:t> is irrational, so </a:t>
                </a:r>
                <a:r>
                  <a:rPr lang="en-IN" sz="2400">
                    <a:solidFill>
                      <a:srgbClr val="111827"/>
                    </a:solidFill>
                    <a:latin typeface="Cambria Math" panose="02040503050406030204" pitchFamily="18" charset="0"/>
                  </a:rPr>
                  <a:t>$x,y\in 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$x+y=-\frac{\sqrt7}{3}\in E$</a:t>
                </a:r>
                <a:r>
                  <a:rPr sz="2400" b="0">
                    <a:solidFill>
                      <a:srgbClr val="111827"/>
                    </a:solidFill>
                    <a:latin typeface="Arial"/>
                  </a:rPr>
                  <a:t>, so </a:t>
                </a:r>
                <a:r>
                  <a:rPr lang="en-IN" sz="2400">
                    <a:solidFill>
                      <a:srgbClr val="111827"/>
                    </a:solidFill>
                    <a:latin typeface="Cambria Math" panose="02040503050406030204" pitchFamily="18" charset="0"/>
                  </a:rPr>
                  <a:t>$x+y\notin D$</a:t>
                </a:r>
                <a:r>
                  <a:rPr sz="2400" b="0">
                    <a:solidFill>
                      <a:srgbClr val="111827"/>
                    </a:solidFill>
                    <a:latin typeface="Arial"/>
                  </a:rPr>
                  <a:t>. E.g. </a:t>
                </a:r>
                <a:r>
                  <a:rPr lang="en-IN" sz="2400">
                    <a:solidFill>
                      <a:srgbClr val="111827"/>
                    </a:solidFill>
                    <a:latin typeface="Cambria Math" panose="02040503050406030204" pitchFamily="18" charset="0"/>
                  </a:rPr>
                  <a:t>$(a,b,c)=\left(-\frac{\sqrt7}{3},-\frac{\sqrt7}{6},0\right)$</a:t>
                </a:r>
                <a:r>
                  <a:rPr sz="2400" b="0">
                    <a:solidFill>
                      <a:srgbClr val="111827"/>
                    </a:solidFill>
                    <a:latin typeface="Arial"/>
                  </a:rPr>
                  <a:t> gives </a:t>
                </a:r>
                <a:r>
                  <a:rPr lang="en-IN" sz="2400">
                    <a:solidFill>
                      <a:srgbClr val="111827"/>
                    </a:solidFill>
                    <a:latin typeface="Cambria Math" panose="02040503050406030204" pitchFamily="18" charset="0"/>
                  </a:rPr>
                  <a:t>$(a,b),(b,c)\in R$</a:t>
                </a:r>
                <a:r>
                  <a:rPr sz="2400" b="0">
                    <a:solidFill>
                      <a:srgbClr val="111827"/>
                    </a:solidFill>
                    <a:latin typeface="Arial"/>
                  </a:rPr>
                  <a:t> and </a:t>
                </a:r>
                <a:r>
                  <a:rPr lang="en-IN" sz="2400">
                    <a:solidFill>
                      <a:srgbClr val="111827"/>
                    </a:solidFill>
                    <a:latin typeface="Cambria Math" panose="02040503050406030204" pitchFamily="18" charset="0"/>
                  </a:rPr>
                  <a:t>$(a,c)\notin R$</a:t>
                </a:r>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but neither symmetric nor transitive: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reflexive but neither symmetric nor transitive</a:t>
            </a:r>
            <a:endParaRPr sz="2800">
              <a:solidFill>
                <a:srgbClr val="15803D"/>
              </a:solidFill>
            </a:endParaRP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depends only on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through a set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reflexive iff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symmetric iff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transitive iff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(equivalence)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rational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is irrational, and </a:t>
                </a:r>
                <a14:m>
                  <m:oMath xmlns:m="http://schemas.openxmlformats.org/officeDocument/2006/math">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is irrational for rational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use these to decide when an expression is rational.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'irrational/rational' relations, build counterexamples with multiples of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so that sums cancel to exactly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(rational) in one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of 'expression in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relations is just evaluation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$a\,R\,b$</a:t>
                </a:r>
                <a:r>
                  <a:rPr sz="2400" b="0">
                    <a:solidFill>
                      <a:srgbClr val="111827"/>
                    </a:solidFill>
                    <a:latin typeface="Arial"/>
                  </a:rPr>
                  <a:t> depends only on </a:t>
                </a:r>
                <a:r>
                  <a:rPr lang="en-IN" sz="2400">
                    <a:solidFill>
                      <a:srgbClr val="111827"/>
                    </a:solidFill>
                    <a:latin typeface="Cambria Math" panose="02040503050406030204" pitchFamily="18" charset="0"/>
                  </a:rPr>
                  <a:t>$d=a-b$</a:t>
                </a:r>
                <a:r>
                  <a:rPr sz="2400" b="0">
                    <a:solidFill>
                      <a:srgbClr val="111827"/>
                    </a:solidFill>
                    <a:latin typeface="Arial"/>
                  </a:rPr>
                  <a:t> through a set </a:t>
                </a:r>
                <a:r>
                  <a:rPr lang="en-IN" sz="2400">
                    <a:solidFill>
                      <a:srgbClr val="111827"/>
                    </a:solidFill>
                    <a:latin typeface="Cambria Math" panose="02040503050406030204" pitchFamily="18" charset="0"/>
                  </a:rPr>
                  <a:t>$D$</a:t>
                </a:r>
                <a:r>
                  <a:rPr sz="2400" b="0">
                    <a:solidFill>
                      <a:srgbClr val="111827"/>
                    </a:solidFill>
                    <a:latin typeface="Arial"/>
                  </a:rPr>
                  <a:t>: reflexive iff </a:t>
                </a:r>
                <a:r>
                  <a:rPr lang="en-IN" sz="2400">
                    <a:solidFill>
                      <a:srgbClr val="111827"/>
                    </a:solidFill>
                    <a:latin typeface="Cambria Math" panose="02040503050406030204" pitchFamily="18" charset="0"/>
                  </a:rPr>
                  <a:t>$0\in D$</a:t>
                </a:r>
                <a:r>
                  <a:rPr sz="2400" b="0">
                    <a:solidFill>
                      <a:srgbClr val="111827"/>
                    </a:solidFill>
                    <a:latin typeface="Arial"/>
                  </a:rPr>
                  <a:t>; symmetric iff </a:t>
                </a:r>
                <a:r>
                  <a:rPr lang="en-IN" sz="2400">
                    <a:solidFill>
                      <a:srgbClr val="111827"/>
                    </a:solidFill>
                    <a:latin typeface="Cambria Math" panose="02040503050406030204" pitchFamily="18" charset="0"/>
                  </a:rPr>
                  <a:t>$D=-D$</a:t>
                </a:r>
                <a:r>
                  <a:rPr sz="2400" b="0">
                    <a:solidFill>
                      <a:srgbClr val="111827"/>
                    </a:solidFill>
                    <a:latin typeface="Arial"/>
                  </a:rPr>
                  <a:t>; transitive iff </a:t>
                </a:r>
                <a:r>
                  <a:rPr lang="en-IN" sz="2400">
                    <a:solidFill>
                      <a:srgbClr val="111827"/>
                    </a:solidFill>
                    <a:latin typeface="Cambria Math" panose="02040503050406030204" pitchFamily="18" charset="0"/>
                  </a:rPr>
                  <a:t>$D+D\subseteq D$</a:t>
                </a:r>
                <a:r>
                  <a:rPr sz="2400" b="0">
                    <a:solidFill>
                      <a:srgbClr val="111827"/>
                    </a:solidFill>
                    <a:latin typeface="Arial"/>
                  </a:rPr>
                  <a:t>. Check </a:t>
                </a:r>
                <a:r>
                  <a:rPr lang="en-IN" sz="2400">
                    <a:solidFill>
                      <a:srgbClr val="111827"/>
                    </a:solidFill>
                    <a:latin typeface="Cambria Math" panose="02040503050406030204" pitchFamily="18" charset="0"/>
                  </a:rPr>
                  <a:t>$D=\mathbb{Z}$</a:t>
                </a:r>
                <a:r>
                  <a:rPr sz="2400" b="0">
                    <a:solidFill>
                      <a:srgbClr val="111827"/>
                    </a:solidFill>
                    <a:latin typeface="Arial"/>
                  </a:rPr>
                  <a:t> (equivalence) and </a:t>
                </a:r>
                <a:r>
                  <a:rPr lang="en-IN" sz="2400">
                    <a:solidFill>
                      <a:srgbClr val="111827"/>
                    </a:solidFill>
                    <a:latin typeface="Cambria Math" panose="02040503050406030204" pitchFamily="18" charset="0"/>
                  </a:rPr>
                  <a:t>$D=(0,\infty)$</a:t>
                </a:r>
                <a:r>
                  <a:rPr sz="2400" b="0">
                    <a:solidFill>
                      <a:srgbClr val="111827"/>
                    </a:solidFill>
                    <a:latin typeface="Arial"/>
                  </a:rPr>
                  <a:t> (transitive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rational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$q+\sqrt7$</a:t>
                </a:r>
                <a:r>
                  <a:rPr sz="2400" b="0">
                    <a:solidFill>
                      <a:srgbClr val="111827"/>
                    </a:solidFill>
                    <a:latin typeface="Arial"/>
                  </a:rPr>
                  <a:t> is irrational, and </a:t>
                </a:r>
                <a:r>
                  <a:rPr lang="en-IN" sz="2400">
                    <a:solidFill>
                      <a:srgbClr val="111827"/>
                    </a:solidFill>
                    <a:latin typeface="Cambria Math" panose="02040503050406030204" pitchFamily="18" charset="0"/>
                  </a:rPr>
                  <a:t>$r\sqrt7$</a:t>
                </a:r>
                <a:r>
                  <a:rPr sz="2400" b="0">
                    <a:solidFill>
                      <a:srgbClr val="111827"/>
                    </a:solidFill>
                    <a:latin typeface="Arial"/>
                  </a:rPr>
                  <a:t> is irrational for rational </a:t>
                </a:r>
                <a:r>
                  <a:rPr lang="en-IN" sz="2400">
                    <a:solidFill>
                      <a:srgbClr val="111827"/>
                    </a:solidFill>
                    <a:latin typeface="Cambria Math" panose="02040503050406030204" pitchFamily="18" charset="0"/>
                  </a:rPr>
                  <a:t>$r\ne0$</a:t>
                </a:r>
                <a:r>
                  <a:rPr sz="2400" b="0">
                    <a:solidFill>
                      <a:srgbClr val="111827"/>
                    </a:solidFill>
                    <a:latin typeface="Arial"/>
                  </a:rPr>
                  <a:t>; use these to decide when an expression is rational.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'irrational/rational' relations, build counterexamples with multiples of </a:t>
                </a:r>
                <a:r>
                  <a:rPr lang="en-IN" sz="2400">
                    <a:solidFill>
                      <a:srgbClr val="111827"/>
                    </a:solidFill>
                    <a:latin typeface="Cambria Math" panose="02040503050406030204" pitchFamily="18" charset="0"/>
                  </a:rPr>
                  <a:t>$\sqrt7$</a:t>
                </a:r>
                <a:r>
                  <a:rPr sz="2400" b="0">
                    <a:solidFill>
                      <a:srgbClr val="111827"/>
                    </a:solidFill>
                    <a:latin typeface="Arial"/>
                  </a:rPr>
                  <a:t> so that sums cancel to exactly </a:t>
                </a:r>
                <a:r>
                  <a:rPr lang="en-IN" sz="2400">
                    <a:solidFill>
                      <a:srgbClr val="111827"/>
                    </a:solidFill>
                    <a:latin typeface="Cambria Math" panose="02040503050406030204" pitchFamily="18" charset="0"/>
                  </a:rPr>
                  <a:t>$0$</a:t>
                </a:r>
                <a:r>
                  <a:rPr sz="2400" b="0">
                    <a:solidFill>
                      <a:srgbClr val="111827"/>
                    </a:solidFill>
                    <a:latin typeface="Arial"/>
                  </a:rPr>
                  <a:t> (rational) in one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of 'expression in </a:t>
                </a:r>
                <a:r>
                  <a:rPr lang="en-IN" sz="2400">
                    <a:solidFill>
                      <a:srgbClr val="111827"/>
                    </a:solidFill>
                    <a:latin typeface="Cambria Math" panose="02040503050406030204" pitchFamily="18" charset="0"/>
                  </a:rPr>
                  <a:t>$a-b$</a:t>
                </a:r>
                <a:r>
                  <a:rPr sz="2400" b="0">
                    <a:solidFill>
                      <a:srgbClr val="111827"/>
                    </a:solidFill>
                    <a:latin typeface="Arial"/>
                  </a:rPr>
                  <a:t>' relations is just evaluation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nor/>
                          </m:rPr>
                          <a:rPr lang="en-IN" sz="2400" i="1">
                            <a:solidFill>
                              <a:srgbClr val="111827"/>
                            </a:solidFill>
                            <a:latin typeface="Cambria Math" panose="02040503050406030204" pitchFamily="18" charset="0"/>
                          </a:rPr>
                          <m:t> 𝑎𝑛𝑑 </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$S=\left\{x : x\in\mathbb{R}\text{ and }\left(\sqrt3+\sqrt2\right)^{x^2-4}+\left(\sqrt3-\sqrt2\right)^{x^2-4}=10\right\}$</a:t>
                </a:r>
                <a:r>
                  <a:rPr sz="2400" b="0">
                    <a:solidFill>
                      <a:srgbClr val="111827"/>
                    </a:solidFill>
                    <a:latin typeface="Arial"/>
                  </a:rPr>
                  <a:t>. Then </a:t>
                </a:r>
                <a:r>
                  <a:rPr lang="en-IN" sz="2400">
                    <a:solidFill>
                      <a:srgbClr val="111827"/>
                    </a:solidFill>
                    <a:latin typeface="Cambria Math" panose="02040503050406030204" pitchFamily="18" charset="0"/>
                  </a:rPr>
                  <a:t>$n(S)$</a:t>
                </a:r>
                <a:r>
                  <a:rPr sz="2400" b="0">
                    <a:solidFill>
                      <a:srgbClr val="111827"/>
                    </a:solidFill>
                    <a:latin typeface="Arial"/>
                  </a:rPr>
                  <a:t> is equal to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$6$</a:t>
                </a:r>
                <a:r>
                  <a:rPr sz="2400" b="0">
                    <a:solidFill>
                      <a:srgbClr val="111827"/>
                    </a:solidFill>
                    <a:latin typeface="Arial"/>
                  </a:rPr>
                  <a:t>   (D) </a:t>
                </a:r>
                <a:r>
                  <a:rPr lang="en-IN" sz="2400">
                    <a:solidFill>
                      <a:srgbClr val="111827"/>
                    </a:solidFill>
                    <a:latin typeface="Cambria Math" panose="02040503050406030204" pitchFamily="18" charset="0"/>
                  </a:rPr>
                  <a:t>$4$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Cardinality of a set defined by an equation, Conjugate (reciprocal) surd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makes the two terms reciprocal, so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6</m:t>
                        </m:r>
                      </m:e>
                    </m:ra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$(\sqrt3+\sqrt2)(\sqrt3-\sqrt2)=1$</a:t>
                </a:r>
                <a:r>
                  <a:rPr sz="2400" b="0">
                    <a:solidFill>
                      <a:srgbClr val="78350F"/>
                    </a:solidFill>
                    <a:latin typeface="Arial"/>
                  </a:rPr>
                  <a:t> makes the two terms reciprocal, so </a:t>
                </a:r>
                <a:r>
                  <a:rPr lang="en-IN" sz="2400">
                    <a:solidFill>
                      <a:srgbClr val="78350F"/>
                    </a:solidFill>
                    <a:latin typeface="Cambria Math" panose="02040503050406030204" pitchFamily="18" charset="0"/>
                  </a:rPr>
                  <a:t>$t+\frac1t=10$</a:t>
                </a:r>
                <a:r>
                  <a:rPr sz="2400" b="0">
                    <a:solidFill>
                      <a:srgbClr val="78350F"/>
                    </a:solidFill>
                    <a:latin typeface="Arial"/>
                  </a:rPr>
                  <a:t> with </a:t>
                </a:r>
                <a:r>
                  <a:rPr lang="en-IN" sz="2400">
                    <a:solidFill>
                      <a:srgbClr val="78350F"/>
                    </a:solidFill>
                    <a:latin typeface="Cambria Math" panose="02040503050406030204" pitchFamily="18" charset="0"/>
                  </a:rPr>
                  <a:t>$t=5\pm2\sqrt6$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 the base: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So the equation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e>
                      <m: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e>
                      <m: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two bases are reciprocals.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e>
                      <m: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the equation is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 the base: </a:t>
                </a:r>
                <a:r>
                  <a:rPr lang="en-IN" sz="2400">
                    <a:solidFill>
                      <a:srgbClr val="111827"/>
                    </a:solidFill>
                    <a:latin typeface="Cambria Math" panose="02040503050406030204" pitchFamily="18" charset="0"/>
                  </a:rPr>
                  <a:t>$\left(\sqrt3\pm\sqrt2\right)^2=5\pm2\sqrt6$</a:t>
                </a:r>
                <a:r>
                  <a:rPr sz="2400" b="0">
                    <a:solidFill>
                      <a:srgbClr val="111827"/>
                    </a:solidFill>
                    <a:latin typeface="Arial"/>
                  </a:rPr>
                  <a:t>. So the equation is </a:t>
                </a:r>
                <a:r>
                  <a:rPr lang="en-IN" sz="2400">
                    <a:solidFill>
                      <a:srgbClr val="111827"/>
                    </a:solidFill>
                    <a:latin typeface="Cambria Math" panose="02040503050406030204" pitchFamily="18" charset="0"/>
                  </a:rPr>
                  <a:t>$\left(5+2\sqrt6\right)^{\frac{x^2-4}{2}}+\left(5-2\sqrt6\right)^{\frac{x^2-4}{2}}=10$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$\left(5+2\sqrt6\right)\left(5-2\sqrt6\right)=25-24=1$</a:t>
                </a:r>
                <a:r>
                  <a:rPr sz="2400" b="0">
                    <a:solidFill>
                      <a:srgbClr val="111827"/>
                    </a:solidFill>
                    <a:latin typeface="Arial"/>
                  </a:rPr>
                  <a:t>, so the two bases are reciprocals.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$\left(5+2\sqrt6\right)+\left(5-2\sqrt6\right)=10$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$t=\left(5+2\sqrt6\right)^{\frac{x^2-4}{2}}$</a:t>
                </a:r>
                <a:r>
                  <a:rPr sz="2400" b="0">
                    <a:solidFill>
                      <a:srgbClr val="111827"/>
                    </a:solidFill>
                    <a:latin typeface="Arial"/>
                  </a:rPr>
                  <a:t> the equation is </a:t>
                </a:r>
                <a:r>
                  <a:rPr lang="en-IN" sz="2400">
                    <a:solidFill>
                      <a:srgbClr val="111827"/>
                    </a:solidFill>
                    <a:latin typeface="Cambria Math" panose="02040503050406030204" pitchFamily="18" charset="0"/>
                  </a:rPr>
                  <a:t>$t+\frac1t=10$</a:t>
                </a:r>
                <a:r>
                  <a:rPr sz="2400" b="0">
                    <a:solidFill>
                      <a:srgbClr val="111827"/>
                    </a:solidFill>
                    <a:latin typeface="Arial"/>
                  </a:rPr>
                  <a:t>, so </a:t>
                </a:r>
                <a:r>
                  <a:rPr lang="en-IN" sz="2400">
                    <a:solidFill>
                      <a:srgbClr val="111827"/>
                    </a:solidFill>
                    <a:latin typeface="Cambria Math" panose="02040503050406030204" pitchFamily="18" charset="0"/>
                  </a:rPr>
                  <a:t>$t=5\pm2\sqrt6$</a:t>
                </a:r>
                <a:r>
                  <a:rPr sz="2400" b="0">
                    <a:solidFill>
                      <a:srgbClr val="111827"/>
                    </a:solidFill>
                    <a:latin typeface="Arial"/>
                  </a:rPr>
                  <a:t> (roots of </a:t>
                </a:r>
                <a:r>
                  <a:rPr lang="en-IN" sz="2400">
                    <a:solidFill>
                      <a:srgbClr val="111827"/>
                    </a:solidFill>
                    <a:latin typeface="Cambria Math" panose="02040503050406030204" pitchFamily="18" charset="0"/>
                  </a:rPr>
                  <a:t>$t^2-10t+1=0$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$\frac{x^2-4}{2}=\pm1$</a:t>
                </a:r>
                <a:r>
                  <a:rPr sz="2400" b="0">
                    <a:solidFill>
                      <a:srgbClr val="111827"/>
                    </a:solidFill>
                    <a:latin typeface="Arial"/>
                  </a:rPr>
                  <a:t>, i.e. </a:t>
                </a:r>
                <a:r>
                  <a:rPr lang="en-IN" sz="2400">
                    <a:solidFill>
                      <a:srgbClr val="111827"/>
                    </a:solidFill>
                    <a:latin typeface="Cambria Math" panose="02040503050406030204" pitchFamily="18" charset="0"/>
                  </a:rPr>
                  <a:t>$x^2=4\pm2$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$x^2=6$</a:t>
                </a:r>
                <a:r>
                  <a:rPr sz="2400" b="0">
                    <a:solidFill>
                      <a:srgbClr val="111827"/>
                    </a:solidFill>
                    <a:latin typeface="Arial"/>
                  </a:rPr>
                  <a:t> or </a:t>
                </a:r>
                <a:r>
                  <a:rPr lang="en-IN" sz="2400">
                    <a:solidFill>
                      <a:srgbClr val="111827"/>
                    </a:solidFill>
                    <a:latin typeface="Cambria Math" panose="02040503050406030204" pitchFamily="18" charset="0"/>
                  </a:rPr>
                  <a:t>$x^2=2$</a:t>
                </a:r>
                <a:r>
                  <a:rPr sz="2400" b="0">
                    <a:solidFill>
                      <a:srgbClr val="111827"/>
                    </a:solidFill>
                    <a:latin typeface="Arial"/>
                  </a:rPr>
                  <a:t>, so </a:t>
                </a:r>
                <a:r>
                  <a:rPr lang="en-IN" sz="2400">
                    <a:solidFill>
                      <a:srgbClr val="111827"/>
                    </a:solidFill>
                    <a:latin typeface="Cambria Math" panose="02040503050406030204" pitchFamily="18" charset="0"/>
                  </a:rPr>
                  <a:t>$x=\pm\sqrt6,\ \pm\sqrt2$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$n(S)=4$</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4</a:t>
            </a:r>
            <a:endParaRPr sz="2800">
              <a:solidFill>
                <a:srgbClr val="15803D"/>
              </a:solidFill>
            </a:endParaRP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two surds are reciprocal, so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becomes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𝑢</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(real positive roots need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9.899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0.101</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in general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map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up>
                    </m:sSup>
                  </m:oMath>
                </a14:m>
                <a:r>
                  <a:rPr sz="2400" b="0">
                    <a:solidFill>
                      <a:srgbClr val="111827"/>
                    </a:solidFill>
                    <a:latin typeface="Arial"/>
                  </a:rPr>
                  <a:t> is even, so solutions of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come in pairs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remember each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then gives two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 a+\sqrt b)(\sqrt a-\sqrt b)=a-b$</a:t>
                </a:r>
                <a:r>
                  <a:rPr sz="2400" b="0">
                    <a:solidFill>
                      <a:srgbClr val="111827"/>
                    </a:solidFill>
                    <a:latin typeface="Arial"/>
                  </a:rPr>
                  <a:t>; when </a:t>
                </a:r>
                <a:r>
                  <a:rPr lang="en-IN" sz="2400">
                    <a:solidFill>
                      <a:srgbClr val="111827"/>
                    </a:solidFill>
                    <a:latin typeface="Cambria Math" panose="02040503050406030204" pitchFamily="18" charset="0"/>
                  </a:rPr>
                  <a:t>$a-b=1$</a:t>
                </a:r>
                <a:r>
                  <a:rPr sz="2400" b="0">
                    <a:solidFill>
                      <a:srgbClr val="111827"/>
                    </a:solidFill>
                    <a:latin typeface="Arial"/>
                  </a:rPr>
                  <a:t> the two surds are reciprocal, so </a:t>
                </a:r>
                <a:r>
                  <a:rPr lang="en-IN" sz="2400">
                    <a:solidFill>
                      <a:srgbClr val="111827"/>
                    </a:solidFill>
                    <a:latin typeface="Cambria Math" panose="02040503050406030204" pitchFamily="18" charset="0"/>
                  </a:rPr>
                  <a:t>$p^u+p^{-u}=k$</a:t>
                </a:r>
                <a:r>
                  <a:rPr sz="2400" b="0">
                    <a:solidFill>
                      <a:srgbClr val="111827"/>
                    </a:solidFill>
                    <a:latin typeface="Arial"/>
                  </a:rPr>
                  <a:t> becomes </a:t>
                </a:r>
                <a:r>
                  <a:rPr lang="en-IN" sz="2400">
                    <a:solidFill>
                      <a:srgbClr val="111827"/>
                    </a:solidFill>
                    <a:latin typeface="Cambria Math" panose="02040503050406030204" pitchFamily="18" charset="0"/>
                  </a:rPr>
                  <a:t>$t+\frac1t=k$</a:t>
                </a:r>
                <a:r>
                  <a:rPr sz="2400" b="0">
                    <a:solidFill>
                      <a:srgbClr val="111827"/>
                    </a:solidFill>
                    <a:latin typeface="Arial"/>
                  </a:rPr>
                  <a:t> with </a:t>
                </a:r>
                <a:r>
                  <a:rPr lang="en-IN" sz="2400">
                    <a:solidFill>
                      <a:srgbClr val="111827"/>
                    </a:solidFill>
                    <a:latin typeface="Cambria Math" panose="02040503050406030204" pitchFamily="18" charset="0"/>
                  </a:rPr>
                  <a:t>$t=p^u$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$t+\frac1t=k\Rightarrow t=\frac{k\pm\sqrt{k^2-4}}{2}$</a:t>
                </a:r>
                <a:r>
                  <a:rPr sz="2400" b="0">
                    <a:solidFill>
                      <a:srgbClr val="111827"/>
                    </a:solidFill>
                    <a:latin typeface="Arial"/>
                  </a:rPr>
                  <a:t> (real positive roots need </a:t>
                </a:r>
                <a:r>
                  <a:rPr lang="en-IN" sz="2400">
                    <a:solidFill>
                      <a:srgbClr val="111827"/>
                    </a:solidFill>
                    <a:latin typeface="Cambria Math" panose="02040503050406030204" pitchFamily="18" charset="0"/>
                  </a:rPr>
                  <a:t>$k\ge2$</a:t>
                </a:r>
                <a:r>
                  <a:rPr sz="2400" b="0">
                    <a:solidFill>
                      <a:srgbClr val="111827"/>
                    </a:solidFill>
                    <a:latin typeface="Arial"/>
                  </a:rPr>
                  <a:t>); for </a:t>
                </a:r>
                <a:r>
                  <a:rPr lang="en-IN" sz="2400">
                    <a:solidFill>
                      <a:srgbClr val="111827"/>
                    </a:solidFill>
                    <a:latin typeface="Cambria Math" panose="02040503050406030204" pitchFamily="18" charset="0"/>
                  </a:rPr>
                  <a:t>$k=10$</a:t>
                </a:r>
                <a:r>
                  <a:rPr sz="2400" b="0">
                    <a:solidFill>
                      <a:srgbClr val="111827"/>
                    </a:solidFill>
                    <a:latin typeface="Arial"/>
                  </a:rPr>
                  <a:t>, </a:t>
                </a:r>
                <a:r>
                  <a:rPr lang="en-IN" sz="2400">
                    <a:solidFill>
                      <a:srgbClr val="111827"/>
                    </a:solidFill>
                    <a:latin typeface="Cambria Math" panose="02040503050406030204" pitchFamily="18" charset="0"/>
                  </a:rPr>
                  <a:t>$t=5\pm2\sqrt6$</a:t>
                </a:r>
                <a:r>
                  <a:rPr sz="2400" b="0">
                    <a:solidFill>
                      <a:srgbClr val="111827"/>
                    </a:solidFill>
                    <a:latin typeface="Arial"/>
                  </a:rPr>
                  <a:t> (check </a:t>
                </a:r>
                <a:r>
                  <a:rPr lang="en-IN" sz="2400">
                    <a:solidFill>
                      <a:srgbClr val="111827"/>
                    </a:solidFill>
                    <a:latin typeface="Cambria Math" panose="02040503050406030204" pitchFamily="18" charset="0"/>
                  </a:rPr>
                  <a:t>$5+2\sqrt6\approx9.899$</a:t>
                </a:r>
                <a:r>
                  <a:rPr sz="2400" b="0">
                    <a:solidFill>
                      <a:srgbClr val="111827"/>
                    </a:solidFill>
                    <a:latin typeface="Arial"/>
                  </a:rPr>
                  <a:t>, </a:t>
                </a:r>
                <a:r>
                  <a:rPr lang="en-IN" sz="2400">
                    <a:solidFill>
                      <a:srgbClr val="111827"/>
                    </a:solidFill>
                    <a:latin typeface="Cambria Math" panose="02040503050406030204" pitchFamily="18" charset="0"/>
                  </a:rPr>
                  <a:t>$+\frac1t\approx0.101$</a:t>
                </a:r>
                <a:r>
                  <a:rPr sz="2400" b="0">
                    <a:solidFill>
                      <a:srgbClr val="111827"/>
                    </a:solidFill>
                    <a:latin typeface="Arial"/>
                  </a:rPr>
                  <a:t>, sum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$\left(\sqrt3\pm\sqrt2\right)^2=5\pm2\sqrt6$</a:t>
                </a:r>
                <a:r>
                  <a:rPr sz="2400" b="0">
                    <a:solidFill>
                      <a:srgbClr val="111827"/>
                    </a:solidFill>
                    <a:latin typeface="Arial"/>
                  </a:rPr>
                  <a:t>; in general </a:t>
                </a:r>
                <a:r>
                  <a:rPr lang="en-IN" sz="2400">
                    <a:solidFill>
                      <a:srgbClr val="111827"/>
                    </a:solidFill>
                    <a:latin typeface="Cambria Math" panose="02040503050406030204" pitchFamily="18" charset="0"/>
                  </a:rPr>
                  <a:t>$(\sqrt a\pm\sqrt b)^2=a+b\pm2\sqrt{ab}$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map </a:t>
                </a:r>
                <a:r>
                  <a:rPr lang="en-IN" sz="2400">
                    <a:solidFill>
                      <a:srgbClr val="111827"/>
                    </a:solidFill>
                    <a:latin typeface="Cambria Math" panose="02040503050406030204" pitchFamily="18" charset="0"/>
                  </a:rPr>
                  <a:t>$u\mapsto p^u+p^{-u}$</a:t>
                </a:r>
                <a:r>
                  <a:rPr sz="2400" b="0">
                    <a:solidFill>
                      <a:srgbClr val="111827"/>
                    </a:solidFill>
                    <a:latin typeface="Arial"/>
                  </a:rPr>
                  <a:t> is even, so solutions of </a:t>
                </a:r>
                <a:r>
                  <a:rPr lang="en-IN" sz="2400">
                    <a:solidFill>
                      <a:srgbClr val="111827"/>
                    </a:solidFill>
                    <a:latin typeface="Cambria Math" panose="02040503050406030204" pitchFamily="18" charset="0"/>
                  </a:rPr>
                  <a:t>$p^u+p^{-u}=k$</a:t>
                </a:r>
                <a:r>
                  <a:rPr sz="2400" b="0">
                    <a:solidFill>
                      <a:srgbClr val="111827"/>
                    </a:solidFill>
                    <a:latin typeface="Arial"/>
                  </a:rPr>
                  <a:t> come in pairs </a:t>
                </a:r>
                <a:r>
                  <a:rPr lang="en-IN" sz="2400">
                    <a:solidFill>
                      <a:srgbClr val="111827"/>
                    </a:solidFill>
                    <a:latin typeface="Cambria Math" panose="02040503050406030204" pitchFamily="18" charset="0"/>
                  </a:rPr>
                  <a:t>$u=\pm u_0$</a:t>
                </a:r>
                <a:r>
                  <a:rPr sz="2400" b="0">
                    <a:solidFill>
                      <a:srgbClr val="111827"/>
                    </a:solidFill>
                    <a:latin typeface="Arial"/>
                  </a:rPr>
                  <a:t>; remember each </a:t>
                </a:r>
                <a:r>
                  <a:rPr lang="en-IN" sz="2400">
                    <a:solidFill>
                      <a:srgbClr val="111827"/>
                    </a:solidFill>
                    <a:latin typeface="Cambria Math" panose="02040503050406030204" pitchFamily="18" charset="0"/>
                  </a:rPr>
                  <a:t>$x^2=c&gt;0$</a:t>
                </a:r>
                <a:r>
                  <a:rPr sz="2400" b="0">
                    <a:solidFill>
                      <a:srgbClr val="111827"/>
                    </a:solidFill>
                    <a:latin typeface="Arial"/>
                  </a:rPr>
                  <a:t> then gives two real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 the power set of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Define the relations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not equivalence relations</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$P(S)$</a:t>
                </a:r>
                <a:r>
                  <a:rPr sz="2400" b="0">
                    <a:solidFill>
                      <a:srgbClr val="111827"/>
                    </a:solidFill>
                    <a:latin typeface="Arial"/>
                  </a:rPr>
                  <a:t> denote the power set of </a:t>
                </a:r>
                <a:r>
                  <a:rPr lang="en-IN" sz="2400">
                    <a:solidFill>
                      <a:srgbClr val="111827"/>
                    </a:solidFill>
                    <a:latin typeface="Cambria Math" panose="02040503050406030204" pitchFamily="18" charset="0"/>
                  </a:rPr>
                  <a:t>$S=\{1,2,3,\ldots,10\}$</a:t>
                </a:r>
                <a:r>
                  <a:rPr sz="2400" b="0">
                    <a:solidFill>
                      <a:srgbClr val="111827"/>
                    </a:solidFill>
                    <a:latin typeface="Arial"/>
                  </a:rPr>
                  <a:t>. Define the relations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on </a:t>
                </a:r>
                <a:r>
                  <a:rPr lang="en-IN" sz="2400">
                    <a:solidFill>
                      <a:srgbClr val="111827"/>
                    </a:solidFill>
                    <a:latin typeface="Cambria Math" panose="02040503050406030204" pitchFamily="18" charset="0"/>
                  </a:rPr>
                  <a:t>$P(S)$</a:t>
                </a:r>
                <a:r>
                  <a:rPr sz="2400" b="0">
                    <a:solidFill>
                      <a:srgbClr val="111827"/>
                    </a:solidFill>
                    <a:latin typeface="Arial"/>
                  </a:rPr>
                  <a:t> as </a:t>
                </a:r>
                <a:r>
                  <a:rPr lang="en-IN" sz="2400">
                    <a:solidFill>
                      <a:srgbClr val="111827"/>
                    </a:solidFill>
                    <a:latin typeface="Cambria Math" panose="02040503050406030204" pitchFamily="18" charset="0"/>
                  </a:rPr>
                  <a:t>$A\,R_1\,B$</a:t>
                </a:r>
                <a:r>
                  <a:rPr sz="2400" b="0">
                    <a:solidFill>
                      <a:srgbClr val="111827"/>
                    </a:solidFill>
                    <a:latin typeface="Arial"/>
                  </a:rPr>
                  <a:t> if </a:t>
                </a:r>
                <a:r>
                  <a:rPr lang="en-IN" sz="2400">
                    <a:solidFill>
                      <a:srgbClr val="111827"/>
                    </a:solidFill>
                    <a:latin typeface="Cambria Math" panose="02040503050406030204" pitchFamily="18" charset="0"/>
                  </a:rPr>
                  <a:t>$(A\cap B^C)\cup(B\cap A^C)=\phi$</a:t>
                </a:r>
                <a:r>
                  <a:rPr sz="2400" b="0">
                    <a:solidFill>
                      <a:srgbClr val="111827"/>
                    </a:solidFill>
                    <a:latin typeface="Arial"/>
                  </a:rPr>
                  <a:t> and </a:t>
                </a:r>
                <a:r>
                  <a:rPr lang="en-IN" sz="2400">
                    <a:solidFill>
                      <a:srgbClr val="111827"/>
                    </a:solidFill>
                    <a:latin typeface="Cambria Math" panose="02040503050406030204" pitchFamily="18" charset="0"/>
                  </a:rPr>
                  <a:t>$A\,R_2\,B$</a:t>
                </a:r>
                <a:r>
                  <a:rPr sz="2400" b="0">
                    <a:solidFill>
                      <a:srgbClr val="111827"/>
                    </a:solidFill>
                    <a:latin typeface="Arial"/>
                  </a:rPr>
                  <a:t> if </a:t>
                </a:r>
                <a:r>
                  <a:rPr lang="en-IN" sz="2400">
                    <a:solidFill>
                      <a:srgbClr val="111827"/>
                    </a:solidFill>
                    <a:latin typeface="Cambria Math" panose="02040503050406030204" pitchFamily="18" charset="0"/>
                  </a:rPr>
                  <a:t>$A\cup B^C=B\cup A^C$</a:t>
                </a:r>
                <a:r>
                  <a:rPr sz="2400" b="0">
                    <a:solidFill>
                      <a:srgbClr val="111827"/>
                    </a:solidFill>
                    <a:latin typeface="Arial"/>
                  </a:rPr>
                  <a:t>, </a:t>
                </a:r>
                <a:r>
                  <a:rPr lang="en-IN" sz="2400">
                    <a:solidFill>
                      <a:srgbClr val="111827"/>
                    </a:solidFill>
                    <a:latin typeface="Cambria Math" panose="02040503050406030204" pitchFamily="18" charset="0"/>
                  </a:rPr>
                  <a:t>$\forall A,B\in P(S)$</a:t>
                </a:r>
                <a:r>
                  <a:rPr sz="2400" b="0">
                    <a:solidFill>
                      <a:srgbClr val="111827"/>
                    </a:solidFill>
                    <a:latin typeface="Arial"/>
                  </a:rPr>
                  <a:t>. Then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not equivalence relations</a:t>
                </a:r>
                <a:endParaRPr sz="2400">
                  <a:solidFill>
                    <a:srgbClr val="111827"/>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 Power set and set algebra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relation forces the 'only-in-</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'only-in-</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Venn regions to be empty, so each is just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relation forces the 'only-in-</a:t>
                </a:r>
                <a:r>
                  <a:rPr lang="en-IN" sz="2400">
                    <a:solidFill>
                      <a:srgbClr val="78350F"/>
                    </a:solidFill>
                    <a:latin typeface="Cambria Math" panose="02040503050406030204" pitchFamily="18" charset="0"/>
                  </a:rPr>
                  <a:t>$A$</a:t>
                </a:r>
                <a:r>
                  <a:rPr sz="2400" b="0">
                    <a:solidFill>
                      <a:srgbClr val="78350F"/>
                    </a:solidFill>
                    <a:latin typeface="Arial"/>
                  </a:rPr>
                  <a:t>' and 'only-in-</a:t>
                </a:r>
                <a:r>
                  <a:rPr lang="en-IN" sz="2400">
                    <a:solidFill>
                      <a:srgbClr val="78350F"/>
                    </a:solidFill>
                    <a:latin typeface="Cambria Math" panose="02040503050406030204" pitchFamily="18" charset="0"/>
                  </a:rPr>
                  <a:t>$B$</a:t>
                </a:r>
                <a:r>
                  <a:rPr sz="2400" b="0">
                    <a:solidFill>
                      <a:srgbClr val="78350F"/>
                    </a:solidFill>
                    <a:latin typeface="Arial"/>
                  </a:rPr>
                  <a:t>' Venn regions to be empty, so each is just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Use the Venn regions: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reflexive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and symmetric (the condition is unchanged on swapping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$A\,R_1\,B\iff(A\cap B^C)\cup(A^C\cap B)=\phi$</a:t>
                </a:r>
                <a:r>
                  <a:rPr sz="2400" b="0">
                    <a:solidFill>
                      <a:srgbClr val="111827"/>
                    </a:solidFill>
                    <a:latin typeface="Arial"/>
                  </a:rPr>
                  <a:t>. Use the Venn regions: </a:t>
                </a:r>
                <a:r>
                  <a:rPr lang="en-IN" sz="2400">
                    <a:solidFill>
                      <a:srgbClr val="111827"/>
                    </a:solidFill>
                    <a:latin typeface="Cambria Math" panose="02040503050406030204" pitchFamily="18" charset="0"/>
                  </a:rPr>
                  <a:t>$a=A\cap B^C$</a:t>
                </a:r>
                <a:r>
                  <a:rPr sz="2400" b="0">
                    <a:solidFill>
                      <a:srgbClr val="111827"/>
                    </a:solidFill>
                    <a:latin typeface="Arial"/>
                  </a:rPr>
                  <a:t>, </a:t>
                </a:r>
                <a:r>
                  <a:rPr lang="en-IN" sz="2400">
                    <a:solidFill>
                      <a:srgbClr val="111827"/>
                    </a:solidFill>
                    <a:latin typeface="Cambria Math" panose="02040503050406030204" pitchFamily="18" charset="0"/>
                  </a:rPr>
                  <a:t>$b=A^C\cap B$</a:t>
                </a:r>
                <a:r>
                  <a:rPr sz="2400" b="0">
                    <a:solidFill>
                      <a:srgbClr val="111827"/>
                    </a:solidFill>
                    <a:latin typeface="Arial"/>
                  </a:rPr>
                  <a:t>, </a:t>
                </a:r>
                <a:r>
                  <a:rPr lang="en-IN" sz="2400">
                    <a:solidFill>
                      <a:srgbClr val="111827"/>
                    </a:solidFill>
                    <a:latin typeface="Cambria Math" panose="02040503050406030204" pitchFamily="18" charset="0"/>
                  </a:rPr>
                  <a:t>$c=A\cap B$</a:t>
                </a:r>
                <a:r>
                  <a:rPr sz="2400" b="0">
                    <a:solidFill>
                      <a:srgbClr val="111827"/>
                    </a:solidFill>
                    <a:latin typeface="Arial"/>
                  </a:rPr>
                  <a:t>, </a:t>
                </a:r>
                <a:r>
                  <a:rPr lang="en-IN" sz="2400">
                    <a:solidFill>
                      <a:srgbClr val="111827"/>
                    </a:solidFill>
                    <a:latin typeface="Cambria Math" panose="02040503050406030204" pitchFamily="18" charset="0"/>
                  </a:rPr>
                  <a:t>$d=A^C\cap 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is reflexive (</a:t>
                </a:r>
                <a:r>
                  <a:rPr lang="en-IN" sz="2400">
                    <a:solidFill>
                      <a:srgbClr val="111827"/>
                    </a:solidFill>
                    <a:latin typeface="Cambria Math" panose="02040503050406030204" pitchFamily="18" charset="0"/>
                  </a:rPr>
                  <a:t>$A\cap A^C=\phi$</a:t>
                </a:r>
                <a:r>
                  <a:rPr sz="2400" b="0">
                    <a:solidFill>
                      <a:srgbClr val="111827"/>
                    </a:solidFill>
                    <a:latin typeface="Arial"/>
                  </a:rPr>
                  <a:t>) and symmetric (the condition is unchanged on swapping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oMath>
                </a14:m>
                <a:r>
                  <a:rPr sz="2400" b="0">
                    <a:solidFill>
                      <a:srgbClr val="111827"/>
                    </a:solidFill>
                    <a:latin typeface="Arial"/>
                  </a:rPr>
                  <a:t> means regions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both empty,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Likewise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It is reflexive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and symmetric (equality is symmetric).</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$A\,R_1\,B$</a:t>
                </a:r>
                <a:r>
                  <a:rPr sz="2400" b="0">
                    <a:solidFill>
                      <a:srgbClr val="111827"/>
                    </a:solidFill>
                    <a:latin typeface="Arial"/>
                  </a:rPr>
                  <a:t> means regions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both empty, so </a:t>
                </a:r>
                <a:r>
                  <a:rPr lang="en-IN" sz="2400">
                    <a:solidFill>
                      <a:srgbClr val="111827"/>
                    </a:solidFill>
                    <a:latin typeface="Cambria Math" panose="02040503050406030204" pitchFamily="18" charset="0"/>
                  </a:rPr>
                  <a:t>$A=B$</a:t>
                </a:r>
                <a:r>
                  <a:rPr sz="2400" b="0">
                    <a:solidFill>
                      <a:srgbClr val="111827"/>
                    </a:solidFill>
                    <a:latin typeface="Arial"/>
                  </a:rPr>
                  <a:t>. Likewise </a:t>
                </a:r>
                <a:r>
                  <a:rPr lang="en-IN" sz="2400">
                    <a:solidFill>
                      <a:srgbClr val="111827"/>
                    </a:solidFill>
                    <a:latin typeface="Cambria Math" panose="02040503050406030204" pitchFamily="18" charset="0"/>
                  </a:rPr>
                  <a:t>$B\,R_1\,C$</a:t>
                </a:r>
                <a:r>
                  <a:rPr sz="2400" b="0">
                    <a:solidFill>
                      <a:srgbClr val="111827"/>
                    </a:solidFill>
                    <a:latin typeface="Arial"/>
                  </a:rPr>
                  <a:t> gives </a:t>
                </a:r>
                <a:r>
                  <a:rPr lang="en-IN" sz="2400">
                    <a:solidFill>
                      <a:srgbClr val="111827"/>
                    </a:solidFill>
                    <a:latin typeface="Cambria Math" panose="02040503050406030204" pitchFamily="18" charset="0"/>
                  </a:rPr>
                  <a:t>$B=C$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$A=C$</a:t>
                </a:r>
                <a:r>
                  <a:rPr sz="2400" b="0">
                    <a:solidFill>
                      <a:srgbClr val="111827"/>
                    </a:solidFill>
                    <a:latin typeface="Arial"/>
                  </a:rPr>
                  <a:t>, so </a:t>
                </a:r>
                <a:r>
                  <a:rPr lang="en-IN" sz="2400">
                    <a:solidFill>
                      <a:srgbClr val="111827"/>
                    </a:solidFill>
                    <a:latin typeface="Cambria Math" panose="02040503050406030204" pitchFamily="18" charset="0"/>
                  </a:rPr>
                  <a:t>$(A\cap C^C)\cup(A^C\cap C)=\phi$</a:t>
                </a:r>
                <a:r>
                  <a:rPr sz="2400" b="0">
                    <a:solidFill>
                      <a:srgbClr val="111827"/>
                    </a:solidFill>
                    <a:latin typeface="Arial"/>
                  </a:rPr>
                  <a:t> and </a:t>
                </a:r>
                <a:r>
                  <a:rPr lang="en-IN" sz="2400">
                    <a:solidFill>
                      <a:srgbClr val="111827"/>
                    </a:solidFill>
                    <a:latin typeface="Cambria Math" panose="02040503050406030204" pitchFamily="18" charset="0"/>
                  </a:rPr>
                  <a:t>$A\,R_1\,C$</a:t>
                </a:r>
                <a:r>
                  <a:rPr sz="2400" b="0">
                    <a:solidFill>
                      <a:srgbClr val="111827"/>
                    </a:solidFill>
                    <a:latin typeface="Arial"/>
                  </a:rPr>
                  <a:t>. So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$A\,R_2\,B\iff A\cup B^C=B\cup A^C$</a:t>
                </a:r>
                <a:r>
                  <a:rPr sz="2400" b="0">
                    <a:solidFill>
                      <a:srgbClr val="111827"/>
                    </a:solidFill>
                    <a:latin typeface="Arial"/>
                  </a:rPr>
                  <a:t>. It is reflexive (</a:t>
                </a:r>
                <a:r>
                  <a:rPr lang="en-IN" sz="2400">
                    <a:solidFill>
                      <a:srgbClr val="111827"/>
                    </a:solidFill>
                    <a:latin typeface="Cambria Math" panose="02040503050406030204" pitchFamily="18" charset="0"/>
                  </a:rPr>
                  <a:t>$A\cup A^C=A\cup A^C$</a:t>
                </a:r>
                <a:r>
                  <a:rPr sz="2400" b="0">
                    <a:solidFill>
                      <a:srgbClr val="111827"/>
                    </a:solidFill>
                    <a:latin typeface="Arial"/>
                  </a:rPr>
                  <a:t>) and symmetric (equality is symmetric).</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in the Venn regions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Equality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regions are disjoint, so both are empty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in the Venn regions </a:t>
                </a:r>
                <a:r>
                  <a:rPr lang="en-IN" sz="2400">
                    <a:solidFill>
                      <a:srgbClr val="111827"/>
                    </a:solidFill>
                    <a:latin typeface="Cambria Math" panose="02040503050406030204" pitchFamily="18" charset="0"/>
                  </a:rPr>
                  <a:t>$A\cup B^C=\{a,c,d\}$</a:t>
                </a:r>
                <a:r>
                  <a:rPr sz="2400" b="0">
                    <a:solidFill>
                      <a:srgbClr val="111827"/>
                    </a:solidFill>
                    <a:latin typeface="Arial"/>
                  </a:rPr>
                  <a:t> and </a:t>
                </a:r>
                <a:r>
                  <a:rPr lang="en-IN" sz="2400">
                    <a:solidFill>
                      <a:srgbClr val="111827"/>
                    </a:solidFill>
                    <a:latin typeface="Cambria Math" panose="02040503050406030204" pitchFamily="18" charset="0"/>
                  </a:rPr>
                  <a:t>$B\cup A^C=\{b,c,d\}$</a:t>
                </a:r>
                <a:r>
                  <a:rPr sz="2400" b="0">
                    <a:solidFill>
                      <a:srgbClr val="111827"/>
                    </a:solidFill>
                    <a:latin typeface="Arial"/>
                  </a:rPr>
                  <a:t>. Equality forces </a:t>
                </a:r>
                <a:r>
                  <a:rPr lang="en-IN" sz="2400">
                    <a:solidFill>
                      <a:srgbClr val="111827"/>
                    </a:solidFill>
                    <a:latin typeface="Cambria Math" panose="02040503050406030204" pitchFamily="18" charset="0"/>
                  </a:rPr>
                  <a:t>$\{a\}=\{b\}$</a:t>
                </a:r>
                <a:r>
                  <a:rPr sz="2400" b="0">
                    <a:solidFill>
                      <a:srgbClr val="111827"/>
                    </a:solidFill>
                    <a:latin typeface="Arial"/>
                  </a:rPr>
                  <a:t>; the regions are disjoint, so both are empty and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$B\,R_2\,C$</a:t>
                </a:r>
                <a:r>
                  <a:rPr sz="2400" b="0">
                    <a:solidFill>
                      <a:srgbClr val="111827"/>
                    </a:solidFill>
                    <a:latin typeface="Arial"/>
                  </a:rPr>
                  <a:t> gives </a:t>
                </a:r>
                <a:r>
                  <a:rPr lang="en-IN" sz="2400">
                    <a:solidFill>
                      <a:srgbClr val="111827"/>
                    </a:solidFill>
                    <a:latin typeface="Cambria Math" panose="02040503050406030204" pitchFamily="18" charset="0"/>
                  </a:rPr>
                  <a:t>$B=C$</a:t>
                </a:r>
                <a:r>
                  <a:rPr sz="2400" b="0">
                    <a:solidFill>
                      <a:srgbClr val="111827"/>
                    </a:solidFill>
                    <a:latin typeface="Arial"/>
                  </a:rPr>
                  <a:t>, hence </a:t>
                </a:r>
                <a:r>
                  <a:rPr lang="en-IN" sz="2400">
                    <a:solidFill>
                      <a:srgbClr val="111827"/>
                    </a:solidFill>
                    <a:latin typeface="Cambria Math" panose="02040503050406030204" pitchFamily="18" charset="0"/>
                  </a:rPr>
                  <a:t>$A=C$</a:t>
                </a:r>
                <a:r>
                  <a:rPr sz="2400" b="0">
                    <a:solidFill>
                      <a:srgbClr val="111827"/>
                    </a:solidFill>
                    <a:latin typeface="Arial"/>
                  </a:rPr>
                  <a:t> and </a:t>
                </a:r>
                <a:r>
                  <a:rPr lang="en-IN" sz="2400">
                    <a:solidFill>
                      <a:srgbClr val="111827"/>
                    </a:solidFill>
                    <a:latin typeface="Cambria Math" panose="02040503050406030204" pitchFamily="18" charset="0"/>
                  </a:rPr>
                  <a:t>$A\cup C^C=C\cup A^C$</a:t>
                </a:r>
                <a:r>
                  <a:rPr sz="2400" b="0">
                    <a:solidFill>
                      <a:srgbClr val="111827"/>
                    </a:solidFill>
                    <a:latin typeface="Arial"/>
                  </a:rPr>
                  <a:t>, i.e. </a:t>
                </a:r>
                <a:r>
                  <a:rPr lang="en-IN" sz="2400">
                    <a:solidFill>
                      <a:srgbClr val="111827"/>
                    </a:solidFill>
                    <a:latin typeface="Cambria Math" panose="02040503050406030204" pitchFamily="18" charset="0"/>
                  </a:rPr>
                  <a:t>$A\,R_2\,C$</a:t>
                </a:r>
                <a:r>
                  <a:rPr sz="2400" b="0">
                    <a:solidFill>
                      <a:srgbClr val="111827"/>
                    </a:solidFill>
                    <a:latin typeface="Arial"/>
                  </a:rPr>
                  <a:t>. So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both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and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are equivalence relations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both </a:t>
                </a:r>
                <a:r>
                  <a:rPr lang="en-IN" sz="2800">
                    <a:solidFill>
                      <a:srgbClr val="15803D"/>
                    </a:solidFill>
                    <a:latin typeface="Cambria Math" panose="02040503050406030204" pitchFamily="18" charset="0"/>
                  </a:rPr>
                  <a:t>$R_1$</a:t>
                </a:r>
                <a:r>
                  <a:rPr sz="2800" b="1">
                    <a:solidFill>
                      <a:srgbClr val="15803D"/>
                    </a:solidFill>
                    <a:latin typeface="Arial"/>
                  </a:rPr>
                  <a:t> and </a:t>
                </a:r>
                <a:r>
                  <a:rPr lang="en-IN" sz="2800">
                    <a:solidFill>
                      <a:srgbClr val="15803D"/>
                    </a:solidFill>
                    <a:latin typeface="Cambria Math" panose="02040503050406030204" pitchFamily="18" charset="0"/>
                  </a:rPr>
                  <a:t>$R_2$</a:t>
                </a:r>
                <a:r>
                  <a:rPr sz="2800" b="1">
                    <a:solidFill>
                      <a:srgbClr val="15803D"/>
                    </a:solidFill>
                    <a:latin typeface="Arial"/>
                  </a:rPr>
                  <a:t> are equivalence relations</a:t>
                </a:r>
                <a:endParaRPr sz="2800">
                  <a:solidFill>
                    <a:srgbClr val="15803D"/>
                  </a:solidFill>
                </a:endParaRPr>
              </a:p>
            </p:txBody>
          </p:sp>
        </mc:Fallback>
      </mc:AlternateContent>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Show that both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are the identity relation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which is trivially an equivalence relation.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Show that both </a:t>
                </a:r>
                <a:r>
                  <a:rPr lang="en-IN" sz="2400">
                    <a:solidFill>
                      <a:srgbClr val="78350F"/>
                    </a:solidFill>
                    <a:latin typeface="Cambria Math" panose="02040503050406030204" pitchFamily="18" charset="0"/>
                  </a:rPr>
                  <a:t>$R_1$</a:t>
                </a:r>
                <a:r>
                  <a:rPr sz="2400" b="0">
                    <a:solidFill>
                      <a:srgbClr val="78350F"/>
                    </a:solidFill>
                    <a:latin typeface="Arial"/>
                  </a:rPr>
                  <a:t> and </a:t>
                </a:r>
                <a:r>
                  <a:rPr lang="en-IN" sz="2400">
                    <a:solidFill>
                      <a:srgbClr val="78350F"/>
                    </a:solidFill>
                    <a:latin typeface="Cambria Math" panose="02040503050406030204" pitchFamily="18" charset="0"/>
                  </a:rPr>
                  <a:t>$R_2$</a:t>
                </a:r>
                <a:r>
                  <a:rPr sz="2400" b="0">
                    <a:solidFill>
                      <a:srgbClr val="78350F"/>
                    </a:solidFill>
                    <a:latin typeface="Arial"/>
                  </a:rPr>
                  <a:t> are the identity relation </a:t>
                </a:r>
                <a:r>
                  <a:rPr lang="en-IN" sz="2400">
                    <a:solidFill>
                      <a:srgbClr val="78350F"/>
                    </a:solidFill>
                    <a:latin typeface="Cambria Math" panose="02040503050406030204" pitchFamily="18" charset="0"/>
                  </a:rPr>
                  <a:t>$A=B$</a:t>
                </a:r>
                <a:r>
                  <a:rPr sz="2400" b="0">
                    <a:solidFill>
                      <a:srgbClr val="78350F"/>
                    </a:solidFill>
                    <a:latin typeface="Arial"/>
                  </a:rPr>
                  <a:t>, which is trivially an equivalence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the relation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complements in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are disjoint, so being equal they are both empty: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B^C)\cup(B\cap A^C)=A\,\triangle\,B$</a:t>
                </a:r>
                <a:r>
                  <a:rPr sz="2400" b="0">
                    <a:solidFill>
                      <a:srgbClr val="111827"/>
                    </a:solidFill>
                    <a:latin typeface="Arial"/>
                  </a:rPr>
                  <a:t>, and </a:t>
                </a:r>
                <a:r>
                  <a:rPr lang="en-IN" sz="2400">
                    <a:solidFill>
                      <a:srgbClr val="111827"/>
                    </a:solidFill>
                    <a:latin typeface="Cambria Math" panose="02040503050406030204" pitchFamily="18" charset="0"/>
                  </a:rPr>
                  <a:t>$A\,\triangle\,B=\phi\iff A=B$</a:t>
                </a:r>
                <a:r>
                  <a:rPr sz="2400" b="0">
                    <a:solidFill>
                      <a:srgbClr val="111827"/>
                    </a:solidFill>
                    <a:latin typeface="Arial"/>
                  </a:rPr>
                  <a:t>. So </a:t>
                </a:r>
                <a:r>
                  <a:rPr lang="en-IN" sz="2400">
                    <a:solidFill>
                      <a:srgbClr val="111827"/>
                    </a:solidFill>
                    <a:latin typeface="Cambria Math" panose="02040503050406030204" pitchFamily="18" charset="0"/>
                  </a:rPr>
                  <a:t>$R_1$</a:t>
                </a:r>
                <a:r>
                  <a:rPr sz="2400" b="0">
                    <a:solidFill>
                      <a:srgbClr val="111827"/>
                    </a:solidFill>
                    <a:latin typeface="Arial"/>
                  </a:rPr>
                  <a:t> is the relation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complements in </a:t>
                </a:r>
                <a:r>
                  <a:rPr lang="en-IN" sz="2400">
                    <a:solidFill>
                      <a:srgbClr val="111827"/>
                    </a:solidFill>
                    <a:latin typeface="Cambria Math" panose="02040503050406030204" pitchFamily="18" charset="0"/>
                  </a:rPr>
                  <a:t>$A\cup B^C=B\cup A^C$</a:t>
                </a:r>
                <a:r>
                  <a:rPr sz="2400" b="0">
                    <a:solidFill>
                      <a:srgbClr val="111827"/>
                    </a:solidFill>
                    <a:latin typeface="Arial"/>
                  </a:rPr>
                  <a:t>: </a:t>
                </a:r>
                <a:r>
                  <a:rPr lang="en-IN" sz="2400">
                    <a:solidFill>
                      <a:srgbClr val="111827"/>
                    </a:solidFill>
                    <a:latin typeface="Cambria Math" panose="02040503050406030204" pitchFamily="18" charset="0"/>
                  </a:rPr>
                  <a:t>$A^C\cap B=B^C\cap A$</a:t>
                </a:r>
                <a:r>
                  <a:rPr sz="2400" b="0">
                    <a:solidFill>
                      <a:srgbClr val="111827"/>
                    </a:solidFill>
                    <a:latin typeface="Arial"/>
                  </a:rPr>
                  <a:t>, i.e. </a:t>
                </a:r>
                <a:r>
                  <a:rPr lang="en-IN" sz="2400">
                    <a:solidFill>
                      <a:srgbClr val="111827"/>
                    </a:solidFill>
                    <a:latin typeface="Cambria Math" panose="02040503050406030204" pitchFamily="18" charset="0"/>
                  </a:rPr>
                  <a:t>$B-A=A-B$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sets </a:t>
                </a:r>
                <a:r>
                  <a:rPr lang="en-IN" sz="2400">
                    <a:solidFill>
                      <a:srgbClr val="111827"/>
                    </a:solidFill>
                    <a:latin typeface="Cambria Math" panose="02040503050406030204" pitchFamily="18" charset="0"/>
                  </a:rPr>
                  <a:t>$B-A$</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are disjoint, so being equal they are both empty: </a:t>
                </a:r>
                <a:r>
                  <a:rPr lang="en-IN" sz="2400">
                    <a:solidFill>
                      <a:srgbClr val="111827"/>
                    </a:solidFill>
                    <a:latin typeface="Cambria Math" panose="02040503050406030204" pitchFamily="18" charset="0"/>
                  </a:rPr>
                  <a:t>$B\subseteq A$</a:t>
                </a:r>
                <a:r>
                  <a:rPr sz="2400" b="0">
                    <a:solidFill>
                      <a:srgbClr val="111827"/>
                    </a:solidFill>
                    <a:latin typeface="Arial"/>
                  </a:rPr>
                  <a:t> and </a:t>
                </a:r>
                <a:r>
                  <a:rPr lang="en-IN" sz="2400">
                    <a:solidFill>
                      <a:srgbClr val="111827"/>
                    </a:solidFill>
                    <a:latin typeface="Cambria Math" panose="02040503050406030204" pitchFamily="18" charset="0"/>
                  </a:rPr>
                  <a:t>$A\subseteq B$</a:t>
                </a:r>
                <a:r>
                  <a:rPr sz="2400" b="0">
                    <a:solidFill>
                      <a:srgbClr val="111827"/>
                    </a:solidFill>
                    <a:latin typeface="Arial"/>
                  </a:rPr>
                  <a:t>, i.e.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Conversely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clearly satisfies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also the relation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is reflexive, symmetric and transitive (classes are the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singletons of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both relations are equivalence relations: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Conversely </a:t>
                </a:r>
                <a:r>
                  <a:rPr lang="en-IN" sz="2400">
                    <a:solidFill>
                      <a:srgbClr val="111827"/>
                    </a:solidFill>
                    <a:latin typeface="Cambria Math" panose="02040503050406030204" pitchFamily="18" charset="0"/>
                  </a:rPr>
                  <a:t>$A=B$</a:t>
                </a:r>
                <a:r>
                  <a:rPr sz="2400" b="0">
                    <a:solidFill>
                      <a:srgbClr val="111827"/>
                    </a:solidFill>
                    <a:latin typeface="Arial"/>
                  </a:rPr>
                  <a:t> clearly satisfies </a:t>
                </a:r>
                <a:r>
                  <a:rPr lang="en-IN" sz="2400">
                    <a:solidFill>
                      <a:srgbClr val="111827"/>
                    </a:solidFill>
                    <a:latin typeface="Cambria Math" panose="02040503050406030204" pitchFamily="18" charset="0"/>
                  </a:rPr>
                  <a:t>$A\cup B^C=B\cup A^C$</a:t>
                </a:r>
                <a:r>
                  <a:rPr sz="2400" b="0">
                    <a:solidFill>
                      <a:srgbClr val="111827"/>
                    </a:solidFill>
                    <a:latin typeface="Arial"/>
                  </a:rPr>
                  <a:t>. So </a:t>
                </a:r>
                <a:r>
                  <a:rPr lang="en-IN" sz="2400">
                    <a:solidFill>
                      <a:srgbClr val="111827"/>
                    </a:solidFill>
                    <a:latin typeface="Cambria Math" panose="02040503050406030204" pitchFamily="18" charset="0"/>
                  </a:rPr>
                  <a:t>$R_2$</a:t>
                </a:r>
                <a:r>
                  <a:rPr sz="2400" b="0">
                    <a:solidFill>
                      <a:srgbClr val="111827"/>
                    </a:solidFill>
                    <a:latin typeface="Arial"/>
                  </a:rPr>
                  <a:t> is also the relation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is reflexive, symmetric and transitive (classes are the </a:t>
                </a:r>
                <a:r>
                  <a:rPr lang="en-IN" sz="2400">
                    <a:solidFill>
                      <a:srgbClr val="111827"/>
                    </a:solidFill>
                    <a:latin typeface="Cambria Math" panose="02040503050406030204" pitchFamily="18" charset="0"/>
                  </a:rPr>
                  <a:t>$2^{10}$</a:t>
                </a:r>
                <a:r>
                  <a:rPr sz="2400" b="0">
                    <a:solidFill>
                      <a:srgbClr val="111827"/>
                    </a:solidFill>
                    <a:latin typeface="Arial"/>
                  </a:rPr>
                  <a:t> singletons of </a:t>
                </a:r>
                <a:r>
                  <a:rPr lang="en-IN" sz="2400">
                    <a:solidFill>
                      <a:srgbClr val="111827"/>
                    </a:solidFill>
                    <a:latin typeface="Cambria Math" panose="02040503050406030204" pitchFamily="18" charset="0"/>
                  </a:rPr>
                  <a:t>$P(S)$</a:t>
                </a:r>
                <a:r>
                  <a:rPr sz="2400" b="0">
                    <a:solidFill>
                      <a:srgbClr val="111827"/>
                    </a:solidFill>
                    <a:latin typeface="Arial"/>
                  </a:rPr>
                  <a:t>), so both relations are equivalence relations: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both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and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are equivalence relations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both </a:t>
                </a:r>
                <a:r>
                  <a:rPr lang="en-IN" sz="2800">
                    <a:solidFill>
                      <a:srgbClr val="15803D"/>
                    </a:solidFill>
                    <a:latin typeface="Cambria Math" panose="02040503050406030204" pitchFamily="18" charset="0"/>
                  </a:rPr>
                  <a:t>$R_1$</a:t>
                </a:r>
                <a:r>
                  <a:rPr sz="2800" b="1">
                    <a:solidFill>
                      <a:srgbClr val="15803D"/>
                    </a:solidFill>
                    <a:latin typeface="Arial"/>
                  </a:rPr>
                  <a:t> and </a:t>
                </a:r>
                <a:r>
                  <a:rPr lang="en-IN" sz="2800">
                    <a:solidFill>
                      <a:srgbClr val="15803D"/>
                    </a:solidFill>
                    <a:latin typeface="Cambria Math" panose="02040503050406030204" pitchFamily="18" charset="0"/>
                  </a:rPr>
                  <a:t>$R_2$</a:t>
                </a:r>
                <a:r>
                  <a:rPr sz="2800" b="1">
                    <a:solidFill>
                      <a:srgbClr val="15803D"/>
                    </a:solidFill>
                    <a:latin typeface="Arial"/>
                  </a:rPr>
                  <a:t> are equivalence relations</a:t>
                </a:r>
                <a:endParaRPr sz="2800">
                  <a:solidFill>
                    <a:srgbClr val="15803D"/>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trick: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𝐶</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(both differences are disjoint, so both must be empty). Brute-force checked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Relations that reduce to equality are equivalence relations whose classes are single elements; here there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oMath>
                </a14:m>
                <a:r>
                  <a:rPr sz="2400" b="0">
                    <a:solidFill>
                      <a:srgbClr val="111827"/>
                    </a:solidFill>
                    <a:latin typeface="Arial"/>
                  </a:rPr>
                  <a:t>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equivalence: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for a fixed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classes (check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classes).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B^C)\cup(A^C\cap B)=A\triangle B$</a:t>
                </a:r>
                <a:r>
                  <a:rPr sz="2400" b="0">
                    <a:solidFill>
                      <a:srgbClr val="111827"/>
                    </a:solidFill>
                    <a:latin typeface="Arial"/>
                  </a:rPr>
                  <a:t>, and </a:t>
                </a:r>
                <a:r>
                  <a:rPr lang="en-IN" sz="2400">
                    <a:solidFill>
                      <a:srgbClr val="111827"/>
                    </a:solidFill>
                    <a:latin typeface="Cambria Math" panose="02040503050406030204" pitchFamily="18" charset="0"/>
                  </a:rPr>
                  <a:t>$A\triangle B=\phi\iff 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trick: </a:t>
                </a:r>
                <a:r>
                  <a:rPr lang="en-IN" sz="2400">
                    <a:solidFill>
                      <a:srgbClr val="111827"/>
                    </a:solidFill>
                    <a:latin typeface="Cambria Math" panose="02040503050406030204" pitchFamily="18" charset="0"/>
                  </a:rPr>
                  <a:t>$A\cup B^C=B\cup A^C\iff A^C\cap B=A\cap B^C\iff A=B$</a:t>
                </a:r>
                <a:r>
                  <a:rPr sz="2400" b="0">
                    <a:solidFill>
                      <a:srgbClr val="111827"/>
                    </a:solidFill>
                    <a:latin typeface="Arial"/>
                  </a:rPr>
                  <a:t> (both differences are disjoint, so both must be empty). Brute-force checked for </a:t>
                </a:r>
                <a:r>
                  <a:rPr lang="en-IN" sz="2400">
                    <a:solidFill>
                      <a:srgbClr val="111827"/>
                    </a:solidFill>
                    <a:latin typeface="Cambria Math" panose="02040503050406030204" pitchFamily="18" charset="0"/>
                  </a:rPr>
                  <a:t>$|S|=3$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Relations that reduce to equality are equivalence relations whose classes are single elements; here there are </a:t>
                </a:r>
                <a:r>
                  <a:rPr lang="en-IN" sz="2400">
                    <a:solidFill>
                      <a:srgbClr val="111827"/>
                    </a:solidFill>
                    <a:latin typeface="Cambria Math" panose="02040503050406030204" pitchFamily="18" charset="0"/>
                  </a:rPr>
                  <a:t>$|P(S)|=2^{10}=1024$</a:t>
                </a:r>
                <a:r>
                  <a:rPr sz="2400" b="0">
                    <a:solidFill>
                      <a:srgbClr val="111827"/>
                    </a:solidFill>
                    <a:latin typeface="Arial"/>
                  </a:rPr>
                  <a:t>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equivalence: </a:t>
                </a:r>
                <a:r>
                  <a:rPr lang="en-IN" sz="2400">
                    <a:solidFill>
                      <a:srgbClr val="111827"/>
                    </a:solidFill>
                    <a:latin typeface="Cambria Math" panose="02040503050406030204" pitchFamily="18" charset="0"/>
                  </a:rPr>
                  <a:t>$A\cup X=B\cup X\iff A-X=B-X$</a:t>
                </a:r>
                <a:r>
                  <a:rPr sz="2400" b="0">
                    <a:solidFill>
                      <a:srgbClr val="111827"/>
                    </a:solidFill>
                    <a:latin typeface="Arial"/>
                  </a:rPr>
                  <a:t> for a fixed </a:t>
                </a:r>
                <a:r>
                  <a:rPr lang="en-IN" sz="2400">
                    <a:solidFill>
                      <a:srgbClr val="111827"/>
                    </a:solidFill>
                    <a:latin typeface="Cambria Math" panose="02040503050406030204" pitchFamily="18" charset="0"/>
                  </a:rPr>
                  <a:t>$X$</a:t>
                </a:r>
                <a:r>
                  <a:rPr sz="2400" b="0">
                    <a:solidFill>
                      <a:srgbClr val="111827"/>
                    </a:solidFill>
                    <a:latin typeface="Arial"/>
                  </a:rPr>
                  <a:t>, with </a:t>
                </a:r>
                <a:r>
                  <a:rPr lang="en-IN" sz="2400">
                    <a:solidFill>
                      <a:srgbClr val="111827"/>
                    </a:solidFill>
                    <a:latin typeface="Cambria Math" panose="02040503050406030204" pitchFamily="18" charset="0"/>
                  </a:rPr>
                  <a:t>$2^{|S|-|X|}$</a:t>
                </a:r>
                <a:r>
                  <a:rPr sz="2400" b="0">
                    <a:solidFill>
                      <a:srgbClr val="111827"/>
                    </a:solidFill>
                    <a:latin typeface="Arial"/>
                  </a:rPr>
                  <a:t> classes (check </a:t>
                </a:r>
                <a:r>
                  <a:rPr lang="en-IN" sz="2400">
                    <a:solidFill>
                      <a:srgbClr val="111827"/>
                    </a:solidFill>
                    <a:latin typeface="Cambria Math" panose="02040503050406030204" pitchFamily="18" charset="0"/>
                  </a:rPr>
                  <a:t>$S=\{1,2\},X=\{1\}$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classes).</a:t>
                </a:r>
                <a:endParaRPr sz="2400">
                  <a:solidFill>
                    <a:srgbClr val="111827"/>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Q42 – Q43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minimum number of elements that must be added to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that it is an equivalence relation, is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minimum number of elements that must be added to the relation </a:t>
                </a:r>
                <a:r>
                  <a:rPr lang="en-IN" sz="2400">
                    <a:solidFill>
                      <a:srgbClr val="111827"/>
                    </a:solidFill>
                    <a:latin typeface="Cambria Math" panose="02040503050406030204" pitchFamily="18" charset="0"/>
                  </a:rPr>
                  <a:t>$R=\{(a,b),(b,c),(b,d)\}$</a:t>
                </a:r>
                <a:r>
                  <a:rPr sz="2400" b="0">
                    <a:solidFill>
                      <a:srgbClr val="111827"/>
                    </a:solidFill>
                    <a:latin typeface="Arial"/>
                  </a:rPr>
                  <a:t> on the set </a:t>
                </a:r>
                <a:r>
                  <a:rPr lang="en-IN" sz="2400">
                    <a:solidFill>
                      <a:srgbClr val="111827"/>
                    </a:solidFill>
                    <a:latin typeface="Cambria Math" panose="02040503050406030204" pitchFamily="18" charset="0"/>
                  </a:rPr>
                  <a:t>$\{a,b,c,d\}$</a:t>
                </a:r>
                <a:r>
                  <a:rPr sz="2400" b="0">
                    <a:solidFill>
                      <a:srgbClr val="111827"/>
                    </a:solidFill>
                    <a:latin typeface="Arial"/>
                  </a:rPr>
                  <a:t> so that it is an equivalence relation, is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is linked to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so all four elements end up in a single class and the relation must be all </a:t>
                </a:r>
                <a14:m>
                  <m:oMath xmlns:m="http://schemas.openxmlformats.org/officeDocument/2006/math">
                    <m:sSup>
                      <m:e>
                        <m:r>
                          <a:rPr lang="en-IN" sz="2400" i="1">
                            <a:solidFill>
                              <a:srgbClr val="78350F"/>
                            </a:solidFill>
                            <a:latin typeface="Cambria Math" panose="02040503050406030204" pitchFamily="18" charset="0"/>
                          </a:rPr>
                          <m:t>4</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 pairs.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a:t>
                </a:r>
                <a:r>
                  <a:rPr sz="2400" b="0">
                    <a:solidFill>
                      <a:srgbClr val="78350F"/>
                    </a:solidFill>
                    <a:latin typeface="Arial"/>
                  </a:rPr>
                  <a:t> is linked to </a:t>
                </a:r>
                <a:r>
                  <a:rPr lang="en-IN" sz="2400">
                    <a:solidFill>
                      <a:srgbClr val="78350F"/>
                    </a:solidFill>
                    <a:latin typeface="Cambria Math" panose="02040503050406030204" pitchFamily="18" charset="0"/>
                  </a:rPr>
                  <a:t>$a$</a:t>
                </a:r>
                <a:r>
                  <a:rPr sz="2400" b="0">
                    <a:solidFill>
                      <a:srgbClr val="78350F"/>
                    </a:solidFill>
                    <a:latin typeface="Arial"/>
                  </a:rPr>
                  <a:t>, </a:t>
                </a:r>
                <a:r>
                  <a:rPr lang="en-IN" sz="2400">
                    <a:solidFill>
                      <a:srgbClr val="78350F"/>
                    </a:solidFill>
                    <a:latin typeface="Cambria Math" panose="02040503050406030204" pitchFamily="18" charset="0"/>
                  </a:rPr>
                  <a:t>$c$</a:t>
                </a:r>
                <a:r>
                  <a:rPr sz="2400" b="0">
                    <a:solidFill>
                      <a:srgbClr val="78350F"/>
                    </a:solidFill>
                    <a:latin typeface="Arial"/>
                  </a:rPr>
                  <a:t>, </a:t>
                </a:r>
                <a:r>
                  <a:rPr lang="en-IN" sz="2400">
                    <a:solidFill>
                      <a:srgbClr val="78350F"/>
                    </a:solidFill>
                    <a:latin typeface="Cambria Math" panose="02040503050406030204" pitchFamily="18" charset="0"/>
                  </a:rPr>
                  <a:t>$d$</a:t>
                </a:r>
                <a:r>
                  <a:rPr sz="2400" b="0">
                    <a:solidFill>
                      <a:srgbClr val="78350F"/>
                    </a:solidFill>
                    <a:latin typeface="Arial"/>
                  </a:rPr>
                  <a:t>, so all four elements end up in a single class and the relation must be all </a:t>
                </a:r>
                <a:r>
                  <a:rPr lang="en-IN" sz="2400">
                    <a:solidFill>
                      <a:srgbClr val="78350F"/>
                    </a:solidFill>
                    <a:latin typeface="Cambria Math" panose="02040503050406030204" pitchFamily="18" charset="0"/>
                  </a:rPr>
                  <a:t>$4^2=16$</a:t>
                </a:r>
                <a:r>
                  <a:rPr sz="2400" b="0">
                    <a:solidFill>
                      <a:srgbClr val="78350F"/>
                    </a:solidFill>
                    <a:latin typeface="Arial"/>
                  </a:rPr>
                  <a:t> pairs.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make it an equivalence relation on this set,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must contain the reflexive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it must contain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addition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$R=\{(a,b),(b,c),(b,d)\}$</a:t>
                </a:r>
                <a:r>
                  <a:rPr sz="2400" b="0">
                    <a:solidFill>
                      <a:srgbClr val="111827"/>
                    </a:solidFill>
                    <a:latin typeface="Arial"/>
                  </a:rPr>
                  <a:t> on </a:t>
                </a:r>
                <a:r>
                  <a:rPr lang="en-IN" sz="2400">
                    <a:solidFill>
                      <a:srgbClr val="111827"/>
                    </a:solidFill>
                    <a:latin typeface="Cambria Math" panose="02040503050406030204" pitchFamily="18" charset="0"/>
                  </a:rPr>
                  <a:t>$\{a,b,c,d\}$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make it an equivalence relation on this set, </a:t>
                </a:r>
                <a:r>
                  <a:rPr lang="en-IN" sz="2400">
                    <a:solidFill>
                      <a:srgbClr val="111827"/>
                    </a:solidFill>
                    <a:latin typeface="Cambria Math" panose="02040503050406030204" pitchFamily="18" charset="0"/>
                  </a:rPr>
                  <a:t>$R$</a:t>
                </a:r>
                <a:r>
                  <a:rPr sz="2400" b="0">
                    <a:solidFill>
                      <a:srgbClr val="111827"/>
                    </a:solidFill>
                    <a:latin typeface="Arial"/>
                  </a:rPr>
                  <a:t> must contain the reflexive pairs </a:t>
                </a:r>
                <a:r>
                  <a:rPr lang="en-IN" sz="2400">
                    <a:solidFill>
                      <a:srgbClr val="111827"/>
                    </a:solidFill>
                    <a:latin typeface="Cambria Math" panose="02040503050406030204" pitchFamily="18" charset="0"/>
                  </a:rPr>
                  <a:t>$(a,a),(b,b),(c,c),(d,d)$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it must contain </a:t>
                </a:r>
                <a:r>
                  <a:rPr lang="en-IN" sz="2400">
                    <a:solidFill>
                      <a:srgbClr val="111827"/>
                    </a:solidFill>
                    <a:latin typeface="Cambria Math" panose="02040503050406030204" pitchFamily="18" charset="0"/>
                  </a:rPr>
                  <a:t>$(b,a),(c,b),(d,b)$</a:t>
                </a:r>
                <a:r>
                  <a:rPr sz="2400" b="0">
                    <a:solidFill>
                      <a:srgbClr val="111827"/>
                    </a:solidFill>
                    <a:latin typeface="Arial"/>
                  </a:rPr>
                  <a:t> in addition to </a:t>
                </a:r>
                <a:r>
                  <a:rPr lang="en-IN" sz="2400">
                    <a:solidFill>
                      <a:srgbClr val="111827"/>
                    </a:solidFill>
                    <a:latin typeface="Cambria Math" panose="02040503050406030204" pitchFamily="18" charset="0"/>
                  </a:rPr>
                  <a:t>$(a,b),(b,c),(b,d)$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transitivity through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their reverses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must be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these are already given, so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elements must be added.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transitivity through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$(a,b),(b,c)\Rightarrow(a,c)$</a:t>
                </a:r>
                <a:r>
                  <a:rPr sz="2400" b="0">
                    <a:solidFill>
                      <a:srgbClr val="111827"/>
                    </a:solidFill>
                    <a:latin typeface="Arial"/>
                  </a:rPr>
                  <a:t>; </a:t>
                </a:r>
                <a:r>
                  <a:rPr lang="en-IN" sz="2400">
                    <a:solidFill>
                      <a:srgbClr val="111827"/>
                    </a:solidFill>
                    <a:latin typeface="Cambria Math" panose="02040503050406030204" pitchFamily="18" charset="0"/>
                  </a:rPr>
                  <a:t>$(a,b),(b,d)\Rightarrow(a,d)$</a:t>
                </a:r>
                <a:r>
                  <a:rPr sz="2400" b="0">
                    <a:solidFill>
                      <a:srgbClr val="111827"/>
                    </a:solidFill>
                    <a:latin typeface="Arial"/>
                  </a:rPr>
                  <a:t>; </a:t>
                </a:r>
                <a:r>
                  <a:rPr lang="en-IN" sz="2400">
                    <a:solidFill>
                      <a:srgbClr val="111827"/>
                    </a:solidFill>
                    <a:latin typeface="Cambria Math" panose="02040503050406030204" pitchFamily="18" charset="0"/>
                  </a:rPr>
                  <a:t>$(c,b),(b,d)\Rightarrow(c,d)$</a:t>
                </a:r>
                <a:r>
                  <a:rPr sz="2400" b="0">
                    <a:solidFill>
                      <a:srgbClr val="111827"/>
                    </a:solidFill>
                    <a:latin typeface="Arial"/>
                  </a:rPr>
                  <a:t>; and their reverses </a:t>
                </a:r>
                <a:r>
                  <a:rPr lang="en-IN" sz="2400">
                    <a:solidFill>
                      <a:srgbClr val="111827"/>
                    </a:solidFill>
                    <a:latin typeface="Cambria Math" panose="02040503050406030204" pitchFamily="18" charset="0"/>
                  </a:rPr>
                  <a:t>$(c,a),(d,a),(d,c)$</a:t>
                </a:r>
                <a:r>
                  <a:rPr sz="2400" b="0">
                    <a:solidFill>
                      <a:srgbClr val="111827"/>
                    </a:solidFill>
                    <a:latin typeface="Arial"/>
                  </a:rPr>
                  <a:t> by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must be </a:t>
                </a:r>
                <a:r>
                  <a:rPr lang="en-IN" sz="2400">
                    <a:solidFill>
                      <a:srgbClr val="111827"/>
                    </a:solidFill>
                    <a:latin typeface="Cambria Math" panose="02040503050406030204" pitchFamily="18" charset="0"/>
                  </a:rPr>
                  <a:t>$\{(a,a),(b,b),(c,c),(d,d),(a,b),(b,a),(b,c),(c,b),(b,d),(d,b),(a,c),(a,d),(c,d),(d,c),(c,a),(d,a)\}$</a:t>
                </a:r>
                <a:r>
                  <a:rPr sz="2400" b="0">
                    <a:solidFill>
                      <a:srgbClr val="111827"/>
                    </a:solidFill>
                    <a:latin typeface="Arial"/>
                  </a:rPr>
                  <a:t>: </a:t>
                </a:r>
                <a:r>
                  <a:rPr lang="en-IN" sz="2400">
                    <a:solidFill>
                      <a:srgbClr val="111827"/>
                    </a:solidFill>
                    <a:latin typeface="Cambria Math" panose="02040503050406030204" pitchFamily="18" charset="0"/>
                  </a:rPr>
                  <a:t>$16$</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t>
                </a:r>
                <a:r>
                  <a:rPr sz="2400" b="0">
                    <a:solidFill>
                      <a:srgbClr val="111827"/>
                    </a:solidFill>
                    <a:latin typeface="Arial"/>
                  </a:rPr>
                  <a:t> of these are already given, so </a:t>
                </a:r>
                <a:r>
                  <a:rPr lang="en-IN" sz="2400">
                    <a:solidFill>
                      <a:srgbClr val="111827"/>
                    </a:solidFill>
                    <a:latin typeface="Cambria Math" panose="02040503050406030204" pitchFamily="18" charset="0"/>
                  </a:rPr>
                  <a:t>$16-3=13$</a:t>
                </a:r>
                <a:r>
                  <a:rPr sz="2400" b="0">
                    <a:solidFill>
                      <a:srgbClr val="111827"/>
                    </a:solidFill>
                    <a:latin typeface="Arial"/>
                  </a:rPr>
                  <a:t> elements must be added.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13</a:t>
            </a:r>
            <a:endParaRPr sz="2800">
              <a:solidFill>
                <a:srgbClr val="15803D"/>
              </a:solidFill>
            </a:endParaRP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is the same as a partition into classes;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is related to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oMath>
                </a14:m>
                <a:r>
                  <a:rPr sz="2400" b="0">
                    <a:solidFill>
                      <a:srgbClr val="78350F"/>
                    </a:solidFill>
                    <a:latin typeface="Arial"/>
                  </a:rPr>
                  <a:t> so there is just one class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giving </a:t>
                </a:r>
                <a14:m>
                  <m:oMath xmlns:m="http://schemas.openxmlformats.org/officeDocument/2006/math">
                    <m:sSup>
                      <m:e>
                        <m:r>
                          <a:rPr lang="en-IN" sz="2400" i="1">
                            <a:solidFill>
                              <a:srgbClr val="78350F"/>
                            </a:solidFill>
                            <a:latin typeface="Cambria Math" panose="02040503050406030204" pitchFamily="18" charset="0"/>
                          </a:rPr>
                          <m:t>4</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pairs.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is the same as a partition into classes; </a:t>
                </a:r>
                <a:r>
                  <a:rPr lang="en-IN" sz="2400">
                    <a:solidFill>
                      <a:srgbClr val="78350F"/>
                    </a:solidFill>
                    <a:latin typeface="Cambria Math" panose="02040503050406030204" pitchFamily="18" charset="0"/>
                  </a:rPr>
                  <a:t>$b$</a:t>
                </a:r>
                <a:r>
                  <a:rPr sz="2400" b="0">
                    <a:solidFill>
                      <a:srgbClr val="78350F"/>
                    </a:solidFill>
                    <a:latin typeface="Arial"/>
                  </a:rPr>
                  <a:t> is related to </a:t>
                </a:r>
                <a:r>
                  <a:rPr lang="en-IN" sz="2400">
                    <a:solidFill>
                      <a:srgbClr val="78350F"/>
                    </a:solidFill>
                    <a:latin typeface="Cambria Math" panose="02040503050406030204" pitchFamily="18" charset="0"/>
                  </a:rPr>
                  <a:t>$a,c,d$</a:t>
                </a:r>
                <a:r>
                  <a:rPr sz="2400" b="0">
                    <a:solidFill>
                      <a:srgbClr val="78350F"/>
                    </a:solidFill>
                    <a:latin typeface="Arial"/>
                  </a:rPr>
                  <a:t> so there is just one class </a:t>
                </a:r>
                <a:r>
                  <a:rPr lang="en-IN" sz="2400">
                    <a:solidFill>
                      <a:srgbClr val="78350F"/>
                    </a:solidFill>
                    <a:latin typeface="Cambria Math" panose="02040503050406030204" pitchFamily="18" charset="0"/>
                  </a:rPr>
                  <a:t>$\{a,b,c,d\}$</a:t>
                </a:r>
                <a:r>
                  <a:rPr sz="2400" b="0">
                    <a:solidFill>
                      <a:srgbClr val="78350F"/>
                    </a:solidFill>
                    <a:latin typeface="Arial"/>
                  </a:rPr>
                  <a:t>, giving </a:t>
                </a:r>
                <a:r>
                  <a:rPr lang="en-IN" sz="2400">
                    <a:solidFill>
                      <a:srgbClr val="78350F"/>
                    </a:solidFill>
                    <a:latin typeface="Cambria Math" panose="02040503050406030204" pitchFamily="18" charset="0"/>
                  </a:rPr>
                  <a:t>$4^2$</a:t>
                </a:r>
                <a:r>
                  <a:rPr sz="2400" b="0">
                    <a:solidFill>
                      <a:srgbClr val="78350F"/>
                    </a:solidFill>
                    <a:latin typeface="Arial"/>
                  </a:rPr>
                  <a:t> pairs.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equivalence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lie in one equivalence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only equivalence relation with one class on 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-element set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pairs, so the minimal (and only) choice has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pairs.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equivalence relation containing </a:t>
                </a:r>
                <a:r>
                  <a:rPr lang="en-IN" sz="2400">
                    <a:solidFill>
                      <a:srgbClr val="111827"/>
                    </a:solidFill>
                    <a:latin typeface="Cambria Math" panose="02040503050406030204" pitchFamily="18" charset="0"/>
                  </a:rPr>
                  <a:t>$R$</a:t>
                </a:r>
                <a:r>
                  <a:rPr sz="2400" b="0">
                    <a:solidFill>
                      <a:srgbClr val="111827"/>
                    </a:solidFill>
                    <a:latin typeface="Arial"/>
                  </a:rPr>
                  <a:t> has </a:t>
                </a:r>
                <a:r>
                  <a:rPr lang="en-IN" sz="2400">
                    <a:solidFill>
                      <a:srgbClr val="111827"/>
                    </a:solidFill>
                    <a:latin typeface="Cambria Math" panose="02040503050406030204" pitchFamily="18" charset="0"/>
                  </a:rPr>
                  <a:t>$a\sim b$</a:t>
                </a:r>
                <a:r>
                  <a:rPr sz="2400" b="0">
                    <a:solidFill>
                      <a:srgbClr val="111827"/>
                    </a:solidFill>
                    <a:latin typeface="Arial"/>
                  </a:rPr>
                  <a:t>, </a:t>
                </a:r>
                <a:r>
                  <a:rPr lang="en-IN" sz="2400">
                    <a:solidFill>
                      <a:srgbClr val="111827"/>
                    </a:solidFill>
                    <a:latin typeface="Cambria Math" panose="02040503050406030204" pitchFamily="18" charset="0"/>
                  </a:rPr>
                  <a:t>$b\sim c$</a:t>
                </a:r>
                <a:r>
                  <a:rPr sz="2400" b="0">
                    <a:solidFill>
                      <a:srgbClr val="111827"/>
                    </a:solidFill>
                    <a:latin typeface="Arial"/>
                  </a:rPr>
                  <a:t> and </a:t>
                </a:r>
                <a:r>
                  <a:rPr lang="en-IN" sz="2400">
                    <a:solidFill>
                      <a:srgbClr val="111827"/>
                    </a:solidFill>
                    <a:latin typeface="Cambria Math" panose="02040503050406030204" pitchFamily="18" charset="0"/>
                  </a:rPr>
                  <a:t>$b\sim d$</a:t>
                </a:r>
                <a:r>
                  <a:rPr sz="2400" b="0">
                    <a:solidFill>
                      <a:srgbClr val="111827"/>
                    </a:solidFill>
                    <a:latin typeface="Arial"/>
                  </a:rPr>
                  <a:t>, so </a:t>
                </a:r>
                <a:r>
                  <a:rPr lang="en-IN" sz="2400">
                    <a:solidFill>
                      <a:srgbClr val="111827"/>
                    </a:solidFill>
                    <a:latin typeface="Cambria Math" panose="02040503050406030204" pitchFamily="18" charset="0"/>
                  </a:rPr>
                  <a:t>$a,b,c,d$</a:t>
                </a:r>
                <a:r>
                  <a:rPr sz="2400" b="0">
                    <a:solidFill>
                      <a:srgbClr val="111827"/>
                    </a:solidFill>
                    <a:latin typeface="Arial"/>
                  </a:rPr>
                  <a:t> lie in one equivalence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only equivalence relation with one class on a </a:t>
                </a:r>
                <a:r>
                  <a:rPr lang="en-IN" sz="2400">
                    <a:solidFill>
                      <a:srgbClr val="111827"/>
                    </a:solidFill>
                    <a:latin typeface="Cambria Math" panose="02040503050406030204" pitchFamily="18" charset="0"/>
                  </a:rPr>
                  <a:t>$4$</a:t>
                </a:r>
                <a:r>
                  <a:rPr sz="2400" b="0">
                    <a:solidFill>
                      <a:srgbClr val="111827"/>
                    </a:solidFill>
                    <a:latin typeface="Arial"/>
                  </a:rPr>
                  <a:t>-element set is </a:t>
                </a:r>
                <a:r>
                  <a:rPr lang="en-IN" sz="2400">
                    <a:solidFill>
                      <a:srgbClr val="111827"/>
                    </a:solidFill>
                    <a:latin typeface="Cambria Math" panose="02040503050406030204" pitchFamily="18" charset="0"/>
                  </a:rPr>
                  <a:t>$\{a,b,c,d\}\times\{a,b,c,d\}$</a:t>
                </a:r>
                <a:r>
                  <a:rPr sz="2400" b="0">
                    <a:solidFill>
                      <a:srgbClr val="111827"/>
                    </a:solidFill>
                    <a:latin typeface="Arial"/>
                  </a:rPr>
                  <a:t>, with </a:t>
                </a:r>
                <a:r>
                  <a:rPr lang="en-IN" sz="2400">
                    <a:solidFill>
                      <a:srgbClr val="111827"/>
                    </a:solidFill>
                    <a:latin typeface="Cambria Math" panose="02040503050406030204" pitchFamily="18" charset="0"/>
                  </a:rPr>
                  <a:t>$4^2=16$</a:t>
                </a:r>
                <a:r>
                  <a:rPr sz="2400" b="0">
                    <a:solidFill>
                      <a:srgbClr val="111827"/>
                    </a:solidFill>
                    <a:latin typeface="Arial"/>
                  </a:rPr>
                  <a:t> pairs, so the minimal (and only) choice has </a:t>
                </a:r>
                <a:r>
                  <a:rPr lang="en-IN" sz="2400">
                    <a:solidFill>
                      <a:srgbClr val="111827"/>
                    </a:solidFill>
                    <a:latin typeface="Cambria Math" panose="02040503050406030204" pitchFamily="18" charset="0"/>
                  </a:rPr>
                  <a:t>$16$</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already supplies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 so the number to be added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already supplies </a:t>
                </a:r>
                <a:r>
                  <a:rPr lang="en-IN" sz="2400">
                    <a:solidFill>
                      <a:srgbClr val="111827"/>
                    </a:solidFill>
                    <a:latin typeface="Cambria Math" panose="02040503050406030204" pitchFamily="18" charset="0"/>
                  </a:rPr>
                  <a:t>$3$</a:t>
                </a:r>
                <a:r>
                  <a:rPr sz="2400" b="0">
                    <a:solidFill>
                      <a:srgbClr val="111827"/>
                    </a:solidFill>
                    <a:latin typeface="Arial"/>
                  </a:rPr>
                  <a:t> pairs, so the number to be added is </a:t>
                </a:r>
                <a:r>
                  <a:rPr lang="en-IN" sz="2400">
                    <a:solidFill>
                      <a:srgbClr val="111827"/>
                    </a:solidFill>
                    <a:latin typeface="Cambria Math" panose="02040503050406030204" pitchFamily="18" charset="0"/>
                  </a:rPr>
                  <a:t>$16-3=13$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13</a:t>
            </a:r>
            <a:endParaRPr sz="2800">
              <a:solidFill>
                <a:srgbClr val="15803D"/>
              </a:solidFill>
            </a:endParaRP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equivalence relation on a set is the same as a partition of it into classes; a class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elements contributes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built from the connected components of the graph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(ignoring direction): size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so the number to add is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equivalence relations 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is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element in a component must also get its reflexive pair, including elements that appear in no pair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equivalence relation on a set is the same as a partition of it into classes; a class with </a:t>
                </a:r>
                <a:r>
                  <a:rPr lang="en-IN" sz="2400">
                    <a:solidFill>
                      <a:srgbClr val="111827"/>
                    </a:solidFill>
                    <a:latin typeface="Cambria Math" panose="02040503050406030204" pitchFamily="18" charset="0"/>
                  </a:rPr>
                  <a:t>$k$</a:t>
                </a:r>
                <a:r>
                  <a:rPr sz="2400" b="0">
                    <a:solidFill>
                      <a:srgbClr val="111827"/>
                    </a:solidFill>
                    <a:latin typeface="Arial"/>
                  </a:rPr>
                  <a:t> elements contributes </a:t>
                </a:r>
                <a:r>
                  <a:rPr lang="en-IN" sz="2400">
                    <a:solidFill>
                      <a:srgbClr val="111827"/>
                    </a:solidFill>
                    <a:latin typeface="Cambria Math" panose="02040503050406030204" pitchFamily="18" charset="0"/>
                  </a:rPr>
                  <a:t>$k^2$</a:t>
                </a:r>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r>
                  <a:rPr lang="en-IN" sz="2400">
                    <a:solidFill>
                      <a:srgbClr val="111827"/>
                    </a:solidFill>
                    <a:latin typeface="Cambria Math" panose="02040503050406030204" pitchFamily="18" charset="0"/>
                  </a:rPr>
                  <a:t>$R$</a:t>
                </a:r>
                <a:r>
                  <a:rPr sz="2400" b="0">
                    <a:solidFill>
                      <a:srgbClr val="111827"/>
                    </a:solidFill>
                    <a:latin typeface="Arial"/>
                  </a:rPr>
                  <a:t> is built from the connected components of the graph of </a:t>
                </a:r>
                <a:r>
                  <a:rPr lang="en-IN" sz="2400">
                    <a:solidFill>
                      <a:srgbClr val="111827"/>
                    </a:solidFill>
                    <a:latin typeface="Cambria Math" panose="02040503050406030204" pitchFamily="18" charset="0"/>
                  </a:rPr>
                  <a:t>$R$</a:t>
                </a:r>
                <a:r>
                  <a:rPr sz="2400" b="0">
                    <a:solidFill>
                      <a:srgbClr val="111827"/>
                    </a:solidFill>
                    <a:latin typeface="Arial"/>
                  </a:rPr>
                  <a:t> (ignoring direction): size </a:t>
                </a:r>
                <a:r>
                  <a:rPr lang="en-IN" sz="2400">
                    <a:solidFill>
                      <a:srgbClr val="111827"/>
                    </a:solidFill>
                    <a:latin typeface="Cambria Math" panose="02040503050406030204" pitchFamily="18" charset="0"/>
                  </a:rPr>
                  <a:t>$\sum k_i^2$</a:t>
                </a:r>
                <a:r>
                  <a:rPr sz="2400" b="0">
                    <a:solidFill>
                      <a:srgbClr val="111827"/>
                    </a:solidFill>
                    <a:latin typeface="Arial"/>
                  </a:rPr>
                  <a:t>, so the number to add is </a:t>
                </a:r>
                <a:r>
                  <a:rPr lang="en-IN" sz="2400">
                    <a:solidFill>
                      <a:srgbClr val="111827"/>
                    </a:solidFill>
                    <a:latin typeface="Cambria Math" panose="02040503050406030204" pitchFamily="18" charset="0"/>
                  </a:rPr>
                  <a:t>$\sum k_i^2-|R|$</a:t>
                </a:r>
                <a:r>
                  <a:rPr sz="2400" b="0">
                    <a:solidFill>
                      <a:srgbClr val="111827"/>
                    </a:solidFill>
                    <a:latin typeface="Arial"/>
                  </a:rPr>
                  <a:t> (here </a:t>
                </a:r>
                <a:r>
                  <a:rPr lang="en-IN" sz="2400">
                    <a:solidFill>
                      <a:srgbClr val="111827"/>
                    </a:solidFill>
                    <a:latin typeface="Cambria Math" panose="02040503050406030204" pitchFamily="18" charset="0"/>
                  </a:rPr>
                  <a:t>$16-3=13$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equivalence relations on an </a:t>
                </a:r>
                <a:r>
                  <a:rPr lang="en-IN" sz="2400">
                    <a:solidFill>
                      <a:srgbClr val="111827"/>
                    </a:solidFill>
                    <a:latin typeface="Cambria Math" panose="02040503050406030204" pitchFamily="18" charset="0"/>
                  </a:rPr>
                  <a:t>$n$</a:t>
                </a:r>
                <a:r>
                  <a:rPr sz="2400" b="0">
                    <a:solidFill>
                      <a:srgbClr val="111827"/>
                    </a:solidFill>
                    <a:latin typeface="Arial"/>
                  </a:rPr>
                  <a:t>-set is the Bell number </a:t>
                </a:r>
                <a:r>
                  <a:rPr lang="en-IN" sz="2400">
                    <a:solidFill>
                      <a:srgbClr val="111827"/>
                    </a:solidFill>
                    <a:latin typeface="Cambria Math" panose="02040503050406030204" pitchFamily="18" charset="0"/>
                  </a:rPr>
                  <a:t>$B_n$</a:t>
                </a:r>
                <a:r>
                  <a:rPr sz="2400" b="0">
                    <a:solidFill>
                      <a:srgbClr val="111827"/>
                    </a:solidFill>
                    <a:latin typeface="Arial"/>
                  </a:rPr>
                  <a:t> (</a:t>
                </a:r>
                <a:r>
                  <a:rPr lang="en-IN" sz="2400">
                    <a:solidFill>
                      <a:srgbClr val="111827"/>
                    </a:solidFill>
                    <a:latin typeface="Cambria Math" panose="02040503050406030204" pitchFamily="18" charset="0"/>
                  </a:rPr>
                  <a:t>$B_3=5$</a:t>
                </a:r>
                <a:r>
                  <a:rPr sz="2400" b="0">
                    <a:solidFill>
                      <a:srgbClr val="111827"/>
                    </a:solidFill>
                    <a:latin typeface="Arial"/>
                  </a:rPr>
                  <a:t>, </a:t>
                </a:r>
                <a:r>
                  <a:rPr lang="en-IN" sz="2400">
                    <a:solidFill>
                      <a:srgbClr val="111827"/>
                    </a:solidFill>
                    <a:latin typeface="Cambria Math" panose="02040503050406030204" pitchFamily="18" charset="0"/>
                  </a:rPr>
                  <a:t>$B_4=15$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element in a component must also get its reflexive pair, including elements that appear in no pair of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non-empty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that have the sum of all elements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$S=\{1,2,3,5,7,10,11\}$</a:t>
                </a:r>
                <a:r>
                  <a:rPr sz="2400" b="0">
                    <a:solidFill>
                      <a:srgbClr val="111827"/>
                    </a:solidFill>
                    <a:latin typeface="Arial"/>
                  </a:rPr>
                  <a:t>. The number of non-empty subsets of </a:t>
                </a:r>
                <a:r>
                  <a:rPr lang="en-IN" sz="2400">
                    <a:solidFill>
                      <a:srgbClr val="111827"/>
                    </a:solidFill>
                    <a:latin typeface="Cambria Math" panose="02040503050406030204" pitchFamily="18" charset="0"/>
                  </a:rPr>
                  <a:t>$S$</a:t>
                </a:r>
                <a:r>
                  <a:rPr sz="2400" b="0">
                    <a:solidFill>
                      <a:srgbClr val="111827"/>
                    </a:solidFill>
                    <a:latin typeface="Arial"/>
                  </a:rPr>
                  <a:t> that have the sum of all elements a multiple of </a:t>
                </a:r>
                <a:r>
                  <a:rPr lang="en-IN" sz="2400">
                    <a:solidFill>
                      <a:srgbClr val="111827"/>
                    </a:solidFill>
                    <a:latin typeface="Cambria Math" panose="02040503050406030204" pitchFamily="18" charset="0"/>
                  </a:rPr>
                  <a:t>$3$</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counting, Residue classes modulo 3</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Sort the elements by remainder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(one of type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oMath>
                </a14:m>
                <a:r>
                  <a:rPr sz="2400" b="0">
                    <a:solidFill>
                      <a:srgbClr val="78350F"/>
                    </a:solidFill>
                    <a:latin typeface="Arial"/>
                  </a:rPr>
                  <a:t>, three of type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three of type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count by size.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Sort the elements by remainder mod </a:t>
                </a:r>
                <a:r>
                  <a:rPr lang="en-IN" sz="2400">
                    <a:solidFill>
                      <a:srgbClr val="78350F"/>
                    </a:solidFill>
                    <a:latin typeface="Cambria Math" panose="02040503050406030204" pitchFamily="18" charset="0"/>
                  </a:rPr>
                  <a:t>$3$</a:t>
                </a:r>
                <a:r>
                  <a:rPr sz="2400" b="0">
                    <a:solidFill>
                      <a:srgbClr val="78350F"/>
                    </a:solidFill>
                    <a:latin typeface="Arial"/>
                  </a:rPr>
                  <a:t> (one of type </a:t>
                </a:r>
                <a:r>
                  <a:rPr lang="en-IN" sz="2400">
                    <a:solidFill>
                      <a:srgbClr val="78350F"/>
                    </a:solidFill>
                    <a:latin typeface="Cambria Math" panose="02040503050406030204" pitchFamily="18" charset="0"/>
                  </a:rPr>
                  <a:t>$3k$</a:t>
                </a:r>
                <a:r>
                  <a:rPr sz="2400" b="0">
                    <a:solidFill>
                      <a:srgbClr val="78350F"/>
                    </a:solidFill>
                    <a:latin typeface="Arial"/>
                  </a:rPr>
                  <a:t>, three of type </a:t>
                </a:r>
                <a:r>
                  <a:rPr lang="en-IN" sz="2400">
                    <a:solidFill>
                      <a:srgbClr val="78350F"/>
                    </a:solidFill>
                    <a:latin typeface="Cambria Math" panose="02040503050406030204" pitchFamily="18" charset="0"/>
                  </a:rPr>
                  <a:t>$3k+1$</a:t>
                </a:r>
                <a:r>
                  <a:rPr sz="2400" b="0">
                    <a:solidFill>
                      <a:srgbClr val="78350F"/>
                    </a:solidFill>
                    <a:latin typeface="Arial"/>
                  </a:rPr>
                  <a:t>, three of type </a:t>
                </a:r>
                <a:r>
                  <a:rPr lang="en-IN" sz="2400">
                    <a:solidFill>
                      <a:srgbClr val="78350F"/>
                    </a:solidFill>
                    <a:latin typeface="Cambria Math" panose="02040503050406030204" pitchFamily="18" charset="0"/>
                  </a:rPr>
                  <a:t>$3k+2$</a:t>
                </a:r>
                <a:r>
                  <a:rPr sz="2400" b="0">
                    <a:solidFill>
                      <a:srgbClr val="78350F"/>
                    </a:solidFill>
                    <a:latin typeface="Arial"/>
                  </a:rPr>
                  <a:t>) and count by size.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Remainders mod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type: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element);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type: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(three);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type: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(three).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element: the single set of type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one of type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one of type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elements: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each: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Remainders mod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$3k$</a:t>
                </a:r>
                <a:r>
                  <a:rPr sz="2400" b="0">
                    <a:solidFill>
                      <a:srgbClr val="111827"/>
                    </a:solidFill>
                    <a:latin typeface="Arial"/>
                  </a:rPr>
                  <a:t> type: </a:t>
                </a:r>
                <a:r>
                  <a:rPr lang="en-IN" sz="2400">
                    <a:solidFill>
                      <a:srgbClr val="111827"/>
                    </a:solidFill>
                    <a:latin typeface="Cambria Math" panose="02040503050406030204" pitchFamily="18" charset="0"/>
                  </a:rPr>
                  <a:t>$\{3\}$</a:t>
                </a:r>
                <a:r>
                  <a:rPr sz="2400" b="0">
                    <a:solidFill>
                      <a:srgbClr val="111827"/>
                    </a:solidFill>
                    <a:latin typeface="Arial"/>
                  </a:rPr>
                  <a:t> (one element); </a:t>
                </a:r>
                <a:r>
                  <a:rPr lang="en-IN" sz="2400">
                    <a:solidFill>
                      <a:srgbClr val="111827"/>
                    </a:solidFill>
                    <a:latin typeface="Cambria Math" panose="02040503050406030204" pitchFamily="18" charset="0"/>
                  </a:rPr>
                  <a:t>$3k+1$</a:t>
                </a:r>
                <a:r>
                  <a:rPr sz="2400" b="0">
                    <a:solidFill>
                      <a:srgbClr val="111827"/>
                    </a:solidFill>
                    <a:latin typeface="Arial"/>
                  </a:rPr>
                  <a:t> type: </a:t>
                </a:r>
                <a:r>
                  <a:rPr lang="en-IN" sz="2400">
                    <a:solidFill>
                      <a:srgbClr val="111827"/>
                    </a:solidFill>
                    <a:latin typeface="Cambria Math" panose="02040503050406030204" pitchFamily="18" charset="0"/>
                  </a:rPr>
                  <a:t>$\{1,7,10\}$</a:t>
                </a:r>
                <a:r>
                  <a:rPr sz="2400" b="0">
                    <a:solidFill>
                      <a:srgbClr val="111827"/>
                    </a:solidFill>
                    <a:latin typeface="Arial"/>
                  </a:rPr>
                  <a:t> (three); </a:t>
                </a:r>
                <a:r>
                  <a:rPr lang="en-IN" sz="2400">
                    <a:solidFill>
                      <a:srgbClr val="111827"/>
                    </a:solidFill>
                    <a:latin typeface="Cambria Math" panose="02040503050406030204" pitchFamily="18" charset="0"/>
                  </a:rPr>
                  <a:t>$3k+2$</a:t>
                </a:r>
                <a:r>
                  <a:rPr sz="2400" b="0">
                    <a:solidFill>
                      <a:srgbClr val="111827"/>
                    </a:solidFill>
                    <a:latin typeface="Arial"/>
                  </a:rPr>
                  <a:t> type: </a:t>
                </a:r>
                <a:r>
                  <a:rPr lang="en-IN" sz="2400">
                    <a:solidFill>
                      <a:srgbClr val="111827"/>
                    </a:solidFill>
                    <a:latin typeface="Cambria Math" panose="02040503050406030204" pitchFamily="18" charset="0"/>
                  </a:rPr>
                  <a:t>$\{2,5,11\}$</a:t>
                </a:r>
                <a:r>
                  <a:rPr sz="2400" b="0">
                    <a:solidFill>
                      <a:srgbClr val="111827"/>
                    </a:solidFill>
                    <a:latin typeface="Arial"/>
                  </a:rPr>
                  <a:t> (three).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a:t>
                </a:r>
                <a:r>
                  <a:rPr sz="2400" b="0">
                    <a:solidFill>
                      <a:srgbClr val="111827"/>
                    </a:solidFill>
                    <a:latin typeface="Arial"/>
                  </a:rPr>
                  <a:t> element: the single set of type </a:t>
                </a:r>
                <a:r>
                  <a:rPr lang="en-IN" sz="2400">
                    <a:solidFill>
                      <a:srgbClr val="111827"/>
                    </a:solidFill>
                    <a:latin typeface="Cambria Math" panose="02040503050406030204" pitchFamily="18" charset="0"/>
                  </a:rPr>
                  <a:t>$3k$</a:t>
                </a:r>
                <a:r>
                  <a:rPr sz="2400" b="0">
                    <a:solidFill>
                      <a:srgbClr val="111827"/>
                    </a:solidFill>
                    <a:latin typeface="Arial"/>
                  </a:rPr>
                  <a:t>, so </a:t>
                </a:r>
                <a:r>
                  <a:rPr lang="en-IN" sz="2400">
                    <a:solidFill>
                      <a:srgbClr val="111827"/>
                    </a:solidFill>
                    <a:latin typeface="Cambria Math" panose="02040503050406030204" pitchFamily="18" charset="0"/>
                  </a:rPr>
                  <a:t>$1$</a:t>
                </a:r>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t>
                </a:r>
                <a:r>
                  <a:rPr sz="2400" b="0">
                    <a:solidFill>
                      <a:srgbClr val="111827"/>
                    </a:solidFill>
                    <a:latin typeface="Arial"/>
                  </a:rPr>
                  <a:t> elements: one of type </a:t>
                </a:r>
                <a:r>
                  <a:rPr lang="en-IN" sz="2400">
                    <a:solidFill>
                      <a:srgbClr val="111827"/>
                    </a:solidFill>
                    <a:latin typeface="Cambria Math" panose="02040503050406030204" pitchFamily="18" charset="0"/>
                  </a:rPr>
                  <a:t>$3k+1$</a:t>
                </a:r>
                <a:r>
                  <a:rPr sz="2400" b="0">
                    <a:solidFill>
                      <a:srgbClr val="111827"/>
                    </a:solidFill>
                    <a:latin typeface="Arial"/>
                  </a:rPr>
                  <a:t> and one of type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$3\times3=9$</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t>
                </a:r>
                <a:r>
                  <a:rPr sz="2400" b="0">
                    <a:solidFill>
                      <a:srgbClr val="111827"/>
                    </a:solidFill>
                    <a:latin typeface="Arial"/>
                  </a:rPr>
                  <a:t> elements: </a:t>
                </a:r>
                <a:r>
                  <a:rPr lang="en-IN" sz="2400">
                    <a:solidFill>
                      <a:srgbClr val="111827"/>
                    </a:solidFill>
                    <a:latin typeface="Cambria Math" panose="02040503050406030204" pitchFamily="18" charset="0"/>
                  </a:rPr>
                  <a:t>$\{3k,3k+1,3k+2\}$</a:t>
                </a:r>
                <a:r>
                  <a:rPr sz="2400" b="0">
                    <a:solidFill>
                      <a:srgbClr val="111827"/>
                    </a:solidFill>
                    <a:latin typeface="Arial"/>
                  </a:rPr>
                  <a:t> one each: </a:t>
                </a:r>
                <a:r>
                  <a:rPr lang="en-IN" sz="2400">
                    <a:solidFill>
                      <a:srgbClr val="111827"/>
                    </a:solidFill>
                    <a:latin typeface="Cambria Math" panose="02040503050406030204" pitchFamily="18" charset="0"/>
                  </a:rPr>
                  <a:t>$9$</a:t>
                </a:r>
                <a:r>
                  <a:rPr sz="2400" b="0">
                    <a:solidFill>
                      <a:srgbClr val="111827"/>
                    </a:solidFill>
                    <a:latin typeface="Arial"/>
                  </a:rPr>
                  <a:t>; three of </a:t>
                </a:r>
                <a:r>
                  <a:rPr lang="en-IN" sz="2400">
                    <a:solidFill>
                      <a:srgbClr val="111827"/>
                    </a:solidFill>
                    <a:latin typeface="Cambria Math" panose="02040503050406030204" pitchFamily="18" charset="0"/>
                  </a:rPr>
                  <a:t>$3k+1$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three of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Total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with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with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two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two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with two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two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elements: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three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elements: the set itself (sum </a:t>
                </a:r>
                <a14:m>
                  <m:oMath xmlns:m="http://schemas.openxmlformats.org/officeDocument/2006/math">
                    <m:r>
                      <a:rPr lang="en-IN" sz="2400" i="1">
                        <a:solidFill>
                          <a:srgbClr val="111827"/>
                        </a:solidFill>
                        <a:latin typeface="Cambria Math" panose="02040503050406030204" pitchFamily="18" charset="0"/>
                      </a:rPr>
                      <m:t>39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t>
                </a:r>
                <a:r>
                  <a:rPr sz="2400" b="0">
                    <a:solidFill>
                      <a:srgbClr val="111827"/>
                    </a:solidFill>
                    <a:latin typeface="Arial"/>
                  </a:rPr>
                  <a:t> elements: </a:t>
                </a:r>
                <a:r>
                  <a:rPr lang="en-IN" sz="2400">
                    <a:solidFill>
                      <a:srgbClr val="111827"/>
                    </a:solidFill>
                    <a:latin typeface="Cambria Math" panose="02040503050406030204" pitchFamily="18" charset="0"/>
                  </a:rPr>
                  <a:t>$3k$</a:t>
                </a:r>
                <a:r>
                  <a:rPr sz="2400" b="0">
                    <a:solidFill>
                      <a:srgbClr val="111827"/>
                    </a:solidFill>
                    <a:latin typeface="Arial"/>
                  </a:rPr>
                  <a:t> with three of </a:t>
                </a:r>
                <a:r>
                  <a:rPr lang="en-IN" sz="2400">
                    <a:solidFill>
                      <a:srgbClr val="111827"/>
                    </a:solidFill>
                    <a:latin typeface="Cambria Math" panose="02040503050406030204" pitchFamily="18" charset="0"/>
                  </a:rPr>
                  <a:t>$3k+1$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$3k$</a:t>
                </a:r>
                <a:r>
                  <a:rPr sz="2400" b="0">
                    <a:solidFill>
                      <a:srgbClr val="111827"/>
                    </a:solidFill>
                    <a:latin typeface="Arial"/>
                  </a:rPr>
                  <a:t> with three of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two of </a:t>
                </a:r>
                <a:r>
                  <a:rPr lang="en-IN" sz="2400">
                    <a:solidFill>
                      <a:srgbClr val="111827"/>
                    </a:solidFill>
                    <a:latin typeface="Cambria Math" panose="02040503050406030204" pitchFamily="18" charset="0"/>
                  </a:rPr>
                  <a:t>$3k+1$</a:t>
                </a:r>
                <a:r>
                  <a:rPr sz="2400" b="0">
                    <a:solidFill>
                      <a:srgbClr val="111827"/>
                    </a:solidFill>
                    <a:latin typeface="Arial"/>
                  </a:rPr>
                  <a:t> and two of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$\binom32\binom32=9$</a:t>
                </a:r>
                <a:r>
                  <a:rPr sz="2400" b="0">
                    <a:solidFill>
                      <a:srgbClr val="111827"/>
                    </a:solidFill>
                    <a:latin typeface="Arial"/>
                  </a:rPr>
                  <a:t>. Total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a:t>
                </a:r>
                <a:r>
                  <a:rPr sz="2400" b="0">
                    <a:solidFill>
                      <a:srgbClr val="111827"/>
                    </a:solidFill>
                    <a:latin typeface="Arial"/>
                  </a:rPr>
                  <a:t> elements: </a:t>
                </a:r>
                <a:r>
                  <a:rPr lang="en-IN" sz="2400">
                    <a:solidFill>
                      <a:srgbClr val="111827"/>
                    </a:solidFill>
                    <a:latin typeface="Cambria Math" panose="02040503050406030204" pitchFamily="18" charset="0"/>
                  </a:rPr>
                  <a:t>$3k$</a:t>
                </a:r>
                <a:r>
                  <a:rPr sz="2400" b="0">
                    <a:solidFill>
                      <a:srgbClr val="111827"/>
                    </a:solidFill>
                    <a:latin typeface="Arial"/>
                  </a:rPr>
                  <a:t> with two of </a:t>
                </a:r>
                <a:r>
                  <a:rPr lang="en-IN" sz="2400">
                    <a:solidFill>
                      <a:srgbClr val="111827"/>
                    </a:solidFill>
                    <a:latin typeface="Cambria Math" panose="02040503050406030204" pitchFamily="18" charset="0"/>
                  </a:rPr>
                  <a:t>$3k+1$</a:t>
                </a:r>
                <a:r>
                  <a:rPr sz="2400" b="0">
                    <a:solidFill>
                      <a:srgbClr val="111827"/>
                    </a:solidFill>
                    <a:latin typeface="Arial"/>
                  </a:rPr>
                  <a:t> and two of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a:t>
                </a:r>
                <a:r>
                  <a:rPr sz="2400" b="0">
                    <a:solidFill>
                      <a:srgbClr val="111827"/>
                    </a:solidFill>
                    <a:latin typeface="Arial"/>
                  </a:rPr>
                  <a:t> elements: three of </a:t>
                </a:r>
                <a:r>
                  <a:rPr lang="en-IN" sz="2400">
                    <a:solidFill>
                      <a:srgbClr val="111827"/>
                    </a:solidFill>
                    <a:latin typeface="Cambria Math" panose="02040503050406030204" pitchFamily="18" charset="0"/>
                  </a:rPr>
                  <a:t>$3k+1$</a:t>
                </a:r>
                <a:r>
                  <a:rPr sz="2400" b="0">
                    <a:solidFill>
                      <a:srgbClr val="111827"/>
                    </a:solidFill>
                    <a:latin typeface="Arial"/>
                  </a:rPr>
                  <a:t> and three of </a:t>
                </a:r>
                <a:r>
                  <a:rPr lang="en-IN" sz="2400">
                    <a:solidFill>
                      <a:srgbClr val="111827"/>
                    </a:solidFill>
                    <a:latin typeface="Cambria Math" panose="02040503050406030204" pitchFamily="18" charset="0"/>
                  </a:rPr>
                  <a:t>$3k+2$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elements: the set itself (sum </a:t>
                </a:r>
                <a:r>
                  <a:rPr lang="en-IN" sz="2400">
                    <a:solidFill>
                      <a:srgbClr val="111827"/>
                    </a:solidFill>
                    <a:latin typeface="Cambria Math" panose="02040503050406030204" pitchFamily="18" charset="0"/>
                  </a:rPr>
                  <a:t>$39$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$=1+9+11+11+9+1+1=43$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43</a:t>
            </a:r>
            <a:endParaRPr sz="2800">
              <a:solidFill>
                <a:srgbClr val="15803D"/>
              </a:solidFill>
            </a:endParaRP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Roots-of-unity filter: the number of subsets with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2</m:t>
                        </m:r>
                      </m:sup>
                      <m:e>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m:t>
                            </m:r>
                          </m: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𝑘</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𝑖</m:t>
                                        </m:r>
                                      </m:sub>
                                    </m:sSub>
                                  </m:sup>
                                </m:sSup>
                              </m:e>
                            </m:d>
                          </m:e>
                        </m:nary>
                      </m:e>
                    </m:nary>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Roots-of-unity filter: the number of subsets with sum </a:t>
                </a:r>
                <a:r>
                  <a:rPr lang="en-IN" sz="2400">
                    <a:solidFill>
                      <a:srgbClr val="78350F"/>
                    </a:solidFill>
                    <a:latin typeface="Cambria Math" panose="02040503050406030204" pitchFamily="18" charset="0"/>
                  </a:rPr>
                  <a:t>$\equiv0\pmod3$</a:t>
                </a:r>
                <a:r>
                  <a:rPr sz="2400" b="0">
                    <a:solidFill>
                      <a:srgbClr val="78350F"/>
                    </a:solidFill>
                    <a:latin typeface="Arial"/>
                  </a:rPr>
                  <a:t> is </a:t>
                </a:r>
                <a:r>
                  <a:rPr lang="en-IN" sz="2400">
                    <a:solidFill>
                      <a:srgbClr val="78350F"/>
                    </a:solidFill>
                    <a:latin typeface="Cambria Math" panose="02040503050406030204" pitchFamily="18" charset="0"/>
                  </a:rPr>
                  <a:t>$\frac13\sum_{k=0}^{2}\prod_i\left(1+\omega^{ka_i}\right)$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The number of subsets (including empty)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up>
                        </m:sSup>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product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one element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factor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three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three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$\omega=e^{2\pi i/3}$</a:t>
                </a:r>
                <a:r>
                  <a:rPr sz="2400" b="0">
                    <a:solidFill>
                      <a:srgbClr val="111827"/>
                    </a:solidFill>
                    <a:latin typeface="Arial"/>
                  </a:rPr>
                  <a:t>. The number of subsets (including empty) with sum </a:t>
                </a:r>
                <a:r>
                  <a:rPr lang="en-IN" sz="2400">
                    <a:solidFill>
                      <a:srgbClr val="111827"/>
                    </a:solidFill>
                    <a:latin typeface="Cambria Math" panose="02040503050406030204" pitchFamily="18" charset="0"/>
                  </a:rPr>
                  <a:t>$\equiv0\pmod3$</a:t>
                </a:r>
                <a:r>
                  <a:rPr sz="2400" b="0">
                    <a:solidFill>
                      <a:srgbClr val="111827"/>
                    </a:solidFill>
                    <a:latin typeface="Arial"/>
                  </a:rPr>
                  <a:t> is </a:t>
                </a:r>
                <a:r>
                  <a:rPr lang="en-IN" sz="2400">
                    <a:solidFill>
                      <a:srgbClr val="111827"/>
                    </a:solidFill>
                    <a:latin typeface="Cambria Math" panose="02040503050406030204" pitchFamily="18" charset="0"/>
                  </a:rPr>
                  <a:t>$N=\frac13\left[\prod_i(1+1)+\prod_i(1+\omega^{a_i})+\prod_i(1+\omega^{2a_i})\right]$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product is </a:t>
                </a:r>
                <a:r>
                  <a:rPr lang="en-IN" sz="2400">
                    <a:solidFill>
                      <a:srgbClr val="111827"/>
                    </a:solidFill>
                    <a:latin typeface="Cambria Math" panose="02040503050406030204" pitchFamily="18" charset="0"/>
                  </a:rPr>
                  <a:t>$2^7=128$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one element </a:t>
                </a:r>
                <a:r>
                  <a:rPr lang="en-IN" sz="2400">
                    <a:solidFill>
                      <a:srgbClr val="111827"/>
                    </a:solidFill>
                    <a:latin typeface="Cambria Math" panose="02040503050406030204" pitchFamily="18" charset="0"/>
                  </a:rPr>
                  <a:t>$\equiv0$</a:t>
                </a:r>
                <a:r>
                  <a:rPr sz="2400" b="0">
                    <a:solidFill>
                      <a:srgbClr val="111827"/>
                    </a:solidFill>
                    <a:latin typeface="Arial"/>
                  </a:rPr>
                  <a:t> gives factor </a:t>
                </a:r>
                <a:r>
                  <a:rPr lang="en-IN" sz="2400">
                    <a:solidFill>
                      <a:srgbClr val="111827"/>
                    </a:solidFill>
                    <a:latin typeface="Cambria Math" panose="02040503050406030204" pitchFamily="18" charset="0"/>
                  </a:rPr>
                  <a:t>$2$</a:t>
                </a:r>
                <a:r>
                  <a:rPr sz="2400" b="0">
                    <a:solidFill>
                      <a:srgbClr val="111827"/>
                    </a:solidFill>
                    <a:latin typeface="Arial"/>
                  </a:rPr>
                  <a:t>; three </a:t>
                </a:r>
                <a:r>
                  <a:rPr lang="en-IN" sz="2400">
                    <a:solidFill>
                      <a:srgbClr val="111827"/>
                    </a:solidFill>
                    <a:latin typeface="Cambria Math" panose="02040503050406030204" pitchFamily="18" charset="0"/>
                  </a:rPr>
                  <a:t>$\equiv1$</a:t>
                </a:r>
                <a:r>
                  <a:rPr sz="2400" b="0">
                    <a:solidFill>
                      <a:srgbClr val="111827"/>
                    </a:solidFill>
                    <a:latin typeface="Arial"/>
                  </a:rPr>
                  <a:t> give </a:t>
                </a:r>
                <a:r>
                  <a:rPr lang="en-IN" sz="2400">
                    <a:solidFill>
                      <a:srgbClr val="111827"/>
                    </a:solidFill>
                    <a:latin typeface="Cambria Math" panose="02040503050406030204" pitchFamily="18" charset="0"/>
                  </a:rPr>
                  <a:t>$(1+\omega)^3$</a:t>
                </a:r>
                <a:r>
                  <a:rPr sz="2400" b="0">
                    <a:solidFill>
                      <a:srgbClr val="111827"/>
                    </a:solidFill>
                    <a:latin typeface="Arial"/>
                  </a:rPr>
                  <a:t>; three </a:t>
                </a:r>
                <a:r>
                  <a:rPr lang="en-IN" sz="2400">
                    <a:solidFill>
                      <a:srgbClr val="111827"/>
                    </a:solidFill>
                    <a:latin typeface="Cambria Math" panose="02040503050406030204" pitchFamily="18" charset="0"/>
                  </a:rPr>
                  <a:t>$\equiv2$</a:t>
                </a:r>
                <a:r>
                  <a:rPr sz="2400" b="0">
                    <a:solidFill>
                      <a:srgbClr val="111827"/>
                    </a:solidFill>
                    <a:latin typeface="Arial"/>
                  </a:rPr>
                  <a:t> give </a:t>
                </a:r>
                <a:r>
                  <a:rPr lang="en-IN" sz="2400">
                    <a:solidFill>
                      <a:srgbClr val="111827"/>
                    </a:solidFill>
                    <a:latin typeface="Cambria Math" panose="02040503050406030204" pitchFamily="18" charset="0"/>
                  </a:rPr>
                  <a:t>$(1+\omega^2)^3$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product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product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place of </a:t>
                </a:r>
                <a14:m>
                  <m:oMath xmlns:m="http://schemas.openxmlformats.org/officeDocument/2006/math">
                    <m:r>
                      <a:rPr lang="en-IN" sz="2400" i="1">
                        <a:solidFill>
                          <a:srgbClr val="111827"/>
                        </a:solidFill>
                        <a:latin typeface="Cambria Math" panose="02040503050406030204" pitchFamily="18" charset="0"/>
                      </a:rPr>
                      <m:t>ω</m:t>
                    </m:r>
                  </m:oMath>
                </a14:m>
                <a:r>
                  <a:rPr sz="2400" b="0">
                    <a:solidFill>
                      <a:srgbClr val="111827"/>
                    </a:solidFill>
                    <a:latin typeface="Arial"/>
                  </a:rPr>
                  <a:t>) is its conjugate, also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including the empty set. Removing it, the answer is </a:t>
                </a:r>
                <a14:m>
                  <m:oMath xmlns:m="http://schemas.openxmlformats.org/officeDocument/2006/math">
                    <m:r>
                      <a:rPr lang="en-IN" sz="2400" i="1">
                        <a:solidFill>
                          <a:srgbClr val="111827"/>
                        </a:solidFill>
                        <a:latin typeface="Cambria Math" panose="02040503050406030204" pitchFamily="18" charset="0"/>
                      </a:rPr>
                      <m:t>43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$1+\omega=-\omega^2$</a:t>
                </a:r>
                <a:r>
                  <a:rPr sz="2400" b="0">
                    <a:solidFill>
                      <a:srgbClr val="111827"/>
                    </a:solidFill>
                    <a:latin typeface="Arial"/>
                  </a:rPr>
                  <a:t> and </a:t>
                </a:r>
                <a:r>
                  <a:rPr lang="en-IN" sz="2400">
                    <a:solidFill>
                      <a:srgbClr val="111827"/>
                    </a:solidFill>
                    <a:latin typeface="Cambria Math" panose="02040503050406030204" pitchFamily="18" charset="0"/>
                  </a:rPr>
                  <a:t>$1+\omega^2=-\omega$</a:t>
                </a:r>
                <a:r>
                  <a:rPr sz="2400" b="0">
                    <a:solidFill>
                      <a:srgbClr val="111827"/>
                    </a:solidFill>
                    <a:latin typeface="Arial"/>
                  </a:rPr>
                  <a:t>, so </a:t>
                </a:r>
                <a:r>
                  <a:rPr lang="en-IN" sz="2400">
                    <a:solidFill>
                      <a:srgbClr val="111827"/>
                    </a:solidFill>
                    <a:latin typeface="Cambria Math" panose="02040503050406030204" pitchFamily="18" charset="0"/>
                  </a:rPr>
                  <a:t>$(1+\omega)^3=-1$</a:t>
                </a:r>
                <a:r>
                  <a:rPr sz="2400" b="0">
                    <a:solidFill>
                      <a:srgbClr val="111827"/>
                    </a:solidFill>
                    <a:latin typeface="Arial"/>
                  </a:rPr>
                  <a:t> and </a:t>
                </a:r>
                <a:r>
                  <a:rPr lang="en-IN" sz="2400">
                    <a:solidFill>
                      <a:srgbClr val="111827"/>
                    </a:solidFill>
                    <a:latin typeface="Cambria Math" panose="02040503050406030204" pitchFamily="18" charset="0"/>
                  </a:rPr>
                  <a:t>$(1+\omega^2)^3=-1$</a:t>
                </a:r>
                <a:r>
                  <a:rPr sz="2400" b="0">
                    <a:solidFill>
                      <a:srgbClr val="111827"/>
                    </a:solidFill>
                    <a:latin typeface="Arial"/>
                  </a:rPr>
                  <a:t>. The product is </a:t>
                </a:r>
                <a:r>
                  <a:rPr lang="en-IN" sz="2400">
                    <a:solidFill>
                      <a:srgbClr val="111827"/>
                    </a:solidFill>
                    <a:latin typeface="Cambria Math" panose="02040503050406030204" pitchFamily="18" charset="0"/>
                  </a:rPr>
                  <a:t>$2\cdot(-1)(-1)=2$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product (</a:t>
                </a:r>
                <a:r>
                  <a:rPr lang="en-IN" sz="2400">
                    <a:solidFill>
                      <a:srgbClr val="111827"/>
                    </a:solidFill>
                    <a:latin typeface="Cambria Math" panose="02040503050406030204" pitchFamily="18" charset="0"/>
                  </a:rPr>
                  <a:t>$\omega^2$</a:t>
                </a:r>
                <a:r>
                  <a:rPr sz="2400" b="0">
                    <a:solidFill>
                      <a:srgbClr val="111827"/>
                    </a:solidFill>
                    <a:latin typeface="Arial"/>
                  </a:rPr>
                  <a:t> in place of </a:t>
                </a:r>
                <a:r>
                  <a:rPr lang="en-IN" sz="2400">
                    <a:solidFill>
                      <a:srgbClr val="111827"/>
                    </a:solidFill>
                    <a:latin typeface="Cambria Math" panose="02040503050406030204" pitchFamily="18" charset="0"/>
                  </a:rPr>
                  <a:t>$\omega$</a:t>
                </a:r>
                <a:r>
                  <a:rPr sz="2400" b="0">
                    <a:solidFill>
                      <a:srgbClr val="111827"/>
                    </a:solidFill>
                    <a:latin typeface="Arial"/>
                  </a:rPr>
                  <a:t>) is its conjugate, also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$N=\frac{128+2+2}{3}=44$</a:t>
                </a:r>
                <a:r>
                  <a:rPr sz="2400" b="0">
                    <a:solidFill>
                      <a:srgbClr val="111827"/>
                    </a:solidFill>
                    <a:latin typeface="Arial"/>
                  </a:rPr>
                  <a:t>, including the empty set. Removing it, the answer is </a:t>
                </a:r>
                <a:r>
                  <a:rPr lang="en-IN" sz="2400">
                    <a:solidFill>
                      <a:srgbClr val="111827"/>
                    </a:solidFill>
                    <a:latin typeface="Cambria Math" panose="02040503050406030204" pitchFamily="18" charset="0"/>
                  </a:rPr>
                  <a:t>$43$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43</a:t>
            </a:r>
            <a:endParaRPr sz="2800">
              <a:solidFill>
                <a:srgbClr val="15803D"/>
              </a:solidFill>
            </a:endParaRP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Roots-of-unity filter: the number of subsets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𝑘</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(empty set included);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divisible by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never affect the residue: they contribute a free factor </a:t>
                </a:r>
                <a14:m>
                  <m:oMath xmlns:m="http://schemas.openxmlformats.org/officeDocument/2006/math">
                    <m:sSup>
                      <m:e>
                        <m:r>
                          <a:rPr lang="en-IN" sz="2400" i="1">
                            <a:solidFill>
                              <a:srgbClr val="111827"/>
                            </a:solidFill>
                            <a:latin typeface="Cambria Math" panose="02040503050406030204" pitchFamily="18" charset="0"/>
                          </a:rPr>
                          <m:t>2</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counts subsets of the six non-multiples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elements of residue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of residue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subtract the empty set when the question asks for non-empty subsets.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Roots-of-unity filter: the number of subsets of </a:t>
                </a:r>
                <a:r>
                  <a:rPr lang="en-IN" sz="2400">
                    <a:solidFill>
                      <a:srgbClr val="111827"/>
                    </a:solidFill>
                    <a:latin typeface="Cambria Math" panose="02040503050406030204" pitchFamily="18" charset="0"/>
                  </a:rPr>
                  <a:t>$\{a_1,\ldots,a_n\}$</a:t>
                </a:r>
                <a:r>
                  <a:rPr sz="2400" b="0">
                    <a:solidFill>
                      <a:srgbClr val="111827"/>
                    </a:solidFill>
                    <a:latin typeface="Arial"/>
                  </a:rPr>
                  <a:t> with sum </a:t>
                </a:r>
                <a:r>
                  <a:rPr lang="en-IN" sz="2400">
                    <a:solidFill>
                      <a:srgbClr val="111827"/>
                    </a:solidFill>
                    <a:latin typeface="Cambria Math" panose="02040503050406030204" pitchFamily="18" charset="0"/>
                  </a:rPr>
                  <a:t>$\equiv0\pmod m$</a:t>
                </a:r>
                <a:r>
                  <a:rPr sz="2400" b="0">
                    <a:solidFill>
                      <a:srgbClr val="111827"/>
                    </a:solidFill>
                    <a:latin typeface="Arial"/>
                  </a:rPr>
                  <a:t> is </a:t>
                </a:r>
                <a:r>
                  <a:rPr lang="en-IN" sz="2400">
                    <a:solidFill>
                      <a:srgbClr val="111827"/>
                    </a:solidFill>
                    <a:latin typeface="Cambria Math" panose="02040503050406030204" pitchFamily="18" charset="0"/>
                  </a:rPr>
                  <a:t>$\frac1m\sum_{k=0}^{m-1}\prod_i(1+\omega^{ka_i})$</a:t>
                </a:r>
                <a:r>
                  <a:rPr sz="2400" b="0">
                    <a:solidFill>
                      <a:srgbClr val="111827"/>
                    </a:solidFill>
                    <a:latin typeface="Arial"/>
                  </a:rPr>
                  <a:t> (empty set included); here </a:t>
                </a:r>
                <a:r>
                  <a:rPr lang="en-IN" sz="2400">
                    <a:solidFill>
                      <a:srgbClr val="111827"/>
                    </a:solidFill>
                    <a:latin typeface="Cambria Math" panose="02040503050406030204" pitchFamily="18" charset="0"/>
                  </a:rPr>
                  <a:t>$\frac{128+2+2}{3}=44$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divisible by </a:t>
                </a:r>
                <a:r>
                  <a:rPr lang="en-IN" sz="2400">
                    <a:solidFill>
                      <a:srgbClr val="111827"/>
                    </a:solidFill>
                    <a:latin typeface="Cambria Math" panose="02040503050406030204" pitchFamily="18" charset="0"/>
                  </a:rPr>
                  <a:t>$m$</a:t>
                </a:r>
                <a:r>
                  <a:rPr sz="2400" b="0">
                    <a:solidFill>
                      <a:srgbClr val="111827"/>
                    </a:solidFill>
                    <a:latin typeface="Arial"/>
                  </a:rPr>
                  <a:t> never affect the residue: they contribute a free factor </a:t>
                </a:r>
                <a:r>
                  <a:rPr lang="en-IN" sz="2400">
                    <a:solidFill>
                      <a:srgbClr val="111827"/>
                    </a:solidFill>
                    <a:latin typeface="Cambria Math" panose="02040503050406030204" pitchFamily="18" charset="0"/>
                  </a:rPr>
                  <a:t>$2^{n_0}$</a:t>
                </a:r>
                <a:r>
                  <a:rPr sz="2400" b="0">
                    <a:solidFill>
                      <a:srgbClr val="111827"/>
                    </a:solidFill>
                    <a:latin typeface="Arial"/>
                  </a:rPr>
                  <a:t>. Here </a:t>
                </a:r>
                <a:r>
                  <a:rPr lang="en-IN" sz="2400">
                    <a:solidFill>
                      <a:srgbClr val="111827"/>
                    </a:solidFill>
                    <a:latin typeface="Cambria Math" panose="02040503050406030204" pitchFamily="18" charset="0"/>
                  </a:rPr>
                  <a:t>$2\times22=44$</a:t>
                </a:r>
                <a:r>
                  <a:rPr sz="2400" b="0">
                    <a:solidFill>
                      <a:srgbClr val="111827"/>
                    </a:solidFill>
                    <a:latin typeface="Arial"/>
                  </a:rPr>
                  <a:t> where </a:t>
                </a:r>
                <a:r>
                  <a:rPr lang="en-IN" sz="2400">
                    <a:solidFill>
                      <a:srgbClr val="111827"/>
                    </a:solidFill>
                    <a:latin typeface="Cambria Math" panose="02040503050406030204" pitchFamily="18" charset="0"/>
                  </a:rPr>
                  <a:t>$22$</a:t>
                </a:r>
                <a:r>
                  <a:rPr sz="2400" b="0">
                    <a:solidFill>
                      <a:srgbClr val="111827"/>
                    </a:solidFill>
                    <a:latin typeface="Arial"/>
                  </a:rPr>
                  <a:t> counts subsets of the six non-multiples of </a:t>
                </a:r>
                <a:r>
                  <a:rPr lang="en-IN" sz="2400">
                    <a:solidFill>
                      <a:srgbClr val="111827"/>
                    </a:solidFill>
                    <a:latin typeface="Cambria Math" panose="02040503050406030204" pitchFamily="18" charset="0"/>
                  </a:rPr>
                  <a:t>$3$</a:t>
                </a:r>
                <a:r>
                  <a:rPr sz="2400" b="0">
                    <a:solidFill>
                      <a:srgbClr val="111827"/>
                    </a:solidFill>
                    <a:latin typeface="Arial"/>
                  </a:rPr>
                  <a:t> with sum </a:t>
                </a:r>
                <a:r>
                  <a:rPr lang="en-IN" sz="2400">
                    <a:solidFill>
                      <a:srgbClr val="111827"/>
                    </a:solidFill>
                    <a:latin typeface="Cambria Math" panose="02040503050406030204" pitchFamily="18" charset="0"/>
                  </a:rPr>
                  <a:t>$\equiv0$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$n_1$</a:t>
                </a:r>
                <a:r>
                  <a:rPr sz="2400" b="0">
                    <a:solidFill>
                      <a:srgbClr val="111827"/>
                    </a:solidFill>
                    <a:latin typeface="Arial"/>
                  </a:rPr>
                  <a:t> elements of residue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$n_2$</a:t>
                </a:r>
                <a:r>
                  <a:rPr sz="2400" b="0">
                    <a:solidFill>
                      <a:srgbClr val="111827"/>
                    </a:solidFill>
                    <a:latin typeface="Arial"/>
                  </a:rPr>
                  <a:t> of residue </a:t>
                </a:r>
                <a:r>
                  <a:rPr lang="en-IN" sz="2400">
                    <a:solidFill>
                      <a:srgbClr val="111827"/>
                    </a:solidFill>
                    <a:latin typeface="Cambria Math" panose="02040503050406030204" pitchFamily="18" charset="0"/>
                  </a:rPr>
                  <a:t>$2$</a:t>
                </a:r>
                <a:r>
                  <a:rPr sz="2400" b="0">
                    <a:solidFill>
                      <a:srgbClr val="111827"/>
                    </a:solidFill>
                    <a:latin typeface="Arial"/>
                  </a:rPr>
                  <a:t>, choose </a:t>
                </a:r>
                <a:r>
                  <a:rPr lang="en-IN" sz="2400">
                    <a:solidFill>
                      <a:srgbClr val="111827"/>
                    </a:solidFill>
                    <a:latin typeface="Cambria Math" panose="02040503050406030204" pitchFamily="18" charset="0"/>
                  </a:rPr>
                  <a:t>$i$</a:t>
                </a:r>
                <a:r>
                  <a:rPr sz="2400" b="0">
                    <a:solidFill>
                      <a:srgbClr val="111827"/>
                    </a:solidFill>
                    <a:latin typeface="Arial"/>
                  </a:rPr>
                  <a:t> and </a:t>
                </a:r>
                <a:r>
                  <a:rPr lang="en-IN" sz="2400">
                    <a:solidFill>
                      <a:srgbClr val="111827"/>
                    </a:solidFill>
                    <a:latin typeface="Cambria Math" panose="02040503050406030204" pitchFamily="18" charset="0"/>
                  </a:rPr>
                  <a:t>$j$</a:t>
                </a:r>
                <a:r>
                  <a:rPr sz="2400" b="0">
                    <a:solidFill>
                      <a:srgbClr val="111827"/>
                    </a:solidFill>
                    <a:latin typeface="Arial"/>
                  </a:rPr>
                  <a:t> with </a:t>
                </a:r>
                <a:r>
                  <a:rPr lang="en-IN" sz="2400">
                    <a:solidFill>
                      <a:srgbClr val="111827"/>
                    </a:solidFill>
                    <a:latin typeface="Cambria Math" panose="02040503050406030204" pitchFamily="18" charset="0"/>
                  </a:rPr>
                  <a:t>$i+2j\equiv0\pmod3$</a:t>
                </a:r>
                <a:r>
                  <a:rPr sz="2400" b="0">
                    <a:solidFill>
                      <a:srgbClr val="111827"/>
                    </a:solidFill>
                    <a:latin typeface="Arial"/>
                  </a:rPr>
                  <a:t>, i.e. </a:t>
                </a:r>
                <a:r>
                  <a:rPr lang="en-IN" sz="2400">
                    <a:solidFill>
                      <a:srgbClr val="111827"/>
                    </a:solidFill>
                    <a:latin typeface="Cambria Math" panose="02040503050406030204" pitchFamily="18" charset="0"/>
                  </a:rPr>
                  <a:t>$i\equiv j\pmod3$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subtract the empty set when the question asks for non-empty subsets.</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155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relations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e>
                    </m:d>
                  </m:oMath>
                </a14:m>
                <a:r>
                  <a:rPr sz="2400" b="0">
                    <a:solidFill>
                      <a:srgbClr val="111827"/>
                    </a:solidFill>
                    <a:latin typeface="Arial"/>
                  </a:rPr>
                  <a:t>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transitive but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symmetric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neither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are symmetric</a:t>
                </a:r>
                <a:endParaRPr sz="2400">
                  <a:solidFill>
                    <a:srgbClr val="111827"/>
                  </a:solidFill>
                </a:endParaRPr>
              </a:p>
            </p:txBody>
          </p:sp>
        </mc:Choice>
        <mc:Fallback>
          <p:sp>
            <p:nvSpPr>
              <p:cNvPr id="4" name="Rounded Rectangle 3"/>
              <p:cNvSpPr/>
              <p:nvPr/>
            </p:nvSpPr>
            <p:spPr>
              <a:xfrm>
                <a:off x="731520" y="1280160"/>
                <a:ext cx="10725912" cy="31155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relations </a:t>
                </a:r>
                <a:r>
                  <a:rPr lang="en-IN" sz="2400">
                    <a:solidFill>
                      <a:srgbClr val="111827"/>
                    </a:solidFill>
                    <a:latin typeface="Cambria Math" panose="02040503050406030204" pitchFamily="18" charset="0"/>
                  </a:rPr>
                  <a:t>$S=\left\{(a,b): a,b\in\mathbb{R}-\{0\},\ 2+\frac{a}{b}&gt;0\right\}$</a:t>
                </a:r>
                <a:r>
                  <a:rPr sz="2400" b="0">
                    <a:solidFill>
                      <a:srgbClr val="111827"/>
                    </a:solidFill>
                    <a:latin typeface="Arial"/>
                  </a:rPr>
                  <a:t> and </a:t>
                </a:r>
                <a:r>
                  <a:rPr lang="en-IN" sz="2400">
                    <a:solidFill>
                      <a:srgbClr val="111827"/>
                    </a:solidFill>
                    <a:latin typeface="Cambria Math" panose="02040503050406030204" pitchFamily="18" charset="0"/>
                  </a:rPr>
                  <a:t>$T=\left\{(a,b): a,b\in\mathbb{R},\ a^2-b^2\in\mathbb{Z}\right\}$</a:t>
                </a:r>
                <a:r>
                  <a:rPr sz="2400" b="0">
                    <a:solidFill>
                      <a:srgbClr val="111827"/>
                    </a:solidFill>
                    <a:latin typeface="Arial"/>
                  </a:rPr>
                  <a:t> :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a:t>
                </a:r>
                <a:r>
                  <a:rPr sz="2400" b="0">
                    <a:solidFill>
                      <a:srgbClr val="111827"/>
                    </a:solidFill>
                    <a:latin typeface="Arial"/>
                  </a:rPr>
                  <a:t> is transitive but </a:t>
                </a:r>
                <a:r>
                  <a:rPr lang="en-IN" sz="2400">
                    <a:solidFill>
                      <a:srgbClr val="111827"/>
                    </a:solidFill>
                    <a:latin typeface="Cambria Math" panose="02040503050406030204" pitchFamily="18" charset="0"/>
                  </a:rPr>
                  <a:t>$T$</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a:t>
                </a:r>
                <a:r>
                  <a:rPr sz="2400" b="0">
                    <a:solidFill>
                      <a:srgbClr val="111827"/>
                    </a:solidFill>
                    <a:latin typeface="Arial"/>
                  </a:rPr>
                  <a:t> is symmetric but </a:t>
                </a:r>
                <a:r>
                  <a:rPr lang="en-IN" sz="2400">
                    <a:solidFill>
                      <a:srgbClr val="111827"/>
                    </a:solidFill>
                    <a:latin typeface="Cambria Math" panose="02040503050406030204" pitchFamily="18" charset="0"/>
                  </a:rPr>
                  <a:t>$S$</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neither </a:t>
                </a:r>
                <a:r>
                  <a:rPr lang="en-IN" sz="2400">
                    <a:solidFill>
                      <a:srgbClr val="111827"/>
                    </a:solidFill>
                    <a:latin typeface="Cambria Math" panose="02040503050406030204" pitchFamily="18" charset="0"/>
                  </a:rPr>
                  <a:t>$S$</a:t>
                </a:r>
                <a:r>
                  <a:rPr sz="2400" b="0">
                    <a:solidFill>
                      <a:srgbClr val="111827"/>
                    </a:solidFill>
                    <a:latin typeface="Arial"/>
                  </a:rPr>
                  <a:t> nor </a:t>
                </a:r>
                <a:r>
                  <a:rPr lang="en-IN" sz="2400">
                    <a:solidFill>
                      <a:srgbClr val="111827"/>
                    </a:solidFill>
                    <a:latin typeface="Cambria Math" panose="02040503050406030204" pitchFamily="18" charset="0"/>
                  </a:rPr>
                  <a:t>$T$</a:t>
                </a:r>
                <a:r>
                  <a:rPr sz="2400" b="0">
                    <a:solidFill>
                      <a:srgbClr val="111827"/>
                    </a:solidFill>
                    <a:latin typeface="Arial"/>
                  </a:rPr>
                  <a:t> is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t>
                </a:r>
                <a:r>
                  <a:rPr lang="en-IN" sz="2400">
                    <a:solidFill>
                      <a:srgbClr val="111827"/>
                    </a:solidFill>
                    <a:latin typeface="Cambria Math" panose="02040503050406030204" pitchFamily="18" charset="0"/>
                  </a:rPr>
                  <a:t>$S$</a:t>
                </a:r>
                <a:r>
                  <a:rPr sz="2400" b="0">
                    <a:solidFill>
                      <a:srgbClr val="111827"/>
                    </a:solidFill>
                    <a:latin typeface="Arial"/>
                  </a:rPr>
                  <a:t> and </a:t>
                </a:r>
                <a:r>
                  <a:rPr lang="en-IN" sz="2400">
                    <a:solidFill>
                      <a:srgbClr val="111827"/>
                    </a:solidFill>
                    <a:latin typeface="Cambria Math" panose="02040503050406030204" pitchFamily="18" charset="0"/>
                  </a:rPr>
                  <a:t>$T$</a:t>
                </a:r>
                <a:r>
                  <a:rPr sz="2400" b="0">
                    <a:solidFill>
                      <a:srgbClr val="111827"/>
                    </a:solidFill>
                    <a:latin typeface="Arial"/>
                  </a:rPr>
                  <a:t> are symmetric</a:t>
                </a:r>
                <a:endParaRPr sz="2400">
                  <a:solidFill>
                    <a:srgbClr val="111827"/>
                  </a:solidFill>
                </a:endParaRPr>
              </a:p>
            </p:txBody>
          </p:sp>
        </mc:Fallback>
      </mc:AlternateContent>
      <p:sp>
        <p:nvSpPr>
          <p:cNvPr id="5" name="Rectangle 4"/>
          <p:cNvSpPr/>
          <p:nvPr/>
        </p:nvSpPr>
        <p:spPr>
          <a:xfrm>
            <a:off x="731520" y="4624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transitive)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Test symmetry by swapping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 single numerical counterexample kills symmetry of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Test symmetry by swapping </a:t>
                </a:r>
                <a:r>
                  <a:rPr lang="en-IN" sz="2400">
                    <a:solidFill>
                      <a:srgbClr val="78350F"/>
                    </a:solidFill>
                    <a:latin typeface="Cambria Math" panose="02040503050406030204" pitchFamily="18" charset="0"/>
                  </a:rPr>
                  <a:t>$(a,b)\to(b,a)$</a:t>
                </a:r>
                <a:r>
                  <a:rPr sz="2400" b="0">
                    <a:solidFill>
                      <a:srgbClr val="78350F"/>
                    </a:solidFill>
                    <a:latin typeface="Arial"/>
                  </a:rPr>
                  <a:t>; a single numerical counterexample kills symmetry of </a:t>
                </a:r>
                <a:r>
                  <a:rPr lang="en-IN" sz="2400">
                    <a:solidFill>
                      <a:srgbClr val="78350F"/>
                    </a:solidFill>
                    <a:latin typeface="Cambria Math" panose="02040503050406030204" pitchFamily="18" charset="0"/>
                  </a:rPr>
                  <a:t>$S$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for some integer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is also an integer,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were forced, we would need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whenever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is not necessarily positive.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a:t>
                </a:r>
                <a:r>
                  <a:rPr sz="2400" b="0">
                    <a:solidFill>
                      <a:srgbClr val="111827"/>
                    </a:solidFill>
                    <a:latin typeface="Arial"/>
                  </a:rPr>
                  <a:t>: if </a:t>
                </a:r>
                <a:r>
                  <a:rPr lang="en-IN" sz="2400">
                    <a:solidFill>
                      <a:srgbClr val="111827"/>
                    </a:solidFill>
                    <a:latin typeface="Cambria Math" panose="02040503050406030204" pitchFamily="18" charset="0"/>
                  </a:rPr>
                  <a:t>$(a,b)\in T$</a:t>
                </a:r>
                <a:r>
                  <a:rPr sz="2400" b="0">
                    <a:solidFill>
                      <a:srgbClr val="111827"/>
                    </a:solidFill>
                    <a:latin typeface="Arial"/>
                  </a:rPr>
                  <a:t> then </a:t>
                </a:r>
                <a:r>
                  <a:rPr lang="en-IN" sz="2400">
                    <a:solidFill>
                      <a:srgbClr val="111827"/>
                    </a:solidFill>
                    <a:latin typeface="Cambria Math" panose="02040503050406030204" pitchFamily="18" charset="0"/>
                  </a:rPr>
                  <a:t>$a^2-b^2=I$</a:t>
                </a:r>
                <a:r>
                  <a:rPr sz="2400" b="0">
                    <a:solidFill>
                      <a:srgbClr val="111827"/>
                    </a:solidFill>
                    <a:latin typeface="Arial"/>
                  </a:rPr>
                  <a:t> for some integer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$b^2-a^2=-I$</a:t>
                </a:r>
                <a:r>
                  <a:rPr sz="2400" b="0">
                    <a:solidFill>
                      <a:srgbClr val="111827"/>
                    </a:solidFill>
                    <a:latin typeface="Arial"/>
                  </a:rPr>
                  <a:t> is also an integer, so </a:t>
                </a:r>
                <a:r>
                  <a:rPr lang="en-IN" sz="2400">
                    <a:solidFill>
                      <a:srgbClr val="111827"/>
                    </a:solidFill>
                    <a:latin typeface="Cambria Math" panose="02040503050406030204" pitchFamily="18" charset="0"/>
                  </a:rPr>
                  <a:t>$(b,a)\in T$</a:t>
                </a:r>
                <a:r>
                  <a:rPr sz="2400" b="0">
                    <a:solidFill>
                      <a:srgbClr val="111827"/>
                    </a:solidFill>
                    <a:latin typeface="Arial"/>
                  </a:rPr>
                  <a:t>. Hence </a:t>
                </a:r>
                <a:r>
                  <a:rPr lang="en-IN" sz="2400">
                    <a:solidFill>
                      <a:srgbClr val="111827"/>
                    </a:solidFill>
                    <a:latin typeface="Cambria Math" panose="02040503050406030204" pitchFamily="18" charset="0"/>
                  </a:rPr>
                  <a:t>$T$</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$(a,b)\in S$</a:t>
                </a:r>
                <a:r>
                  <a:rPr sz="2400" b="0">
                    <a:solidFill>
                      <a:srgbClr val="111827"/>
                    </a:solidFill>
                    <a:latin typeface="Arial"/>
                  </a:rPr>
                  <a:t> means </a:t>
                </a:r>
                <a:r>
                  <a:rPr lang="en-IN" sz="2400">
                    <a:solidFill>
                      <a:srgbClr val="111827"/>
                    </a:solidFill>
                    <a:latin typeface="Cambria Math" panose="02040503050406030204" pitchFamily="18" charset="0"/>
                  </a:rPr>
                  <a:t>$2+\frac ab&gt;0$</a:t>
                </a:r>
                <a:r>
                  <a:rPr sz="2400" b="0">
                    <a:solidFill>
                      <a:srgbClr val="111827"/>
                    </a:solidFill>
                    <a:latin typeface="Arial"/>
                  </a:rPr>
                  <a:t>, i.e. </a:t>
                </a:r>
                <a:r>
                  <a:rPr lang="en-IN" sz="2400">
                    <a:solidFill>
                      <a:srgbClr val="111827"/>
                    </a:solidFill>
                    <a:latin typeface="Cambria Math" panose="02040503050406030204" pitchFamily="18" charset="0"/>
                  </a:rPr>
                  <a:t>$\frac ab&gt;-2$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$(b,a)\in S$</a:t>
                </a:r>
                <a:r>
                  <a:rPr sz="2400" b="0">
                    <a:solidFill>
                      <a:srgbClr val="111827"/>
                    </a:solidFill>
                    <a:latin typeface="Arial"/>
                  </a:rPr>
                  <a:t> were forced, we would need </a:t>
                </a:r>
                <a:r>
                  <a:rPr lang="en-IN" sz="2400">
                    <a:solidFill>
                      <a:srgbClr val="111827"/>
                    </a:solidFill>
                    <a:latin typeface="Cambria Math" panose="02040503050406030204" pitchFamily="18" charset="0"/>
                  </a:rPr>
                  <a:t>$2+\frac ba&gt;0$</a:t>
                </a:r>
                <a:r>
                  <a:rPr sz="2400" b="0">
                    <a:solidFill>
                      <a:srgbClr val="111827"/>
                    </a:solidFill>
                    <a:latin typeface="Arial"/>
                  </a:rPr>
                  <a:t> whenever </a:t>
                </a:r>
                <a:r>
                  <a:rPr lang="en-IN" sz="2400">
                    <a:solidFill>
                      <a:srgbClr val="111827"/>
                    </a:solidFill>
                    <a:latin typeface="Cambria Math" panose="02040503050406030204" pitchFamily="18" charset="0"/>
                  </a:rPr>
                  <a:t>$2+\frac ab&gt;0$</a:t>
                </a:r>
                <a:r>
                  <a:rPr sz="2400" b="0">
                    <a:solidFill>
                      <a:srgbClr val="111827"/>
                    </a:solidFill>
                    <a:latin typeface="Arial"/>
                  </a:rPr>
                  <a:t>; but </a:t>
                </a:r>
                <a:r>
                  <a:rPr lang="en-IN" sz="2400">
                    <a:solidFill>
                      <a:srgbClr val="111827"/>
                    </a:solidFill>
                    <a:latin typeface="Cambria Math" panose="02040503050406030204" pitchFamily="18" charset="0"/>
                  </a:rPr>
                  <a:t>$2+\frac ba$</a:t>
                </a:r>
                <a:r>
                  <a:rPr sz="2400" b="0">
                    <a:solidFill>
                      <a:srgbClr val="111827"/>
                    </a:solidFill>
                    <a:latin typeface="Arial"/>
                  </a:rPr>
                  <a:t> is not necessarily positive.</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Counterexample: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symmetric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option (B) (the other options each claim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symmetric, 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non-transitive, which is false: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Counterexample: </a:t>
                </a:r>
                <a:r>
                  <a:rPr lang="en-IN" sz="2400">
                    <a:solidFill>
                      <a:srgbClr val="111827"/>
                    </a:solidFill>
                    <a:latin typeface="Cambria Math" panose="02040503050406030204" pitchFamily="18" charset="0"/>
                  </a:rPr>
                  <a:t>$a=2,\ b=-5$</a:t>
                </a:r>
                <a:r>
                  <a:rPr sz="2400" b="0">
                    <a:solidFill>
                      <a:srgbClr val="111827"/>
                    </a:solidFill>
                    <a:latin typeface="Arial"/>
                  </a:rPr>
                  <a:t>. Then </a:t>
                </a:r>
                <a:r>
                  <a:rPr lang="en-IN" sz="2400">
                    <a:solidFill>
                      <a:srgbClr val="111827"/>
                    </a:solidFill>
                    <a:latin typeface="Cambria Math" panose="02040503050406030204" pitchFamily="18" charset="0"/>
                  </a:rPr>
                  <a:t>$2+\frac ab=2-\frac25=\frac85&gt;0$</a:t>
                </a:r>
                <a:r>
                  <a:rPr sz="2400" b="0">
                    <a:solidFill>
                      <a:srgbClr val="111827"/>
                    </a:solidFill>
                    <a:latin typeface="Arial"/>
                  </a:rPr>
                  <a:t>, so </a:t>
                </a:r>
                <a:r>
                  <a:rPr lang="en-IN" sz="2400">
                    <a:solidFill>
                      <a:srgbClr val="111827"/>
                    </a:solidFill>
                    <a:latin typeface="Cambria Math" panose="02040503050406030204" pitchFamily="18" charset="0"/>
                  </a:rPr>
                  <a:t>$(2,-5)\in 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$2+\frac ba=2-\frac52=-\frac12&lt;0$</a:t>
                </a:r>
                <a:r>
                  <a:rPr sz="2400" b="0">
                    <a:solidFill>
                      <a:srgbClr val="111827"/>
                    </a:solidFill>
                    <a:latin typeface="Arial"/>
                  </a:rPr>
                  <a:t>, so </a:t>
                </a:r>
                <a:r>
                  <a:rPr lang="en-IN" sz="2400">
                    <a:solidFill>
                      <a:srgbClr val="111827"/>
                    </a:solidFill>
                    <a:latin typeface="Cambria Math" panose="02040503050406030204" pitchFamily="18" charset="0"/>
                  </a:rPr>
                  <a:t>$(-5,2)\notin S$</a:t>
                </a:r>
                <a:r>
                  <a:rPr sz="2400" b="0">
                    <a:solidFill>
                      <a:srgbClr val="111827"/>
                    </a:solidFill>
                    <a:latin typeface="Arial"/>
                  </a:rPr>
                  <a:t>. Hence </a:t>
                </a:r>
                <a:r>
                  <a:rPr lang="en-IN" sz="2400">
                    <a:solidFill>
                      <a:srgbClr val="111827"/>
                    </a:solidFill>
                    <a:latin typeface="Cambria Math" panose="02040503050406030204" pitchFamily="18" charset="0"/>
                  </a:rPr>
                  <a:t>$S$</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t>
                </a:r>
                <a:r>
                  <a:rPr sz="2400" b="0">
                    <a:solidFill>
                      <a:srgbClr val="111827"/>
                    </a:solidFill>
                    <a:latin typeface="Arial"/>
                  </a:rPr>
                  <a:t> is symmetric but </a:t>
                </a:r>
                <a:r>
                  <a:rPr lang="en-IN" sz="2400">
                    <a:solidFill>
                      <a:srgbClr val="111827"/>
                    </a:solidFill>
                    <a:latin typeface="Cambria Math" panose="02040503050406030204" pitchFamily="18" charset="0"/>
                  </a:rPr>
                  <a:t>$S$</a:t>
                </a:r>
                <a:r>
                  <a:rPr sz="2400" b="0">
                    <a:solidFill>
                      <a:srgbClr val="111827"/>
                    </a:solidFill>
                    <a:latin typeface="Arial"/>
                  </a:rPr>
                  <a:t> is not: option (B) (the other options each claim </a:t>
                </a:r>
                <a:r>
                  <a:rPr lang="en-IN" sz="2400">
                    <a:solidFill>
                      <a:srgbClr val="111827"/>
                    </a:solidFill>
                    <a:latin typeface="Cambria Math" panose="02040503050406030204" pitchFamily="18" charset="0"/>
                  </a:rPr>
                  <a:t>$S$</a:t>
                </a:r>
                <a:r>
                  <a:rPr sz="2400" b="0">
                    <a:solidFill>
                      <a:srgbClr val="111827"/>
                    </a:solidFill>
                    <a:latin typeface="Arial"/>
                  </a:rPr>
                  <a:t> symmetric, or </a:t>
                </a:r>
                <a:r>
                  <a:rPr lang="en-IN" sz="2400">
                    <a:solidFill>
                      <a:srgbClr val="111827"/>
                    </a:solidFill>
                    <a:latin typeface="Cambria Math" panose="02040503050406030204" pitchFamily="18" charset="0"/>
                  </a:rPr>
                  <a:t>$T$</a:t>
                </a:r>
                <a:r>
                  <a:rPr sz="2400" b="0">
                    <a:solidFill>
                      <a:srgbClr val="111827"/>
                    </a:solidFill>
                    <a:latin typeface="Arial"/>
                  </a:rPr>
                  <a:t> non-transitive, which is false: </a:t>
                </a:r>
                <a:r>
                  <a:rPr lang="en-IN" sz="2400">
                    <a:solidFill>
                      <a:srgbClr val="111827"/>
                    </a:solidFill>
                    <a:latin typeface="Cambria Math" panose="02040503050406030204" pitchFamily="18" charset="0"/>
                  </a:rPr>
                  <a:t>$a^2-b^2,\,b^2-c^2\in\mathbb{Z}\Rightarrow a^2-c^2\in\mathbb{Z}$</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symmetric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$T$</a:t>
                </a:r>
                <a:r>
                  <a:rPr sz="2800" b="1">
                    <a:solidFill>
                      <a:srgbClr val="15803D"/>
                    </a:solidFill>
                    <a:latin typeface="Arial"/>
                  </a:rPr>
                  <a:t> is symmetric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is transitive (sum of two integers), which kills (A) and (C); a numerical example shows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not symmetric, which kills (D).</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a:t>
                </a:r>
                <a:r>
                  <a:rPr lang="en-IN" sz="2400">
                    <a:solidFill>
                      <a:srgbClr val="78350F"/>
                    </a:solidFill>
                    <a:latin typeface="Cambria Math" panose="02040503050406030204" pitchFamily="18" charset="0"/>
                  </a:rPr>
                  <a:t>$T$</a:t>
                </a:r>
                <a:r>
                  <a:rPr sz="2400" b="0">
                    <a:solidFill>
                      <a:srgbClr val="78350F"/>
                    </a:solidFill>
                    <a:latin typeface="Arial"/>
                  </a:rPr>
                  <a:t> is transitive (sum of two integers), which kills (A) and (C); a numerical example shows </a:t>
                </a:r>
                <a:r>
                  <a:rPr lang="en-IN" sz="2400">
                    <a:solidFill>
                      <a:srgbClr val="78350F"/>
                    </a:solidFill>
                    <a:latin typeface="Cambria Math" panose="02040503050406030204" pitchFamily="18" charset="0"/>
                  </a:rPr>
                  <a:t>$S$</a:t>
                </a:r>
                <a:r>
                  <a:rPr sz="2400" b="0">
                    <a:solidFill>
                      <a:srgbClr val="78350F"/>
                    </a:solidFill>
                    <a:latin typeface="Arial"/>
                  </a:rPr>
                  <a:t> is not symmetric, which kills (D).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Transitivity of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says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not transitive and option (C) says neither is transitive: both are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(D) needs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symmetric.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Transitivity of </a:t>
                </a:r>
                <a:r>
                  <a:rPr lang="en-IN" sz="2400">
                    <a:solidFill>
                      <a:srgbClr val="111827"/>
                    </a:solidFill>
                    <a:latin typeface="Cambria Math" panose="02040503050406030204" pitchFamily="18" charset="0"/>
                  </a:rPr>
                  <a:t>$T$</a:t>
                </a:r>
                <a:r>
                  <a:rPr sz="2400" b="0">
                    <a:solidFill>
                      <a:srgbClr val="111827"/>
                    </a:solidFill>
                    <a:latin typeface="Arial"/>
                  </a:rPr>
                  <a:t>: if </a:t>
                </a:r>
                <a:r>
                  <a:rPr lang="en-IN" sz="2400">
                    <a:solidFill>
                      <a:srgbClr val="111827"/>
                    </a:solidFill>
                    <a:latin typeface="Cambria Math" panose="02040503050406030204" pitchFamily="18" charset="0"/>
                  </a:rPr>
                  <a:t>$a^2-b^2\in\mathbb{Z}$</a:t>
                </a:r>
                <a:r>
                  <a:rPr sz="2400" b="0">
                    <a:solidFill>
                      <a:srgbClr val="111827"/>
                    </a:solidFill>
                    <a:latin typeface="Arial"/>
                  </a:rPr>
                  <a:t> and </a:t>
                </a:r>
                <a:r>
                  <a:rPr lang="en-IN" sz="2400">
                    <a:solidFill>
                      <a:srgbClr val="111827"/>
                    </a:solidFill>
                    <a:latin typeface="Cambria Math" panose="02040503050406030204" pitchFamily="18" charset="0"/>
                  </a:rPr>
                  <a:t>$b^2-c^2\in\mathbb{Z}$</a:t>
                </a:r>
                <a:r>
                  <a:rPr sz="2400" b="0">
                    <a:solidFill>
                      <a:srgbClr val="111827"/>
                    </a:solidFill>
                    <a:latin typeface="Arial"/>
                  </a:rPr>
                  <a:t>, then </a:t>
                </a:r>
                <a:r>
                  <a:rPr lang="en-IN" sz="2400">
                    <a:solidFill>
                      <a:srgbClr val="111827"/>
                    </a:solidFill>
                    <a:latin typeface="Cambria Math" panose="02040503050406030204" pitchFamily="18" charset="0"/>
                  </a:rPr>
                  <a:t>$a^2-c^2=(a^2-b^2)+(b^2-c^2)\in\mathbb{Z}$</a:t>
                </a:r>
                <a:r>
                  <a:rPr sz="2400" b="0">
                    <a:solidFill>
                      <a:srgbClr val="111827"/>
                    </a:solidFill>
                    <a:latin typeface="Arial"/>
                  </a:rPr>
                  <a:t>. So </a:t>
                </a:r>
                <a:r>
                  <a:rPr lang="en-IN" sz="2400">
                    <a:solidFill>
                      <a:srgbClr val="111827"/>
                    </a:solidFill>
                    <a:latin typeface="Cambria Math" panose="02040503050406030204" pitchFamily="18" charset="0"/>
                  </a:rPr>
                  <a:t>$T$</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says </a:t>
                </a:r>
                <a:r>
                  <a:rPr lang="en-IN" sz="2400">
                    <a:solidFill>
                      <a:srgbClr val="111827"/>
                    </a:solidFill>
                    <a:latin typeface="Cambria Math" panose="02040503050406030204" pitchFamily="18" charset="0"/>
                  </a:rPr>
                  <a:t>$T$</a:t>
                </a:r>
                <a:r>
                  <a:rPr sz="2400" b="0">
                    <a:solidFill>
                      <a:srgbClr val="111827"/>
                    </a:solidFill>
                    <a:latin typeface="Arial"/>
                  </a:rPr>
                  <a:t> is not transitive and option (C) says neither is transitive: both are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(D) needs </a:t>
                </a:r>
                <a:r>
                  <a:rPr lang="en-IN" sz="2400">
                    <a:solidFill>
                      <a:srgbClr val="111827"/>
                    </a:solidFill>
                    <a:latin typeface="Cambria Math" panose="02040503050406030204" pitchFamily="18" charset="0"/>
                  </a:rPr>
                  <a:t>$S$</a:t>
                </a:r>
                <a:r>
                  <a:rPr sz="2400" b="0">
                    <a:solidFill>
                      <a:srgbClr val="111827"/>
                    </a:solidFill>
                    <a:latin typeface="Arial"/>
                  </a:rPr>
                  <a:t> symmetric. Take </a:t>
                </a:r>
                <a:r>
                  <a:rPr lang="en-IN" sz="2400">
                    <a:solidFill>
                      <a:srgbClr val="111827"/>
                    </a:solidFill>
                    <a:latin typeface="Cambria Math" panose="02040503050406030204" pitchFamily="18" charset="0"/>
                  </a:rPr>
                  <a:t>$(a,b)=(2,-5)$</a:t>
                </a:r>
                <a:r>
                  <a:rPr sz="2400" b="0">
                    <a:solidFill>
                      <a:srgbClr val="111827"/>
                    </a:solidFill>
                    <a:latin typeface="Arial"/>
                  </a:rPr>
                  <a:t>: </a:t>
                </a:r>
                <a:r>
                  <a:rPr lang="en-IN" sz="2400">
                    <a:solidFill>
                      <a:srgbClr val="111827"/>
                    </a:solidFill>
                    <a:latin typeface="Cambria Math" panose="02040503050406030204" pitchFamily="18" charset="0"/>
                  </a:rPr>
                  <a:t>$2+\frac{2}{-5}=\frac85&gt;0$</a:t>
                </a:r>
                <a:r>
                  <a:rPr sz="2400" b="0">
                    <a:solidFill>
                      <a:srgbClr val="111827"/>
                    </a:solidFill>
                    <a:latin typeface="Arial"/>
                  </a:rPr>
                  <a:t> so </a:t>
                </a:r>
                <a:r>
                  <a:rPr lang="en-IN" sz="2400">
                    <a:solidFill>
                      <a:srgbClr val="111827"/>
                    </a:solidFill>
                    <a:latin typeface="Cambria Math" panose="02040503050406030204" pitchFamily="18" charset="0"/>
                  </a:rPr>
                  <a:t>$(2,-5)\in 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is left; it is also confirmed directly, since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symmetric.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$(b,a)=(-5,2)$</a:t>
                </a:r>
                <a:r>
                  <a:rPr sz="2400" b="0">
                    <a:solidFill>
                      <a:srgbClr val="111827"/>
                    </a:solidFill>
                    <a:latin typeface="Arial"/>
                  </a:rPr>
                  <a:t> gives </a:t>
                </a:r>
                <a:r>
                  <a:rPr lang="en-IN" sz="2400">
                    <a:solidFill>
                      <a:srgbClr val="111827"/>
                    </a:solidFill>
                    <a:latin typeface="Cambria Math" panose="02040503050406030204" pitchFamily="18" charset="0"/>
                  </a:rPr>
                  <a:t>$2+\frac{-5}{2}=-\frac12&lt;0$</a:t>
                </a:r>
                <a:r>
                  <a:rPr sz="2400" b="0">
                    <a:solidFill>
                      <a:srgbClr val="111827"/>
                    </a:solidFill>
                    <a:latin typeface="Arial"/>
                  </a:rPr>
                  <a:t>, so </a:t>
                </a:r>
                <a:r>
                  <a:rPr lang="en-IN" sz="2400">
                    <a:solidFill>
                      <a:srgbClr val="111827"/>
                    </a:solidFill>
                    <a:latin typeface="Cambria Math" panose="02040503050406030204" pitchFamily="18" charset="0"/>
                  </a:rPr>
                  <a:t>$(-5,2)\notin S$</a:t>
                </a:r>
                <a:r>
                  <a:rPr sz="2400" b="0">
                    <a:solidFill>
                      <a:srgbClr val="111827"/>
                    </a:solidFill>
                    <a:latin typeface="Arial"/>
                  </a:rPr>
                  <a:t>;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is left; it is also confirmed directly, since </a:t>
                </a:r>
                <a:r>
                  <a:rPr lang="en-IN" sz="2400">
                    <a:solidFill>
                      <a:srgbClr val="111827"/>
                    </a:solidFill>
                    <a:latin typeface="Cambria Math" panose="02040503050406030204" pitchFamily="18" charset="0"/>
                  </a:rPr>
                  <a:t>$b^2-a^2=-(a^2-b^2)\in\mathbb{Z}$</a:t>
                </a:r>
                <a:r>
                  <a:rPr sz="2400" b="0">
                    <a:solidFill>
                      <a:srgbClr val="111827"/>
                    </a:solidFill>
                    <a:latin typeface="Arial"/>
                  </a:rPr>
                  <a:t> makes </a:t>
                </a:r>
                <a:r>
                  <a:rPr lang="en-IN" sz="2400">
                    <a:solidFill>
                      <a:srgbClr val="111827"/>
                    </a:solidFill>
                    <a:latin typeface="Cambria Math" panose="02040503050406030204" pitchFamily="18" charset="0"/>
                  </a:rPr>
                  <a:t>$T$</a:t>
                </a:r>
                <a:r>
                  <a:rPr sz="2400" b="0">
                    <a:solidFill>
                      <a:srgbClr val="111827"/>
                    </a:solidFill>
                    <a:latin typeface="Arial"/>
                  </a:rPr>
                  <a:t> symmetric.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symmetric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$T$</a:t>
                </a:r>
                <a:r>
                  <a:rPr sz="2800" b="1">
                    <a:solidFill>
                      <a:srgbClr val="15803D"/>
                    </a:solidFill>
                    <a:latin typeface="Arial"/>
                  </a:rPr>
                  <a:t> is symmetric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reflexive, symmetric and transitive, i.e. an equivalence relation; 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symmetry, one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is enough; choose numbers making one expression positive and the other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Reciprocals reverse an inequality only when both sides have the same sign: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does not imply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(take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Always split the sign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Elimination: when options pair statements about two objects, settle the easy object first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here) and discard options.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$x\sim y\iff f(x)-f(y)\in\mathbb{Z}$</a:t>
                </a:r>
                <a:r>
                  <a:rPr sz="2400" b="0">
                    <a:solidFill>
                      <a:srgbClr val="111827"/>
                    </a:solidFill>
                    <a:latin typeface="Arial"/>
                  </a:rPr>
                  <a:t> (or </a:t>
                </a:r>
                <a:r>
                  <a:rPr lang="en-IN" sz="2400">
                    <a:solidFill>
                      <a:srgbClr val="111827"/>
                    </a:solidFill>
                    <a:latin typeface="Cambria Math" panose="02040503050406030204" pitchFamily="18" charset="0"/>
                  </a:rPr>
                  <a:t>$f(x)=f(y)$</a:t>
                </a:r>
                <a:r>
                  <a:rPr sz="2400" b="0">
                    <a:solidFill>
                      <a:srgbClr val="111827"/>
                    </a:solidFill>
                    <a:latin typeface="Arial"/>
                  </a:rPr>
                  <a:t>) is always reflexive, symmetric and transitive, i.e. an equivalence relation; here </a:t>
                </a:r>
                <a:r>
                  <a:rPr lang="en-IN" sz="2400">
                    <a:solidFill>
                      <a:srgbClr val="111827"/>
                    </a:solidFill>
                    <a:latin typeface="Cambria Math" panose="02040503050406030204" pitchFamily="18" charset="0"/>
                  </a:rPr>
                  <a:t>$f(x)=x^2$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symmetry, one pair </a:t>
                </a:r>
                <a:r>
                  <a:rPr lang="en-IN" sz="2400">
                    <a:solidFill>
                      <a:srgbClr val="111827"/>
                    </a:solidFill>
                    <a:latin typeface="Cambria Math" panose="02040503050406030204" pitchFamily="18" charset="0"/>
                  </a:rPr>
                  <a:t>$(a,b)\in R$</a:t>
                </a:r>
                <a:r>
                  <a:rPr sz="2400" b="0">
                    <a:solidFill>
                      <a:srgbClr val="111827"/>
                    </a:solidFill>
                    <a:latin typeface="Arial"/>
                  </a:rPr>
                  <a:t> with </a:t>
                </a:r>
                <a:r>
                  <a:rPr lang="en-IN" sz="2400">
                    <a:solidFill>
                      <a:srgbClr val="111827"/>
                    </a:solidFill>
                    <a:latin typeface="Cambria Math" panose="02040503050406030204" pitchFamily="18" charset="0"/>
                  </a:rPr>
                  <a:t>$(b,a)\notin R$</a:t>
                </a:r>
                <a:r>
                  <a:rPr sz="2400" b="0">
                    <a:solidFill>
                      <a:srgbClr val="111827"/>
                    </a:solidFill>
                    <a:latin typeface="Arial"/>
                  </a:rPr>
                  <a:t> is enough; choose numbers making one expression positive and the other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Reciprocals reverse an inequality only when both sides have the same sign: </a:t>
                </a:r>
                <a:r>
                  <a:rPr lang="en-IN" sz="2400">
                    <a:solidFill>
                      <a:srgbClr val="111827"/>
                    </a:solidFill>
                    <a:latin typeface="Cambria Math" panose="02040503050406030204" pitchFamily="18" charset="0"/>
                  </a:rPr>
                  <a:t>$\frac ab&gt;-2$</a:t>
                </a:r>
                <a:r>
                  <a:rPr sz="2400" b="0">
                    <a:solidFill>
                      <a:srgbClr val="111827"/>
                    </a:solidFill>
                    <a:latin typeface="Arial"/>
                  </a:rPr>
                  <a:t> does not imply </a:t>
                </a:r>
                <a:r>
                  <a:rPr lang="en-IN" sz="2400">
                    <a:solidFill>
                      <a:srgbClr val="111827"/>
                    </a:solidFill>
                    <a:latin typeface="Cambria Math" panose="02040503050406030204" pitchFamily="18" charset="0"/>
                  </a:rPr>
                  <a:t>$\frac ba&lt;-\frac12$</a:t>
                </a:r>
                <a:r>
                  <a:rPr sz="2400" b="0">
                    <a:solidFill>
                      <a:srgbClr val="111827"/>
                    </a:solidFill>
                    <a:latin typeface="Arial"/>
                  </a:rPr>
                  <a:t> (take </a:t>
                </a:r>
                <a:r>
                  <a:rPr lang="en-IN" sz="2400">
                    <a:solidFill>
                      <a:srgbClr val="111827"/>
                    </a:solidFill>
                    <a:latin typeface="Cambria Math" panose="02040503050406030204" pitchFamily="18" charset="0"/>
                  </a:rPr>
                  <a:t>$\frac ab=2$</a:t>
                </a:r>
                <a:r>
                  <a:rPr sz="2400" b="0">
                    <a:solidFill>
                      <a:srgbClr val="111827"/>
                    </a:solidFill>
                    <a:latin typeface="Arial"/>
                  </a:rPr>
                  <a:t>). Always split the sign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Elimination: when options pair statements about two objects, settle the easy object first (</a:t>
                </a:r>
                <a:r>
                  <a:rPr lang="en-IN" sz="2400">
                    <a:solidFill>
                      <a:srgbClr val="111827"/>
                    </a:solidFill>
                    <a:latin typeface="Cambria Math" panose="02040503050406030204" pitchFamily="18" charset="0"/>
                  </a:rPr>
                  <a:t>$T$</a:t>
                </a:r>
                <a:r>
                  <a:rPr sz="2400" b="0">
                    <a:solidFill>
                      <a:srgbClr val="111827"/>
                    </a:solidFill>
                    <a:latin typeface="Arial"/>
                  </a:rPr>
                  <a:t> here) and discard options.</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that are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but not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 __________.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$3$</a:t>
                </a:r>
                <a:r>
                  <a:rPr sz="2400" b="0">
                    <a:solidFill>
                      <a:srgbClr val="111827"/>
                    </a:solidFill>
                    <a:latin typeface="Arial"/>
                  </a:rPr>
                  <a:t>-digit numbers, that are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but not divisible by </a:t>
                </a:r>
                <a:r>
                  <a:rPr lang="en-IN" sz="2400">
                    <a:solidFill>
                      <a:srgbClr val="111827"/>
                    </a:solidFill>
                    <a:latin typeface="Cambria Math" panose="02040503050406030204" pitchFamily="18" charset="0"/>
                  </a:rPr>
                  <a:t>$7$</a:t>
                </a:r>
                <a:r>
                  <a:rPr sz="2400" b="0">
                    <a:solidFill>
                      <a:srgbClr val="111827"/>
                    </a:solidFill>
                    <a:latin typeface="Arial"/>
                  </a:rPr>
                  <a:t>, is __________. [JEE(Main) Jan 2023]</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Principle of inclusion-exclusion, Arithmetic progressions (counting multiples)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nor/>
                      </m:rPr>
                      <a:rPr lang="en-IN" sz="2400" i="1">
                        <a:solidFill>
                          <a:srgbClr val="78350F"/>
                        </a:solidFill>
                        <a:latin typeface="Cambria Math" panose="02040503050406030204" pitchFamily="18" charset="0"/>
                      </a:rPr>
                      <m:t> 𝑜𝑟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inclusion-exclusion, then remove those also divisible by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using the same method.</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a:t>
                </a:r>
                <a:r>
                  <a:rPr lang="en-IN" sz="2400">
                    <a:solidFill>
                      <a:srgbClr val="78350F"/>
                    </a:solidFill>
                    <a:latin typeface="Cambria Math" panose="02040503050406030204" pitchFamily="18" charset="0"/>
                  </a:rPr>
                  <a:t>$(2\text{ or }3)$</a:t>
                </a:r>
                <a:r>
                  <a:rPr sz="2400" b="0">
                    <a:solidFill>
                      <a:srgbClr val="78350F"/>
                    </a:solidFill>
                    <a:latin typeface="Arial"/>
                  </a:rPr>
                  <a:t> by inclusion-exclusion, then remove those also divisible by </a:t>
                </a:r>
                <a:r>
                  <a:rPr lang="en-IN" sz="2400">
                    <a:solidFill>
                      <a:srgbClr val="78350F"/>
                    </a:solidFill>
                    <a:latin typeface="Cambria Math" panose="02040503050406030204" pitchFamily="18" charset="0"/>
                  </a:rPr>
                  <a:t>$7$</a:t>
                </a:r>
                <a:r>
                  <a:rPr sz="2400" b="0">
                    <a:solidFill>
                      <a:srgbClr val="78350F"/>
                    </a:solidFill>
                    <a:latin typeface="Arial"/>
                  </a:rPr>
                  <a:t> using the same method.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998</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996</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994</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$100,102,\dots,998$</a:t>
                </a:r>
                <a:r>
                  <a:rPr sz="2400" b="0">
                    <a:solidFill>
                      <a:srgbClr val="111827"/>
                    </a:solidFill>
                    <a:latin typeface="Arial"/>
                  </a:rPr>
                  <a:t>. From </a:t>
                </a:r>
                <a:r>
                  <a:rPr lang="en-IN" sz="2400">
                    <a:solidFill>
                      <a:srgbClr val="111827"/>
                    </a:solidFill>
                    <a:latin typeface="Cambria Math" panose="02040503050406030204" pitchFamily="18" charset="0"/>
                  </a:rPr>
                  <a:t>$998=100+(n-1)2$</a:t>
                </a:r>
                <a:r>
                  <a:rPr sz="2400" b="0">
                    <a:solidFill>
                      <a:srgbClr val="111827"/>
                    </a:solidFill>
                    <a:latin typeface="Arial"/>
                  </a:rPr>
                  <a:t>, </a:t>
                </a:r>
                <a:r>
                  <a:rPr lang="en-IN" sz="2400">
                    <a:solidFill>
                      <a:srgbClr val="111827"/>
                    </a:solidFill>
                    <a:latin typeface="Cambria Math" panose="02040503050406030204" pitchFamily="18" charset="0"/>
                  </a:rPr>
                  <a:t>$n-1=449$</a:t>
                </a:r>
                <a:r>
                  <a:rPr sz="2400" b="0">
                    <a:solidFill>
                      <a:srgbClr val="111827"/>
                    </a:solidFill>
                    <a:latin typeface="Arial"/>
                  </a:rPr>
                  <a:t>, so </a:t>
                </a:r>
                <a:r>
                  <a:rPr lang="en-IN" sz="2400">
                    <a:solidFill>
                      <a:srgbClr val="111827"/>
                    </a:solidFill>
                    <a:latin typeface="Cambria Math" panose="02040503050406030204" pitchFamily="18" charset="0"/>
                  </a:rPr>
                  <a:t>$n=450$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$102,105,\dots,999$</a:t>
                </a:r>
                <a:r>
                  <a:rPr sz="2400" b="0">
                    <a:solidFill>
                      <a:srgbClr val="111827"/>
                    </a:solidFill>
                    <a:latin typeface="Arial"/>
                  </a:rPr>
                  <a:t>. From </a:t>
                </a:r>
                <a:r>
                  <a:rPr lang="en-IN" sz="2400">
                    <a:solidFill>
                      <a:srgbClr val="111827"/>
                    </a:solidFill>
                    <a:latin typeface="Cambria Math" panose="02040503050406030204" pitchFamily="18" charset="0"/>
                  </a:rPr>
                  <a:t>$999-102=(n-1)3$</a:t>
                </a:r>
                <a:r>
                  <a:rPr sz="2400" b="0">
                    <a:solidFill>
                      <a:srgbClr val="111827"/>
                    </a:solidFill>
                    <a:latin typeface="Arial"/>
                  </a:rPr>
                  <a:t>, </a:t>
                </a:r>
                <a:r>
                  <a:rPr lang="en-IN" sz="2400">
                    <a:solidFill>
                      <a:srgbClr val="111827"/>
                    </a:solidFill>
                    <a:latin typeface="Cambria Math" panose="02040503050406030204" pitchFamily="18" charset="0"/>
                  </a:rPr>
                  <a:t>$n-1=299$</a:t>
                </a:r>
                <a:r>
                  <a:rPr sz="2400" b="0">
                    <a:solidFill>
                      <a:srgbClr val="111827"/>
                    </a:solidFill>
                    <a:latin typeface="Arial"/>
                  </a:rPr>
                  <a:t>, so </a:t>
                </a:r>
                <a:r>
                  <a:rPr lang="en-IN" sz="2400">
                    <a:solidFill>
                      <a:srgbClr val="111827"/>
                    </a:solidFill>
                    <a:latin typeface="Cambria Math" panose="02040503050406030204" pitchFamily="18" charset="0"/>
                  </a:rPr>
                  <a:t>$n=300$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(i.e. by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$102,108,\dots,996$</a:t>
                </a:r>
                <a:r>
                  <a:rPr sz="2400" b="0">
                    <a:solidFill>
                      <a:srgbClr val="111827"/>
                    </a:solidFill>
                    <a:latin typeface="Arial"/>
                  </a:rPr>
                  <a:t>. From </a:t>
                </a:r>
                <a:r>
                  <a:rPr lang="en-IN" sz="2400">
                    <a:solidFill>
                      <a:srgbClr val="111827"/>
                    </a:solidFill>
                    <a:latin typeface="Cambria Math" panose="02040503050406030204" pitchFamily="18" charset="0"/>
                  </a:rPr>
                  <a:t>$996-102=(n-1)6$</a:t>
                </a:r>
                <a:r>
                  <a:rPr sz="2400" b="0">
                    <a:solidFill>
                      <a:srgbClr val="111827"/>
                    </a:solidFill>
                    <a:latin typeface="Arial"/>
                  </a:rPr>
                  <a:t>, </a:t>
                </a:r>
                <a:r>
                  <a:rPr lang="en-IN" sz="2400">
                    <a:solidFill>
                      <a:srgbClr val="111827"/>
                    </a:solidFill>
                    <a:latin typeface="Cambria Math" panose="02040503050406030204" pitchFamily="18" charset="0"/>
                  </a:rPr>
                  <a:t>$n=1+149=150$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$450+300-150=600$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(by </a:t>
                </a:r>
                <a:r>
                  <a:rPr lang="en-IN" sz="2400">
                    <a:solidFill>
                      <a:srgbClr val="111827"/>
                    </a:solidFill>
                    <a:latin typeface="Cambria Math" panose="02040503050406030204" pitchFamily="18" charset="0"/>
                  </a:rPr>
                  <a:t>$14$</a:t>
                </a:r>
                <a:r>
                  <a:rPr sz="2400" b="0">
                    <a:solidFill>
                      <a:srgbClr val="111827"/>
                    </a:solidFill>
                    <a:latin typeface="Arial"/>
                  </a:rPr>
                  <a:t>): </a:t>
                </a:r>
                <a:r>
                  <a:rPr lang="en-IN" sz="2400">
                    <a:solidFill>
                      <a:srgbClr val="111827"/>
                    </a:solidFill>
                    <a:latin typeface="Cambria Math" panose="02040503050406030204" pitchFamily="18" charset="0"/>
                  </a:rPr>
                  <a:t>$112,126,\dots,994$</a:t>
                </a:r>
                <a:r>
                  <a:rPr sz="2400" b="0">
                    <a:solidFill>
                      <a:srgbClr val="111827"/>
                    </a:solidFill>
                    <a:latin typeface="Arial"/>
                  </a:rPr>
                  <a:t>. From </a:t>
                </a:r>
                <a:r>
                  <a:rPr lang="en-IN" sz="2400">
                    <a:solidFill>
                      <a:srgbClr val="111827"/>
                    </a:solidFill>
                    <a:latin typeface="Cambria Math" panose="02040503050406030204" pitchFamily="18" charset="0"/>
                  </a:rPr>
                  <a:t>$994-112=(n-1)14$</a:t>
                </a:r>
                <a:r>
                  <a:rPr sz="2400" b="0">
                    <a:solidFill>
                      <a:srgbClr val="111827"/>
                    </a:solidFill>
                    <a:latin typeface="Arial"/>
                  </a:rPr>
                  <a:t>, </a:t>
                </a:r>
                <a:r>
                  <a:rPr lang="en-IN" sz="2400">
                    <a:solidFill>
                      <a:srgbClr val="111827"/>
                    </a:solidFill>
                    <a:latin typeface="Cambria Math" panose="02040503050406030204" pitchFamily="18" charset="0"/>
                  </a:rPr>
                  <a:t>$n=63+1=64$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966</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(by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$105,126,\dots,987$</a:t>
                </a:r>
                <a:r>
                  <a:rPr sz="2400" b="0">
                    <a:solidFill>
                      <a:srgbClr val="111827"/>
                    </a:solidFill>
                    <a:latin typeface="Arial"/>
                  </a:rPr>
                  <a:t>. From </a:t>
                </a:r>
                <a:r>
                  <a:rPr lang="en-IN" sz="2400">
                    <a:solidFill>
                      <a:srgbClr val="111827"/>
                    </a:solidFill>
                    <a:latin typeface="Cambria Math" panose="02040503050406030204" pitchFamily="18" charset="0"/>
                  </a:rPr>
                  <a:t>$987-105=(n-1)21$</a:t>
                </a:r>
                <a:r>
                  <a:rPr sz="2400" b="0">
                    <a:solidFill>
                      <a:srgbClr val="111827"/>
                    </a:solidFill>
                    <a:latin typeface="Arial"/>
                  </a:rPr>
                  <a:t>, </a:t>
                </a:r>
                <a:r>
                  <a:rPr lang="en-IN" sz="2400">
                    <a:solidFill>
                      <a:srgbClr val="111827"/>
                    </a:solidFill>
                    <a:latin typeface="Cambria Math" panose="02040503050406030204" pitchFamily="18" charset="0"/>
                  </a:rPr>
                  <a:t>$n=1+42=43$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$2,3$</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(by </a:t>
                </a:r>
                <a:r>
                  <a:rPr lang="en-IN" sz="2400">
                    <a:solidFill>
                      <a:srgbClr val="111827"/>
                    </a:solidFill>
                    <a:latin typeface="Cambria Math" panose="02040503050406030204" pitchFamily="18" charset="0"/>
                  </a:rPr>
                  <a:t>$42$</a:t>
                </a:r>
                <a:r>
                  <a:rPr sz="2400" b="0">
                    <a:solidFill>
                      <a:srgbClr val="111827"/>
                    </a:solidFill>
                    <a:latin typeface="Arial"/>
                  </a:rPr>
                  <a:t>): </a:t>
                </a:r>
                <a:r>
                  <a:rPr lang="en-IN" sz="2400">
                    <a:solidFill>
                      <a:srgbClr val="111827"/>
                    </a:solidFill>
                    <a:latin typeface="Cambria Math" panose="02040503050406030204" pitchFamily="18" charset="0"/>
                  </a:rPr>
                  <a:t>$126,168,\dots,966$</a:t>
                </a:r>
                <a:r>
                  <a:rPr sz="2400" b="0">
                    <a:solidFill>
                      <a:srgbClr val="111827"/>
                    </a:solidFill>
                    <a:latin typeface="Arial"/>
                  </a:rPr>
                  <a:t>. From </a:t>
                </a:r>
                <a:r>
                  <a:rPr lang="en-IN" sz="2400">
                    <a:solidFill>
                      <a:srgbClr val="111827"/>
                    </a:solidFill>
                    <a:latin typeface="Cambria Math" panose="02040503050406030204" pitchFamily="18" charset="0"/>
                  </a:rPr>
                  <a:t>$966-126=(n-1)42$</a:t>
                </a:r>
                <a:r>
                  <a:rPr sz="2400" b="0">
                    <a:solidFill>
                      <a:srgbClr val="111827"/>
                    </a:solidFill>
                    <a:latin typeface="Arial"/>
                  </a:rPr>
                  <a:t>, </a:t>
                </a:r>
                <a:r>
                  <a:rPr lang="en-IN" sz="2400">
                    <a:solidFill>
                      <a:srgbClr val="111827"/>
                    </a:solidFill>
                    <a:latin typeface="Cambria Math" panose="02040503050406030204" pitchFamily="18" charset="0"/>
                  </a:rPr>
                  <a:t>$n=1+20=21$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divisible by </a:t>
                </a:r>
                <a:r>
                  <a:rPr lang="en-IN" sz="2400">
                    <a:solidFill>
                      <a:srgbClr val="111827"/>
                    </a:solidFill>
                    <a:latin typeface="Cambria Math" panose="02040503050406030204" pitchFamily="18" charset="0"/>
                  </a:rPr>
                  <a:t>$7$</a:t>
                </a:r>
                <a:r>
                  <a:rPr sz="2400" b="0">
                    <a:solidFill>
                      <a:srgbClr val="111827"/>
                    </a:solidFill>
                    <a:latin typeface="Arial"/>
                  </a:rPr>
                  <a:t> and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$64+43-21=86$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r>
                  <a:rPr lang="en-IN" sz="2400">
                    <a:solidFill>
                      <a:srgbClr val="111827"/>
                    </a:solidFill>
                    <a:latin typeface="Cambria Math" panose="02040503050406030204" pitchFamily="18" charset="0"/>
                  </a:rPr>
                  <a:t>$=600-86=514$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514</a:t>
            </a:r>
            <a:endParaRPr sz="2800">
              <a:solidFill>
                <a:srgbClr val="15803D"/>
              </a:solidFill>
            </a:endParaRP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condition repeats with period </a:t>
                </a:r>
                <a14:m>
                  <m:oMath xmlns:m="http://schemas.openxmlformats.org/officeDocument/2006/math">
                    <m:r>
                      <a:rPr lang="en-IN" sz="2400" i="1">
                        <a:solidFill>
                          <a:srgbClr val="78350F"/>
                        </a:solidFill>
                        <a:latin typeface="Cambria Math" panose="02040503050406030204" pitchFamily="18" charset="0"/>
                      </a:rPr>
                      <m:t>42</m:t>
                    </m:r>
                  </m:oMath>
                </a14:m>
                <a:r>
                  <a:rPr sz="2400" b="0">
                    <a:solidFill>
                      <a:srgbClr val="78350F"/>
                    </a:solidFill>
                    <a:latin typeface="Arial"/>
                  </a:rPr>
                  <a:t>: count it in one block of </a:t>
                </a:r>
                <a14:m>
                  <m:oMath xmlns:m="http://schemas.openxmlformats.org/officeDocument/2006/math">
                    <m:r>
                      <a:rPr lang="en-IN" sz="2400" i="1">
                        <a:solidFill>
                          <a:srgbClr val="78350F"/>
                        </a:solidFill>
                        <a:latin typeface="Cambria Math" panose="02040503050406030204" pitchFamily="18" charset="0"/>
                      </a:rPr>
                      <m:t>42</m:t>
                    </m:r>
                  </m:oMath>
                </a14:m>
                <a:r>
                  <a:rPr sz="2400" b="0">
                    <a:solidFill>
                      <a:srgbClr val="78350F"/>
                    </a:solidFill>
                    <a:latin typeface="Arial"/>
                  </a:rPr>
                  <a:t> consecutive integers, then handle the remainder.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condition repeats with period </a:t>
                </a:r>
                <a:r>
                  <a:rPr lang="en-IN" sz="2400">
                    <a:solidFill>
                      <a:srgbClr val="78350F"/>
                    </a:solidFill>
                    <a:latin typeface="Cambria Math" panose="02040503050406030204" pitchFamily="18" charset="0"/>
                  </a:rPr>
                  <a:t>$42$</a:t>
                </a:r>
                <a:r>
                  <a:rPr sz="2400" b="0">
                    <a:solidFill>
                      <a:srgbClr val="78350F"/>
                    </a:solidFill>
                    <a:latin typeface="Arial"/>
                  </a:rPr>
                  <a:t>: count it in one block of </a:t>
                </a:r>
                <a:r>
                  <a:rPr lang="en-IN" sz="2400">
                    <a:solidFill>
                      <a:srgbClr val="78350F"/>
                    </a:solidFill>
                    <a:latin typeface="Cambria Math" panose="02040503050406030204" pitchFamily="18" charset="0"/>
                  </a:rPr>
                  <a:t>$42$</a:t>
                </a:r>
                <a:r>
                  <a:rPr sz="2400" b="0">
                    <a:solidFill>
                      <a:srgbClr val="78350F"/>
                    </a:solidFill>
                    <a:latin typeface="Arial"/>
                  </a:rPr>
                  <a:t> consecutive integers, then handle the remainder.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any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consecutive integers, exactly </a:t>
                </a:r>
                <a14:m>
                  <m:oMath xmlns:m="http://schemas.openxmlformats.org/officeDocument/2006/math">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are coprime 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are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in the block are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𝑗</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consecutive values of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𝑗</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is, i.e.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block of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numbers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but not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any </a:t>
                </a:r>
                <a:r>
                  <a:rPr lang="en-IN" sz="2400">
                    <a:solidFill>
                      <a:srgbClr val="111827"/>
                    </a:solidFill>
                    <a:latin typeface="Cambria Math" panose="02040503050406030204" pitchFamily="18" charset="0"/>
                  </a:rPr>
                  <a:t>$42$</a:t>
                </a:r>
                <a:r>
                  <a:rPr sz="2400" b="0">
                    <a:solidFill>
                      <a:srgbClr val="111827"/>
                    </a:solidFill>
                    <a:latin typeface="Arial"/>
                  </a:rPr>
                  <a:t> consecutive integers, exactly </a:t>
                </a:r>
                <a:r>
                  <a:rPr lang="en-IN" sz="2400">
                    <a:solidFill>
                      <a:srgbClr val="111827"/>
                    </a:solidFill>
                    <a:latin typeface="Cambria Math" panose="02040503050406030204" pitchFamily="18" charset="0"/>
                  </a:rPr>
                  <a:t>$42\cdot\frac13=14$</a:t>
                </a:r>
                <a:r>
                  <a:rPr sz="2400" b="0">
                    <a:solidFill>
                      <a:srgbClr val="111827"/>
                    </a:solidFill>
                    <a:latin typeface="Arial"/>
                  </a:rPr>
                  <a:t> are coprime to </a:t>
                </a:r>
                <a:r>
                  <a:rPr lang="en-IN" sz="2400">
                    <a:solidFill>
                      <a:srgbClr val="111827"/>
                    </a:solidFill>
                    <a:latin typeface="Cambria Math" panose="02040503050406030204" pitchFamily="18" charset="0"/>
                  </a:rPr>
                  <a:t>$6$</a:t>
                </a:r>
                <a:r>
                  <a:rPr sz="2400" b="0">
                    <a:solidFill>
                      <a:srgbClr val="111827"/>
                    </a:solidFill>
                    <a:latin typeface="Arial"/>
                  </a:rPr>
                  <a:t>, so </a:t>
                </a:r>
                <a:r>
                  <a:rPr lang="en-IN" sz="2400">
                    <a:solidFill>
                      <a:srgbClr val="111827"/>
                    </a:solidFill>
                    <a:latin typeface="Cambria Math" panose="02040503050406030204" pitchFamily="18" charset="0"/>
                  </a:rPr>
                  <a:t>$28$</a:t>
                </a:r>
                <a:r>
                  <a:rPr sz="2400" b="0">
                    <a:solidFill>
                      <a:srgbClr val="111827"/>
                    </a:solidFill>
                    <a:latin typeface="Arial"/>
                  </a:rPr>
                  <a:t> are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$7$</a:t>
                </a:r>
                <a:r>
                  <a:rPr sz="2400" b="0">
                    <a:solidFill>
                      <a:srgbClr val="111827"/>
                    </a:solidFill>
                    <a:latin typeface="Arial"/>
                  </a:rPr>
                  <a:t> in the block are </a:t>
                </a:r>
                <a:r>
                  <a:rPr lang="en-IN" sz="2400">
                    <a:solidFill>
                      <a:srgbClr val="111827"/>
                    </a:solidFill>
                    <a:latin typeface="Cambria Math" panose="02040503050406030204" pitchFamily="18" charset="0"/>
                  </a:rPr>
                  <a:t>$7j$</a:t>
                </a:r>
                <a:r>
                  <a:rPr sz="2400" b="0">
                    <a:solidFill>
                      <a:srgbClr val="111827"/>
                    </a:solidFill>
                    <a:latin typeface="Arial"/>
                  </a:rPr>
                  <a:t> for </a:t>
                </a:r>
                <a:r>
                  <a:rPr lang="en-IN" sz="2400">
                    <a:solidFill>
                      <a:srgbClr val="111827"/>
                    </a:solidFill>
                    <a:latin typeface="Cambria Math" panose="02040503050406030204" pitchFamily="18" charset="0"/>
                  </a:rPr>
                  <a:t>$6$</a:t>
                </a:r>
                <a:r>
                  <a:rPr sz="2400" b="0">
                    <a:solidFill>
                      <a:srgbClr val="111827"/>
                    </a:solidFill>
                    <a:latin typeface="Arial"/>
                  </a:rPr>
                  <a:t> consecutive values of </a:t>
                </a:r>
                <a:r>
                  <a:rPr lang="en-IN" sz="2400">
                    <a:solidFill>
                      <a:srgbClr val="111827"/>
                    </a:solidFill>
                    <a:latin typeface="Cambria Math" panose="02040503050406030204" pitchFamily="18" charset="0"/>
                  </a:rPr>
                  <a:t>$j$</a:t>
                </a:r>
                <a:r>
                  <a:rPr sz="2400" b="0">
                    <a:solidFill>
                      <a:srgbClr val="111827"/>
                    </a:solidFill>
                    <a:latin typeface="Arial"/>
                  </a:rPr>
                  <a:t>; </a:t>
                </a:r>
                <a:r>
                  <a:rPr lang="en-IN" sz="2400">
                    <a:solidFill>
                      <a:srgbClr val="111827"/>
                    </a:solidFill>
                    <a:latin typeface="Cambria Math" panose="02040503050406030204" pitchFamily="18" charset="0"/>
                  </a:rPr>
                  <a:t>$7j$</a:t>
                </a:r>
                <a:r>
                  <a:rPr sz="2400" b="0">
                    <a:solidFill>
                      <a:srgbClr val="111827"/>
                    </a:solidFill>
                    <a:latin typeface="Arial"/>
                  </a:rPr>
                  <a:t> is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exactly when </a:t>
                </a:r>
                <a:r>
                  <a:rPr lang="en-IN" sz="2400">
                    <a:solidFill>
                      <a:srgbClr val="111827"/>
                    </a:solidFill>
                    <a:latin typeface="Cambria Math" panose="02040503050406030204" pitchFamily="18" charset="0"/>
                  </a:rPr>
                  <a:t>$j$</a:t>
                </a:r>
                <a:r>
                  <a:rPr sz="2400" b="0">
                    <a:solidFill>
                      <a:srgbClr val="111827"/>
                    </a:solidFill>
                    <a:latin typeface="Arial"/>
                  </a:rPr>
                  <a:t> is, i.e. </a:t>
                </a:r>
                <a:r>
                  <a:rPr lang="en-IN" sz="2400">
                    <a:solidFill>
                      <a:srgbClr val="111827"/>
                    </a:solidFill>
                    <a:latin typeface="Cambria Math" panose="02040503050406030204" pitchFamily="18" charset="0"/>
                  </a:rPr>
                  <a:t>$6-2=4$</a:t>
                </a:r>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block of </a:t>
                </a:r>
                <a:r>
                  <a:rPr lang="en-IN" sz="2400">
                    <a:solidFill>
                      <a:srgbClr val="111827"/>
                    </a:solidFill>
                    <a:latin typeface="Cambria Math" panose="02040503050406030204" pitchFamily="18" charset="0"/>
                  </a:rPr>
                  <a:t>$42$</a:t>
                </a:r>
                <a:r>
                  <a:rPr sz="2400" b="0">
                    <a:solidFill>
                      <a:srgbClr val="111827"/>
                    </a:solidFill>
                    <a:latin typeface="Arial"/>
                  </a:rPr>
                  <a:t> has </a:t>
                </a:r>
                <a:r>
                  <a:rPr lang="en-IN" sz="2400">
                    <a:solidFill>
                      <a:srgbClr val="111827"/>
                    </a:solidFill>
                    <a:latin typeface="Cambria Math" panose="02040503050406030204" pitchFamily="18" charset="0"/>
                  </a:rPr>
                  <a:t>$28-4=24$</a:t>
                </a:r>
                <a:r>
                  <a:rPr sz="2400" b="0">
                    <a:solidFill>
                      <a:srgbClr val="111827"/>
                    </a:solidFill>
                    <a:latin typeface="Arial"/>
                  </a:rPr>
                  <a:t> numbers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but not by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900</m:t>
                    </m:r>
                  </m:oMath>
                </a14:m>
                <a:r>
                  <a:rPr sz="2400" b="0">
                    <a:solidFill>
                      <a:srgbClr val="111827"/>
                    </a:solidFill>
                    <a:latin typeface="Arial"/>
                  </a:rPr>
                  <a:t> three-digit numbers are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blocks of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981</m:t>
                    </m:r>
                  </m:oMath>
                </a14:m>
                <a:r>
                  <a:rPr sz="2400" b="0">
                    <a:solidFill>
                      <a:srgbClr val="111827"/>
                    </a:solidFill>
                    <a:latin typeface="Arial"/>
                  </a:rPr>
                  <a:t>) plus the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numbers </a:t>
                </a:r>
                <a14:m>
                  <m:oMath xmlns:m="http://schemas.openxmlformats.org/officeDocument/2006/math">
                    <m:r>
                      <a:rPr lang="en-IN" sz="2400" i="1">
                        <a:solidFill>
                          <a:srgbClr val="111827"/>
                        </a:solidFill>
                        <a:latin typeface="Cambria Math" panose="02040503050406030204" pitchFamily="18" charset="0"/>
                      </a:rPr>
                      <m:t>982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the blocks give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982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evens </a:t>
                </a:r>
                <a14:m>
                  <m:oMath xmlns:m="http://schemas.openxmlformats.org/officeDocument/2006/math">
                    <m:r>
                      <a:rPr lang="en-IN" sz="2400" i="1">
                        <a:solidFill>
                          <a:srgbClr val="111827"/>
                        </a:solidFill>
                        <a:latin typeface="Cambria Math" panose="02040503050406030204" pitchFamily="18" charset="0"/>
                      </a:rPr>
                      <m:t>982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numbers) and odd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remove the 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987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994</m:t>
                    </m:r>
                  </m:oMath>
                </a14:m>
                <a:r>
                  <a:rPr sz="2400" b="0">
                    <a:solidFill>
                      <a:srgbClr val="111827"/>
                    </a:solidFill>
                    <a:latin typeface="Arial"/>
                  </a:rPr>
                  <a:t>. That leaves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$900$</a:t>
                </a:r>
                <a:r>
                  <a:rPr sz="2400" b="0">
                    <a:solidFill>
                      <a:srgbClr val="111827"/>
                    </a:solidFill>
                    <a:latin typeface="Arial"/>
                  </a:rPr>
                  <a:t> three-digit numbers are </a:t>
                </a:r>
                <a:r>
                  <a:rPr lang="en-IN" sz="2400">
                    <a:solidFill>
                      <a:srgbClr val="111827"/>
                    </a:solidFill>
                    <a:latin typeface="Cambria Math" panose="02040503050406030204" pitchFamily="18" charset="0"/>
                  </a:rPr>
                  <a:t>$21$</a:t>
                </a:r>
                <a:r>
                  <a:rPr sz="2400" b="0">
                    <a:solidFill>
                      <a:srgbClr val="111827"/>
                    </a:solidFill>
                    <a:latin typeface="Arial"/>
                  </a:rPr>
                  <a:t> blocks of </a:t>
                </a:r>
                <a:r>
                  <a:rPr lang="en-IN" sz="2400">
                    <a:solidFill>
                      <a:srgbClr val="111827"/>
                    </a:solidFill>
                    <a:latin typeface="Cambria Math" panose="02040503050406030204" pitchFamily="18" charset="0"/>
                  </a:rPr>
                  <a:t>$42$</a:t>
                </a:r>
                <a:r>
                  <a:rPr sz="2400" b="0">
                    <a:solidFill>
                      <a:srgbClr val="111827"/>
                    </a:solidFill>
                    <a:latin typeface="Arial"/>
                  </a:rPr>
                  <a:t> (</a:t>
                </a:r>
                <a:r>
                  <a:rPr lang="en-IN" sz="2400">
                    <a:solidFill>
                      <a:srgbClr val="111827"/>
                    </a:solidFill>
                    <a:latin typeface="Cambria Math" panose="02040503050406030204" pitchFamily="18" charset="0"/>
                  </a:rPr>
                  <a:t>$100$</a:t>
                </a:r>
                <a:r>
                  <a:rPr sz="2400" b="0">
                    <a:solidFill>
                      <a:srgbClr val="111827"/>
                    </a:solidFill>
                    <a:latin typeface="Arial"/>
                  </a:rPr>
                  <a:t> to </a:t>
                </a:r>
                <a:r>
                  <a:rPr lang="en-IN" sz="2400">
                    <a:solidFill>
                      <a:srgbClr val="111827"/>
                    </a:solidFill>
                    <a:latin typeface="Cambria Math" panose="02040503050406030204" pitchFamily="18" charset="0"/>
                  </a:rPr>
                  <a:t>$981$</a:t>
                </a:r>
                <a:r>
                  <a:rPr sz="2400" b="0">
                    <a:solidFill>
                      <a:srgbClr val="111827"/>
                    </a:solidFill>
                    <a:latin typeface="Arial"/>
                  </a:rPr>
                  <a:t>) plus the </a:t>
                </a:r>
                <a:r>
                  <a:rPr lang="en-IN" sz="2400">
                    <a:solidFill>
                      <a:srgbClr val="111827"/>
                    </a:solidFill>
                    <a:latin typeface="Cambria Math" panose="02040503050406030204" pitchFamily="18" charset="0"/>
                  </a:rPr>
                  <a:t>$18$</a:t>
                </a:r>
                <a:r>
                  <a:rPr sz="2400" b="0">
                    <a:solidFill>
                      <a:srgbClr val="111827"/>
                    </a:solidFill>
                    <a:latin typeface="Arial"/>
                  </a:rPr>
                  <a:t> numbers </a:t>
                </a:r>
                <a:r>
                  <a:rPr lang="en-IN" sz="2400">
                    <a:solidFill>
                      <a:srgbClr val="111827"/>
                    </a:solidFill>
                    <a:latin typeface="Cambria Math" panose="02040503050406030204" pitchFamily="18" charset="0"/>
                  </a:rPr>
                  <a:t>$982$</a:t>
                </a:r>
                <a:r>
                  <a:rPr sz="2400" b="0">
                    <a:solidFill>
                      <a:srgbClr val="111827"/>
                    </a:solidFill>
                    <a:latin typeface="Arial"/>
                  </a:rPr>
                  <a:t> to </a:t>
                </a:r>
                <a:r>
                  <a:rPr lang="en-IN" sz="2400">
                    <a:solidFill>
                      <a:srgbClr val="111827"/>
                    </a:solidFill>
                    <a:latin typeface="Cambria Math" panose="02040503050406030204" pitchFamily="18" charset="0"/>
                  </a:rPr>
                  <a:t>$999$</a:t>
                </a:r>
                <a:r>
                  <a:rPr sz="2400" b="0">
                    <a:solidFill>
                      <a:srgbClr val="111827"/>
                    </a:solidFill>
                    <a:latin typeface="Arial"/>
                  </a:rPr>
                  <a:t>; the blocks give </a:t>
                </a:r>
                <a:r>
                  <a:rPr lang="en-IN" sz="2400">
                    <a:solidFill>
                      <a:srgbClr val="111827"/>
                    </a:solidFill>
                    <a:latin typeface="Cambria Math" panose="02040503050406030204" pitchFamily="18" charset="0"/>
                  </a:rPr>
                  <a:t>$21\times24=504$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$982,\dots,999$</a:t>
                </a:r>
                <a:r>
                  <a:rPr sz="2400" b="0">
                    <a:solidFill>
                      <a:srgbClr val="111827"/>
                    </a:solidFill>
                    <a:latin typeface="Arial"/>
                  </a:rPr>
                  <a:t>: evens </a:t>
                </a:r>
                <a:r>
                  <a:rPr lang="en-IN" sz="2400">
                    <a:solidFill>
                      <a:srgbClr val="111827"/>
                    </a:solidFill>
                    <a:latin typeface="Cambria Math" panose="02040503050406030204" pitchFamily="18" charset="0"/>
                  </a:rPr>
                  <a:t>$982,984,\dots,998$</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numbers) and odd multiples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$987,993,999$</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total </a:t>
                </a:r>
                <a:r>
                  <a:rPr lang="en-IN" sz="2400">
                    <a:solidFill>
                      <a:srgbClr val="111827"/>
                    </a:solidFill>
                    <a:latin typeface="Cambria Math" panose="02040503050406030204" pitchFamily="18" charset="0"/>
                  </a:rPr>
                  <a:t>$12$</a:t>
                </a:r>
                <a:r>
                  <a:rPr sz="2400" b="0">
                    <a:solidFill>
                      <a:srgbClr val="111827"/>
                    </a:solidFill>
                    <a:latin typeface="Arial"/>
                  </a:rPr>
                  <a:t>; remove the multiples of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$987$</a:t>
                </a:r>
                <a:r>
                  <a:rPr sz="2400" b="0">
                    <a:solidFill>
                      <a:srgbClr val="111827"/>
                    </a:solidFill>
                    <a:latin typeface="Arial"/>
                  </a:rPr>
                  <a:t> and </a:t>
                </a:r>
                <a:r>
                  <a:rPr lang="en-IN" sz="2400">
                    <a:solidFill>
                      <a:srgbClr val="111827"/>
                    </a:solidFill>
                    <a:latin typeface="Cambria Math" panose="02040503050406030204" pitchFamily="18" charset="0"/>
                  </a:rPr>
                  <a:t>$994$</a:t>
                </a:r>
                <a:r>
                  <a:rPr sz="2400" b="0">
                    <a:solidFill>
                      <a:srgbClr val="111827"/>
                    </a:solidFill>
                    <a:latin typeface="Arial"/>
                  </a:rPr>
                  <a:t>. That leaves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$=504+10=514$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514</a:t>
            </a:r>
            <a:endParaRPr sz="2800">
              <a:solidFill>
                <a:srgbClr val="15803D"/>
              </a:solidFill>
            </a:endParaRP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three-digit numbers: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multiples,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multiples of the LCM.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conditions by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repeat with period </a:t>
                </a:r>
                <a14:m>
                  <m:oMath xmlns:m="http://schemas.openxmlformats.org/officeDocument/2006/math">
                    <m:r>
                      <m:rPr>
                        <m:sty m:val="p"/>
                      </m:rPr>
                      <a:rPr lang="en-IN" sz="2400">
                        <a:solidFill>
                          <a:srgbClr val="111827"/>
                        </a:solidFill>
                        <a:latin typeface="Cambria Math" panose="02040503050406030204" pitchFamily="18" charset="0"/>
                      </a:rPr>
                      <m:t>lcm</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the period is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numbers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per period (density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but not B'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r>
                  <a:rPr lang="en-IN" sz="2400">
                    <a:solidFill>
                      <a:srgbClr val="111827"/>
                    </a:solidFill>
                    <a:latin typeface="Cambria Math" panose="02040503050406030204" pitchFamily="18" charset="0"/>
                  </a:rPr>
                  <a:t>$m$</a:t>
                </a:r>
                <a:r>
                  <a:rPr sz="2400" b="0">
                    <a:solidFill>
                      <a:srgbClr val="111827"/>
                    </a:solidFill>
                    <a:latin typeface="Arial"/>
                  </a:rPr>
                  <a:t> in </a:t>
                </a:r>
                <a:r>
                  <a:rPr lang="en-IN" sz="2400">
                    <a:solidFill>
                      <a:srgbClr val="111827"/>
                    </a:solidFill>
                    <a:latin typeface="Cambria Math" panose="02040503050406030204" pitchFamily="18" charset="0"/>
                  </a:rPr>
                  <a:t>$[L,U]$</a:t>
                </a:r>
                <a:r>
                  <a:rPr sz="2400" b="0">
                    <a:solidFill>
                      <a:srgbClr val="111827"/>
                    </a:solidFill>
                    <a:latin typeface="Arial"/>
                  </a:rPr>
                  <a:t> is </a:t>
                </a:r>
                <a:r>
                  <a:rPr lang="en-IN" sz="2400">
                    <a:solidFill>
                      <a:srgbClr val="111827"/>
                    </a:solidFill>
                    <a:latin typeface="Cambria Math" panose="02040503050406030204" pitchFamily="18" charset="0"/>
                  </a:rPr>
                  <a:t>$\lfloor U/m\rfloor-\lfloor (L-1)/m\rfloor$</a:t>
                </a:r>
                <a:r>
                  <a:rPr sz="2400" b="0">
                    <a:solidFill>
                      <a:srgbClr val="111827"/>
                    </a:solidFill>
                    <a:latin typeface="Arial"/>
                  </a:rPr>
                  <a:t>. For three-digit numbers: </a:t>
                </a:r>
                <a:r>
                  <a:rPr lang="en-IN" sz="2400">
                    <a:solidFill>
                      <a:srgbClr val="111827"/>
                    </a:solidFill>
                    <a:latin typeface="Cambria Math" panose="02040503050406030204" pitchFamily="18" charset="0"/>
                  </a:rPr>
                  <a:t>$m=2:450$</a:t>
                </a:r>
                <a:r>
                  <a:rPr sz="2400" b="0">
                    <a:solidFill>
                      <a:srgbClr val="111827"/>
                    </a:solidFill>
                    <a:latin typeface="Arial"/>
                  </a:rPr>
                  <a:t>, </a:t>
                </a:r>
                <a:r>
                  <a:rPr lang="en-IN" sz="2400">
                    <a:solidFill>
                      <a:srgbClr val="111827"/>
                    </a:solidFill>
                    <a:latin typeface="Cambria Math" panose="02040503050406030204" pitchFamily="18" charset="0"/>
                  </a:rPr>
                  <a:t>$3:300$</a:t>
                </a:r>
                <a:r>
                  <a:rPr sz="2400" b="0">
                    <a:solidFill>
                      <a:srgbClr val="111827"/>
                    </a:solidFill>
                    <a:latin typeface="Arial"/>
                  </a:rPr>
                  <a:t>, </a:t>
                </a:r>
                <a:r>
                  <a:rPr lang="en-IN" sz="2400">
                    <a:solidFill>
                      <a:srgbClr val="111827"/>
                    </a:solidFill>
                    <a:latin typeface="Cambria Math" panose="02040503050406030204" pitchFamily="18" charset="0"/>
                  </a:rPr>
                  <a:t>$6:150$</a:t>
                </a:r>
                <a:r>
                  <a:rPr sz="2400" b="0">
                    <a:solidFill>
                      <a:srgbClr val="111827"/>
                    </a:solidFill>
                    <a:latin typeface="Arial"/>
                  </a:rPr>
                  <a:t>, </a:t>
                </a:r>
                <a:r>
                  <a:rPr lang="en-IN" sz="2400">
                    <a:solidFill>
                      <a:srgbClr val="111827"/>
                    </a:solidFill>
                    <a:latin typeface="Cambria Math" panose="02040503050406030204" pitchFamily="18" charset="0"/>
                  </a:rPr>
                  <a:t>$14:64$</a:t>
                </a:r>
                <a:r>
                  <a:rPr sz="2400" b="0">
                    <a:solidFill>
                      <a:srgbClr val="111827"/>
                    </a:solidFill>
                    <a:latin typeface="Arial"/>
                  </a:rPr>
                  <a:t>, </a:t>
                </a:r>
                <a:r>
                  <a:rPr lang="en-IN" sz="2400">
                    <a:solidFill>
                      <a:srgbClr val="111827"/>
                    </a:solidFill>
                    <a:latin typeface="Cambria Math" panose="02040503050406030204" pitchFamily="18" charset="0"/>
                  </a:rPr>
                  <a:t>$21:43$</a:t>
                </a:r>
                <a:r>
                  <a:rPr sz="2400" b="0">
                    <a:solidFill>
                      <a:srgbClr val="111827"/>
                    </a:solidFill>
                    <a:latin typeface="Arial"/>
                  </a:rPr>
                  <a:t>, </a:t>
                </a:r>
                <a:r>
                  <a:rPr lang="en-IN" sz="2400">
                    <a:solidFill>
                      <a:srgbClr val="111827"/>
                    </a:solidFill>
                    <a:latin typeface="Cambria Math" panose="02040503050406030204" pitchFamily="18" charset="0"/>
                  </a:rPr>
                  <a:t>$42:21$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sets: </a:t>
                </a:r>
                <a:r>
                  <a:rPr lang="en-IN" sz="2400">
                    <a:solidFill>
                      <a:srgbClr val="111827"/>
                    </a:solidFill>
                    <a:latin typeface="Cambria Math" panose="02040503050406030204" pitchFamily="18" charset="0"/>
                  </a:rPr>
                  <a:t>$|P\cup Q\cup R|=\sum|P|-\sum|P\cap Q|+|P\cap Q\cap R|$</a:t>
                </a:r>
                <a:r>
                  <a:rPr sz="2400" b="0">
                    <a:solidFill>
                      <a:srgbClr val="111827"/>
                    </a:solidFill>
                    <a:latin typeface="Arial"/>
                  </a:rPr>
                  <a:t>; for multiples, </a:t>
                </a:r>
                <a:r>
                  <a:rPr lang="en-IN" sz="2400">
                    <a:solidFill>
                      <a:srgbClr val="111827"/>
                    </a:solidFill>
                    <a:latin typeface="Cambria Math" panose="02040503050406030204" pitchFamily="18" charset="0"/>
                  </a:rPr>
                  <a:t>$|P\cap Q|$</a:t>
                </a:r>
                <a:r>
                  <a:rPr sz="2400" b="0">
                    <a:solidFill>
                      <a:srgbClr val="111827"/>
                    </a:solidFill>
                    <a:latin typeface="Arial"/>
                  </a:rPr>
                  <a:t> is the multiples of the LCM.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conditions by </a:t>
                </a:r>
                <a:r>
                  <a:rPr lang="en-IN" sz="2400">
                    <a:solidFill>
                      <a:srgbClr val="111827"/>
                    </a:solidFill>
                    <a:latin typeface="Cambria Math" panose="02040503050406030204" pitchFamily="18" charset="0"/>
                  </a:rPr>
                  <a:t>$m_1,m_2,\dots$</a:t>
                </a:r>
                <a:r>
                  <a:rPr sz="2400" b="0">
                    <a:solidFill>
                      <a:srgbClr val="111827"/>
                    </a:solidFill>
                    <a:latin typeface="Arial"/>
                  </a:rPr>
                  <a:t> repeat with period </a:t>
                </a:r>
                <a:r>
                  <a:rPr lang="en-IN" sz="2400">
                    <a:solidFill>
                      <a:srgbClr val="111827"/>
                    </a:solidFill>
                    <a:latin typeface="Cambria Math" panose="02040503050406030204" pitchFamily="18" charset="0"/>
                  </a:rPr>
                  <a:t>$\operatorname{lcm}(m_i)$</a:t>
                </a:r>
                <a:r>
                  <a:rPr sz="2400" b="0">
                    <a:solidFill>
                      <a:srgbClr val="111827"/>
                    </a:solidFill>
                    <a:latin typeface="Arial"/>
                  </a:rPr>
                  <a:t>; here the period is </a:t>
                </a:r>
                <a:r>
                  <a:rPr lang="en-IN" sz="2400">
                    <a:solidFill>
                      <a:srgbClr val="111827"/>
                    </a:solidFill>
                    <a:latin typeface="Cambria Math" panose="02040503050406030204" pitchFamily="18" charset="0"/>
                  </a:rPr>
                  <a:t>$42$</a:t>
                </a:r>
                <a:r>
                  <a:rPr sz="2400" b="0">
                    <a:solidFill>
                      <a:srgbClr val="111827"/>
                    </a:solidFill>
                    <a:latin typeface="Arial"/>
                  </a:rPr>
                  <a:t>, with </a:t>
                </a:r>
                <a:r>
                  <a:rPr lang="en-IN" sz="2400">
                    <a:solidFill>
                      <a:srgbClr val="111827"/>
                    </a:solidFill>
                    <a:latin typeface="Cambria Math" panose="02040503050406030204" pitchFamily="18" charset="0"/>
                  </a:rPr>
                  <a:t>$28$</a:t>
                </a:r>
                <a:r>
                  <a:rPr sz="2400" b="0">
                    <a:solidFill>
                      <a:srgbClr val="111827"/>
                    </a:solidFill>
                    <a:latin typeface="Arial"/>
                  </a:rPr>
                  <a:t> numbers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per period (density </a:t>
                </a:r>
                <a:r>
                  <a:rPr lang="en-IN" sz="2400">
                    <a:solidFill>
                      <a:srgbClr val="111827"/>
                    </a:solidFill>
                    <a:latin typeface="Cambria Math" panose="02040503050406030204" pitchFamily="18" charset="0"/>
                  </a:rPr>
                  <a:t>$\frac23$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but not B' </a:t>
                </a:r>
                <a:r>
                  <a:rPr lang="en-IN" sz="2400">
                    <a:solidFill>
                      <a:srgbClr val="111827"/>
                    </a:solidFill>
                    <a:latin typeface="Cambria Math" panose="02040503050406030204" pitchFamily="18" charset="0"/>
                  </a:rPr>
                  <a:t>$=|A|-|A\cap B|$</a:t>
                </a:r>
                <a:r>
                  <a:rPr sz="2400" b="0">
                    <a:solidFill>
                      <a:srgbClr val="111827"/>
                    </a:solidFill>
                    <a:latin typeface="Arial"/>
                  </a:rPr>
                  <a:t>; here </a:t>
                </a:r>
                <a:r>
                  <a:rPr lang="en-IN" sz="2400">
                    <a:solidFill>
                      <a:srgbClr val="111827"/>
                    </a:solidFill>
                    <a:latin typeface="Cambria Math" panose="02040503050406030204" pitchFamily="18" charset="0"/>
                  </a:rPr>
                  <a:t>$A$</a:t>
                </a:r>
                <a:r>
                  <a:rPr sz="2400" b="0">
                    <a:solidFill>
                      <a:srgbClr val="111827"/>
                    </a:solidFill>
                    <a:latin typeface="Arial"/>
                  </a:rPr>
                  <a:t> =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 divisible by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Q46 – Q50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number of elements in sets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five and two respectively. Then the number of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each having at least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most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elements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792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772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752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782</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number of elements in sets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five and two respectively. Then the number of subsets of </a:t>
                </a:r>
                <a:r>
                  <a:rPr lang="en-IN" sz="2400">
                    <a:solidFill>
                      <a:srgbClr val="111827"/>
                    </a:solidFill>
                    <a:latin typeface="Cambria Math" panose="02040503050406030204" pitchFamily="18" charset="0"/>
                  </a:rPr>
                  <a:t>$A\times B$</a:t>
                </a:r>
                <a:r>
                  <a:rPr sz="2400" b="0">
                    <a:solidFill>
                      <a:srgbClr val="111827"/>
                    </a:solidFill>
                    <a:latin typeface="Arial"/>
                  </a:rPr>
                  <a:t> each having at least </a:t>
                </a:r>
                <a:r>
                  <a:rPr lang="en-IN" sz="2400">
                    <a:solidFill>
                      <a:srgbClr val="111827"/>
                    </a:solidFill>
                    <a:latin typeface="Cambria Math" panose="02040503050406030204" pitchFamily="18" charset="0"/>
                  </a:rPr>
                  <a:t>$3$</a:t>
                </a:r>
                <a:r>
                  <a:rPr sz="2400" b="0">
                    <a:solidFill>
                      <a:srgbClr val="111827"/>
                    </a:solidFill>
                    <a:latin typeface="Arial"/>
                  </a:rPr>
                  <a:t> and at most </a:t>
                </a:r>
                <a:r>
                  <a:rPr lang="en-IN" sz="2400">
                    <a:solidFill>
                      <a:srgbClr val="111827"/>
                    </a:solidFill>
                    <a:latin typeface="Cambria Math" panose="02040503050406030204" pitchFamily="18" charset="0"/>
                  </a:rPr>
                  <a:t>$6$</a:t>
                </a:r>
                <a:r>
                  <a:rPr sz="2400" b="0">
                    <a:solidFill>
                      <a:srgbClr val="111827"/>
                    </a:solidFill>
                    <a:latin typeface="Arial"/>
                  </a:rPr>
                  <a:t> elements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$792$</a:t>
                </a:r>
                <a:r>
                  <a:rPr sz="2400" b="0">
                    <a:solidFill>
                      <a:srgbClr val="111827"/>
                    </a:solidFill>
                    <a:latin typeface="Arial"/>
                  </a:rPr>
                  <a:t>   (B) </a:t>
                </a:r>
                <a:r>
                  <a:rPr lang="en-IN" sz="2400">
                    <a:solidFill>
                      <a:srgbClr val="111827"/>
                    </a:solidFill>
                    <a:latin typeface="Cambria Math" panose="02040503050406030204" pitchFamily="18" charset="0"/>
                  </a:rPr>
                  <a:t>$772$</a:t>
                </a:r>
                <a:r>
                  <a:rPr sz="2400" b="0">
                    <a:solidFill>
                      <a:srgbClr val="111827"/>
                    </a:solidFill>
                    <a:latin typeface="Arial"/>
                  </a:rPr>
                  <a:t>   (C) </a:t>
                </a:r>
                <a:r>
                  <a:rPr lang="en-IN" sz="2400">
                    <a:solidFill>
                      <a:srgbClr val="111827"/>
                    </a:solidFill>
                    <a:latin typeface="Cambria Math" panose="02040503050406030204" pitchFamily="18" charset="0"/>
                  </a:rPr>
                  <a:t>$752$</a:t>
                </a:r>
                <a:r>
                  <a:rPr sz="2400" b="0">
                    <a:solidFill>
                      <a:srgbClr val="111827"/>
                    </a:solidFill>
                    <a:latin typeface="Arial"/>
                  </a:rPr>
                  <a:t>   (D) </a:t>
                </a:r>
                <a:r>
                  <a:rPr lang="en-IN" sz="2400">
                    <a:solidFill>
                      <a:srgbClr val="111827"/>
                    </a:solidFill>
                    <a:latin typeface="Cambria Math" panose="02040503050406030204" pitchFamily="18" charset="0"/>
                  </a:rPr>
                  <a:t>$782$</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Cartesian product and subsets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so the required count is </a:t>
                </a:r>
                <a14:m>
                  <m:oMath xmlns:m="http://schemas.openxmlformats.org/officeDocument/2006/math">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b>
                      <m:sup>
                        <m:r>
                          <a:rPr lang="en-IN" sz="2400" i="1">
                            <a:solidFill>
                              <a:srgbClr val="78350F"/>
                            </a:solidFill>
                            <a:latin typeface="Cambria Math" panose="02040503050406030204" pitchFamily="18" charset="0"/>
                          </a:rPr>
                          <m:t>6</m:t>
                        </m:r>
                      </m: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𝑘</m:t>
                                </m:r>
                              </m:den>
                            </m:f>
                          </m:e>
                        </m:d>
                      </m:e>
                    </m:nary>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$n(A\times B)=10$</a:t>
                </a:r>
                <a:r>
                  <a:rPr sz="2400" b="0">
                    <a:solidFill>
                      <a:srgbClr val="78350F"/>
                    </a:solidFill>
                    <a:latin typeface="Arial"/>
                  </a:rPr>
                  <a:t>, so the required count is </a:t>
                </a:r>
                <a:r>
                  <a:rPr lang="en-IN" sz="2400">
                    <a:solidFill>
                      <a:srgbClr val="78350F"/>
                    </a:solidFill>
                    <a:latin typeface="Cambria Math" panose="02040503050406030204" pitchFamily="18" charset="0"/>
                  </a:rPr>
                  <a:t>$\sum_{k=3}^{6}\binom{10}{k}$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subset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any subset of this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-element set; we need those with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such subsets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$n(A)=5$</a:t>
                </a:r>
                <a:r>
                  <a:rPr sz="2400" b="0">
                    <a:solidFill>
                      <a:srgbClr val="111827"/>
                    </a:solidFill>
                    <a:latin typeface="Arial"/>
                  </a:rPr>
                  <a:t> and </a:t>
                </a:r>
                <a:r>
                  <a:rPr lang="en-IN" sz="2400">
                    <a:solidFill>
                      <a:srgbClr val="111827"/>
                    </a:solidFill>
                    <a:latin typeface="Cambria Math" panose="02040503050406030204" pitchFamily="18" charset="0"/>
                  </a:rPr>
                  <a:t>$n(B)=2$</a:t>
                </a:r>
                <a:r>
                  <a:rPr sz="2400" b="0">
                    <a:solidFill>
                      <a:srgbClr val="111827"/>
                    </a:solidFill>
                    <a:latin typeface="Arial"/>
                  </a:rPr>
                  <a:t>, so </a:t>
                </a:r>
                <a:r>
                  <a:rPr lang="en-IN" sz="2400">
                    <a:solidFill>
                      <a:srgbClr val="111827"/>
                    </a:solidFill>
                    <a:latin typeface="Cambria Math" panose="02040503050406030204" pitchFamily="18" charset="0"/>
                  </a:rPr>
                  <a:t>$n(A\times B)=5\times2=10$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subset of </a:t>
                </a:r>
                <a:r>
                  <a:rPr lang="en-IN" sz="2400">
                    <a:solidFill>
                      <a:srgbClr val="111827"/>
                    </a:solidFill>
                    <a:latin typeface="Cambria Math" panose="02040503050406030204" pitchFamily="18" charset="0"/>
                  </a:rPr>
                  <a:t>$A\times B$</a:t>
                </a:r>
                <a:r>
                  <a:rPr sz="2400" b="0">
                    <a:solidFill>
                      <a:srgbClr val="111827"/>
                    </a:solidFill>
                    <a:latin typeface="Arial"/>
                  </a:rPr>
                  <a:t> is any subset of this </a:t>
                </a:r>
                <a:r>
                  <a:rPr lang="en-IN" sz="2400">
                    <a:solidFill>
                      <a:srgbClr val="111827"/>
                    </a:solidFill>
                    <a:latin typeface="Cambria Math" panose="02040503050406030204" pitchFamily="18" charset="0"/>
                  </a:rPr>
                  <a:t>$10$</a:t>
                </a:r>
                <a:r>
                  <a:rPr sz="2400" b="0">
                    <a:solidFill>
                      <a:srgbClr val="111827"/>
                    </a:solidFill>
                    <a:latin typeface="Arial"/>
                  </a:rPr>
                  <a:t>-element set; we need those with </a:t>
                </a:r>
                <a:r>
                  <a:rPr lang="en-IN" sz="2400">
                    <a:solidFill>
                      <a:srgbClr val="111827"/>
                    </a:solidFill>
                    <a:latin typeface="Cambria Math" panose="02040503050406030204" pitchFamily="18" charset="0"/>
                  </a:rPr>
                  <a:t>$3,4,5$</a:t>
                </a:r>
                <a:r>
                  <a:rPr sz="2400" b="0">
                    <a:solidFill>
                      <a:srgbClr val="111827"/>
                    </a:solidFill>
                    <a:latin typeface="Arial"/>
                  </a:rPr>
                  <a:t> or </a:t>
                </a:r>
                <a:r>
                  <a:rPr lang="en-IN" sz="2400">
                    <a:solidFill>
                      <a:srgbClr val="111827"/>
                    </a:solidFill>
                    <a:latin typeface="Cambria Math" panose="02040503050406030204" pitchFamily="18" charset="0"/>
                  </a:rPr>
                  <a:t>$6$</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such subsets </a:t>
                </a:r>
                <a:r>
                  <a:rPr lang="en-IN" sz="2400">
                    <a:solidFill>
                      <a:srgbClr val="111827"/>
                    </a:solidFill>
                    <a:latin typeface="Cambria Math" panose="02040503050406030204" pitchFamily="18" charset="0"/>
                  </a:rPr>
                  <a:t>$=\binom{10}{3}+\binom{10}{4}+\binom{10}{5}+\binom{10}{6}$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$\binom{10}{3}=120$</a:t>
                </a:r>
                <a:r>
                  <a:rPr sz="2400" b="0">
                    <a:solidFill>
                      <a:srgbClr val="111827"/>
                    </a:solidFill>
                    <a:latin typeface="Arial"/>
                  </a:rPr>
                  <a:t> and </a:t>
                </a:r>
                <a:r>
                  <a:rPr lang="en-IN" sz="2400">
                    <a:solidFill>
                      <a:srgbClr val="111827"/>
                    </a:solidFill>
                    <a:latin typeface="Cambria Math" panose="02040503050406030204" pitchFamily="18" charset="0"/>
                  </a:rPr>
                  <a:t>$\binom{10}{4}=210$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$\binom{10}{5}=252$</a:t>
                </a:r>
                <a:r>
                  <a:rPr sz="2400" b="0">
                    <a:solidFill>
                      <a:srgbClr val="111827"/>
                    </a:solidFill>
                    <a:latin typeface="Arial"/>
                  </a:rPr>
                  <a:t> and </a:t>
                </a:r>
                <a:r>
                  <a:rPr lang="en-IN" sz="2400">
                    <a:solidFill>
                      <a:srgbClr val="111827"/>
                    </a:solidFill>
                    <a:latin typeface="Cambria Math" panose="02040503050406030204" pitchFamily="18" charset="0"/>
                  </a:rPr>
                  <a:t>$\binom{10}{6}=210$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$=120+210+252+210=792$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792</a:t>
            </a:r>
            <a:endParaRPr sz="2800">
              <a:solidFill>
                <a:srgbClr val="15803D"/>
              </a:solidFill>
            </a:endParaRP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Complementary counting: remove subsets of size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10</m:t>
                    </m:r>
                  </m:oMath>
                </a14:m>
                <a:r>
                  <a:rPr sz="2400" b="0">
                    <a:solidFill>
                      <a:srgbClr val="78350F"/>
                    </a:solidFill>
                    <a:latin typeface="Arial"/>
                  </a:rPr>
                  <a:t> from all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10</m:t>
                        </m:r>
                      </m:sup>
                    </m:sSup>
                  </m:oMath>
                </a14:m>
                <a:r>
                  <a:rPr sz="2400" b="0">
                    <a:solidFill>
                      <a:srgbClr val="78350F"/>
                    </a:solidFill>
                    <a:latin typeface="Arial"/>
                  </a:rPr>
                  <a:t> subsets, using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Complementary counting: remove subsets of size </a:t>
                </a:r>
                <a:r>
                  <a:rPr lang="en-IN" sz="2400">
                    <a:solidFill>
                      <a:srgbClr val="78350F"/>
                    </a:solidFill>
                    <a:latin typeface="Cambria Math" panose="02040503050406030204" pitchFamily="18" charset="0"/>
                  </a:rPr>
                  <a:t>$0,1,2$</a:t>
                </a:r>
                <a:r>
                  <a:rPr sz="2400" b="0">
                    <a:solidFill>
                      <a:srgbClr val="78350F"/>
                    </a:solidFill>
                    <a:latin typeface="Arial"/>
                  </a:rPr>
                  <a:t> and </a:t>
                </a:r>
                <a:r>
                  <a:rPr lang="en-IN" sz="2400">
                    <a:solidFill>
                      <a:srgbClr val="78350F"/>
                    </a:solidFill>
                    <a:latin typeface="Cambria Math" panose="02040503050406030204" pitchFamily="18" charset="0"/>
                  </a:rPr>
                  <a:t>$7$</a:t>
                </a:r>
                <a:r>
                  <a:rPr sz="2400" b="0">
                    <a:solidFill>
                      <a:srgbClr val="78350F"/>
                    </a:solidFill>
                    <a:latin typeface="Arial"/>
                  </a:rPr>
                  <a:t> to </a:t>
                </a:r>
                <a:r>
                  <a:rPr lang="en-IN" sz="2400">
                    <a:solidFill>
                      <a:srgbClr val="78350F"/>
                    </a:solidFill>
                    <a:latin typeface="Cambria Math" panose="02040503050406030204" pitchFamily="18" charset="0"/>
                  </a:rPr>
                  <a:t>$10$</a:t>
                </a:r>
                <a:r>
                  <a:rPr sz="2400" b="0">
                    <a:solidFill>
                      <a:srgbClr val="78350F"/>
                    </a:solidFill>
                    <a:latin typeface="Arial"/>
                  </a:rPr>
                  <a:t> from all </a:t>
                </a:r>
                <a:r>
                  <a:rPr lang="en-IN" sz="2400">
                    <a:solidFill>
                      <a:srgbClr val="78350F"/>
                    </a:solidFill>
                    <a:latin typeface="Cambria Math" panose="02040503050406030204" pitchFamily="18" charset="0"/>
                  </a:rPr>
                  <a:t>$2^{10}$</a:t>
                </a:r>
                <a:r>
                  <a:rPr sz="2400" b="0">
                    <a:solidFill>
                      <a:srgbClr val="78350F"/>
                    </a:solidFill>
                    <a:latin typeface="Arial"/>
                  </a:rPr>
                  <a:t> subsets, using </a:t>
                </a:r>
                <a:r>
                  <a:rPr lang="en-IN" sz="2400">
                    <a:solidFill>
                      <a:srgbClr val="78350F"/>
                    </a:solidFill>
                    <a:latin typeface="Cambria Math" panose="02040503050406030204" pitchFamily="18" charset="0"/>
                  </a:rPr>
                  <a:t>$\binom{10}{k}=\binom{10}{10-k}$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subsets of the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-element set: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are mirror images of sizes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subsets of the </a:t>
                </a:r>
                <a:r>
                  <a:rPr lang="en-IN" sz="2400">
                    <a:solidFill>
                      <a:srgbClr val="111827"/>
                    </a:solidFill>
                    <a:latin typeface="Cambria Math" panose="02040503050406030204" pitchFamily="18" charset="0"/>
                  </a:rPr>
                  <a:t>$10$</a:t>
                </a:r>
                <a:r>
                  <a:rPr sz="2400" b="0">
                    <a:solidFill>
                      <a:srgbClr val="111827"/>
                    </a:solidFill>
                    <a:latin typeface="Arial"/>
                  </a:rPr>
                  <a:t>-element set: </a:t>
                </a:r>
                <a:r>
                  <a:rPr lang="en-IN" sz="2400">
                    <a:solidFill>
                      <a:srgbClr val="111827"/>
                    </a:solidFill>
                    <a:latin typeface="Cambria Math" panose="02040503050406030204" pitchFamily="18" charset="0"/>
                  </a:rPr>
                  <a:t>$2^{10}=1024$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Sizes </a:t>
                </a:r>
                <a:r>
                  <a:rPr lang="en-IN" sz="2400">
                    <a:solidFill>
                      <a:srgbClr val="111827"/>
                    </a:solidFill>
                    <a:latin typeface="Cambria Math" panose="02040503050406030204" pitchFamily="18" charset="0"/>
                  </a:rPr>
                  <a:t>$0,1,2$</a:t>
                </a:r>
                <a:r>
                  <a:rPr sz="2400" b="0">
                    <a:solidFill>
                      <a:srgbClr val="111827"/>
                    </a:solidFill>
                    <a:latin typeface="Arial"/>
                  </a:rPr>
                  <a:t>: </a:t>
                </a:r>
                <a:r>
                  <a:rPr lang="en-IN" sz="2400">
                    <a:solidFill>
                      <a:srgbClr val="111827"/>
                    </a:solidFill>
                    <a:latin typeface="Cambria Math" panose="02040503050406030204" pitchFamily="18" charset="0"/>
                  </a:rPr>
                  <a:t>$1+10+45=56$</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Sizes </a:t>
                </a:r>
                <a:r>
                  <a:rPr lang="en-IN" sz="2400">
                    <a:solidFill>
                      <a:srgbClr val="111827"/>
                    </a:solidFill>
                    <a:latin typeface="Cambria Math" panose="02040503050406030204" pitchFamily="18" charset="0"/>
                  </a:rPr>
                  <a:t>$7,8,9,10$</a:t>
                </a:r>
                <a:r>
                  <a:rPr sz="2400" b="0">
                    <a:solidFill>
                      <a:srgbClr val="111827"/>
                    </a:solidFill>
                    <a:latin typeface="Arial"/>
                  </a:rPr>
                  <a:t> are mirror images of sizes </a:t>
                </a:r>
                <a:r>
                  <a:rPr lang="en-IN" sz="2400">
                    <a:solidFill>
                      <a:srgbClr val="111827"/>
                    </a:solidFill>
                    <a:latin typeface="Cambria Math" panose="02040503050406030204" pitchFamily="18" charset="0"/>
                  </a:rPr>
                  <a:t>$3,2,1,0$</a:t>
                </a:r>
                <a:r>
                  <a:rPr sz="2400" b="0">
                    <a:solidFill>
                      <a:srgbClr val="111827"/>
                    </a:solidFill>
                    <a:latin typeface="Arial"/>
                  </a:rPr>
                  <a:t>: </a:t>
                </a:r>
                <a:r>
                  <a:rPr lang="en-IN" sz="2400">
                    <a:solidFill>
                      <a:srgbClr val="111827"/>
                    </a:solidFill>
                    <a:latin typeface="Cambria Math" panose="02040503050406030204" pitchFamily="18" charset="0"/>
                  </a:rPr>
                  <a:t>$\binom{10}{7}+\binom{10}{8}+\binom{10}{9}+\binom{10}{10}=120+45+10+1=176$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a:t>
                </a:r>
                <a:r>
                  <a:rPr lang="en-IN" sz="2400">
                    <a:solidFill>
                      <a:srgbClr val="111827"/>
                    </a:solidFill>
                    <a:latin typeface="Cambria Math" panose="02040503050406030204" pitchFamily="18" charset="0"/>
                  </a:rPr>
                  <a:t>$=1024-56-176=792$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792</a:t>
            </a:r>
            <a:endParaRPr sz="2800">
              <a:solidFill>
                <a:srgbClr val="15803D"/>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 set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subsets,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 window of sizes use the complement when the window is large (here </a:t>
                </a:r>
                <a14:m>
                  <m:oMath xmlns:m="http://schemas.openxmlformats.org/officeDocument/2006/math">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relations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'relations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the same 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Central values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1024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$n(A\times B)=n(A)\,n(B)$</a:t>
                </a:r>
                <a:r>
                  <a:rPr sz="2400" b="0">
                    <a:solidFill>
                      <a:srgbClr val="111827"/>
                    </a:solidFill>
                    <a:latin typeface="Arial"/>
                  </a:rPr>
                  <a:t>, and a set with </a:t>
                </a:r>
                <a:r>
                  <a:rPr lang="en-IN" sz="2400">
                    <a:solidFill>
                      <a:srgbClr val="111827"/>
                    </a:solidFill>
                    <a:latin typeface="Cambria Math" panose="02040503050406030204" pitchFamily="18" charset="0"/>
                  </a:rPr>
                  <a:t>$m$</a:t>
                </a:r>
                <a:r>
                  <a:rPr sz="2400" b="0">
                    <a:solidFill>
                      <a:srgbClr val="111827"/>
                    </a:solidFill>
                    <a:latin typeface="Arial"/>
                  </a:rPr>
                  <a:t> elements has </a:t>
                </a:r>
                <a:r>
                  <a:rPr lang="en-IN" sz="2400">
                    <a:solidFill>
                      <a:srgbClr val="111827"/>
                    </a:solidFill>
                    <a:latin typeface="Cambria Math" panose="02040503050406030204" pitchFamily="18" charset="0"/>
                  </a:rPr>
                  <a:t>$2^m$</a:t>
                </a:r>
                <a:r>
                  <a:rPr sz="2400" b="0">
                    <a:solidFill>
                      <a:srgbClr val="111827"/>
                    </a:solidFill>
                    <a:latin typeface="Arial"/>
                  </a:rPr>
                  <a:t> subsets, </a:t>
                </a:r>
                <a:r>
                  <a:rPr lang="en-IN" sz="2400">
                    <a:solidFill>
                      <a:srgbClr val="111827"/>
                    </a:solidFill>
                    <a:latin typeface="Cambria Math" panose="02040503050406030204" pitchFamily="18" charset="0"/>
                  </a:rPr>
                  <a:t>$\binom mk$</a:t>
                </a:r>
                <a:r>
                  <a:rPr sz="2400" b="0">
                    <a:solidFill>
                      <a:srgbClr val="111827"/>
                    </a:solidFill>
                    <a:latin typeface="Arial"/>
                  </a:rPr>
                  <a:t> of size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 nk=\binom n{n-k}$</a:t>
                </a:r>
                <a:r>
                  <a:rPr sz="2400" b="0">
                    <a:solidFill>
                      <a:srgbClr val="111827"/>
                    </a:solidFill>
                    <a:latin typeface="Arial"/>
                  </a:rPr>
                  <a:t> and </a:t>
                </a:r>
                <a:r>
                  <a:rPr lang="en-IN" sz="2400">
                    <a:solidFill>
                      <a:srgbClr val="111827"/>
                    </a:solidFill>
                    <a:latin typeface="Cambria Math" panose="02040503050406030204" pitchFamily="18" charset="0"/>
                  </a:rPr>
                  <a:t>$\sum_{k=0}^n\binom nk=2^n$</a:t>
                </a:r>
                <a:r>
                  <a:rPr sz="2400" b="0">
                    <a:solidFill>
                      <a:srgbClr val="111827"/>
                    </a:solidFill>
                    <a:latin typeface="Arial"/>
                  </a:rPr>
                  <a:t>; for a window of sizes use the complement when the window is large (here </a:t>
                </a:r>
                <a:r>
                  <a:rPr lang="en-IN" sz="2400">
                    <a:solidFill>
                      <a:srgbClr val="111827"/>
                    </a:solidFill>
                    <a:latin typeface="Cambria Math" panose="02040503050406030204" pitchFamily="18" charset="0"/>
                  </a:rPr>
                  <a:t>$1024-56-176$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relations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$2^{n(A)n(B)}$</a:t>
                </a:r>
                <a:r>
                  <a:rPr sz="2400" b="0">
                    <a:solidFill>
                      <a:srgbClr val="111827"/>
                    </a:solidFill>
                    <a:latin typeface="Arial"/>
                  </a:rPr>
                  <a:t> (here </a:t>
                </a:r>
                <a:r>
                  <a:rPr lang="en-IN" sz="2400">
                    <a:solidFill>
                      <a:srgbClr val="111827"/>
                    </a:solidFill>
                    <a:latin typeface="Cambria Math" panose="02040503050406030204" pitchFamily="18" charset="0"/>
                  </a:rPr>
                  <a:t>$2^{10}$</a:t>
                </a:r>
                <a:r>
                  <a:rPr sz="2400" b="0">
                    <a:solidFill>
                      <a:srgbClr val="111827"/>
                    </a:solidFill>
                    <a:latin typeface="Arial"/>
                  </a:rPr>
                  <a:t>); 'subsets of </a:t>
                </a:r>
                <a:r>
                  <a:rPr lang="en-IN" sz="2400">
                    <a:solidFill>
                      <a:srgbClr val="111827"/>
                    </a:solidFill>
                    <a:latin typeface="Cambria Math" panose="02040503050406030204" pitchFamily="18" charset="0"/>
                  </a:rPr>
                  <a:t>$A\times B$</a:t>
                </a:r>
                <a:r>
                  <a:rPr sz="2400" b="0">
                    <a:solidFill>
                      <a:srgbClr val="111827"/>
                    </a:solidFill>
                    <a:latin typeface="Arial"/>
                  </a:rPr>
                  <a:t>' and 'relations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$B$</a:t>
                </a:r>
                <a:r>
                  <a:rPr sz="2400" b="0">
                    <a:solidFill>
                      <a:srgbClr val="111827"/>
                    </a:solidFill>
                    <a:latin typeface="Arial"/>
                  </a:rPr>
                  <a:t>' are the same 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Central values of </a:t>
                </a:r>
                <a:r>
                  <a:rPr lang="en-IN" sz="2400">
                    <a:solidFill>
                      <a:srgbClr val="111827"/>
                    </a:solidFill>
                    <a:latin typeface="Cambria Math" panose="02040503050406030204" pitchFamily="18" charset="0"/>
                  </a:rPr>
                  <a:t>$\binom{10}{k}$</a:t>
                </a:r>
                <a:r>
                  <a:rPr sz="2400" b="0">
                    <a:solidFill>
                      <a:srgbClr val="111827"/>
                    </a:solidFill>
                    <a:latin typeface="Arial"/>
                  </a:rPr>
                  <a:t>: </a:t>
                </a:r>
                <a:r>
                  <a:rPr lang="en-IN" sz="2400">
                    <a:solidFill>
                      <a:srgbClr val="111827"/>
                    </a:solidFill>
                    <a:latin typeface="Cambria Math" panose="02040503050406030204" pitchFamily="18" charset="0"/>
                  </a:rPr>
                  <a:t>$1,10,45,120,210,252,210,120,45,10,1$</a:t>
                </a:r>
                <a:r>
                  <a:rPr sz="2400" b="0">
                    <a:solidFill>
                      <a:srgbClr val="111827"/>
                    </a:solidFill>
                    <a:latin typeface="Arial"/>
                  </a:rPr>
                  <a:t> (sum </a:t>
                </a:r>
                <a:r>
                  <a:rPr lang="en-IN" sz="2400">
                    <a:solidFill>
                      <a:srgbClr val="111827"/>
                    </a:solidFill>
                    <a:latin typeface="Cambria Math" panose="02040503050406030204" pitchFamily="18" charset="0"/>
                  </a:rPr>
                  <a:t>$1024$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but neither symmetric nor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$A=\{1,2,3,4,5,6,7\}$</a:t>
                </a:r>
                <a:r>
                  <a:rPr sz="2400" b="0">
                    <a:solidFill>
                      <a:srgbClr val="111827"/>
                    </a:solidFill>
                    <a:latin typeface="Arial"/>
                  </a:rPr>
                  <a:t>. Then the relation </a:t>
                </a:r>
                <a:r>
                  <a:rPr lang="en-IN" sz="2400">
                    <a:solidFill>
                      <a:srgbClr val="111827"/>
                    </a:solidFill>
                    <a:latin typeface="Cambria Math" panose="02040503050406030204" pitchFamily="18" charset="0"/>
                  </a:rPr>
                  <a:t>$R=\{(x,y)\in A\times A: x+y=7\}$</a:t>
                </a:r>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but neither symmetric nor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(reflexive, symmetric, transitive)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and test the three properties;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breaks both reflexivity and transitivity.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a:t>
                </a:r>
                <a:r>
                  <a:rPr lang="en-IN" sz="2400">
                    <a:solidFill>
                      <a:srgbClr val="78350F"/>
                    </a:solidFill>
                    <a:latin typeface="Cambria Math" panose="02040503050406030204" pitchFamily="18" charset="0"/>
                  </a:rPr>
                  <a:t>$R$</a:t>
                </a:r>
                <a:r>
                  <a:rPr sz="2400" b="0">
                    <a:solidFill>
                      <a:srgbClr val="78350F"/>
                    </a:solidFill>
                    <a:latin typeface="Arial"/>
                  </a:rPr>
                  <a:t> and test the three properties; </a:t>
                </a:r>
                <a:r>
                  <a:rPr lang="en-IN" sz="2400">
                    <a:solidFill>
                      <a:srgbClr val="78350F"/>
                    </a:solidFill>
                    <a:latin typeface="Cambria Math" panose="02040503050406030204" pitchFamily="18" charset="0"/>
                  </a:rPr>
                  <a:t>$(1,6),(6,1)\in R$</a:t>
                </a:r>
                <a:r>
                  <a:rPr sz="2400" b="0">
                    <a:solidFill>
                      <a:srgbClr val="78350F"/>
                    </a:solidFill>
                    <a:latin typeface="Arial"/>
                  </a:rPr>
                  <a:t> but </a:t>
                </a:r>
                <a:r>
                  <a:rPr lang="en-IN" sz="2400">
                    <a:solidFill>
                      <a:srgbClr val="78350F"/>
                    </a:solidFill>
                    <a:latin typeface="Cambria Math" panose="02040503050406030204" pitchFamily="18" charset="0"/>
                  </a:rPr>
                  <a:t>$(1,1)\notin R$</a:t>
                </a:r>
                <a:r>
                  <a:rPr sz="2400" b="0">
                    <a:solidFill>
                      <a:srgbClr val="78350F"/>
                    </a:solidFill>
                    <a:latin typeface="Arial"/>
                  </a:rPr>
                  <a:t> breaks both reflexivity and transitivity.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 elements: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Whenever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Each listed pair has its reverse.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 elements: </a:t>
                </a:r>
                <a:r>
                  <a:rPr lang="en-IN" sz="2400">
                    <a:solidFill>
                      <a:srgbClr val="111827"/>
                    </a:solidFill>
                    <a:latin typeface="Cambria Math" panose="02040503050406030204" pitchFamily="18" charset="0"/>
                  </a:rPr>
                  <a:t>$R=\{(1,6),(2,5),(3,4),(4,3),(5,2),(6,1)\}$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$(1,1)\notin R$</a:t>
                </a:r>
                <a:r>
                  <a:rPr sz="2400" b="0">
                    <a:solidFill>
                      <a:srgbClr val="111827"/>
                    </a:solidFill>
                    <a:latin typeface="Arial"/>
                  </a:rPr>
                  <a:t> since </a:t>
                </a:r>
                <a:r>
                  <a:rPr lang="en-IN" sz="2400">
                    <a:solidFill>
                      <a:srgbClr val="111827"/>
                    </a:solidFill>
                    <a:latin typeface="Cambria Math" panose="02040503050406030204" pitchFamily="18" charset="0"/>
                  </a:rPr>
                  <a:t>$1+1\ne7$</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Whenever </a:t>
                </a:r>
                <a:r>
                  <a:rPr lang="en-IN" sz="2400">
                    <a:solidFill>
                      <a:srgbClr val="111827"/>
                    </a:solidFill>
                    <a:latin typeface="Cambria Math" panose="02040503050406030204" pitchFamily="18" charset="0"/>
                  </a:rPr>
                  <a:t>$x+y=7$</a:t>
                </a:r>
                <a:r>
                  <a:rPr sz="2400" b="0">
                    <a:solidFill>
                      <a:srgbClr val="111827"/>
                    </a:solidFill>
                    <a:latin typeface="Arial"/>
                  </a:rPr>
                  <a:t> we have </a:t>
                </a:r>
                <a:r>
                  <a:rPr lang="en-IN" sz="2400">
                    <a:solidFill>
                      <a:srgbClr val="111827"/>
                    </a:solidFill>
                    <a:latin typeface="Cambria Math" panose="02040503050406030204" pitchFamily="18" charset="0"/>
                  </a:rPr>
                  <a:t>$y+x=7$</a:t>
                </a:r>
                <a:r>
                  <a:rPr sz="2400" b="0">
                    <a:solidFill>
                      <a:srgbClr val="111827"/>
                    </a:solidFill>
                    <a:latin typeface="Arial"/>
                  </a:rPr>
                  <a:t>, so </a:t>
                </a:r>
                <a:r>
                  <a:rPr lang="en-IN" sz="2400">
                    <a:solidFill>
                      <a:srgbClr val="111827"/>
                    </a:solidFill>
                    <a:latin typeface="Cambria Math" panose="02040503050406030204" pitchFamily="18" charset="0"/>
                  </a:rPr>
                  <a:t>$(y,x)\in R$</a:t>
                </a:r>
                <a:r>
                  <a:rPr sz="2400" b="0">
                    <a:solidFill>
                      <a:srgbClr val="111827"/>
                    </a:solidFill>
                    <a:latin typeface="Arial"/>
                  </a:rPr>
                  <a:t>. Each listed pair has its reverse.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p:txBody>
          </p:sp>
        </mc:Fallback>
      </mc:AlternateContent>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but neither reflexive nor transitive: option (B). It is not an equivalence relation.</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$(1,6)\in R$</a:t>
                </a:r>
                <a:r>
                  <a:rPr sz="2400" b="0">
                    <a:solidFill>
                      <a:srgbClr val="111827"/>
                    </a:solidFill>
                    <a:latin typeface="Arial"/>
                  </a:rPr>
                  <a:t> and </a:t>
                </a:r>
                <a:r>
                  <a:rPr lang="en-IN" sz="2400">
                    <a:solidFill>
                      <a:srgbClr val="111827"/>
                    </a:solidFill>
                    <a:latin typeface="Cambria Math" panose="02040503050406030204" pitchFamily="18" charset="0"/>
                  </a:rPr>
                  <a:t>$(6,1)\in R$</a:t>
                </a:r>
                <a:r>
                  <a:rPr sz="2400" b="0">
                    <a:solidFill>
                      <a:srgbClr val="111827"/>
                    </a:solidFill>
                    <a:latin typeface="Arial"/>
                  </a:rPr>
                  <a:t> but </a:t>
                </a:r>
                <a:r>
                  <a:rPr lang="en-IN" sz="2400">
                    <a:solidFill>
                      <a:srgbClr val="111827"/>
                    </a:solidFill>
                    <a:latin typeface="Cambria Math" panose="02040503050406030204" pitchFamily="18" charset="0"/>
                  </a:rPr>
                  <a:t>$(1,1)\notin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symmetric but neither reflexive nor transitive: option (B). It is not an equivalence relation.</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symmetric but neither reflexive nor transitive</a:t>
            </a:r>
            <a:endParaRPr sz="2800">
              <a:solidFill>
                <a:srgbClr val="15803D"/>
              </a:solidFill>
            </a:endParaRP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symmetric; it is reflexive only if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which fails once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an element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symmetric relation with some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is transitive only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One such failing pair disproves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 reflexive + symmetric + transitive; check the cheapest failing property first (reflexivity: one missing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$R=\{(x,y):x+y=c\}$</a:t>
                </a:r>
                <a:r>
                  <a:rPr sz="2400" b="0">
                    <a:solidFill>
                      <a:srgbClr val="111827"/>
                    </a:solidFill>
                    <a:latin typeface="Arial"/>
                  </a:rPr>
                  <a:t> is always symmetric; it is reflexive only if </a:t>
                </a:r>
                <a:r>
                  <a:rPr lang="en-IN" sz="2400">
                    <a:solidFill>
                      <a:srgbClr val="111827"/>
                    </a:solidFill>
                    <a:latin typeface="Cambria Math" panose="02040503050406030204" pitchFamily="18" charset="0"/>
                  </a:rPr>
                  <a:t>$2x=c$</a:t>
                </a:r>
                <a:r>
                  <a:rPr sz="2400" b="0">
                    <a:solidFill>
                      <a:srgbClr val="111827"/>
                    </a:solidFill>
                    <a:latin typeface="Arial"/>
                  </a:rPr>
                  <a:t> for every </a:t>
                </a:r>
                <a:r>
                  <a:rPr lang="en-IN" sz="2400">
                    <a:solidFill>
                      <a:srgbClr val="111827"/>
                    </a:solidFill>
                    <a:latin typeface="Cambria Math" panose="02040503050406030204" pitchFamily="18" charset="0"/>
                  </a:rPr>
                  <a:t>$x\in A$</a:t>
                </a:r>
                <a:r>
                  <a:rPr sz="2400" b="0">
                    <a:solidFill>
                      <a:srgbClr val="111827"/>
                    </a:solidFill>
                    <a:latin typeface="Arial"/>
                  </a:rPr>
                  <a:t>, which fails once </a:t>
                </a:r>
                <a:r>
                  <a:rPr lang="en-IN" sz="2400">
                    <a:solidFill>
                      <a:srgbClr val="111827"/>
                    </a:solidFill>
                    <a:latin typeface="Cambria Math" panose="02040503050406030204" pitchFamily="18" charset="0"/>
                  </a:rPr>
                  <a:t>$A$</a:t>
                </a:r>
                <a:r>
                  <a:rPr sz="2400" b="0">
                    <a:solidFill>
                      <a:srgbClr val="111827"/>
                    </a:solidFill>
                    <a:latin typeface="Arial"/>
                  </a:rPr>
                  <a:t> has an element </a:t>
                </a:r>
                <a:r>
                  <a:rPr lang="en-IN" sz="2400">
                    <a:solidFill>
                      <a:srgbClr val="111827"/>
                    </a:solidFill>
                    <a:latin typeface="Cambria Math" panose="02040503050406030204" pitchFamily="18" charset="0"/>
                  </a:rPr>
                  <a:t>$\ne 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symmetric relation with some </a:t>
                </a:r>
                <a:r>
                  <a:rPr lang="en-IN" sz="2400">
                    <a:solidFill>
                      <a:srgbClr val="111827"/>
                    </a:solidFill>
                    <a:latin typeface="Cambria Math" panose="02040503050406030204" pitchFamily="18" charset="0"/>
                  </a:rPr>
                  <a:t>$(x,y)\in R$</a:t>
                </a:r>
                <a:r>
                  <a:rPr sz="2400" b="0">
                    <a:solidFill>
                      <a:srgbClr val="111827"/>
                    </a:solidFill>
                    <a:latin typeface="Arial"/>
                  </a:rPr>
                  <a:t> is transitive only if </a:t>
                </a:r>
                <a:r>
                  <a:rPr lang="en-IN" sz="2400">
                    <a:solidFill>
                      <a:srgbClr val="111827"/>
                    </a:solidFill>
                    <a:latin typeface="Cambria Math" panose="02040503050406030204" pitchFamily="18" charset="0"/>
                  </a:rPr>
                  <a:t>$(x,x)\in R$</a:t>
                </a:r>
                <a:r>
                  <a:rPr sz="2400" b="0">
                    <a:solidFill>
                      <a:srgbClr val="111827"/>
                    </a:solidFill>
                    <a:latin typeface="Arial"/>
                  </a:rPr>
                  <a:t> (since </a:t>
                </a:r>
                <a:r>
                  <a:rPr lang="en-IN" sz="2400">
                    <a:solidFill>
                      <a:srgbClr val="111827"/>
                    </a:solidFill>
                    <a:latin typeface="Cambria Math" panose="02040503050406030204" pitchFamily="18" charset="0"/>
                  </a:rPr>
                  <a:t>$(x,y),(y,x)\in R$</a:t>
                </a:r>
                <a:r>
                  <a:rPr sz="2400" b="0">
                    <a:solidFill>
                      <a:srgbClr val="111827"/>
                    </a:solidFill>
                    <a:latin typeface="Arial"/>
                  </a:rPr>
                  <a:t>). One such failing pair disproves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 reflexive + symmetric + transitive; check the cheapest failing property first (reflexivity: one missing </a:t>
                </a:r>
                <a:r>
                  <a:rPr lang="en-IN" sz="2400">
                    <a:solidFill>
                      <a:srgbClr val="111827"/>
                    </a:solidFill>
                    <a:latin typeface="Cambria Math" panose="02040503050406030204" pitchFamily="18" charset="0"/>
                  </a:rPr>
                  <a:t>$(x,x)$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nor/>
                      </m:rPr>
                      <a:rPr lang="en-IN" sz="2400" i="1">
                        <a:solidFill>
                          <a:srgbClr val="111827"/>
                        </a:solidFill>
                        <a:latin typeface="Cambria Math" panose="02040503050406030204" pitchFamily="18" charset="0"/>
                      </a:rPr>
                      <m:t> 𝑑𝑖𝑣𝑖𝑑𝑒𝑠 </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nor/>
                      </m:rPr>
                      <a:rPr lang="en-IN" sz="2400" i="1">
                        <a:solidFill>
                          <a:srgbClr val="111827"/>
                        </a:solidFill>
                        <a:latin typeface="Cambria Math" panose="02040503050406030204" pitchFamily="18" charset="0"/>
                      </a:rPr>
                      <m:t> 𝑎𝑛𝑑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nor/>
                      </m:rPr>
                      <a:rPr lang="en-IN" sz="2400" i="1">
                        <a:solidFill>
                          <a:srgbClr val="111827"/>
                        </a:solidFill>
                        <a:latin typeface="Cambria Math" panose="02040503050406030204" pitchFamily="18" charset="0"/>
                      </a:rPr>
                      <m:t> 𝑑𝑖𝑣𝑖𝑑𝑒𝑠 </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36</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$A=\{2,3,4\}$</a:t>
                </a:r>
                <a:r>
                  <a:rPr sz="2400" b="0">
                    <a:solidFill>
                      <a:srgbClr val="111827"/>
                    </a:solidFill>
                    <a:latin typeface="Arial"/>
                  </a:rPr>
                  <a:t> and </a:t>
                </a:r>
                <a:r>
                  <a:rPr lang="en-IN" sz="2400">
                    <a:solidFill>
                      <a:srgbClr val="111827"/>
                    </a:solidFill>
                    <a:latin typeface="Cambria Math" panose="02040503050406030204" pitchFamily="18" charset="0"/>
                  </a:rPr>
                  <a:t>$B=\{8,9,12\}$</a:t>
                </a:r>
                <a:r>
                  <a:rPr sz="2400" b="0">
                    <a:solidFill>
                      <a:srgbClr val="111827"/>
                    </a:solidFill>
                    <a:latin typeface="Arial"/>
                  </a:rPr>
                  <a:t>. Then the number of elements in the relation </a:t>
                </a:r>
                <a:r>
                  <a:rPr lang="en-IN" sz="2400">
                    <a:solidFill>
                      <a:srgbClr val="111827"/>
                    </a:solidFill>
                    <a:latin typeface="Cambria Math" panose="02040503050406030204" pitchFamily="18" charset="0"/>
                  </a:rPr>
                  <a:t>$R=\{((a_1,b_1),(a_2,b_2))\in(A\times B,\,A\times B): a_1\text{ divides }b_2\text{ and }a_2\text{ divides }b_1\}$</a:t>
                </a:r>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$24$</a:t>
                </a:r>
                <a:r>
                  <a:rPr sz="2400" b="0">
                    <a:solidFill>
                      <a:srgbClr val="111827"/>
                    </a:solidFill>
                    <a:latin typeface="Arial"/>
                  </a:rPr>
                  <a:t>   (B) </a:t>
                </a:r>
                <a:r>
                  <a:rPr lang="en-IN" sz="2400">
                    <a:solidFill>
                      <a:srgbClr val="111827"/>
                    </a:solidFill>
                    <a:latin typeface="Cambria Math" panose="02040503050406030204" pitchFamily="18" charset="0"/>
                  </a:rPr>
                  <a:t>$12$</a:t>
                </a:r>
                <a:r>
                  <a:rPr sz="2400" b="0">
                    <a:solidFill>
                      <a:srgbClr val="111827"/>
                    </a:solidFill>
                    <a:latin typeface="Arial"/>
                  </a:rPr>
                  <a:t>   (C) </a:t>
                </a:r>
                <a:r>
                  <a:rPr lang="en-IN" sz="2400">
                    <a:solidFill>
                      <a:srgbClr val="111827"/>
                    </a:solidFill>
                    <a:latin typeface="Cambria Math" panose="02040503050406030204" pitchFamily="18" charset="0"/>
                  </a:rPr>
                  <a:t>$18$</a:t>
                </a:r>
                <a:r>
                  <a:rPr sz="2400" b="0">
                    <a:solidFill>
                      <a:srgbClr val="111827"/>
                    </a:solidFill>
                    <a:latin typeface="Arial"/>
                  </a:rPr>
                  <a:t>   (D) </a:t>
                </a:r>
                <a:r>
                  <a:rPr lang="en-IN" sz="2400">
                    <a:solidFill>
                      <a:srgbClr val="111827"/>
                    </a:solidFill>
                    <a:latin typeface="Cambria Math" panose="02040503050406030204" pitchFamily="18" charset="0"/>
                  </a:rPr>
                  <a:t>$36$</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on product sets (counting), Divisibility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divisibility conditions involve the separate pairs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count is the square of the number of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divisibility conditions involve the separate pairs </a:t>
                </a:r>
                <a:r>
                  <a:rPr lang="en-IN" sz="2400">
                    <a:solidFill>
                      <a:srgbClr val="78350F"/>
                    </a:solidFill>
                    <a:latin typeface="Cambria Math" panose="02040503050406030204" pitchFamily="18" charset="0"/>
                  </a:rPr>
                  <a:t>$(a_1,b_2)$</a:t>
                </a:r>
                <a:r>
                  <a:rPr sz="2400" b="0">
                    <a:solidFill>
                      <a:srgbClr val="78350F"/>
                    </a:solidFill>
                    <a:latin typeface="Arial"/>
                  </a:rPr>
                  <a:t> and </a:t>
                </a:r>
                <a:r>
                  <a:rPr lang="en-IN" sz="2400">
                    <a:solidFill>
                      <a:srgbClr val="78350F"/>
                    </a:solidFill>
                    <a:latin typeface="Cambria Math" panose="02040503050406030204" pitchFamily="18" charset="0"/>
                  </a:rPr>
                  <a:t>$(a_2,b_1)$</a:t>
                </a:r>
                <a:r>
                  <a:rPr sz="2400" b="0">
                    <a:solidFill>
                      <a:srgbClr val="78350F"/>
                    </a:solidFill>
                    <a:latin typeface="Arial"/>
                  </a:rPr>
                  <a:t>, so the count is the square of the number of pairs </a:t>
                </a:r>
                <a:r>
                  <a:rPr lang="en-IN" sz="2400">
                    <a:solidFill>
                      <a:srgbClr val="78350F"/>
                    </a:solidFill>
                    <a:latin typeface="Cambria Math" panose="02040503050406030204" pitchFamily="18" charset="0"/>
                  </a:rPr>
                  <a:t>$(a,b)$</a:t>
                </a:r>
                <a:r>
                  <a:rPr sz="2400" b="0">
                    <a:solidFill>
                      <a:srgbClr val="78350F"/>
                    </a:solidFill>
                    <a:latin typeface="Arial"/>
                  </a:rPr>
                  <a:t> with </a:t>
                </a:r>
                <a:r>
                  <a:rPr lang="en-IN" sz="2400">
                    <a:solidFill>
                      <a:srgbClr val="78350F"/>
                    </a:solidFill>
                    <a:latin typeface="Cambria Math" panose="02040503050406030204" pitchFamily="18" charset="0"/>
                  </a:rPr>
                  <a:t>$a\mid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divides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divides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 pairs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the same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pairs.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$a_1\in A$</a:t>
                </a:r>
                <a:r>
                  <a:rPr sz="2400" b="0">
                    <a:solidFill>
                      <a:srgbClr val="111827"/>
                    </a:solidFill>
                    <a:latin typeface="Arial"/>
                  </a:rPr>
                  <a:t>, </a:t>
                </a:r>
                <a:r>
                  <a:rPr lang="en-IN" sz="2400">
                    <a:solidFill>
                      <a:srgbClr val="111827"/>
                    </a:solidFill>
                    <a:latin typeface="Cambria Math" panose="02040503050406030204" pitchFamily="18" charset="0"/>
                  </a:rPr>
                  <a:t>$b_2\in B$</a:t>
                </a:r>
                <a:r>
                  <a:rPr sz="2400" b="0">
                    <a:solidFill>
                      <a:srgbClr val="111827"/>
                    </a:solidFill>
                    <a:latin typeface="Arial"/>
                  </a:rPr>
                  <a:t> and </a:t>
                </a:r>
                <a:r>
                  <a:rPr lang="en-IN" sz="2400">
                    <a:solidFill>
                      <a:srgbClr val="111827"/>
                    </a:solidFill>
                    <a:latin typeface="Cambria Math" panose="02040503050406030204" pitchFamily="18" charset="0"/>
                  </a:rPr>
                  <a:t>$a_1$</a:t>
                </a:r>
                <a:r>
                  <a:rPr sz="2400" b="0">
                    <a:solidFill>
                      <a:srgbClr val="111827"/>
                    </a:solidFill>
                    <a:latin typeface="Arial"/>
                  </a:rPr>
                  <a:t> divides </a:t>
                </a:r>
                <a:r>
                  <a:rPr lang="en-IN" sz="2400">
                    <a:solidFill>
                      <a:srgbClr val="111827"/>
                    </a:solidFill>
                    <a:latin typeface="Cambria Math" panose="02040503050406030204" pitchFamily="18" charset="0"/>
                  </a:rPr>
                  <a:t>$b_2$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r>
                  <a:rPr lang="en-IN" sz="2400">
                    <a:solidFill>
                      <a:srgbClr val="111827"/>
                    </a:solidFill>
                    <a:latin typeface="Cambria Math" panose="02040503050406030204" pitchFamily="18" charset="0"/>
                  </a:rPr>
                  <a:t>$(a_1,b_2)$</a:t>
                </a:r>
                <a:r>
                  <a:rPr sz="2400" b="0">
                    <a:solidFill>
                      <a:srgbClr val="111827"/>
                    </a:solidFill>
                    <a:latin typeface="Arial"/>
                  </a:rPr>
                  <a:t>: </a:t>
                </a:r>
                <a:r>
                  <a:rPr lang="en-IN" sz="2400">
                    <a:solidFill>
                      <a:srgbClr val="111827"/>
                    </a:solidFill>
                    <a:latin typeface="Cambria Math" panose="02040503050406030204" pitchFamily="18" charset="0"/>
                  </a:rPr>
                  <a:t>$(2,8),(2,12),(3,9),(3,12),(4,8),(4,12)$</a:t>
                </a:r>
                <a:r>
                  <a:rPr sz="2400" b="0">
                    <a:solidFill>
                      <a:srgbClr val="111827"/>
                    </a:solidFill>
                    <a:latin typeface="Arial"/>
                  </a:rPr>
                  <a:t>, i.e. </a:t>
                </a:r>
                <a:r>
                  <a:rPr lang="en-IN" sz="2400">
                    <a:solidFill>
                      <a:srgbClr val="111827"/>
                    </a:solidFill>
                    <a:latin typeface="Cambria Math" panose="02040503050406030204" pitchFamily="18" charset="0"/>
                  </a:rPr>
                  <a:t>$6$</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$a_2\in A$</a:t>
                </a:r>
                <a:r>
                  <a:rPr sz="2400" b="0">
                    <a:solidFill>
                      <a:srgbClr val="111827"/>
                    </a:solidFill>
                    <a:latin typeface="Arial"/>
                  </a:rPr>
                  <a:t>, </a:t>
                </a:r>
                <a:r>
                  <a:rPr lang="en-IN" sz="2400">
                    <a:solidFill>
                      <a:srgbClr val="111827"/>
                    </a:solidFill>
                    <a:latin typeface="Cambria Math" panose="02040503050406030204" pitchFamily="18" charset="0"/>
                  </a:rPr>
                  <a:t>$b_1\in B$</a:t>
                </a:r>
                <a:r>
                  <a:rPr sz="2400" b="0">
                    <a:solidFill>
                      <a:srgbClr val="111827"/>
                    </a:solidFill>
                    <a:latin typeface="Arial"/>
                  </a:rPr>
                  <a:t> and </a:t>
                </a:r>
                <a:r>
                  <a:rPr lang="en-IN" sz="2400">
                    <a:solidFill>
                      <a:srgbClr val="111827"/>
                    </a:solidFill>
                    <a:latin typeface="Cambria Math" panose="02040503050406030204" pitchFamily="18" charset="0"/>
                  </a:rPr>
                  <a:t>$a_2$</a:t>
                </a:r>
                <a:r>
                  <a:rPr sz="2400" b="0">
                    <a:solidFill>
                      <a:srgbClr val="111827"/>
                    </a:solidFill>
                    <a:latin typeface="Arial"/>
                  </a:rPr>
                  <a:t> divides </a:t>
                </a:r>
                <a:r>
                  <a:rPr lang="en-IN" sz="2400">
                    <a:solidFill>
                      <a:srgbClr val="111827"/>
                    </a:solidFill>
                    <a:latin typeface="Cambria Math" panose="02040503050406030204" pitchFamily="18" charset="0"/>
                  </a:rPr>
                  <a:t>$b_1$</a:t>
                </a:r>
                <a:r>
                  <a:rPr sz="2400" b="0">
                    <a:solidFill>
                      <a:srgbClr val="111827"/>
                    </a:solidFill>
                    <a:latin typeface="Arial"/>
                  </a:rPr>
                  <a:t>: the pairs </a:t>
                </a:r>
                <a:r>
                  <a:rPr lang="en-IN" sz="2400">
                    <a:solidFill>
                      <a:srgbClr val="111827"/>
                    </a:solidFill>
                    <a:latin typeface="Cambria Math" panose="02040503050406030204" pitchFamily="18" charset="0"/>
                  </a:rPr>
                  <a:t>$(a_2,b_1)$</a:t>
                </a:r>
                <a:r>
                  <a:rPr sz="2400" b="0">
                    <a:solidFill>
                      <a:srgbClr val="111827"/>
                    </a:solidFill>
                    <a:latin typeface="Arial"/>
                  </a:rPr>
                  <a:t> are the same </a:t>
                </a:r>
                <a:r>
                  <a:rPr lang="en-IN" sz="2400">
                    <a:solidFill>
                      <a:srgbClr val="111827"/>
                    </a:solidFill>
                    <a:latin typeface="Cambria Math" panose="02040503050406030204" pitchFamily="18" charset="0"/>
                  </a:rPr>
                  <a:t>$6$</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choice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independent, and together they determine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uniquely.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of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choice of </a:t>
                </a:r>
                <a:r>
                  <a:rPr lang="en-IN" sz="2400">
                    <a:solidFill>
                      <a:srgbClr val="111827"/>
                    </a:solidFill>
                    <a:latin typeface="Cambria Math" panose="02040503050406030204" pitchFamily="18" charset="0"/>
                  </a:rPr>
                  <a:t>$(a_1,b_2)$</a:t>
                </a:r>
                <a:r>
                  <a:rPr sz="2400" b="0">
                    <a:solidFill>
                      <a:srgbClr val="111827"/>
                    </a:solidFill>
                    <a:latin typeface="Arial"/>
                  </a:rPr>
                  <a:t> and of </a:t>
                </a:r>
                <a:r>
                  <a:rPr lang="en-IN" sz="2400">
                    <a:solidFill>
                      <a:srgbClr val="111827"/>
                    </a:solidFill>
                    <a:latin typeface="Cambria Math" panose="02040503050406030204" pitchFamily="18" charset="0"/>
                  </a:rPr>
                  <a:t>$(a_2,b_1)$</a:t>
                </a:r>
                <a:r>
                  <a:rPr sz="2400" b="0">
                    <a:solidFill>
                      <a:srgbClr val="111827"/>
                    </a:solidFill>
                    <a:latin typeface="Arial"/>
                  </a:rPr>
                  <a:t> is independent, and together they determine </a:t>
                </a:r>
                <a:r>
                  <a:rPr lang="en-IN" sz="2400">
                    <a:solidFill>
                      <a:srgbClr val="111827"/>
                    </a:solidFill>
                    <a:latin typeface="Cambria Math" panose="02040503050406030204" pitchFamily="18" charset="0"/>
                  </a:rPr>
                  <a:t>$((a_1,b_1),(a_2,b_2))$</a:t>
                </a:r>
                <a:r>
                  <a:rPr sz="2400" b="0">
                    <a:solidFill>
                      <a:srgbClr val="111827"/>
                    </a:solidFill>
                    <a:latin typeface="Arial"/>
                  </a:rPr>
                  <a:t> uniquely.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of </a:t>
                </a:r>
                <a:r>
                  <a:rPr lang="en-IN" sz="2400">
                    <a:solidFill>
                      <a:srgbClr val="111827"/>
                    </a:solidFill>
                    <a:latin typeface="Cambria Math" panose="02040503050406030204" pitchFamily="18" charset="0"/>
                  </a:rPr>
                  <a:t>$R=6\times6=36$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36</a:t>
            </a:r>
            <a:endParaRPr sz="2800">
              <a:solidFill>
                <a:srgbClr val="15803D"/>
              </a:solidFill>
            </a:endParaRP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 variables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disjoint, so the count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𝑚𝑢𝑙𝑡𝑖𝑝𝑙𝑒𝑠 𝑜𝑓 </m:t>
                    </m:r>
                    <m:r>
                      <a:rPr lang="en-IN" sz="2400" i="1">
                        <a:solidFill>
                          <a:srgbClr val="111827"/>
                        </a:solidFill>
                        <a:latin typeface="Cambria Math" panose="02040503050406030204" pitchFamily="18" charset="0"/>
                      </a:rPr>
                      <m:t>𝑎</m:t>
                    </m:r>
                    <m:r>
                      <m:rPr>
                        <m:nor/>
                      </m:rPr>
                      <a:rPr lang="en-IN" sz="2400" i="1">
                        <a:solidFill>
                          <a:srgbClr val="111827"/>
                        </a:solidFill>
                        <a:latin typeface="Cambria Math" panose="02040503050406030204" pitchFamily="18" charset="0"/>
                      </a:rPr>
                      <m:t> 𝑖𝑛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a set of pairs of ordered pairs: its universe has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 elements, so the answer must be at most </a:t>
                </a:r>
                <a14:m>
                  <m:oMath xmlns:m="http://schemas.openxmlformats.org/officeDocument/2006/math">
                    <m:r>
                      <a:rPr lang="en-IN" sz="2400" i="1">
                        <a:solidFill>
                          <a:srgbClr val="111827"/>
                        </a:solidFill>
                        <a:latin typeface="Cambria Math" panose="02040503050406030204" pitchFamily="18" charset="0"/>
                      </a:rPr>
                      <m:t>81</m:t>
                    </m:r>
                  </m:oMath>
                </a14:m>
                <a:r>
                  <a:rPr sz="2400" b="0">
                    <a:solidFill>
                      <a:srgbClr val="111827"/>
                    </a:solidFill>
                    <a:latin typeface="Arial"/>
                  </a:rPr>
                  <a:t> (sanity bound).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$a_1\mid b_2$</a:t>
                </a:r>
                <a:r>
                  <a:rPr sz="2400" b="0">
                    <a:solidFill>
                      <a:srgbClr val="111827"/>
                    </a:solidFill>
                    <a:latin typeface="Arial"/>
                  </a:rPr>
                  <a:t> and </a:t>
                </a:r>
                <a:r>
                  <a:rPr lang="en-IN" sz="2400">
                    <a:solidFill>
                      <a:srgbClr val="111827"/>
                    </a:solidFill>
                    <a:latin typeface="Cambria Math" panose="02040503050406030204" pitchFamily="18" charset="0"/>
                  </a:rPr>
                  <a:t>$a_2\mid b_1$</a:t>
                </a:r>
                <a:r>
                  <a:rPr sz="2400" b="0">
                    <a:solidFill>
                      <a:srgbClr val="111827"/>
                    </a:solidFill>
                    <a:latin typeface="Arial"/>
                  </a:rPr>
                  <a:t> the variables </a:t>
                </a:r>
                <a:r>
                  <a:rPr lang="en-IN" sz="2400">
                    <a:solidFill>
                      <a:srgbClr val="111827"/>
                    </a:solidFill>
                    <a:latin typeface="Cambria Math" panose="02040503050406030204" pitchFamily="18" charset="0"/>
                  </a:rPr>
                  <a:t>$(a_1,b_2)$</a:t>
                </a:r>
                <a:r>
                  <a:rPr sz="2400" b="0">
                    <a:solidFill>
                      <a:srgbClr val="111827"/>
                    </a:solidFill>
                    <a:latin typeface="Arial"/>
                  </a:rPr>
                  <a:t> and </a:t>
                </a:r>
                <a:r>
                  <a:rPr lang="en-IN" sz="2400">
                    <a:solidFill>
                      <a:srgbClr val="111827"/>
                    </a:solidFill>
                    <a:latin typeface="Cambria Math" panose="02040503050406030204" pitchFamily="18" charset="0"/>
                  </a:rPr>
                  <a:t>$(a_2,b_1)$</a:t>
                </a:r>
                <a:r>
                  <a:rPr sz="2400" b="0">
                    <a:solidFill>
                      <a:srgbClr val="111827"/>
                    </a:solidFill>
                    <a:latin typeface="Arial"/>
                  </a:rPr>
                  <a:t> are disjoint, so the count of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$N^2$</a:t>
                </a:r>
                <a:r>
                  <a:rPr sz="2400" b="0">
                    <a:solidFill>
                      <a:srgbClr val="111827"/>
                    </a:solidFill>
                    <a:latin typeface="Arial"/>
                  </a:rPr>
                  <a:t> where </a:t>
                </a:r>
                <a:r>
                  <a:rPr lang="en-IN" sz="2400">
                    <a:solidFill>
                      <a:srgbClr val="111827"/>
                    </a:solidFill>
                    <a:latin typeface="Cambria Math" panose="02040503050406030204" pitchFamily="18" charset="0"/>
                  </a:rPr>
                  <a:t>$N=\#\{(a,b)\in A\times B:a\mid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$N=\sum_{a\in A}\#\{\text{multiples of }a\text{ in }B\}$</a:t>
                </a:r>
                <a:r>
                  <a:rPr sz="2400" b="0">
                    <a:solidFill>
                      <a:srgbClr val="111827"/>
                    </a:solidFill>
                    <a:latin typeface="Arial"/>
                  </a:rPr>
                  <a:t>; here </a:t>
                </a:r>
                <a:r>
                  <a:rPr lang="en-IN" sz="2400">
                    <a:solidFill>
                      <a:srgbClr val="111827"/>
                    </a:solidFill>
                    <a:latin typeface="Cambria Math" panose="02040503050406030204" pitchFamily="18" charset="0"/>
                  </a:rPr>
                  <a:t>$2\to\{8,12\}$</a:t>
                </a:r>
                <a:r>
                  <a:rPr sz="2400" b="0">
                    <a:solidFill>
                      <a:srgbClr val="111827"/>
                    </a:solidFill>
                    <a:latin typeface="Arial"/>
                  </a:rPr>
                  <a:t>, </a:t>
                </a:r>
                <a:r>
                  <a:rPr lang="en-IN" sz="2400">
                    <a:solidFill>
                      <a:srgbClr val="111827"/>
                    </a:solidFill>
                    <a:latin typeface="Cambria Math" panose="02040503050406030204" pitchFamily="18" charset="0"/>
                  </a:rPr>
                  <a:t>$3\to\{9,12\}$</a:t>
                </a:r>
                <a:r>
                  <a:rPr sz="2400" b="0">
                    <a:solidFill>
                      <a:srgbClr val="111827"/>
                    </a:solidFill>
                    <a:latin typeface="Arial"/>
                  </a:rPr>
                  <a:t>, </a:t>
                </a:r>
                <a:r>
                  <a:rPr lang="en-IN" sz="2400">
                    <a:solidFill>
                      <a:srgbClr val="111827"/>
                    </a:solidFill>
                    <a:latin typeface="Cambria Math" panose="02040503050406030204" pitchFamily="18" charset="0"/>
                  </a:rPr>
                  <a:t>$4\to\{8,12\}$</a:t>
                </a:r>
                <a:r>
                  <a:rPr sz="2400" b="0">
                    <a:solidFill>
                      <a:srgbClr val="111827"/>
                    </a:solidFill>
                    <a:latin typeface="Arial"/>
                  </a:rPr>
                  <a:t>, so </a:t>
                </a:r>
                <a:r>
                  <a:rPr lang="en-IN" sz="2400">
                    <a:solidFill>
                      <a:srgbClr val="111827"/>
                    </a:solidFill>
                    <a:latin typeface="Cambria Math" panose="02040503050406030204" pitchFamily="18" charset="0"/>
                  </a:rPr>
                  <a:t>$N=6$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on </a:t>
                </a:r>
                <a:r>
                  <a:rPr lang="en-IN" sz="2400">
                    <a:solidFill>
                      <a:srgbClr val="111827"/>
                    </a:solidFill>
                    <a:latin typeface="Cambria Math" panose="02040503050406030204" pitchFamily="18" charset="0"/>
                  </a:rPr>
                  <a:t>$A\times B$</a:t>
                </a:r>
                <a:r>
                  <a:rPr sz="2400" b="0">
                    <a:solidFill>
                      <a:srgbClr val="111827"/>
                    </a:solidFill>
                    <a:latin typeface="Arial"/>
                  </a:rPr>
                  <a:t> is a set of pairs of ordered pairs: its universe has </a:t>
                </a:r>
                <a:r>
                  <a:rPr lang="en-IN" sz="2400">
                    <a:solidFill>
                      <a:srgbClr val="111827"/>
                    </a:solidFill>
                    <a:latin typeface="Cambria Math" panose="02040503050406030204" pitchFamily="18" charset="0"/>
                  </a:rPr>
                  <a:t>$(|A||B|)^2=81$</a:t>
                </a:r>
                <a:r>
                  <a:rPr sz="2400" b="0">
                    <a:solidFill>
                      <a:srgbClr val="111827"/>
                    </a:solidFill>
                    <a:latin typeface="Arial"/>
                  </a:rPr>
                  <a:t> elements, so the answer must be at most </a:t>
                </a:r>
                <a:r>
                  <a:rPr lang="en-IN" sz="2400">
                    <a:solidFill>
                      <a:srgbClr val="111827"/>
                    </a:solidFill>
                    <a:latin typeface="Cambria Math" panose="02040503050406030204" pitchFamily="18" charset="0"/>
                  </a:rPr>
                  <a:t>$81$</a:t>
                </a:r>
                <a:r>
                  <a:rPr sz="2400" b="0">
                    <a:solidFill>
                      <a:srgbClr val="111827"/>
                    </a:solidFill>
                    <a:latin typeface="Arial"/>
                  </a:rPr>
                  <a:t> (sanity bound).</a:t>
                </a:r>
                <a:endParaRPr sz="2400">
                  <a:solidFill>
                    <a:srgbClr val="111827"/>
                  </a:solidFill>
                </a:endParaRPr>
              </a:p>
            </p:txBody>
          </p:sp>
        </mc:Fallback>
      </mc:AlternateContent>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organization awarded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medals in event 'A',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in event 'B' and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in event 'C'. If these medals went to total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men and only five men got medals in all the three events, then, how many received medals in exactly two of three events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21</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organization awarded </a:t>
                </a:r>
                <a:r>
                  <a:rPr lang="en-IN" sz="2400">
                    <a:solidFill>
                      <a:srgbClr val="111827"/>
                    </a:solidFill>
                    <a:latin typeface="Cambria Math" panose="02040503050406030204" pitchFamily="18" charset="0"/>
                  </a:rPr>
                  <a:t>$48$</a:t>
                </a:r>
                <a:r>
                  <a:rPr sz="2400" b="0">
                    <a:solidFill>
                      <a:srgbClr val="111827"/>
                    </a:solidFill>
                    <a:latin typeface="Arial"/>
                  </a:rPr>
                  <a:t> medals in event 'A', </a:t>
                </a:r>
                <a:r>
                  <a:rPr lang="en-IN" sz="2400">
                    <a:solidFill>
                      <a:srgbClr val="111827"/>
                    </a:solidFill>
                    <a:latin typeface="Cambria Math" panose="02040503050406030204" pitchFamily="18" charset="0"/>
                  </a:rPr>
                  <a:t>$25$</a:t>
                </a:r>
                <a:r>
                  <a:rPr sz="2400" b="0">
                    <a:solidFill>
                      <a:srgbClr val="111827"/>
                    </a:solidFill>
                    <a:latin typeface="Arial"/>
                  </a:rPr>
                  <a:t> in event 'B' and </a:t>
                </a:r>
                <a:r>
                  <a:rPr lang="en-IN" sz="2400">
                    <a:solidFill>
                      <a:srgbClr val="111827"/>
                    </a:solidFill>
                    <a:latin typeface="Cambria Math" panose="02040503050406030204" pitchFamily="18" charset="0"/>
                  </a:rPr>
                  <a:t>$18$</a:t>
                </a:r>
                <a:r>
                  <a:rPr sz="2400" b="0">
                    <a:solidFill>
                      <a:srgbClr val="111827"/>
                    </a:solidFill>
                    <a:latin typeface="Arial"/>
                  </a:rPr>
                  <a:t> in event 'C'. If these medals went to total </a:t>
                </a:r>
                <a:r>
                  <a:rPr lang="en-IN" sz="2400">
                    <a:solidFill>
                      <a:srgbClr val="111827"/>
                    </a:solidFill>
                    <a:latin typeface="Cambria Math" panose="02040503050406030204" pitchFamily="18" charset="0"/>
                  </a:rPr>
                  <a:t>$60$</a:t>
                </a:r>
                <a:r>
                  <a:rPr sz="2400" b="0">
                    <a:solidFill>
                      <a:srgbClr val="111827"/>
                    </a:solidFill>
                    <a:latin typeface="Arial"/>
                  </a:rPr>
                  <a:t> men and only five men got medals in all the three events, then, how many received medals in exactly two of three events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$15$</a:t>
                </a:r>
                <a:r>
                  <a:rPr sz="2400" b="0">
                    <a:solidFill>
                      <a:srgbClr val="111827"/>
                    </a:solidFill>
                    <a:latin typeface="Arial"/>
                  </a:rPr>
                  <a:t>   (C) </a:t>
                </a:r>
                <a:r>
                  <a:rPr lang="en-IN" sz="2400">
                    <a:solidFill>
                      <a:srgbClr val="111827"/>
                    </a:solidFill>
                    <a:latin typeface="Cambria Math" panose="02040503050406030204" pitchFamily="18" charset="0"/>
                  </a:rPr>
                  <a:t>$10$</a:t>
                </a:r>
                <a:r>
                  <a:rPr sz="2400" b="0">
                    <a:solidFill>
                      <a:srgbClr val="111827"/>
                    </a:solidFill>
                    <a:latin typeface="Arial"/>
                  </a:rPr>
                  <a:t>   (D) </a:t>
                </a:r>
                <a:r>
                  <a:rPr lang="en-IN" sz="2400">
                    <a:solidFill>
                      <a:srgbClr val="111827"/>
                    </a:solidFill>
                    <a:latin typeface="Cambria Math" panose="02040503050406030204" pitchFamily="18" charset="0"/>
                  </a:rPr>
                  <a:t>$21$</a:t>
                </a:r>
                <a:endParaRPr sz="2400">
                  <a:solidFill>
                    <a:srgbClr val="111827"/>
                  </a:solidFill>
                </a:endParaRPr>
              </a:p>
            </p:txBody>
          </p:sp>
        </mc:Fallback>
      </mc:AlternateContent>
      <p:sp>
        <p:nvSpPr>
          <p:cNvPr id="5" name="Rectangle 4"/>
          <p:cNvSpPr/>
          <p:nvPr/>
        </p:nvSpPr>
        <p:spPr>
          <a:xfrm>
            <a:off x="731520" y="43240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diagrams and set operations (3-set problems)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be the men with exactly two events and fill the three-circle Venn diagram; the total </a:t>
                </a:r>
                <a14:m>
                  <m:oMath xmlns:m="http://schemas.openxmlformats.org/officeDocument/2006/math">
                    <m:r>
                      <a:rPr lang="en-IN" sz="2400" i="1">
                        <a:solidFill>
                          <a:srgbClr val="78350F"/>
                        </a:solidFill>
                        <a:latin typeface="Cambria Math" panose="02040503050406030204" pitchFamily="18" charset="0"/>
                      </a:rPr>
                      <m:t>60</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 </a:t>
                </a:r>
                <a:r>
                  <a:rPr lang="en-IN" sz="2400">
                    <a:solidFill>
                      <a:srgbClr val="78350F"/>
                    </a:solidFill>
                    <a:latin typeface="Cambria Math" panose="02040503050406030204" pitchFamily="18" charset="0"/>
                  </a:rPr>
                  <a:t>$x,y,z$</a:t>
                </a:r>
                <a:r>
                  <a:rPr sz="2400" b="0">
                    <a:solidFill>
                      <a:srgbClr val="78350F"/>
                    </a:solidFill>
                    <a:latin typeface="Arial"/>
                  </a:rPr>
                  <a:t> be the men with exactly two events and fill the three-circle Venn diagram; the total </a:t>
                </a:r>
                <a:r>
                  <a:rPr lang="en-IN" sz="2400">
                    <a:solidFill>
                      <a:srgbClr val="78350F"/>
                    </a:solidFill>
                    <a:latin typeface="Cambria Math" panose="02040503050406030204" pitchFamily="18" charset="0"/>
                  </a:rPr>
                  <a:t>$60$</a:t>
                </a:r>
                <a:r>
                  <a:rPr sz="2400" b="0">
                    <a:solidFill>
                      <a:srgbClr val="78350F"/>
                    </a:solidFill>
                    <a:latin typeface="Arial"/>
                  </a:rPr>
                  <a:t> gives </a:t>
                </a:r>
                <a:r>
                  <a:rPr lang="en-IN" sz="2400">
                    <a:solidFill>
                      <a:srgbClr val="78350F"/>
                    </a:solidFill>
                    <a:latin typeface="Cambria Math" panose="02040503050406030204" pitchFamily="18" charset="0"/>
                  </a:rPr>
                  <a:t>$x+y+z$</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 men with medals in A and B only,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 in B and C only,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 in A and C only. Five men are in all three.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a:t>
                </a:r>
                <a14:m>
                  <m:oMath xmlns:m="http://schemas.openxmlformats.org/officeDocument/2006/math">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Only B: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Only C: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regions equals the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men: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 men with medals in A and B only, </a:t>
                </a:r>
                <a:r>
                  <a:rPr lang="en-IN" sz="2400">
                    <a:solidFill>
                      <a:srgbClr val="111827"/>
                    </a:solidFill>
                    <a:latin typeface="Cambria Math" panose="02040503050406030204" pitchFamily="18" charset="0"/>
                  </a:rPr>
                  <a:t>$y$</a:t>
                </a:r>
                <a:r>
                  <a:rPr sz="2400" b="0">
                    <a:solidFill>
                      <a:srgbClr val="111827"/>
                    </a:solidFill>
                    <a:latin typeface="Arial"/>
                  </a:rPr>
                  <a:t> = in B and C only, </a:t>
                </a:r>
                <a:r>
                  <a:rPr lang="en-IN" sz="2400">
                    <a:solidFill>
                      <a:srgbClr val="111827"/>
                    </a:solidFill>
                    <a:latin typeface="Cambria Math" panose="02040503050406030204" pitchFamily="18" charset="0"/>
                  </a:rPr>
                  <a:t>$z$</a:t>
                </a:r>
                <a:r>
                  <a:rPr sz="2400" b="0">
                    <a:solidFill>
                      <a:srgbClr val="111827"/>
                    </a:solidFill>
                    <a:latin typeface="Arial"/>
                  </a:rPr>
                  <a:t> = in A and C only. Five men are in all three.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a:t>
                </a:r>
                <a:r>
                  <a:rPr lang="en-IN" sz="2400">
                    <a:solidFill>
                      <a:srgbClr val="111827"/>
                    </a:solidFill>
                    <a:latin typeface="Cambria Math" panose="02040503050406030204" pitchFamily="18" charset="0"/>
                  </a:rPr>
                  <a:t>$48-5-x-z=43-x-z$</a:t>
                </a:r>
                <a:r>
                  <a:rPr sz="2400" b="0">
                    <a:solidFill>
                      <a:srgbClr val="111827"/>
                    </a:solidFill>
                    <a:latin typeface="Arial"/>
                  </a:rPr>
                  <a:t>. Only B: </a:t>
                </a:r>
                <a:r>
                  <a:rPr lang="en-IN" sz="2400">
                    <a:solidFill>
                      <a:srgbClr val="111827"/>
                    </a:solidFill>
                    <a:latin typeface="Cambria Math" panose="02040503050406030204" pitchFamily="18" charset="0"/>
                  </a:rPr>
                  <a:t>$25-5-x-y=20-x-y$</a:t>
                </a:r>
                <a:r>
                  <a:rPr sz="2400" b="0">
                    <a:solidFill>
                      <a:srgbClr val="111827"/>
                    </a:solidFill>
                    <a:latin typeface="Arial"/>
                  </a:rPr>
                  <a:t>. Only C: </a:t>
                </a:r>
                <a:r>
                  <a:rPr lang="en-IN" sz="2400">
                    <a:solidFill>
                      <a:srgbClr val="111827"/>
                    </a:solidFill>
                    <a:latin typeface="Cambria Math" panose="02040503050406030204" pitchFamily="18" charset="0"/>
                  </a:rPr>
                  <a:t>$18-5-y-z=13-y-z$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regions equals the </a:t>
                </a:r>
                <a:r>
                  <a:rPr lang="en-IN" sz="2400">
                    <a:solidFill>
                      <a:srgbClr val="111827"/>
                    </a:solidFill>
                    <a:latin typeface="Cambria Math" panose="02040503050406030204" pitchFamily="18" charset="0"/>
                  </a:rPr>
                  <a:t>$60$</a:t>
                </a:r>
                <a:r>
                  <a:rPr sz="2400" b="0">
                    <a:solidFill>
                      <a:srgbClr val="111827"/>
                    </a:solidFill>
                    <a:latin typeface="Arial"/>
                  </a:rPr>
                  <a:t> men: </a:t>
                </a:r>
                <a:r>
                  <a:rPr lang="en-IN" sz="2400">
                    <a:solidFill>
                      <a:srgbClr val="111827"/>
                    </a:solidFill>
                    <a:latin typeface="Cambria Math" panose="02040503050406030204" pitchFamily="18" charset="0"/>
                  </a:rPr>
                  <a:t>$(20-x-y)+(43-x-z)+(13-y-z)+x+y+z+5=60$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men received medals in exactly two events.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$81-(x+y+z)=60$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$x+y+z=21$</a:t>
                </a:r>
                <a:r>
                  <a:rPr sz="2400" b="0">
                    <a:solidFill>
                      <a:srgbClr val="111827"/>
                    </a:solidFill>
                    <a:latin typeface="Arial"/>
                  </a:rPr>
                  <a:t>: </a:t>
                </a:r>
                <a:r>
                  <a:rPr lang="en-IN" sz="2400">
                    <a:solidFill>
                      <a:srgbClr val="111827"/>
                    </a:solidFill>
                    <a:latin typeface="Cambria Math" panose="02040503050406030204" pitchFamily="18" charset="0"/>
                  </a:rPr>
                  <a:t>$21$</a:t>
                </a:r>
                <a:r>
                  <a:rPr sz="2400" b="0">
                    <a:solidFill>
                      <a:srgbClr val="111827"/>
                    </a:solidFill>
                    <a:latin typeface="Arial"/>
                  </a:rPr>
                  <a:t> men received medals in exactly two events.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21</a:t>
            </a:r>
            <a:endParaRPr sz="2800">
              <a:solidFill>
                <a:srgbClr val="15803D"/>
              </a:solidFill>
            </a:endParaRP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medals by multiplicity: total medals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and total men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medals by multiplicity: total medals </a:t>
                </a:r>
                <a:r>
                  <a:rPr lang="en-IN" sz="2400">
                    <a:solidFill>
                      <a:srgbClr val="78350F"/>
                    </a:solidFill>
                    <a:latin typeface="Cambria Math" panose="02040503050406030204" pitchFamily="18" charset="0"/>
                  </a:rPr>
                  <a:t>$=n_1+2n_2+3n_3$</a:t>
                </a:r>
                <a:r>
                  <a:rPr sz="2400" b="0">
                    <a:solidFill>
                      <a:srgbClr val="78350F"/>
                    </a:solidFill>
                    <a:latin typeface="Arial"/>
                  </a:rPr>
                  <a:t> and total men </a:t>
                </a:r>
                <a:r>
                  <a:rPr lang="en-IN" sz="2400">
                    <a:solidFill>
                      <a:srgbClr val="78350F"/>
                    </a:solidFill>
                    <a:latin typeface="Cambria Math" panose="02040503050406030204" pitchFamily="18" charset="0"/>
                  </a:rPr>
                  <a:t>$=n_1+n_2+n_3$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be the numbers of men with medals in exactly one, two, three events;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men: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event-medals (each man counted once per event): </a:t>
                </a:r>
                <a14:m>
                  <m:oMath xmlns:m="http://schemas.openxmlformats.org/officeDocument/2006/math">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$n_1,n_2,n_3$</a:t>
                </a:r>
                <a:r>
                  <a:rPr sz="2400" b="0">
                    <a:solidFill>
                      <a:srgbClr val="111827"/>
                    </a:solidFill>
                    <a:latin typeface="Arial"/>
                  </a:rPr>
                  <a:t> be the numbers of men with medals in exactly one, two, three events; </a:t>
                </a:r>
                <a:r>
                  <a:rPr lang="en-IN" sz="2400">
                    <a:solidFill>
                      <a:srgbClr val="111827"/>
                    </a:solidFill>
                    <a:latin typeface="Cambria Math" panose="02040503050406030204" pitchFamily="18" charset="0"/>
                  </a:rPr>
                  <a:t>$n_3=5$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men: </a:t>
                </a:r>
                <a:r>
                  <a:rPr lang="en-IN" sz="2400">
                    <a:solidFill>
                      <a:srgbClr val="111827"/>
                    </a:solidFill>
                    <a:latin typeface="Cambria Math" panose="02040503050406030204" pitchFamily="18" charset="0"/>
                  </a:rPr>
                  <a:t>$n_1+n_2+n_3=60$</a:t>
                </a:r>
                <a:r>
                  <a:rPr sz="2400" b="0">
                    <a:solidFill>
                      <a:srgbClr val="111827"/>
                    </a:solidFill>
                    <a:latin typeface="Arial"/>
                  </a:rPr>
                  <a:t>, so </a:t>
                </a:r>
                <a:r>
                  <a:rPr lang="en-IN" sz="2400">
                    <a:solidFill>
                      <a:srgbClr val="111827"/>
                    </a:solidFill>
                    <a:latin typeface="Cambria Math" panose="02040503050406030204" pitchFamily="18" charset="0"/>
                  </a:rPr>
                  <a:t>$n_1+n_2=55$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event-medals (each man counted once per event): </a:t>
                </a:r>
                <a:r>
                  <a:rPr lang="en-IN" sz="2400">
                    <a:solidFill>
                      <a:srgbClr val="111827"/>
                    </a:solidFill>
                    <a:latin typeface="Cambria Math" panose="02040503050406030204" pitchFamily="18" charset="0"/>
                  </a:rPr>
                  <a:t>$48+25+18=91=n_1+2n_2+3n_3$</a:t>
                </a:r>
                <a:r>
                  <a:rPr sz="2400" b="0">
                    <a:solidFill>
                      <a:srgbClr val="111827"/>
                    </a:solidFill>
                    <a:latin typeface="Arial"/>
                  </a:rPr>
                  <a:t>, so </a:t>
                </a:r>
                <a:r>
                  <a:rPr lang="en-IN" sz="2400">
                    <a:solidFill>
                      <a:srgbClr val="111827"/>
                    </a:solidFill>
                    <a:latin typeface="Cambria Math" panose="02040503050406030204" pitchFamily="18" charset="0"/>
                  </a:rPr>
                  <a:t>$n_1+2n_2=91-15=76$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$n_2=76-55=21$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21</a:t>
            </a:r>
            <a:endParaRPr sz="2800">
              <a:solidFill>
                <a:srgbClr val="15803D"/>
              </a:solidFill>
            </a:endParaRP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counts elements lying in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sets: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Venn diagram, 'only A'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fill the centre first, then the pairwise regions.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$|A\cup B\cup C|=\sum|A|-\sum|A\cap B|+|A\cap B\cap C|$</a:t>
                </a:r>
                <a:r>
                  <a:rPr sz="2400" b="0">
                    <a:solidFill>
                      <a:srgbClr val="111827"/>
                    </a:solidFill>
                    <a:latin typeface="Arial"/>
                  </a:rPr>
                  <a:t>, and </a:t>
                </a:r>
                <a:r>
                  <a:rPr lang="en-IN" sz="2400">
                    <a:solidFill>
                      <a:srgbClr val="111827"/>
                    </a:solidFill>
                    <a:latin typeface="Cambria Math" panose="02040503050406030204" pitchFamily="18" charset="0"/>
                  </a:rPr>
                  <a:t>$\sum|A|=n_1+2n_2+3n_3$</a:t>
                </a:r>
                <a:r>
                  <a:rPr sz="2400" b="0">
                    <a:solidFill>
                      <a:srgbClr val="111827"/>
                    </a:solidFill>
                    <a:latin typeface="Arial"/>
                  </a:rPr>
                  <a:t> where </a:t>
                </a:r>
                <a:r>
                  <a:rPr lang="en-IN" sz="2400">
                    <a:solidFill>
                      <a:srgbClr val="111827"/>
                    </a:solidFill>
                    <a:latin typeface="Cambria Math" panose="02040503050406030204" pitchFamily="18" charset="0"/>
                  </a:rPr>
                  <a:t>$n_k$</a:t>
                </a:r>
                <a:r>
                  <a:rPr sz="2400" b="0">
                    <a:solidFill>
                      <a:srgbClr val="111827"/>
                    </a:solidFill>
                    <a:latin typeface="Arial"/>
                  </a:rPr>
                  <a:t> counts elements lying in exactly </a:t>
                </a:r>
                <a:r>
                  <a:rPr lang="en-IN" sz="2400">
                    <a:solidFill>
                      <a:srgbClr val="111827"/>
                    </a:solidFill>
                    <a:latin typeface="Cambria Math" panose="02040503050406030204" pitchFamily="18" charset="0"/>
                  </a:rPr>
                  <a:t>$k$</a:t>
                </a:r>
                <a:r>
                  <a:rPr sz="2400" b="0">
                    <a:solidFill>
                      <a:srgbClr val="111827"/>
                    </a:solidFill>
                    <a:latin typeface="Arial"/>
                  </a:rPr>
                  <a: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sets: </a:t>
                </a:r>
                <a:r>
                  <a:rPr lang="en-IN" sz="2400">
                    <a:solidFill>
                      <a:srgbClr val="111827"/>
                    </a:solidFill>
                    <a:latin typeface="Cambria Math" panose="02040503050406030204" pitchFamily="18" charset="0"/>
                  </a:rPr>
                  <a:t>$n_2=\sum|A\cap B|-3|A\cap B\cap C|$</a:t>
                </a:r>
                <a:r>
                  <a:rPr sz="2400" b="0">
                    <a:solidFill>
                      <a:srgbClr val="111827"/>
                    </a:solidFill>
                    <a:latin typeface="Arial"/>
                  </a:rPr>
                  <a:t> (here </a:t>
                </a:r>
                <a:r>
                  <a:rPr lang="en-IN" sz="2400">
                    <a:solidFill>
                      <a:srgbClr val="111827"/>
                    </a:solidFill>
                    <a:latin typeface="Cambria Math" panose="02040503050406030204" pitchFamily="18" charset="0"/>
                  </a:rPr>
                  <a:t>$36-15=21$</a:t>
                </a:r>
                <a:r>
                  <a:rPr sz="2400" b="0">
                    <a:solidFill>
                      <a:srgbClr val="111827"/>
                    </a:solidFill>
                    <a:latin typeface="Arial"/>
                  </a:rPr>
                  <a:t>, with </a:t>
                </a:r>
                <a:r>
                  <a:rPr lang="en-IN" sz="2400">
                    <a:solidFill>
                      <a:srgbClr val="111827"/>
                    </a:solidFill>
                    <a:latin typeface="Cambria Math" panose="02040503050406030204" pitchFamily="18" charset="0"/>
                  </a:rPr>
                  <a:t>$\sum|A\cap B|=x+y+z+3(5)=36$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Venn diagram, 'only A' </a:t>
                </a:r>
                <a:r>
                  <a:rPr lang="en-IN" sz="2400">
                    <a:solidFill>
                      <a:srgbClr val="111827"/>
                    </a:solidFill>
                    <a:latin typeface="Cambria Math" panose="02040503050406030204" pitchFamily="18" charset="0"/>
                  </a:rPr>
                  <a:t>$=|A|-|A\cap B|-|A\cap C|+|A\cap B\cap C|$</a:t>
                </a:r>
                <a:r>
                  <a:rPr sz="2400" b="0">
                    <a:solidFill>
                      <a:srgbClr val="111827"/>
                    </a:solidFill>
                    <a:latin typeface="Arial"/>
                  </a:rPr>
                  <a:t>; fill the centre first, then the pairwise regions.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$n_1=34$</a:t>
                </a:r>
                <a:r>
                  <a:rPr sz="2400" b="0">
                    <a:solidFill>
                      <a:srgbClr val="111827"/>
                    </a:solidFill>
                    <a:latin typeface="Arial"/>
                  </a:rPr>
                  <a:t>, </a:t>
                </a:r>
                <a:r>
                  <a:rPr lang="en-IN" sz="2400">
                    <a:solidFill>
                      <a:srgbClr val="111827"/>
                    </a:solidFill>
                    <a:latin typeface="Cambria Math" panose="02040503050406030204" pitchFamily="18" charset="0"/>
                  </a:rPr>
                  <a:t>$n_2=21$</a:t>
                </a:r>
                <a:r>
                  <a:rPr sz="2400" b="0">
                    <a:solidFill>
                      <a:srgbClr val="111827"/>
                    </a:solidFill>
                    <a:latin typeface="Arial"/>
                  </a:rPr>
                  <a:t>, </a:t>
                </a:r>
                <a:r>
                  <a:rPr lang="en-IN" sz="2400">
                    <a:solidFill>
                      <a:srgbClr val="111827"/>
                    </a:solidFill>
                    <a:latin typeface="Cambria Math" panose="02040503050406030204" pitchFamily="18" charset="0"/>
                  </a:rPr>
                  <a:t>$n_3=5$</a:t>
                </a:r>
                <a:r>
                  <a:rPr sz="2400" b="0">
                    <a:solidFill>
                      <a:srgbClr val="111827"/>
                    </a:solidFill>
                    <a:latin typeface="Arial"/>
                  </a:rPr>
                  <a:t> give </a:t>
                </a:r>
                <a:r>
                  <a:rPr lang="en-IN" sz="2400">
                    <a:solidFill>
                      <a:srgbClr val="111827"/>
                    </a:solidFill>
                    <a:latin typeface="Cambria Math" panose="02040503050406030204" pitchFamily="18" charset="0"/>
                  </a:rPr>
                  <a:t>$34+21+5=60$</a:t>
                </a:r>
                <a:r>
                  <a:rPr sz="2400" b="0">
                    <a:solidFill>
                      <a:srgbClr val="111827"/>
                    </a:solidFill>
                    <a:latin typeface="Arial"/>
                  </a:rPr>
                  <a:t> and </a:t>
                </a:r>
                <a:r>
                  <a:rPr lang="en-IN" sz="2400">
                    <a:solidFill>
                      <a:srgbClr val="111827"/>
                    </a:solidFill>
                    <a:latin typeface="Cambria Math" panose="02040503050406030204" pitchFamily="18" charset="0"/>
                  </a:rPr>
                  <a:t>$34+42+15=91$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defined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nor/>
                      </m:rPr>
                      <a:rPr lang="en-IN" sz="2400" i="1">
                        <a:solidFill>
                          <a:srgbClr val="111827"/>
                        </a:solidFill>
                        <a:latin typeface="Cambria Math" panose="02040503050406030204" pitchFamily="18" charset="0"/>
                      </a:rPr>
                      <m:t> 𝑎𝑛𝑑 </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26</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$A=\{1,3,4,6,9\}$</a:t>
                </a:r>
                <a:r>
                  <a:rPr sz="2400" b="0">
                    <a:solidFill>
                      <a:srgbClr val="111827"/>
                    </a:solidFill>
                    <a:latin typeface="Arial"/>
                  </a:rPr>
                  <a:t> and </a:t>
                </a:r>
                <a:r>
                  <a:rPr lang="en-IN" sz="2400">
                    <a:solidFill>
                      <a:srgbClr val="111827"/>
                    </a:solidFill>
                    <a:latin typeface="Cambria Math" panose="02040503050406030204" pitchFamily="18" charset="0"/>
                  </a:rPr>
                  <a:t>$B=\{2,4,5,8,10\}$</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relation defined on </a:t>
                </a:r>
                <a:r>
                  <a:rPr lang="en-IN" sz="2400">
                    <a:solidFill>
                      <a:srgbClr val="111827"/>
                    </a:solidFill>
                    <a:latin typeface="Cambria Math" panose="02040503050406030204" pitchFamily="18" charset="0"/>
                  </a:rPr>
                  <a:t>$A\times B$</a:t>
                </a:r>
                <a:r>
                  <a:rPr sz="2400" b="0">
                    <a:solidFill>
                      <a:srgbClr val="111827"/>
                    </a:solidFill>
                    <a:latin typeface="Arial"/>
                  </a:rPr>
                  <a:t> such that </a:t>
                </a:r>
                <a:r>
                  <a:rPr lang="en-IN" sz="2400">
                    <a:solidFill>
                      <a:srgbClr val="111827"/>
                    </a:solidFill>
                    <a:latin typeface="Cambria Math" panose="02040503050406030204" pitchFamily="18" charset="0"/>
                  </a:rPr>
                  <a:t>$R=\{((a_1,b_1),(a_2,b_2)): a_1\le b_2\text{ and }b_1\le a_2\}$</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$R$</a:t>
                </a:r>
                <a:r>
                  <a:rPr sz="2400" b="0">
                    <a:solidFill>
                      <a:srgbClr val="111827"/>
                    </a:solidFill>
                    <a:latin typeface="Arial"/>
                  </a:rPr>
                  <a:t> is :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$180$</a:t>
                </a:r>
                <a:r>
                  <a:rPr sz="2400" b="0">
                    <a:solidFill>
                      <a:srgbClr val="111827"/>
                    </a:solidFill>
                    <a:latin typeface="Arial"/>
                  </a:rPr>
                  <a:t>   (B) </a:t>
                </a:r>
                <a:r>
                  <a:rPr lang="en-IN" sz="2400">
                    <a:solidFill>
                      <a:srgbClr val="111827"/>
                    </a:solidFill>
                    <a:latin typeface="Cambria Math" panose="02040503050406030204" pitchFamily="18" charset="0"/>
                  </a:rPr>
                  <a:t>$52$</a:t>
                </a:r>
                <a:r>
                  <a:rPr sz="2400" b="0">
                    <a:solidFill>
                      <a:srgbClr val="111827"/>
                    </a:solidFill>
                    <a:latin typeface="Arial"/>
                  </a:rPr>
                  <a:t>   (C) </a:t>
                </a:r>
                <a:r>
                  <a:rPr lang="en-IN" sz="2400">
                    <a:solidFill>
                      <a:srgbClr val="111827"/>
                    </a:solidFill>
                    <a:latin typeface="Cambria Math" panose="02040503050406030204" pitchFamily="18" charset="0"/>
                  </a:rPr>
                  <a:t>$160$</a:t>
                </a:r>
                <a:r>
                  <a:rPr sz="2400" b="0">
                    <a:solidFill>
                      <a:srgbClr val="111827"/>
                    </a:solidFill>
                    <a:latin typeface="Arial"/>
                  </a:rPr>
                  <a:t>   (D) </a:t>
                </a:r>
                <a:r>
                  <a:rPr lang="en-IN" sz="2400">
                    <a:solidFill>
                      <a:srgbClr val="111827"/>
                    </a:solidFill>
                    <a:latin typeface="Cambria Math" panose="02040503050406030204" pitchFamily="18" charset="0"/>
                  </a:rPr>
                  <a:t>$26$</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on product sets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conditions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involve separate coordinate pairs,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conditions </a:t>
                </a:r>
                <a:r>
                  <a:rPr lang="en-IN" sz="2400">
                    <a:solidFill>
                      <a:srgbClr val="78350F"/>
                    </a:solidFill>
                    <a:latin typeface="Cambria Math" panose="02040503050406030204" pitchFamily="18" charset="0"/>
                  </a:rPr>
                  <a:t>$a_1\le b_2$</a:t>
                </a:r>
                <a:r>
                  <a:rPr sz="2400" b="0">
                    <a:solidFill>
                      <a:srgbClr val="78350F"/>
                    </a:solidFill>
                    <a:latin typeface="Arial"/>
                  </a:rPr>
                  <a:t> and </a:t>
                </a:r>
                <a:r>
                  <a:rPr lang="en-IN" sz="2400">
                    <a:solidFill>
                      <a:srgbClr val="78350F"/>
                    </a:solidFill>
                    <a:latin typeface="Cambria Math" panose="02040503050406030204" pitchFamily="18" charset="0"/>
                  </a:rPr>
                  <a:t>$b_1\le a_2$</a:t>
                </a:r>
                <a:r>
                  <a:rPr sz="2400" b="0">
                    <a:solidFill>
                      <a:srgbClr val="78350F"/>
                    </a:solidFill>
                    <a:latin typeface="Arial"/>
                  </a:rPr>
                  <a:t> involve separate coordinate pairs, so </a:t>
                </a:r>
                <a:r>
                  <a:rPr lang="en-IN" sz="2400">
                    <a:solidFill>
                      <a:srgbClr val="78350F"/>
                    </a:solidFill>
                    <a:latin typeface="Cambria Math" panose="02040503050406030204" pitchFamily="18" charset="0"/>
                  </a:rPr>
                  <a:t>$|R|=N_1\cdot N_2$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restricts only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restricts only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choices are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cases.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cases.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case. Total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$a_1\le b_2$</a:t>
                </a:r>
                <a:r>
                  <a:rPr sz="2400" b="0">
                    <a:solidFill>
                      <a:srgbClr val="111827"/>
                    </a:solidFill>
                    <a:latin typeface="Arial"/>
                  </a:rPr>
                  <a:t> restricts only </a:t>
                </a:r>
                <a:r>
                  <a:rPr lang="en-IN" sz="2400">
                    <a:solidFill>
                      <a:srgbClr val="111827"/>
                    </a:solidFill>
                    <a:latin typeface="Cambria Math" panose="02040503050406030204" pitchFamily="18" charset="0"/>
                  </a:rPr>
                  <a:t>$(a_1,b_2)$</a:t>
                </a:r>
                <a:r>
                  <a:rPr sz="2400" b="0">
                    <a:solidFill>
                      <a:srgbClr val="111827"/>
                    </a:solidFill>
                    <a:latin typeface="Arial"/>
                  </a:rPr>
                  <a:t>, and </a:t>
                </a:r>
                <a:r>
                  <a:rPr lang="en-IN" sz="2400">
                    <a:solidFill>
                      <a:srgbClr val="111827"/>
                    </a:solidFill>
                    <a:latin typeface="Cambria Math" panose="02040503050406030204" pitchFamily="18" charset="0"/>
                  </a:rPr>
                  <a:t>$b_1\le a_2$</a:t>
                </a:r>
                <a:r>
                  <a:rPr sz="2400" b="0">
                    <a:solidFill>
                      <a:srgbClr val="111827"/>
                    </a:solidFill>
                    <a:latin typeface="Arial"/>
                  </a:rPr>
                  <a:t> restricts only </a:t>
                </a:r>
                <a:r>
                  <a:rPr lang="en-IN" sz="2400">
                    <a:solidFill>
                      <a:srgbClr val="111827"/>
                    </a:solidFill>
                    <a:latin typeface="Cambria Math" panose="02040503050406030204" pitchFamily="18" charset="0"/>
                  </a:rPr>
                  <a:t>$(a_2,b_1)$</a:t>
                </a:r>
                <a:r>
                  <a:rPr sz="2400" b="0">
                    <a:solidFill>
                      <a:srgbClr val="111827"/>
                    </a:solidFill>
                    <a:latin typeface="Arial"/>
                  </a:rPr>
                  <a:t>; the two choices are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$a_1=1$</a:t>
                </a:r>
                <a:r>
                  <a:rPr sz="2400" b="0">
                    <a:solidFill>
                      <a:srgbClr val="111827"/>
                    </a:solidFill>
                    <a:latin typeface="Arial"/>
                  </a:rPr>
                  <a:t>, then </a:t>
                </a:r>
                <a:r>
                  <a:rPr lang="en-IN" sz="2400">
                    <a:solidFill>
                      <a:srgbClr val="111827"/>
                    </a:solidFill>
                    <a:latin typeface="Cambria Math" panose="02040503050406030204" pitchFamily="18" charset="0"/>
                  </a:rPr>
                  <a:t>$b_2\in\{2,4,5,8,10\}$</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$a_1=3$</a:t>
                </a:r>
                <a:r>
                  <a:rPr sz="2400" b="0">
                    <a:solidFill>
                      <a:srgbClr val="111827"/>
                    </a:solidFill>
                    <a:latin typeface="Arial"/>
                  </a:rPr>
                  <a:t>, then </a:t>
                </a:r>
                <a:r>
                  <a:rPr lang="en-IN" sz="2400">
                    <a:solidFill>
                      <a:srgbClr val="111827"/>
                    </a:solidFill>
                    <a:latin typeface="Cambria Math" panose="02040503050406030204" pitchFamily="18" charset="0"/>
                  </a:rPr>
                  <a:t>$b_2\in\{4,5,8,10\}$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cases. If </a:t>
                </a:r>
                <a:r>
                  <a:rPr lang="en-IN" sz="2400">
                    <a:solidFill>
                      <a:srgbClr val="111827"/>
                    </a:solidFill>
                    <a:latin typeface="Cambria Math" panose="02040503050406030204" pitchFamily="18" charset="0"/>
                  </a:rPr>
                  <a:t>$a_1=4$</a:t>
                </a:r>
                <a:r>
                  <a:rPr sz="2400" b="0">
                    <a:solidFill>
                      <a:srgbClr val="111827"/>
                    </a:solidFill>
                    <a:latin typeface="Arial"/>
                  </a:rPr>
                  <a:t>, then </a:t>
                </a:r>
                <a:r>
                  <a:rPr lang="en-IN" sz="2400">
                    <a:solidFill>
                      <a:srgbClr val="111827"/>
                    </a:solidFill>
                    <a:latin typeface="Cambria Math" panose="02040503050406030204" pitchFamily="18" charset="0"/>
                  </a:rPr>
                  <a:t>$b_2\in\{4,5,8,10\}$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$a_1=6$</a:t>
                </a:r>
                <a:r>
                  <a:rPr sz="2400" b="0">
                    <a:solidFill>
                      <a:srgbClr val="111827"/>
                    </a:solidFill>
                    <a:latin typeface="Arial"/>
                  </a:rPr>
                  <a:t>, then </a:t>
                </a:r>
                <a:r>
                  <a:rPr lang="en-IN" sz="2400">
                    <a:solidFill>
                      <a:srgbClr val="111827"/>
                    </a:solidFill>
                    <a:latin typeface="Cambria Math" panose="02040503050406030204" pitchFamily="18" charset="0"/>
                  </a:rPr>
                  <a:t>$b_2\in\{8,10\}$</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cases. If </a:t>
                </a:r>
                <a:r>
                  <a:rPr lang="en-IN" sz="2400">
                    <a:solidFill>
                      <a:srgbClr val="111827"/>
                    </a:solidFill>
                    <a:latin typeface="Cambria Math" panose="02040503050406030204" pitchFamily="18" charset="0"/>
                  </a:rPr>
                  <a:t>$a_1=9$</a:t>
                </a:r>
                <a:r>
                  <a:rPr sz="2400" b="0">
                    <a:solidFill>
                      <a:srgbClr val="111827"/>
                    </a:solidFill>
                    <a:latin typeface="Arial"/>
                  </a:rPr>
                  <a:t>, then </a:t>
                </a:r>
                <a:r>
                  <a:rPr lang="en-IN" sz="2400">
                    <a:solidFill>
                      <a:srgbClr val="111827"/>
                    </a:solidFill>
                    <a:latin typeface="Cambria Math" panose="02040503050406030204" pitchFamily="18" charset="0"/>
                  </a:rPr>
                  <a:t>$b_2=10$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case. Total </a:t>
                </a:r>
                <a:r>
                  <a:rPr lang="en-IN" sz="2400">
                    <a:solidFill>
                      <a:srgbClr val="111827"/>
                    </a:solidFill>
                    <a:latin typeface="Cambria Math" panose="02040503050406030204" pitchFamily="18" charset="0"/>
                  </a:rPr>
                  <a:t>$N_1=5+4+4+2+1=16$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none;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case;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cases;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cases. Total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of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$b_1\le a_2$</a:t>
                </a:r>
                <a:r>
                  <a:rPr sz="2400" b="0">
                    <a:solidFill>
                      <a:srgbClr val="111827"/>
                    </a:solidFill>
                    <a:latin typeface="Arial"/>
                  </a:rPr>
                  <a:t>: </a:t>
                </a:r>
                <a:r>
                  <a:rPr lang="en-IN" sz="2400">
                    <a:solidFill>
                      <a:srgbClr val="111827"/>
                    </a:solidFill>
                    <a:latin typeface="Cambria Math" panose="02040503050406030204" pitchFamily="18" charset="0"/>
                  </a:rPr>
                  <a:t>$a_2=1$</a:t>
                </a:r>
                <a:r>
                  <a:rPr sz="2400" b="0">
                    <a:solidFill>
                      <a:srgbClr val="111827"/>
                    </a:solidFill>
                    <a:latin typeface="Arial"/>
                  </a:rPr>
                  <a:t>: none; </a:t>
                </a:r>
                <a:r>
                  <a:rPr lang="en-IN" sz="2400">
                    <a:solidFill>
                      <a:srgbClr val="111827"/>
                    </a:solidFill>
                    <a:latin typeface="Cambria Math" panose="02040503050406030204" pitchFamily="18" charset="0"/>
                  </a:rPr>
                  <a:t>$a_2=3$</a:t>
                </a:r>
                <a:r>
                  <a:rPr sz="2400" b="0">
                    <a:solidFill>
                      <a:srgbClr val="111827"/>
                    </a:solidFill>
                    <a:latin typeface="Arial"/>
                  </a:rPr>
                  <a:t>: </a:t>
                </a:r>
                <a:r>
                  <a:rPr lang="en-IN" sz="2400">
                    <a:solidFill>
                      <a:srgbClr val="111827"/>
                    </a:solidFill>
                    <a:latin typeface="Cambria Math" panose="02040503050406030204" pitchFamily="18" charset="0"/>
                  </a:rPr>
                  <a:t>$b_1=2$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case; </a:t>
                </a:r>
                <a:r>
                  <a:rPr lang="en-IN" sz="2400">
                    <a:solidFill>
                      <a:srgbClr val="111827"/>
                    </a:solidFill>
                    <a:latin typeface="Cambria Math" panose="02040503050406030204" pitchFamily="18" charset="0"/>
                  </a:rPr>
                  <a:t>$a_2=4$</a:t>
                </a:r>
                <a:r>
                  <a:rPr sz="2400" b="0">
                    <a:solidFill>
                      <a:srgbClr val="111827"/>
                    </a:solidFill>
                    <a:latin typeface="Arial"/>
                  </a:rPr>
                  <a:t>: </a:t>
                </a:r>
                <a:r>
                  <a:rPr lang="en-IN" sz="2400">
                    <a:solidFill>
                      <a:srgbClr val="111827"/>
                    </a:solidFill>
                    <a:latin typeface="Cambria Math" panose="02040503050406030204" pitchFamily="18" charset="0"/>
                  </a:rPr>
                  <a:t>$b_1\in\{2,4\}$</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$a_2=6$</a:t>
                </a:r>
                <a:r>
                  <a:rPr sz="2400" b="0">
                    <a:solidFill>
                      <a:srgbClr val="111827"/>
                    </a:solidFill>
                    <a:latin typeface="Arial"/>
                  </a:rPr>
                  <a:t>: </a:t>
                </a:r>
                <a:r>
                  <a:rPr lang="en-IN" sz="2400">
                    <a:solidFill>
                      <a:srgbClr val="111827"/>
                    </a:solidFill>
                    <a:latin typeface="Cambria Math" panose="02040503050406030204" pitchFamily="18" charset="0"/>
                  </a:rPr>
                  <a:t>$b_1\in\{2,4,5\}$</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cases; </a:t>
                </a:r>
                <a:r>
                  <a:rPr lang="en-IN" sz="2400">
                    <a:solidFill>
                      <a:srgbClr val="111827"/>
                    </a:solidFill>
                    <a:latin typeface="Cambria Math" panose="02040503050406030204" pitchFamily="18" charset="0"/>
                  </a:rPr>
                  <a:t>$a_2=9$</a:t>
                </a:r>
                <a:r>
                  <a:rPr sz="2400" b="0">
                    <a:solidFill>
                      <a:srgbClr val="111827"/>
                    </a:solidFill>
                    <a:latin typeface="Arial"/>
                  </a:rPr>
                  <a:t>: </a:t>
                </a:r>
                <a:r>
                  <a:rPr lang="en-IN" sz="2400">
                    <a:solidFill>
                      <a:srgbClr val="111827"/>
                    </a:solidFill>
                    <a:latin typeface="Cambria Math" panose="02040503050406030204" pitchFamily="18" charset="0"/>
                  </a:rPr>
                  <a:t>$b_1\in\{2,4,5,8\}$</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cases. Total </a:t>
                </a:r>
                <a:r>
                  <a:rPr lang="en-IN" sz="2400">
                    <a:solidFill>
                      <a:srgbClr val="111827"/>
                    </a:solidFill>
                    <a:latin typeface="Cambria Math" panose="02040503050406030204" pitchFamily="18" charset="0"/>
                  </a:rPr>
                  <a:t>$N_2=1+2+3+4=10$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elements of </a:t>
                </a:r>
                <a:r>
                  <a:rPr lang="en-IN" sz="2400">
                    <a:solidFill>
                      <a:srgbClr val="111827"/>
                    </a:solidFill>
                    <a:latin typeface="Cambria Math" panose="02040503050406030204" pitchFamily="18" charset="0"/>
                  </a:rPr>
                  <a:t>$R=16\times10=160$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160</a:t>
            </a:r>
            <a:endParaRPr sz="2800">
              <a:solidFill>
                <a:srgbClr val="15803D"/>
              </a:solidFill>
            </a:endParaRP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14:m>
                  <m:oMath xmlns:m="http://schemas.openxmlformats.org/officeDocument/2006/math">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from </a:t>
                </a:r>
                <a14:m>
                  <m:oMath xmlns:m="http://schemas.openxmlformats.org/officeDocument/2006/math">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by complement: pairs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𝑏</m:t>
                    </m:r>
                  </m:oMath>
                </a14:m>
                <a:r>
                  <a:rPr sz="2400" b="0">
                    <a:solidFill>
                      <a:srgbClr val="78350F"/>
                    </a:solidFill>
                    <a:latin typeface="Arial"/>
                  </a:rPr>
                  <a:t> and pairs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partition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𝑏</m:t>
                    </m:r>
                  </m:oMath>
                </a14:m>
                <a:r>
                  <a:rPr sz="2400" b="0">
                    <a:solidFill>
                      <a:srgbClr val="78350F"/>
                    </a:solidFill>
                    <a:latin typeface="Arial"/>
                  </a:rPr>
                  <a:t> plus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r>
                  <a:rPr lang="en-IN" sz="2400">
                    <a:solidFill>
                      <a:srgbClr val="78350F"/>
                    </a:solidFill>
                    <a:latin typeface="Cambria Math" panose="02040503050406030204" pitchFamily="18" charset="0"/>
                  </a:rPr>
                  <a:t>$N_2$</a:t>
                </a:r>
                <a:r>
                  <a:rPr sz="2400" b="0">
                    <a:solidFill>
                      <a:srgbClr val="78350F"/>
                    </a:solidFill>
                    <a:latin typeface="Arial"/>
                  </a:rPr>
                  <a:t> from </a:t>
                </a:r>
                <a:r>
                  <a:rPr lang="en-IN" sz="2400">
                    <a:solidFill>
                      <a:srgbClr val="78350F"/>
                    </a:solidFill>
                    <a:latin typeface="Cambria Math" panose="02040503050406030204" pitchFamily="18" charset="0"/>
                  </a:rPr>
                  <a:t>$N_1$</a:t>
                </a:r>
                <a:r>
                  <a:rPr sz="2400" b="0">
                    <a:solidFill>
                      <a:srgbClr val="78350F"/>
                    </a:solidFill>
                    <a:latin typeface="Arial"/>
                  </a:rPr>
                  <a:t> by complement: pairs with </a:t>
                </a:r>
                <a:r>
                  <a:rPr lang="en-IN" sz="2400">
                    <a:solidFill>
                      <a:srgbClr val="78350F"/>
                    </a:solidFill>
                    <a:latin typeface="Cambria Math" panose="02040503050406030204" pitchFamily="18" charset="0"/>
                  </a:rPr>
                  <a:t>$a&gt;b$</a:t>
                </a:r>
                <a:r>
                  <a:rPr sz="2400" b="0">
                    <a:solidFill>
                      <a:srgbClr val="78350F"/>
                    </a:solidFill>
                    <a:latin typeface="Arial"/>
                  </a:rPr>
                  <a:t> and pairs with </a:t>
                </a:r>
                <a:r>
                  <a:rPr lang="en-IN" sz="2400">
                    <a:solidFill>
                      <a:srgbClr val="78350F"/>
                    </a:solidFill>
                    <a:latin typeface="Cambria Math" panose="02040503050406030204" pitchFamily="18" charset="0"/>
                  </a:rPr>
                  <a:t>$a\le b$</a:t>
                </a:r>
                <a:r>
                  <a:rPr sz="2400" b="0">
                    <a:solidFill>
                      <a:srgbClr val="78350F"/>
                    </a:solidFill>
                    <a:latin typeface="Arial"/>
                  </a:rPr>
                  <a:t> partition </a:t>
                </a:r>
                <a:r>
                  <a:rPr lang="en-IN" sz="2400">
                    <a:solidFill>
                      <a:srgbClr val="78350F"/>
                    </a:solidFill>
                    <a:latin typeface="Cambria Math" panose="02040503050406030204" pitchFamily="18" charset="0"/>
                  </a:rPr>
                  <a:t>$A\times B$</a:t>
                </a:r>
                <a:r>
                  <a:rPr sz="2400" b="0">
                    <a:solidFill>
                      <a:srgbClr val="78350F"/>
                    </a:solidFill>
                    <a:latin typeface="Arial"/>
                  </a:rPr>
                  <a:t>, and </a:t>
                </a:r>
                <a:r>
                  <a:rPr lang="en-IN" sz="2400">
                    <a:solidFill>
                      <a:srgbClr val="78350F"/>
                    </a:solidFill>
                    <a:latin typeface="Cambria Math" panose="02040503050406030204" pitchFamily="18" charset="0"/>
                  </a:rPr>
                  <a:t>$N_2$</a:t>
                </a:r>
                <a:r>
                  <a:rPr sz="2400" b="0">
                    <a:solidFill>
                      <a:srgbClr val="78350F"/>
                    </a:solidFill>
                    <a:latin typeface="Arial"/>
                  </a:rPr>
                  <a:t> is </a:t>
                </a:r>
                <a:r>
                  <a:rPr lang="en-IN" sz="2400">
                    <a:solidFill>
                      <a:srgbClr val="78350F"/>
                    </a:solidFill>
                    <a:latin typeface="Cambria Math" panose="02040503050406030204" pitchFamily="18" charset="0"/>
                  </a:rPr>
                  <a:t>$a&gt;b$</a:t>
                </a:r>
                <a:r>
                  <a:rPr sz="2400" b="0">
                    <a:solidFill>
                      <a:srgbClr val="78350F"/>
                    </a:solidFill>
                    <a:latin typeface="Arial"/>
                  </a:rPr>
                  <a:t> plus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the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those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number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(counted by rows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pairs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counts pairs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plus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one equal pair. So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Among the </a:t>
                </a:r>
                <a:r>
                  <a:rPr lang="en-IN" sz="2400">
                    <a:solidFill>
                      <a:srgbClr val="111827"/>
                    </a:solidFill>
                    <a:latin typeface="Cambria Math" panose="02040503050406030204" pitchFamily="18" charset="0"/>
                  </a:rPr>
                  <a:t>$5\times5=25$</a:t>
                </a:r>
                <a:r>
                  <a:rPr sz="2400" b="0">
                    <a:solidFill>
                      <a:srgbClr val="111827"/>
                    </a:solidFill>
                    <a:latin typeface="Arial"/>
                  </a:rPr>
                  <a:t> pairs </a:t>
                </a:r>
                <a:r>
                  <a:rPr lang="en-IN" sz="2400">
                    <a:solidFill>
                      <a:srgbClr val="111827"/>
                    </a:solidFill>
                    <a:latin typeface="Cambria Math" panose="02040503050406030204" pitchFamily="18" charset="0"/>
                  </a:rPr>
                  <a:t>$(a,b)$</a:t>
                </a:r>
                <a:r>
                  <a:rPr sz="2400" b="0">
                    <a:solidFill>
                      <a:srgbClr val="111827"/>
                    </a:solidFill>
                    <a:latin typeface="Arial"/>
                  </a:rPr>
                  <a:t>, those with </a:t>
                </a:r>
                <a:r>
                  <a:rPr lang="en-IN" sz="2400">
                    <a:solidFill>
                      <a:srgbClr val="111827"/>
                    </a:solidFill>
                    <a:latin typeface="Cambria Math" panose="02040503050406030204" pitchFamily="18" charset="0"/>
                  </a:rPr>
                  <a:t>$a\le b$</a:t>
                </a:r>
                <a:r>
                  <a:rPr sz="2400" b="0">
                    <a:solidFill>
                      <a:srgbClr val="111827"/>
                    </a:solidFill>
                    <a:latin typeface="Arial"/>
                  </a:rPr>
                  <a:t> number </a:t>
                </a:r>
                <a:r>
                  <a:rPr lang="en-IN" sz="2400">
                    <a:solidFill>
                      <a:srgbClr val="111827"/>
                    </a:solidFill>
                    <a:latin typeface="Cambria Math" panose="02040503050406030204" pitchFamily="18" charset="0"/>
                  </a:rPr>
                  <a:t>$N_1=16$</a:t>
                </a:r>
                <a:r>
                  <a:rPr sz="2400" b="0">
                    <a:solidFill>
                      <a:srgbClr val="111827"/>
                    </a:solidFill>
                    <a:latin typeface="Arial"/>
                  </a:rPr>
                  <a:t> (counted by rows </a:t>
                </a:r>
                <a:r>
                  <a:rPr lang="en-IN" sz="2400">
                    <a:solidFill>
                      <a:srgbClr val="111827"/>
                    </a:solidFill>
                    <a:latin typeface="Cambria Math" panose="02040503050406030204" pitchFamily="18" charset="0"/>
                  </a:rPr>
                  <a:t>$5,4,4,2,1$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pairs with </a:t>
                </a:r>
                <a:r>
                  <a:rPr lang="en-IN" sz="2400">
                    <a:solidFill>
                      <a:srgbClr val="111827"/>
                    </a:solidFill>
                    <a:latin typeface="Cambria Math" panose="02040503050406030204" pitchFamily="18" charset="0"/>
                  </a:rPr>
                  <a:t>$a&gt;b$</a:t>
                </a:r>
                <a:r>
                  <a:rPr sz="2400" b="0">
                    <a:solidFill>
                      <a:srgbClr val="111827"/>
                    </a:solidFill>
                    <a:latin typeface="Arial"/>
                  </a:rPr>
                  <a:t> number </a:t>
                </a:r>
                <a:r>
                  <a:rPr lang="en-IN" sz="2400">
                    <a:solidFill>
                      <a:srgbClr val="111827"/>
                    </a:solidFill>
                    <a:latin typeface="Cambria Math" panose="02040503050406030204" pitchFamily="18" charset="0"/>
                  </a:rPr>
                  <a:t>$25-16=9$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$N_2$</a:t>
                </a:r>
                <a:r>
                  <a:rPr sz="2400" b="0">
                    <a:solidFill>
                      <a:srgbClr val="111827"/>
                    </a:solidFill>
                    <a:latin typeface="Arial"/>
                  </a:rPr>
                  <a:t> counts pairs with </a:t>
                </a:r>
                <a:r>
                  <a:rPr lang="en-IN" sz="2400">
                    <a:solidFill>
                      <a:srgbClr val="111827"/>
                    </a:solidFill>
                    <a:latin typeface="Cambria Math" panose="02040503050406030204" pitchFamily="18" charset="0"/>
                  </a:rPr>
                  <a:t>$b\le a$</a:t>
                </a:r>
                <a:r>
                  <a:rPr sz="2400" b="0">
                    <a:solidFill>
                      <a:srgbClr val="111827"/>
                    </a:solidFill>
                    <a:latin typeface="Arial"/>
                  </a:rPr>
                  <a:t>, i.e. </a:t>
                </a:r>
                <a:r>
                  <a:rPr lang="en-IN" sz="2400">
                    <a:solidFill>
                      <a:srgbClr val="111827"/>
                    </a:solidFill>
                    <a:latin typeface="Cambria Math" panose="02040503050406030204" pitchFamily="18" charset="0"/>
                  </a:rPr>
                  <a:t>$a&gt;b$</a:t>
                </a:r>
                <a:r>
                  <a:rPr sz="2400" b="0">
                    <a:solidFill>
                      <a:srgbClr val="111827"/>
                    </a:solidFill>
                    <a:latin typeface="Arial"/>
                  </a:rPr>
                  <a:t> plus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$A\cap B=\{4\}$</a:t>
                </a:r>
                <a:r>
                  <a:rPr sz="2400" b="0">
                    <a:solidFill>
                      <a:srgbClr val="111827"/>
                    </a:solidFill>
                    <a:latin typeface="Arial"/>
                  </a:rPr>
                  <a:t> gives one equal pair. So </a:t>
                </a:r>
                <a:r>
                  <a:rPr lang="en-IN" sz="2400">
                    <a:solidFill>
                      <a:srgbClr val="111827"/>
                    </a:solidFill>
                    <a:latin typeface="Cambria Math" panose="02040503050406030204" pitchFamily="18" charset="0"/>
                  </a:rPr>
                  <a:t>$N_2=9+1=10$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$|R|=N_1N_2=16\times10=160$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160</a:t>
            </a:r>
            <a:endParaRPr sz="2800">
              <a:solidFill>
                <a:srgbClr val="15803D"/>
              </a:solidFill>
            </a:endParaRP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defined by conditions on disjoint coordinate pairs, the count is the product of the two single-condition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finite sets: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 by the variable with the fewest values first and count the allowed partners row-by-row; confirm with the sum rule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relation on </a:t>
                </a:r>
                <a:r>
                  <a:rPr lang="en-IN" sz="2400">
                    <a:solidFill>
                      <a:srgbClr val="111827"/>
                    </a:solidFill>
                    <a:latin typeface="Cambria Math" panose="02040503050406030204" pitchFamily="18" charset="0"/>
                  </a:rPr>
                  <a:t>$A\times B$</a:t>
                </a:r>
                <a:r>
                  <a:rPr sz="2400" b="0">
                    <a:solidFill>
                      <a:srgbClr val="111827"/>
                    </a:solidFill>
                    <a:latin typeface="Arial"/>
                  </a:rPr>
                  <a:t> is defined by conditions on disjoint coordinate pairs, the count is the product of the two single-condition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finite sets: </a:t>
                </a:r>
                <a:r>
                  <a:rPr lang="en-IN" sz="2400">
                    <a:solidFill>
                      <a:srgbClr val="111827"/>
                    </a:solidFill>
                    <a:latin typeface="Cambria Math" panose="02040503050406030204" pitchFamily="18" charset="0"/>
                  </a:rPr>
                  <a:t>$\#\{a\le b\}+\#\{a&gt;b\}=|A||B|$</a:t>
                </a:r>
                <a:r>
                  <a:rPr sz="2400" b="0">
                    <a:solidFill>
                      <a:srgbClr val="111827"/>
                    </a:solidFill>
                    <a:latin typeface="Arial"/>
                  </a:rPr>
                  <a:t> and </a:t>
                </a:r>
                <a:r>
                  <a:rPr lang="en-IN" sz="2400">
                    <a:solidFill>
                      <a:srgbClr val="111827"/>
                    </a:solidFill>
                    <a:latin typeface="Cambria Math" panose="02040503050406030204" pitchFamily="18" charset="0"/>
                  </a:rPr>
                  <a:t>$\#\{a\ge b\}=\#\{a&gt;b\}+|A\cap B|$</a:t>
                </a:r>
                <a:r>
                  <a:rPr sz="2400" b="0">
                    <a:solidFill>
                      <a:srgbClr val="111827"/>
                    </a:solidFill>
                    <a:latin typeface="Arial"/>
                  </a:rPr>
                  <a:t>, so </a:t>
                </a:r>
                <a:r>
                  <a:rPr lang="en-IN" sz="2400">
                    <a:solidFill>
                      <a:srgbClr val="111827"/>
                    </a:solidFill>
                    <a:latin typeface="Cambria Math" panose="02040503050406030204" pitchFamily="18" charset="0"/>
                  </a:rPr>
                  <a:t>$N_1+N_2=|A||B|+|A\cap B|=26$</a:t>
                </a:r>
                <a:r>
                  <a:rPr sz="2400" b="0">
                    <a:solidFill>
                      <a:srgbClr val="111827"/>
                    </a:solidFill>
                    <a:latin typeface="Arial"/>
                  </a:rPr>
                  <a:t> here (</a:t>
                </a:r>
                <a:r>
                  <a:rPr lang="en-IN" sz="2400">
                    <a:solidFill>
                      <a:srgbClr val="111827"/>
                    </a:solidFill>
                    <a:latin typeface="Cambria Math" panose="02040503050406030204" pitchFamily="18" charset="0"/>
                  </a:rPr>
                  <a:t>$16+10$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 by the variable with the fewest values first and count the allowed partners row-by-row; confirm with the sum rule </a:t>
                </a:r>
                <a:r>
                  <a:rPr lang="en-IN" sz="2400">
                    <a:solidFill>
                      <a:srgbClr val="111827"/>
                    </a:solidFill>
                    <a:latin typeface="Cambria Math" panose="02040503050406030204" pitchFamily="18" charset="0"/>
                  </a:rPr>
                  <a:t>$N_1+N_2=26$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Q51 – Q55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elements in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$A=\{1,2,3,4,\dots,10\}$</a:t>
                </a:r>
                <a:r>
                  <a:rPr sz="2400" b="0">
                    <a:solidFill>
                      <a:srgbClr val="111827"/>
                    </a:solidFill>
                    <a:latin typeface="Arial"/>
                  </a:rPr>
                  <a:t> and </a:t>
                </a:r>
                <a:r>
                  <a:rPr lang="en-IN" sz="2400">
                    <a:solidFill>
                      <a:srgbClr val="111827"/>
                    </a:solidFill>
                    <a:latin typeface="Cambria Math" panose="02040503050406030204" pitchFamily="18" charset="0"/>
                  </a:rPr>
                  <a:t>$B=\{0,1,2,3,4\}$</a:t>
                </a:r>
                <a:r>
                  <a:rPr sz="2400" b="0">
                    <a:solidFill>
                      <a:srgbClr val="111827"/>
                    </a:solidFill>
                    <a:latin typeface="Arial"/>
                  </a:rPr>
                  <a:t>. The number of elements in the relation </a:t>
                </a:r>
                <a:r>
                  <a:rPr lang="en-IN" sz="2400">
                    <a:solidFill>
                      <a:srgbClr val="111827"/>
                    </a:solidFill>
                    <a:latin typeface="Cambria Math" panose="02040503050406030204" pitchFamily="18" charset="0"/>
                  </a:rPr>
                  <a:t>$R=\{(a,b)\in A\times A: 2(a-b)^2+3(a-b)\in B\}$</a:t>
                </a:r>
                <a:r>
                  <a:rPr sz="2400" b="0">
                    <a:solidFill>
                      <a:srgbClr val="111827"/>
                    </a:solidFill>
                    <a:latin typeface="Arial"/>
                  </a:rPr>
                  <a:t> is __________. [JEE(Main) April 2023]</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(counting ordered pairs), Quadratic expressions in integers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and factor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only integers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give a value in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$d=a-b$</a:t>
                </a:r>
                <a:r>
                  <a:rPr sz="2400" b="0">
                    <a:solidFill>
                      <a:srgbClr val="78350F"/>
                    </a:solidFill>
                    <a:latin typeface="Arial"/>
                  </a:rPr>
                  <a:t> and factor </a:t>
                </a:r>
                <a:r>
                  <a:rPr lang="en-IN" sz="2400">
                    <a:solidFill>
                      <a:srgbClr val="78350F"/>
                    </a:solidFill>
                    <a:latin typeface="Cambria Math" panose="02040503050406030204" pitchFamily="18" charset="0"/>
                  </a:rPr>
                  <a:t>$2d^2+3d=d(2d+3)$</a:t>
                </a:r>
                <a:r>
                  <a:rPr sz="2400" b="0">
                    <a:solidFill>
                      <a:srgbClr val="78350F"/>
                    </a:solidFill>
                    <a:latin typeface="Arial"/>
                  </a:rPr>
                  <a:t>; only integers </a:t>
                </a:r>
                <a:r>
                  <a:rPr lang="en-IN" sz="2400">
                    <a:solidFill>
                      <a:srgbClr val="78350F"/>
                    </a:solidFill>
                    <a:latin typeface="Cambria Math" panose="02040503050406030204" pitchFamily="18" charset="0"/>
                  </a:rPr>
                  <a:t>$d=0$</a:t>
                </a:r>
                <a:r>
                  <a:rPr sz="2400" b="0">
                    <a:solidFill>
                      <a:srgbClr val="78350F"/>
                    </a:solidFill>
                    <a:latin typeface="Arial"/>
                  </a:rPr>
                  <a:t> and </a:t>
                </a:r>
                <a:r>
                  <a:rPr lang="en-IN" sz="2400">
                    <a:solidFill>
                      <a:srgbClr val="78350F"/>
                    </a:solidFill>
                    <a:latin typeface="Cambria Math" panose="02040503050406030204" pitchFamily="18" charset="0"/>
                  </a:rPr>
                  <a:t>$d=-2$</a:t>
                </a:r>
                <a:r>
                  <a:rPr sz="2400" b="0">
                    <a:solidFill>
                      <a:srgbClr val="78350F"/>
                    </a:solidFill>
                    <a:latin typeface="Arial"/>
                  </a:rPr>
                  <a:t> give a value in </a:t>
                </a:r>
                <a:r>
                  <a:rPr lang="en-IN" sz="2400">
                    <a:solidFill>
                      <a:srgbClr val="78350F"/>
                    </a:solidFill>
                    <a:latin typeface="Cambria Math" panose="02040503050406030204" pitchFamily="18" charset="0"/>
                  </a:rPr>
                  <a:t>$B$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 integer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other root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not an integer). Check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Other integers: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value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work.</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$R=\{(a,b)\in A\times A: 2(a-b)^2+3(a-b)\in B\}$</a:t>
                </a:r>
                <a:r>
                  <a:rPr sz="2400" b="0">
                    <a:solidFill>
                      <a:srgbClr val="111827"/>
                    </a:solidFill>
                    <a:latin typeface="Arial"/>
                  </a:rPr>
                  <a:t> with </a:t>
                </a:r>
                <a:r>
                  <a:rPr lang="en-IN" sz="2400">
                    <a:solidFill>
                      <a:srgbClr val="111827"/>
                    </a:solidFill>
                    <a:latin typeface="Cambria Math" panose="02040503050406030204" pitchFamily="18" charset="0"/>
                  </a:rPr>
                  <a:t>$B=\{0,1,2,3,4\}$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$d=a-b$</a:t>
                </a:r>
                <a:r>
                  <a:rPr sz="2400" b="0">
                    <a:solidFill>
                      <a:srgbClr val="111827"/>
                    </a:solidFill>
                    <a:latin typeface="Arial"/>
                  </a:rPr>
                  <a:t>, an integer with </a:t>
                </a:r>
                <a:r>
                  <a:rPr lang="en-IN" sz="2400">
                    <a:solidFill>
                      <a:srgbClr val="111827"/>
                    </a:solidFill>
                    <a:latin typeface="Cambria Math" panose="02040503050406030204" pitchFamily="18" charset="0"/>
                  </a:rPr>
                  <a:t>$|d|\le9$</a:t>
                </a:r>
                <a:r>
                  <a:rPr sz="2400" b="0">
                    <a:solidFill>
                      <a:srgbClr val="111827"/>
                    </a:solidFill>
                    <a:latin typeface="Arial"/>
                  </a:rPr>
                  <a:t>. Then </a:t>
                </a:r>
                <a:r>
                  <a:rPr lang="en-IN" sz="2400">
                    <a:solidFill>
                      <a:srgbClr val="111827"/>
                    </a:solidFill>
                    <a:latin typeface="Cambria Math" panose="02040503050406030204" pitchFamily="18" charset="0"/>
                  </a:rPr>
                  <a:t>$2d^2+3d=d(2d+3)$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t>
                </a:r>
                <a:r>
                  <a:rPr lang="en-IN" sz="2400">
                    <a:solidFill>
                      <a:srgbClr val="111827"/>
                    </a:solidFill>
                    <a:latin typeface="Cambria Math" panose="02040503050406030204" pitchFamily="18" charset="0"/>
                  </a:rPr>
                  <a:t>$0$</a:t>
                </a:r>
                <a:r>
                  <a:rPr sz="2400" b="0">
                    <a:solidFill>
                      <a:srgbClr val="111827"/>
                    </a:solidFill>
                    <a:latin typeface="Arial"/>
                  </a:rPr>
                  <a:t> iff </a:t>
                </a:r>
                <a:r>
                  <a:rPr lang="en-IN" sz="2400">
                    <a:solidFill>
                      <a:srgbClr val="111827"/>
                    </a:solidFill>
                    <a:latin typeface="Cambria Math" panose="02040503050406030204" pitchFamily="18" charset="0"/>
                  </a:rPr>
                  <a:t>$d=0$</a:t>
                </a:r>
                <a:r>
                  <a:rPr sz="2400" b="0">
                    <a:solidFill>
                      <a:srgbClr val="111827"/>
                    </a:solidFill>
                    <a:latin typeface="Arial"/>
                  </a:rPr>
                  <a:t> (the other root </a:t>
                </a:r>
                <a:r>
                  <a:rPr lang="en-IN" sz="2400">
                    <a:solidFill>
                      <a:srgbClr val="111827"/>
                    </a:solidFill>
                    <a:latin typeface="Cambria Math" panose="02040503050406030204" pitchFamily="18" charset="0"/>
                  </a:rPr>
                  <a:t>$-\frac32$</a:t>
                </a:r>
                <a:r>
                  <a:rPr sz="2400" b="0">
                    <a:solidFill>
                      <a:srgbClr val="111827"/>
                    </a:solidFill>
                    <a:latin typeface="Arial"/>
                  </a:rPr>
                  <a:t> is not an integer). Check </a:t>
                </a:r>
                <a:r>
                  <a:rPr lang="en-IN" sz="2400">
                    <a:solidFill>
                      <a:srgbClr val="111827"/>
                    </a:solidFill>
                    <a:latin typeface="Cambria Math" panose="02040503050406030204" pitchFamily="18" charset="0"/>
                  </a:rPr>
                  <a:t>$d=-2$</a:t>
                </a:r>
                <a:r>
                  <a:rPr sz="2400" b="0">
                    <a:solidFill>
                      <a:srgbClr val="111827"/>
                    </a:solidFill>
                    <a:latin typeface="Arial"/>
                  </a:rPr>
                  <a:t>: </a:t>
                </a:r>
                <a:r>
                  <a:rPr lang="en-IN" sz="2400">
                    <a:solidFill>
                      <a:srgbClr val="111827"/>
                    </a:solidFill>
                    <a:latin typeface="Cambria Math" panose="02040503050406030204" pitchFamily="18" charset="0"/>
                  </a:rPr>
                  <a:t>$(-2)(-1)=2\in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Other integers: </a:t>
                </a:r>
                <a:r>
                  <a:rPr lang="en-IN" sz="2400">
                    <a:solidFill>
                      <a:srgbClr val="111827"/>
                    </a:solidFill>
                    <a:latin typeface="Cambria Math" panose="02040503050406030204" pitchFamily="18" charset="0"/>
                  </a:rPr>
                  <a:t>$d=1\to5$</a:t>
                </a:r>
                <a:r>
                  <a:rPr sz="2400" b="0">
                    <a:solidFill>
                      <a:srgbClr val="111827"/>
                    </a:solidFill>
                    <a:latin typeface="Arial"/>
                  </a:rPr>
                  <a:t>, </a:t>
                </a:r>
                <a:r>
                  <a:rPr lang="en-IN" sz="2400">
                    <a:solidFill>
                      <a:srgbClr val="111827"/>
                    </a:solidFill>
                    <a:latin typeface="Cambria Math" panose="02040503050406030204" pitchFamily="18" charset="0"/>
                  </a:rPr>
                  <a:t>$d=-1\to-1$</a:t>
                </a:r>
                <a:r>
                  <a:rPr sz="2400" b="0">
                    <a:solidFill>
                      <a:srgbClr val="111827"/>
                    </a:solidFill>
                    <a:latin typeface="Arial"/>
                  </a:rPr>
                  <a:t>, </a:t>
                </a:r>
                <a:r>
                  <a:rPr lang="en-IN" sz="2400">
                    <a:solidFill>
                      <a:srgbClr val="111827"/>
                    </a:solidFill>
                    <a:latin typeface="Cambria Math" panose="02040503050406030204" pitchFamily="18" charset="0"/>
                  </a:rPr>
                  <a:t>$d=-3\to9$</a:t>
                </a:r>
                <a:r>
                  <a:rPr sz="2400" b="0">
                    <a:solidFill>
                      <a:srgbClr val="111827"/>
                    </a:solidFill>
                    <a:latin typeface="Arial"/>
                  </a:rPr>
                  <a:t>, </a:t>
                </a:r>
                <a:r>
                  <a:rPr lang="en-IN" sz="2400">
                    <a:solidFill>
                      <a:srgbClr val="111827"/>
                    </a:solidFill>
                    <a:latin typeface="Cambria Math" panose="02040503050406030204" pitchFamily="18" charset="0"/>
                  </a:rPr>
                  <a:t>$d=2\to14$</a:t>
                </a:r>
                <a:r>
                  <a:rPr sz="2400" b="0">
                    <a:solidFill>
                      <a:srgbClr val="111827"/>
                    </a:solidFill>
                    <a:latin typeface="Arial"/>
                  </a:rPr>
                  <a:t>; for </a:t>
                </a:r>
                <a:r>
                  <a:rPr lang="en-IN" sz="2400">
                    <a:solidFill>
                      <a:srgbClr val="111827"/>
                    </a:solidFill>
                    <a:latin typeface="Cambria Math" panose="02040503050406030204" pitchFamily="18" charset="0"/>
                  </a:rPr>
                  <a:t>$d\ge1$</a:t>
                </a:r>
                <a:r>
                  <a:rPr sz="2400" b="0">
                    <a:solidFill>
                      <a:srgbClr val="111827"/>
                    </a:solidFill>
                    <a:latin typeface="Arial"/>
                  </a:rPr>
                  <a:t> or </a:t>
                </a:r>
                <a:r>
                  <a:rPr lang="en-IN" sz="2400">
                    <a:solidFill>
                      <a:srgbClr val="111827"/>
                    </a:solidFill>
                    <a:latin typeface="Cambria Math" panose="02040503050406030204" pitchFamily="18" charset="0"/>
                  </a:rPr>
                  <a:t>$d\le-3$</a:t>
                </a:r>
                <a:r>
                  <a:rPr sz="2400" b="0">
                    <a:solidFill>
                      <a:srgbClr val="111827"/>
                    </a:solidFill>
                    <a:latin typeface="Arial"/>
                  </a:rPr>
                  <a:t> the value is </a:t>
                </a:r>
                <a:r>
                  <a:rPr lang="en-IN" sz="2400">
                    <a:solidFill>
                      <a:srgbClr val="111827"/>
                    </a:solidFill>
                    <a:latin typeface="Cambria Math" panose="02040503050406030204" pitchFamily="18" charset="0"/>
                  </a:rPr>
                  <a:t>$\ge5$</a:t>
                </a:r>
                <a:r>
                  <a:rPr sz="2400" b="0">
                    <a:solidFill>
                      <a:srgbClr val="111827"/>
                    </a:solidFill>
                    <a:latin typeface="Arial"/>
                  </a:rPr>
                  <a:t>, so only </a:t>
                </a:r>
                <a:r>
                  <a:rPr lang="en-IN" sz="2400">
                    <a:solidFill>
                      <a:srgbClr val="111827"/>
                    </a:solidFill>
                    <a:latin typeface="Cambria Math" panose="02040503050406030204" pitchFamily="18" charset="0"/>
                  </a:rPr>
                  <a:t>$d=0,-2$</a:t>
                </a:r>
                <a:r>
                  <a:rPr sz="2400" b="0">
                    <a:solidFill>
                      <a:srgbClr val="111827"/>
                    </a:solidFill>
                    <a:latin typeface="Arial"/>
                  </a:rPr>
                  <a:t> work.</a:t>
                </a:r>
                <a:endParaRPr sz="2400">
                  <a:solidFill>
                    <a:srgbClr val="111827"/>
                  </a:solidFill>
                </a:endParaRPr>
              </a:p>
            </p:txBody>
          </p:sp>
        </mc:Fallback>
      </mc:AlternateContent>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$a=b$</a:t>
                </a:r>
                <a:r>
                  <a:rPr sz="2400" b="0">
                    <a:solidFill>
                      <a:srgbClr val="111827"/>
                    </a:solidFill>
                    <a:latin typeface="Arial"/>
                  </a:rPr>
                  <a:t> or </a:t>
                </a:r>
                <a:r>
                  <a:rPr lang="en-IN" sz="2400">
                    <a:solidFill>
                      <a:srgbClr val="111827"/>
                    </a:solidFill>
                    <a:latin typeface="Cambria Math" panose="02040503050406030204" pitchFamily="18" charset="0"/>
                  </a:rPr>
                  <a:t>$a-b=-2$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$a-b=-2$</a:t>
                </a:r>
                <a:r>
                  <a:rPr sz="2400" b="0">
                    <a:solidFill>
                      <a:srgbClr val="111827"/>
                    </a:solidFill>
                    <a:latin typeface="Arial"/>
                  </a:rPr>
                  <a:t>, i.e. </a:t>
                </a:r>
                <a:r>
                  <a:rPr lang="en-IN" sz="2400">
                    <a:solidFill>
                      <a:srgbClr val="111827"/>
                    </a:solidFill>
                    <a:latin typeface="Cambria Math" panose="02040503050406030204" pitchFamily="18" charset="0"/>
                  </a:rPr>
                  <a:t>$b=a+2$</a:t>
                </a:r>
                <a:r>
                  <a:rPr sz="2400" b="0">
                    <a:solidFill>
                      <a:srgbClr val="111827"/>
                    </a:solidFill>
                    <a:latin typeface="Arial"/>
                  </a:rPr>
                  <a:t> with </a:t>
                </a:r>
                <a:r>
                  <a:rPr lang="en-IN" sz="2400">
                    <a:solidFill>
                      <a:srgbClr val="111827"/>
                    </a:solidFill>
                    <a:latin typeface="Cambria Math" panose="02040503050406030204" pitchFamily="18" charset="0"/>
                  </a:rPr>
                  <a:t>$a=1,\dots,8$</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$=10+8=18$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18</a:t>
            </a:r>
            <a:endParaRPr sz="2800">
              <a:solidFill>
                <a:srgbClr val="15803D"/>
              </a:solidFill>
            </a:endParaRP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Go through each target value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and solve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 the discriminant </a:t>
                </a:r>
                <a14:m>
                  <m:oMath xmlns:m="http://schemas.openxmlformats.org/officeDocument/2006/math">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a:rPr lang="en-IN" sz="2400" i="1">
                        <a:solidFill>
                          <a:srgbClr val="78350F"/>
                        </a:solidFill>
                        <a:latin typeface="Cambria Math" panose="02040503050406030204" pitchFamily="18" charset="0"/>
                      </a:rPr>
                      <m:t>𝑘</m:t>
                    </m:r>
                  </m:oMath>
                </a14:m>
                <a:r>
                  <a:rPr sz="2400" b="0">
                    <a:solidFill>
                      <a:srgbClr val="78350F"/>
                    </a:solidFill>
                    <a:latin typeface="Arial"/>
                  </a:rPr>
                  <a:t> must be a perfect square for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to be rational.</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Go through each target value </a:t>
                </a:r>
                <a:r>
                  <a:rPr lang="en-IN" sz="2400">
                    <a:solidFill>
                      <a:srgbClr val="78350F"/>
                    </a:solidFill>
                    <a:latin typeface="Cambria Math" panose="02040503050406030204" pitchFamily="18" charset="0"/>
                  </a:rPr>
                  <a:t>$k\in B$</a:t>
                </a:r>
                <a:r>
                  <a:rPr sz="2400" b="0">
                    <a:solidFill>
                      <a:srgbClr val="78350F"/>
                    </a:solidFill>
                    <a:latin typeface="Arial"/>
                  </a:rPr>
                  <a:t> and solve </a:t>
                </a:r>
                <a:r>
                  <a:rPr lang="en-IN" sz="2400">
                    <a:solidFill>
                      <a:srgbClr val="78350F"/>
                    </a:solidFill>
                    <a:latin typeface="Cambria Math" panose="02040503050406030204" pitchFamily="18" charset="0"/>
                  </a:rPr>
                  <a:t>$2d^2+3d=k$</a:t>
                </a:r>
                <a:r>
                  <a:rPr sz="2400" b="0">
                    <a:solidFill>
                      <a:srgbClr val="78350F"/>
                    </a:solidFill>
                    <a:latin typeface="Arial"/>
                  </a:rPr>
                  <a:t>; the discriminant </a:t>
                </a:r>
                <a:r>
                  <a:rPr lang="en-IN" sz="2400">
                    <a:solidFill>
                      <a:srgbClr val="78350F"/>
                    </a:solidFill>
                    <a:latin typeface="Cambria Math" panose="02040503050406030204" pitchFamily="18" charset="0"/>
                  </a:rPr>
                  <a:t>$9+8k$</a:t>
                </a:r>
                <a:r>
                  <a:rPr sz="2400" b="0">
                    <a:solidFill>
                      <a:srgbClr val="78350F"/>
                    </a:solidFill>
                    <a:latin typeface="Arial"/>
                  </a:rPr>
                  <a:t> must be a perfect square for </a:t>
                </a:r>
                <a:r>
                  <a:rPr lang="en-IN" sz="2400">
                    <a:solidFill>
                      <a:srgbClr val="78350F"/>
                    </a:solidFill>
                    <a:latin typeface="Cambria Math" panose="02040503050406030204" pitchFamily="18" charset="0"/>
                  </a:rPr>
                  <a:t>$d$</a:t>
                </a:r>
                <a:r>
                  <a:rPr sz="2400" b="0">
                    <a:solidFill>
                      <a:srgbClr val="78350F"/>
                    </a:solidFill>
                    <a:latin typeface="Arial"/>
                  </a:rPr>
                  <a:t> to be rational.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discriminant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𝑘</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are perfect squares, so only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can give rational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$2d^2+3d-k=0$</a:t>
                </a:r>
                <a:r>
                  <a:rPr sz="2400" b="0">
                    <a:solidFill>
                      <a:srgbClr val="111827"/>
                    </a:solidFill>
                    <a:latin typeface="Arial"/>
                  </a:rPr>
                  <a:t> has discriminant </a:t>
                </a:r>
                <a:r>
                  <a:rPr lang="en-IN" sz="2400">
                    <a:solidFill>
                      <a:srgbClr val="111827"/>
                    </a:solidFill>
                    <a:latin typeface="Cambria Math" panose="02040503050406030204" pitchFamily="18" charset="0"/>
                  </a:rPr>
                  <a:t>$9+8k$</a:t>
                </a:r>
                <a:r>
                  <a:rPr sz="2400" b="0">
                    <a:solidFill>
                      <a:srgbClr val="111827"/>
                    </a:solidFill>
                    <a:latin typeface="Arial"/>
                  </a:rPr>
                  <a:t>. For </a:t>
                </a:r>
                <a:r>
                  <a:rPr lang="en-IN" sz="2400">
                    <a:solidFill>
                      <a:srgbClr val="111827"/>
                    </a:solidFill>
                    <a:latin typeface="Cambria Math" panose="02040503050406030204" pitchFamily="18" charset="0"/>
                  </a:rPr>
                  <a:t>$k=0,1,2,3,4$</a:t>
                </a:r>
                <a:r>
                  <a:rPr sz="2400" b="0">
                    <a:solidFill>
                      <a:srgbClr val="111827"/>
                    </a:solidFill>
                    <a:latin typeface="Arial"/>
                  </a:rPr>
                  <a:t> this is </a:t>
                </a:r>
                <a:r>
                  <a:rPr lang="en-IN" sz="2400">
                    <a:solidFill>
                      <a:srgbClr val="111827"/>
                    </a:solidFill>
                    <a:latin typeface="Cambria Math" panose="02040503050406030204" pitchFamily="18" charset="0"/>
                  </a:rPr>
                  <a:t>$9,17,25,33,41$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$9$</a:t>
                </a:r>
                <a:r>
                  <a:rPr sz="2400" b="0">
                    <a:solidFill>
                      <a:srgbClr val="111827"/>
                    </a:solidFill>
                    <a:latin typeface="Arial"/>
                  </a:rPr>
                  <a:t> and </a:t>
                </a:r>
                <a:r>
                  <a:rPr lang="en-IN" sz="2400">
                    <a:solidFill>
                      <a:srgbClr val="111827"/>
                    </a:solidFill>
                    <a:latin typeface="Cambria Math" panose="02040503050406030204" pitchFamily="18" charset="0"/>
                  </a:rPr>
                  <a:t>$25$</a:t>
                </a:r>
                <a:r>
                  <a:rPr sz="2400" b="0">
                    <a:solidFill>
                      <a:srgbClr val="111827"/>
                    </a:solidFill>
                    <a:latin typeface="Arial"/>
                  </a:rPr>
                  <a:t> are perfect squares, so only </a:t>
                </a:r>
                <a:r>
                  <a:rPr lang="en-IN" sz="2400">
                    <a:solidFill>
                      <a:srgbClr val="111827"/>
                    </a:solidFill>
                    <a:latin typeface="Cambria Math" panose="02040503050406030204" pitchFamily="18" charset="0"/>
                  </a:rPr>
                  <a:t>$k=0$</a:t>
                </a:r>
                <a:r>
                  <a:rPr sz="2400" b="0">
                    <a:solidFill>
                      <a:srgbClr val="111827"/>
                    </a:solidFill>
                    <a:latin typeface="Arial"/>
                  </a:rPr>
                  <a:t> and </a:t>
                </a:r>
                <a:r>
                  <a:rPr lang="en-IN" sz="2400">
                    <a:solidFill>
                      <a:srgbClr val="111827"/>
                    </a:solidFill>
                    <a:latin typeface="Cambria Math" panose="02040503050406030204" pitchFamily="18" charset="0"/>
                  </a:rPr>
                  <a:t>$k=2$</a:t>
                </a:r>
                <a:r>
                  <a:rPr sz="2400" b="0">
                    <a:solidFill>
                      <a:srgbClr val="111827"/>
                    </a:solidFill>
                    <a:latin typeface="Arial"/>
                  </a:rPr>
                  <a:t> can give rational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Integer values: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$k=0$</a:t>
                </a:r>
                <a:r>
                  <a:rPr sz="2400" b="0">
                    <a:solidFill>
                      <a:srgbClr val="111827"/>
                    </a:solidFill>
                    <a:latin typeface="Arial"/>
                  </a:rPr>
                  <a:t>: </a:t>
                </a:r>
                <a:r>
                  <a:rPr lang="en-IN" sz="2400">
                    <a:solidFill>
                      <a:srgbClr val="111827"/>
                    </a:solidFill>
                    <a:latin typeface="Cambria Math" panose="02040503050406030204" pitchFamily="18" charset="0"/>
                  </a:rPr>
                  <a:t>$d=0$</a:t>
                </a:r>
                <a:r>
                  <a:rPr sz="2400" b="0">
                    <a:solidFill>
                      <a:srgbClr val="111827"/>
                    </a:solidFill>
                    <a:latin typeface="Arial"/>
                  </a:rPr>
                  <a:t> or </a:t>
                </a:r>
                <a:r>
                  <a:rPr lang="en-IN" sz="2400">
                    <a:solidFill>
                      <a:srgbClr val="111827"/>
                    </a:solidFill>
                    <a:latin typeface="Cambria Math" panose="02040503050406030204" pitchFamily="18" charset="0"/>
                  </a:rPr>
                  <a:t>$d=-\frac32$</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$d=\frac{-3\pm5}{4}=\frac12$</a:t>
                </a:r>
                <a:r>
                  <a:rPr sz="2400" b="0">
                    <a:solidFill>
                      <a:srgbClr val="111827"/>
                    </a:solidFill>
                    <a:latin typeface="Arial"/>
                  </a:rPr>
                  <a:t> or </a:t>
                </a:r>
                <a:r>
                  <a:rPr lang="en-IN" sz="2400">
                    <a:solidFill>
                      <a:srgbClr val="111827"/>
                    </a:solidFill>
                    <a:latin typeface="Cambria Math" panose="02040503050406030204" pitchFamily="18" charset="0"/>
                  </a:rPr>
                  <a:t>$-2$</a:t>
                </a:r>
                <a:r>
                  <a:rPr sz="2400" b="0">
                    <a:solidFill>
                      <a:srgbClr val="111827"/>
                    </a:solidFill>
                    <a:latin typeface="Arial"/>
                  </a:rPr>
                  <a:t>. Integer values: </a:t>
                </a:r>
                <a:r>
                  <a:rPr lang="en-IN" sz="2400">
                    <a:solidFill>
                      <a:srgbClr val="111827"/>
                    </a:solidFill>
                    <a:latin typeface="Cambria Math" panose="02040503050406030204" pitchFamily="18" charset="0"/>
                  </a:rPr>
                  <a:t>$d=0,-2$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with </a:t>
                </a:r>
                <a:r>
                  <a:rPr lang="en-IN" sz="2400">
                    <a:solidFill>
                      <a:srgbClr val="111827"/>
                    </a:solidFill>
                    <a:latin typeface="Cambria Math" panose="02040503050406030204" pitchFamily="18" charset="0"/>
                  </a:rPr>
                  <a:t>$a-b=d$</a:t>
                </a:r>
                <a:r>
                  <a:rPr sz="2400" b="0">
                    <a:solidFill>
                      <a:srgbClr val="111827"/>
                    </a:solidFill>
                    <a:latin typeface="Arial"/>
                  </a:rPr>
                  <a:t> in </a:t>
                </a:r>
                <a:r>
                  <a:rPr lang="en-IN" sz="2400">
                    <a:solidFill>
                      <a:srgbClr val="111827"/>
                    </a:solidFill>
                    <a:latin typeface="Cambria Math" panose="02040503050406030204" pitchFamily="18" charset="0"/>
                  </a:rPr>
                  <a:t>$\{1..10\}$</a:t>
                </a:r>
                <a:r>
                  <a:rPr sz="2400" b="0">
                    <a:solidFill>
                      <a:srgbClr val="111827"/>
                    </a:solidFill>
                    <a:latin typeface="Arial"/>
                  </a:rPr>
                  <a:t> number </a:t>
                </a:r>
                <a:r>
                  <a:rPr lang="en-IN" sz="2400">
                    <a:solidFill>
                      <a:srgbClr val="111827"/>
                    </a:solidFill>
                    <a:latin typeface="Cambria Math" panose="02040503050406030204" pitchFamily="18" charset="0"/>
                  </a:rPr>
                  <a:t>$10-|d|$</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for </a:t>
                </a:r>
                <a:r>
                  <a:rPr lang="en-IN" sz="2400">
                    <a:solidFill>
                      <a:srgbClr val="111827"/>
                    </a:solidFill>
                    <a:latin typeface="Cambria Math" panose="02040503050406030204" pitchFamily="18" charset="0"/>
                  </a:rPr>
                  <a:t>$d=0$</a:t>
                </a:r>
                <a:r>
                  <a:rPr sz="2400" b="0">
                    <a:solidFill>
                      <a:srgbClr val="111827"/>
                    </a:solidFill>
                    <a:latin typeface="Arial"/>
                  </a:rPr>
                  <a:t> and </a:t>
                </a:r>
                <a:r>
                  <a:rPr lang="en-IN" sz="2400">
                    <a:solidFill>
                      <a:srgbClr val="111827"/>
                    </a:solidFill>
                    <a:latin typeface="Cambria Math" panose="02040503050406030204" pitchFamily="18" charset="0"/>
                  </a:rPr>
                  <a:t>$8$</a:t>
                </a:r>
                <a:r>
                  <a:rPr sz="2400" b="0">
                    <a:solidFill>
                      <a:srgbClr val="111827"/>
                    </a:solidFill>
                    <a:latin typeface="Arial"/>
                  </a:rPr>
                  <a:t> for </a:t>
                </a:r>
                <a:r>
                  <a:rPr lang="en-IN" sz="2400">
                    <a:solidFill>
                      <a:srgbClr val="111827"/>
                    </a:solidFill>
                    <a:latin typeface="Cambria Math" panose="02040503050406030204" pitchFamily="18" charset="0"/>
                  </a:rPr>
                  <a:t>$d=-2$</a:t>
                </a:r>
                <a:r>
                  <a:rPr sz="2400" b="0">
                    <a:solidFill>
                      <a:srgbClr val="111827"/>
                    </a:solidFill>
                    <a:latin typeface="Arial"/>
                  </a:rPr>
                  <a:t>. Total </a:t>
                </a:r>
                <a:r>
                  <a:rPr lang="en-IN" sz="2400">
                    <a:solidFill>
                      <a:srgbClr val="111827"/>
                    </a:solidFill>
                    <a:latin typeface="Cambria Math" panose="02040503050406030204" pitchFamily="18" charset="0"/>
                  </a:rPr>
                  <a:t>$18$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18</a:t>
            </a:r>
            <a:endParaRPr sz="2800">
              <a:solidFill>
                <a:srgbClr val="15803D"/>
              </a:solidFill>
            </a:endParaRP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relation depends only on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solve for admissible integer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first, then count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add over all admissible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has a rational root only if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perfect square - a quick filter for integer candidates.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$\{1,\dots,n\}$</a:t>
                </a:r>
                <a:r>
                  <a:rPr sz="2400" b="0">
                    <a:solidFill>
                      <a:srgbClr val="111827"/>
                    </a:solidFill>
                    <a:latin typeface="Arial"/>
                  </a:rPr>
                  <a:t>, the number of ordered pairs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$a-b=d$</a:t>
                </a:r>
                <a:r>
                  <a:rPr sz="2400" b="0">
                    <a:solidFill>
                      <a:srgbClr val="111827"/>
                    </a:solidFill>
                    <a:latin typeface="Arial"/>
                  </a:rPr>
                  <a:t> is </a:t>
                </a:r>
                <a:r>
                  <a:rPr lang="en-IN" sz="2400">
                    <a:solidFill>
                      <a:srgbClr val="111827"/>
                    </a:solidFill>
                    <a:latin typeface="Cambria Math" panose="02040503050406030204" pitchFamily="18" charset="0"/>
                  </a:rPr>
                  <a:t>$n-|d|$</a:t>
                </a:r>
                <a:r>
                  <a:rPr sz="2400" b="0">
                    <a:solidFill>
                      <a:srgbClr val="111827"/>
                    </a:solidFill>
                    <a:latin typeface="Arial"/>
                  </a:rPr>
                  <a:t> (here </a:t>
                </a:r>
                <a:r>
                  <a:rPr lang="en-IN" sz="2400">
                    <a:solidFill>
                      <a:srgbClr val="111827"/>
                    </a:solidFill>
                    <a:latin typeface="Cambria Math" panose="02040503050406030204" pitchFamily="18" charset="0"/>
                  </a:rPr>
                  <a:t>$n=10$</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and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relation depends only on </a:t>
                </a:r>
                <a:r>
                  <a:rPr lang="en-IN" sz="2400">
                    <a:solidFill>
                      <a:srgbClr val="111827"/>
                    </a:solidFill>
                    <a:latin typeface="Cambria Math" panose="02040503050406030204" pitchFamily="18" charset="0"/>
                  </a:rPr>
                  <a:t>$d=a-b$</a:t>
                </a:r>
                <a:r>
                  <a:rPr sz="2400" b="0">
                    <a:solidFill>
                      <a:srgbClr val="111827"/>
                    </a:solidFill>
                    <a:latin typeface="Arial"/>
                  </a:rPr>
                  <a:t>, solve for admissible integer </a:t>
                </a:r>
                <a:r>
                  <a:rPr lang="en-IN" sz="2400">
                    <a:solidFill>
                      <a:srgbClr val="111827"/>
                    </a:solidFill>
                    <a:latin typeface="Cambria Math" panose="02040503050406030204" pitchFamily="18" charset="0"/>
                  </a:rPr>
                  <a:t>$d$</a:t>
                </a:r>
                <a:r>
                  <a:rPr sz="2400" b="0">
                    <a:solidFill>
                      <a:srgbClr val="111827"/>
                    </a:solidFill>
                    <a:latin typeface="Arial"/>
                  </a:rPr>
                  <a:t> first, then count with </a:t>
                </a:r>
                <a:r>
                  <a:rPr lang="en-IN" sz="2400">
                    <a:solidFill>
                      <a:srgbClr val="111827"/>
                    </a:solidFill>
                    <a:latin typeface="Cambria Math" panose="02040503050406030204" pitchFamily="18" charset="0"/>
                  </a:rPr>
                  <a:t>$n-|d|$</a:t>
                </a:r>
                <a:r>
                  <a:rPr sz="2400" b="0">
                    <a:solidFill>
                      <a:srgbClr val="111827"/>
                    </a:solidFill>
                    <a:latin typeface="Arial"/>
                  </a:rPr>
                  <a:t> and add over all admissible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$ax^2+bx+c=k$</a:t>
                </a:r>
                <a:r>
                  <a:rPr sz="2400" b="0">
                    <a:solidFill>
                      <a:srgbClr val="111827"/>
                    </a:solidFill>
                    <a:latin typeface="Arial"/>
                  </a:rPr>
                  <a:t> has a rational root only if </a:t>
                </a:r>
                <a:r>
                  <a:rPr lang="en-IN" sz="2400">
                    <a:solidFill>
                      <a:srgbClr val="111827"/>
                    </a:solidFill>
                    <a:latin typeface="Cambria Math" panose="02040503050406030204" pitchFamily="18" charset="0"/>
                  </a:rPr>
                  <a:t>$b^2-4a(c-k)$</a:t>
                </a:r>
                <a:r>
                  <a:rPr sz="2400" b="0">
                    <a:solidFill>
                      <a:srgbClr val="111827"/>
                    </a:solidFill>
                    <a:latin typeface="Arial"/>
                  </a:rPr>
                  <a:t> is a perfect square - a quick filter for integer candidates.</a:t>
                </a:r>
                <a:endParaRPr sz="2400">
                  <a:solidFill>
                    <a:srgbClr val="111827"/>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the relation defined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𝑖𝑠 𝑜𝑑𝑑 𝑝𝑜𝑠𝑖𝑡𝑖𝑣𝑒 𝑖𝑛𝑡𝑒𝑔𝑒𝑟 𝑜𝑟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minimum number of elements that must be added to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so that it is a symmetric relation, is equal to __________. [JEE(Main) April 2023]</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$A=\{0,3,4,6,7,8,9,10\}$</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be the relation defined on </a:t>
                </a:r>
                <a:r>
                  <a:rPr lang="en-IN" sz="2400">
                    <a:solidFill>
                      <a:srgbClr val="111827"/>
                    </a:solidFill>
                    <a:latin typeface="Cambria Math" panose="02040503050406030204" pitchFamily="18" charset="0"/>
                  </a:rPr>
                  <a:t>$A$</a:t>
                </a:r>
                <a:r>
                  <a:rPr sz="2400" b="0">
                    <a:solidFill>
                      <a:srgbClr val="111827"/>
                    </a:solidFill>
                    <a:latin typeface="Arial"/>
                  </a:rPr>
                  <a:t> such that </a:t>
                </a:r>
                <a:r>
                  <a:rPr lang="en-IN" sz="2400">
                    <a:solidFill>
                      <a:srgbClr val="111827"/>
                    </a:solidFill>
                    <a:latin typeface="Cambria Math" panose="02040503050406030204" pitchFamily="18" charset="0"/>
                  </a:rPr>
                  <a:t>$R=\{(x,y)\in A\times A: x-y\text{ is odd positive integer or }x-y=2\}$</a:t>
                </a:r>
                <a:r>
                  <a:rPr sz="2400" b="0">
                    <a:solidFill>
                      <a:srgbClr val="111827"/>
                    </a:solidFill>
                    <a:latin typeface="Arial"/>
                  </a:rPr>
                  <a:t>. The minimum number of elements that must be added to the relation </a:t>
                </a:r>
                <a:r>
                  <a:rPr lang="en-IN" sz="2400">
                    <a:solidFill>
                      <a:srgbClr val="111827"/>
                    </a:solidFill>
                    <a:latin typeface="Cambria Math" panose="02040503050406030204" pitchFamily="18" charset="0"/>
                  </a:rPr>
                  <a:t>$R$</a:t>
                </a:r>
                <a:r>
                  <a:rPr sz="2400" b="0">
                    <a:solidFill>
                      <a:srgbClr val="111827"/>
                    </a:solidFill>
                    <a:latin typeface="Arial"/>
                  </a:rPr>
                  <a:t>, so that it is a symmetric relation, is equal to __________. [JEE(Main) April 2023]</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pair in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𝑦</m:t>
                    </m:r>
                  </m:oMath>
                </a14:m>
                <a:r>
                  <a:rPr sz="2400" b="0">
                    <a:solidFill>
                      <a:srgbClr val="78350F"/>
                    </a:solidFill>
                    <a:latin typeface="Arial"/>
                  </a:rPr>
                  <a:t>, so no reverse pair is present; the number to add equals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pair in </a:t>
                </a:r>
                <a:r>
                  <a:rPr lang="en-IN" sz="2400">
                    <a:solidFill>
                      <a:srgbClr val="78350F"/>
                    </a:solidFill>
                    <a:latin typeface="Cambria Math" panose="02040503050406030204" pitchFamily="18" charset="0"/>
                  </a:rPr>
                  <a:t>$R$</a:t>
                </a:r>
                <a:r>
                  <a:rPr sz="2400" b="0">
                    <a:solidFill>
                      <a:srgbClr val="78350F"/>
                    </a:solidFill>
                    <a:latin typeface="Arial"/>
                  </a:rPr>
                  <a:t> has </a:t>
                </a:r>
                <a:r>
                  <a:rPr lang="en-IN" sz="2400">
                    <a:solidFill>
                      <a:srgbClr val="78350F"/>
                    </a:solidFill>
                    <a:latin typeface="Cambria Math" panose="02040503050406030204" pitchFamily="18" charset="0"/>
                  </a:rPr>
                  <a:t>$x&gt;y$</a:t>
                </a:r>
                <a:r>
                  <a:rPr sz="2400" b="0">
                    <a:solidFill>
                      <a:srgbClr val="78350F"/>
                    </a:solidFill>
                    <a:latin typeface="Arial"/>
                  </a:rPr>
                  <a:t>, so no reverse pair is present; the number to add equals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list the pairs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odd positive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the listed elements: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a:t>
                </a:r>
                <a:r>
                  <a:rPr lang="en-IN" sz="2400">
                    <a:solidFill>
                      <a:srgbClr val="111827"/>
                    </a:solidFill>
                    <a:latin typeface="Cambria Math" panose="02040503050406030204" pitchFamily="18" charset="0"/>
                  </a:rPr>
                  <a:t>$A=\{10,9,8,7,6,4,3,0\}$</a:t>
                </a:r>
                <a:r>
                  <a:rPr sz="2400" b="0">
                    <a:solidFill>
                      <a:srgbClr val="111827"/>
                    </a:solidFill>
                    <a:latin typeface="Arial"/>
                  </a:rPr>
                  <a:t> and list the pairs with </a:t>
                </a:r>
                <a:r>
                  <a:rPr lang="en-IN" sz="2400">
                    <a:solidFill>
                      <a:srgbClr val="111827"/>
                    </a:solidFill>
                    <a:latin typeface="Cambria Math" panose="02040503050406030204" pitchFamily="18" charset="0"/>
                  </a:rPr>
                  <a:t>$x-y$</a:t>
                </a:r>
                <a:r>
                  <a:rPr sz="2400" b="0">
                    <a:solidFill>
                      <a:srgbClr val="111827"/>
                    </a:solidFill>
                    <a:latin typeface="Arial"/>
                  </a:rPr>
                  <a:t> odd positive or </a:t>
                </a:r>
                <a:r>
                  <a:rPr lang="en-IN" sz="2400">
                    <a:solidFill>
                      <a:srgbClr val="111827"/>
                    </a:solidFill>
                    <a:latin typeface="Cambria Math" panose="02040503050406030204" pitchFamily="18" charset="0"/>
                  </a:rPr>
                  <a:t>$x-y=2$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$R=\{(10,9),(10,8),(10,7),(10,3),(9,8),(9,7),(9,6),(9,4),(9,0),(8,7),(8,6),(8,3),(7,6),(7,4),(7,0),(6,4),(6,3),(4,3),(3,0)\}$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the listed elements: </a:t>
                </a:r>
                <a:r>
                  <a:rPr lang="en-IN" sz="2400">
                    <a:solidFill>
                      <a:srgbClr val="111827"/>
                    </a:solidFill>
                    <a:latin typeface="Cambria Math" panose="02040503050406030204" pitchFamily="18" charset="0"/>
                  </a:rPr>
                  <a:t>$4+5+3+3+2+1+1=19$</a:t>
                </a:r>
                <a:r>
                  <a:rPr sz="2400" b="0">
                    <a:solidFill>
                      <a:srgbClr val="111827"/>
                    </a:solidFill>
                    <a:latin typeface="Arial"/>
                  </a:rPr>
                  <a:t>, so </a:t>
                </a:r>
                <a:r>
                  <a:rPr lang="en-IN" sz="2400">
                    <a:solidFill>
                      <a:srgbClr val="111827"/>
                    </a:solidFill>
                    <a:latin typeface="Cambria Math" panose="02040503050406030204" pitchFamily="18" charset="0"/>
                  </a:rPr>
                  <a:t>$|R|=19$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element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in both conditions).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no reverse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for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to be symmetric each of the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reverses must be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number of elements to add is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element </a:t>
                </a:r>
                <a:r>
                  <a:rPr lang="en-IN" sz="2400">
                    <a:solidFill>
                      <a:srgbClr val="111827"/>
                    </a:solidFill>
                    <a:latin typeface="Cambria Math" panose="02040503050406030204" pitchFamily="18" charset="0"/>
                  </a:rPr>
                  <a:t>$(a,b)$</a:t>
                </a:r>
                <a:r>
                  <a:rPr sz="2400" b="0">
                    <a:solidFill>
                      <a:srgbClr val="111827"/>
                    </a:solidFill>
                    <a:latin typeface="Arial"/>
                  </a:rPr>
                  <a:t> of </a:t>
                </a:r>
                <a:r>
                  <a:rPr lang="en-IN" sz="2400">
                    <a:solidFill>
                      <a:srgbClr val="111827"/>
                    </a:solidFill>
                    <a:latin typeface="Cambria Math" panose="02040503050406030204" pitchFamily="18" charset="0"/>
                  </a:rPr>
                  <a:t>$R$</a:t>
                </a:r>
                <a:r>
                  <a:rPr sz="2400" b="0">
                    <a:solidFill>
                      <a:srgbClr val="111827"/>
                    </a:solidFill>
                    <a:latin typeface="Arial"/>
                  </a:rPr>
                  <a:t> has </a:t>
                </a:r>
                <a:r>
                  <a:rPr lang="en-IN" sz="2400">
                    <a:solidFill>
                      <a:srgbClr val="111827"/>
                    </a:solidFill>
                    <a:latin typeface="Cambria Math" panose="02040503050406030204" pitchFamily="18" charset="0"/>
                  </a:rPr>
                  <a:t>$a&gt;b$</a:t>
                </a:r>
                <a:r>
                  <a:rPr sz="2400" b="0">
                    <a:solidFill>
                      <a:srgbClr val="111827"/>
                    </a:solidFill>
                    <a:latin typeface="Arial"/>
                  </a:rPr>
                  <a:t> (because </a:t>
                </a:r>
                <a:r>
                  <a:rPr lang="en-IN" sz="2400">
                    <a:solidFill>
                      <a:srgbClr val="111827"/>
                    </a:solidFill>
                    <a:latin typeface="Cambria Math" panose="02040503050406030204" pitchFamily="18" charset="0"/>
                  </a:rPr>
                  <a:t>$x-y&gt;0$</a:t>
                </a:r>
                <a:r>
                  <a:rPr sz="2400" b="0">
                    <a:solidFill>
                      <a:srgbClr val="111827"/>
                    </a:solidFill>
                    <a:latin typeface="Arial"/>
                  </a:rPr>
                  <a:t> in both conditions).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no reverse pair </a:t>
                </a:r>
                <a:r>
                  <a:rPr lang="en-IN" sz="2400">
                    <a:solidFill>
                      <a:srgbClr val="111827"/>
                    </a:solidFill>
                    <a:latin typeface="Cambria Math" panose="02040503050406030204" pitchFamily="18" charset="0"/>
                  </a:rPr>
                  <a:t>$(b,a)$</a:t>
                </a:r>
                <a:r>
                  <a:rPr sz="2400" b="0">
                    <a:solidFill>
                      <a:srgbClr val="111827"/>
                    </a:solidFill>
                    <a:latin typeface="Arial"/>
                  </a:rPr>
                  <a:t> is in </a:t>
                </a:r>
                <a:r>
                  <a:rPr lang="en-IN" sz="2400">
                    <a:solidFill>
                      <a:srgbClr val="111827"/>
                    </a:solidFill>
                    <a:latin typeface="Cambria Math" panose="02040503050406030204" pitchFamily="18" charset="0"/>
                  </a:rPr>
                  <a:t>$R$</a:t>
                </a:r>
                <a:r>
                  <a:rPr sz="2400" b="0">
                    <a:solidFill>
                      <a:srgbClr val="111827"/>
                    </a:solidFill>
                    <a:latin typeface="Arial"/>
                  </a:rPr>
                  <a:t>, and for </a:t>
                </a:r>
                <a:r>
                  <a:rPr lang="en-IN" sz="2400">
                    <a:solidFill>
                      <a:srgbClr val="111827"/>
                    </a:solidFill>
                    <a:latin typeface="Cambria Math" panose="02040503050406030204" pitchFamily="18" charset="0"/>
                  </a:rPr>
                  <a:t>$R$</a:t>
                </a:r>
                <a:r>
                  <a:rPr sz="2400" b="0">
                    <a:solidFill>
                      <a:srgbClr val="111827"/>
                    </a:solidFill>
                    <a:latin typeface="Arial"/>
                  </a:rPr>
                  <a:t> to be symmetric each of the </a:t>
                </a:r>
                <a:r>
                  <a:rPr lang="en-IN" sz="2400">
                    <a:solidFill>
                      <a:srgbClr val="111827"/>
                    </a:solidFill>
                    <a:latin typeface="Cambria Math" panose="02040503050406030204" pitchFamily="18" charset="0"/>
                  </a:rPr>
                  <a:t>$19$</a:t>
                </a:r>
                <a:r>
                  <a:rPr sz="2400" b="0">
                    <a:solidFill>
                      <a:srgbClr val="111827"/>
                    </a:solidFill>
                    <a:latin typeface="Arial"/>
                  </a:rPr>
                  <a:t> reverses must be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number of elements to add is </a:t>
                </a:r>
                <a:r>
                  <a:rPr lang="en-IN" sz="2400">
                    <a:solidFill>
                      <a:srgbClr val="111827"/>
                    </a:solidFill>
                    <a:latin typeface="Cambria Math" panose="02040503050406030204" pitchFamily="18" charset="0"/>
                  </a:rPr>
                  <a:t>$19$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19</a:t>
            </a:r>
            <a:endParaRPr sz="2800">
              <a:solidFill>
                <a:srgbClr val="15803D"/>
              </a:solidFill>
            </a:endParaRP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without listing: opposite-parity pairs give the odd differences (one ordered pair each), plus the difference-</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pairs.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r>
                  <a:rPr lang="en-IN" sz="2400">
                    <a:solidFill>
                      <a:srgbClr val="78350F"/>
                    </a:solidFill>
                    <a:latin typeface="Cambria Math" panose="02040503050406030204" pitchFamily="18" charset="0"/>
                  </a:rPr>
                  <a:t>$|R|$</a:t>
                </a:r>
                <a:r>
                  <a:rPr sz="2400" b="0">
                    <a:solidFill>
                      <a:srgbClr val="78350F"/>
                    </a:solidFill>
                    <a:latin typeface="Arial"/>
                  </a:rPr>
                  <a:t> without listing: opposite-parity pairs give the odd differences (one ordered pair each), plus the difference-</a:t>
                </a:r>
                <a:r>
                  <a:rPr lang="en-IN" sz="2400">
                    <a:solidFill>
                      <a:srgbClr val="78350F"/>
                    </a:solidFill>
                    <a:latin typeface="Cambria Math" panose="02040503050406030204" pitchFamily="18" charset="0"/>
                  </a:rPr>
                  <a:t>$2$</a:t>
                </a:r>
                <a:r>
                  <a:rPr sz="2400" b="0">
                    <a:solidFill>
                      <a:srgbClr val="78350F"/>
                    </a:solidFill>
                    <a:latin typeface="Arial"/>
                  </a:rPr>
                  <a:t> pairs.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even elements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odd elements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odd exactly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have opposite parity; each of the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such unordered pairs gives exactly one ordered pair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pairs with odd positive difference.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has </a:t>
                </a:r>
                <a:r>
                  <a:rPr lang="en-IN" sz="2400">
                    <a:solidFill>
                      <a:srgbClr val="111827"/>
                    </a:solidFill>
                    <a:latin typeface="Cambria Math" panose="02040503050406030204" pitchFamily="18" charset="0"/>
                  </a:rPr>
                  <a:t>$5$</a:t>
                </a:r>
                <a:r>
                  <a:rPr sz="2400" b="0">
                    <a:solidFill>
                      <a:srgbClr val="111827"/>
                    </a:solidFill>
                    <a:latin typeface="Arial"/>
                  </a:rPr>
                  <a:t> even elements </a:t>
                </a:r>
                <a:r>
                  <a:rPr lang="en-IN" sz="2400">
                    <a:solidFill>
                      <a:srgbClr val="111827"/>
                    </a:solidFill>
                    <a:latin typeface="Cambria Math" panose="02040503050406030204" pitchFamily="18" charset="0"/>
                  </a:rPr>
                  <a:t>$\{0,4,6,8,10\}$</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odd elements </a:t>
                </a:r>
                <a:r>
                  <a:rPr lang="en-IN" sz="2400">
                    <a:solidFill>
                      <a:srgbClr val="111827"/>
                    </a:solidFill>
                    <a:latin typeface="Cambria Math" panose="02040503050406030204" pitchFamily="18" charset="0"/>
                  </a:rPr>
                  <a:t>$\{3,7,9\}$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a:t>
                </a:r>
                <a:r>
                  <a:rPr sz="2400" b="0">
                    <a:solidFill>
                      <a:srgbClr val="111827"/>
                    </a:solidFill>
                    <a:latin typeface="Arial"/>
                  </a:rPr>
                  <a:t> is odd exactly when </a:t>
                </a:r>
                <a:r>
                  <a:rPr lang="en-IN" sz="2400">
                    <a:solidFill>
                      <a:srgbClr val="111827"/>
                    </a:solidFill>
                    <a:latin typeface="Cambria Math" panose="02040503050406030204" pitchFamily="18" charset="0"/>
                  </a:rPr>
                  <a:t>$x,y$</a:t>
                </a:r>
                <a:r>
                  <a:rPr sz="2400" b="0">
                    <a:solidFill>
                      <a:srgbClr val="111827"/>
                    </a:solidFill>
                    <a:latin typeface="Arial"/>
                  </a:rPr>
                  <a:t> have opposite parity; each of the </a:t>
                </a:r>
                <a:r>
                  <a:rPr lang="en-IN" sz="2400">
                    <a:solidFill>
                      <a:srgbClr val="111827"/>
                    </a:solidFill>
                    <a:latin typeface="Cambria Math" panose="02040503050406030204" pitchFamily="18" charset="0"/>
                  </a:rPr>
                  <a:t>$5\times3=15$</a:t>
                </a:r>
                <a:r>
                  <a:rPr sz="2400" b="0">
                    <a:solidFill>
                      <a:srgbClr val="111827"/>
                    </a:solidFill>
                    <a:latin typeface="Arial"/>
                  </a:rPr>
                  <a:t> such unordered pairs gives exactly one ordered pair with </a:t>
                </a:r>
                <a:r>
                  <a:rPr lang="en-IN" sz="2400">
                    <a:solidFill>
                      <a:srgbClr val="111827"/>
                    </a:solidFill>
                    <a:latin typeface="Cambria Math" panose="02040503050406030204" pitchFamily="18" charset="0"/>
                  </a:rPr>
                  <a:t>$x&gt;y$</a:t>
                </a:r>
                <a:r>
                  <a:rPr sz="2400" b="0">
                    <a:solidFill>
                      <a:srgbClr val="111827"/>
                    </a:solidFill>
                    <a:latin typeface="Arial"/>
                  </a:rPr>
                  <a:t>. So </a:t>
                </a:r>
                <a:r>
                  <a:rPr lang="en-IN" sz="2400">
                    <a:solidFill>
                      <a:srgbClr val="111827"/>
                    </a:solidFill>
                    <a:latin typeface="Cambria Math" panose="02040503050406030204" pitchFamily="18" charset="0"/>
                  </a:rPr>
                  <a:t>$15$</a:t>
                </a:r>
                <a:r>
                  <a:rPr sz="2400" b="0">
                    <a:solidFill>
                      <a:srgbClr val="111827"/>
                    </a:solidFill>
                    <a:latin typeface="Arial"/>
                  </a:rPr>
                  <a:t> pairs with odd positive difference.</a:t>
                </a:r>
                <a:endParaRPr sz="2400">
                  <a:solidFill>
                    <a:srgbClr val="111827"/>
                  </a:solidFill>
                </a:endParaRPr>
              </a:p>
            </p:txBody>
          </p:sp>
        </mc:Fallback>
      </mc:AlternateContent>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 other consecutive-by-2 elements, e.g.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missing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pairs, all with even difference so none repeat.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since all pairs have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 the reverses are all new, so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elements must be added.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with </a:t>
                </a:r>
                <a:r>
                  <a:rPr lang="en-IN" sz="2400">
                    <a:solidFill>
                      <a:srgbClr val="111827"/>
                    </a:solidFill>
                    <a:latin typeface="Cambria Math" panose="02040503050406030204" pitchFamily="18" charset="0"/>
                  </a:rPr>
                  <a:t>$x-y=2$</a:t>
                </a:r>
                <a:r>
                  <a:rPr sz="2400" b="0">
                    <a:solidFill>
                      <a:srgbClr val="111827"/>
                    </a:solidFill>
                    <a:latin typeface="Arial"/>
                  </a:rPr>
                  <a:t>: </a:t>
                </a:r>
                <a:r>
                  <a:rPr lang="en-IN" sz="2400">
                    <a:solidFill>
                      <a:srgbClr val="111827"/>
                    </a:solidFill>
                    <a:latin typeface="Cambria Math" panose="02040503050406030204" pitchFamily="18" charset="0"/>
                  </a:rPr>
                  <a:t>$(10,8),(9,7),(8,6),(6,4)$</a:t>
                </a:r>
                <a:r>
                  <a:rPr sz="2400" b="0">
                    <a:solidFill>
                      <a:srgbClr val="111827"/>
                    </a:solidFill>
                    <a:latin typeface="Arial"/>
                  </a:rPr>
                  <a:t> (no other consecutive-by-2 elements, e.g. </a:t>
                </a:r>
                <a:r>
                  <a:rPr lang="en-IN" sz="2400">
                    <a:solidFill>
                      <a:srgbClr val="111827"/>
                    </a:solidFill>
                    <a:latin typeface="Cambria Math" panose="02040503050406030204" pitchFamily="18" charset="0"/>
                  </a:rPr>
                  <a:t>$4,2$</a:t>
                </a:r>
                <a:r>
                  <a:rPr sz="2400" b="0">
                    <a:solidFill>
                      <a:srgbClr val="111827"/>
                    </a:solidFill>
                    <a:latin typeface="Arial"/>
                  </a:rPr>
                  <a:t> and </a:t>
                </a:r>
                <a:r>
                  <a:rPr lang="en-IN" sz="2400">
                    <a:solidFill>
                      <a:srgbClr val="111827"/>
                    </a:solidFill>
                    <a:latin typeface="Cambria Math" panose="02040503050406030204" pitchFamily="18" charset="0"/>
                  </a:rPr>
                  <a:t>$3,1$</a:t>
                </a:r>
                <a:r>
                  <a:rPr sz="2400" b="0">
                    <a:solidFill>
                      <a:srgbClr val="111827"/>
                    </a:solidFill>
                    <a:latin typeface="Arial"/>
                  </a:rPr>
                  <a:t> are missing from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pairs, all with even difference so none repeat.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$|R|=15+4=19$</a:t>
                </a:r>
                <a:r>
                  <a:rPr sz="2400" b="0">
                    <a:solidFill>
                      <a:srgbClr val="111827"/>
                    </a:solidFill>
                    <a:latin typeface="Arial"/>
                  </a:rPr>
                  <a:t>; since all pairs have </a:t>
                </a:r>
                <a:r>
                  <a:rPr lang="en-IN" sz="2400">
                    <a:solidFill>
                      <a:srgbClr val="111827"/>
                    </a:solidFill>
                    <a:latin typeface="Cambria Math" panose="02040503050406030204" pitchFamily="18" charset="0"/>
                  </a:rPr>
                  <a:t>$x&gt;y$</a:t>
                </a:r>
                <a:r>
                  <a:rPr sz="2400" b="0">
                    <a:solidFill>
                      <a:srgbClr val="111827"/>
                    </a:solidFill>
                    <a:latin typeface="Arial"/>
                  </a:rPr>
                  <a:t>, the reverses are all new, so </a:t>
                </a:r>
                <a:r>
                  <a:rPr lang="en-IN" sz="2400">
                    <a:solidFill>
                      <a:srgbClr val="111827"/>
                    </a:solidFill>
                    <a:latin typeface="Cambria Math" panose="02040503050406030204" pitchFamily="18" charset="0"/>
                  </a:rPr>
                  <a:t>$19$</a:t>
                </a:r>
                <a:r>
                  <a:rPr sz="2400" b="0">
                    <a:solidFill>
                      <a:srgbClr val="111827"/>
                    </a:solidFill>
                    <a:latin typeface="Arial"/>
                  </a:rPr>
                  <a:t> elements must be added.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19</a:t>
            </a:r>
            <a:endParaRPr sz="2800">
              <a:solidFill>
                <a:srgbClr val="15803D"/>
              </a:solidFill>
            </a:endParaRP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elements to add to make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symmetric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reverses missing from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has no symmetric pair 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 strict inequality on a difference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antisymmetric with no diagonal pairs, so none of its pairs is its own reverse.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odd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have opposite parity; with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evens and </a:t>
                </a:r>
                <a14:m>
                  <m:oMath xmlns:m="http://schemas.openxmlformats.org/officeDocument/2006/math">
                    <m:r>
                      <a:rPr lang="en-IN" sz="2400" i="1">
                        <a:solidFill>
                          <a:srgbClr val="111827"/>
                        </a:solidFill>
                        <a:latin typeface="Cambria Math" panose="02040503050406030204" pitchFamily="18" charset="0"/>
                      </a:rPr>
                      <m:t>𝑜</m:t>
                    </m:r>
                  </m:oMath>
                </a14:m>
                <a:r>
                  <a:rPr sz="2400" b="0">
                    <a:solidFill>
                      <a:srgbClr val="111827"/>
                    </a:solidFill>
                    <a:latin typeface="Arial"/>
                  </a:rPr>
                  <a:t> odds there are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oMath>
                </a14:m>
                <a:r>
                  <a:rPr sz="2400" b="0">
                    <a:solidFill>
                      <a:srgbClr val="111827"/>
                    </a:solidFill>
                    <a:latin typeface="Arial"/>
                  </a:rPr>
                  <a:t> unordered such pairs.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elements to add to make </a:t>
                </a:r>
                <a:r>
                  <a:rPr lang="en-IN" sz="2400">
                    <a:solidFill>
                      <a:srgbClr val="111827"/>
                    </a:solidFill>
                    <a:latin typeface="Cambria Math" panose="02040503050406030204" pitchFamily="18" charset="0"/>
                  </a:rPr>
                  <a:t>$R$</a:t>
                </a:r>
                <a:r>
                  <a:rPr sz="2400" b="0">
                    <a:solidFill>
                      <a:srgbClr val="111827"/>
                    </a:solidFill>
                    <a:latin typeface="Arial"/>
                  </a:rPr>
                  <a:t> symmetric </a:t>
                </a:r>
                <a:r>
                  <a:rPr lang="en-IN" sz="2400">
                    <a:solidFill>
                      <a:srgbClr val="111827"/>
                    </a:solidFill>
                    <a:latin typeface="Cambria Math" panose="02040503050406030204" pitchFamily="18" charset="0"/>
                  </a:rPr>
                  <a:t>$=\#\{(x,y)\in R:(y,x)\notin R\}$</a:t>
                </a:r>
                <a:r>
                  <a:rPr sz="2400" b="0">
                    <a:solidFill>
                      <a:srgbClr val="111827"/>
                    </a:solidFill>
                    <a:latin typeface="Arial"/>
                  </a:rPr>
                  <a:t> (the reverses missing from </a:t>
                </a:r>
                <a:r>
                  <a:rPr lang="en-IN" sz="2400">
                    <a:solidFill>
                      <a:srgbClr val="111827"/>
                    </a:solidFill>
                    <a:latin typeface="Cambria Math" panose="02040503050406030204" pitchFamily="18" charset="0"/>
                  </a:rPr>
                  <a:t>$R$</a:t>
                </a:r>
                <a:r>
                  <a:rPr sz="2400" b="0">
                    <a:solidFill>
                      <a:srgbClr val="111827"/>
                    </a:solidFill>
                    <a:latin typeface="Arial"/>
                  </a:rPr>
                  <a:t>); if </a:t>
                </a:r>
                <a:r>
                  <a:rPr lang="en-IN" sz="2400">
                    <a:solidFill>
                      <a:srgbClr val="111827"/>
                    </a:solidFill>
                    <a:latin typeface="Cambria Math" panose="02040503050406030204" pitchFamily="18" charset="0"/>
                  </a:rPr>
                  <a:t>$R$</a:t>
                </a:r>
                <a:r>
                  <a:rPr sz="2400" b="0">
                    <a:solidFill>
                      <a:srgbClr val="111827"/>
                    </a:solidFill>
                    <a:latin typeface="Arial"/>
                  </a:rPr>
                  <a:t> has no symmetric pair this is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 strict inequality on a difference (</a:t>
                </a:r>
                <a:r>
                  <a:rPr lang="en-IN" sz="2400">
                    <a:solidFill>
                      <a:srgbClr val="111827"/>
                    </a:solidFill>
                    <a:latin typeface="Cambria Math" panose="02040503050406030204" pitchFamily="18" charset="0"/>
                  </a:rPr>
                  <a:t>$x-y&gt;0$</a:t>
                </a:r>
                <a:r>
                  <a:rPr sz="2400" b="0">
                    <a:solidFill>
                      <a:srgbClr val="111827"/>
                    </a:solidFill>
                    <a:latin typeface="Arial"/>
                  </a:rPr>
                  <a:t>) is antisymmetric with no diagonal pairs, so none of its pairs is its own reverse.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a:t>
                </a:r>
                <a:r>
                  <a:rPr sz="2400" b="0">
                    <a:solidFill>
                      <a:srgbClr val="111827"/>
                    </a:solidFill>
                    <a:latin typeface="Arial"/>
                  </a:rPr>
                  <a:t> odd </a:t>
                </a:r>
                <a:r>
                  <a:rPr lang="en-IN" sz="2400">
                    <a:solidFill>
                      <a:srgbClr val="111827"/>
                    </a:solidFill>
                    <a:latin typeface="Cambria Math" panose="02040503050406030204" pitchFamily="18" charset="0"/>
                  </a:rPr>
                  <a:t>$\iff$</a:t>
                </a:r>
                <a:r>
                  <a:rPr sz="2400" b="0">
                    <a:solidFill>
                      <a:srgbClr val="111827"/>
                    </a:solidFill>
                    <a:latin typeface="Arial"/>
                  </a:rPr>
                  <a:t> </a:t>
                </a:r>
                <a:r>
                  <a:rPr lang="en-IN" sz="2400">
                    <a:solidFill>
                      <a:srgbClr val="111827"/>
                    </a:solidFill>
                    <a:latin typeface="Cambria Math" panose="02040503050406030204" pitchFamily="18" charset="0"/>
                  </a:rPr>
                  <a:t>$x,y$</a:t>
                </a:r>
                <a:r>
                  <a:rPr sz="2400" b="0">
                    <a:solidFill>
                      <a:srgbClr val="111827"/>
                    </a:solidFill>
                    <a:latin typeface="Arial"/>
                  </a:rPr>
                  <a:t> have opposite parity; with </a:t>
                </a:r>
                <a:r>
                  <a:rPr lang="en-IN" sz="2400">
                    <a:solidFill>
                      <a:srgbClr val="111827"/>
                    </a:solidFill>
                    <a:latin typeface="Cambria Math" panose="02040503050406030204" pitchFamily="18" charset="0"/>
                  </a:rPr>
                  <a:t>$e$</a:t>
                </a:r>
                <a:r>
                  <a:rPr sz="2400" b="0">
                    <a:solidFill>
                      <a:srgbClr val="111827"/>
                    </a:solidFill>
                    <a:latin typeface="Arial"/>
                  </a:rPr>
                  <a:t> evens and </a:t>
                </a:r>
                <a:r>
                  <a:rPr lang="en-IN" sz="2400">
                    <a:solidFill>
                      <a:srgbClr val="111827"/>
                    </a:solidFill>
                    <a:latin typeface="Cambria Math" panose="02040503050406030204" pitchFamily="18" charset="0"/>
                  </a:rPr>
                  <a:t>$o$</a:t>
                </a:r>
                <a:r>
                  <a:rPr sz="2400" b="0">
                    <a:solidFill>
                      <a:srgbClr val="111827"/>
                    </a:solidFill>
                    <a:latin typeface="Arial"/>
                  </a:rPr>
                  <a:t> odds there are </a:t>
                </a:r>
                <a:r>
                  <a:rPr lang="en-IN" sz="2400">
                    <a:solidFill>
                      <a:srgbClr val="111827"/>
                    </a:solidFill>
                    <a:latin typeface="Cambria Math" panose="02040503050406030204" pitchFamily="18" charset="0"/>
                  </a:rPr>
                  <a:t>$e\cdot o$</a:t>
                </a:r>
                <a:r>
                  <a:rPr sz="2400" b="0">
                    <a:solidFill>
                      <a:srgbClr val="111827"/>
                    </a:solidFill>
                    <a:latin typeface="Arial"/>
                  </a:rPr>
                  <a:t> unordered such pairs.</a:t>
                </a:r>
                <a:endParaRPr sz="2400">
                  <a:solidFill>
                    <a:srgbClr val="111827"/>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relations,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are reflexive and transitive but not symmetric, is __________.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relations, on the set </a:t>
                </a:r>
                <a:r>
                  <a:rPr lang="en-IN" sz="2400">
                    <a:solidFill>
                      <a:srgbClr val="111827"/>
                    </a:solidFill>
                    <a:latin typeface="Cambria Math" panose="02040503050406030204" pitchFamily="18" charset="0"/>
                  </a:rPr>
                  <a:t>$\{1,2,3\}$</a:t>
                </a:r>
                <a:r>
                  <a:rPr sz="2400" b="0">
                    <a:solidFill>
                      <a:srgbClr val="111827"/>
                    </a:solidFill>
                    <a:latin typeface="Arial"/>
                  </a:rPr>
                  <a:t> containing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$(2,3)$</a:t>
                </a:r>
                <a:r>
                  <a:rPr sz="2400" b="0">
                    <a:solidFill>
                      <a:srgbClr val="111827"/>
                    </a:solidFill>
                    <a:latin typeface="Arial"/>
                  </a:rPr>
                  <a:t>, which are reflexive and transitive but not symmetric, is __________. [JEE(Main) April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(reflexive, transitive, symmetric)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Reflexive and transitive containing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forces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analyse which of the reverse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can be added without forcing symmetry.</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Reflexive and transitive containing </a:t>
                </a:r>
                <a:r>
                  <a:rPr lang="en-IN" sz="2400">
                    <a:solidFill>
                      <a:srgbClr val="78350F"/>
                    </a:solidFill>
                    <a:latin typeface="Cambria Math" panose="02040503050406030204" pitchFamily="18" charset="0"/>
                  </a:rPr>
                  <a:t>$(1,2),(2,3)$</a:t>
                </a:r>
                <a:r>
                  <a:rPr sz="2400" b="0">
                    <a:solidFill>
                      <a:srgbClr val="78350F"/>
                    </a:solidFill>
                    <a:latin typeface="Arial"/>
                  </a:rPr>
                  <a:t> forces </a:t>
                </a:r>
                <a:r>
                  <a:rPr lang="en-IN" sz="2400">
                    <a:solidFill>
                      <a:srgbClr val="78350F"/>
                    </a:solidFill>
                    <a:latin typeface="Cambria Math" panose="02040503050406030204" pitchFamily="18" charset="0"/>
                  </a:rPr>
                  <a:t>$(1,3)$</a:t>
                </a:r>
                <a:r>
                  <a:rPr sz="2400" b="0">
                    <a:solidFill>
                      <a:srgbClr val="78350F"/>
                    </a:solidFill>
                    <a:latin typeface="Arial"/>
                  </a:rPr>
                  <a:t>; then analyse which of the reverse pairs </a:t>
                </a:r>
                <a:r>
                  <a:rPr lang="en-IN" sz="2400">
                    <a:solidFill>
                      <a:srgbClr val="78350F"/>
                    </a:solidFill>
                    <a:latin typeface="Cambria Math" panose="02040503050406030204" pitchFamily="18" charset="0"/>
                  </a:rPr>
                  <a:t>$(2,1),(3,2),(3,1)$</a:t>
                </a:r>
                <a:r>
                  <a:rPr sz="2400" b="0">
                    <a:solidFill>
                      <a:srgbClr val="78350F"/>
                    </a:solidFill>
                    <a:latin typeface="Arial"/>
                  </a:rPr>
                  <a:t> can be added without forcing symmetry.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symmetric: at least one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be missing (if all three are present,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full relation, which is symmetric). The extra pairs allowed are examined below.</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$(1,1),(2,2),(3,3)\in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$(1,2),(2,3)\in R\Rightarrow(1,3)\in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symmetric: at least one of </a:t>
                </a:r>
                <a:r>
                  <a:rPr lang="en-IN" sz="2400">
                    <a:solidFill>
                      <a:srgbClr val="111827"/>
                    </a:solidFill>
                    <a:latin typeface="Cambria Math" panose="02040503050406030204" pitchFamily="18" charset="0"/>
                  </a:rPr>
                  <a:t>$(2,1),(3,2),(3,1)$</a:t>
                </a:r>
                <a:r>
                  <a:rPr sz="2400" b="0">
                    <a:solidFill>
                      <a:srgbClr val="111827"/>
                    </a:solidFill>
                    <a:latin typeface="Arial"/>
                  </a:rPr>
                  <a:t> must be missing (if all three are present, </a:t>
                </a:r>
                <a:r>
                  <a:rPr lang="en-IN" sz="2400">
                    <a:solidFill>
                      <a:srgbClr val="111827"/>
                    </a:solidFill>
                    <a:latin typeface="Cambria Math" panose="02040503050406030204" pitchFamily="18" charset="0"/>
                  </a:rPr>
                  <a:t>$R$</a:t>
                </a:r>
                <a:r>
                  <a:rPr sz="2400" b="0">
                    <a:solidFill>
                      <a:srgbClr val="111827"/>
                    </a:solidFill>
                    <a:latin typeface="Arial"/>
                  </a:rPr>
                  <a:t> is the full relation, which is symmetric). The extra pairs allowed are examined below.</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$R_1=\{(1,1),(2,2),(3,3),(1,2),(2,3),(1,3)\}$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relation containing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also contain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is the full relation, which is symmetric. Likewise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together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full.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three relations qualify: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Answer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printed key '4' is wrong; the PDF itself lists only three relations).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$R_2=R_1\cup\{(2,1)\}$</a:t>
                </a:r>
                <a:r>
                  <a:rPr sz="2400" b="0">
                    <a:solidFill>
                      <a:srgbClr val="111827"/>
                    </a:solidFill>
                    <a:latin typeface="Arial"/>
                  </a:rPr>
                  <a:t> (transitive: </a:t>
                </a:r>
                <a:r>
                  <a:rPr lang="en-IN" sz="2400">
                    <a:solidFill>
                      <a:srgbClr val="111827"/>
                    </a:solidFill>
                    <a:latin typeface="Cambria Math" panose="02040503050406030204" pitchFamily="18" charset="0"/>
                  </a:rPr>
                  <a:t>$(2,1),(1,3)\to(2,3)\in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$R_3=R_1\cup\{(3,2)\}$</a:t>
                </a:r>
                <a:r>
                  <a:rPr sz="2400" b="0">
                    <a:solidFill>
                      <a:srgbClr val="111827"/>
                    </a:solidFill>
                    <a:latin typeface="Arial"/>
                  </a:rPr>
                  <a:t> (transitive: </a:t>
                </a:r>
                <a:r>
                  <a:rPr lang="en-IN" sz="2400">
                    <a:solidFill>
                      <a:srgbClr val="111827"/>
                    </a:solidFill>
                    <a:latin typeface="Cambria Math" panose="02040503050406030204" pitchFamily="18" charset="0"/>
                  </a:rPr>
                  <a:t>$(3,2),(2,3)\to(3,3)\in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relation containing </a:t>
                </a:r>
                <a:r>
                  <a:rPr lang="en-IN" sz="2400">
                    <a:solidFill>
                      <a:srgbClr val="111827"/>
                    </a:solidFill>
                    <a:latin typeface="Cambria Math" panose="02040503050406030204" pitchFamily="18" charset="0"/>
                  </a:rPr>
                  <a:t>$(3,1)$</a:t>
                </a:r>
                <a:r>
                  <a:rPr sz="2400" b="0">
                    <a:solidFill>
                      <a:srgbClr val="111827"/>
                    </a:solidFill>
                    <a:latin typeface="Arial"/>
                  </a:rPr>
                  <a:t> must also contain </a:t>
                </a:r>
                <a:r>
                  <a:rPr lang="en-IN" sz="2400">
                    <a:solidFill>
                      <a:srgbClr val="111827"/>
                    </a:solidFill>
                    <a:latin typeface="Cambria Math" panose="02040503050406030204" pitchFamily="18" charset="0"/>
                  </a:rPr>
                  <a:t>$(3,2)$</a:t>
                </a:r>
                <a:r>
                  <a:rPr sz="2400" b="0">
                    <a:solidFill>
                      <a:srgbClr val="111827"/>
                    </a:solidFill>
                    <a:latin typeface="Arial"/>
                  </a:rPr>
                  <a:t> (from </a:t>
                </a:r>
                <a:r>
                  <a:rPr lang="en-IN" sz="2400">
                    <a:solidFill>
                      <a:srgbClr val="111827"/>
                    </a:solidFill>
                    <a:latin typeface="Cambria Math" panose="02040503050406030204" pitchFamily="18" charset="0"/>
                  </a:rPr>
                  <a:t>$(3,1),(1,2)$</a:t>
                </a:r>
                <a:r>
                  <a:rPr sz="2400" b="0">
                    <a:solidFill>
                      <a:srgbClr val="111827"/>
                    </a:solidFill>
                    <a:latin typeface="Arial"/>
                  </a:rPr>
                  <a:t>) and </a:t>
                </a:r>
                <a:r>
                  <a:rPr lang="en-IN" sz="2400">
                    <a:solidFill>
                      <a:srgbClr val="111827"/>
                    </a:solidFill>
                    <a:latin typeface="Cambria Math" panose="02040503050406030204" pitchFamily="18" charset="0"/>
                  </a:rPr>
                  <a:t>$(2,1)$</a:t>
                </a:r>
                <a:r>
                  <a:rPr sz="2400" b="0">
                    <a:solidFill>
                      <a:srgbClr val="111827"/>
                    </a:solidFill>
                    <a:latin typeface="Arial"/>
                  </a:rPr>
                  <a:t> (from </a:t>
                </a:r>
                <a:r>
                  <a:rPr lang="en-IN" sz="2400">
                    <a:solidFill>
                      <a:srgbClr val="111827"/>
                    </a:solidFill>
                    <a:latin typeface="Cambria Math" panose="02040503050406030204" pitchFamily="18" charset="0"/>
                  </a:rPr>
                  <a:t>$(2,3),(3,1)$</a:t>
                </a:r>
                <a:r>
                  <a:rPr sz="2400" b="0">
                    <a:solidFill>
                      <a:srgbClr val="111827"/>
                    </a:solidFill>
                    <a:latin typeface="Arial"/>
                  </a:rPr>
                  <a:t>), so it is the full relation, which is symmetric. Likewise </a:t>
                </a:r>
                <a:r>
                  <a:rPr lang="en-IN" sz="2400">
                    <a:solidFill>
                      <a:srgbClr val="111827"/>
                    </a:solidFill>
                    <a:latin typeface="Cambria Math" panose="02040503050406030204" pitchFamily="18" charset="0"/>
                  </a:rPr>
                  <a:t>$(2,1)$</a:t>
                </a:r>
                <a:r>
                  <a:rPr sz="2400" b="0">
                    <a:solidFill>
                      <a:srgbClr val="111827"/>
                    </a:solidFill>
                    <a:latin typeface="Arial"/>
                  </a:rPr>
                  <a:t> together with </a:t>
                </a:r>
                <a:r>
                  <a:rPr lang="en-IN" sz="2400">
                    <a:solidFill>
                      <a:srgbClr val="111827"/>
                    </a:solidFill>
                    <a:latin typeface="Cambria Math" panose="02040503050406030204" pitchFamily="18" charset="0"/>
                  </a:rPr>
                  <a:t>$(3,2)$</a:t>
                </a:r>
                <a:r>
                  <a:rPr sz="2400" b="0">
                    <a:solidFill>
                      <a:srgbClr val="111827"/>
                    </a:solidFill>
                    <a:latin typeface="Arial"/>
                  </a:rPr>
                  <a:t> forces </a:t>
                </a:r>
                <a:r>
                  <a:rPr lang="en-IN" sz="2400">
                    <a:solidFill>
                      <a:srgbClr val="111827"/>
                    </a:solidFill>
                    <a:latin typeface="Cambria Math" panose="02040503050406030204" pitchFamily="18" charset="0"/>
                  </a:rPr>
                  <a:t>$(3,1)$</a:t>
                </a:r>
                <a:r>
                  <a:rPr sz="2400" b="0">
                    <a:solidFill>
                      <a:srgbClr val="111827"/>
                    </a:solidFill>
                    <a:latin typeface="Arial"/>
                  </a:rPr>
                  <a:t>, i.e. full.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three relations qualify: </a:t>
                </a:r>
                <a:r>
                  <a:rPr lang="en-IN" sz="2400">
                    <a:solidFill>
                      <a:srgbClr val="111827"/>
                    </a:solidFill>
                    <a:latin typeface="Cambria Math" panose="02040503050406030204" pitchFamily="18" charset="0"/>
                  </a:rPr>
                  <a:t>$R_1,R_2,R_3$</a:t>
                </a:r>
                <a:r>
                  <a:rPr sz="2400" b="0">
                    <a:solidFill>
                      <a:srgbClr val="111827"/>
                    </a:solidFill>
                    <a:latin typeface="Arial"/>
                  </a:rPr>
                  <a:t>. Answer </a:t>
                </a:r>
                <a:r>
                  <a:rPr lang="en-IN" sz="2400">
                    <a:solidFill>
                      <a:srgbClr val="111827"/>
                    </a:solidFill>
                    <a:latin typeface="Cambria Math" panose="02040503050406030204" pitchFamily="18" charset="0"/>
                  </a:rPr>
                  <a:t>$3$</a:t>
                </a:r>
                <a:r>
                  <a:rPr sz="2400" b="0">
                    <a:solidFill>
                      <a:srgbClr val="111827"/>
                    </a:solidFill>
                    <a:latin typeface="Arial"/>
                  </a:rPr>
                  <a:t> (the printed key '4' is wrong; the PDF itself lists only three relations).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a:t>
            </a:r>
            <a:endParaRPr sz="2800">
              <a:solidFill>
                <a:srgbClr val="15803D"/>
              </a:solidFill>
            </a:endParaRP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the three possible extra pairs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as switches and list the implications forced by transitivity.</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the three possible extra pairs </a:t>
                </a:r>
                <a:r>
                  <a:rPr lang="en-IN" sz="2400">
                    <a:solidFill>
                      <a:srgbClr val="78350F"/>
                    </a:solidFill>
                    <a:latin typeface="Cambria Math" panose="02040503050406030204" pitchFamily="18" charset="0"/>
                  </a:rPr>
                  <a:t>$u=(2,1)$</a:t>
                </a:r>
                <a:r>
                  <a:rPr sz="2400" b="0">
                    <a:solidFill>
                      <a:srgbClr val="78350F"/>
                    </a:solidFill>
                    <a:latin typeface="Arial"/>
                  </a:rPr>
                  <a:t>, </a:t>
                </a:r>
                <a:r>
                  <a:rPr lang="en-IN" sz="2400">
                    <a:solidFill>
                      <a:srgbClr val="78350F"/>
                    </a:solidFill>
                    <a:latin typeface="Cambria Math" panose="02040503050406030204" pitchFamily="18" charset="0"/>
                  </a:rPr>
                  <a:t>$v=(3,2)$</a:t>
                </a:r>
                <a:r>
                  <a:rPr sz="2400" b="0">
                    <a:solidFill>
                      <a:srgbClr val="78350F"/>
                    </a:solidFill>
                    <a:latin typeface="Arial"/>
                  </a:rPr>
                  <a:t>, </a:t>
                </a:r>
                <a:r>
                  <a:rPr lang="en-IN" sz="2400">
                    <a:solidFill>
                      <a:srgbClr val="78350F"/>
                    </a:solidFill>
                    <a:latin typeface="Cambria Math" panose="02040503050406030204" pitchFamily="18" charset="0"/>
                  </a:rPr>
                  <a:t>$w=(3,1)$</a:t>
                </a:r>
                <a:r>
                  <a:rPr sz="2400" b="0">
                    <a:solidFill>
                      <a:srgbClr val="78350F"/>
                    </a:solidFill>
                    <a:latin typeface="Arial"/>
                  </a:rPr>
                  <a:t> as switches and list the implications forced by transitivity.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valid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contains the six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only freedom is which of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oMath>
                </a14:m>
                <a:r>
                  <a:rPr sz="2400" b="0">
                    <a:solidFill>
                      <a:srgbClr val="111827"/>
                    </a:solidFill>
                    <a:latin typeface="Arial"/>
                  </a:rPr>
                  <a:t> are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Transitivity gives: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Possible choices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valid </a:t>
                </a:r>
                <a:r>
                  <a:rPr lang="en-IN" sz="2400">
                    <a:solidFill>
                      <a:srgbClr val="111827"/>
                    </a:solidFill>
                    <a:latin typeface="Cambria Math" panose="02040503050406030204" pitchFamily="18" charset="0"/>
                  </a:rPr>
                  <a:t>$R$</a:t>
                </a:r>
                <a:r>
                  <a:rPr sz="2400" b="0">
                    <a:solidFill>
                      <a:srgbClr val="111827"/>
                    </a:solidFill>
                    <a:latin typeface="Arial"/>
                  </a:rPr>
                  <a:t> contains the six pairs </a:t>
                </a:r>
                <a:r>
                  <a:rPr lang="en-IN" sz="2400">
                    <a:solidFill>
                      <a:srgbClr val="111827"/>
                    </a:solidFill>
                    <a:latin typeface="Cambria Math" panose="02040503050406030204" pitchFamily="18" charset="0"/>
                  </a:rPr>
                  <a:t>$(1,1),(2,2),(3,3),(1,2),(2,3),(1,3)$</a:t>
                </a:r>
                <a:r>
                  <a:rPr sz="2400" b="0">
                    <a:solidFill>
                      <a:srgbClr val="111827"/>
                    </a:solidFill>
                    <a:latin typeface="Arial"/>
                  </a:rPr>
                  <a:t>; the only freedom is which of </a:t>
                </a:r>
                <a:r>
                  <a:rPr lang="en-IN" sz="2400">
                    <a:solidFill>
                      <a:srgbClr val="111827"/>
                    </a:solidFill>
                    <a:latin typeface="Cambria Math" panose="02040503050406030204" pitchFamily="18" charset="0"/>
                  </a:rPr>
                  <a:t>$u,v,w$</a:t>
                </a:r>
                <a:r>
                  <a:rPr sz="2400" b="0">
                    <a:solidFill>
                      <a:srgbClr val="111827"/>
                    </a:solidFill>
                    <a:latin typeface="Arial"/>
                  </a:rPr>
                  <a:t> are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Transitivity gives: </a:t>
                </a:r>
                <a:r>
                  <a:rPr lang="en-IN" sz="2400">
                    <a:solidFill>
                      <a:srgbClr val="111827"/>
                    </a:solidFill>
                    <a:latin typeface="Cambria Math" panose="02040503050406030204" pitchFamily="18" charset="0"/>
                  </a:rPr>
                  <a:t>$w=(3,1)$</a:t>
                </a:r>
                <a:r>
                  <a:rPr sz="2400" b="0">
                    <a:solidFill>
                      <a:srgbClr val="111827"/>
                    </a:solidFill>
                    <a:latin typeface="Arial"/>
                  </a:rPr>
                  <a:t> with </a:t>
                </a:r>
                <a:r>
                  <a:rPr lang="en-IN" sz="2400">
                    <a:solidFill>
                      <a:srgbClr val="111827"/>
                    </a:solidFill>
                    <a:latin typeface="Cambria Math" panose="02040503050406030204" pitchFamily="18" charset="0"/>
                  </a:rPr>
                  <a:t>$(1,2)$</a:t>
                </a:r>
                <a:r>
                  <a:rPr sz="2400" b="0">
                    <a:solidFill>
                      <a:srgbClr val="111827"/>
                    </a:solidFill>
                    <a:latin typeface="Arial"/>
                  </a:rPr>
                  <a:t> forces </a:t>
                </a:r>
                <a:r>
                  <a:rPr lang="en-IN" sz="2400">
                    <a:solidFill>
                      <a:srgbClr val="111827"/>
                    </a:solidFill>
                    <a:latin typeface="Cambria Math" panose="02040503050406030204" pitchFamily="18" charset="0"/>
                  </a:rPr>
                  <a:t>$v=(3,2)$</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with </a:t>
                </a:r>
                <a:r>
                  <a:rPr lang="en-IN" sz="2400">
                    <a:solidFill>
                      <a:srgbClr val="111827"/>
                    </a:solidFill>
                    <a:latin typeface="Cambria Math" panose="02040503050406030204" pitchFamily="18" charset="0"/>
                  </a:rPr>
                  <a:t>$(2,3)$</a:t>
                </a:r>
                <a:r>
                  <a:rPr sz="2400" b="0">
                    <a:solidFill>
                      <a:srgbClr val="111827"/>
                    </a:solidFill>
                    <a:latin typeface="Arial"/>
                  </a:rPr>
                  <a:t> forces </a:t>
                </a:r>
                <a:r>
                  <a:rPr lang="en-IN" sz="2400">
                    <a:solidFill>
                      <a:srgbClr val="111827"/>
                    </a:solidFill>
                    <a:latin typeface="Cambria Math" panose="02040503050406030204" pitchFamily="18" charset="0"/>
                  </a:rPr>
                  <a:t>$u=(2,1)$</a:t>
                </a:r>
                <a:r>
                  <a:rPr sz="2400" b="0">
                    <a:solidFill>
                      <a:srgbClr val="111827"/>
                    </a:solidFill>
                    <a:latin typeface="Arial"/>
                  </a:rPr>
                  <a:t>; </a:t>
                </a:r>
                <a:r>
                  <a:rPr lang="en-IN" sz="2400">
                    <a:solidFill>
                      <a:srgbClr val="111827"/>
                    </a:solidFill>
                    <a:latin typeface="Cambria Math" panose="02040503050406030204" pitchFamily="18" charset="0"/>
                  </a:rPr>
                  <a:t>$u$</a:t>
                </a:r>
                <a:r>
                  <a:rPr sz="2400" b="0">
                    <a:solidFill>
                      <a:srgbClr val="111827"/>
                    </a:solidFill>
                    <a:latin typeface="Arial"/>
                  </a:rPr>
                  <a:t> with </a:t>
                </a:r>
                <a:r>
                  <a:rPr lang="en-IN" sz="2400">
                    <a:solidFill>
                      <a:srgbClr val="111827"/>
                    </a:solidFill>
                    <a:latin typeface="Cambria Math" panose="02040503050406030204" pitchFamily="18" charset="0"/>
                  </a:rPr>
                  <a:t>$v$</a:t>
                </a:r>
                <a:r>
                  <a:rPr sz="2400" b="0">
                    <a:solidFill>
                      <a:srgbClr val="111827"/>
                    </a:solidFill>
                    <a:latin typeface="Arial"/>
                  </a:rPr>
                  <a:t> forces </a:t>
                </a:r>
                <a:r>
                  <a:rPr lang="en-IN" sz="2400">
                    <a:solidFill>
                      <a:srgbClr val="111827"/>
                    </a:solidFill>
                    <a:latin typeface="Cambria Math" panose="02040503050406030204" pitchFamily="18" charset="0"/>
                  </a:rPr>
                  <a:t>$w$</a:t>
                </a:r>
                <a:r>
                  <a:rPr sz="2400" b="0">
                    <a:solidFill>
                      <a:srgbClr val="111827"/>
                    </a:solidFill>
                    <a:latin typeface="Arial"/>
                  </a:rPr>
                  <a:t> (since </a:t>
                </a:r>
                <a:r>
                  <a:rPr lang="en-IN" sz="2400">
                    <a:solidFill>
                      <a:srgbClr val="111827"/>
                    </a:solidFill>
                    <a:latin typeface="Cambria Math" panose="02040503050406030204" pitchFamily="18" charset="0"/>
                  </a:rPr>
                  <a:t>$(3,2),(2,1)\to(3,1)$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$w\iff(u\text{ and }v)$</a:t>
                </a:r>
                <a:r>
                  <a:rPr sz="2400" b="0">
                    <a:solidFill>
                      <a:srgbClr val="111827"/>
                    </a:solidFill>
                    <a:latin typeface="Arial"/>
                  </a:rPr>
                  <a:t>. Possible choices of </a:t>
                </a:r>
                <a:r>
                  <a:rPr lang="en-IN" sz="2400">
                    <a:solidFill>
                      <a:srgbClr val="111827"/>
                    </a:solidFill>
                    <a:latin typeface="Cambria Math" panose="02040503050406030204" pitchFamily="18" charset="0"/>
                  </a:rPr>
                  <a:t>$(u,v,w)$</a:t>
                </a:r>
                <a:r>
                  <a:rPr sz="2400" b="0">
                    <a:solidFill>
                      <a:srgbClr val="111827"/>
                    </a:solidFill>
                    <a:latin typeface="Arial"/>
                  </a:rPr>
                  <a:t>: </a:t>
                </a:r>
                <a:r>
                  <a:rPr lang="en-IN" sz="2400">
                    <a:solidFill>
                      <a:srgbClr val="111827"/>
                    </a:solidFill>
                    <a:latin typeface="Cambria Math" panose="02040503050406030204" pitchFamily="18" charset="0"/>
                  </a:rPr>
                  <a:t>$(0,0,0)$</a:t>
                </a:r>
                <a:r>
                  <a:rPr sz="2400" b="0">
                    <a:solidFill>
                      <a:srgbClr val="111827"/>
                    </a:solidFill>
                    <a:latin typeface="Arial"/>
                  </a:rPr>
                  <a:t>, </a:t>
                </a:r>
                <a:r>
                  <a:rPr lang="en-IN" sz="2400">
                    <a:solidFill>
                      <a:srgbClr val="111827"/>
                    </a:solidFill>
                    <a:latin typeface="Cambria Math" panose="02040503050406030204" pitchFamily="18" charset="0"/>
                  </a:rPr>
                  <a:t>$(1,0,0)$</a:t>
                </a:r>
                <a:r>
                  <a:rPr sz="2400" b="0">
                    <a:solidFill>
                      <a:srgbClr val="111827"/>
                    </a:solidFill>
                    <a:latin typeface="Arial"/>
                  </a:rPr>
                  <a:t>, </a:t>
                </a:r>
                <a:r>
                  <a:rPr lang="en-IN" sz="2400">
                    <a:solidFill>
                      <a:srgbClr val="111827"/>
                    </a:solidFill>
                    <a:latin typeface="Cambria Math" panose="02040503050406030204" pitchFamily="18" charset="0"/>
                  </a:rPr>
                  <a:t>$(0,1,0)$</a:t>
                </a:r>
                <a:r>
                  <a:rPr sz="2400" b="0">
                    <a:solidFill>
                      <a:srgbClr val="111827"/>
                    </a:solidFill>
                    <a:latin typeface="Arial"/>
                  </a:rPr>
                  <a:t>, </a:t>
                </a:r>
                <a:r>
                  <a:rPr lang="en-IN" sz="2400">
                    <a:solidFill>
                      <a:srgbClr val="111827"/>
                    </a:solidFill>
                    <a:latin typeface="Cambria Math" panose="02040503050406030204" pitchFamily="18" charset="0"/>
                  </a:rPr>
                  <a:t>$(1,1,1)$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transitivity of the first three directly; the last is the full relation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which is symmetric and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relations.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transitivity of the first three directly; the last is the full relation </a:t>
                </a:r>
                <a:r>
                  <a:rPr lang="en-IN" sz="2400">
                    <a:solidFill>
                      <a:srgbClr val="111827"/>
                    </a:solidFill>
                    <a:latin typeface="Cambria Math" panose="02040503050406030204" pitchFamily="18" charset="0"/>
                  </a:rPr>
                  <a:t>$\{1,2,3\}^2$</a:t>
                </a:r>
                <a:r>
                  <a:rPr sz="2400" b="0">
                    <a:solidFill>
                      <a:srgbClr val="111827"/>
                    </a:solidFill>
                    <a:latin typeface="Arial"/>
                  </a:rPr>
                  <a:t>, which is symmetric and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$3$</a:t>
                </a:r>
                <a:r>
                  <a:rPr sz="2400" b="0">
                    <a:solidFill>
                      <a:srgbClr val="111827"/>
                    </a:solidFill>
                    <a:latin typeface="Arial"/>
                  </a:rPr>
                  <a:t> relations.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a:t>
            </a:r>
            <a:endParaRPr sz="2800">
              <a:solidFill>
                <a:srgbClr val="15803D"/>
              </a:solidFill>
            </a:endParaRP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and transitive relations are preorders; on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labelled points there are </a:t>
                </a:r>
                <a14:m>
                  <m:oMath xmlns:m="http://schemas.openxmlformats.org/officeDocument/2006/math">
                    <m:r>
                      <a:rPr lang="en-IN" sz="2400" i="1">
                        <a:solidFill>
                          <a:srgbClr val="111827"/>
                        </a:solidFill>
                        <a:latin typeface="Cambria Math" panose="02040503050406030204" pitchFamily="18" charset="0"/>
                      </a:rPr>
                      <m:t>29</m:t>
                    </m:r>
                  </m:oMath>
                </a14:m>
                <a:r>
                  <a:rPr sz="2400" b="0">
                    <a:solidFill>
                      <a:srgbClr val="111827"/>
                    </a:solidFill>
                    <a:latin typeface="Arial"/>
                  </a:rPr>
                  <a:t> of them,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of which are equivalence relations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transitive relation,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with a chain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 reverse arc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collapses all three into one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relations with given properties on a small set, fix the forced pairs first, then treat the remaining pairs as switches and list their implications.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cross-check an answer with the list actually written down; here the PDF's own list has three members.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and transitive relations are preorders; on </a:t>
                </a:r>
                <a:r>
                  <a:rPr lang="en-IN" sz="2400">
                    <a:solidFill>
                      <a:srgbClr val="111827"/>
                    </a:solidFill>
                    <a:latin typeface="Cambria Math" panose="02040503050406030204" pitchFamily="18" charset="0"/>
                  </a:rPr>
                  <a:t>$3$</a:t>
                </a:r>
                <a:r>
                  <a:rPr sz="2400" b="0">
                    <a:solidFill>
                      <a:srgbClr val="111827"/>
                    </a:solidFill>
                    <a:latin typeface="Arial"/>
                  </a:rPr>
                  <a:t> labelled points there are </a:t>
                </a:r>
                <a:r>
                  <a:rPr lang="en-IN" sz="2400">
                    <a:solidFill>
                      <a:srgbClr val="111827"/>
                    </a:solidFill>
                    <a:latin typeface="Cambria Math" panose="02040503050406030204" pitchFamily="18" charset="0"/>
                  </a:rPr>
                  <a:t>$29$</a:t>
                </a:r>
                <a:r>
                  <a:rPr sz="2400" b="0">
                    <a:solidFill>
                      <a:srgbClr val="111827"/>
                    </a:solidFill>
                    <a:latin typeface="Arial"/>
                  </a:rPr>
                  <a:t> of them, </a:t>
                </a:r>
                <a:r>
                  <a:rPr lang="en-IN" sz="2400">
                    <a:solidFill>
                      <a:srgbClr val="111827"/>
                    </a:solidFill>
                    <a:latin typeface="Cambria Math" panose="02040503050406030204" pitchFamily="18" charset="0"/>
                  </a:rPr>
                  <a:t>$5$</a:t>
                </a:r>
                <a:r>
                  <a:rPr sz="2400" b="0">
                    <a:solidFill>
                      <a:srgbClr val="111827"/>
                    </a:solidFill>
                    <a:latin typeface="Arial"/>
                  </a:rPr>
                  <a:t> of which are equivalence relations (Bell number </a:t>
                </a:r>
                <a:r>
                  <a:rPr lang="en-IN" sz="2400">
                    <a:solidFill>
                      <a:srgbClr val="111827"/>
                    </a:solidFill>
                    <a:latin typeface="Cambria Math" panose="02040503050406030204" pitchFamily="18" charset="0"/>
                  </a:rPr>
                  <a:t>$B_3=5$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transitive relation, </a:t>
                </a:r>
                <a:r>
                  <a:rPr lang="en-IN" sz="2400">
                    <a:solidFill>
                      <a:srgbClr val="111827"/>
                    </a:solidFill>
                    <a:latin typeface="Cambria Math" panose="02040503050406030204" pitchFamily="18" charset="0"/>
                  </a:rPr>
                  <a:t>$(x,y),(y,x)\in R$</a:t>
                </a:r>
                <a:r>
                  <a:rPr sz="2400" b="0">
                    <a:solidFill>
                      <a:srgbClr val="111827"/>
                    </a:solidFill>
                    <a:latin typeface="Arial"/>
                  </a:rPr>
                  <a:t> forces </a:t>
                </a:r>
                <a:r>
                  <a:rPr lang="en-IN" sz="2400">
                    <a:solidFill>
                      <a:srgbClr val="111827"/>
                    </a:solidFill>
                    <a:latin typeface="Cambria Math" panose="02040503050406030204" pitchFamily="18" charset="0"/>
                  </a:rPr>
                  <a:t>$(x,x)\in R$</a:t>
                </a:r>
                <a:r>
                  <a:rPr sz="2400" b="0">
                    <a:solidFill>
                      <a:srgbClr val="111827"/>
                    </a:solidFill>
                    <a:latin typeface="Arial"/>
                  </a:rPr>
                  <a:t>; with a chain </a:t>
                </a:r>
                <a:r>
                  <a:rPr lang="en-IN" sz="2400">
                    <a:solidFill>
                      <a:srgbClr val="111827"/>
                    </a:solidFill>
                    <a:latin typeface="Cambria Math" panose="02040503050406030204" pitchFamily="18" charset="0"/>
                  </a:rPr>
                  <a:t>$x\to y\to z$</a:t>
                </a:r>
                <a:r>
                  <a:rPr sz="2400" b="0">
                    <a:solidFill>
                      <a:srgbClr val="111827"/>
                    </a:solidFill>
                    <a:latin typeface="Arial"/>
                  </a:rPr>
                  <a:t>, a reverse arc </a:t>
                </a:r>
                <a:r>
                  <a:rPr lang="en-IN" sz="2400">
                    <a:solidFill>
                      <a:srgbClr val="111827"/>
                    </a:solidFill>
                    <a:latin typeface="Cambria Math" panose="02040503050406030204" pitchFamily="18" charset="0"/>
                  </a:rPr>
                  <a:t>$z\to x$</a:t>
                </a:r>
                <a:r>
                  <a:rPr sz="2400" b="0">
                    <a:solidFill>
                      <a:srgbClr val="111827"/>
                    </a:solidFill>
                    <a:latin typeface="Arial"/>
                  </a:rPr>
                  <a:t> collapses all three into one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relations with given properties on a small set, fix the forced pairs first, then treat the remaining pairs as switches and list their implications.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cross-check an answer with the list actually written down; here the PDF's own list has three members.</a:t>
                </a:r>
                <a:endParaRPr sz="2400">
                  <a:solidFill>
                    <a:srgbClr val="111827"/>
                  </a:solidFill>
                </a:endParaRPr>
              </a:p>
            </p:txBody>
          </p:sp>
        </mc:Fallback>
      </mc:AlternateContent>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𝑜𝑟 </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the minimum number of elements, that must be added to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so that it becomes reflexive and symmetric, is __________. [JEE(Main) April 2023]</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$A=\{-4,-3,-2,0,1,3,4\}$</a:t>
                </a:r>
                <a:r>
                  <a:rPr sz="2400" b="0">
                    <a:solidFill>
                      <a:srgbClr val="111827"/>
                    </a:solidFill>
                    <a:latin typeface="Arial"/>
                  </a:rPr>
                  <a:t> and </a:t>
                </a:r>
                <a:r>
                  <a:rPr lang="en-IN" sz="2400">
                    <a:solidFill>
                      <a:srgbClr val="111827"/>
                    </a:solidFill>
                    <a:latin typeface="Cambria Math" panose="02040503050406030204" pitchFamily="18" charset="0"/>
                  </a:rPr>
                  <a:t>$R=\{(a,b)\in A\times A: b=|a|\text{ or }b^2=a+1\}$</a:t>
                </a:r>
                <a:r>
                  <a:rPr sz="2400" b="0">
                    <a:solidFill>
                      <a:srgbClr val="111827"/>
                    </a:solidFill>
                    <a:latin typeface="Arial"/>
                  </a:rPr>
                  <a:t> be a relation on </a:t>
                </a:r>
                <a:r>
                  <a:rPr lang="en-IN" sz="2400">
                    <a:solidFill>
                      <a:srgbClr val="111827"/>
                    </a:solidFill>
                    <a:latin typeface="Cambria Math" panose="02040503050406030204" pitchFamily="18" charset="0"/>
                  </a:rPr>
                  <a:t>$A$</a:t>
                </a:r>
                <a:r>
                  <a:rPr sz="2400" b="0">
                    <a:solidFill>
                      <a:srgbClr val="111827"/>
                    </a:solidFill>
                    <a:latin typeface="Arial"/>
                  </a:rPr>
                  <a:t>. Then the minimum number of elements, that must be added to the relation </a:t>
                </a:r>
                <a:r>
                  <a:rPr lang="en-IN" sz="2400">
                    <a:solidFill>
                      <a:srgbClr val="111827"/>
                    </a:solidFill>
                    <a:latin typeface="Cambria Math" panose="02040503050406030204" pitchFamily="18" charset="0"/>
                  </a:rPr>
                  <a:t>$R$</a:t>
                </a:r>
                <a:r>
                  <a:rPr sz="2400" b="0">
                    <a:solidFill>
                      <a:srgbClr val="111827"/>
                    </a:solidFill>
                    <a:latin typeface="Arial"/>
                  </a:rPr>
                  <a:t> so that it becomes reflexive and symmetric, is __________. [JEE(Main) April 2023]</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(reflexive and symmetric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explicitly (checking each root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rad>
                  </m:oMath>
                </a14:m>
                <a:r>
                  <a:rPr sz="2400" b="0">
                    <a:solidFill>
                      <a:srgbClr val="78350F"/>
                    </a:solidFill>
                    <a:latin typeface="Arial"/>
                  </a:rPr>
                  <a:t> lies in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then count missing diagonal pairs and missing reverses.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$R$</a:t>
                </a:r>
                <a:r>
                  <a:rPr sz="2400" b="0">
                    <a:solidFill>
                      <a:srgbClr val="78350F"/>
                    </a:solidFill>
                    <a:latin typeface="Arial"/>
                  </a:rPr>
                  <a:t> explicitly (checking each root </a:t>
                </a:r>
                <a:r>
                  <a:rPr lang="en-IN" sz="2400">
                    <a:solidFill>
                      <a:srgbClr val="78350F"/>
                    </a:solidFill>
                    <a:latin typeface="Cambria Math" panose="02040503050406030204" pitchFamily="18" charset="0"/>
                  </a:rPr>
                  <a:t>$b=\pm\sqrt{a+1}$</a:t>
                </a:r>
                <a:r>
                  <a:rPr sz="2400" b="0">
                    <a:solidFill>
                      <a:srgbClr val="78350F"/>
                    </a:solidFill>
                    <a:latin typeface="Arial"/>
                  </a:rPr>
                  <a:t> lies in </a:t>
                </a:r>
                <a:r>
                  <a:rPr lang="en-IN" sz="2400">
                    <a:solidFill>
                      <a:srgbClr val="78350F"/>
                    </a:solidFill>
                    <a:latin typeface="Cambria Math" panose="02040503050406030204" pitchFamily="18" charset="0"/>
                  </a:rPr>
                  <a:t>$A$</a:t>
                </a:r>
                <a:r>
                  <a:rPr sz="2400" b="0">
                    <a:solidFill>
                      <a:srgbClr val="78350F"/>
                    </a:solidFill>
                    <a:latin typeface="Arial"/>
                  </a:rPr>
                  <a:t>), then count missing diagonal pairs and missing reverses.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excluded since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Other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give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or non-integer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present; missing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Add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elements.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a:t>
                </a:r>
                <a:r>
                  <a:rPr sz="2400" b="0">
                    <a:solidFill>
                      <a:srgbClr val="111827"/>
                    </a:solidFill>
                    <a:latin typeface="Arial"/>
                  </a:rPr>
                  <a:t> gives </a:t>
                </a:r>
                <a:r>
                  <a:rPr lang="en-IN" sz="2400">
                    <a:solidFill>
                      <a:srgbClr val="111827"/>
                    </a:solidFill>
                    <a:latin typeface="Cambria Math" panose="02040503050406030204" pitchFamily="18" charset="0"/>
                  </a:rPr>
                  <a:t>$(-4,4),(-3,3),(0,0),(1,1),(3,3),(4,4)$</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is excluded since </a:t>
                </a:r>
                <a:r>
                  <a:rPr lang="en-IN" sz="2400">
                    <a:solidFill>
                      <a:srgbClr val="111827"/>
                    </a:solidFill>
                    <a:latin typeface="Cambria Math" panose="02040503050406030204" pitchFamily="18" charset="0"/>
                  </a:rPr>
                  <a:t>$2\notin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$b^2=a+1$</a:t>
                </a:r>
                <a:r>
                  <a:rPr sz="2400" b="0">
                    <a:solidFill>
                      <a:srgbClr val="111827"/>
                    </a:solidFill>
                    <a:latin typeface="Arial"/>
                  </a:rPr>
                  <a:t>: </a:t>
                </a:r>
                <a:r>
                  <a:rPr lang="en-IN" sz="2400">
                    <a:solidFill>
                      <a:srgbClr val="111827"/>
                    </a:solidFill>
                    <a:latin typeface="Cambria Math" panose="02040503050406030204" pitchFamily="18" charset="0"/>
                  </a:rPr>
                  <a:t>$a=0\Rightarrow b=\pm1$</a:t>
                </a:r>
                <a:r>
                  <a:rPr sz="2400" b="0">
                    <a:solidFill>
                      <a:srgbClr val="111827"/>
                    </a:solidFill>
                    <a:latin typeface="Arial"/>
                  </a:rPr>
                  <a:t>, only </a:t>
                </a:r>
                <a:r>
                  <a:rPr lang="en-IN" sz="2400">
                    <a:solidFill>
                      <a:srgbClr val="111827"/>
                    </a:solidFill>
                    <a:latin typeface="Cambria Math" panose="02040503050406030204" pitchFamily="18" charset="0"/>
                  </a:rPr>
                  <a:t>$b=1\in A$</a:t>
                </a:r>
                <a:r>
                  <a:rPr sz="2400" b="0">
                    <a:solidFill>
                      <a:srgbClr val="111827"/>
                    </a:solidFill>
                    <a:latin typeface="Arial"/>
                  </a:rPr>
                  <a:t>: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$a=3\Rightarrow b=\pm2$</a:t>
                </a:r>
                <a:r>
                  <a:rPr sz="2400" b="0">
                    <a:solidFill>
                      <a:srgbClr val="111827"/>
                    </a:solidFill>
                    <a:latin typeface="Arial"/>
                  </a:rPr>
                  <a:t>, only </a:t>
                </a:r>
                <a:r>
                  <a:rPr lang="en-IN" sz="2400">
                    <a:solidFill>
                      <a:srgbClr val="111827"/>
                    </a:solidFill>
                    <a:latin typeface="Cambria Math" panose="02040503050406030204" pitchFamily="18" charset="0"/>
                  </a:rPr>
                  <a:t>$b=-2\in A$</a:t>
                </a:r>
                <a:r>
                  <a:rPr sz="2400" b="0">
                    <a:solidFill>
                      <a:srgbClr val="111827"/>
                    </a:solidFill>
                    <a:latin typeface="Arial"/>
                  </a:rPr>
                  <a:t>: </a:t>
                </a:r>
                <a:r>
                  <a:rPr lang="en-IN" sz="2400">
                    <a:solidFill>
                      <a:srgbClr val="111827"/>
                    </a:solidFill>
                    <a:latin typeface="Cambria Math" panose="02040503050406030204" pitchFamily="18" charset="0"/>
                  </a:rPr>
                  <a:t>$(3,-2)$</a:t>
                </a:r>
                <a:r>
                  <a:rPr sz="2400" b="0">
                    <a:solidFill>
                      <a:srgbClr val="111827"/>
                    </a:solidFill>
                    <a:latin typeface="Arial"/>
                  </a:rPr>
                  <a:t>. Other </a:t>
                </a:r>
                <a:r>
                  <a:rPr lang="en-IN" sz="2400">
                    <a:solidFill>
                      <a:srgbClr val="111827"/>
                    </a:solidFill>
                    <a:latin typeface="Cambria Math" panose="02040503050406030204" pitchFamily="18" charset="0"/>
                  </a:rPr>
                  <a:t>$a$</a:t>
                </a:r>
                <a:r>
                  <a:rPr sz="2400" b="0">
                    <a:solidFill>
                      <a:srgbClr val="111827"/>
                    </a:solidFill>
                    <a:latin typeface="Arial"/>
                  </a:rPr>
                  <a:t> give </a:t>
                </a:r>
                <a:r>
                  <a:rPr lang="en-IN" sz="2400">
                    <a:solidFill>
                      <a:srgbClr val="111827"/>
                    </a:solidFill>
                    <a:latin typeface="Cambria Math" panose="02040503050406030204" pitchFamily="18" charset="0"/>
                  </a:rPr>
                  <a:t>$b^2&lt;0$</a:t>
                </a:r>
                <a:r>
                  <a:rPr sz="2400" b="0">
                    <a:solidFill>
                      <a:srgbClr val="111827"/>
                    </a:solidFill>
                    <a:latin typeface="Arial"/>
                  </a:rPr>
                  <a:t> or non-integer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$R=\{(-4,4),(-3,3),(3,-2),(0,1),(0,0),(1,1),(4,4),(3,3)\}$</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$(0,0),(1,1),(3,3),(4,4)$</a:t>
                </a:r>
                <a:r>
                  <a:rPr sz="2400" b="0">
                    <a:solidFill>
                      <a:srgbClr val="111827"/>
                    </a:solidFill>
                    <a:latin typeface="Arial"/>
                  </a:rPr>
                  <a:t> are present; missing </a:t>
                </a:r>
                <a:r>
                  <a:rPr lang="en-IN" sz="2400">
                    <a:solidFill>
                      <a:srgbClr val="111827"/>
                    </a:solidFill>
                    <a:latin typeface="Cambria Math" panose="02040503050406030204" pitchFamily="18" charset="0"/>
                  </a:rPr>
                  <a:t>$(-2,-2),(-4,-4),(-3,-3)$</a:t>
                </a:r>
                <a:r>
                  <a:rPr sz="2400" b="0">
                    <a:solidFill>
                      <a:srgbClr val="111827"/>
                    </a:solidFill>
                    <a:latin typeface="Arial"/>
                  </a:rPr>
                  <a:t>. Add </a:t>
                </a:r>
                <a:r>
                  <a:rPr lang="en-IN" sz="2400">
                    <a:solidFill>
                      <a:srgbClr val="111827"/>
                    </a:solidFill>
                    <a:latin typeface="Cambria Math" panose="02040503050406030204" pitchFamily="18" charset="0"/>
                  </a:rPr>
                  <a:t>$3$</a:t>
                </a:r>
                <a:r>
                  <a:rPr sz="2400" b="0">
                    <a:solidFill>
                      <a:srgbClr val="111827"/>
                    </a:solidFill>
                    <a:latin typeface="Arial"/>
                  </a:rPr>
                  <a:t> elements.</a:t>
                </a:r>
                <a:endParaRPr sz="2400">
                  <a:solidFill>
                    <a:srgbClr val="111827"/>
                  </a:solidFill>
                </a:endParaRPr>
              </a:p>
            </p:txBody>
          </p:sp>
        </mc:Fallback>
      </mc:AlternateContent>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reverses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missing;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Add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pairs added for reflexivity are diagonal and need no reverse, so the two sets of additions are disjoint.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number to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reverses of </a:t>
                </a:r>
                <a:r>
                  <a:rPr lang="en-IN" sz="2400">
                    <a:solidFill>
                      <a:srgbClr val="111827"/>
                    </a:solidFill>
                    <a:latin typeface="Cambria Math" panose="02040503050406030204" pitchFamily="18" charset="0"/>
                  </a:rPr>
                  <a:t>$(-4,4),(-3,3),(3,-2),(0,1)$</a:t>
                </a:r>
                <a:r>
                  <a:rPr sz="2400" b="0">
                    <a:solidFill>
                      <a:srgbClr val="111827"/>
                    </a:solidFill>
                    <a:latin typeface="Arial"/>
                  </a:rPr>
                  <a:t> are missing; add </a:t>
                </a:r>
                <a:r>
                  <a:rPr lang="en-IN" sz="2400">
                    <a:solidFill>
                      <a:srgbClr val="111827"/>
                    </a:solidFill>
                    <a:latin typeface="Cambria Math" panose="02040503050406030204" pitchFamily="18" charset="0"/>
                  </a:rPr>
                  <a:t>$(4,-4),(3,-3),(-2,3),(1,0)$</a:t>
                </a:r>
                <a:r>
                  <a:rPr sz="2400" b="0">
                    <a:solidFill>
                      <a:srgbClr val="111827"/>
                    </a:solidFill>
                    <a:latin typeface="Arial"/>
                  </a:rPr>
                  <a:t>. Add </a:t>
                </a:r>
                <a:r>
                  <a:rPr lang="en-IN" sz="2400">
                    <a:solidFill>
                      <a:srgbClr val="111827"/>
                    </a:solidFill>
                    <a:latin typeface="Cambria Math" panose="02040503050406030204" pitchFamily="18" charset="0"/>
                  </a:rPr>
                  <a:t>$4$</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pairs added for reflexivity are diagonal and need no reverse, so the two sets of additions are disjoint.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number to add </a:t>
                </a:r>
                <a:r>
                  <a:rPr lang="en-IN" sz="2400">
                    <a:solidFill>
                      <a:srgbClr val="111827"/>
                    </a:solidFill>
                    <a:latin typeface="Cambria Math" panose="02040503050406030204" pitchFamily="18" charset="0"/>
                  </a:rPr>
                  <a:t>$=3+4=7$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a:t>
            </a:r>
            <a:endParaRPr sz="2800">
              <a:solidFill>
                <a:srgbClr val="15803D"/>
              </a:solidFill>
            </a:endParaRP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additions to make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reflexive and symmetric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𝑢𝑛𝑜𝑟𝑑𝑒𝑟𝑒𝑑 𝑝𝑎𝑖𝑟𝑠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𝑤𝑖𝑡ℎ 𝑒𝑥𝑎𝑐𝑡𝑙𝑦 𝑜𝑛𝑒 𝑜𝑓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diagonal pairs never creates a new reverse requirement, so the two counts can be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conditions like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solve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and keep only roots that lie in the given set; for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keep only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off-diagonal pair already present in both directions needs nothing; here none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off-diagonal pairs has its reverse.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additions to make </a:t>
                </a:r>
                <a:r>
                  <a:rPr lang="en-IN" sz="2400">
                    <a:solidFill>
                      <a:srgbClr val="111827"/>
                    </a:solidFill>
                    <a:latin typeface="Cambria Math" panose="02040503050406030204" pitchFamily="18" charset="0"/>
                  </a:rPr>
                  <a:t>$R$</a:t>
                </a:r>
                <a:r>
                  <a:rPr sz="2400" b="0">
                    <a:solidFill>
                      <a:srgbClr val="111827"/>
                    </a:solidFill>
                    <a:latin typeface="Arial"/>
                  </a:rPr>
                  <a:t> reflexive and symmetric </a:t>
                </a:r>
                <a:r>
                  <a:rPr lang="en-IN" sz="2400">
                    <a:solidFill>
                      <a:srgbClr val="111827"/>
                    </a:solidFill>
                    <a:latin typeface="Cambria Math" panose="02040503050406030204" pitchFamily="18" charset="0"/>
                  </a:rPr>
                  <a:t>$=\#\{x:(x,x)\notin R\}+\#\{\text{unordered pairs }\{x,y\},x\ne y,\text{ with exactly one of }(x,y),(y,x)\in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diagonal pairs never creates a new reverse requirement, so the two counts can be added.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conditions like </a:t>
                </a:r>
                <a:r>
                  <a:rPr lang="en-IN" sz="2400">
                    <a:solidFill>
                      <a:srgbClr val="111827"/>
                    </a:solidFill>
                    <a:latin typeface="Cambria Math" panose="02040503050406030204" pitchFamily="18" charset="0"/>
                  </a:rPr>
                  <a:t>$b^2=a+1$</a:t>
                </a:r>
                <a:r>
                  <a:rPr sz="2400" b="0">
                    <a:solidFill>
                      <a:srgbClr val="111827"/>
                    </a:solidFill>
                    <a:latin typeface="Arial"/>
                  </a:rPr>
                  <a:t> solve </a:t>
                </a:r>
                <a:r>
                  <a:rPr lang="en-IN" sz="2400">
                    <a:solidFill>
                      <a:srgbClr val="111827"/>
                    </a:solidFill>
                    <a:latin typeface="Cambria Math" panose="02040503050406030204" pitchFamily="18" charset="0"/>
                  </a:rPr>
                  <a:t>$b=\pm\sqrt{a+1}$</a:t>
                </a:r>
                <a:r>
                  <a:rPr sz="2400" b="0">
                    <a:solidFill>
                      <a:srgbClr val="111827"/>
                    </a:solidFill>
                    <a:latin typeface="Arial"/>
                  </a:rPr>
                  <a:t> and keep only roots that lie in the given set; for </a:t>
                </a:r>
                <a:r>
                  <a:rPr lang="en-IN" sz="2400">
                    <a:solidFill>
                      <a:srgbClr val="111827"/>
                    </a:solidFill>
                    <a:latin typeface="Cambria Math" panose="02040503050406030204" pitchFamily="18" charset="0"/>
                  </a:rPr>
                  <a:t>$b=|a|$</a:t>
                </a:r>
                <a:r>
                  <a:rPr sz="2400" b="0">
                    <a:solidFill>
                      <a:srgbClr val="111827"/>
                    </a:solidFill>
                    <a:latin typeface="Arial"/>
                  </a:rPr>
                  <a:t> keep only </a:t>
                </a:r>
                <a:r>
                  <a:rPr lang="en-IN" sz="2400">
                    <a:solidFill>
                      <a:srgbClr val="111827"/>
                    </a:solidFill>
                    <a:latin typeface="Cambria Math" panose="02040503050406030204" pitchFamily="18" charset="0"/>
                  </a:rPr>
                  <a:t>$a$</a:t>
                </a:r>
                <a:r>
                  <a:rPr sz="2400" b="0">
                    <a:solidFill>
                      <a:srgbClr val="111827"/>
                    </a:solidFill>
                    <a:latin typeface="Arial"/>
                  </a:rPr>
                  <a:t> with </a:t>
                </a:r>
                <a:r>
                  <a:rPr lang="en-IN" sz="2400">
                    <a:solidFill>
                      <a:srgbClr val="111827"/>
                    </a:solidFill>
                    <a:latin typeface="Cambria Math" panose="02040503050406030204" pitchFamily="18" charset="0"/>
                  </a:rPr>
                  <a:t>$|a|\in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off-diagonal pair already present in both directions needs nothing; here none of the </a:t>
                </a:r>
                <a:r>
                  <a:rPr lang="en-IN" sz="2400">
                    <a:solidFill>
                      <a:srgbClr val="111827"/>
                    </a:solidFill>
                    <a:latin typeface="Cambria Math" panose="02040503050406030204" pitchFamily="18" charset="0"/>
                  </a:rPr>
                  <a:t>$4$</a:t>
                </a:r>
                <a:r>
                  <a:rPr sz="2400" b="0">
                    <a:solidFill>
                      <a:srgbClr val="111827"/>
                    </a:solidFill>
                    <a:latin typeface="Arial"/>
                  </a:rPr>
                  <a:t> off-diagonal pairs has its reverse.</a:t>
                </a:r>
                <a:endParaRPr sz="2400">
                  <a:solidFill>
                    <a:srgbClr val="111827"/>
                  </a:solidFill>
                </a:endParaRPr>
              </a:p>
            </p:txBody>
          </p:sp>
        </mc:Fallback>
      </mc:AlternateContent>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defined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_________.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be a relation on the set </a:t>
                </a:r>
                <a:r>
                  <a:rPr lang="en-IN" sz="2400">
                    <a:solidFill>
                      <a:srgbClr val="111827"/>
                    </a:solidFill>
                    <a:latin typeface="Cambria Math" panose="02040503050406030204" pitchFamily="18" charset="0"/>
                  </a:rPr>
                  <a:t>$A\times A$</a:t>
                </a:r>
                <a:r>
                  <a:rPr sz="2400" b="0">
                    <a:solidFill>
                      <a:srgbClr val="111827"/>
                    </a:solidFill>
                    <a:latin typeface="Arial"/>
                  </a:rPr>
                  <a:t> defined by </a:t>
                </a:r>
                <a:r>
                  <a:rPr lang="en-IN" sz="2400">
                    <a:solidFill>
                      <a:srgbClr val="111827"/>
                    </a:solidFill>
                    <a:latin typeface="Cambria Math" panose="02040503050406030204" pitchFamily="18" charset="0"/>
                  </a:rPr>
                  <a:t>$R=\{((a,b),(c,d)):2a+3b=4c+5d\}$</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 _________. [JEE(Main) April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as sets of ordered pairs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𝑑</m:t>
                    </m:r>
                  </m:oMath>
                </a14:m>
                <a:r>
                  <a:rPr sz="2400" b="0">
                    <a:solidFill>
                      <a:srgbClr val="78350F"/>
                    </a:solidFill>
                    <a:latin typeface="Arial"/>
                  </a:rPr>
                  <a:t> and add up (number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value </a:t>
                </a:r>
                <a14:m>
                  <m:oMath xmlns:m="http://schemas.openxmlformats.org/officeDocument/2006/math">
                    <m:r>
                      <a:rPr lang="en-IN" sz="2400" i="1">
                        <a:solidFill>
                          <a:srgbClr val="78350F"/>
                        </a:solidFill>
                        <a:latin typeface="Cambria Math" panose="02040503050406030204" pitchFamily="18" charset="0"/>
                      </a:rPr>
                      <m:t>α</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(number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value </a:t>
                </a:r>
                <a14:m>
                  <m:oMath xmlns:m="http://schemas.openxmlformats.org/officeDocument/2006/math">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a:t>
                </a:r>
                <a:r>
                  <a:rPr lang="en-IN" sz="2400">
                    <a:solidFill>
                      <a:srgbClr val="78350F"/>
                    </a:solidFill>
                    <a:latin typeface="Cambria Math" panose="02040503050406030204" pitchFamily="18" charset="0"/>
                  </a:rPr>
                  <a:t>$2a+3b$</a:t>
                </a:r>
                <a:r>
                  <a:rPr sz="2400" b="0">
                    <a:solidFill>
                      <a:srgbClr val="78350F"/>
                    </a:solidFill>
                    <a:latin typeface="Arial"/>
                  </a:rPr>
                  <a:t> and </a:t>
                </a:r>
                <a:r>
                  <a:rPr lang="en-IN" sz="2400">
                    <a:solidFill>
                      <a:srgbClr val="78350F"/>
                    </a:solidFill>
                    <a:latin typeface="Cambria Math" panose="02040503050406030204" pitchFamily="18" charset="0"/>
                  </a:rPr>
                  <a:t>$4c+5d$</a:t>
                </a:r>
                <a:r>
                  <a:rPr sz="2400" b="0">
                    <a:solidFill>
                      <a:srgbClr val="78350F"/>
                    </a:solidFill>
                    <a:latin typeface="Arial"/>
                  </a:rPr>
                  <a:t> and add up (number of </a:t>
                </a:r>
                <a:r>
                  <a:rPr lang="en-IN" sz="2400">
                    <a:solidFill>
                      <a:srgbClr val="78350F"/>
                    </a:solidFill>
                    <a:latin typeface="Cambria Math" panose="02040503050406030204" pitchFamily="18" charset="0"/>
                  </a:rPr>
                  <a:t>$(a,b)$</a:t>
                </a:r>
                <a:r>
                  <a:rPr sz="2400" b="0">
                    <a:solidFill>
                      <a:srgbClr val="78350F"/>
                    </a:solidFill>
                    <a:latin typeface="Arial"/>
                  </a:rPr>
                  <a:t> with value </a:t>
                </a:r>
                <a:r>
                  <a:rPr lang="en-IN" sz="2400">
                    <a:solidFill>
                      <a:srgbClr val="78350F"/>
                    </a:solidFill>
                    <a:latin typeface="Cambria Math" panose="02040503050406030204" pitchFamily="18" charset="0"/>
                  </a:rPr>
                  <a:t>$\alpha$</a:t>
                </a:r>
                <a:r>
                  <a:rPr sz="2400" b="0">
                    <a:solidFill>
                      <a:srgbClr val="78350F"/>
                    </a:solidFill>
                    <a:latin typeface="Arial"/>
                  </a:rPr>
                  <a:t>) </a:t>
                </a:r>
                <a:r>
                  <a:rPr lang="en-IN" sz="2400">
                    <a:solidFill>
                      <a:srgbClr val="78350F"/>
                    </a:solidFill>
                    <a:latin typeface="Cambria Math" panose="02040503050406030204" pitchFamily="18" charset="0"/>
                  </a:rPr>
                  <a:t>$\times$</a:t>
                </a:r>
                <a:r>
                  <a:rPr sz="2400" b="0">
                    <a:solidFill>
                      <a:srgbClr val="78350F"/>
                    </a:solidFill>
                    <a:latin typeface="Arial"/>
                  </a:rPr>
                  <a:t> (number of </a:t>
                </a:r>
                <a:r>
                  <a:rPr lang="en-IN" sz="2400">
                    <a:solidFill>
                      <a:srgbClr val="78350F"/>
                    </a:solidFill>
                    <a:latin typeface="Cambria Math" panose="02040503050406030204" pitchFamily="18" charset="0"/>
                  </a:rPr>
                  <a:t>$(c,d)$</a:t>
                </a:r>
                <a:r>
                  <a:rPr sz="2400" b="0">
                    <a:solidFill>
                      <a:srgbClr val="78350F"/>
                    </a:solidFill>
                    <a:latin typeface="Arial"/>
                  </a:rPr>
                  <a:t> with value </a:t>
                </a:r>
                <a:r>
                  <a:rPr lang="en-IN" sz="2400">
                    <a:solidFill>
                      <a:srgbClr val="78350F"/>
                    </a:solidFill>
                    <a:latin typeface="Cambria Math" panose="02040503050406030204" pitchFamily="18" charset="0"/>
                  </a:rPr>
                  <a:t>$\alpha$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consists of pairs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Call the common value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possible values are: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(rows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of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(rows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consists of pairs </a:t>
                </a:r>
                <a:r>
                  <a:rPr lang="en-IN" sz="2400">
                    <a:solidFill>
                      <a:srgbClr val="111827"/>
                    </a:solidFill>
                    <a:latin typeface="Cambria Math" panose="02040503050406030204" pitchFamily="18" charset="0"/>
                  </a:rPr>
                  <a:t>$((a,b),(c,d))$</a:t>
                </a:r>
                <a:r>
                  <a:rPr sz="2400" b="0">
                    <a:solidFill>
                      <a:srgbClr val="111827"/>
                    </a:solidFill>
                    <a:latin typeface="Arial"/>
                  </a:rPr>
                  <a:t> with </a:t>
                </a:r>
                <a:r>
                  <a:rPr lang="en-IN" sz="2400">
                    <a:solidFill>
                      <a:srgbClr val="111827"/>
                    </a:solidFill>
                    <a:latin typeface="Cambria Math" panose="02040503050406030204" pitchFamily="18" charset="0"/>
                  </a:rPr>
                  <a:t>$a,b,c,d\in\{1,2,3,4\}$</a:t>
                </a:r>
                <a:r>
                  <a:rPr sz="2400" b="0">
                    <a:solidFill>
                      <a:srgbClr val="111827"/>
                    </a:solidFill>
                    <a:latin typeface="Arial"/>
                  </a:rPr>
                  <a:t> and </a:t>
                </a:r>
                <a:r>
                  <a:rPr lang="en-IN" sz="2400">
                    <a:solidFill>
                      <a:srgbClr val="111827"/>
                    </a:solidFill>
                    <a:latin typeface="Cambria Math" panose="02040503050406030204" pitchFamily="18" charset="0"/>
                  </a:rPr>
                  <a:t>$2a+3b=4c+5d$</a:t>
                </a:r>
                <a:r>
                  <a:rPr sz="2400" b="0">
                    <a:solidFill>
                      <a:srgbClr val="111827"/>
                    </a:solidFill>
                    <a:latin typeface="Arial"/>
                  </a:rPr>
                  <a:t>. Call the common value </a:t>
                </a:r>
                <a:r>
                  <a:rPr lang="en-IN" sz="2400">
                    <a:solidFill>
                      <a:srgbClr val="111827"/>
                    </a:solidFill>
                    <a:latin typeface="Cambria Math" panose="02040503050406030204" pitchFamily="18" charset="0"/>
                  </a:rPr>
                  <a:t>$\alpha$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possible values are: </a:t>
                </a:r>
                <a:r>
                  <a:rPr lang="en-IN" sz="2400">
                    <a:solidFill>
                      <a:srgbClr val="111827"/>
                    </a:solidFill>
                    <a:latin typeface="Cambria Math" panose="02040503050406030204" pitchFamily="18" charset="0"/>
                  </a:rPr>
                  <a:t>$2a\in\{2,4,6,8\}$</a:t>
                </a:r>
                <a:r>
                  <a:rPr sz="2400" b="0">
                    <a:solidFill>
                      <a:srgbClr val="111827"/>
                    </a:solidFill>
                    <a:latin typeface="Arial"/>
                  </a:rPr>
                  <a:t>, </a:t>
                </a:r>
                <a:r>
                  <a:rPr lang="en-IN" sz="2400">
                    <a:solidFill>
                      <a:srgbClr val="111827"/>
                    </a:solidFill>
                    <a:latin typeface="Cambria Math" panose="02040503050406030204" pitchFamily="18" charset="0"/>
                  </a:rPr>
                  <a:t>$3b\in\{3,6,9,12\}$</a:t>
                </a:r>
                <a:r>
                  <a:rPr sz="2400" b="0">
                    <a:solidFill>
                      <a:srgbClr val="111827"/>
                    </a:solidFill>
                    <a:latin typeface="Arial"/>
                  </a:rPr>
                  <a:t>, </a:t>
                </a:r>
                <a:r>
                  <a:rPr lang="en-IN" sz="2400">
                    <a:solidFill>
                      <a:srgbClr val="111827"/>
                    </a:solidFill>
                    <a:latin typeface="Cambria Math" panose="02040503050406030204" pitchFamily="18" charset="0"/>
                  </a:rPr>
                  <a:t>$4c\in\{4,8,12,16\}$</a:t>
                </a:r>
                <a:r>
                  <a:rPr sz="2400" b="0">
                    <a:solidFill>
                      <a:srgbClr val="111827"/>
                    </a:solidFill>
                    <a:latin typeface="Arial"/>
                  </a:rPr>
                  <a:t>, </a:t>
                </a:r>
                <a:r>
                  <a:rPr lang="en-IN" sz="2400">
                    <a:solidFill>
                      <a:srgbClr val="111827"/>
                    </a:solidFill>
                    <a:latin typeface="Cambria Math" panose="02040503050406030204" pitchFamily="18" charset="0"/>
                  </a:rPr>
                  <a:t>$5d\in\{5,10,15,20\}$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of </a:t>
                </a:r>
                <a:r>
                  <a:rPr lang="en-IN" sz="2400">
                    <a:solidFill>
                      <a:srgbClr val="111827"/>
                    </a:solidFill>
                    <a:latin typeface="Cambria Math" panose="02040503050406030204" pitchFamily="18" charset="0"/>
                  </a:rPr>
                  <a:t>$2a+3b$</a:t>
                </a:r>
                <a:r>
                  <a:rPr sz="2400" b="0">
                    <a:solidFill>
                      <a:srgbClr val="111827"/>
                    </a:solidFill>
                    <a:latin typeface="Arial"/>
                  </a:rPr>
                  <a:t> (rows </a:t>
                </a:r>
                <a:r>
                  <a:rPr lang="en-IN" sz="2400">
                    <a:solidFill>
                      <a:srgbClr val="111827"/>
                    </a:solidFill>
                    <a:latin typeface="Cambria Math" panose="02040503050406030204" pitchFamily="18" charset="0"/>
                  </a:rPr>
                  <a:t>$a=1,2,3,4$</a:t>
                </a:r>
                <a:r>
                  <a:rPr sz="2400" b="0">
                    <a:solidFill>
                      <a:srgbClr val="111827"/>
                    </a:solidFill>
                    <a:latin typeface="Arial"/>
                  </a:rPr>
                  <a:t>): </a:t>
                </a:r>
                <a:r>
                  <a:rPr lang="en-IN" sz="2400">
                    <a:solidFill>
                      <a:srgbClr val="111827"/>
                    </a:solidFill>
                    <a:latin typeface="Cambria Math" panose="02040503050406030204" pitchFamily="18" charset="0"/>
                  </a:rPr>
                  <a:t>$5,8,11,14$</a:t>
                </a:r>
                <a:r>
                  <a:rPr sz="2400" b="0">
                    <a:solidFill>
                      <a:srgbClr val="111827"/>
                    </a:solidFill>
                    <a:latin typeface="Arial"/>
                  </a:rPr>
                  <a:t> / </a:t>
                </a:r>
                <a:r>
                  <a:rPr lang="en-IN" sz="2400">
                    <a:solidFill>
                      <a:srgbClr val="111827"/>
                    </a:solidFill>
                    <a:latin typeface="Cambria Math" panose="02040503050406030204" pitchFamily="18" charset="0"/>
                  </a:rPr>
                  <a:t>$7,10,13,16$</a:t>
                </a:r>
                <a:r>
                  <a:rPr sz="2400" b="0">
                    <a:solidFill>
                      <a:srgbClr val="111827"/>
                    </a:solidFill>
                    <a:latin typeface="Arial"/>
                  </a:rPr>
                  <a:t> / </a:t>
                </a:r>
                <a:r>
                  <a:rPr lang="en-IN" sz="2400">
                    <a:solidFill>
                      <a:srgbClr val="111827"/>
                    </a:solidFill>
                    <a:latin typeface="Cambria Math" panose="02040503050406030204" pitchFamily="18" charset="0"/>
                  </a:rPr>
                  <a:t>$9,12,15,18$</a:t>
                </a:r>
                <a:r>
                  <a:rPr sz="2400" b="0">
                    <a:solidFill>
                      <a:srgbClr val="111827"/>
                    </a:solidFill>
                    <a:latin typeface="Arial"/>
                  </a:rPr>
                  <a:t> / </a:t>
                </a:r>
                <a:r>
                  <a:rPr lang="en-IN" sz="2400">
                    <a:solidFill>
                      <a:srgbClr val="111827"/>
                    </a:solidFill>
                    <a:latin typeface="Cambria Math" panose="02040503050406030204" pitchFamily="18" charset="0"/>
                  </a:rPr>
                  <a:t>$11,14,17,20$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of </a:t>
                </a:r>
                <a:r>
                  <a:rPr lang="en-IN" sz="2400">
                    <a:solidFill>
                      <a:srgbClr val="111827"/>
                    </a:solidFill>
                    <a:latin typeface="Cambria Math" panose="02040503050406030204" pitchFamily="18" charset="0"/>
                  </a:rPr>
                  <a:t>$4c+5d$</a:t>
                </a:r>
                <a:r>
                  <a:rPr sz="2400" b="0">
                    <a:solidFill>
                      <a:srgbClr val="111827"/>
                    </a:solidFill>
                    <a:latin typeface="Arial"/>
                  </a:rPr>
                  <a:t> (rows </a:t>
                </a:r>
                <a:r>
                  <a:rPr lang="en-IN" sz="2400">
                    <a:solidFill>
                      <a:srgbClr val="111827"/>
                    </a:solidFill>
                    <a:latin typeface="Cambria Math" panose="02040503050406030204" pitchFamily="18" charset="0"/>
                  </a:rPr>
                  <a:t>$c=1,2,3,4$</a:t>
                </a:r>
                <a:r>
                  <a:rPr sz="2400" b="0">
                    <a:solidFill>
                      <a:srgbClr val="111827"/>
                    </a:solidFill>
                    <a:latin typeface="Arial"/>
                  </a:rPr>
                  <a:t>): </a:t>
                </a:r>
                <a:r>
                  <a:rPr lang="en-IN" sz="2400">
                    <a:solidFill>
                      <a:srgbClr val="111827"/>
                    </a:solidFill>
                    <a:latin typeface="Cambria Math" panose="02040503050406030204" pitchFamily="18" charset="0"/>
                  </a:rPr>
                  <a:t>$9,14,19,24$</a:t>
                </a:r>
                <a:r>
                  <a:rPr sz="2400" b="0">
                    <a:solidFill>
                      <a:srgbClr val="111827"/>
                    </a:solidFill>
                    <a:latin typeface="Arial"/>
                  </a:rPr>
                  <a:t> / </a:t>
                </a:r>
                <a:r>
                  <a:rPr lang="en-IN" sz="2400">
                    <a:solidFill>
                      <a:srgbClr val="111827"/>
                    </a:solidFill>
                    <a:latin typeface="Cambria Math" panose="02040503050406030204" pitchFamily="18" charset="0"/>
                  </a:rPr>
                  <a:t>$13,18,23,28$</a:t>
                </a:r>
                <a:r>
                  <a:rPr sz="2400" b="0">
                    <a:solidFill>
                      <a:srgbClr val="111827"/>
                    </a:solidFill>
                    <a:latin typeface="Arial"/>
                  </a:rPr>
                  <a:t> / </a:t>
                </a:r>
                <a:r>
                  <a:rPr lang="en-IN" sz="2400">
                    <a:solidFill>
                      <a:srgbClr val="111827"/>
                    </a:solidFill>
                    <a:latin typeface="Cambria Math" panose="02040503050406030204" pitchFamily="18" charset="0"/>
                  </a:rPr>
                  <a:t>$17,22,27,32$</a:t>
                </a:r>
                <a:r>
                  <a:rPr sz="2400" b="0">
                    <a:solidFill>
                      <a:srgbClr val="111827"/>
                    </a:solidFill>
                    <a:latin typeface="Arial"/>
                  </a:rPr>
                  <a:t> / </a:t>
                </a:r>
                <a:r>
                  <a:rPr lang="en-IN" sz="2400">
                    <a:solidFill>
                      <a:srgbClr val="111827"/>
                    </a:solidFill>
                    <a:latin typeface="Cambria Math" panose="02040503050406030204" pitchFamily="18" charset="0"/>
                  </a:rPr>
                  <a:t>$21,26,31,36$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values common to both tables are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(the PDF lists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twice because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happens for two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element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elements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values common to both tables are </a:t>
                </a:r>
                <a:r>
                  <a:rPr lang="en-IN" sz="2400">
                    <a:solidFill>
                      <a:srgbClr val="111827"/>
                    </a:solidFill>
                    <a:latin typeface="Cambria Math" panose="02040503050406030204" pitchFamily="18" charset="0"/>
                  </a:rPr>
                  <a:t>$\alpha=9,13,14,14,17,18$</a:t>
                </a:r>
                <a:r>
                  <a:rPr sz="2400" b="0">
                    <a:solidFill>
                      <a:srgbClr val="111827"/>
                    </a:solidFill>
                    <a:latin typeface="Arial"/>
                  </a:rPr>
                  <a:t> (the PDF lists </a:t>
                </a:r>
                <a:r>
                  <a:rPr lang="en-IN" sz="2400">
                    <a:solidFill>
                      <a:srgbClr val="111827"/>
                    </a:solidFill>
                    <a:latin typeface="Cambria Math" panose="02040503050406030204" pitchFamily="18" charset="0"/>
                  </a:rPr>
                  <a:t>$14$</a:t>
                </a:r>
                <a:r>
                  <a:rPr sz="2400" b="0">
                    <a:solidFill>
                      <a:srgbClr val="111827"/>
                    </a:solidFill>
                    <a:latin typeface="Arial"/>
                  </a:rPr>
                  <a:t> twice because </a:t>
                </a:r>
                <a:r>
                  <a:rPr lang="en-IN" sz="2400">
                    <a:solidFill>
                      <a:srgbClr val="111827"/>
                    </a:solidFill>
                    <a:latin typeface="Cambria Math" panose="02040503050406030204" pitchFamily="18" charset="0"/>
                  </a:rPr>
                  <a:t>$2a+3b=14$</a:t>
                </a:r>
                <a:r>
                  <a:rPr sz="2400" b="0">
                    <a:solidFill>
                      <a:srgbClr val="111827"/>
                    </a:solidFill>
                    <a:latin typeface="Arial"/>
                  </a:rPr>
                  <a:t> happens for two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$\alpha=9$</a:t>
                </a:r>
                <a:r>
                  <a:rPr sz="2400" b="0">
                    <a:solidFill>
                      <a:srgbClr val="111827"/>
                    </a:solidFill>
                    <a:latin typeface="Arial"/>
                  </a:rPr>
                  <a:t>: </a:t>
                </a:r>
                <a:r>
                  <a:rPr lang="en-IN" sz="2400">
                    <a:solidFill>
                      <a:srgbClr val="111827"/>
                    </a:solidFill>
                    <a:latin typeface="Cambria Math" panose="02040503050406030204" pitchFamily="18" charset="0"/>
                  </a:rPr>
                  <a:t>$(a,b)=(3,1)$</a:t>
                </a:r>
                <a:r>
                  <a:rPr sz="2400" b="0">
                    <a:solidFill>
                      <a:srgbClr val="111827"/>
                    </a:solidFill>
                    <a:latin typeface="Arial"/>
                  </a:rPr>
                  <a:t> and </a:t>
                </a:r>
                <a:r>
                  <a:rPr lang="en-IN" sz="2400">
                    <a:solidFill>
                      <a:srgbClr val="111827"/>
                    </a:solidFill>
                    <a:latin typeface="Cambria Math" panose="02040503050406030204" pitchFamily="18" charset="0"/>
                  </a:rPr>
                  <a:t>$(c,d)=(1,1)$</a:t>
                </a:r>
                <a:r>
                  <a:rPr sz="2400" b="0">
                    <a:solidFill>
                      <a:srgbClr val="111827"/>
                    </a:solidFill>
                    <a:latin typeface="Arial"/>
                  </a:rPr>
                  <a:t>, giving </a:t>
                </a:r>
                <a:r>
                  <a:rPr lang="en-IN" sz="2400">
                    <a:solidFill>
                      <a:srgbClr val="111827"/>
                    </a:solidFill>
                    <a:latin typeface="Cambria Math" panose="02040503050406030204" pitchFamily="18" charset="0"/>
                  </a:rPr>
                  <a:t>$1$</a:t>
                </a:r>
                <a:r>
                  <a:rPr sz="2400" b="0">
                    <a:solidFill>
                      <a:srgbClr val="111827"/>
                    </a:solidFill>
                    <a:latin typeface="Arial"/>
                  </a:rPr>
                  <a:t> element of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$\alpha=13$</a:t>
                </a:r>
                <a:r>
                  <a:rPr sz="2400" b="0">
                    <a:solidFill>
                      <a:srgbClr val="111827"/>
                    </a:solidFill>
                    <a:latin typeface="Arial"/>
                  </a:rPr>
                  <a:t>: </a:t>
                </a:r>
                <a:r>
                  <a:rPr lang="en-IN" sz="2400">
                    <a:solidFill>
                      <a:srgbClr val="111827"/>
                    </a:solidFill>
                    <a:latin typeface="Cambria Math" panose="02040503050406030204" pitchFamily="18" charset="0"/>
                  </a:rPr>
                  <a:t>$(2,3)$</a:t>
                </a:r>
                <a:r>
                  <a:rPr sz="2400" b="0">
                    <a:solidFill>
                      <a:srgbClr val="111827"/>
                    </a:solidFill>
                    <a:latin typeface="Arial"/>
                  </a:rPr>
                  <a:t> and </a:t>
                </a:r>
                <a:r>
                  <a:rPr lang="en-IN" sz="2400">
                    <a:solidFill>
                      <a:srgbClr val="111827"/>
                    </a:solidFill>
                    <a:latin typeface="Cambria Math" panose="02040503050406030204" pitchFamily="18" charset="0"/>
                  </a:rPr>
                  <a:t>$(2,1)$</a:t>
                </a:r>
                <a:r>
                  <a:rPr sz="2400" b="0">
                    <a:solidFill>
                      <a:srgbClr val="111827"/>
                    </a:solidFill>
                    <a:latin typeface="Arial"/>
                  </a:rPr>
                  <a:t>, giving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$\alpha=14$</a:t>
                </a:r>
                <a:r>
                  <a:rPr sz="2400" b="0">
                    <a:solidFill>
                      <a:srgbClr val="111827"/>
                    </a:solidFill>
                    <a:latin typeface="Arial"/>
                  </a:rPr>
                  <a:t>: </a:t>
                </a:r>
                <a:r>
                  <a:rPr lang="en-IN" sz="2400">
                    <a:solidFill>
                      <a:srgbClr val="111827"/>
                    </a:solidFill>
                    <a:latin typeface="Cambria Math" panose="02040503050406030204" pitchFamily="18" charset="0"/>
                  </a:rPr>
                  <a:t>$(a,b)=(1,4)$</a:t>
                </a:r>
                <a:r>
                  <a:rPr sz="2400" b="0">
                    <a:solidFill>
                      <a:srgbClr val="111827"/>
                    </a:solidFill>
                    <a:latin typeface="Arial"/>
                  </a:rPr>
                  <a:t> or </a:t>
                </a:r>
                <a:r>
                  <a:rPr lang="en-IN" sz="2400">
                    <a:solidFill>
                      <a:srgbClr val="111827"/>
                    </a:solidFill>
                    <a:latin typeface="Cambria Math" panose="02040503050406030204" pitchFamily="18" charset="0"/>
                  </a:rPr>
                  <a:t>$(4,2)$</a:t>
                </a:r>
                <a:r>
                  <a:rPr sz="2400" b="0">
                    <a:solidFill>
                      <a:srgbClr val="111827"/>
                    </a:solidFill>
                    <a:latin typeface="Arial"/>
                  </a:rPr>
                  <a:t> and </a:t>
                </a:r>
                <a:r>
                  <a:rPr lang="en-IN" sz="2400">
                    <a:solidFill>
                      <a:srgbClr val="111827"/>
                    </a:solidFill>
                    <a:latin typeface="Cambria Math" panose="02040503050406030204" pitchFamily="18" charset="0"/>
                  </a:rPr>
                  <a:t>$(c,d)=(1,2)$</a:t>
                </a:r>
                <a:r>
                  <a:rPr sz="2400" b="0">
                    <a:solidFill>
                      <a:srgbClr val="111827"/>
                    </a:solidFill>
                    <a:latin typeface="Arial"/>
                  </a:rPr>
                  <a:t>, giving </a:t>
                </a:r>
                <a:r>
                  <a:rPr lang="en-IN" sz="2400">
                    <a:solidFill>
                      <a:srgbClr val="111827"/>
                    </a:solidFill>
                    <a:latin typeface="Cambria Math" panose="02040503050406030204" pitchFamily="18" charset="0"/>
                  </a:rPr>
                  <a:t>$2$</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$\alpha=17$</a:t>
                </a:r>
                <a:r>
                  <a:rPr sz="2400" b="0">
                    <a:solidFill>
                      <a:srgbClr val="111827"/>
                    </a:solidFill>
                    <a:latin typeface="Arial"/>
                  </a:rPr>
                  <a:t>: </a:t>
                </a:r>
                <a:r>
                  <a:rPr lang="en-IN" sz="2400">
                    <a:solidFill>
                      <a:srgbClr val="111827"/>
                    </a:solidFill>
                    <a:latin typeface="Cambria Math" panose="02040503050406030204" pitchFamily="18" charset="0"/>
                  </a:rPr>
                  <a:t>$(a,b)=(4,3)$</a:t>
                </a:r>
                <a:r>
                  <a:rPr sz="2400" b="0">
                    <a:solidFill>
                      <a:srgbClr val="111827"/>
                    </a:solidFill>
                    <a:latin typeface="Arial"/>
                  </a:rPr>
                  <a:t> and </a:t>
                </a:r>
                <a:r>
                  <a:rPr lang="en-IN" sz="2400">
                    <a:solidFill>
                      <a:srgbClr val="111827"/>
                    </a:solidFill>
                    <a:latin typeface="Cambria Math" panose="02040503050406030204" pitchFamily="18" charset="0"/>
                  </a:rPr>
                  <a:t>$(c,d)=(3,1)$</a:t>
                </a:r>
                <a:r>
                  <a:rPr sz="2400" b="0">
                    <a:solidFill>
                      <a:srgbClr val="111827"/>
                    </a:solidFill>
                    <a:latin typeface="Arial"/>
                  </a:rPr>
                  <a:t>, giving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$\alpha=18$</a:t>
                </a:r>
                <a:r>
                  <a:rPr sz="2400" b="0">
                    <a:solidFill>
                      <a:srgbClr val="111827"/>
                    </a:solidFill>
                    <a:latin typeface="Arial"/>
                  </a:rPr>
                  <a:t>: </a:t>
                </a:r>
                <a:r>
                  <a:rPr lang="en-IN" sz="2400">
                    <a:solidFill>
                      <a:srgbClr val="111827"/>
                    </a:solidFill>
                    <a:latin typeface="Cambria Math" panose="02040503050406030204" pitchFamily="18" charset="0"/>
                  </a:rPr>
                  <a:t>$(a,b)=(3,4)$</a:t>
                </a:r>
                <a:r>
                  <a:rPr sz="2400" b="0">
                    <a:solidFill>
                      <a:srgbClr val="111827"/>
                    </a:solidFill>
                    <a:latin typeface="Arial"/>
                  </a:rPr>
                  <a:t> and </a:t>
                </a:r>
                <a:r>
                  <a:rPr lang="en-IN" sz="2400">
                    <a:solidFill>
                      <a:srgbClr val="111827"/>
                    </a:solidFill>
                    <a:latin typeface="Cambria Math" panose="02040503050406030204" pitchFamily="18" charset="0"/>
                  </a:rPr>
                  <a:t>$(c,d)=(2,2)$</a:t>
                </a:r>
                <a:r>
                  <a:rPr sz="2400" b="0">
                    <a:solidFill>
                      <a:srgbClr val="111827"/>
                    </a:solidFill>
                    <a:latin typeface="Arial"/>
                  </a:rPr>
                  <a:t>, giving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elements of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$1+1+2+1+1=6$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a:t>
            </a:r>
            <a:endParaRPr sz="2800">
              <a:solidFill>
                <a:srgbClr val="15803D"/>
              </a:solidFill>
            </a:endParaRP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modulo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must lie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only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need checking.</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modulo </a:t>
                </a:r>
                <a:r>
                  <a:rPr lang="en-IN" sz="2400">
                    <a:solidFill>
                      <a:srgbClr val="78350F"/>
                    </a:solidFill>
                    <a:latin typeface="Cambria Math" panose="02040503050406030204" pitchFamily="18" charset="0"/>
                  </a:rPr>
                  <a:t>$2$</a:t>
                </a:r>
                <a:r>
                  <a:rPr sz="2400" b="0">
                    <a:solidFill>
                      <a:srgbClr val="78350F"/>
                    </a:solidFill>
                    <a:latin typeface="Arial"/>
                  </a:rPr>
                  <a:t>: </a:t>
                </a:r>
                <a:r>
                  <a:rPr lang="en-IN" sz="2400">
                    <a:solidFill>
                      <a:srgbClr val="78350F"/>
                    </a:solidFill>
                    <a:latin typeface="Cambria Math" panose="02040503050406030204" pitchFamily="18" charset="0"/>
                  </a:rPr>
                  <a:t>$b\equiv d \pmod 2$</a:t>
                </a:r>
                <a:r>
                  <a:rPr sz="2400" b="0">
                    <a:solidFill>
                      <a:srgbClr val="78350F"/>
                    </a:solidFill>
                    <a:latin typeface="Arial"/>
                  </a:rPr>
                  <a:t>, then </a:t>
                </a:r>
                <a:r>
                  <a:rPr lang="en-IN" sz="2400">
                    <a:solidFill>
                      <a:srgbClr val="78350F"/>
                    </a:solidFill>
                    <a:latin typeface="Cambria Math" panose="02040503050406030204" pitchFamily="18" charset="0"/>
                  </a:rPr>
                  <a:t>$a=2c+\frac{5d-3b}{2}$</a:t>
                </a:r>
                <a:r>
                  <a:rPr sz="2400" b="0">
                    <a:solidFill>
                      <a:srgbClr val="78350F"/>
                    </a:solidFill>
                    <a:latin typeface="Arial"/>
                  </a:rPr>
                  <a:t> must lie in </a:t>
                </a:r>
                <a:r>
                  <a:rPr lang="en-IN" sz="2400">
                    <a:solidFill>
                      <a:srgbClr val="78350F"/>
                    </a:solidFill>
                    <a:latin typeface="Cambria Math" panose="02040503050406030204" pitchFamily="18" charset="0"/>
                  </a:rPr>
                  <a:t>$\{1,2,3,4\}$</a:t>
                </a:r>
                <a:r>
                  <a:rPr sz="2400" b="0">
                    <a:solidFill>
                      <a:srgbClr val="78350F"/>
                    </a:solidFill>
                    <a:latin typeface="Arial"/>
                  </a:rPr>
                  <a:t>, so only </a:t>
                </a:r>
                <a:r>
                  <a:rPr lang="en-IN" sz="2400">
                    <a:solidFill>
                      <a:srgbClr val="78350F"/>
                    </a:solidFill>
                    <a:latin typeface="Cambria Math" panose="02040503050406030204" pitchFamily="18" charset="0"/>
                  </a:rPr>
                  <a:t>$8$</a:t>
                </a:r>
                <a:r>
                  <a:rPr sz="2400" b="0">
                    <a:solidFill>
                      <a:srgbClr val="78350F"/>
                    </a:solidFill>
                    <a:latin typeface="Arial"/>
                  </a:rPr>
                  <a:t> pairs </a:t>
                </a:r>
                <a:r>
                  <a:rPr lang="en-IN" sz="2400">
                    <a:solidFill>
                      <a:srgbClr val="78350F"/>
                    </a:solidFill>
                    <a:latin typeface="Cambria Math" panose="02040503050406030204" pitchFamily="18" charset="0"/>
                  </a:rPr>
                  <a:t>$(b,d)$</a:t>
                </a:r>
                <a:r>
                  <a:rPr sz="2400" b="0">
                    <a:solidFill>
                      <a:srgbClr val="78350F"/>
                    </a:solidFill>
                    <a:latin typeface="Arial"/>
                  </a:rPr>
                  <a:t> need checking.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oMath>
                </a14:m>
                <a:r>
                  <a:rPr sz="2400" b="0">
                    <a:solidFill>
                      <a:srgbClr val="111827"/>
                    </a:solidFill>
                    <a:latin typeface="Arial"/>
                  </a:rPr>
                  <a:t> are even,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oMath>
                </a14:m>
                <a:r>
                  <a:rPr sz="2400" b="0">
                    <a:solidFill>
                      <a:srgbClr val="111827"/>
                    </a:solidFill>
                    <a:latin typeface="Arial"/>
                  </a:rPr>
                  <a:t> is even; hence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 integer; for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count the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1 solution;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2 solutions.</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a:t>
                </a:r>
                <a:r>
                  <a:rPr sz="2400" b="0">
                    <a:solidFill>
                      <a:srgbClr val="111827"/>
                    </a:solidFill>
                    <a:latin typeface="Arial"/>
                  </a:rPr>
                  <a:t> and </a:t>
                </a:r>
                <a:r>
                  <a:rPr lang="en-IN" sz="2400">
                    <a:solidFill>
                      <a:srgbClr val="111827"/>
                    </a:solidFill>
                    <a:latin typeface="Cambria Math" panose="02040503050406030204" pitchFamily="18" charset="0"/>
                  </a:rPr>
                  <a:t>$4c$</a:t>
                </a:r>
                <a:r>
                  <a:rPr sz="2400" b="0">
                    <a:solidFill>
                      <a:srgbClr val="111827"/>
                    </a:solidFill>
                    <a:latin typeface="Arial"/>
                  </a:rPr>
                  <a:t> are even, so </a:t>
                </a:r>
                <a:r>
                  <a:rPr lang="en-IN" sz="2400">
                    <a:solidFill>
                      <a:srgbClr val="111827"/>
                    </a:solidFill>
                    <a:latin typeface="Cambria Math" panose="02040503050406030204" pitchFamily="18" charset="0"/>
                  </a:rPr>
                  <a:t>$3b-5d=4c-2a$</a:t>
                </a:r>
                <a:r>
                  <a:rPr sz="2400" b="0">
                    <a:solidFill>
                      <a:srgbClr val="111827"/>
                    </a:solidFill>
                    <a:latin typeface="Arial"/>
                  </a:rPr>
                  <a:t> is even; hence </a:t>
                </a:r>
                <a:r>
                  <a:rPr lang="en-IN" sz="2400">
                    <a:solidFill>
                      <a:srgbClr val="111827"/>
                    </a:solidFill>
                    <a:latin typeface="Cambria Math" panose="02040503050406030204" pitchFamily="18" charset="0"/>
                  </a:rPr>
                  <a:t>$b\equiv d\pmod 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$a=2c+k$</a:t>
                </a:r>
                <a:r>
                  <a:rPr sz="2400" b="0">
                    <a:solidFill>
                      <a:srgbClr val="111827"/>
                    </a:solidFill>
                    <a:latin typeface="Arial"/>
                  </a:rPr>
                  <a:t> with </a:t>
                </a:r>
                <a:r>
                  <a:rPr lang="en-IN" sz="2400">
                    <a:solidFill>
                      <a:srgbClr val="111827"/>
                    </a:solidFill>
                    <a:latin typeface="Cambria Math" panose="02040503050406030204" pitchFamily="18" charset="0"/>
                  </a:rPr>
                  <a:t>$k=\frac{5d-3b}{2}$</a:t>
                </a:r>
                <a:r>
                  <a:rPr sz="2400" b="0">
                    <a:solidFill>
                      <a:srgbClr val="111827"/>
                    </a:solidFill>
                    <a:latin typeface="Arial"/>
                  </a:rPr>
                  <a:t> an integer; for each </a:t>
                </a:r>
                <a:r>
                  <a:rPr lang="en-IN" sz="2400">
                    <a:solidFill>
                      <a:srgbClr val="111827"/>
                    </a:solidFill>
                    <a:latin typeface="Cambria Math" panose="02040503050406030204" pitchFamily="18" charset="0"/>
                  </a:rPr>
                  <a:t>$(b,d)$</a:t>
                </a:r>
                <a:r>
                  <a:rPr sz="2400" b="0">
                    <a:solidFill>
                      <a:srgbClr val="111827"/>
                    </a:solidFill>
                    <a:latin typeface="Arial"/>
                  </a:rPr>
                  <a:t> with </a:t>
                </a:r>
                <a:r>
                  <a:rPr lang="en-IN" sz="2400">
                    <a:solidFill>
                      <a:srgbClr val="111827"/>
                    </a:solidFill>
                    <a:latin typeface="Cambria Math" panose="02040503050406030204" pitchFamily="18" charset="0"/>
                  </a:rPr>
                  <a:t>$b\equiv d$</a:t>
                </a:r>
                <a:r>
                  <a:rPr sz="2400" b="0">
                    <a:solidFill>
                      <a:srgbClr val="111827"/>
                    </a:solidFill>
                    <a:latin typeface="Arial"/>
                  </a:rPr>
                  <a:t> count the </a:t>
                </a:r>
                <a:r>
                  <a:rPr lang="en-IN" sz="2400">
                    <a:solidFill>
                      <a:srgbClr val="111827"/>
                    </a:solidFill>
                    <a:latin typeface="Cambria Math" panose="02040503050406030204" pitchFamily="18" charset="0"/>
                  </a:rPr>
                  <a:t>$c\in\{1,2,3,4\}$</a:t>
                </a:r>
                <a:r>
                  <a:rPr sz="2400" b="0">
                    <a:solidFill>
                      <a:srgbClr val="111827"/>
                    </a:solidFill>
                    <a:latin typeface="Arial"/>
                  </a:rPr>
                  <a:t> with </a:t>
                </a:r>
                <a:r>
                  <a:rPr lang="en-IN" sz="2400">
                    <a:solidFill>
                      <a:srgbClr val="111827"/>
                    </a:solidFill>
                    <a:latin typeface="Cambria Math" panose="02040503050406030204" pitchFamily="18" charset="0"/>
                  </a:rPr>
                  <a:t>$1\le 2c+k\le 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a:t>
                </a:r>
                <a:r>
                  <a:rPr lang="en-IN" sz="2400">
                    <a:solidFill>
                      <a:srgbClr val="111827"/>
                    </a:solidFill>
                    <a:latin typeface="Cambria Math" panose="02040503050406030204" pitchFamily="18" charset="0"/>
                  </a:rPr>
                  <a:t>$(b,d)=(1,1),(1,3),(3,1),(3,3)$</a:t>
                </a:r>
                <a:r>
                  <a:rPr sz="2400" b="0">
                    <a:solidFill>
                      <a:srgbClr val="111827"/>
                    </a:solidFill>
                    <a:latin typeface="Arial"/>
                  </a:rPr>
                  <a:t> give </a:t>
                </a:r>
                <a:r>
                  <a:rPr lang="en-IN" sz="2400">
                    <a:solidFill>
                      <a:srgbClr val="111827"/>
                    </a:solidFill>
                    <a:latin typeface="Cambria Math" panose="02040503050406030204" pitchFamily="18" charset="0"/>
                  </a:rPr>
                  <a:t>$k=1,-2,6,3$</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 gives </a:t>
                </a:r>
                <a:r>
                  <a:rPr lang="en-IN" sz="2400">
                    <a:solidFill>
                      <a:srgbClr val="111827"/>
                    </a:solidFill>
                    <a:latin typeface="Cambria Math" panose="02040503050406030204" pitchFamily="18" charset="0"/>
                  </a:rPr>
                  <a:t>$c=1$</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1 solution; </a:t>
                </a:r>
                <a:r>
                  <a:rPr lang="en-IN" sz="2400">
                    <a:solidFill>
                      <a:srgbClr val="111827"/>
                    </a:solidFill>
                    <a:latin typeface="Cambria Math" panose="02040503050406030204" pitchFamily="18" charset="0"/>
                  </a:rPr>
                  <a:t>$k=-2$</a:t>
                </a:r>
                <a:r>
                  <a:rPr sz="2400" b="0">
                    <a:solidFill>
                      <a:srgbClr val="111827"/>
                    </a:solidFill>
                    <a:latin typeface="Arial"/>
                  </a:rPr>
                  <a:t> gives </a:t>
                </a:r>
                <a:r>
                  <a:rPr lang="en-IN" sz="2400">
                    <a:solidFill>
                      <a:srgbClr val="111827"/>
                    </a:solidFill>
                    <a:latin typeface="Cambria Math" panose="02040503050406030204" pitchFamily="18" charset="0"/>
                  </a:rPr>
                  <a:t>$c=2,3$</a:t>
                </a:r>
                <a:r>
                  <a:rPr sz="2400" b="0">
                    <a:solidFill>
                      <a:srgbClr val="111827"/>
                    </a:solidFill>
                    <a:latin typeface="Arial"/>
                  </a:rPr>
                  <a:t> (</a:t>
                </a:r>
                <a:r>
                  <a:rPr lang="en-IN" sz="2400">
                    <a:solidFill>
                      <a:srgbClr val="111827"/>
                    </a:solidFill>
                    <a:latin typeface="Cambria Math" panose="02040503050406030204" pitchFamily="18" charset="0"/>
                  </a:rPr>
                  <a:t>$a=2,4$</a:t>
                </a:r>
                <a:r>
                  <a:rPr sz="2400" b="0">
                    <a:solidFill>
                      <a:srgbClr val="111827"/>
                    </a:solidFill>
                    <a:latin typeface="Arial"/>
                  </a:rPr>
                  <a:t>), 2 solutions.</a:t>
                </a:r>
                <a:endParaRPr sz="2400">
                  <a:solidFill>
                    <a:srgbClr val="111827"/>
                  </a:solidFill>
                </a:endParaRPr>
              </a:p>
            </p:txBody>
          </p:sp>
        </mc:Fallback>
      </mc:AlternateContent>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none. For even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1 solution;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2 solutions;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same count.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$k=6$</a:t>
                </a:r>
                <a:r>
                  <a:rPr sz="2400" b="0">
                    <a:solidFill>
                      <a:srgbClr val="111827"/>
                    </a:solidFill>
                    <a:latin typeface="Arial"/>
                  </a:rPr>
                  <a:t> and </a:t>
                </a:r>
                <a:r>
                  <a:rPr lang="en-IN" sz="2400">
                    <a:solidFill>
                      <a:srgbClr val="111827"/>
                    </a:solidFill>
                    <a:latin typeface="Cambria Math" panose="02040503050406030204" pitchFamily="18" charset="0"/>
                  </a:rPr>
                  <a:t>$k=3$</a:t>
                </a:r>
                <a:r>
                  <a:rPr sz="2400" b="0">
                    <a:solidFill>
                      <a:srgbClr val="111827"/>
                    </a:solidFill>
                    <a:latin typeface="Arial"/>
                  </a:rPr>
                  <a:t> give </a:t>
                </a:r>
                <a:r>
                  <a:rPr lang="en-IN" sz="2400">
                    <a:solidFill>
                      <a:srgbClr val="111827"/>
                    </a:solidFill>
                    <a:latin typeface="Cambria Math" panose="02040503050406030204" pitchFamily="18" charset="0"/>
                  </a:rPr>
                  <a:t>$a=2c+k\ge 5$</a:t>
                </a:r>
                <a:r>
                  <a:rPr sz="2400" b="0">
                    <a:solidFill>
                      <a:srgbClr val="111827"/>
                    </a:solidFill>
                    <a:latin typeface="Arial"/>
                  </a:rPr>
                  <a:t>: none. For even </a:t>
                </a:r>
                <a:r>
                  <a:rPr lang="en-IN" sz="2400">
                    <a:solidFill>
                      <a:srgbClr val="111827"/>
                    </a:solidFill>
                    <a:latin typeface="Cambria Math" panose="02040503050406030204" pitchFamily="18" charset="0"/>
                  </a:rPr>
                  <a:t>$b,d$</a:t>
                </a:r>
                <a:r>
                  <a:rPr sz="2400" b="0">
                    <a:solidFill>
                      <a:srgbClr val="111827"/>
                    </a:solidFill>
                    <a:latin typeface="Arial"/>
                  </a:rPr>
                  <a:t>: </a:t>
                </a:r>
                <a:r>
                  <a:rPr lang="en-IN" sz="2400">
                    <a:solidFill>
                      <a:srgbClr val="111827"/>
                    </a:solidFill>
                    <a:latin typeface="Cambria Math" panose="02040503050406030204" pitchFamily="18" charset="0"/>
                  </a:rPr>
                  <a:t>$(b,d)=(2,2),(4,2),(2,4),(4,4)$</a:t>
                </a:r>
                <a:r>
                  <a:rPr sz="2400" b="0">
                    <a:solidFill>
                      <a:srgbClr val="111827"/>
                    </a:solidFill>
                    <a:latin typeface="Arial"/>
                  </a:rPr>
                  <a:t> give </a:t>
                </a:r>
                <a:r>
                  <a:rPr lang="en-IN" sz="2400">
                    <a:solidFill>
                      <a:srgbClr val="111827"/>
                    </a:solidFill>
                    <a:latin typeface="Cambria Math" panose="02040503050406030204" pitchFamily="18" charset="0"/>
                  </a:rPr>
                  <a:t>$k=2,7,-1,4$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a:t>
                </a:r>
                <a:r>
                  <a:rPr sz="2400" b="0">
                    <a:solidFill>
                      <a:srgbClr val="111827"/>
                    </a:solidFill>
                    <a:latin typeface="Arial"/>
                  </a:rPr>
                  <a:t> gives </a:t>
                </a:r>
                <a:r>
                  <a:rPr lang="en-IN" sz="2400">
                    <a:solidFill>
                      <a:srgbClr val="111827"/>
                    </a:solidFill>
                    <a:latin typeface="Cambria Math" panose="02040503050406030204" pitchFamily="18" charset="0"/>
                  </a:rPr>
                  <a:t>$c=1$</a:t>
                </a:r>
                <a:r>
                  <a:rPr sz="2400" b="0">
                    <a:solidFill>
                      <a:srgbClr val="111827"/>
                    </a:solidFill>
                    <a:latin typeface="Arial"/>
                  </a:rPr>
                  <a:t> (</a:t>
                </a:r>
                <a:r>
                  <a:rPr lang="en-IN" sz="2400">
                    <a:solidFill>
                      <a:srgbClr val="111827"/>
                    </a:solidFill>
                    <a:latin typeface="Cambria Math" panose="02040503050406030204" pitchFamily="18" charset="0"/>
                  </a:rPr>
                  <a:t>$a=4$</a:t>
                </a:r>
                <a:r>
                  <a:rPr sz="2400" b="0">
                    <a:solidFill>
                      <a:srgbClr val="111827"/>
                    </a:solidFill>
                    <a:latin typeface="Arial"/>
                  </a:rPr>
                  <a:t>): 1 solution; </a:t>
                </a:r>
                <a:r>
                  <a:rPr lang="en-IN" sz="2400">
                    <a:solidFill>
                      <a:srgbClr val="111827"/>
                    </a:solidFill>
                    <a:latin typeface="Cambria Math" panose="02040503050406030204" pitchFamily="18" charset="0"/>
                  </a:rPr>
                  <a:t>$k=-1$</a:t>
                </a:r>
                <a:r>
                  <a:rPr sz="2400" b="0">
                    <a:solidFill>
                      <a:srgbClr val="111827"/>
                    </a:solidFill>
                    <a:latin typeface="Arial"/>
                  </a:rPr>
                  <a:t> gives </a:t>
                </a:r>
                <a:r>
                  <a:rPr lang="en-IN" sz="2400">
                    <a:solidFill>
                      <a:srgbClr val="111827"/>
                    </a:solidFill>
                    <a:latin typeface="Cambria Math" panose="02040503050406030204" pitchFamily="18" charset="0"/>
                  </a:rPr>
                  <a:t>$c=1,2$</a:t>
                </a:r>
                <a:r>
                  <a:rPr sz="2400" b="0">
                    <a:solidFill>
                      <a:srgbClr val="111827"/>
                    </a:solidFill>
                    <a:latin typeface="Arial"/>
                  </a:rPr>
                  <a:t> (</a:t>
                </a:r>
                <a:r>
                  <a:rPr lang="en-IN" sz="2400">
                    <a:solidFill>
                      <a:srgbClr val="111827"/>
                    </a:solidFill>
                    <a:latin typeface="Cambria Math" panose="02040503050406030204" pitchFamily="18" charset="0"/>
                  </a:rPr>
                  <a:t>$a=1,3$</a:t>
                </a:r>
                <a:r>
                  <a:rPr sz="2400" b="0">
                    <a:solidFill>
                      <a:srgbClr val="111827"/>
                    </a:solidFill>
                    <a:latin typeface="Arial"/>
                  </a:rPr>
                  <a:t>): 2 solutions; </a:t>
                </a:r>
                <a:r>
                  <a:rPr lang="en-IN" sz="2400">
                    <a:solidFill>
                      <a:srgbClr val="111827"/>
                    </a:solidFill>
                    <a:latin typeface="Cambria Math" panose="02040503050406030204" pitchFamily="18" charset="0"/>
                  </a:rPr>
                  <a:t>$k=7$</a:t>
                </a:r>
                <a:r>
                  <a:rPr sz="2400" b="0">
                    <a:solidFill>
                      <a:srgbClr val="111827"/>
                    </a:solidFill>
                    <a:latin typeface="Arial"/>
                  </a:rPr>
                  <a:t> and </a:t>
                </a:r>
                <a:r>
                  <a:rPr lang="en-IN" sz="2400">
                    <a:solidFill>
                      <a:srgbClr val="111827"/>
                    </a:solidFill>
                    <a:latin typeface="Cambria Math" panose="02040503050406030204" pitchFamily="18" charset="0"/>
                  </a:rPr>
                  <a:t>$k=4$</a:t>
                </a:r>
                <a:r>
                  <a:rPr sz="2400" b="0">
                    <a:solidFill>
                      <a:srgbClr val="111827"/>
                    </a:solidFill>
                    <a:latin typeface="Arial"/>
                  </a:rPr>
                  <a:t> give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$1+2+1+2=6$</a:t>
                </a:r>
                <a:r>
                  <a:rPr sz="2400" b="0">
                    <a:solidFill>
                      <a:srgbClr val="111827"/>
                    </a:solidFill>
                    <a:latin typeface="Arial"/>
                  </a:rPr>
                  <a:t>, the same count.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a:t>
            </a:r>
            <a:endParaRPr sz="2800">
              <a:solidFill>
                <a:srgbClr val="15803D"/>
              </a:solidFill>
            </a:endParaRP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Counting pairs with equal values: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α</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𝑓</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𝑔</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 subset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has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 possible elements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 first: in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the parity of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halving the search space.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range check: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 occur.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Counting pairs with equal values: </a:t>
                </a:r>
                <a:r>
                  <a:rPr lang="en-IN" sz="2400">
                    <a:solidFill>
                      <a:srgbClr val="111827"/>
                    </a:solidFill>
                    <a:latin typeface="Cambria Math" panose="02040503050406030204" pitchFamily="18" charset="0"/>
                  </a:rPr>
                  <a:t>$\#\{(u,v):f(u)=g(v)\}=\sum_\alpha N_f(\alpha)\,N_g(\alpha)$</a:t>
                </a:r>
                <a:r>
                  <a:rPr sz="2400" b="0">
                    <a:solidFill>
                      <a:srgbClr val="111827"/>
                    </a:solidFill>
                    <a:latin typeface="Arial"/>
                  </a:rPr>
                  <a:t>; here </a:t>
                </a:r>
                <a:r>
                  <a:rPr lang="en-IN" sz="2400">
                    <a:solidFill>
                      <a:srgbClr val="111827"/>
                    </a:solidFill>
                    <a:latin typeface="Cambria Math" panose="02040503050406030204" pitchFamily="18" charset="0"/>
                  </a:rPr>
                  <a:t>$1+1+2+1+1=6$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on </a:t>
                </a:r>
                <a:r>
                  <a:rPr lang="en-IN" sz="2400">
                    <a:solidFill>
                      <a:srgbClr val="111827"/>
                    </a:solidFill>
                    <a:latin typeface="Cambria Math" panose="02040503050406030204" pitchFamily="18" charset="0"/>
                  </a:rPr>
                  <a:t>$A\times A$</a:t>
                </a:r>
                <a:r>
                  <a:rPr sz="2400" b="0">
                    <a:solidFill>
                      <a:srgbClr val="111827"/>
                    </a:solidFill>
                    <a:latin typeface="Arial"/>
                  </a:rPr>
                  <a:t> is a subset of </a:t>
                </a:r>
                <a:r>
                  <a:rPr lang="en-IN" sz="2400">
                    <a:solidFill>
                      <a:srgbClr val="111827"/>
                    </a:solidFill>
                    <a:latin typeface="Cambria Math" panose="02040503050406030204" pitchFamily="18" charset="0"/>
                  </a:rPr>
                  <a:t>$(A\times A)\times(A\times A)$</a:t>
                </a:r>
                <a:r>
                  <a:rPr sz="2400" b="0">
                    <a:solidFill>
                      <a:srgbClr val="111827"/>
                    </a:solidFill>
                    <a:latin typeface="Arial"/>
                  </a:rPr>
                  <a:t>, so it has up to </a:t>
                </a:r>
                <a:r>
                  <a:rPr lang="en-IN" sz="2400">
                    <a:solidFill>
                      <a:srgbClr val="111827"/>
                    </a:solidFill>
                    <a:latin typeface="Cambria Math" panose="02040503050406030204" pitchFamily="18" charset="0"/>
                  </a:rPr>
                  <a:t>$|A|^4=256$</a:t>
                </a:r>
                <a:r>
                  <a:rPr sz="2400" b="0">
                    <a:solidFill>
                      <a:srgbClr val="111827"/>
                    </a:solidFill>
                    <a:latin typeface="Arial"/>
                  </a:rPr>
                  <a:t> possible elements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 first: in </a:t>
                </a:r>
                <a:r>
                  <a:rPr lang="en-IN" sz="2400">
                    <a:solidFill>
                      <a:srgbClr val="111827"/>
                    </a:solidFill>
                    <a:latin typeface="Cambria Math" panose="02040503050406030204" pitchFamily="18" charset="0"/>
                  </a:rPr>
                  <a:t>$2a+3b=4c+5d$</a:t>
                </a:r>
                <a:r>
                  <a:rPr sz="2400" b="0">
                    <a:solidFill>
                      <a:srgbClr val="111827"/>
                    </a:solidFill>
                    <a:latin typeface="Arial"/>
                  </a:rPr>
                  <a:t> the parity of </a:t>
                </a:r>
                <a:r>
                  <a:rPr lang="en-IN" sz="2400">
                    <a:solidFill>
                      <a:srgbClr val="111827"/>
                    </a:solidFill>
                    <a:latin typeface="Cambria Math" panose="02040503050406030204" pitchFamily="18" charset="0"/>
                  </a:rPr>
                  <a:t>$3b-5d$</a:t>
                </a:r>
                <a:r>
                  <a:rPr sz="2400" b="0">
                    <a:solidFill>
                      <a:srgbClr val="111827"/>
                    </a:solidFill>
                    <a:latin typeface="Arial"/>
                  </a:rPr>
                  <a:t> forces </a:t>
                </a:r>
                <a:r>
                  <a:rPr lang="en-IN" sz="2400">
                    <a:solidFill>
                      <a:srgbClr val="111827"/>
                    </a:solidFill>
                    <a:latin typeface="Cambria Math" panose="02040503050406030204" pitchFamily="18" charset="0"/>
                  </a:rPr>
                  <a:t>$b\equiv d \pmod 2$</a:t>
                </a:r>
                <a:r>
                  <a:rPr sz="2400" b="0">
                    <a:solidFill>
                      <a:srgbClr val="111827"/>
                    </a:solidFill>
                    <a:latin typeface="Arial"/>
                  </a:rPr>
                  <a:t>, halving the search space.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range check: </a:t>
                </a:r>
                <a:r>
                  <a:rPr lang="en-IN" sz="2400">
                    <a:solidFill>
                      <a:srgbClr val="111827"/>
                    </a:solidFill>
                    <a:latin typeface="Cambria Math" panose="02040503050406030204" pitchFamily="18" charset="0"/>
                  </a:rPr>
                  <a:t>$2a+3b\in[5,20]$</a:t>
                </a:r>
                <a:r>
                  <a:rPr sz="2400" b="0">
                    <a:solidFill>
                      <a:srgbClr val="111827"/>
                    </a:solidFill>
                    <a:latin typeface="Arial"/>
                  </a:rPr>
                  <a:t> and </a:t>
                </a:r>
                <a:r>
                  <a:rPr lang="en-IN" sz="2400">
                    <a:solidFill>
                      <a:srgbClr val="111827"/>
                    </a:solidFill>
                    <a:latin typeface="Cambria Math" panose="02040503050406030204" pitchFamily="18" charset="0"/>
                  </a:rPr>
                  <a:t>$4c+5d\in[9,36]$</a:t>
                </a:r>
                <a:r>
                  <a:rPr sz="2400" b="0">
                    <a:solidFill>
                      <a:srgbClr val="111827"/>
                    </a:solidFill>
                    <a:latin typeface="Arial"/>
                  </a:rPr>
                  <a:t>, so only </a:t>
                </a:r>
                <a:r>
                  <a:rPr lang="en-IN" sz="2400">
                    <a:solidFill>
                      <a:srgbClr val="111827"/>
                    </a:solidFill>
                    <a:latin typeface="Cambria Math" panose="02040503050406030204" pitchFamily="18" charset="0"/>
                  </a:rPr>
                  <a:t>$\alpha\in[9,20]$</a:t>
                </a:r>
                <a:r>
                  <a:rPr sz="2400" b="0">
                    <a:solidFill>
                      <a:srgbClr val="111827"/>
                    </a:solidFill>
                    <a:latin typeface="Arial"/>
                  </a:rPr>
                  <a:t> can occur.</a:t>
                </a:r>
                <a:endParaRPr sz="2400">
                  <a:solidFill>
                    <a:srgbClr val="111827"/>
                  </a:solidFill>
                </a:endParaRPr>
              </a:p>
            </p:txBody>
          </p:sp>
        </mc:Fallback>
      </mc:AlternateContent>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Q56 – Q60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Suppose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set of all the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then the relation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symmetric and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only</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$S=\{1,2,3,\ldots,10\}$</a:t>
                </a:r>
                <a:r>
                  <a:rPr sz="2400" b="0">
                    <a:solidFill>
                      <a:srgbClr val="111827"/>
                    </a:solidFill>
                    <a:latin typeface="Arial"/>
                  </a:rPr>
                  <a:t>. Suppose </a:t>
                </a:r>
                <a:r>
                  <a:rPr lang="en-IN" sz="2400">
                    <a:solidFill>
                      <a:srgbClr val="111827"/>
                    </a:solidFill>
                    <a:latin typeface="Cambria Math" panose="02040503050406030204" pitchFamily="18" charset="0"/>
                  </a:rPr>
                  <a:t>$M$</a:t>
                </a:r>
                <a:r>
                  <a:rPr sz="2400" b="0">
                    <a:solidFill>
                      <a:srgbClr val="111827"/>
                    </a:solidFill>
                    <a:latin typeface="Arial"/>
                  </a:rPr>
                  <a:t> is the set of all the subsets of </a:t>
                </a:r>
                <a:r>
                  <a:rPr lang="en-IN" sz="2400">
                    <a:solidFill>
                      <a:srgbClr val="111827"/>
                    </a:solidFill>
                    <a:latin typeface="Cambria Math" panose="02040503050406030204" pitchFamily="18" charset="0"/>
                  </a:rPr>
                  <a:t>$S$</a:t>
                </a:r>
                <a:r>
                  <a:rPr sz="2400" b="0">
                    <a:solidFill>
                      <a:srgbClr val="111827"/>
                    </a:solidFill>
                    <a:latin typeface="Arial"/>
                  </a:rPr>
                  <a:t>, then the relation </a:t>
                </a:r>
                <a:r>
                  <a:rPr lang="en-IN" sz="2400">
                    <a:solidFill>
                      <a:srgbClr val="111827"/>
                    </a:solidFill>
                    <a:latin typeface="Cambria Math" panose="02040503050406030204" pitchFamily="18" charset="0"/>
                  </a:rPr>
                  <a:t>$R=\{(A,B):A\cap B\neq\phi;\ A,B\in M\}$</a:t>
                </a:r>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symmetric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symmetric and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only</a:t>
                </a:r>
                <a:endParaRPr sz="2400">
                  <a:solidFill>
                    <a:srgbClr val="111827"/>
                  </a:solidFill>
                </a:endParaRPr>
              </a:p>
            </p:txBody>
          </p:sp>
        </mc:Fallback>
      </mc:AlternateContent>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Reflexive, symmetric and transitive relations on a power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empty set </a:t>
                </a:r>
                <a14:m>
                  <m:oMath xmlns:m="http://schemas.openxmlformats.org/officeDocument/2006/math">
                    <m:r>
                      <a:rPr lang="en-IN" sz="2400" i="1">
                        <a:solidFill>
                          <a:srgbClr val="78350F"/>
                        </a:solidFill>
                        <a:latin typeface="Cambria Math" panose="02040503050406030204" pitchFamily="18" charset="0"/>
                      </a:rPr>
                      <m:t>ϕ</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𝑀</m:t>
                    </m:r>
                  </m:oMath>
                </a14:m>
                <a:r>
                  <a:rPr sz="2400" b="0">
                    <a:solidFill>
                      <a:srgbClr val="78350F"/>
                    </a:solidFill>
                    <a:latin typeface="Arial"/>
                  </a:rPr>
                  <a:t> is not related to itself, which kills reflexivity; sharing an element is symmetric but not transitive.</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empty set </a:t>
                </a:r>
                <a:r>
                  <a:rPr lang="en-IN" sz="2400">
                    <a:solidFill>
                      <a:srgbClr val="78350F"/>
                    </a:solidFill>
                    <a:latin typeface="Cambria Math" panose="02040503050406030204" pitchFamily="18" charset="0"/>
                  </a:rPr>
                  <a:t>$\phi\in M$</a:t>
                </a:r>
                <a:r>
                  <a:rPr sz="2400" b="0">
                    <a:solidFill>
                      <a:srgbClr val="78350F"/>
                    </a:solidFill>
                    <a:latin typeface="Arial"/>
                  </a:rPr>
                  <a:t> is not related to itself, which kills reflexivity; sharing an element is symmetric but not transitive.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set of all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$R=\{(A,B):A\cap B\neq\phi;\ A,B\in M\}$</a:t>
                </a:r>
                <a:r>
                  <a:rPr sz="2400" b="0">
                    <a:solidFill>
                      <a:srgbClr val="111827"/>
                    </a:solidFill>
                    <a:latin typeface="Arial"/>
                  </a:rPr>
                  <a:t>, where </a:t>
                </a:r>
                <a:r>
                  <a:rPr lang="en-IN" sz="2400">
                    <a:solidFill>
                      <a:srgbClr val="111827"/>
                    </a:solidFill>
                    <a:latin typeface="Cambria Math" panose="02040503050406030204" pitchFamily="18" charset="0"/>
                  </a:rPr>
                  <a:t>$M$</a:t>
                </a:r>
                <a:r>
                  <a:rPr sz="2400" b="0">
                    <a:solidFill>
                      <a:srgbClr val="111827"/>
                    </a:solidFill>
                    <a:latin typeface="Arial"/>
                  </a:rPr>
                  <a:t> is the set of all subsets of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consists of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$M$</a:t>
                </a:r>
                <a:r>
                  <a:rPr sz="2400" b="0">
                    <a:solidFill>
                      <a:srgbClr val="111827"/>
                    </a:solidFill>
                    <a:latin typeface="Arial"/>
                  </a:rPr>
                  <a:t> consists of subsets of </a:t>
                </a:r>
                <a:r>
                  <a:rPr lang="en-IN" sz="2400">
                    <a:solidFill>
                      <a:srgbClr val="111827"/>
                    </a:solidFill>
                    <a:latin typeface="Cambria Math" panose="02040503050406030204" pitchFamily="18" charset="0"/>
                  </a:rPr>
                  <a:t>$S$</a:t>
                </a:r>
                <a:r>
                  <a:rPr sz="2400" b="0">
                    <a:solidFill>
                      <a:srgbClr val="111827"/>
                    </a:solidFill>
                    <a:latin typeface="Arial"/>
                  </a:rPr>
                  <a:t>, so </a:t>
                </a:r>
                <a:r>
                  <a:rPr lang="en-IN" sz="2400">
                    <a:solidFill>
                      <a:srgbClr val="111827"/>
                    </a:solidFill>
                    <a:latin typeface="Cambria Math" panose="02040503050406030204" pitchFamily="18" charset="0"/>
                  </a:rPr>
                  <a:t>$\phi\in M$</a:t>
                </a:r>
                <a:r>
                  <a:rPr sz="2400" b="0">
                    <a:solidFill>
                      <a:srgbClr val="111827"/>
                    </a:solidFill>
                    <a:latin typeface="Arial"/>
                  </a:rPr>
                  <a:t>. For </a:t>
                </a:r>
                <a:r>
                  <a:rPr lang="en-IN" sz="2400">
                    <a:solidFill>
                      <a:srgbClr val="111827"/>
                    </a:solidFill>
                    <a:latin typeface="Cambria Math" panose="02040503050406030204" pitchFamily="18" charset="0"/>
                  </a:rPr>
                  <a:t>$A=\phi$</a:t>
                </a:r>
                <a:r>
                  <a:rPr sz="2400" b="0">
                    <a:solidFill>
                      <a:srgbClr val="111827"/>
                    </a:solidFill>
                    <a:latin typeface="Arial"/>
                  </a:rPr>
                  <a:t> we get </a:t>
                </a:r>
                <a:r>
                  <a:rPr lang="en-IN" sz="2400">
                    <a:solidFill>
                      <a:srgbClr val="111827"/>
                    </a:solidFill>
                    <a:latin typeface="Cambria Math" panose="02040503050406030204" pitchFamily="18" charset="0"/>
                  </a:rPr>
                  <a:t>$\phi\cap\phi=\phi$</a:t>
                </a:r>
                <a:r>
                  <a:rPr sz="2400" b="0">
                    <a:solidFill>
                      <a:srgbClr val="111827"/>
                    </a:solidFill>
                    <a:latin typeface="Arial"/>
                  </a:rPr>
                  <a:t>, but </a:t>
                </a:r>
                <a:r>
                  <a:rPr lang="en-IN" sz="2400">
                    <a:solidFill>
                      <a:srgbClr val="111827"/>
                    </a:solidFill>
                    <a:latin typeface="Cambria Math" panose="02040503050406030204" pitchFamily="18" charset="0"/>
                  </a:rPr>
                  <a:t>$R$</a:t>
                </a:r>
                <a:r>
                  <a:rPr sz="2400" b="0">
                    <a:solidFill>
                      <a:srgbClr val="111827"/>
                    </a:solidFill>
                    <a:latin typeface="Arial"/>
                  </a:rPr>
                  <a:t> needs </a:t>
                </a:r>
                <a:r>
                  <a:rPr lang="en-IN" sz="2400">
                    <a:solidFill>
                      <a:srgbClr val="111827"/>
                    </a:solidFill>
                    <a:latin typeface="Cambria Math" panose="02040503050406030204" pitchFamily="18" charset="0"/>
                  </a:rPr>
                  <a:t>$A\cap B\neq\phi$</a:t>
                </a:r>
                <a:r>
                  <a:rPr sz="2400" b="0">
                    <a:solidFill>
                      <a:srgbClr val="111827"/>
                    </a:solidFill>
                    <a:latin typeface="Arial"/>
                  </a:rPr>
                  <a:t>. So </a:t>
                </a:r>
                <a:r>
                  <a:rPr lang="en-IN" sz="2400">
                    <a:solidFill>
                      <a:srgbClr val="111827"/>
                    </a:solidFill>
                    <a:latin typeface="Cambria Math" panose="02040503050406030204" pitchFamily="18" charset="0"/>
                  </a:rPr>
                  <a:t>$(\phi,\phi)\notin 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$ARB$</a:t>
                </a:r>
                <a:r>
                  <a:rPr sz="2400" b="0">
                    <a:solidFill>
                      <a:srgbClr val="111827"/>
                    </a:solidFill>
                    <a:latin typeface="Arial"/>
                  </a:rPr>
                  <a:t> then </a:t>
                </a:r>
                <a:r>
                  <a:rPr lang="en-IN" sz="2400">
                    <a:solidFill>
                      <a:srgbClr val="111827"/>
                    </a:solidFill>
                    <a:latin typeface="Cambria Math" panose="02040503050406030204" pitchFamily="18" charset="0"/>
                  </a:rPr>
                  <a:t>$A\cap B\neq\phi$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$B\cap A=A\cap B\neq\phi$</a:t>
                </a:r>
                <a:r>
                  <a:rPr sz="2400" b="0">
                    <a:solidFill>
                      <a:srgbClr val="111827"/>
                    </a:solidFill>
                    <a:latin typeface="Arial"/>
                  </a:rPr>
                  <a:t>, we get </a:t>
                </a:r>
                <a:r>
                  <a:rPr lang="en-IN" sz="2400">
                    <a:solidFill>
                      <a:srgbClr val="111827"/>
                    </a:solidFill>
                    <a:latin typeface="Cambria Math" panose="02040503050406030204" pitchFamily="18" charset="0"/>
                  </a:rPr>
                  <a:t>$BRA$</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p:txBody>
          </p:sp>
        </mc:Fallback>
      </mc:AlternateContent>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 PDF used sets of ordered pairs, which are not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𝐶</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not related to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only,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r>
                  <a:rPr lang="en-IN" sz="2400">
                    <a:solidFill>
                      <a:srgbClr val="111827"/>
                    </a:solidFill>
                    <a:latin typeface="Cambria Math" panose="02040503050406030204" pitchFamily="18" charset="0"/>
                  </a:rPr>
                  <a:t>$A=\{1,2\}$</a:t>
                </a:r>
                <a:r>
                  <a:rPr sz="2400" b="0">
                    <a:solidFill>
                      <a:srgbClr val="111827"/>
                    </a:solidFill>
                    <a:latin typeface="Arial"/>
                  </a:rPr>
                  <a:t>, </a:t>
                </a:r>
                <a:r>
                  <a:rPr lang="en-IN" sz="2400">
                    <a:solidFill>
                      <a:srgbClr val="111827"/>
                    </a:solidFill>
                    <a:latin typeface="Cambria Math" panose="02040503050406030204" pitchFamily="18" charset="0"/>
                  </a:rPr>
                  <a:t>$B=\{2,3\}$</a:t>
                </a:r>
                <a:r>
                  <a:rPr sz="2400" b="0">
                    <a:solidFill>
                      <a:srgbClr val="111827"/>
                    </a:solidFill>
                    <a:latin typeface="Arial"/>
                  </a:rPr>
                  <a:t>, </a:t>
                </a:r>
                <a:r>
                  <a:rPr lang="en-IN" sz="2400">
                    <a:solidFill>
                      <a:srgbClr val="111827"/>
                    </a:solidFill>
                    <a:latin typeface="Cambria Math" panose="02040503050406030204" pitchFamily="18" charset="0"/>
                  </a:rPr>
                  <a:t>$C=\{3,4\}$</a:t>
                </a:r>
                <a:r>
                  <a:rPr sz="2400" b="0">
                    <a:solidFill>
                      <a:srgbClr val="111827"/>
                    </a:solidFill>
                    <a:latin typeface="Arial"/>
                  </a:rPr>
                  <a:t>, all subsets of </a:t>
                </a:r>
                <a:r>
                  <a:rPr lang="en-IN" sz="2400">
                    <a:solidFill>
                      <a:srgbClr val="111827"/>
                    </a:solidFill>
                    <a:latin typeface="Cambria Math" panose="02040503050406030204" pitchFamily="18" charset="0"/>
                  </a:rPr>
                  <a:t>$S$</a:t>
                </a:r>
                <a:r>
                  <a:rPr sz="2400" b="0">
                    <a:solidFill>
                      <a:srgbClr val="111827"/>
                    </a:solidFill>
                    <a:latin typeface="Arial"/>
                  </a:rPr>
                  <a:t> (the PDF used sets of ordered pairs, which are not subsets of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B=\{2\}\neq\phi$</a:t>
                </a:r>
                <a:r>
                  <a:rPr sz="2400" b="0">
                    <a:solidFill>
                      <a:srgbClr val="111827"/>
                    </a:solidFill>
                    <a:latin typeface="Arial"/>
                  </a:rPr>
                  <a:t> and </a:t>
                </a:r>
                <a:r>
                  <a:rPr lang="en-IN" sz="2400">
                    <a:solidFill>
                      <a:srgbClr val="111827"/>
                    </a:solidFill>
                    <a:latin typeface="Cambria Math" panose="02040503050406030204" pitchFamily="18" charset="0"/>
                  </a:rPr>
                  <a:t>$B\cap C=\{3\}\neq\phi$</a:t>
                </a:r>
                <a:r>
                  <a:rPr sz="2400" b="0">
                    <a:solidFill>
                      <a:srgbClr val="111827"/>
                    </a:solidFill>
                    <a:latin typeface="Arial"/>
                  </a:rPr>
                  <a:t>, so </a:t>
                </a:r>
                <a:r>
                  <a:rPr lang="en-IN" sz="2400">
                    <a:solidFill>
                      <a:srgbClr val="111827"/>
                    </a:solidFill>
                    <a:latin typeface="Cambria Math" panose="02040503050406030204" pitchFamily="18" charset="0"/>
                  </a:rPr>
                  <a:t>$ARB$</a:t>
                </a:r>
                <a:r>
                  <a:rPr sz="2400" b="0">
                    <a:solidFill>
                      <a:srgbClr val="111827"/>
                    </a:solidFill>
                    <a:latin typeface="Arial"/>
                  </a:rPr>
                  <a:t> and </a:t>
                </a:r>
                <a:r>
                  <a:rPr lang="en-IN" sz="2400">
                    <a:solidFill>
                      <a:srgbClr val="111827"/>
                    </a:solidFill>
                    <a:latin typeface="Cambria Math" panose="02040503050406030204" pitchFamily="18" charset="0"/>
                  </a:rPr>
                  <a:t>$BRC$</a:t>
                </a:r>
                <a:r>
                  <a:rPr sz="2400" b="0">
                    <a:solidFill>
                      <a:srgbClr val="111827"/>
                    </a:solidFill>
                    <a:latin typeface="Arial"/>
                  </a:rPr>
                  <a:t>, but </a:t>
                </a:r>
                <a:r>
                  <a:rPr lang="en-IN" sz="2400">
                    <a:solidFill>
                      <a:srgbClr val="111827"/>
                    </a:solidFill>
                    <a:latin typeface="Cambria Math" panose="02040503050406030204" pitchFamily="18" charset="0"/>
                  </a:rPr>
                  <a:t>$A\cap C=\phi$</a:t>
                </a:r>
                <a:r>
                  <a:rPr sz="2400" b="0">
                    <a:solidFill>
                      <a:srgbClr val="111827"/>
                    </a:solidFill>
                    <a:latin typeface="Arial"/>
                  </a:rPr>
                  <a:t>, so </a:t>
                </a:r>
                <a:r>
                  <a:rPr lang="en-IN" sz="2400">
                    <a:solidFill>
                      <a:srgbClr val="111827"/>
                    </a:solidFill>
                    <a:latin typeface="Cambria Math" panose="02040503050406030204" pitchFamily="18" charset="0"/>
                  </a:rPr>
                  <a:t>$A$</a:t>
                </a:r>
                <a:r>
                  <a:rPr sz="2400" b="0">
                    <a:solidFill>
                      <a:srgbClr val="111827"/>
                    </a:solidFill>
                    <a:latin typeface="Arial"/>
                  </a:rPr>
                  <a:t> is not related to </a:t>
                </a:r>
                <a:r>
                  <a:rPr lang="en-IN" sz="2400">
                    <a:solidFill>
                      <a:srgbClr val="111827"/>
                    </a:solidFill>
                    <a:latin typeface="Cambria Math" panose="02040503050406030204" pitchFamily="18" charset="0"/>
                  </a:rPr>
                  <a:t>$C$</a:t>
                </a:r>
                <a:r>
                  <a:rPr sz="2400" b="0">
                    <a:solidFill>
                      <a:srgbClr val="111827"/>
                    </a:solidFill>
                    <a:latin typeface="Arial"/>
                  </a:rPr>
                  <a:t>.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symmetric only,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symmetric only</a:t>
            </a:r>
            <a:endParaRPr sz="2800">
              <a:solidFill>
                <a:srgbClr val="15803D"/>
              </a:solidFill>
            </a:endParaRP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the power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is symmetric always; reflexive on non-empty sets only (fails exactly at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transitive fails whenever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test every property on the 'special' element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identity) - it is where reflexivity usually breaks.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refute transitivity, find a chain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unrelated; for 'overlap' relations take three sets overlapping consecutively but not end to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is symmetric and transitive but not reflexive must have an element related to nothing (here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the power set, </a:t>
                </a:r>
                <a:r>
                  <a:rPr lang="en-IN" sz="2400">
                    <a:solidFill>
                      <a:srgbClr val="111827"/>
                    </a:solidFill>
                    <a:latin typeface="Cambria Math" panose="02040503050406030204" pitchFamily="18" charset="0"/>
                  </a:rPr>
                  <a:t>$A\cap B\neq\phi$</a:t>
                </a:r>
                <a:r>
                  <a:rPr sz="2400" b="0">
                    <a:solidFill>
                      <a:srgbClr val="111827"/>
                    </a:solidFill>
                    <a:latin typeface="Arial"/>
                  </a:rPr>
                  <a:t> is symmetric always; reflexive on non-empty sets only (fails exactly at </a:t>
                </a:r>
                <a:r>
                  <a:rPr lang="en-IN" sz="2400">
                    <a:solidFill>
                      <a:srgbClr val="111827"/>
                    </a:solidFill>
                    <a:latin typeface="Cambria Math" panose="02040503050406030204" pitchFamily="18" charset="0"/>
                  </a:rPr>
                  <a:t>$\phi$</a:t>
                </a:r>
                <a:r>
                  <a:rPr sz="2400" b="0">
                    <a:solidFill>
                      <a:srgbClr val="111827"/>
                    </a:solidFill>
                    <a:latin typeface="Arial"/>
                  </a:rPr>
                  <a:t>); transitive fails whenever </a:t>
                </a:r>
                <a:r>
                  <a:rPr lang="en-IN" sz="2400">
                    <a:solidFill>
                      <a:srgbClr val="111827"/>
                    </a:solidFill>
                    <a:latin typeface="Cambria Math" panose="02040503050406030204" pitchFamily="18" charset="0"/>
                  </a:rPr>
                  <a:t>$|S|\ge2$</a:t>
                </a:r>
                <a:r>
                  <a:rPr sz="2400" b="0">
                    <a:solidFill>
                      <a:srgbClr val="111827"/>
                    </a:solidFill>
                    <a:latin typeface="Arial"/>
                  </a:rPr>
                  <a:t> (e.g. </a:t>
                </a:r>
                <a:r>
                  <a:rPr lang="en-IN" sz="2400">
                    <a:solidFill>
                      <a:srgbClr val="111827"/>
                    </a:solidFill>
                    <a:latin typeface="Cambria Math" panose="02040503050406030204" pitchFamily="18" charset="0"/>
                  </a:rPr>
                  <a:t>$\{1\},\{1,2\},\{2\}$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test every property on the 'special' element (</a:t>
                </a:r>
                <a:r>
                  <a:rPr lang="en-IN" sz="2400">
                    <a:solidFill>
                      <a:srgbClr val="111827"/>
                    </a:solidFill>
                    <a:latin typeface="Cambria Math" panose="02040503050406030204" pitchFamily="18" charset="0"/>
                  </a:rPr>
                  <a:t>$\phi$</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 the identity) - it is where reflexivity usually breaks.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refute transitivity, find a chain </a:t>
                </a:r>
                <a:r>
                  <a:rPr lang="en-IN" sz="2400">
                    <a:solidFill>
                      <a:srgbClr val="111827"/>
                    </a:solidFill>
                    <a:latin typeface="Cambria Math" panose="02040503050406030204" pitchFamily="18" charset="0"/>
                  </a:rPr>
                  <a:t>$A\to B\to C$</a:t>
                </a:r>
                <a:r>
                  <a:rPr sz="2400" b="0">
                    <a:solidFill>
                      <a:srgbClr val="111827"/>
                    </a:solidFill>
                    <a:latin typeface="Arial"/>
                  </a:rPr>
                  <a:t> with </a:t>
                </a:r>
                <a:r>
                  <a:rPr lang="en-IN" sz="2400">
                    <a:solidFill>
                      <a:srgbClr val="111827"/>
                    </a:solidFill>
                    <a:latin typeface="Cambria Math" panose="02040503050406030204" pitchFamily="18" charset="0"/>
                  </a:rPr>
                  <a:t>$A,C$</a:t>
                </a:r>
                <a:r>
                  <a:rPr sz="2400" b="0">
                    <a:solidFill>
                      <a:srgbClr val="111827"/>
                    </a:solidFill>
                    <a:latin typeface="Arial"/>
                  </a:rPr>
                  <a:t> unrelated; for 'overlap' relations take three sets overlapping consecutively but not end to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that is symmetric and transitive but not reflexive must have an element related to nothing (here </a:t>
                </a:r>
                <a:r>
                  <a:rPr lang="en-IN" sz="2400">
                    <a:solidFill>
                      <a:srgbClr val="111827"/>
                    </a:solidFill>
                    <a:latin typeface="Cambria Math" panose="02040503050406030204" pitchFamily="18" charset="0"/>
                  </a:rPr>
                  <a:t>$\phi$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two finite sets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elements respectively. The total number of subsets of the set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 more than the total number of subsets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Then the distance of the point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the point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two finite sets with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elements respectively. The total number of subsets of the set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$56$</a:t>
                </a:r>
                <a:r>
                  <a:rPr sz="2400" b="0">
                    <a:solidFill>
                      <a:srgbClr val="111827"/>
                    </a:solidFill>
                    <a:latin typeface="Arial"/>
                  </a:rPr>
                  <a:t> more than the total number of subsets of </a:t>
                </a:r>
                <a:r>
                  <a:rPr lang="en-IN" sz="2400">
                    <a:solidFill>
                      <a:srgbClr val="111827"/>
                    </a:solidFill>
                    <a:latin typeface="Cambria Math" panose="02040503050406030204" pitchFamily="18" charset="0"/>
                  </a:rPr>
                  <a:t>$B$</a:t>
                </a:r>
                <a:r>
                  <a:rPr sz="2400" b="0">
                    <a:solidFill>
                      <a:srgbClr val="111827"/>
                    </a:solidFill>
                    <a:latin typeface="Arial"/>
                  </a:rPr>
                  <a:t>. Then the distance of the point </a:t>
                </a:r>
                <a:r>
                  <a:rPr lang="en-IN" sz="2400">
                    <a:solidFill>
                      <a:srgbClr val="111827"/>
                    </a:solidFill>
                    <a:latin typeface="Cambria Math" panose="02040503050406030204" pitchFamily="18" charset="0"/>
                  </a:rPr>
                  <a:t>$P(m,n)$</a:t>
                </a:r>
                <a:r>
                  <a:rPr sz="2400" b="0">
                    <a:solidFill>
                      <a:srgbClr val="111827"/>
                    </a:solidFill>
                    <a:latin typeface="Arial"/>
                  </a:rPr>
                  <a:t> from the point </a:t>
                </a:r>
                <a:r>
                  <a:rPr lang="en-IN" sz="2400">
                    <a:solidFill>
                      <a:srgbClr val="111827"/>
                    </a:solidFill>
                    <a:latin typeface="Cambria Math" panose="02040503050406030204" pitchFamily="18" charset="0"/>
                  </a:rPr>
                  <a:t>$Q(-2,-3)$</a:t>
                </a:r>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(B) </a:t>
                </a:r>
                <a:r>
                  <a:rPr lang="en-IN" sz="2400">
                    <a:solidFill>
                      <a:srgbClr val="111827"/>
                    </a:solidFill>
                    <a:latin typeface="Cambria Math" panose="02040503050406030204" pitchFamily="18" charset="0"/>
                  </a:rPr>
                  <a:t>$4$</a:t>
                </a:r>
                <a:r>
                  <a:rPr sz="2400" b="0">
                    <a:solidFill>
                      <a:srgbClr val="111827"/>
                    </a:solidFill>
                    <a:latin typeface="Arial"/>
                  </a:rPr>
                  <a:t>   (C) </a:t>
                </a:r>
                <a:r>
                  <a:rPr lang="en-IN" sz="2400">
                    <a:solidFill>
                      <a:srgbClr val="111827"/>
                    </a:solidFill>
                    <a:latin typeface="Cambria Math" panose="02040503050406030204" pitchFamily="18" charset="0"/>
                  </a:rPr>
                  <a:t>$8$</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subsets of a finite set, Distance between two points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Subset counts are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𝑚</m:t>
                        </m:r>
                      </m:sup>
                    </m:sSup>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so the condition is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𝑚</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Subset counts are </a:t>
                </a:r>
                <a:r>
                  <a:rPr lang="en-IN" sz="2400">
                    <a:solidFill>
                      <a:srgbClr val="78350F"/>
                    </a:solidFill>
                    <a:latin typeface="Cambria Math" panose="02040503050406030204" pitchFamily="18" charset="0"/>
                  </a:rPr>
                  <a:t>$2^m$</a:t>
                </a:r>
                <a:r>
                  <a:rPr sz="2400" b="0">
                    <a:solidFill>
                      <a:srgbClr val="78350F"/>
                    </a:solidFill>
                    <a:latin typeface="Arial"/>
                  </a:rPr>
                  <a:t> and </a:t>
                </a:r>
                <a:r>
                  <a:rPr lang="en-IN" sz="2400">
                    <a:solidFill>
                      <a:srgbClr val="78350F"/>
                    </a:solidFill>
                    <a:latin typeface="Cambria Math" panose="02040503050406030204" pitchFamily="18" charset="0"/>
                  </a:rPr>
                  <a:t>$2^n$</a:t>
                </a:r>
                <a:r>
                  <a:rPr sz="2400" b="0">
                    <a:solidFill>
                      <a:srgbClr val="78350F"/>
                    </a:solidFill>
                    <a:latin typeface="Arial"/>
                  </a:rPr>
                  <a:t>, so the condition is </a:t>
                </a:r>
                <a:r>
                  <a:rPr lang="en-IN" sz="2400">
                    <a:solidFill>
                      <a:srgbClr val="78350F"/>
                    </a:solidFill>
                    <a:latin typeface="Cambria Math" panose="02040503050406030204" pitchFamily="18" charset="0"/>
                  </a:rPr>
                  <a:t>$2^m-2^n=56=64-8$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set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subsets, 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subsets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(uniqueness is shown in the alternate method).</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set with </a:t>
                </a:r>
                <a:r>
                  <a:rPr lang="en-IN" sz="2400">
                    <a:solidFill>
                      <a:srgbClr val="111827"/>
                    </a:solidFill>
                    <a:latin typeface="Cambria Math" panose="02040503050406030204" pitchFamily="18" charset="0"/>
                  </a:rPr>
                  <a:t>$k$</a:t>
                </a:r>
                <a:r>
                  <a:rPr sz="2400" b="0">
                    <a:solidFill>
                      <a:srgbClr val="111827"/>
                    </a:solidFill>
                    <a:latin typeface="Arial"/>
                  </a:rPr>
                  <a:t> elements has </a:t>
                </a:r>
                <a:r>
                  <a:rPr lang="en-IN" sz="2400">
                    <a:solidFill>
                      <a:srgbClr val="111827"/>
                    </a:solidFill>
                    <a:latin typeface="Cambria Math" panose="02040503050406030204" pitchFamily="18" charset="0"/>
                  </a:rPr>
                  <a:t>$2^k$</a:t>
                </a:r>
                <a:r>
                  <a:rPr sz="2400" b="0">
                    <a:solidFill>
                      <a:srgbClr val="111827"/>
                    </a:solidFill>
                    <a:latin typeface="Arial"/>
                  </a:rPr>
                  <a:t> subsets, so </a:t>
                </a:r>
                <a:r>
                  <a:rPr lang="en-IN" sz="2400">
                    <a:solidFill>
                      <a:srgbClr val="111827"/>
                    </a:solidFill>
                    <a:latin typeface="Cambria Math" panose="02040503050406030204" pitchFamily="18" charset="0"/>
                  </a:rPr>
                  <a:t>$A$</a:t>
                </a:r>
                <a:r>
                  <a:rPr sz="2400" b="0">
                    <a:solidFill>
                      <a:srgbClr val="111827"/>
                    </a:solidFill>
                    <a:latin typeface="Arial"/>
                  </a:rPr>
                  <a:t> has </a:t>
                </a:r>
                <a:r>
                  <a:rPr lang="en-IN" sz="2400">
                    <a:solidFill>
                      <a:srgbClr val="111827"/>
                    </a:solidFill>
                    <a:latin typeface="Cambria Math" panose="02040503050406030204" pitchFamily="18" charset="0"/>
                  </a:rPr>
                  <a:t>$2^m$</a:t>
                </a:r>
                <a:r>
                  <a:rPr sz="2400" b="0">
                    <a:solidFill>
                      <a:srgbClr val="111827"/>
                    </a:solidFill>
                    <a:latin typeface="Arial"/>
                  </a:rPr>
                  <a:t> subsets and </a:t>
                </a:r>
                <a:r>
                  <a:rPr lang="en-IN" sz="2400">
                    <a:solidFill>
                      <a:srgbClr val="111827"/>
                    </a:solidFill>
                    <a:latin typeface="Cambria Math" panose="02040503050406030204" pitchFamily="18" charset="0"/>
                  </a:rPr>
                  <a:t>$B$</a:t>
                </a:r>
                <a:r>
                  <a:rPr sz="2400" b="0">
                    <a:solidFill>
                      <a:srgbClr val="111827"/>
                    </a:solidFill>
                    <a:latin typeface="Arial"/>
                  </a:rPr>
                  <a:t> has </a:t>
                </a:r>
                <a:r>
                  <a:rPr lang="en-IN" sz="2400">
                    <a:solidFill>
                      <a:srgbClr val="111827"/>
                    </a:solidFill>
                    <a:latin typeface="Cambria Math" panose="02040503050406030204" pitchFamily="18" charset="0"/>
                  </a:rPr>
                  <a:t>$2^n$</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$2^m-2^n=56$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$56=64-8=2^6-2^3$</a:t>
                </a:r>
                <a:r>
                  <a:rPr sz="2400" b="0">
                    <a:solidFill>
                      <a:srgbClr val="111827"/>
                    </a:solidFill>
                    <a:latin typeface="Arial"/>
                  </a:rPr>
                  <a:t>, we get </a:t>
                </a:r>
                <a:r>
                  <a:rPr lang="en-IN" sz="2400">
                    <a:solidFill>
                      <a:srgbClr val="111827"/>
                    </a:solidFill>
                    <a:latin typeface="Cambria Math" panose="02040503050406030204" pitchFamily="18" charset="0"/>
                  </a:rPr>
                  <a:t>$m=6$</a:t>
                </a:r>
                <a:r>
                  <a:rPr sz="2400" b="0">
                    <a:solidFill>
                      <a:srgbClr val="111827"/>
                    </a:solidFill>
                    <a:latin typeface="Arial"/>
                  </a:rPr>
                  <a:t> and </a:t>
                </a:r>
                <a:r>
                  <a:rPr lang="en-IN" sz="2400">
                    <a:solidFill>
                      <a:srgbClr val="111827"/>
                    </a:solidFill>
                    <a:latin typeface="Cambria Math" panose="02040503050406030204" pitchFamily="18" charset="0"/>
                  </a:rPr>
                  <a:t>$n=3$</a:t>
                </a:r>
                <a:r>
                  <a:rPr sz="2400" b="0">
                    <a:solidFill>
                      <a:srgbClr val="111827"/>
                    </a:solidFill>
                    <a:latin typeface="Arial"/>
                  </a:rPr>
                  <a:t> (uniqueness is shown in the alternate method).</a:t>
                </a:r>
                <a:endParaRPr sz="2400">
                  <a:solidFill>
                    <a:srgbClr val="111827"/>
                  </a:solidFill>
                </a:endParaRPr>
              </a:p>
            </p:txBody>
          </p:sp>
        </mc:Fallback>
      </mc:AlternateContent>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$P=(6,3)$</a:t>
                </a:r>
                <a:r>
                  <a:rPr sz="2400" b="0">
                    <a:solidFill>
                      <a:srgbClr val="111827"/>
                    </a:solidFill>
                    <a:latin typeface="Arial"/>
                  </a:rPr>
                  <a:t> and </a:t>
                </a:r>
                <a:r>
                  <a:rPr lang="en-IN" sz="2400">
                    <a:solidFill>
                      <a:srgbClr val="111827"/>
                    </a:solidFill>
                    <a:latin typeface="Cambria Math" panose="02040503050406030204" pitchFamily="18" charset="0"/>
                  </a:rPr>
                  <a:t>$Q=(-2,-3)$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$PQ=\sqrt{(6+2)^2+(3+3)^2}=\sqrt{64+36}=\sqrt{100}=10$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10</a:t>
            </a:r>
            <a:endParaRPr sz="2800">
              <a:solidFill>
                <a:srgbClr val="15803D"/>
              </a:solidFill>
            </a:endParaRP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𝑚</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bracket is odd, so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is exactly the power of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56</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a:t>
                </a:r>
                <a:r>
                  <a:rPr lang="en-IN" sz="2400">
                    <a:solidFill>
                      <a:srgbClr val="78350F"/>
                    </a:solidFill>
                    <a:latin typeface="Cambria Math" panose="02040503050406030204" pitchFamily="18" charset="0"/>
                  </a:rPr>
                  <a:t>$2^m-2^n=2^n(2^{m-n}-1)$</a:t>
                </a:r>
                <a:r>
                  <a:rPr sz="2400" b="0">
                    <a:solidFill>
                      <a:srgbClr val="78350F"/>
                    </a:solidFill>
                    <a:latin typeface="Arial"/>
                  </a:rPr>
                  <a:t>: the bracket is odd, so </a:t>
                </a:r>
                <a:r>
                  <a:rPr lang="en-IN" sz="2400">
                    <a:solidFill>
                      <a:srgbClr val="78350F"/>
                    </a:solidFill>
                    <a:latin typeface="Cambria Math" panose="02040503050406030204" pitchFamily="18" charset="0"/>
                  </a:rPr>
                  <a:t>$2^n$</a:t>
                </a:r>
                <a:r>
                  <a:rPr sz="2400" b="0">
                    <a:solidFill>
                      <a:srgbClr val="78350F"/>
                    </a:solidFill>
                    <a:latin typeface="Arial"/>
                  </a:rPr>
                  <a:t> is exactly the power of </a:t>
                </a:r>
                <a:r>
                  <a:rPr lang="en-IN" sz="2400">
                    <a:solidFill>
                      <a:srgbClr val="78350F"/>
                    </a:solidFill>
                    <a:latin typeface="Cambria Math" panose="02040503050406030204" pitchFamily="18" charset="0"/>
                  </a:rPr>
                  <a:t>$2$</a:t>
                </a:r>
                <a:r>
                  <a:rPr sz="2400" b="0">
                    <a:solidFill>
                      <a:srgbClr val="78350F"/>
                    </a:solidFill>
                    <a:latin typeface="Arial"/>
                  </a:rPr>
                  <a:t> in </a:t>
                </a:r>
                <a:r>
                  <a:rPr lang="en-IN" sz="2400">
                    <a:solidFill>
                      <a:srgbClr val="78350F"/>
                    </a:solidFill>
                    <a:latin typeface="Cambria Math" panose="02040503050406030204" pitchFamily="18" charset="0"/>
                  </a:rPr>
                  <a:t>$56$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odd (as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the highest power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dividing </a:t>
                </a:r>
                <a14:m>
                  <m:oMath xmlns:m="http://schemas.openxmlformats.org/officeDocument/2006/math">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This is the only solution.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$2^m-2^n=56&gt;0$</a:t>
                </a:r>
                <a:r>
                  <a:rPr sz="2400" b="0">
                    <a:solidFill>
                      <a:srgbClr val="111827"/>
                    </a:solidFill>
                    <a:latin typeface="Arial"/>
                  </a:rPr>
                  <a:t>, </a:t>
                </a:r>
                <a:r>
                  <a:rPr lang="en-IN" sz="2400">
                    <a:solidFill>
                      <a:srgbClr val="111827"/>
                    </a:solidFill>
                    <a:latin typeface="Cambria Math" panose="02040503050406030204" pitchFamily="18" charset="0"/>
                  </a:rPr>
                  <a:t>$m&gt;n$</a:t>
                </a:r>
                <a:r>
                  <a:rPr sz="2400" b="0">
                    <a:solidFill>
                      <a:srgbClr val="111827"/>
                    </a:solidFill>
                    <a:latin typeface="Arial"/>
                  </a:rPr>
                  <a:t>, and </a:t>
                </a:r>
                <a:r>
                  <a:rPr lang="en-IN" sz="2400">
                    <a:solidFill>
                      <a:srgbClr val="111827"/>
                    </a:solidFill>
                    <a:latin typeface="Cambria Math" panose="02040503050406030204" pitchFamily="18" charset="0"/>
                  </a:rPr>
                  <a:t>$2^m-2^n=2^n\left(2^{m-n}-1\right)$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$2^{m-n}-1$</a:t>
                </a:r>
                <a:r>
                  <a:rPr sz="2400" b="0">
                    <a:solidFill>
                      <a:srgbClr val="111827"/>
                    </a:solidFill>
                    <a:latin typeface="Arial"/>
                  </a:rPr>
                  <a:t> is odd (as </a:t>
                </a:r>
                <a:r>
                  <a:rPr lang="en-IN" sz="2400">
                    <a:solidFill>
                      <a:srgbClr val="111827"/>
                    </a:solidFill>
                    <a:latin typeface="Cambria Math" panose="02040503050406030204" pitchFamily="18" charset="0"/>
                  </a:rPr>
                  <a:t>$m-n\ge1$</a:t>
                </a:r>
                <a:r>
                  <a:rPr sz="2400" b="0">
                    <a:solidFill>
                      <a:srgbClr val="111827"/>
                    </a:solidFill>
                    <a:latin typeface="Arial"/>
                  </a:rPr>
                  <a:t>), so </a:t>
                </a:r>
                <a:r>
                  <a:rPr lang="en-IN" sz="2400">
                    <a:solidFill>
                      <a:srgbClr val="111827"/>
                    </a:solidFill>
                    <a:latin typeface="Cambria Math" panose="02040503050406030204" pitchFamily="18" charset="0"/>
                  </a:rPr>
                  <a:t>$2^n$</a:t>
                </a:r>
                <a:r>
                  <a:rPr sz="2400" b="0">
                    <a:solidFill>
                      <a:srgbClr val="111827"/>
                    </a:solidFill>
                    <a:latin typeface="Arial"/>
                  </a:rPr>
                  <a:t> is the highest power of </a:t>
                </a:r>
                <a:r>
                  <a:rPr lang="en-IN" sz="2400">
                    <a:solidFill>
                      <a:srgbClr val="111827"/>
                    </a:solidFill>
                    <a:latin typeface="Cambria Math" panose="02040503050406030204" pitchFamily="18" charset="0"/>
                  </a:rPr>
                  <a:t>$2$</a:t>
                </a:r>
                <a:r>
                  <a:rPr sz="2400" b="0">
                    <a:solidFill>
                      <a:srgbClr val="111827"/>
                    </a:solidFill>
                    <a:latin typeface="Arial"/>
                  </a:rPr>
                  <a:t> dividing </a:t>
                </a:r>
                <a:r>
                  <a:rPr lang="en-IN" sz="2400">
                    <a:solidFill>
                      <a:srgbClr val="111827"/>
                    </a:solidFill>
                    <a:latin typeface="Cambria Math" panose="02040503050406030204" pitchFamily="18" charset="0"/>
                  </a:rPr>
                  <a:t>$56=2^3\cdot7$</a:t>
                </a:r>
                <a:r>
                  <a:rPr sz="2400" b="0">
                    <a:solidFill>
                      <a:srgbClr val="111827"/>
                    </a:solidFill>
                    <a:latin typeface="Arial"/>
                  </a:rPr>
                  <a:t>. Hence </a:t>
                </a:r>
                <a:r>
                  <a:rPr lang="en-IN" sz="2400">
                    <a:solidFill>
                      <a:srgbClr val="111827"/>
                    </a:solidFill>
                    <a:latin typeface="Cambria Math" panose="02040503050406030204" pitchFamily="18" charset="0"/>
                  </a:rPr>
                  <a:t>$n=3$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$2^{m-n}-1=7$</a:t>
                </a:r>
                <a:r>
                  <a:rPr sz="2400" b="0">
                    <a:solidFill>
                      <a:srgbClr val="111827"/>
                    </a:solidFill>
                    <a:latin typeface="Arial"/>
                  </a:rPr>
                  <a:t>, so </a:t>
                </a:r>
                <a:r>
                  <a:rPr lang="en-IN" sz="2400">
                    <a:solidFill>
                      <a:srgbClr val="111827"/>
                    </a:solidFill>
                    <a:latin typeface="Cambria Math" panose="02040503050406030204" pitchFamily="18" charset="0"/>
                  </a:rPr>
                  <a:t>$2^{m-n}=8$</a:t>
                </a:r>
                <a:r>
                  <a:rPr sz="2400" b="0">
                    <a:solidFill>
                      <a:srgbClr val="111827"/>
                    </a:solidFill>
                    <a:latin typeface="Arial"/>
                  </a:rPr>
                  <a:t> and </a:t>
                </a:r>
                <a:r>
                  <a:rPr lang="en-IN" sz="2400">
                    <a:solidFill>
                      <a:srgbClr val="111827"/>
                    </a:solidFill>
                    <a:latin typeface="Cambria Math" panose="02040503050406030204" pitchFamily="18" charset="0"/>
                  </a:rPr>
                  <a:t>$m-n=3$</a:t>
                </a:r>
                <a:r>
                  <a:rPr sz="2400" b="0">
                    <a:solidFill>
                      <a:srgbClr val="111827"/>
                    </a:solidFill>
                    <a:latin typeface="Arial"/>
                  </a:rPr>
                  <a:t>, giving </a:t>
                </a:r>
                <a:r>
                  <a:rPr lang="en-IN" sz="2400">
                    <a:solidFill>
                      <a:srgbClr val="111827"/>
                    </a:solidFill>
                    <a:latin typeface="Cambria Math" panose="02040503050406030204" pitchFamily="18" charset="0"/>
                  </a:rPr>
                  <a:t>$m=6$</a:t>
                </a:r>
                <a:r>
                  <a:rPr sz="2400" b="0">
                    <a:solidFill>
                      <a:srgbClr val="111827"/>
                    </a:solidFill>
                    <a:latin typeface="Arial"/>
                  </a:rPr>
                  <a:t>. This is the only solution.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$P(6,3)$</a:t>
                </a:r>
                <a:r>
                  <a:rPr sz="2400" b="0">
                    <a:solidFill>
                      <a:srgbClr val="111827"/>
                    </a:solidFill>
                    <a:latin typeface="Arial"/>
                  </a:rPr>
                  <a:t>, </a:t>
                </a:r>
                <a:r>
                  <a:rPr lang="en-IN" sz="2400">
                    <a:solidFill>
                      <a:srgbClr val="111827"/>
                    </a:solidFill>
                    <a:latin typeface="Cambria Math" panose="02040503050406030204" pitchFamily="18" charset="0"/>
                  </a:rPr>
                  <a:t>$Q(-2,-3)$</a:t>
                </a:r>
                <a:r>
                  <a:rPr sz="2400" b="0">
                    <a:solidFill>
                      <a:srgbClr val="111827"/>
                    </a:solidFill>
                    <a:latin typeface="Arial"/>
                  </a:rPr>
                  <a:t>: </a:t>
                </a:r>
                <a:r>
                  <a:rPr lang="en-IN" sz="2400">
                    <a:solidFill>
                      <a:srgbClr val="111827"/>
                    </a:solidFill>
                    <a:latin typeface="Cambria Math" panose="02040503050406030204" pitchFamily="18" charset="0"/>
                  </a:rPr>
                  <a:t>$PQ=\sqrt{8^2+6^2}=10$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10</a:t>
            </a:r>
            <a:endParaRPr sz="2800">
              <a:solidFill>
                <a:srgbClr val="15803D"/>
              </a:solidFill>
            </a:endParaRP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finite set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subsets,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non-empty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proper subsets.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an odd bracket: the 2-adic part of the right side identifies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uniquely (check: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between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is 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triple, which can be spotted at once.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finite set with </a:t>
                </a:r>
                <a:r>
                  <a:rPr lang="en-IN" sz="2400">
                    <a:solidFill>
                      <a:srgbClr val="111827"/>
                    </a:solidFill>
                    <a:latin typeface="Cambria Math" panose="02040503050406030204" pitchFamily="18" charset="0"/>
                  </a:rPr>
                  <a:t>$k$</a:t>
                </a:r>
                <a:r>
                  <a:rPr sz="2400" b="0">
                    <a:solidFill>
                      <a:srgbClr val="111827"/>
                    </a:solidFill>
                    <a:latin typeface="Arial"/>
                  </a:rPr>
                  <a:t> elements has </a:t>
                </a:r>
                <a:r>
                  <a:rPr lang="en-IN" sz="2400">
                    <a:solidFill>
                      <a:srgbClr val="111827"/>
                    </a:solidFill>
                    <a:latin typeface="Cambria Math" panose="02040503050406030204" pitchFamily="18" charset="0"/>
                  </a:rPr>
                  <a:t>$2^k$</a:t>
                </a:r>
                <a:r>
                  <a:rPr sz="2400" b="0">
                    <a:solidFill>
                      <a:srgbClr val="111827"/>
                    </a:solidFill>
                    <a:latin typeface="Arial"/>
                  </a:rPr>
                  <a:t> subsets, </a:t>
                </a:r>
                <a:r>
                  <a:rPr lang="en-IN" sz="2400">
                    <a:solidFill>
                      <a:srgbClr val="111827"/>
                    </a:solidFill>
                    <a:latin typeface="Cambria Math" panose="02040503050406030204" pitchFamily="18" charset="0"/>
                  </a:rPr>
                  <a:t>$2^k-1$</a:t>
                </a:r>
                <a:r>
                  <a:rPr sz="2400" b="0">
                    <a:solidFill>
                      <a:srgbClr val="111827"/>
                    </a:solidFill>
                    <a:latin typeface="Arial"/>
                  </a:rPr>
                  <a:t> non-empty and </a:t>
                </a:r>
                <a:r>
                  <a:rPr lang="en-IN" sz="2400">
                    <a:solidFill>
                      <a:srgbClr val="111827"/>
                    </a:solidFill>
                    <a:latin typeface="Cambria Math" panose="02040503050406030204" pitchFamily="18" charset="0"/>
                  </a:rPr>
                  <a:t>$2^k-1$</a:t>
                </a:r>
                <a:r>
                  <a:rPr sz="2400" b="0">
                    <a:solidFill>
                      <a:srgbClr val="111827"/>
                    </a:solidFill>
                    <a:latin typeface="Arial"/>
                  </a:rPr>
                  <a:t> proper subsets.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$2^m-2^n=2^n(2^{m-n}-1)$</a:t>
                </a:r>
                <a:r>
                  <a:rPr sz="2400" b="0">
                    <a:solidFill>
                      <a:srgbClr val="111827"/>
                    </a:solidFill>
                    <a:latin typeface="Arial"/>
                  </a:rPr>
                  <a:t> with an odd bracket: the 2-adic part of the right side identifies </a:t>
                </a:r>
                <a:r>
                  <a:rPr lang="en-IN" sz="2400">
                    <a:solidFill>
                      <a:srgbClr val="111827"/>
                    </a:solidFill>
                    <a:latin typeface="Cambria Math" panose="02040503050406030204" pitchFamily="18" charset="0"/>
                  </a:rPr>
                  <a:t>$n$</a:t>
                </a:r>
                <a:r>
                  <a:rPr sz="2400" b="0">
                    <a:solidFill>
                      <a:srgbClr val="111827"/>
                    </a:solidFill>
                    <a:latin typeface="Arial"/>
                  </a:rPr>
                  <a:t> uniquely (check: </a:t>
                </a:r>
                <a:r>
                  <a:rPr lang="en-IN" sz="2400">
                    <a:solidFill>
                      <a:srgbClr val="111827"/>
                    </a:solidFill>
                    <a:latin typeface="Cambria Math" panose="02040503050406030204" pitchFamily="18" charset="0"/>
                  </a:rPr>
                  <a:t>$2^6-2^3=8\cdot7=56$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between </a:t>
                </a:r>
                <a:r>
                  <a:rPr lang="en-IN" sz="2400">
                    <a:solidFill>
                      <a:srgbClr val="111827"/>
                    </a:solidFill>
                    <a:latin typeface="Cambria Math" panose="02040503050406030204" pitchFamily="18" charset="0"/>
                  </a:rPr>
                  <a:t>$(x_1,y_1)$</a:t>
                </a:r>
                <a:r>
                  <a:rPr sz="2400" b="0">
                    <a:solidFill>
                      <a:srgbClr val="111827"/>
                    </a:solidFill>
                    <a:latin typeface="Arial"/>
                  </a:rPr>
                  <a:t> and </a:t>
                </a:r>
                <a:r>
                  <a:rPr lang="en-IN" sz="2400">
                    <a:solidFill>
                      <a:srgbClr val="111827"/>
                    </a:solidFill>
                    <a:latin typeface="Cambria Math" panose="02040503050406030204" pitchFamily="18" charset="0"/>
                  </a:rPr>
                  <a:t>$(x_2,y_2)$</a:t>
                </a:r>
                <a:r>
                  <a:rPr sz="2400" b="0">
                    <a:solidFill>
                      <a:srgbClr val="111827"/>
                    </a:solidFill>
                    <a:latin typeface="Arial"/>
                  </a:rPr>
                  <a:t> is </a:t>
                </a:r>
                <a:r>
                  <a:rPr lang="en-IN" sz="2400">
                    <a:solidFill>
                      <a:srgbClr val="111827"/>
                    </a:solidFill>
                    <a:latin typeface="Cambria Math" panose="02040503050406030204" pitchFamily="18" charset="0"/>
                  </a:rPr>
                  <a:t>$\sqrt{(x_1-x_2)^2+(y_1-y_2)^2}$</a:t>
                </a:r>
                <a:r>
                  <a:rPr sz="2400" b="0">
                    <a:solidFill>
                      <a:srgbClr val="111827"/>
                    </a:solidFill>
                    <a:latin typeface="Arial"/>
                  </a:rPr>
                  <a:t>; </a:t>
                </a:r>
                <a:r>
                  <a:rPr lang="en-IN" sz="2400">
                    <a:solidFill>
                      <a:srgbClr val="111827"/>
                    </a:solidFill>
                    <a:latin typeface="Cambria Math" panose="02040503050406030204" pitchFamily="18" charset="0"/>
                  </a:rPr>
                  <a:t>$8,6,10$</a:t>
                </a:r>
                <a:r>
                  <a:rPr sz="2400" b="0">
                    <a:solidFill>
                      <a:srgbClr val="111827"/>
                    </a:solidFill>
                    <a:latin typeface="Arial"/>
                  </a:rPr>
                  <a:t> is a </a:t>
                </a:r>
                <a:r>
                  <a:rPr lang="en-IN" sz="2400">
                    <a:solidFill>
                      <a:srgbClr val="111827"/>
                    </a:solidFill>
                    <a:latin typeface="Cambria Math" panose="02040503050406030204" pitchFamily="18" charset="0"/>
                  </a:rPr>
                  <a:t>$3$</a:t>
                </a:r>
                <a:r>
                  <a:rPr sz="2400" b="0">
                    <a:solidFill>
                      <a:srgbClr val="111827"/>
                    </a:solidFill>
                    <a:latin typeface="Arial"/>
                  </a:rPr>
                  <a:t>-</a:t>
                </a:r>
                <a:r>
                  <a:rPr lang="en-IN" sz="2400">
                    <a:solidFill>
                      <a:srgbClr val="111827"/>
                    </a:solidFill>
                    <a:latin typeface="Cambria Math" panose="02040503050406030204" pitchFamily="18" charset="0"/>
                  </a:rPr>
                  <a:t>$4$</a:t>
                </a:r>
                <a:r>
                  <a:rPr sz="2400" b="0">
                    <a:solidFill>
                      <a:srgbClr val="111827"/>
                    </a:solidFill>
                    <a:latin typeface="Arial"/>
                  </a:rPr>
                  <a:t>-</a:t>
                </a:r>
                <a:r>
                  <a:rPr lang="en-IN" sz="2400">
                    <a:solidFill>
                      <a:srgbClr val="111827"/>
                    </a:solidFill>
                    <a:latin typeface="Cambria Math" panose="02040503050406030204" pitchFamily="18" charset="0"/>
                  </a:rPr>
                  <a:t>$5$</a:t>
                </a:r>
                <a:r>
                  <a:rPr sz="2400" b="0">
                    <a:solidFill>
                      <a:srgbClr val="111827"/>
                    </a:solidFill>
                    <a:latin typeface="Arial"/>
                  </a:rPr>
                  <a:t> triple, which can be spotted at once.</a:t>
                </a:r>
                <a:endParaRPr sz="2400">
                  <a:solidFill>
                    <a:srgbClr val="111827"/>
                  </a:solidFill>
                </a:endParaRPr>
              </a:p>
            </p:txBody>
          </p:sp>
        </mc:Fallback>
      </mc:AlternateContent>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symmetric and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$\mathbb{Z}\times\mathbb{Z}$</a:t>
                </a:r>
                <a:r>
                  <a:rPr sz="2400" b="0">
                    <a:solidFill>
                      <a:srgbClr val="111827"/>
                    </a:solidFill>
                    <a:latin typeface="Arial"/>
                  </a:rPr>
                  <a:t> defined by </a:t>
                </a:r>
                <a:r>
                  <a:rPr lang="en-IN" sz="2400">
                    <a:solidFill>
                      <a:srgbClr val="111827"/>
                    </a:solidFill>
                    <a:latin typeface="Cambria Math" panose="02040503050406030204" pitchFamily="18" charset="0"/>
                  </a:rPr>
                  <a:t>$(a,b)R(c,d)$</a:t>
                </a:r>
                <a:r>
                  <a:rPr sz="2400" b="0">
                    <a:solidFill>
                      <a:srgbClr val="111827"/>
                    </a:solidFill>
                    <a:latin typeface="Arial"/>
                  </a:rPr>
                  <a:t> if and only if </a:t>
                </a:r>
                <a:r>
                  <a:rPr lang="en-IN" sz="2400">
                    <a:solidFill>
                      <a:srgbClr val="111827"/>
                    </a:solidFill>
                    <a:latin typeface="Cambria Math" panose="02040503050406030204" pitchFamily="18" charset="0"/>
                  </a:rPr>
                  <a:t>$ad-bc$</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symmetric and transitive</a:t>
                </a:r>
                <a:endParaRPr sz="2400">
                  <a:solidFill>
                    <a:srgbClr val="111827"/>
                  </a:solidFill>
                </a:endParaRPr>
              </a:p>
            </p:txBody>
          </p:sp>
        </mc:Fallback>
      </mc:AlternateContent>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Reflexive, symmetric and transitive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(or a non-proportional pair of vectors mod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gives a quick counterexample to transitivity.</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pair </a:t>
                </a:r>
                <a:r>
                  <a:rPr lang="en-IN" sz="2400">
                    <a:solidFill>
                      <a:srgbClr val="78350F"/>
                    </a:solidFill>
                    <a:latin typeface="Cambria Math" panose="02040503050406030204" pitchFamily="18" charset="0"/>
                  </a:rPr>
                  <a:t>$(0,0)$</a:t>
                </a:r>
                <a:r>
                  <a:rPr sz="2400" b="0">
                    <a:solidFill>
                      <a:srgbClr val="78350F"/>
                    </a:solidFill>
                    <a:latin typeface="Arial"/>
                  </a:rPr>
                  <a:t> (or a non-proportional pair of vectors mod </a:t>
                </a:r>
                <a:r>
                  <a:rPr lang="en-IN" sz="2400">
                    <a:solidFill>
                      <a:srgbClr val="78350F"/>
                    </a:solidFill>
                    <a:latin typeface="Cambria Math" panose="02040503050406030204" pitchFamily="18" charset="0"/>
                  </a:rPr>
                  <a:t>$5$</a:t>
                </a:r>
                <a:r>
                  <a:rPr sz="2400" b="0">
                    <a:solidFill>
                      <a:srgbClr val="78350F"/>
                    </a:solidFill>
                    <a:latin typeface="Arial"/>
                  </a:rPr>
                  <a:t>) gives a quick counterexample to transitivity.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$(a,b)R(a,b)$</a:t>
                </a:r>
                <a:r>
                  <a:rPr sz="2400" b="0">
                    <a:solidFill>
                      <a:srgbClr val="111827"/>
                    </a:solidFill>
                    <a:latin typeface="Arial"/>
                  </a:rPr>
                  <a:t> because </a:t>
                </a:r>
                <a:r>
                  <a:rPr lang="en-IN" sz="2400">
                    <a:solidFill>
                      <a:srgbClr val="111827"/>
                    </a:solidFill>
                    <a:latin typeface="Cambria Math" panose="02040503050406030204" pitchFamily="18" charset="0"/>
                  </a:rPr>
                  <a:t>$ab-ba=0$</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$(a,b)R(c,d)$</a:t>
                </a:r>
                <a:r>
                  <a:rPr sz="2400" b="0">
                    <a:solidFill>
                      <a:srgbClr val="111827"/>
                    </a:solidFill>
                    <a:latin typeface="Arial"/>
                  </a:rPr>
                  <a:t>, i.e. </a:t>
                </a:r>
                <a:r>
                  <a:rPr lang="en-IN" sz="2400">
                    <a:solidFill>
                      <a:srgbClr val="111827"/>
                    </a:solidFill>
                    <a:latin typeface="Cambria Math" panose="02040503050406030204" pitchFamily="18" charset="0"/>
                  </a:rPr>
                  <a:t>$ad-bc$</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which is false.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symmetric but not transitive: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$bc-ad=-(ad-bc)$</a:t>
                </a:r>
                <a:r>
                  <a:rPr sz="2400" b="0">
                    <a:solidFill>
                      <a:srgbClr val="111827"/>
                    </a:solidFill>
                    <a:latin typeface="Arial"/>
                  </a:rPr>
                  <a:t> is also divisible by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$(c,d)R(a,b)$</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$(3,1)R(10,5)$</a:t>
                </a:r>
                <a:r>
                  <a:rPr sz="2400" b="0">
                    <a:solidFill>
                      <a:srgbClr val="111827"/>
                    </a:solidFill>
                    <a:latin typeface="Arial"/>
                  </a:rPr>
                  <a:t> since </a:t>
                </a:r>
                <a:r>
                  <a:rPr lang="en-IN" sz="2400">
                    <a:solidFill>
                      <a:srgbClr val="111827"/>
                    </a:solidFill>
                    <a:latin typeface="Cambria Math" panose="02040503050406030204" pitchFamily="18" charset="0"/>
                  </a:rPr>
                  <a:t>$3\cdot5-1\cdot10=5$</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$(10,5)R(1,1)$</a:t>
                </a:r>
                <a:r>
                  <a:rPr sz="2400" b="0">
                    <a:solidFill>
                      <a:srgbClr val="111827"/>
                    </a:solidFill>
                    <a:latin typeface="Arial"/>
                  </a:rPr>
                  <a:t> since </a:t>
                </a:r>
                <a:r>
                  <a:rPr lang="en-IN" sz="2400">
                    <a:solidFill>
                      <a:srgbClr val="111827"/>
                    </a:solidFill>
                    <a:latin typeface="Cambria Math" panose="02040503050406030204" pitchFamily="18" charset="0"/>
                  </a:rPr>
                  <a:t>$10\cdot1-5\cdot1=5$</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$(3,1)R(1,1)$</a:t>
                </a:r>
                <a:r>
                  <a:rPr sz="2400" b="0">
                    <a:solidFill>
                      <a:srgbClr val="111827"/>
                    </a:solidFill>
                    <a:latin typeface="Arial"/>
                  </a:rPr>
                  <a:t> would need </a:t>
                </a:r>
                <a:r>
                  <a:rPr lang="en-IN" sz="2400">
                    <a:solidFill>
                      <a:srgbClr val="111827"/>
                    </a:solidFill>
                    <a:latin typeface="Cambria Math" panose="02040503050406030204" pitchFamily="18" charset="0"/>
                  </a:rPr>
                  <a:t>$3\cdot1-1\cdot1=2$</a:t>
                </a:r>
                <a:r>
                  <a:rPr sz="2400" b="0">
                    <a:solidFill>
                      <a:srgbClr val="111827"/>
                    </a:solidFill>
                    <a:latin typeface="Arial"/>
                  </a:rPr>
                  <a:t> divisible by </a:t>
                </a:r>
                <a:r>
                  <a:rPr lang="en-IN" sz="2400">
                    <a:solidFill>
                      <a:srgbClr val="111827"/>
                    </a:solidFill>
                    <a:latin typeface="Cambria Math" panose="02040503050406030204" pitchFamily="18" charset="0"/>
                  </a:rPr>
                  <a:t>$5$</a:t>
                </a:r>
                <a:r>
                  <a:rPr sz="2400" b="0">
                    <a:solidFill>
                      <a:srgbClr val="111827"/>
                    </a:solidFill>
                    <a:latin typeface="Arial"/>
                  </a:rPr>
                  <a:t>, which is false. So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is reflexive and symmetric but not transitive: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Reflexive and symmetric but not transitive</a:t>
            </a:r>
            <a:endParaRPr sz="2800">
              <a:solidFill>
                <a:srgbClr val="15803D"/>
              </a:solidFill>
            </a:endParaRP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as 'the vectors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are dependent mod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the zero vector is related to everything.</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a:t>
                </a:r>
                <a:r>
                  <a:rPr lang="en-IN" sz="2400">
                    <a:solidFill>
                      <a:srgbClr val="78350F"/>
                    </a:solidFill>
                    <a:latin typeface="Cambria Math" panose="02040503050406030204" pitchFamily="18" charset="0"/>
                  </a:rPr>
                  <a:t>$ad-bc\equiv0\pmod5$</a:t>
                </a:r>
                <a:r>
                  <a:rPr sz="2400" b="0">
                    <a:solidFill>
                      <a:srgbClr val="78350F"/>
                    </a:solidFill>
                    <a:latin typeface="Arial"/>
                  </a:rPr>
                  <a:t> as 'the vectors </a:t>
                </a:r>
                <a:r>
                  <a:rPr lang="en-IN" sz="2400">
                    <a:solidFill>
                      <a:srgbClr val="78350F"/>
                    </a:solidFill>
                    <a:latin typeface="Cambria Math" panose="02040503050406030204" pitchFamily="18" charset="0"/>
                  </a:rPr>
                  <a:t>$(a,b)$</a:t>
                </a:r>
                <a:r>
                  <a:rPr sz="2400" b="0">
                    <a:solidFill>
                      <a:srgbClr val="78350F"/>
                    </a:solidFill>
                    <a:latin typeface="Arial"/>
                  </a:rPr>
                  <a:t>, </a:t>
                </a:r>
                <a:r>
                  <a:rPr lang="en-IN" sz="2400">
                    <a:solidFill>
                      <a:srgbClr val="78350F"/>
                    </a:solidFill>
                    <a:latin typeface="Cambria Math" panose="02040503050406030204" pitchFamily="18" charset="0"/>
                  </a:rPr>
                  <a:t>$(c,d)$</a:t>
                </a:r>
                <a:r>
                  <a:rPr sz="2400" b="0">
                    <a:solidFill>
                      <a:srgbClr val="78350F"/>
                    </a:solidFill>
                    <a:latin typeface="Arial"/>
                  </a:rPr>
                  <a:t> are dependent mod </a:t>
                </a:r>
                <a:r>
                  <a:rPr lang="en-IN" sz="2400">
                    <a:solidFill>
                      <a:srgbClr val="78350F"/>
                    </a:solidFill>
                    <a:latin typeface="Cambria Math" panose="02040503050406030204" pitchFamily="18" charset="0"/>
                  </a:rPr>
                  <a:t>$5$</a:t>
                </a:r>
                <a:r>
                  <a:rPr sz="2400" b="0">
                    <a:solidFill>
                      <a:srgbClr val="78350F"/>
                    </a:solidFill>
                    <a:latin typeface="Arial"/>
                  </a:rPr>
                  <a:t>'; the zero vector is related to everything.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the determinant of the vectors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says the determinant is </a:t>
                </a:r>
                <a14:m>
                  <m:oMath xmlns:m="http://schemas.openxmlformats.org/officeDocument/2006/math">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vectors are linearly dependent over </a:t>
                </a:r>
                <a14:m>
                  <m:oMath xmlns:m="http://schemas.openxmlformats.org/officeDocument/2006/math">
                    <m:sSub>
                      <m:e>
                        <m:r>
                          <m:rPr>
                            <m:scr m:val="double-struck"/>
                            <m:sty m:val="p"/>
                          </m:rPr>
                          <a:rPr lang="en-IN" sz="2400">
                            <a:solidFill>
                              <a:srgbClr val="111827"/>
                            </a:solidFill>
                            <a:latin typeface="Cambria Math" panose="02040503050406030204" pitchFamily="18" charset="0"/>
                          </a:rPr>
                          <m:t>Z</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vector is dependent with itself (determinant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the determinant changes sign on swapping,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symmetric.</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$ad-bc$</a:t>
                </a:r>
                <a:r>
                  <a:rPr sz="2400" b="0">
                    <a:solidFill>
                      <a:srgbClr val="111827"/>
                    </a:solidFill>
                    <a:latin typeface="Arial"/>
                  </a:rPr>
                  <a:t> is the determinant of the vectors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$(c,d)$</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says the determinant is </a:t>
                </a:r>
                <a:r>
                  <a:rPr lang="en-IN" sz="2400">
                    <a:solidFill>
                      <a:srgbClr val="111827"/>
                    </a:solidFill>
                    <a:latin typeface="Cambria Math" panose="02040503050406030204" pitchFamily="18" charset="0"/>
                  </a:rPr>
                  <a:t>$0 \pmod 5$</a:t>
                </a:r>
                <a:r>
                  <a:rPr sz="2400" b="0">
                    <a:solidFill>
                      <a:srgbClr val="111827"/>
                    </a:solidFill>
                    <a:latin typeface="Arial"/>
                  </a:rPr>
                  <a:t> (the two vectors are linearly dependent over </a:t>
                </a:r>
                <a:r>
                  <a:rPr lang="en-IN" sz="2400">
                    <a:solidFill>
                      <a:srgbClr val="111827"/>
                    </a:solidFill>
                    <a:latin typeface="Cambria Math" panose="02040503050406030204" pitchFamily="18" charset="0"/>
                  </a:rPr>
                  <a:t>$\mathbb{Z}_5$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vector is dependent with itself (determinant </a:t>
                </a:r>
                <a:r>
                  <a:rPr lang="en-IN" sz="2400">
                    <a:solidFill>
                      <a:srgbClr val="111827"/>
                    </a:solidFill>
                    <a:latin typeface="Cambria Math" panose="02040503050406030204" pitchFamily="18" charset="0"/>
                  </a:rPr>
                  <a:t>$0$</a:t>
                </a:r>
                <a:r>
                  <a:rPr sz="2400" b="0">
                    <a:solidFill>
                      <a:srgbClr val="111827"/>
                    </a:solidFill>
                    <a:latin typeface="Arial"/>
                  </a:rPr>
                  <a:t>) and the determinant changes sign on swapping, so </a:t>
                </a:r>
                <a:r>
                  <a:rPr lang="en-IN" sz="2400">
                    <a:solidFill>
                      <a:srgbClr val="111827"/>
                    </a:solidFill>
                    <a:latin typeface="Cambria Math" panose="02040503050406030204" pitchFamily="18" charset="0"/>
                  </a:rPr>
                  <a:t>$R$</a:t>
                </a:r>
                <a:r>
                  <a:rPr sz="2400" b="0">
                    <a:solidFill>
                      <a:srgbClr val="111827"/>
                    </a:solidFill>
                    <a:latin typeface="Arial"/>
                  </a:rPr>
                  <a:t> is reflexive and symmetric.</a:t>
                </a:r>
                <a:endParaRPr sz="2400">
                  <a:solidFill>
                    <a:srgbClr val="111827"/>
                  </a:solidFill>
                </a:endParaRPr>
              </a:p>
            </p:txBody>
          </p:sp>
        </mc:Fallback>
      </mc:AlternateContent>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zero vector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determinant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with every vector,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have determinant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not related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Transitivity fails; the answer is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zero vector </a:t>
                </a:r>
                <a:r>
                  <a:rPr lang="en-IN" sz="2400">
                    <a:solidFill>
                      <a:srgbClr val="111827"/>
                    </a:solidFill>
                    <a:latin typeface="Cambria Math" panose="02040503050406030204" pitchFamily="18" charset="0"/>
                  </a:rPr>
                  <a:t>$(0,0)$</a:t>
                </a:r>
                <a:r>
                  <a:rPr sz="2400" b="0">
                    <a:solidFill>
                      <a:srgbClr val="111827"/>
                    </a:solidFill>
                    <a:latin typeface="Arial"/>
                  </a:rPr>
                  <a:t> has determinant </a:t>
                </a:r>
                <a:r>
                  <a:rPr lang="en-IN" sz="2400">
                    <a:solidFill>
                      <a:srgbClr val="111827"/>
                    </a:solidFill>
                    <a:latin typeface="Cambria Math" panose="02040503050406030204" pitchFamily="18" charset="0"/>
                  </a:rPr>
                  <a:t>$0$</a:t>
                </a:r>
                <a:r>
                  <a:rPr sz="2400" b="0">
                    <a:solidFill>
                      <a:srgbClr val="111827"/>
                    </a:solidFill>
                    <a:latin typeface="Arial"/>
                  </a:rPr>
                  <a:t> with every vector, so </a:t>
                </a:r>
                <a:r>
                  <a:rPr lang="en-IN" sz="2400">
                    <a:solidFill>
                      <a:srgbClr val="111827"/>
                    </a:solidFill>
                    <a:latin typeface="Cambria Math" panose="02040503050406030204" pitchFamily="18" charset="0"/>
                  </a:rPr>
                  <a:t>$(1,0)R(0,0)$</a:t>
                </a:r>
                <a:r>
                  <a:rPr sz="2400" b="0">
                    <a:solidFill>
                      <a:srgbClr val="111827"/>
                    </a:solidFill>
                    <a:latin typeface="Arial"/>
                  </a:rPr>
                  <a:t> and </a:t>
                </a:r>
                <a:r>
                  <a:rPr lang="en-IN" sz="2400">
                    <a:solidFill>
                      <a:srgbClr val="111827"/>
                    </a:solidFill>
                    <a:latin typeface="Cambria Math" panose="02040503050406030204" pitchFamily="18" charset="0"/>
                  </a:rPr>
                  <a:t>$(0,0)R(0,1)$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$(1,0)$</a:t>
                </a:r>
                <a:r>
                  <a:rPr sz="2400" b="0">
                    <a:solidFill>
                      <a:srgbClr val="111827"/>
                    </a:solidFill>
                    <a:latin typeface="Arial"/>
                  </a:rPr>
                  <a:t> and </a:t>
                </a:r>
                <a:r>
                  <a:rPr lang="en-IN" sz="2400">
                    <a:solidFill>
                      <a:srgbClr val="111827"/>
                    </a:solidFill>
                    <a:latin typeface="Cambria Math" panose="02040503050406030204" pitchFamily="18" charset="0"/>
                  </a:rPr>
                  <a:t>$(0,1)$</a:t>
                </a:r>
                <a:r>
                  <a:rPr sz="2400" b="0">
                    <a:solidFill>
                      <a:srgbClr val="111827"/>
                    </a:solidFill>
                    <a:latin typeface="Arial"/>
                  </a:rPr>
                  <a:t> have determinant </a:t>
                </a:r>
                <a:r>
                  <a:rPr lang="en-IN" sz="2400">
                    <a:solidFill>
                      <a:srgbClr val="111827"/>
                    </a:solidFill>
                    <a:latin typeface="Cambria Math" panose="02040503050406030204" pitchFamily="18" charset="0"/>
                  </a:rPr>
                  <a:t>$1\cdot1-0\cdot0=1$</a:t>
                </a:r>
                <a:r>
                  <a:rPr sz="2400" b="0">
                    <a:solidFill>
                      <a:srgbClr val="111827"/>
                    </a:solidFill>
                    <a:latin typeface="Arial"/>
                  </a:rPr>
                  <a:t>, not divisible by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$(1,0)$</a:t>
                </a:r>
                <a:r>
                  <a:rPr sz="2400" b="0">
                    <a:solidFill>
                      <a:srgbClr val="111827"/>
                    </a:solidFill>
                    <a:latin typeface="Arial"/>
                  </a:rPr>
                  <a:t> is not related to </a:t>
                </a:r>
                <a:r>
                  <a:rPr lang="en-IN" sz="2400">
                    <a:solidFill>
                      <a:srgbClr val="111827"/>
                    </a:solidFill>
                    <a:latin typeface="Cambria Math" panose="02040503050406030204" pitchFamily="18" charset="0"/>
                  </a:rPr>
                  <a:t>$(0,1)$</a:t>
                </a:r>
                <a:r>
                  <a:rPr sz="2400" b="0">
                    <a:solidFill>
                      <a:srgbClr val="111827"/>
                    </a:solidFill>
                    <a:latin typeface="Arial"/>
                  </a:rPr>
                  <a:t>. Transitivity fails; the answer is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Reflexive and symmetric but not transitive</a:t>
            </a:r>
            <a:endParaRPr sz="2800">
              <a:solidFill>
                <a:srgbClr val="15803D"/>
              </a:solidFill>
            </a:endParaRP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relations (proportionality of pairs) become transitive if the zero pair is excluded: on non-zero pairs over a field it is an equivalence relation (classes are lines through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Over </a:t>
                </a:r>
                <a14:m>
                  <m:oMath xmlns:m="http://schemas.openxmlformats.org/officeDocument/2006/math">
                    <m:sSub>
                      <m:e>
                        <m:r>
                          <m:rPr>
                            <m:scr m:val="double-struck"/>
                            <m:sty m:val="p"/>
                          </m:rPr>
                          <a:rPr lang="en-IN" sz="2400">
                            <a:solidFill>
                              <a:srgbClr val="111827"/>
                            </a:solidFill>
                            <a:latin typeface="Cambria Math" panose="02040503050406030204" pitchFamily="18" charset="0"/>
                          </a:rPr>
                          <m:t>Z</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this is exactly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only spoiler.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transitivity counterexample: use a 'universal' element (zero vector, empty set,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that is related to everything.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of a relation defined by a skew expression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condition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an equivalence; one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 determinant-type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in general.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r>
                  <a:rPr lang="en-IN" sz="2400">
                    <a:solidFill>
                      <a:srgbClr val="111827"/>
                    </a:solidFill>
                    <a:latin typeface="Cambria Math" panose="02040503050406030204" pitchFamily="18" charset="0"/>
                  </a:rPr>
                  <a:t>$ad-bc\equiv0$</a:t>
                </a:r>
                <a:r>
                  <a:rPr sz="2400" b="0">
                    <a:solidFill>
                      <a:srgbClr val="111827"/>
                    </a:solidFill>
                    <a:latin typeface="Arial"/>
                  </a:rPr>
                  <a:t>' relations (proportionality of pairs) become transitive if the zero pair is excluded: on non-zero pairs over a field it is an equivalence relation (classes are lines through </a:t>
                </a:r>
                <a:r>
                  <a:rPr lang="en-IN" sz="2400">
                    <a:solidFill>
                      <a:srgbClr val="111827"/>
                    </a:solidFill>
                    <a:latin typeface="Cambria Math" panose="02040503050406030204" pitchFamily="18" charset="0"/>
                  </a:rPr>
                  <a:t>$0$</a:t>
                </a:r>
                <a:r>
                  <a:rPr sz="2400" b="0">
                    <a:solidFill>
                      <a:srgbClr val="111827"/>
                    </a:solidFill>
                    <a:latin typeface="Arial"/>
                  </a:rPr>
                  <a:t>). Over </a:t>
                </a:r>
                <a:r>
                  <a:rPr lang="en-IN" sz="2400">
                    <a:solidFill>
                      <a:srgbClr val="111827"/>
                    </a:solidFill>
                    <a:latin typeface="Cambria Math" panose="02040503050406030204" pitchFamily="18" charset="0"/>
                  </a:rPr>
                  <a:t>$\mathbb{Z}_5$</a:t>
                </a:r>
                <a:r>
                  <a:rPr sz="2400" b="0">
                    <a:solidFill>
                      <a:srgbClr val="111827"/>
                    </a:solidFill>
                    <a:latin typeface="Arial"/>
                  </a:rPr>
                  <a:t> this is exactly where </a:t>
                </a:r>
                <a:r>
                  <a:rPr lang="en-IN" sz="2400">
                    <a:solidFill>
                      <a:srgbClr val="111827"/>
                    </a:solidFill>
                    <a:latin typeface="Cambria Math" panose="02040503050406030204" pitchFamily="18" charset="0"/>
                  </a:rPr>
                  <a:t>$(0,0)$</a:t>
                </a:r>
                <a:r>
                  <a:rPr sz="2400" b="0">
                    <a:solidFill>
                      <a:srgbClr val="111827"/>
                    </a:solidFill>
                    <a:latin typeface="Arial"/>
                  </a:rPr>
                  <a:t> is the only spoiler.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transitivity counterexample: use a 'universal' element (zero vector, empty set, </a:t>
                </a:r>
                <a:r>
                  <a:rPr lang="en-IN" sz="2400">
                    <a:solidFill>
                      <a:srgbClr val="111827"/>
                    </a:solidFill>
                    <a:latin typeface="Cambria Math" panose="02040503050406030204" pitchFamily="18" charset="0"/>
                  </a:rPr>
                  <a:t>$0$</a:t>
                </a:r>
                <a:r>
                  <a:rPr sz="2400" b="0">
                    <a:solidFill>
                      <a:srgbClr val="111827"/>
                    </a:solidFill>
                    <a:latin typeface="Arial"/>
                  </a:rPr>
                  <a:t>) that is related to everything.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of a relation defined by a skew expression </a:t>
                </a:r>
                <a:r>
                  <a:rPr lang="en-IN" sz="2400">
                    <a:solidFill>
                      <a:srgbClr val="111827"/>
                    </a:solidFill>
                    <a:latin typeface="Cambria Math" panose="02040503050406030204" pitchFamily="18" charset="0"/>
                  </a:rPr>
                  <a:t>$f(x,y)=-f(y,x)$</a:t>
                </a:r>
                <a:r>
                  <a:rPr sz="2400" b="0">
                    <a:solidFill>
                      <a:srgbClr val="111827"/>
                    </a:solidFill>
                    <a:latin typeface="Arial"/>
                  </a:rPr>
                  <a:t> with condition </a:t>
                </a:r>
                <a:r>
                  <a:rPr lang="en-IN" sz="2400">
                    <a:solidFill>
                      <a:srgbClr val="111827"/>
                    </a:solidFill>
                    <a:latin typeface="Cambria Math" panose="02040503050406030204" pitchFamily="18" charset="0"/>
                  </a:rPr>
                  <a:t>$f=0$</a:t>
                </a:r>
                <a:r>
                  <a:rPr sz="2400" b="0">
                    <a:solidFill>
                      <a:srgbClr val="111827"/>
                    </a:solidFill>
                    <a:latin typeface="Arial"/>
                  </a:rPr>
                  <a:t> (or </a:t>
                </a:r>
                <a:r>
                  <a:rPr lang="en-IN" sz="2400">
                    <a:solidFill>
                      <a:srgbClr val="111827"/>
                    </a:solidFill>
                    <a:latin typeface="Cambria Math" panose="02040503050406030204" pitchFamily="18" charset="0"/>
                  </a:rPr>
                  <a:t>$f\equiv0$</a:t>
                </a:r>
                <a:r>
                  <a:rPr sz="2400" b="0">
                    <a:solidFill>
                      <a:srgbClr val="111827"/>
                    </a:solidFill>
                    <a:latin typeface="Arial"/>
                  </a:rPr>
                  <a:t> mod </a:t>
                </a:r>
                <a:r>
                  <a:rPr lang="en-IN" sz="2400">
                    <a:solidFill>
                      <a:srgbClr val="111827"/>
                    </a:solidFill>
                    <a:latin typeface="Cambria Math" panose="02040503050406030204" pitchFamily="18" charset="0"/>
                  </a:rPr>
                  <a:t>$m$</a:t>
                </a:r>
                <a:r>
                  <a:rPr sz="2400" b="0">
                    <a:solidFill>
                      <a:srgbClr val="111827"/>
                    </a:solidFill>
                    <a:latin typeface="Arial"/>
                  </a:rPr>
                  <a:t>)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t>
                </a:r>
                <a:r>
                  <a:rPr lang="en-IN" sz="2400">
                    <a:solidFill>
                      <a:srgbClr val="111827"/>
                    </a:solidFill>
                    <a:latin typeface="Cambria Math" panose="02040503050406030204" pitchFamily="18" charset="0"/>
                  </a:rPr>
                  <a:t>$g(x)=g(y)$</a:t>
                </a:r>
                <a:r>
                  <a:rPr sz="2400" b="0">
                    <a:solidFill>
                      <a:srgbClr val="111827"/>
                    </a:solidFill>
                    <a:latin typeface="Arial"/>
                  </a:rPr>
                  <a:t> is always an equivalence; one defined by </a:t>
                </a:r>
                <a:r>
                  <a:rPr lang="en-IN" sz="2400">
                    <a:solidFill>
                      <a:srgbClr val="111827"/>
                    </a:solidFill>
                    <a:latin typeface="Cambria Math" panose="02040503050406030204" pitchFamily="18" charset="0"/>
                  </a:rPr>
                  <a:t>$f(x,y)\equiv0$</a:t>
                </a:r>
                <a:r>
                  <a:rPr sz="2400" b="0">
                    <a:solidFill>
                      <a:srgbClr val="111827"/>
                    </a:solidFill>
                    <a:latin typeface="Arial"/>
                  </a:rPr>
                  <a:t> with a determinant-type </a:t>
                </a:r>
                <a:r>
                  <a:rPr lang="en-IN" sz="2400">
                    <a:solidFill>
                      <a:srgbClr val="111827"/>
                    </a:solidFill>
                    <a:latin typeface="Cambria Math" panose="02040503050406030204" pitchFamily="18" charset="0"/>
                  </a:rPr>
                  <a:t>$f$</a:t>
                </a:r>
                <a:r>
                  <a:rPr sz="2400" b="0">
                    <a:solidFill>
                      <a:srgbClr val="111827"/>
                    </a:solidFill>
                    <a:latin typeface="Arial"/>
                  </a:rPr>
                  <a:t> is not, in general.</a:t>
                </a:r>
                <a:endParaRPr sz="2400">
                  <a:solidFill>
                    <a:srgbClr val="111827"/>
                  </a:solidFill>
                </a:endParaRPr>
              </a:p>
            </p:txBody>
          </p:sp>
        </mc:Fallback>
      </mc:AlternateContent>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smallest equivalence relation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__________.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a:t>
                </a:r>
                <a:r>
                  <a:rPr sz="2400" b="0">
                    <a:solidFill>
                      <a:srgbClr val="111827"/>
                    </a:solidFill>
                    <a:latin typeface="Arial"/>
                  </a:rPr>
                  <a:t> is the smallest equivalence relation on the set </a:t>
                </a:r>
                <a:r>
                  <a:rPr lang="en-IN" sz="2400">
                    <a:solidFill>
                      <a:srgbClr val="111827"/>
                    </a:solidFill>
                    <a:latin typeface="Cambria Math" panose="02040503050406030204" pitchFamily="18" charset="0"/>
                  </a:rPr>
                  <a:t>$\{1,2,3,4\}$</a:t>
                </a:r>
                <a:r>
                  <a:rPr sz="2400" b="0">
                    <a:solidFill>
                      <a:srgbClr val="111827"/>
                    </a:solidFill>
                    <a:latin typeface="Arial"/>
                  </a:rPr>
                  <a:t> such that </a:t>
                </a:r>
                <a:r>
                  <a:rPr lang="en-IN" sz="2400">
                    <a:solidFill>
                      <a:srgbClr val="111827"/>
                    </a:solidFill>
                    <a:latin typeface="Cambria Math" panose="02040503050406030204" pitchFamily="18" charset="0"/>
                  </a:rPr>
                  <a:t>$\{(1,2),(1,3)\}\subset R$</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 __________.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(B) </a:t>
                </a:r>
                <a:r>
                  <a:rPr lang="en-IN" sz="2400">
                    <a:solidFill>
                      <a:srgbClr val="111827"/>
                    </a:solidFill>
                    <a:latin typeface="Cambria Math" panose="02040503050406030204" pitchFamily="18" charset="0"/>
                  </a:rPr>
                  <a:t>$12$</a:t>
                </a:r>
                <a:r>
                  <a:rPr sz="2400" b="0">
                    <a:solidFill>
                      <a:srgbClr val="111827"/>
                    </a:solidFill>
                    <a:latin typeface="Arial"/>
                  </a:rPr>
                  <a:t>   (C) </a:t>
                </a:r>
                <a:r>
                  <a:rPr lang="en-IN" sz="2400">
                    <a:solidFill>
                      <a:srgbClr val="111827"/>
                    </a:solidFill>
                    <a:latin typeface="Cambria Math" panose="02040503050406030204" pitchFamily="18" charset="0"/>
                  </a:rPr>
                  <a:t>$8$</a:t>
                </a:r>
                <a:r>
                  <a:rPr sz="2400" b="0">
                    <a:solidFill>
                      <a:srgbClr val="111827"/>
                    </a:solidFill>
                    <a:latin typeface="Arial"/>
                  </a:rPr>
                  <a:t>   (D) </a:t>
                </a:r>
                <a:r>
                  <a:rPr lang="en-IN" sz="2400">
                    <a:solidFill>
                      <a:srgbClr val="111827"/>
                    </a:solidFill>
                    <a:latin typeface="Cambria Math" panose="02040503050406030204" pitchFamily="18" charset="0"/>
                  </a:rPr>
                  <a:t>$15$</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Smallest equivalence relation containing given pairs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Closing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under reflexive, symmetric and transitive rules merges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into one class and leaves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alone.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Closing </a:t>
                </a:r>
                <a:r>
                  <a:rPr lang="en-IN" sz="2400">
                    <a:solidFill>
                      <a:srgbClr val="78350F"/>
                    </a:solidFill>
                    <a:latin typeface="Cambria Math" panose="02040503050406030204" pitchFamily="18" charset="0"/>
                  </a:rPr>
                  <a:t>$\{(1,2),(1,3)\}$</a:t>
                </a:r>
                <a:r>
                  <a:rPr sz="2400" b="0">
                    <a:solidFill>
                      <a:srgbClr val="78350F"/>
                    </a:solidFill>
                    <a:latin typeface="Arial"/>
                  </a:rPr>
                  <a:t> under reflexive, symmetric and transitive rules merges </a:t>
                </a:r>
                <a:r>
                  <a:rPr lang="en-IN" sz="2400">
                    <a:solidFill>
                      <a:srgbClr val="78350F"/>
                    </a:solidFill>
                    <a:latin typeface="Cambria Math" panose="02040503050406030204" pitchFamily="18" charset="0"/>
                  </a:rPr>
                  <a:t>$1,2,3$</a:t>
                </a:r>
                <a:r>
                  <a:rPr sz="2400" b="0">
                    <a:solidFill>
                      <a:srgbClr val="78350F"/>
                    </a:solidFill>
                    <a:latin typeface="Arial"/>
                  </a:rPr>
                  <a:t> into one class and leaves </a:t>
                </a:r>
                <a:r>
                  <a:rPr lang="en-IN" sz="2400">
                    <a:solidFill>
                      <a:srgbClr val="78350F"/>
                    </a:solidFill>
                    <a:latin typeface="Cambria Math" panose="02040503050406030204" pitchFamily="18" charset="0"/>
                  </a:rPr>
                  <a:t>$\{4\}$</a:t>
                </a:r>
                <a:r>
                  <a:rPr sz="2400" b="0">
                    <a:solidFill>
                      <a:srgbClr val="78350F"/>
                    </a:solidFill>
                    <a:latin typeface="Arial"/>
                  </a:rPr>
                  <a:t> alone.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reflexivity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must contain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symmetry,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requires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requires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reflexivity </a:t>
                </a:r>
                <a:r>
                  <a:rPr lang="en-IN" sz="2400">
                    <a:solidFill>
                      <a:srgbClr val="111827"/>
                    </a:solidFill>
                    <a:latin typeface="Cambria Math" panose="02040503050406030204" pitchFamily="18" charset="0"/>
                  </a:rPr>
                  <a:t>$R$</a:t>
                </a:r>
                <a:r>
                  <a:rPr sz="2400" b="0">
                    <a:solidFill>
                      <a:srgbClr val="111827"/>
                    </a:solidFill>
                    <a:latin typeface="Arial"/>
                  </a:rPr>
                  <a:t> must contain </a:t>
                </a:r>
                <a:r>
                  <a:rPr lang="en-IN" sz="2400">
                    <a:solidFill>
                      <a:srgbClr val="111827"/>
                    </a:solidFill>
                    <a:latin typeface="Cambria Math" panose="02040503050406030204" pitchFamily="18" charset="0"/>
                  </a:rPr>
                  <a:t>$(1,1),(2,2),(3,3),(4,4)$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$R=\{(1,1),(1,2),(2,2),(1,3),(3,3),(4,4)\}$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symmetry, </a:t>
                </a:r>
                <a:r>
                  <a:rPr lang="en-IN" sz="2400">
                    <a:solidFill>
                      <a:srgbClr val="111827"/>
                    </a:solidFill>
                    <a:latin typeface="Cambria Math" panose="02040503050406030204" pitchFamily="18" charset="0"/>
                  </a:rPr>
                  <a:t>$(1,2)$</a:t>
                </a:r>
                <a:r>
                  <a:rPr sz="2400" b="0">
                    <a:solidFill>
                      <a:srgbClr val="111827"/>
                    </a:solidFill>
                    <a:latin typeface="Arial"/>
                  </a:rPr>
                  <a:t> requires </a:t>
                </a:r>
                <a:r>
                  <a:rPr lang="en-IN" sz="2400">
                    <a:solidFill>
                      <a:srgbClr val="111827"/>
                    </a:solidFill>
                    <a:latin typeface="Cambria Math" panose="02040503050406030204" pitchFamily="18" charset="0"/>
                  </a:rPr>
                  <a:t>$(2,1)$</a:t>
                </a:r>
                <a:r>
                  <a:rPr sz="2400" b="0">
                    <a:solidFill>
                      <a:srgbClr val="111827"/>
                    </a:solidFill>
                    <a:latin typeface="Arial"/>
                  </a:rPr>
                  <a:t> and </a:t>
                </a:r>
                <a:r>
                  <a:rPr lang="en-IN" sz="2400">
                    <a:solidFill>
                      <a:srgbClr val="111827"/>
                    </a:solidFill>
                    <a:latin typeface="Cambria Math" panose="02040503050406030204" pitchFamily="18" charset="0"/>
                  </a:rPr>
                  <a:t>$(1,3)$</a:t>
                </a:r>
                <a:r>
                  <a:rPr sz="2400" b="0">
                    <a:solidFill>
                      <a:srgbClr val="111827"/>
                    </a:solidFill>
                    <a:latin typeface="Arial"/>
                  </a:rPr>
                  <a:t> requires </a:t>
                </a:r>
                <a:r>
                  <a:rPr lang="en-IN" sz="2400">
                    <a:solidFill>
                      <a:srgbClr val="111827"/>
                    </a:solidFill>
                    <a:latin typeface="Cambria Math" panose="02040503050406030204" pitchFamily="18" charset="0"/>
                  </a:rPr>
                  <a: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$R=\{(1,1),(1,2),(2,1),(2,2),(1,3),(3,1),(3,3),(4,4)\}$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transitivity requires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similarly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require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also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must have minimum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elements.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$(2,1)$</a:t>
                </a:r>
                <a:r>
                  <a:rPr sz="2400" b="0">
                    <a:solidFill>
                      <a:srgbClr val="111827"/>
                    </a:solidFill>
                    <a:latin typeface="Arial"/>
                  </a:rPr>
                  <a:t> and </a:t>
                </a:r>
                <a:r>
                  <a:rPr lang="en-IN" sz="2400">
                    <a:solidFill>
                      <a:srgbClr val="111827"/>
                    </a:solidFill>
                    <a:latin typeface="Cambria Math" panose="02040503050406030204" pitchFamily="18" charset="0"/>
                  </a:rPr>
                  <a:t>$(1,3)$</a:t>
                </a:r>
                <a:r>
                  <a:rPr sz="2400" b="0">
                    <a:solidFill>
                      <a:srgbClr val="111827"/>
                    </a:solidFill>
                    <a:latin typeface="Arial"/>
                  </a:rPr>
                  <a:t> are in </a:t>
                </a:r>
                <a:r>
                  <a:rPr lang="en-IN" sz="2400">
                    <a:solidFill>
                      <a:srgbClr val="111827"/>
                    </a:solidFill>
                    <a:latin typeface="Cambria Math" panose="02040503050406030204" pitchFamily="18" charset="0"/>
                  </a:rPr>
                  <a:t>$R$</a:t>
                </a:r>
                <a:r>
                  <a:rPr sz="2400" b="0">
                    <a:solidFill>
                      <a:srgbClr val="111827"/>
                    </a:solidFill>
                    <a:latin typeface="Arial"/>
                  </a:rPr>
                  <a:t>, transitivity requires </a:t>
                </a:r>
                <a:r>
                  <a:rPr lang="en-IN" sz="2400">
                    <a:solidFill>
                      <a:srgbClr val="111827"/>
                    </a:solidFill>
                    <a:latin typeface="Cambria Math" panose="02040503050406030204" pitchFamily="18" charset="0"/>
                  </a:rPr>
                  <a:t>$(2,3)$</a:t>
                </a:r>
                <a:r>
                  <a:rPr sz="2400" b="0">
                    <a:solidFill>
                      <a:srgbClr val="111827"/>
                    </a:solidFill>
                    <a:latin typeface="Arial"/>
                  </a:rPr>
                  <a:t>; similarly </a:t>
                </a:r>
                <a:r>
                  <a:rPr lang="en-IN" sz="2400">
                    <a:solidFill>
                      <a:srgbClr val="111827"/>
                    </a:solidFill>
                    <a:latin typeface="Cambria Math" panose="02040503050406030204" pitchFamily="18" charset="0"/>
                  </a:rPr>
                  <a:t>$(3,1)$</a:t>
                </a:r>
                <a:r>
                  <a:rPr sz="2400" b="0">
                    <a:solidFill>
                      <a:srgbClr val="111827"/>
                    </a:solidFill>
                    <a:latin typeface="Arial"/>
                  </a:rPr>
                  <a:t> and </a:t>
                </a:r>
                <a:r>
                  <a:rPr lang="en-IN" sz="2400">
                    <a:solidFill>
                      <a:srgbClr val="111827"/>
                    </a:solidFill>
                    <a:latin typeface="Cambria Math" panose="02040503050406030204" pitchFamily="18" charset="0"/>
                  </a:rPr>
                  <a:t>$(1,2)$</a:t>
                </a:r>
                <a:r>
                  <a:rPr sz="2400" b="0">
                    <a:solidFill>
                      <a:srgbClr val="111827"/>
                    </a:solidFill>
                    <a:latin typeface="Arial"/>
                  </a:rPr>
                  <a:t> require </a:t>
                </a:r>
                <a:r>
                  <a:rPr lang="en-IN" sz="2400">
                    <a:solidFill>
                      <a:srgbClr val="111827"/>
                    </a:solidFill>
                    <a:latin typeface="Cambria Math" panose="02040503050406030204" pitchFamily="18" charset="0"/>
                  </a:rPr>
                  <a: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$R=\{(1,1),(1,2),(2,1),(2,2),(3,3),(4,4),(3,2),(2,3),(1,3),(3,1)\}$</a:t>
                </a:r>
                <a:r>
                  <a:rPr sz="2400" b="0">
                    <a:solidFill>
                      <a:srgbClr val="111827"/>
                    </a:solidFill>
                    <a:latin typeface="Arial"/>
                  </a:rPr>
                  <a:t>, which is also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a:t>
                </a:r>
                <a:r>
                  <a:rPr sz="2400" b="0">
                    <a:solidFill>
                      <a:srgbClr val="111827"/>
                    </a:solidFill>
                    <a:latin typeface="Arial"/>
                  </a:rPr>
                  <a:t> must have minimum </a:t>
                </a:r>
                <a:r>
                  <a:rPr lang="en-IN" sz="2400">
                    <a:solidFill>
                      <a:srgbClr val="111827"/>
                    </a:solidFill>
                    <a:latin typeface="Cambria Math" panose="02040503050406030204" pitchFamily="18" charset="0"/>
                  </a:rPr>
                  <a:t>$10$</a:t>
                </a:r>
                <a:r>
                  <a:rPr sz="2400" b="0">
                    <a:solidFill>
                      <a:srgbClr val="111827"/>
                    </a:solidFill>
                    <a:latin typeface="Arial"/>
                  </a:rPr>
                  <a:t> elements.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10</a:t>
            </a:r>
            <a:endParaRPr sz="2800">
              <a:solidFill>
                <a:srgbClr val="15803D"/>
              </a:solidFill>
            </a:endParaRP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is a partition into classes; the smallest one containing the pairs has classes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is a partition into classes; the smallest one containing the pairs has classes </a:t>
                </a:r>
                <a:r>
                  <a:rPr lang="en-IN" sz="2400">
                    <a:solidFill>
                      <a:srgbClr val="78350F"/>
                    </a:solidFill>
                    <a:latin typeface="Cambria Math" panose="02040503050406030204" pitchFamily="18" charset="0"/>
                  </a:rPr>
                  <a:t>$\{1,2,3\}$</a:t>
                </a:r>
                <a:r>
                  <a:rPr sz="2400" b="0">
                    <a:solidFill>
                      <a:srgbClr val="78350F"/>
                    </a:solidFill>
                    <a:latin typeface="Arial"/>
                  </a:rPr>
                  <a:t> and </a:t>
                </a:r>
                <a:r>
                  <a:rPr lang="en-IN" sz="2400">
                    <a:solidFill>
                      <a:srgbClr val="78350F"/>
                    </a:solidFill>
                    <a:latin typeface="Cambria Math" panose="02040503050406030204" pitchFamily="18" charset="0"/>
                  </a:rPr>
                  <a:t>$\{4\}$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into one class; nothing links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the smallest equivalence relation has classes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class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contributes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ordered pairs: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$1\sim2$</a:t>
                </a:r>
                <a:r>
                  <a:rPr sz="2400" b="0">
                    <a:solidFill>
                      <a:srgbClr val="111827"/>
                    </a:solidFill>
                    <a:latin typeface="Arial"/>
                  </a:rPr>
                  <a:t> and </a:t>
                </a:r>
                <a:r>
                  <a:rPr lang="en-IN" sz="2400">
                    <a:solidFill>
                      <a:srgbClr val="111827"/>
                    </a:solidFill>
                    <a:latin typeface="Cambria Math" panose="02040503050406030204" pitchFamily="18" charset="0"/>
                  </a:rPr>
                  <a:t>$1\sim3$</a:t>
                </a:r>
                <a:r>
                  <a:rPr sz="2400" b="0">
                    <a:solidFill>
                      <a:srgbClr val="111827"/>
                    </a:solidFill>
                    <a:latin typeface="Arial"/>
                  </a:rPr>
                  <a:t> force </a:t>
                </a:r>
                <a:r>
                  <a:rPr lang="en-IN" sz="2400">
                    <a:solidFill>
                      <a:srgbClr val="111827"/>
                    </a:solidFill>
                    <a:latin typeface="Cambria Math" panose="02040503050406030204" pitchFamily="18" charset="0"/>
                  </a:rPr>
                  <a:t>$1,2,3$</a:t>
                </a:r>
                <a:r>
                  <a:rPr sz="2400" b="0">
                    <a:solidFill>
                      <a:srgbClr val="111827"/>
                    </a:solidFill>
                    <a:latin typeface="Arial"/>
                  </a:rPr>
                  <a:t> into one class; nothing links </a:t>
                </a:r>
                <a:r>
                  <a:rPr lang="en-IN" sz="2400">
                    <a:solidFill>
                      <a:srgbClr val="111827"/>
                    </a:solidFill>
                    <a:latin typeface="Cambria Math" panose="02040503050406030204" pitchFamily="18" charset="0"/>
                  </a:rPr>
                  <a:t>$4$</a:t>
                </a:r>
                <a:r>
                  <a:rPr sz="2400" b="0">
                    <a:solidFill>
                      <a:srgbClr val="111827"/>
                    </a:solidFill>
                    <a:latin typeface="Arial"/>
                  </a:rPr>
                  <a:t>, so the smallest equivalence relation has classes </a:t>
                </a:r>
                <a:r>
                  <a:rPr lang="en-IN" sz="2400">
                    <a:solidFill>
                      <a:srgbClr val="111827"/>
                    </a:solidFill>
                    <a:latin typeface="Cambria Math" panose="02040503050406030204" pitchFamily="18" charset="0"/>
                  </a:rPr>
                  <a:t>$\{1,2,3\}$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class of size </a:t>
                </a:r>
                <a:r>
                  <a:rPr lang="en-IN" sz="2400">
                    <a:solidFill>
                      <a:srgbClr val="111827"/>
                    </a:solidFill>
                    <a:latin typeface="Cambria Math" panose="02040503050406030204" pitchFamily="18" charset="0"/>
                  </a:rPr>
                  <a:t>$k$</a:t>
                </a:r>
                <a:r>
                  <a:rPr sz="2400" b="0">
                    <a:solidFill>
                      <a:srgbClr val="111827"/>
                    </a:solidFill>
                    <a:latin typeface="Arial"/>
                  </a:rPr>
                  <a:t> contributes </a:t>
                </a:r>
                <a:r>
                  <a:rPr lang="en-IN" sz="2400">
                    <a:solidFill>
                      <a:srgbClr val="111827"/>
                    </a:solidFill>
                    <a:latin typeface="Cambria Math" panose="02040503050406030204" pitchFamily="18" charset="0"/>
                  </a:rPr>
                  <a:t>$k^2$</a:t>
                </a:r>
                <a:r>
                  <a:rPr sz="2400" b="0">
                    <a:solidFill>
                      <a:srgbClr val="111827"/>
                    </a:solidFill>
                    <a:latin typeface="Arial"/>
                  </a:rPr>
                  <a:t> ordered pairs: </a:t>
                </a:r>
                <a:r>
                  <a:rPr lang="en-IN" sz="2400">
                    <a:solidFill>
                      <a:srgbClr val="111827"/>
                    </a:solidFill>
                    <a:latin typeface="Cambria Math" panose="02040503050406030204" pitchFamily="18" charset="0"/>
                  </a:rPr>
                  <a:t>$3^2+1^2=10$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10</a:t>
            </a:r>
            <a:endParaRPr sz="2800">
              <a:solidFill>
                <a:srgbClr val="15803D"/>
              </a:solidFill>
            </a:endParaRP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relations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correspond to partitions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 class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contributes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ordered pairs,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given pairs: join elements connected through the pairs (connected components of the graph); each component is one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equivalence relations 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is the Bell number: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 of an equivalence relation on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elements lies between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(identity)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(universal).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relations on </a:t>
                </a:r>
                <a:r>
                  <a:rPr lang="en-IN" sz="2400">
                    <a:solidFill>
                      <a:srgbClr val="111827"/>
                    </a:solidFill>
                    <a:latin typeface="Cambria Math" panose="02040503050406030204" pitchFamily="18" charset="0"/>
                  </a:rPr>
                  <a:t>$A$</a:t>
                </a:r>
                <a:r>
                  <a:rPr sz="2400" b="0">
                    <a:solidFill>
                      <a:srgbClr val="111827"/>
                    </a:solidFill>
                    <a:latin typeface="Arial"/>
                  </a:rPr>
                  <a:t> correspond to partitions of </a:t>
                </a:r>
                <a:r>
                  <a:rPr lang="en-IN" sz="2400">
                    <a:solidFill>
                      <a:srgbClr val="111827"/>
                    </a:solidFill>
                    <a:latin typeface="Cambria Math" panose="02040503050406030204" pitchFamily="18" charset="0"/>
                  </a:rPr>
                  <a:t>$A$</a:t>
                </a:r>
                <a:r>
                  <a:rPr sz="2400" b="0">
                    <a:solidFill>
                      <a:srgbClr val="111827"/>
                    </a:solidFill>
                    <a:latin typeface="Arial"/>
                  </a:rPr>
                  <a:t>; a class of size </a:t>
                </a:r>
                <a:r>
                  <a:rPr lang="en-IN" sz="2400">
                    <a:solidFill>
                      <a:srgbClr val="111827"/>
                    </a:solidFill>
                    <a:latin typeface="Cambria Math" panose="02040503050406030204" pitchFamily="18" charset="0"/>
                  </a:rPr>
                  <a:t>$k$</a:t>
                </a:r>
                <a:r>
                  <a:rPr sz="2400" b="0">
                    <a:solidFill>
                      <a:srgbClr val="111827"/>
                    </a:solidFill>
                    <a:latin typeface="Arial"/>
                  </a:rPr>
                  <a:t> contributes </a:t>
                </a:r>
                <a:r>
                  <a:rPr lang="en-IN" sz="2400">
                    <a:solidFill>
                      <a:srgbClr val="111827"/>
                    </a:solidFill>
                    <a:latin typeface="Cambria Math" panose="02040503050406030204" pitchFamily="18" charset="0"/>
                  </a:rPr>
                  <a:t>$k^2$</a:t>
                </a:r>
                <a:r>
                  <a:rPr sz="2400" b="0">
                    <a:solidFill>
                      <a:srgbClr val="111827"/>
                    </a:solidFill>
                    <a:latin typeface="Arial"/>
                  </a:rPr>
                  <a:t> ordered pairs, so </a:t>
                </a:r>
                <a:r>
                  <a:rPr lang="en-IN" sz="2400">
                    <a:solidFill>
                      <a:srgbClr val="111827"/>
                    </a:solidFill>
                    <a:latin typeface="Cambria Math" panose="02040503050406030204" pitchFamily="18" charset="0"/>
                  </a:rPr>
                  <a:t>$|R|=\sum k_i^2$</a:t>
                </a:r>
                <a:r>
                  <a:rPr sz="2400" b="0">
                    <a:solidFill>
                      <a:srgbClr val="111827"/>
                    </a:solidFill>
                    <a:latin typeface="Arial"/>
                  </a:rPr>
                  <a:t> (here </a:t>
                </a:r>
                <a:r>
                  <a:rPr lang="en-IN" sz="2400">
                    <a:solidFill>
                      <a:srgbClr val="111827"/>
                    </a:solidFill>
                    <a:latin typeface="Cambria Math" panose="02040503050406030204" pitchFamily="18" charset="0"/>
                  </a:rPr>
                  <a:t>$9+1=10$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given pairs: join elements connected through the pairs (connected components of the graph); each component is one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equivalence relations on an </a:t>
                </a:r>
                <a:r>
                  <a:rPr lang="en-IN" sz="2400">
                    <a:solidFill>
                      <a:srgbClr val="111827"/>
                    </a:solidFill>
                    <a:latin typeface="Cambria Math" panose="02040503050406030204" pitchFamily="18" charset="0"/>
                  </a:rPr>
                  <a:t>$n$</a:t>
                </a:r>
                <a:r>
                  <a:rPr sz="2400" b="0">
                    <a:solidFill>
                      <a:srgbClr val="111827"/>
                    </a:solidFill>
                    <a:latin typeface="Arial"/>
                  </a:rPr>
                  <a:t>-set is the Bell number: </a:t>
                </a:r>
                <a:r>
                  <a:rPr lang="en-IN" sz="2400">
                    <a:solidFill>
                      <a:srgbClr val="111827"/>
                    </a:solidFill>
                    <a:latin typeface="Cambria Math" panose="02040503050406030204" pitchFamily="18" charset="0"/>
                  </a:rPr>
                  <a:t>$1,2,5,15,52$</a:t>
                </a:r>
                <a:r>
                  <a:rPr sz="2400" b="0">
                    <a:solidFill>
                      <a:srgbClr val="111827"/>
                    </a:solidFill>
                    <a:latin typeface="Arial"/>
                  </a:rPr>
                  <a:t> for </a:t>
                </a:r>
                <a:r>
                  <a:rPr lang="en-IN" sz="2400">
                    <a:solidFill>
                      <a:srgbClr val="111827"/>
                    </a:solidFill>
                    <a:latin typeface="Cambria Math" panose="02040503050406030204" pitchFamily="18" charset="0"/>
                  </a:rPr>
                  <a:t>$n=1,\dots,5$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Size of an equivalence relation on </a:t>
                </a:r>
                <a:r>
                  <a:rPr lang="en-IN" sz="2400">
                    <a:solidFill>
                      <a:srgbClr val="111827"/>
                    </a:solidFill>
                    <a:latin typeface="Cambria Math" panose="02040503050406030204" pitchFamily="18" charset="0"/>
                  </a:rPr>
                  <a:t>$n$</a:t>
                </a:r>
                <a:r>
                  <a:rPr sz="2400" b="0">
                    <a:solidFill>
                      <a:srgbClr val="111827"/>
                    </a:solidFill>
                    <a:latin typeface="Arial"/>
                  </a:rPr>
                  <a:t> elements lies between </a:t>
                </a:r>
                <a:r>
                  <a:rPr lang="en-IN" sz="2400">
                    <a:solidFill>
                      <a:srgbClr val="111827"/>
                    </a:solidFill>
                    <a:latin typeface="Cambria Math" panose="02040503050406030204" pitchFamily="18" charset="0"/>
                  </a:rPr>
                  <a:t>$n$</a:t>
                </a:r>
                <a:r>
                  <a:rPr sz="2400" b="0">
                    <a:solidFill>
                      <a:srgbClr val="111827"/>
                    </a:solidFill>
                    <a:latin typeface="Arial"/>
                  </a:rPr>
                  <a:t> (identity) and </a:t>
                </a:r>
                <a:r>
                  <a:rPr lang="en-IN" sz="2400">
                    <a:solidFill>
                      <a:srgbClr val="111827"/>
                    </a:solidFill>
                    <a:latin typeface="Cambria Math" panose="02040503050406030204" pitchFamily="18" charset="0"/>
                  </a:rPr>
                  <a:t>$n^2$</a:t>
                </a:r>
                <a:r>
                  <a:rPr sz="2400" b="0">
                    <a:solidFill>
                      <a:srgbClr val="111827"/>
                    </a:solidFill>
                    <a:latin typeface="Arial"/>
                  </a:rPr>
                  <a:t> (universal).</a:t>
                </a:r>
                <a:endParaRPr sz="2400">
                  <a:solidFill>
                    <a:srgbClr val="111827"/>
                  </a:solidFill>
                </a:endParaRPr>
              </a:p>
            </p:txBody>
          </p:sp>
        </mc:Fallback>
      </mc:AlternateContent>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relations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defined as </a:t>
                </a:r>
                <a14:m>
                  <m:oMath xmlns:m="http://schemas.openxmlformats.org/officeDocument/2006/math">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 all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both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Only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relations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defined as </a:t>
                </a:r>
                <a:r>
                  <a:rPr lang="en-IN" sz="2400">
                    <a:solidFill>
                      <a:srgbClr val="111827"/>
                    </a:solidFill>
                    <a:latin typeface="Cambria Math" panose="02040503050406030204" pitchFamily="18" charset="0"/>
                  </a:rPr>
                  <a:t>$aR_1b\iff a^2+b^2=1$</a:t>
                </a:r>
                <a:r>
                  <a:rPr sz="2400" b="0">
                    <a:solidFill>
                      <a:srgbClr val="111827"/>
                    </a:solidFill>
                    <a:latin typeface="Arial"/>
                  </a:rPr>
                  <a:t> for all </a:t>
                </a:r>
                <a:r>
                  <a:rPr lang="en-IN" sz="2400">
                    <a:solidFill>
                      <a:srgbClr val="111827"/>
                    </a:solidFill>
                    <a:latin typeface="Cambria Math" panose="02040503050406030204" pitchFamily="18" charset="0"/>
                  </a:rPr>
                  <a:t>$a,b\in\mathbb{R}$</a:t>
                </a:r>
                <a:r>
                  <a:rPr sz="2400" b="0">
                    <a:solidFill>
                      <a:srgbClr val="111827"/>
                    </a:solidFill>
                    <a:latin typeface="Arial"/>
                  </a:rPr>
                  <a:t> and </a:t>
                </a:r>
                <a:r>
                  <a:rPr lang="en-IN" sz="2400">
                    <a:solidFill>
                      <a:srgbClr val="111827"/>
                    </a:solidFill>
                    <a:latin typeface="Cambria Math" panose="02040503050406030204" pitchFamily="18" charset="0"/>
                  </a:rPr>
                  <a:t>$(a,b)R_2(c,d)\iff a+d=b+c$</a:t>
                </a:r>
                <a:r>
                  <a:rPr sz="2400" b="0">
                    <a:solidFill>
                      <a:srgbClr val="111827"/>
                    </a:solidFill>
                    <a:latin typeface="Arial"/>
                  </a:rPr>
                  <a:t> for all </a:t>
                </a:r>
                <a:r>
                  <a:rPr lang="en-IN" sz="2400">
                    <a:solidFill>
                      <a:srgbClr val="111827"/>
                    </a:solidFill>
                    <a:latin typeface="Cambria Math" panose="02040503050406030204" pitchFamily="18" charset="0"/>
                  </a:rPr>
                  <a:t>$(a,b),(c,d)\in\mathbb{N}\times\mathbb{N}$</a:t>
                </a:r>
                <a:r>
                  <a:rPr sz="2400" b="0">
                    <a:solidFill>
                      <a:srgbClr val="111827"/>
                    </a:solidFill>
                    <a:latin typeface="Arial"/>
                  </a:rPr>
                  <a:t>. Then: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both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Only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fails reflexivity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is false for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says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oMath>
                </a14:m>
                <a:r>
                  <a:rPr sz="2400" b="0">
                    <a:solidFill>
                      <a:srgbClr val="78350F"/>
                    </a:solidFill>
                    <a:latin typeface="Arial"/>
                  </a:rPr>
                  <a:t>, which is automatically an equivalence.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$R_1$</a:t>
                </a:r>
                <a:r>
                  <a:rPr sz="2400" b="0">
                    <a:solidFill>
                      <a:srgbClr val="78350F"/>
                    </a:solidFill>
                    <a:latin typeface="Arial"/>
                  </a:rPr>
                  <a:t> fails reflexivity (</a:t>
                </a:r>
                <a:r>
                  <a:rPr lang="en-IN" sz="2400">
                    <a:solidFill>
                      <a:srgbClr val="78350F"/>
                    </a:solidFill>
                    <a:latin typeface="Cambria Math" panose="02040503050406030204" pitchFamily="18" charset="0"/>
                  </a:rPr>
                  <a:t>$a^2+a^2=1$</a:t>
                </a:r>
                <a:r>
                  <a:rPr sz="2400" b="0">
                    <a:solidFill>
                      <a:srgbClr val="78350F"/>
                    </a:solidFill>
                    <a:latin typeface="Arial"/>
                  </a:rPr>
                  <a:t> is false for </a:t>
                </a:r>
                <a:r>
                  <a:rPr lang="en-IN" sz="2400">
                    <a:solidFill>
                      <a:srgbClr val="78350F"/>
                    </a:solidFill>
                    <a:latin typeface="Cambria Math" panose="02040503050406030204" pitchFamily="18" charset="0"/>
                  </a:rPr>
                  <a:t>$a=0$</a:t>
                </a:r>
                <a:r>
                  <a:rPr sz="2400" b="0">
                    <a:solidFill>
                      <a:srgbClr val="78350F"/>
                    </a:solidFill>
                    <a:latin typeface="Arial"/>
                  </a:rPr>
                  <a:t>); </a:t>
                </a:r>
                <a:r>
                  <a:rPr lang="en-IN" sz="2400">
                    <a:solidFill>
                      <a:srgbClr val="78350F"/>
                    </a:solidFill>
                    <a:latin typeface="Cambria Math" panose="02040503050406030204" pitchFamily="18" charset="0"/>
                  </a:rPr>
                  <a:t>$R_2$</a:t>
                </a:r>
                <a:r>
                  <a:rPr sz="2400" b="0">
                    <a:solidFill>
                      <a:srgbClr val="78350F"/>
                    </a:solidFill>
                    <a:latin typeface="Arial"/>
                  </a:rPr>
                  <a:t> says </a:t>
                </a:r>
                <a:r>
                  <a:rPr lang="en-IN" sz="2400">
                    <a:solidFill>
                      <a:srgbClr val="78350F"/>
                    </a:solidFill>
                    <a:latin typeface="Cambria Math" panose="02040503050406030204" pitchFamily="18" charset="0"/>
                  </a:rPr>
                  <a:t>$a-b=c-d$</a:t>
                </a:r>
                <a:r>
                  <a:rPr sz="2400" b="0">
                    <a:solidFill>
                      <a:srgbClr val="78350F"/>
                    </a:solidFill>
                    <a:latin typeface="Arial"/>
                  </a:rPr>
                  <a:t>, which is automatically an equivalence.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not reflexive,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$R_1=\{(a,b)\in\mathbb{R}\times\mathbb{R}:a^2+b^2=1\}$</a:t>
                </a:r>
                <a:r>
                  <a:rPr sz="2400" b="0">
                    <a:solidFill>
                      <a:srgbClr val="111827"/>
                    </a:solidFill>
                    <a:latin typeface="Arial"/>
                  </a:rPr>
                  <a:t>. It is not reflexive, since </a:t>
                </a:r>
                <a:r>
                  <a:rPr lang="en-IN" sz="2400">
                    <a:solidFill>
                      <a:srgbClr val="111827"/>
                    </a:solidFill>
                    <a:latin typeface="Cambria Math" panose="02040503050406030204" pitchFamily="18" charset="0"/>
                  </a:rPr>
                  <a:t>$(0,0)\notin R_1$</a:t>
                </a:r>
                <a:r>
                  <a:rPr sz="2400" b="0">
                    <a:solidFill>
                      <a:srgbClr val="111827"/>
                    </a:solidFill>
                    <a:latin typeface="Arial"/>
                  </a:rPr>
                  <a:t> (</a:t>
                </a:r>
                <a:r>
                  <a:rPr lang="en-IN" sz="2400">
                    <a:solidFill>
                      <a:srgbClr val="111827"/>
                    </a:solidFill>
                    <a:latin typeface="Cambria Math" panose="02040503050406030204" pitchFamily="18" charset="0"/>
                  </a:rPr>
                  <a:t>$0+0\neq1$</a:t>
                </a:r>
                <a:r>
                  <a:rPr sz="2400" b="0">
                    <a:solidFill>
                      <a:srgbClr val="111827"/>
                    </a:solidFill>
                    <a:latin typeface="Arial"/>
                  </a:rPr>
                  <a:t>). So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$(a,b)R_2(c,d)\iff a+d=b+c$</a:t>
                </a:r>
                <a:r>
                  <a:rPr sz="2400" b="0">
                    <a:solidFill>
                      <a:srgbClr val="111827"/>
                    </a:solidFill>
                    <a:latin typeface="Arial"/>
                  </a:rPr>
                  <a:t>. Reflexive: </a:t>
                </a:r>
                <a:r>
                  <a:rPr lang="en-IN" sz="2400">
                    <a:solidFill>
                      <a:srgbClr val="111827"/>
                    </a:solidFill>
                    <a:latin typeface="Cambria Math" panose="02040503050406030204" pitchFamily="18" charset="0"/>
                  </a:rPr>
                  <a:t>$(a,b)R_2(a,b)\iff a+b=b+a$</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$(a,b)R_2(c,d)\Rightarrow a+d=b+c\Rightarrow d+a=c+b\Rightarrow c+b=d+a\Rightarrow(c,d)R_2(a,b)$</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(1)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(1) and (2):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$(a,b)R_2(c,d)\Rightarrow a+d=b+c$</a:t>
                </a:r>
                <a:r>
                  <a:rPr sz="2400" b="0">
                    <a:solidFill>
                      <a:srgbClr val="111827"/>
                    </a:solidFill>
                    <a:latin typeface="Arial"/>
                  </a:rPr>
                  <a:t> (1) and </a:t>
                </a:r>
                <a:r>
                  <a:rPr lang="en-IN" sz="2400">
                    <a:solidFill>
                      <a:srgbClr val="111827"/>
                    </a:solidFill>
                    <a:latin typeface="Cambria Math" panose="02040503050406030204" pitchFamily="18" charset="0"/>
                  </a:rPr>
                  <a:t>$(c,d)R_2(e,f)\Rightarrow c+f=d+e$</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(1) and (2): </a:t>
                </a:r>
                <a:r>
                  <a:rPr lang="en-IN" sz="2400">
                    <a:solidFill>
                      <a:srgbClr val="111827"/>
                    </a:solidFill>
                    <a:latin typeface="Cambria Math" panose="02040503050406030204" pitchFamily="18" charset="0"/>
                  </a:rPr>
                  <a:t>$a+d+c+f=b+c+d+e$</a:t>
                </a:r>
                <a:r>
                  <a:rPr sz="2400" b="0">
                    <a:solidFill>
                      <a:srgbClr val="111827"/>
                    </a:solidFill>
                    <a:latin typeface="Arial"/>
                  </a:rPr>
                  <a:t>, so </a:t>
                </a:r>
                <a:r>
                  <a:rPr lang="en-IN" sz="2400">
                    <a:solidFill>
                      <a:srgbClr val="111827"/>
                    </a:solidFill>
                    <a:latin typeface="Cambria Math" panose="02040503050406030204" pitchFamily="18" charset="0"/>
                  </a:rPr>
                  <a:t>$a+f=b+e$</a:t>
                </a:r>
                <a:r>
                  <a:rPr sz="2400" b="0">
                    <a:solidFill>
                      <a:srgbClr val="111827"/>
                    </a:solidFill>
                    <a:latin typeface="Arial"/>
                  </a:rPr>
                  <a:t>, i.e. </a:t>
                </a:r>
                <a:r>
                  <a:rPr lang="en-IN" sz="2400">
                    <a:solidFill>
                      <a:srgbClr val="111827"/>
                    </a:solidFill>
                    <a:latin typeface="Cambria Math" panose="02040503050406030204" pitchFamily="18" charset="0"/>
                  </a:rPr>
                  <a:t>$(a,b)R_2(e,f)$</a:t>
                </a:r>
                <a:r>
                  <a:rPr sz="2400" b="0">
                    <a:solidFill>
                      <a:srgbClr val="111827"/>
                    </a:solidFill>
                    <a:latin typeface="Arial"/>
                  </a:rPr>
                  <a: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and </a:t>
                </a:r>
                <a:r>
                  <a:rPr lang="en-IN" sz="2400">
                    <a:solidFill>
                      <a:srgbClr val="111827"/>
                    </a:solidFill>
                    <a:latin typeface="Cambria Math" panose="02040503050406030204" pitchFamily="18" charset="0"/>
                  </a:rPr>
                  <a:t>$R_1$</a:t>
                </a:r>
                <a:r>
                  <a:rPr sz="2400" b="0">
                    <a:solidFill>
                      <a:srgbClr val="111827"/>
                    </a:solidFill>
                    <a:latin typeface="Arial"/>
                  </a:rPr>
                  <a:t> is not: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Only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Only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relates pairs having the same value of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so it is an equivalence automatically.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$a+d=b+c\iff a-b=c-d$</a:t>
                </a:r>
                <a:r>
                  <a:rPr sz="2400" b="0">
                    <a:solidFill>
                      <a:srgbClr val="78350F"/>
                    </a:solidFill>
                    <a:latin typeface="Arial"/>
                  </a:rPr>
                  <a:t>: </a:t>
                </a:r>
                <a:r>
                  <a:rPr lang="en-IN" sz="2400">
                    <a:solidFill>
                      <a:srgbClr val="78350F"/>
                    </a:solidFill>
                    <a:latin typeface="Cambria Math" panose="02040503050406030204" pitchFamily="18" charset="0"/>
                  </a:rPr>
                  <a:t>$R_2$</a:t>
                </a:r>
                <a:r>
                  <a:rPr sz="2400" b="0">
                    <a:solidFill>
                      <a:srgbClr val="78350F"/>
                    </a:solidFill>
                    <a:latin typeface="Arial"/>
                  </a:rPr>
                  <a:t> relates pairs having the same value of </a:t>
                </a:r>
                <a:r>
                  <a:rPr lang="en-IN" sz="2400">
                    <a:solidFill>
                      <a:srgbClr val="78350F"/>
                    </a:solidFill>
                    <a:latin typeface="Cambria Math" panose="02040503050406030204" pitchFamily="18" charset="0"/>
                  </a:rPr>
                  <a:t>$f(a,b)=a-b$</a:t>
                </a:r>
                <a:r>
                  <a:rPr sz="2400" b="0">
                    <a:solidFill>
                      <a:srgbClr val="78350F"/>
                    </a:solidFill>
                    <a:latin typeface="Arial"/>
                  </a:rPr>
                  <a:t>, so it is an equivalence automatically.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value of a function' is reflexive, symmetric and transitive,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its classes are the diagonals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𝑐𝑜𝑛𝑠𝑡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reflexive because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fails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only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$(a,b)R_2(c,d)\iff a-b=c-d$</a:t>
                </a:r>
                <a:r>
                  <a:rPr sz="2400" b="0">
                    <a:solidFill>
                      <a:srgbClr val="111827"/>
                    </a:solidFill>
                    <a:latin typeface="Arial"/>
                  </a:rPr>
                  <a:t>, i.e. </a:t>
                </a:r>
                <a:r>
                  <a:rPr lang="en-IN" sz="2400">
                    <a:solidFill>
                      <a:srgbClr val="111827"/>
                    </a:solidFill>
                    <a:latin typeface="Cambria Math" panose="02040503050406030204" pitchFamily="18" charset="0"/>
                  </a:rPr>
                  <a:t>$f(a,b)=f(c,d)$</a:t>
                </a:r>
                <a:r>
                  <a:rPr sz="2400" b="0">
                    <a:solidFill>
                      <a:srgbClr val="111827"/>
                    </a:solidFill>
                    <a:latin typeface="Arial"/>
                  </a:rPr>
                  <a:t> for </a:t>
                </a:r>
                <a:r>
                  <a:rPr lang="en-IN" sz="2400">
                    <a:solidFill>
                      <a:srgbClr val="111827"/>
                    </a:solidFill>
                    <a:latin typeface="Cambria Math" panose="02040503050406030204" pitchFamily="18" charset="0"/>
                  </a:rPr>
                  <a:t>$f(a,b)=a-b$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value of a function' is reflexive, symmetric and transitive, so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its classes are the diagonals </a:t>
                </a:r>
                <a:r>
                  <a:rPr lang="en-IN" sz="2400">
                    <a:solidFill>
                      <a:srgbClr val="111827"/>
                    </a:solidFill>
                    <a:latin typeface="Cambria Math" panose="02040503050406030204" pitchFamily="18" charset="0"/>
                  </a:rPr>
                  <a:t>$a-b=\text{const}$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is not reflexive because </a:t>
                </a:r>
                <a:r>
                  <a:rPr lang="en-IN" sz="2400">
                    <a:solidFill>
                      <a:srgbClr val="111827"/>
                    </a:solidFill>
                    <a:latin typeface="Cambria Math" panose="02040503050406030204" pitchFamily="18" charset="0"/>
                  </a:rPr>
                  <a:t>$a^2+a^2=1$</a:t>
                </a:r>
                <a:r>
                  <a:rPr sz="2400" b="0">
                    <a:solidFill>
                      <a:srgbClr val="111827"/>
                    </a:solidFill>
                    <a:latin typeface="Arial"/>
                  </a:rPr>
                  <a:t> fails at </a:t>
                </a:r>
                <a:r>
                  <a:rPr lang="en-IN" sz="2400">
                    <a:solidFill>
                      <a:srgbClr val="111827"/>
                    </a:solidFill>
                    <a:latin typeface="Cambria Math" panose="02040503050406030204" pitchFamily="18" charset="0"/>
                  </a:rPr>
                  <a:t>$a=0$</a:t>
                </a:r>
                <a:r>
                  <a:rPr sz="2400" b="0">
                    <a:solidFill>
                      <a:srgbClr val="111827"/>
                    </a:solidFill>
                    <a:latin typeface="Arial"/>
                  </a:rPr>
                  <a:t>. Hence only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Only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Only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relation of the form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and its classes are the level sets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like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 'locus' relation) is never reflexive on all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test one point, e.g.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spot a hidden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rearrange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related, both have difference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and transitive proofs for such relations are usually one line of algebra; symmetric uses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relation of the form </a:t>
                </a:r>
                <a:r>
                  <a:rPr lang="en-IN" sz="2400">
                    <a:solidFill>
                      <a:srgbClr val="111827"/>
                    </a:solidFill>
                    <a:latin typeface="Cambria Math" panose="02040503050406030204" pitchFamily="18" charset="0"/>
                  </a:rPr>
                  <a:t>$xRy\iff f(x)=f(y)$</a:t>
                </a:r>
                <a:r>
                  <a:rPr sz="2400" b="0">
                    <a:solidFill>
                      <a:srgbClr val="111827"/>
                    </a:solidFill>
                    <a:latin typeface="Arial"/>
                  </a:rPr>
                  <a:t> is an equivalence relation, and its classes are the level sets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like </a:t>
                </a:r>
                <a:r>
                  <a:rPr lang="en-IN" sz="2400">
                    <a:solidFill>
                      <a:srgbClr val="111827"/>
                    </a:solidFill>
                    <a:latin typeface="Cambria Math" panose="02040503050406030204" pitchFamily="18" charset="0"/>
                  </a:rPr>
                  <a:t>$a^2+b^2=1$</a:t>
                </a:r>
                <a:r>
                  <a:rPr sz="2400" b="0">
                    <a:solidFill>
                      <a:srgbClr val="111827"/>
                    </a:solidFill>
                    <a:latin typeface="Arial"/>
                  </a:rPr>
                  <a:t> (a 'locus' relation) is never reflexive on all of </a:t>
                </a:r>
                <a:r>
                  <a:rPr lang="en-IN" sz="2400">
                    <a:solidFill>
                      <a:srgbClr val="111827"/>
                    </a:solidFill>
                    <a:latin typeface="Cambria Math" panose="02040503050406030204" pitchFamily="18" charset="0"/>
                  </a:rPr>
                  <a:t>$\mathbb{R}$</a:t>
                </a:r>
                <a:r>
                  <a:rPr sz="2400" b="0">
                    <a:solidFill>
                      <a:srgbClr val="111827"/>
                    </a:solidFill>
                    <a:latin typeface="Arial"/>
                  </a:rPr>
                  <a:t>; test one point, e.g. </a:t>
                </a:r>
                <a:r>
                  <a:rPr lang="en-IN" sz="2400">
                    <a:solidFill>
                      <a:srgbClr val="111827"/>
                    </a:solidFill>
                    <a:latin typeface="Cambria Math" panose="02040503050406030204" pitchFamily="18" charset="0"/>
                  </a:rPr>
                  <a:t>$a=0$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spot a hidden </a:t>
                </a:r>
                <a:r>
                  <a:rPr lang="en-IN" sz="2400">
                    <a:solidFill>
                      <a:srgbClr val="111827"/>
                    </a:solidFill>
                    <a:latin typeface="Cambria Math" panose="02040503050406030204" pitchFamily="18" charset="0"/>
                  </a:rPr>
                  <a:t>$f(x)=f(y)$</a:t>
                </a:r>
                <a:r>
                  <a:rPr sz="2400" b="0">
                    <a:solidFill>
                      <a:srgbClr val="111827"/>
                    </a:solidFill>
                    <a:latin typeface="Arial"/>
                  </a:rPr>
                  <a:t>: rearrange </a:t>
                </a:r>
                <a:r>
                  <a:rPr lang="en-IN" sz="2400">
                    <a:solidFill>
                      <a:srgbClr val="111827"/>
                    </a:solidFill>
                    <a:latin typeface="Cambria Math" panose="02040503050406030204" pitchFamily="18" charset="0"/>
                  </a:rPr>
                  <a:t>$a+d=b+c$</a:t>
                </a:r>
                <a:r>
                  <a:rPr sz="2400" b="0">
                    <a:solidFill>
                      <a:srgbClr val="111827"/>
                    </a:solidFill>
                    <a:latin typeface="Arial"/>
                  </a:rPr>
                  <a:t> to </a:t>
                </a:r>
                <a:r>
                  <a:rPr lang="en-IN" sz="2400">
                    <a:solidFill>
                      <a:srgbClr val="111827"/>
                    </a:solidFill>
                    <a:latin typeface="Cambria Math" panose="02040503050406030204" pitchFamily="18" charset="0"/>
                  </a:rPr>
                  <a:t>$a-b=c-d$</a:t>
                </a:r>
                <a:r>
                  <a:rPr sz="2400" b="0">
                    <a:solidFill>
                      <a:srgbClr val="111827"/>
                    </a:solidFill>
                    <a:latin typeface="Arial"/>
                  </a:rPr>
                  <a:t> (check: </a:t>
                </a:r>
                <a:r>
                  <a:rPr lang="en-IN" sz="2400">
                    <a:solidFill>
                      <a:srgbClr val="111827"/>
                    </a:solidFill>
                    <a:latin typeface="Cambria Math" panose="02040503050406030204" pitchFamily="18" charset="0"/>
                  </a:rPr>
                  <a:t>$(5,2)$</a:t>
                </a:r>
                <a:r>
                  <a:rPr sz="2400" b="0">
                    <a:solidFill>
                      <a:srgbClr val="111827"/>
                    </a:solidFill>
                    <a:latin typeface="Arial"/>
                  </a:rPr>
                  <a:t> and </a:t>
                </a:r>
                <a:r>
                  <a:rPr lang="en-IN" sz="2400">
                    <a:solidFill>
                      <a:srgbClr val="111827"/>
                    </a:solidFill>
                    <a:latin typeface="Cambria Math" panose="02040503050406030204" pitchFamily="18" charset="0"/>
                  </a:rPr>
                  <a:t>$(4,1)$</a:t>
                </a:r>
                <a:r>
                  <a:rPr sz="2400" b="0">
                    <a:solidFill>
                      <a:srgbClr val="111827"/>
                    </a:solidFill>
                    <a:latin typeface="Arial"/>
                  </a:rPr>
                  <a:t> are related, both have difference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and transitive proofs for such relations are usually one line of algebra; symmetric uses </a:t>
                </a:r>
                <a:r>
                  <a:rPr lang="en-IN" sz="2400">
                    <a:solidFill>
                      <a:srgbClr val="111827"/>
                    </a:solidFill>
                    <a:latin typeface="Cambria Math" panose="02040503050406030204" pitchFamily="18" charset="0"/>
                  </a:rPr>
                  <a:t>$f(x)=f(y)\Rightarrow f(y)=f(x)$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Q61 – Q66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__________. [JEE(Main) Jan 2024]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set </a:t>
                </a:r>
                <a:r>
                  <a:rPr lang="en-IN" sz="2400">
                    <a:solidFill>
                      <a:srgbClr val="111827"/>
                    </a:solidFill>
                    <a:latin typeface="Cambria Math" panose="02040503050406030204" pitchFamily="18" charset="0"/>
                  </a:rPr>
                  <a:t>$C=\{(x,y)\mid x^2-2^y=2023,\ x,y\in\mathbb{N}\}$</a:t>
                </a:r>
                <a:r>
                  <a:rPr sz="2400" b="0">
                    <a:solidFill>
                      <a:srgbClr val="111827"/>
                    </a:solidFill>
                    <a:latin typeface="Arial"/>
                  </a:rPr>
                  <a:t>. Then </a:t>
                </a:r>
                <a:r>
                  <a:rPr lang="en-IN" sz="2400">
                    <a:solidFill>
                      <a:srgbClr val="111827"/>
                    </a:solidFill>
                    <a:latin typeface="Cambria Math" panose="02040503050406030204" pitchFamily="18" charset="0"/>
                  </a:rPr>
                  <a:t>$\sum_{(x,y)\in C}(x+y)$</a:t>
                </a:r>
                <a:r>
                  <a:rPr sz="2400" b="0">
                    <a:solidFill>
                      <a:srgbClr val="111827"/>
                    </a:solidFill>
                    <a:latin typeface="Arial"/>
                  </a:rPr>
                  <a:t> is equal to __________. [JEE(Main) Jan 2024]</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Sets of ordered pairs defined by an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impossible, so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45</m:t>
                    </m:r>
                  </m:oMath>
                </a14:m>
                <a:r>
                  <a:rPr sz="2400" b="0">
                    <a:solidFill>
                      <a:srgbClr val="78350F"/>
                    </a:solidFill>
                    <a:latin typeface="Arial"/>
                  </a:rPr>
                  <a:t> is the only element of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r>
                  <a:rPr lang="en-IN" sz="2400">
                    <a:solidFill>
                      <a:srgbClr val="78350F"/>
                    </a:solidFill>
                    <a:latin typeface="Cambria Math" panose="02040503050406030204" pitchFamily="18" charset="0"/>
                  </a:rPr>
                  <a:t>$y\ge2$</a:t>
                </a:r>
                <a:r>
                  <a:rPr sz="2400" b="0">
                    <a:solidFill>
                      <a:srgbClr val="78350F"/>
                    </a:solidFill>
                    <a:latin typeface="Arial"/>
                  </a:rPr>
                  <a:t>, </a:t>
                </a:r>
                <a:r>
                  <a:rPr lang="en-IN" sz="2400">
                    <a:solidFill>
                      <a:srgbClr val="78350F"/>
                    </a:solidFill>
                    <a:latin typeface="Cambria Math" panose="02040503050406030204" pitchFamily="18" charset="0"/>
                  </a:rPr>
                  <a:t>$x^2\equiv2023\equiv3\pmod 4$</a:t>
                </a:r>
                <a:r>
                  <a:rPr sz="2400" b="0">
                    <a:solidFill>
                      <a:srgbClr val="78350F"/>
                    </a:solidFill>
                    <a:latin typeface="Arial"/>
                  </a:rPr>
                  <a:t> is impossible, so </a:t>
                </a:r>
                <a:r>
                  <a:rPr lang="en-IN" sz="2400">
                    <a:solidFill>
                      <a:srgbClr val="78350F"/>
                    </a:solidFill>
                    <a:latin typeface="Cambria Math" panose="02040503050406030204" pitchFamily="18" charset="0"/>
                  </a:rPr>
                  <a:t>$y=1$</a:t>
                </a:r>
                <a:r>
                  <a:rPr sz="2400" b="0">
                    <a:solidFill>
                      <a:srgbClr val="78350F"/>
                    </a:solidFill>
                    <a:latin typeface="Arial"/>
                  </a:rPr>
                  <a:t> and </a:t>
                </a:r>
                <a:r>
                  <a:rPr lang="en-IN" sz="2400">
                    <a:solidFill>
                      <a:srgbClr val="78350F"/>
                    </a:solidFill>
                    <a:latin typeface="Cambria Math" panose="02040503050406030204" pitchFamily="18" charset="0"/>
                  </a:rPr>
                  <a:t>$x=45$</a:t>
                </a:r>
                <a:r>
                  <a:rPr sz="2400" b="0">
                    <a:solidFill>
                      <a:srgbClr val="78350F"/>
                    </a:solidFill>
                    <a:latin typeface="Arial"/>
                  </a:rPr>
                  <a:t> is the only element of </a:t>
                </a:r>
                <a:r>
                  <a:rPr lang="en-IN" sz="2400">
                    <a:solidFill>
                      <a:srgbClr val="78350F"/>
                    </a:solidFill>
                    <a:latin typeface="Cambria Math" panose="02040503050406030204" pitchFamily="18" charset="0"/>
                  </a:rPr>
                  <a:t>$C$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Added (uniqueness): 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impossible because squares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(taking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$x^2-2^y=2023$</a:t>
                </a:r>
                <a:r>
                  <a:rPr sz="2400" b="0">
                    <a:solidFill>
                      <a:srgbClr val="111827"/>
                    </a:solidFill>
                    <a:latin typeface="Arial"/>
                  </a:rPr>
                  <a:t> with </a:t>
                </a:r>
                <a:r>
                  <a:rPr lang="en-IN" sz="2400">
                    <a:solidFill>
                      <a:srgbClr val="111827"/>
                    </a:solidFill>
                    <a:latin typeface="Cambria Math" panose="02040503050406030204" pitchFamily="18" charset="0"/>
                  </a:rPr>
                  <a:t>$x,y\in\mathbb{N}$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Added (uniqueness): if </a:t>
                </a:r>
                <a:r>
                  <a:rPr lang="en-IN" sz="2400">
                    <a:solidFill>
                      <a:srgbClr val="111827"/>
                    </a:solidFill>
                    <a:latin typeface="Cambria Math" panose="02040503050406030204" pitchFamily="18" charset="0"/>
                  </a:rPr>
                  <a:t>$y\ge2$</a:t>
                </a:r>
                <a:r>
                  <a:rPr sz="2400" b="0">
                    <a:solidFill>
                      <a:srgbClr val="111827"/>
                    </a:solidFill>
                    <a:latin typeface="Arial"/>
                  </a:rPr>
                  <a:t> then </a:t>
                </a:r>
                <a:r>
                  <a:rPr lang="en-IN" sz="2400">
                    <a:solidFill>
                      <a:srgbClr val="111827"/>
                    </a:solidFill>
                    <a:latin typeface="Cambria Math" panose="02040503050406030204" pitchFamily="18" charset="0"/>
                  </a:rPr>
                  <a:t>$2^y\equiv0\pmod4$</a:t>
                </a:r>
                <a:r>
                  <a:rPr sz="2400" b="0">
                    <a:solidFill>
                      <a:srgbClr val="111827"/>
                    </a:solidFill>
                    <a:latin typeface="Arial"/>
                  </a:rPr>
                  <a:t>, so </a:t>
                </a:r>
                <a:r>
                  <a:rPr lang="en-IN" sz="2400">
                    <a:solidFill>
                      <a:srgbClr val="111827"/>
                    </a:solidFill>
                    <a:latin typeface="Cambria Math" panose="02040503050406030204" pitchFamily="18" charset="0"/>
                  </a:rPr>
                  <a:t>$x^2\equiv2023\equiv3\pmod4$</a:t>
                </a:r>
                <a:r>
                  <a:rPr sz="2400" b="0">
                    <a:solidFill>
                      <a:srgbClr val="111827"/>
                    </a:solidFill>
                    <a:latin typeface="Arial"/>
                  </a:rPr>
                  <a:t>, impossible because squares are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 \pmod 4$</a:t>
                </a:r>
                <a:r>
                  <a:rPr sz="2400" b="0">
                    <a:solidFill>
                      <a:srgbClr val="111827"/>
                    </a:solidFill>
                    <a:latin typeface="Arial"/>
                  </a:rPr>
                  <a:t>. So </a:t>
                </a:r>
                <a:r>
                  <a:rPr lang="en-IN" sz="2400">
                    <a:solidFill>
                      <a:srgbClr val="111827"/>
                    </a:solidFill>
                    <a:latin typeface="Cambria Math" panose="02040503050406030204" pitchFamily="18" charset="0"/>
                  </a:rPr>
                  <a:t>$y=1$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$y=1$</a:t>
                </a:r>
                <a:r>
                  <a:rPr sz="2400" b="0">
                    <a:solidFill>
                      <a:srgbClr val="111827"/>
                    </a:solidFill>
                    <a:latin typeface="Arial"/>
                  </a:rPr>
                  <a:t>: </a:t>
                </a:r>
                <a:r>
                  <a:rPr lang="en-IN" sz="2400">
                    <a:solidFill>
                      <a:srgbClr val="111827"/>
                    </a:solidFill>
                    <a:latin typeface="Cambria Math" panose="02040503050406030204" pitchFamily="18" charset="0"/>
                  </a:rPr>
                  <a:t>$x^2=2023+2=2025$</a:t>
                </a:r>
                <a:r>
                  <a:rPr sz="2400" b="0">
                    <a:solidFill>
                      <a:srgbClr val="111827"/>
                    </a:solidFill>
                    <a:latin typeface="Arial"/>
                  </a:rPr>
                  <a:t>, so </a:t>
                </a:r>
                <a:r>
                  <a:rPr lang="en-IN" sz="2400">
                    <a:solidFill>
                      <a:srgbClr val="111827"/>
                    </a:solidFill>
                    <a:latin typeface="Cambria Math" panose="02040503050406030204" pitchFamily="18" charset="0"/>
                  </a:rPr>
                  <a:t>$x=45$</a:t>
                </a:r>
                <a:r>
                  <a:rPr sz="2400" b="0">
                    <a:solidFill>
                      <a:srgbClr val="111827"/>
                    </a:solidFill>
                    <a:latin typeface="Arial"/>
                  </a:rPr>
                  <a:t> (taking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$C=\{(45,1)\}$</a:t>
                </a:r>
                <a:r>
                  <a:rPr sz="2400" b="0">
                    <a:solidFill>
                      <a:srgbClr val="111827"/>
                    </a:solidFill>
                    <a:latin typeface="Arial"/>
                  </a:rPr>
                  <a:t>, i.e. </a:t>
                </a:r>
                <a:r>
                  <a:rPr lang="en-IN" sz="2400">
                    <a:solidFill>
                      <a:srgbClr val="111827"/>
                    </a:solidFill>
                    <a:latin typeface="Cambria Math" panose="02040503050406030204" pitchFamily="18" charset="0"/>
                  </a:rPr>
                  <a:t>$x=45$</a:t>
                </a:r>
                <a:r>
                  <a:rPr sz="2400" b="0">
                    <a:solidFill>
                      <a:srgbClr val="111827"/>
                    </a:solidFill>
                    <a:latin typeface="Arial"/>
                  </a:rPr>
                  <a:t>, </a:t>
                </a:r>
                <a:r>
                  <a:rPr lang="en-IN" sz="2400">
                    <a:solidFill>
                      <a:srgbClr val="111827"/>
                    </a:solidFill>
                    <a:latin typeface="Cambria Math" panose="02040503050406030204" pitchFamily="18" charset="0"/>
                  </a:rPr>
                  <a:t>$y=1$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$\sum_{(x,y)\in C}(x+y)=45+1=46$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46</a:t>
            </a:r>
            <a:endParaRPr sz="2800">
              <a:solidFill>
                <a:srgbClr val="15803D"/>
              </a:solidFill>
            </a:endParaRP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use this to cut down equations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has no solution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need checking (check: </a:t>
                </a:r>
                <a14:m>
                  <m:oMath xmlns:m="http://schemas.openxmlformats.org/officeDocument/2006/math">
                    <m:sSup>
                      <m:e>
                        <m:r>
                          <a:rPr lang="en-IN" sz="2400" i="1">
                            <a:solidFill>
                              <a:srgbClr val="111827"/>
                            </a:solidFill>
                            <a:latin typeface="Cambria Math" panose="02040503050406030204" pitchFamily="18" charset="0"/>
                          </a:rPr>
                          <m:t>45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question says 'sum over all elements of the set', first establish how many elements the set has - here exactly one.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2025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memorise squares up to </a:t>
                </a:r>
                <a14:m>
                  <m:oMath xmlns:m="http://schemas.openxmlformats.org/officeDocument/2006/math">
                    <m:sSup>
                      <m:e>
                        <m:r>
                          <a:rPr lang="en-IN" sz="2400" i="1">
                            <a:solidFill>
                              <a:srgbClr val="111827"/>
                            </a:solidFill>
                            <a:latin typeface="Cambria Math" panose="02040503050406030204" pitchFamily="18" charset="0"/>
                          </a:rPr>
                          <m:t>50</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2025</m:t>
                    </m:r>
                  </m:oMath>
                </a14:m>
                <a:r>
                  <a:rPr sz="2400" b="0">
                    <a:solidFill>
                      <a:srgbClr val="111827"/>
                    </a:solidFill>
                    <a:latin typeface="Arial"/>
                  </a:rPr>
                  <a:t>) to spot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are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$1\pmod4$</a:t>
                </a:r>
                <a:r>
                  <a:rPr sz="2400" b="0">
                    <a:solidFill>
                      <a:srgbClr val="111827"/>
                    </a:solidFill>
                    <a:latin typeface="Arial"/>
                  </a:rPr>
                  <a:t> (and </a:t>
                </a:r>
                <a:r>
                  <a:rPr lang="en-IN" sz="2400">
                    <a:solidFill>
                      <a:srgbClr val="111827"/>
                    </a:solidFill>
                    <a:latin typeface="Cambria Math" panose="02040503050406030204" pitchFamily="18" charset="0"/>
                  </a:rPr>
                  <a:t>$0,1,4\pmod8$</a:t>
                </a:r>
                <a:r>
                  <a:rPr sz="2400" b="0">
                    <a:solidFill>
                      <a:srgbClr val="111827"/>
                    </a:solidFill>
                    <a:latin typeface="Arial"/>
                  </a:rPr>
                  <a:t>): use this to cut down equations </a:t>
                </a:r>
                <a:r>
                  <a:rPr lang="en-IN" sz="2400">
                    <a:solidFill>
                      <a:srgbClr val="111827"/>
                    </a:solidFill>
                    <a:latin typeface="Cambria Math" panose="02040503050406030204" pitchFamily="18" charset="0"/>
                  </a:rPr>
                  <a:t>$x^2-2^y=k$</a:t>
                </a:r>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$k\equiv3\pmod4$</a:t>
                </a:r>
                <a:r>
                  <a:rPr sz="2400" b="0">
                    <a:solidFill>
                      <a:srgbClr val="111827"/>
                    </a:solidFill>
                    <a:latin typeface="Arial"/>
                  </a:rPr>
                  <a:t>, </a:t>
                </a:r>
                <a:r>
                  <a:rPr lang="en-IN" sz="2400">
                    <a:solidFill>
                      <a:srgbClr val="111827"/>
                    </a:solidFill>
                    <a:latin typeface="Cambria Math" panose="02040503050406030204" pitchFamily="18" charset="0"/>
                  </a:rPr>
                  <a:t>$x^2-2^y=k$</a:t>
                </a:r>
                <a:r>
                  <a:rPr sz="2400" b="0">
                    <a:solidFill>
                      <a:srgbClr val="111827"/>
                    </a:solidFill>
                    <a:latin typeface="Arial"/>
                  </a:rPr>
                  <a:t> has no solution with </a:t>
                </a:r>
                <a:r>
                  <a:rPr lang="en-IN" sz="2400">
                    <a:solidFill>
                      <a:srgbClr val="111827"/>
                    </a:solidFill>
                    <a:latin typeface="Cambria Math" panose="02040503050406030204" pitchFamily="18" charset="0"/>
                  </a:rPr>
                  <a:t>$y\ge2$</a:t>
                </a:r>
                <a:r>
                  <a:rPr sz="2400" b="0">
                    <a:solidFill>
                      <a:srgbClr val="111827"/>
                    </a:solidFill>
                    <a:latin typeface="Arial"/>
                  </a:rPr>
                  <a:t>; only </a:t>
                </a:r>
                <a:r>
                  <a:rPr lang="en-IN" sz="2400">
                    <a:solidFill>
                      <a:srgbClr val="111827"/>
                    </a:solidFill>
                    <a:latin typeface="Cambria Math" panose="02040503050406030204" pitchFamily="18" charset="0"/>
                  </a:rPr>
                  <a:t>$y=0,1$</a:t>
                </a:r>
                <a:r>
                  <a:rPr sz="2400" b="0">
                    <a:solidFill>
                      <a:srgbClr val="111827"/>
                    </a:solidFill>
                    <a:latin typeface="Arial"/>
                  </a:rPr>
                  <a:t> need checking (check: </a:t>
                </a:r>
                <a:r>
                  <a:rPr lang="en-IN" sz="2400">
                    <a:solidFill>
                      <a:srgbClr val="111827"/>
                    </a:solidFill>
                    <a:latin typeface="Cambria Math" panose="02040503050406030204" pitchFamily="18" charset="0"/>
                  </a:rPr>
                  <a:t>$45^2-2=2023$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question says 'sum over all elements of the set', first establish how many elements the set has - here exactly one.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$\sqrt{2025}=45$</a:t>
                </a:r>
                <a:r>
                  <a:rPr sz="2400" b="0">
                    <a:solidFill>
                      <a:srgbClr val="111827"/>
                    </a:solidFill>
                    <a:latin typeface="Arial"/>
                  </a:rPr>
                  <a:t>; memorise squares up to </a:t>
                </a:r>
                <a:r>
                  <a:rPr lang="en-IN" sz="2400">
                    <a:solidFill>
                      <a:srgbClr val="111827"/>
                    </a:solidFill>
                    <a:latin typeface="Cambria Math" panose="02040503050406030204" pitchFamily="18" charset="0"/>
                  </a:rPr>
                  <a:t>$50^2$</a:t>
                </a:r>
                <a:r>
                  <a:rPr sz="2400" b="0">
                    <a:solidFill>
                      <a:srgbClr val="111827"/>
                    </a:solidFill>
                    <a:latin typeface="Arial"/>
                  </a:rPr>
                  <a:t> (</a:t>
                </a:r>
                <a:r>
                  <a:rPr lang="en-IN" sz="2400">
                    <a:solidFill>
                      <a:srgbClr val="111827"/>
                    </a:solidFill>
                    <a:latin typeface="Cambria Math" panose="02040503050406030204" pitchFamily="18" charset="0"/>
                  </a:rPr>
                  <a:t>$45^2=2025$</a:t>
                </a:r>
                <a:r>
                  <a:rPr sz="2400" b="0">
                    <a:solidFill>
                      <a:srgbClr val="111827"/>
                    </a:solidFill>
                    <a:latin typeface="Arial"/>
                  </a:rPr>
                  <a:t>) to spot </a:t>
                </a:r>
                <a:r>
                  <a:rPr lang="en-IN" sz="2400">
                    <a:solidFill>
                      <a:srgbClr val="111827"/>
                    </a:solidFill>
                    <a:latin typeface="Cambria Math" panose="02040503050406030204" pitchFamily="18" charset="0"/>
                  </a:rPr>
                  <a:t>$2023=2025-2$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group of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students appeared in an examination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subjects - Mathematics, Physics and Chemistry. It was found that all students passed in at least one of the subjects,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students passed in Mathematics,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students passed in Physics,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students passed in Chemistry, at most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students passed in both Mathematics and Physics, at most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students passed in both Physics and Chemistry, at most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students passed in both Mathematics and Chemistry. The maximum number of students passed in all three subjects is __________. [JEE(Main) Jan 2024]</a:t>
                </a:r>
                <a:endParaRPr sz="2400">
                  <a:solidFill>
                    <a:srgbClr val="111827"/>
                  </a:solidFill>
                </a:endParaRPr>
              </a:p>
            </p:txBody>
          </p:sp>
        </mc:Choice>
        <mc:Fallback>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group of </a:t>
                </a:r>
                <a:r>
                  <a:rPr lang="en-IN" sz="2400">
                    <a:solidFill>
                      <a:srgbClr val="111827"/>
                    </a:solidFill>
                    <a:latin typeface="Cambria Math" panose="02040503050406030204" pitchFamily="18" charset="0"/>
                  </a:rPr>
                  <a:t>$40$</a:t>
                </a:r>
                <a:r>
                  <a:rPr sz="2400" b="0">
                    <a:solidFill>
                      <a:srgbClr val="111827"/>
                    </a:solidFill>
                    <a:latin typeface="Arial"/>
                  </a:rPr>
                  <a:t> students appeared in an examination of </a:t>
                </a:r>
                <a:r>
                  <a:rPr lang="en-IN" sz="2400">
                    <a:solidFill>
                      <a:srgbClr val="111827"/>
                    </a:solidFill>
                    <a:latin typeface="Cambria Math" panose="02040503050406030204" pitchFamily="18" charset="0"/>
                  </a:rPr>
                  <a:t>$3$</a:t>
                </a:r>
                <a:r>
                  <a:rPr sz="2400" b="0">
                    <a:solidFill>
                      <a:srgbClr val="111827"/>
                    </a:solidFill>
                    <a:latin typeface="Arial"/>
                  </a:rPr>
                  <a:t> subjects - Mathematics, Physics and Chemistry. It was found that all students passed in at least one of the subjects, </a:t>
                </a:r>
                <a:r>
                  <a:rPr lang="en-IN" sz="2400">
                    <a:solidFill>
                      <a:srgbClr val="111827"/>
                    </a:solidFill>
                    <a:latin typeface="Cambria Math" panose="02040503050406030204" pitchFamily="18" charset="0"/>
                  </a:rPr>
                  <a:t>$20$</a:t>
                </a:r>
                <a:r>
                  <a:rPr sz="2400" b="0">
                    <a:solidFill>
                      <a:srgbClr val="111827"/>
                    </a:solidFill>
                    <a:latin typeface="Arial"/>
                  </a:rPr>
                  <a:t> students passed in Mathematics, </a:t>
                </a:r>
                <a:r>
                  <a:rPr lang="en-IN" sz="2400">
                    <a:solidFill>
                      <a:srgbClr val="111827"/>
                    </a:solidFill>
                    <a:latin typeface="Cambria Math" panose="02040503050406030204" pitchFamily="18" charset="0"/>
                  </a:rPr>
                  <a:t>$25$</a:t>
                </a:r>
                <a:r>
                  <a:rPr sz="2400" b="0">
                    <a:solidFill>
                      <a:srgbClr val="111827"/>
                    </a:solidFill>
                    <a:latin typeface="Arial"/>
                  </a:rPr>
                  <a:t> students passed in Physics, </a:t>
                </a:r>
                <a:r>
                  <a:rPr lang="en-IN" sz="2400">
                    <a:solidFill>
                      <a:srgbClr val="111827"/>
                    </a:solidFill>
                    <a:latin typeface="Cambria Math" panose="02040503050406030204" pitchFamily="18" charset="0"/>
                  </a:rPr>
                  <a:t>$16$</a:t>
                </a:r>
                <a:r>
                  <a:rPr sz="2400" b="0">
                    <a:solidFill>
                      <a:srgbClr val="111827"/>
                    </a:solidFill>
                    <a:latin typeface="Arial"/>
                  </a:rPr>
                  <a:t> students passed in Chemistry, at most </a:t>
                </a:r>
                <a:r>
                  <a:rPr lang="en-IN" sz="2400">
                    <a:solidFill>
                      <a:srgbClr val="111827"/>
                    </a:solidFill>
                    <a:latin typeface="Cambria Math" panose="02040503050406030204" pitchFamily="18" charset="0"/>
                  </a:rPr>
                  <a:t>$11$</a:t>
                </a:r>
                <a:r>
                  <a:rPr sz="2400" b="0">
                    <a:solidFill>
                      <a:srgbClr val="111827"/>
                    </a:solidFill>
                    <a:latin typeface="Arial"/>
                  </a:rPr>
                  <a:t> students passed in both Mathematics and Physics, at most </a:t>
                </a:r>
                <a:r>
                  <a:rPr lang="en-IN" sz="2400">
                    <a:solidFill>
                      <a:srgbClr val="111827"/>
                    </a:solidFill>
                    <a:latin typeface="Cambria Math" panose="02040503050406030204" pitchFamily="18" charset="0"/>
                  </a:rPr>
                  <a:t>$15$</a:t>
                </a:r>
                <a:r>
                  <a:rPr sz="2400" b="0">
                    <a:solidFill>
                      <a:srgbClr val="111827"/>
                    </a:solidFill>
                    <a:latin typeface="Arial"/>
                  </a:rPr>
                  <a:t> students passed in both Physics and Chemistry, at most </a:t>
                </a:r>
                <a:r>
                  <a:rPr lang="en-IN" sz="2400">
                    <a:solidFill>
                      <a:srgbClr val="111827"/>
                    </a:solidFill>
                    <a:latin typeface="Cambria Math" panose="02040503050406030204" pitchFamily="18" charset="0"/>
                  </a:rPr>
                  <a:t>$15$</a:t>
                </a:r>
                <a:r>
                  <a:rPr sz="2400" b="0">
                    <a:solidFill>
                      <a:srgbClr val="111827"/>
                    </a:solidFill>
                    <a:latin typeface="Arial"/>
                  </a:rPr>
                  <a:t> students passed in both Mathematics and Chemistry. The maximum number of students passed in all three subjects is __________. [JEE(Main) Jan 2024]</a:t>
                </a:r>
                <a:endParaRPr sz="2400">
                  <a:solidFill>
                    <a:srgbClr val="111827"/>
                  </a:solidFill>
                </a:endParaRPr>
              </a:p>
            </p:txBody>
          </p:sp>
        </mc:Fallback>
      </mc:AlternateContent>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diagrams and inclusion-exclusion for three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Check an upper bound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oMath>
                </a14:m>
                <a:r>
                  <a:rPr sz="2400" b="0">
                    <a:solidFill>
                      <a:srgbClr val="78350F"/>
                    </a:solidFill>
                    <a:latin typeface="Arial"/>
                  </a:rPr>
                  <a:t> against the other data;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oMath>
                </a14:m>
                <a:r>
                  <a:rPr sz="2400" b="0">
                    <a:solidFill>
                      <a:srgbClr val="78350F"/>
                    </a:solidFill>
                    <a:latin typeface="Arial"/>
                  </a:rPr>
                  <a:t> is infeasible,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is realised by an explicit Venn diagram.</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Check an upper bound </a:t>
                </a:r>
                <a:r>
                  <a:rPr lang="en-IN" sz="2400">
                    <a:solidFill>
                      <a:srgbClr val="78350F"/>
                    </a:solidFill>
                    <a:latin typeface="Cambria Math" panose="02040503050406030204" pitchFamily="18" charset="0"/>
                  </a:rPr>
                  <a:t>$x\le11$</a:t>
                </a:r>
                <a:r>
                  <a:rPr sz="2400" b="0">
                    <a:solidFill>
                      <a:srgbClr val="78350F"/>
                    </a:solidFill>
                    <a:latin typeface="Arial"/>
                  </a:rPr>
                  <a:t> against the other data; </a:t>
                </a:r>
                <a:r>
                  <a:rPr lang="en-IN" sz="2400">
                    <a:solidFill>
                      <a:srgbClr val="78350F"/>
                    </a:solidFill>
                    <a:latin typeface="Cambria Math" panose="02040503050406030204" pitchFamily="18" charset="0"/>
                  </a:rPr>
                  <a:t>$x=11$</a:t>
                </a:r>
                <a:r>
                  <a:rPr sz="2400" b="0">
                    <a:solidFill>
                      <a:srgbClr val="78350F"/>
                    </a:solidFill>
                    <a:latin typeface="Arial"/>
                  </a:rPr>
                  <a:t> is infeasible, </a:t>
                </a:r>
                <a:r>
                  <a:rPr lang="en-IN" sz="2400">
                    <a:solidFill>
                      <a:srgbClr val="78350F"/>
                    </a:solidFill>
                    <a:latin typeface="Cambria Math" panose="02040503050406030204" pitchFamily="18" charset="0"/>
                  </a:rPr>
                  <a:t>$x=10$</a:t>
                </a:r>
                <a:r>
                  <a:rPr sz="2400" b="0">
                    <a:solidFill>
                      <a:srgbClr val="78350F"/>
                    </a:solidFill>
                    <a:latin typeface="Arial"/>
                  </a:rPr>
                  <a:t> is realised by an explicit Venn diagram.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students pass all three subjects (centre of the Venn diagram). The region 'Maths and Physics only'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students,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students pass all three subjects (centre of the Venn diagram). The region 'Maths and Physics only' has </a:t>
                </a:r>
                <a:r>
                  <a:rPr lang="en-IN" sz="2400">
                    <a:solidFill>
                      <a:srgbClr val="111827"/>
                    </a:solidFill>
                    <a:latin typeface="Cambria Math" panose="02040503050406030204" pitchFamily="18" charset="0"/>
                  </a:rPr>
                  <a:t>$|M\cap P|-x\ge0$</a:t>
                </a:r>
                <a:r>
                  <a:rPr sz="2400" b="0">
                    <a:solidFill>
                      <a:srgbClr val="111827"/>
                    </a:solidFill>
                    <a:latin typeface="Arial"/>
                  </a:rPr>
                  <a:t> students, and </a:t>
                </a:r>
                <a:r>
                  <a:rPr lang="en-IN" sz="2400">
                    <a:solidFill>
                      <a:srgbClr val="111827"/>
                    </a:solidFill>
                    <a:latin typeface="Cambria Math" panose="02040503050406030204" pitchFamily="18" charset="0"/>
                  </a:rPr>
                  <a:t>$|M\cap P|\le11$</a:t>
                </a:r>
                <a:r>
                  <a:rPr sz="2400" b="0">
                    <a:solidFill>
                      <a:srgbClr val="111827"/>
                    </a:solidFill>
                    <a:latin typeface="Arial"/>
                  </a:rPr>
                  <a:t>, so </a:t>
                </a:r>
                <a:r>
                  <a:rPr lang="en-IN" sz="2400">
                    <a:solidFill>
                      <a:srgbClr val="111827"/>
                    </a:solidFill>
                    <a:latin typeface="Cambria Math" panose="02040503050406030204" pitchFamily="18" charset="0"/>
                  </a:rPr>
                  <a:t>$11-x\ge0$</a:t>
                </a:r>
                <a:r>
                  <a:rPr sz="2400" b="0">
                    <a:solidFill>
                      <a:srgbClr val="111827"/>
                    </a:solidFill>
                    <a:latin typeface="Arial"/>
                  </a:rPr>
                  <a:t>, i.e. </a:t>
                </a:r>
                <a:r>
                  <a:rPr lang="en-IN" sz="2400">
                    <a:solidFill>
                      <a:srgbClr val="111827"/>
                    </a:solidFill>
                    <a:latin typeface="Cambria Math" panose="02040503050406030204" pitchFamily="18" charset="0"/>
                  </a:rPr>
                  <a:t>$x\le11$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Inclusion-exclusion gives </a:t>
                </a: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each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least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their sum is at least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a contradiction.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does not satisfy the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with regions: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&amp;</m:t>
                    </m:r>
                    <m:r>
                      <a:rPr lang="en-IN" sz="2400" i="1">
                        <a:solidFill>
                          <a:srgbClr val="111827"/>
                        </a:solidFill>
                        <a:latin typeface="Cambria Math" panose="02040503050406030204" pitchFamily="18" charset="0"/>
                      </a:rPr>
                      <m:t>𝑃</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&amp;</m:t>
                    </m:r>
                    <m:r>
                      <a:rPr lang="en-IN" sz="2400" i="1">
                        <a:solidFill>
                          <a:srgbClr val="111827"/>
                        </a:solidFill>
                        <a:latin typeface="Cambria Math" panose="02040503050406030204" pitchFamily="18" charset="0"/>
                      </a:rPr>
                      <m:t>𝐶</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&amp;</m:t>
                    </m:r>
                    <m:r>
                      <a:rPr lang="en-IN" sz="2400" i="1">
                        <a:solidFill>
                          <a:srgbClr val="111827"/>
                        </a:solidFill>
                        <a:latin typeface="Cambria Math" panose="02040503050406030204" pitchFamily="18" charset="0"/>
                      </a:rPr>
                      <m:t>𝐶</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all three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limits: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All satisfied.</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$x=11$</a:t>
                </a:r>
                <a:r>
                  <a:rPr sz="2400" b="0">
                    <a:solidFill>
                      <a:srgbClr val="111827"/>
                    </a:solidFill>
                    <a:latin typeface="Arial"/>
                  </a:rPr>
                  <a:t>: then </a:t>
                </a:r>
                <a:r>
                  <a:rPr lang="en-IN" sz="2400">
                    <a:solidFill>
                      <a:srgbClr val="111827"/>
                    </a:solidFill>
                    <a:latin typeface="Cambria Math" panose="02040503050406030204" pitchFamily="18" charset="0"/>
                  </a:rPr>
                  <a:t>$|M\cap P|=11$</a:t>
                </a:r>
                <a:r>
                  <a:rPr sz="2400" b="0">
                    <a:solidFill>
                      <a:srgbClr val="111827"/>
                    </a:solidFill>
                    <a:latin typeface="Arial"/>
                  </a:rPr>
                  <a:t>. Inclusion-exclusion gives </a:t>
                </a:r>
                <a:r>
                  <a:rPr lang="en-IN" sz="2400">
                    <a:solidFill>
                      <a:srgbClr val="111827"/>
                    </a:solidFill>
                    <a:latin typeface="Cambria Math" panose="02040503050406030204" pitchFamily="18" charset="0"/>
                  </a:rPr>
                  <a:t>$40=20+25+16-(11+|P\cap C|+|M\cap C|)+11$</a:t>
                </a:r>
                <a:r>
                  <a:rPr sz="2400" b="0">
                    <a:solidFill>
                      <a:srgbClr val="111827"/>
                    </a:solidFill>
                    <a:latin typeface="Arial"/>
                  </a:rPr>
                  <a:t>, so </a:t>
                </a:r>
                <a:r>
                  <a:rPr lang="en-IN" sz="2400">
                    <a:solidFill>
                      <a:srgbClr val="111827"/>
                    </a:solidFill>
                    <a:latin typeface="Cambria Math" panose="02040503050406030204" pitchFamily="18" charset="0"/>
                  </a:rPr>
                  <a:t>$|P\cap C|+|M\cap C|=21$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each of </a:t>
                </a:r>
                <a:r>
                  <a:rPr lang="en-IN" sz="2400">
                    <a:solidFill>
                      <a:srgbClr val="111827"/>
                    </a:solidFill>
                    <a:latin typeface="Cambria Math" panose="02040503050406030204" pitchFamily="18" charset="0"/>
                  </a:rPr>
                  <a:t>$|P\cap C|,|M\cap C|$</a:t>
                </a:r>
                <a:r>
                  <a:rPr sz="2400" b="0">
                    <a:solidFill>
                      <a:srgbClr val="111827"/>
                    </a:solidFill>
                    <a:latin typeface="Arial"/>
                  </a:rPr>
                  <a:t> is at least </a:t>
                </a:r>
                <a:r>
                  <a:rPr lang="en-IN" sz="2400">
                    <a:solidFill>
                      <a:srgbClr val="111827"/>
                    </a:solidFill>
                    <a:latin typeface="Cambria Math" panose="02040503050406030204" pitchFamily="18" charset="0"/>
                  </a:rPr>
                  <a:t>$x=11$</a:t>
                </a:r>
                <a:r>
                  <a:rPr sz="2400" b="0">
                    <a:solidFill>
                      <a:srgbClr val="111827"/>
                    </a:solidFill>
                    <a:latin typeface="Arial"/>
                  </a:rPr>
                  <a:t>, so their sum is at least </a:t>
                </a:r>
                <a:r>
                  <a:rPr lang="en-IN" sz="2400">
                    <a:solidFill>
                      <a:srgbClr val="111827"/>
                    </a:solidFill>
                    <a:latin typeface="Cambria Math" panose="02040503050406030204" pitchFamily="18" charset="0"/>
                  </a:rPr>
                  <a:t>$22$</a:t>
                </a:r>
                <a:r>
                  <a:rPr sz="2400" b="0">
                    <a:solidFill>
                      <a:srgbClr val="111827"/>
                    </a:solidFill>
                    <a:latin typeface="Arial"/>
                  </a:rPr>
                  <a:t>, a contradiction. So </a:t>
                </a:r>
                <a:r>
                  <a:rPr lang="en-IN" sz="2400">
                    <a:solidFill>
                      <a:srgbClr val="111827"/>
                    </a:solidFill>
                    <a:latin typeface="Cambria Math" panose="02040503050406030204" pitchFamily="18" charset="0"/>
                  </a:rPr>
                  <a:t>$x=11$</a:t>
                </a:r>
                <a:r>
                  <a:rPr sz="2400" b="0">
                    <a:solidFill>
                      <a:srgbClr val="111827"/>
                    </a:solidFill>
                    <a:latin typeface="Arial"/>
                  </a:rPr>
                  <a:t> does not satisfy the data.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a:t>
                </a:r>
                <a:r>
                  <a:rPr lang="en-IN" sz="2400">
                    <a:solidFill>
                      <a:srgbClr val="111827"/>
                    </a:solidFill>
                    <a:latin typeface="Cambria Math" panose="02040503050406030204" pitchFamily="18" charset="0"/>
                  </a:rPr>
                  <a:t>$x=10$</a:t>
                </a:r>
                <a:r>
                  <a:rPr sz="2400" b="0">
                    <a:solidFill>
                      <a:srgbClr val="111827"/>
                    </a:solidFill>
                    <a:latin typeface="Arial"/>
                  </a:rPr>
                  <a:t> with regions: </a:t>
                </a:r>
                <a:r>
                  <a:rPr lang="en-IN" sz="2400">
                    <a:solidFill>
                      <a:srgbClr val="111827"/>
                    </a:solidFill>
                    <a:latin typeface="Cambria Math" panose="02040503050406030204" pitchFamily="18" charset="0"/>
                  </a:rPr>
                  <a:t>$M$</a:t>
                </a:r>
                <a:r>
                  <a:rPr sz="2400" b="0">
                    <a:solidFill>
                      <a:srgbClr val="111827"/>
                    </a:solidFill>
                    <a:latin typeface="Arial"/>
                  </a:rPr>
                  <a:t> only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$P$</a:t>
                </a:r>
                <a:r>
                  <a:rPr sz="2400" b="0">
                    <a:solidFill>
                      <a:srgbClr val="111827"/>
                    </a:solidFill>
                    <a:latin typeface="Arial"/>
                  </a:rPr>
                  <a:t> only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only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$M\&amp;P$</a:t>
                </a:r>
                <a:r>
                  <a:rPr sz="2400" b="0">
                    <a:solidFill>
                      <a:srgbClr val="111827"/>
                    </a:solidFill>
                    <a:latin typeface="Arial"/>
                  </a:rPr>
                  <a:t> only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$P\&amp;C$</a:t>
                </a:r>
                <a:r>
                  <a:rPr sz="2400" b="0">
                    <a:solidFill>
                      <a:srgbClr val="111827"/>
                    </a:solidFill>
                    <a:latin typeface="Arial"/>
                  </a:rPr>
                  <a:t> only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$M\&amp;C$</a:t>
                </a:r>
                <a:r>
                  <a:rPr sz="2400" b="0">
                    <a:solidFill>
                      <a:srgbClr val="111827"/>
                    </a:solidFill>
                    <a:latin typeface="Arial"/>
                  </a:rPr>
                  <a:t> only </a:t>
                </a:r>
                <a:r>
                  <a:rPr lang="en-IN" sz="2400">
                    <a:solidFill>
                      <a:srgbClr val="111827"/>
                    </a:solidFill>
                    <a:latin typeface="Cambria Math" panose="02040503050406030204" pitchFamily="18" charset="0"/>
                  </a:rPr>
                  <a:t>$1$</a:t>
                </a:r>
                <a:r>
                  <a:rPr sz="2400" b="0">
                    <a:solidFill>
                      <a:srgbClr val="111827"/>
                    </a:solidFill>
                    <a:latin typeface="Arial"/>
                  </a:rPr>
                  <a:t>, all three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$M=9+0+1+10=20$</a:t>
                </a:r>
                <a:r>
                  <a:rPr sz="2400" b="0">
                    <a:solidFill>
                      <a:srgbClr val="111827"/>
                    </a:solidFill>
                    <a:latin typeface="Arial"/>
                  </a:rPr>
                  <a:t>, </a:t>
                </a:r>
                <a:r>
                  <a:rPr lang="en-IN" sz="2400">
                    <a:solidFill>
                      <a:srgbClr val="111827"/>
                    </a:solidFill>
                    <a:latin typeface="Cambria Math" panose="02040503050406030204" pitchFamily="18" charset="0"/>
                  </a:rPr>
                  <a:t>$P=15+0+0+10=25$</a:t>
                </a:r>
                <a:r>
                  <a:rPr sz="2400" b="0">
                    <a:solidFill>
                      <a:srgbClr val="111827"/>
                    </a:solidFill>
                    <a:latin typeface="Arial"/>
                  </a:rPr>
                  <a:t>, </a:t>
                </a:r>
                <a:r>
                  <a:rPr lang="en-IN" sz="2400">
                    <a:solidFill>
                      <a:srgbClr val="111827"/>
                    </a:solidFill>
                    <a:latin typeface="Cambria Math" panose="02040503050406030204" pitchFamily="18" charset="0"/>
                  </a:rPr>
                  <a:t>$C=5+1+0+10=16$</a:t>
                </a:r>
                <a:r>
                  <a:rPr sz="2400" b="0">
                    <a:solidFill>
                      <a:srgbClr val="111827"/>
                    </a:solidFill>
                    <a:latin typeface="Arial"/>
                  </a:rPr>
                  <a:t>, total </a:t>
                </a:r>
                <a:r>
                  <a:rPr lang="en-IN" sz="2400">
                    <a:solidFill>
                      <a:srgbClr val="111827"/>
                    </a:solidFill>
                    <a:latin typeface="Cambria Math" panose="02040503050406030204" pitchFamily="18" charset="0"/>
                  </a:rPr>
                  <a:t>$9+15+5+1+10=40$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limits: </a:t>
                </a:r>
                <a:r>
                  <a:rPr lang="en-IN" sz="2400">
                    <a:solidFill>
                      <a:srgbClr val="111827"/>
                    </a:solidFill>
                    <a:latin typeface="Cambria Math" panose="02040503050406030204" pitchFamily="18" charset="0"/>
                  </a:rPr>
                  <a:t>$|M\cap P|=10\le11$</a:t>
                </a:r>
                <a:r>
                  <a:rPr sz="2400" b="0">
                    <a:solidFill>
                      <a:srgbClr val="111827"/>
                    </a:solidFill>
                    <a:latin typeface="Arial"/>
                  </a:rPr>
                  <a:t>, </a:t>
                </a:r>
                <a:r>
                  <a:rPr lang="en-IN" sz="2400">
                    <a:solidFill>
                      <a:srgbClr val="111827"/>
                    </a:solidFill>
                    <a:latin typeface="Cambria Math" panose="02040503050406030204" pitchFamily="18" charset="0"/>
                  </a:rPr>
                  <a:t>$|P\cap C|=10\le15$</a:t>
                </a:r>
                <a:r>
                  <a:rPr sz="2400" b="0">
                    <a:solidFill>
                      <a:srgbClr val="111827"/>
                    </a:solidFill>
                    <a:latin typeface="Arial"/>
                  </a:rPr>
                  <a:t>, </a:t>
                </a:r>
                <a:r>
                  <a:rPr lang="en-IN" sz="2400">
                    <a:solidFill>
                      <a:srgbClr val="111827"/>
                    </a:solidFill>
                    <a:latin typeface="Cambria Math" panose="02040503050406030204" pitchFamily="18" charset="0"/>
                  </a:rPr>
                  <a:t>$|M\cap C|=11\le15$</a:t>
                </a:r>
                <a:r>
                  <a:rPr sz="2400" b="0">
                    <a:solidFill>
                      <a:srgbClr val="111827"/>
                    </a:solidFill>
                    <a:latin typeface="Arial"/>
                  </a:rPr>
                  <a:t>. All satisfied.</a:t>
                </a:r>
                <a:endParaRPr sz="2400">
                  <a:solidFill>
                    <a:srgbClr val="111827"/>
                  </a:solidFill>
                </a:endParaRPr>
              </a:p>
            </p:txBody>
          </p:sp>
        </mc:Fallback>
      </mc:AlternateContent>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maximum number of students passing all three subjects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(the printed key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is wrong; NTA key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maximum number of students passing all three subjects is </a:t>
                </a:r>
                <a:r>
                  <a:rPr lang="en-IN" sz="2400">
                    <a:solidFill>
                      <a:srgbClr val="111827"/>
                    </a:solidFill>
                    <a:latin typeface="Cambria Math" panose="02040503050406030204" pitchFamily="18" charset="0"/>
                  </a:rPr>
                  <a:t>$10$</a:t>
                </a:r>
                <a:r>
                  <a:rPr sz="2400" b="0">
                    <a:solidFill>
                      <a:srgbClr val="111827"/>
                    </a:solidFill>
                    <a:latin typeface="Arial"/>
                  </a:rPr>
                  <a:t> (the printed key </a:t>
                </a:r>
                <a:r>
                  <a:rPr lang="en-IN" sz="2400">
                    <a:solidFill>
                      <a:srgbClr val="111827"/>
                    </a:solidFill>
                    <a:latin typeface="Cambria Math" panose="02040503050406030204" pitchFamily="18" charset="0"/>
                  </a:rPr>
                  <a:t>$11$</a:t>
                </a:r>
                <a:r>
                  <a:rPr sz="2400" b="0">
                    <a:solidFill>
                      <a:srgbClr val="111827"/>
                    </a:solidFill>
                    <a:latin typeface="Arial"/>
                  </a:rPr>
                  <a:t> is wrong; NTA key is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a:t>
            </a:r>
            <a:endParaRPr sz="2800">
              <a:solidFill>
                <a:srgbClr val="15803D"/>
              </a:solidFill>
            </a:endParaRP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subject-incidences: </a:t>
                </a:r>
                <a14:m>
                  <m:oMath xmlns:m="http://schemas.openxmlformats.org/officeDocument/2006/math">
                    <m:r>
                      <a:rPr lang="en-IN" sz="2400" i="1">
                        <a:solidFill>
                          <a:srgbClr val="78350F"/>
                        </a:solidFill>
                        <a:latin typeface="Cambria Math" panose="02040503050406030204" pitchFamily="18" charset="0"/>
                      </a:rPr>
                      <m:t>61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oMath>
                </a14:m>
                <a:r>
                  <a:rPr sz="2400" b="0">
                    <a:solidFill>
                      <a:srgbClr val="78350F"/>
                    </a:solidFill>
                    <a:latin typeface="Arial"/>
                  </a:rPr>
                  <a:t> with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40</m:t>
                    </m:r>
                  </m:oMath>
                </a14:m>
                <a:r>
                  <a:rPr sz="2400" b="0">
                    <a:solidFill>
                      <a:srgbClr val="78350F"/>
                    </a:solidFill>
                    <a:latin typeface="Arial"/>
                  </a:rPr>
                  <a:t> gives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at once.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subject-incidences: </a:t>
                </a:r>
                <a:r>
                  <a:rPr lang="en-IN" sz="2400">
                    <a:solidFill>
                      <a:srgbClr val="78350F"/>
                    </a:solidFill>
                    <a:latin typeface="Cambria Math" panose="02040503050406030204" pitchFamily="18" charset="0"/>
                  </a:rPr>
                  <a:t>$61=n_1+2n_2+3x$</a:t>
                </a:r>
                <a:r>
                  <a:rPr sz="2400" b="0">
                    <a:solidFill>
                      <a:srgbClr val="78350F"/>
                    </a:solidFill>
                    <a:latin typeface="Arial"/>
                  </a:rPr>
                  <a:t> with </a:t>
                </a:r>
                <a:r>
                  <a:rPr lang="en-IN" sz="2400">
                    <a:solidFill>
                      <a:srgbClr val="78350F"/>
                    </a:solidFill>
                    <a:latin typeface="Cambria Math" panose="02040503050406030204" pitchFamily="18" charset="0"/>
                  </a:rPr>
                  <a:t>$n_1+n_2+x=40$</a:t>
                </a:r>
                <a:r>
                  <a:rPr sz="2400" b="0">
                    <a:solidFill>
                      <a:srgbClr val="78350F"/>
                    </a:solidFill>
                    <a:latin typeface="Arial"/>
                  </a:rPr>
                  <a:t> gives </a:t>
                </a:r>
                <a:r>
                  <a:rPr lang="en-IN" sz="2400">
                    <a:solidFill>
                      <a:srgbClr val="78350F"/>
                    </a:solidFill>
                    <a:latin typeface="Cambria Math" panose="02040503050406030204" pitchFamily="18" charset="0"/>
                  </a:rPr>
                  <a:t>$n_2=21-2x\ge0$</a:t>
                </a:r>
                <a:r>
                  <a:rPr sz="2400" b="0">
                    <a:solidFill>
                      <a:srgbClr val="78350F"/>
                    </a:solidFill>
                    <a:latin typeface="Arial"/>
                  </a:rPr>
                  <a:t>, so </a:t>
                </a:r>
                <a:r>
                  <a:rPr lang="en-IN" sz="2400">
                    <a:solidFill>
                      <a:srgbClr val="78350F"/>
                    </a:solidFill>
                    <a:latin typeface="Cambria Math" panose="02040503050406030204" pitchFamily="18" charset="0"/>
                  </a:rPr>
                  <a:t>$x\le10$</a:t>
                </a:r>
                <a:r>
                  <a:rPr sz="2400" b="0">
                    <a:solidFill>
                      <a:srgbClr val="78350F"/>
                    </a:solidFill>
                    <a:latin typeface="Arial"/>
                  </a:rPr>
                  <a:t>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be the numbers of students passing exactly one, exactly two, all three subjects. Everyone passes at least one: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passes by subject: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$n_1,n_2,x$</a:t>
                </a:r>
                <a:r>
                  <a:rPr sz="2400" b="0">
                    <a:solidFill>
                      <a:srgbClr val="111827"/>
                    </a:solidFill>
                    <a:latin typeface="Arial"/>
                  </a:rPr>
                  <a:t> be the numbers of students passing exactly one, exactly two, all three subjects. Everyone passes at least one: </a:t>
                </a:r>
                <a:r>
                  <a:rPr lang="en-IN" sz="2400">
                    <a:solidFill>
                      <a:srgbClr val="111827"/>
                    </a:solidFill>
                    <a:latin typeface="Cambria Math" panose="02040503050406030204" pitchFamily="18" charset="0"/>
                  </a:rPr>
                  <a:t>$n_1+n_2+x=40$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passes by subject: </a:t>
                </a:r>
                <a:r>
                  <a:rPr lang="en-IN" sz="2400">
                    <a:solidFill>
                      <a:srgbClr val="111827"/>
                    </a:solidFill>
                    <a:latin typeface="Cambria Math" panose="02040503050406030204" pitchFamily="18" charset="0"/>
                  </a:rPr>
                  <a:t>$20+25+16=61=n_1+2n_2+3x$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a:rPr lang="en-IN" sz="2400" i="1">
                        <a:solidFill>
                          <a:srgbClr val="111827"/>
                        </a:solidFill>
                        <a:latin typeface="Cambria Math" panose="02040503050406030204" pitchFamily="18" charset="0"/>
                      </a:rPr>
                      <m:t>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(for integers).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is attainable (e.g.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the diagram: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only-one regions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student in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only), meeting every pair limit, so the maximum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$61-40=n_2+2x$</a:t>
                </a:r>
                <a:r>
                  <a:rPr sz="2400" b="0">
                    <a:solidFill>
                      <a:srgbClr val="111827"/>
                    </a:solidFill>
                    <a:latin typeface="Arial"/>
                  </a:rPr>
                  <a:t>, so </a:t>
                </a:r>
                <a:r>
                  <a:rPr lang="en-IN" sz="2400">
                    <a:solidFill>
                      <a:srgbClr val="111827"/>
                    </a:solidFill>
                    <a:latin typeface="Cambria Math" panose="02040503050406030204" pitchFamily="18" charset="0"/>
                  </a:rPr>
                  <a:t>$n_2=21-2x\ge0$</a:t>
                </a:r>
                <a:r>
                  <a:rPr sz="2400" b="0">
                    <a:solidFill>
                      <a:srgbClr val="111827"/>
                    </a:solidFill>
                    <a:latin typeface="Arial"/>
                  </a:rPr>
                  <a:t>, giving </a:t>
                </a:r>
                <a:r>
                  <a:rPr lang="en-IN" sz="2400">
                    <a:solidFill>
                      <a:srgbClr val="111827"/>
                    </a:solidFill>
                    <a:latin typeface="Cambria Math" panose="02040503050406030204" pitchFamily="18" charset="0"/>
                  </a:rPr>
                  <a:t>$x\le10.5$</a:t>
                </a:r>
                <a:r>
                  <a:rPr sz="2400" b="0">
                    <a:solidFill>
                      <a:srgbClr val="111827"/>
                    </a:solidFill>
                    <a:latin typeface="Arial"/>
                  </a:rPr>
                  <a:t>, i.e. </a:t>
                </a:r>
                <a:r>
                  <a:rPr lang="en-IN" sz="2400">
                    <a:solidFill>
                      <a:srgbClr val="111827"/>
                    </a:solidFill>
                    <a:latin typeface="Cambria Math" panose="02040503050406030204" pitchFamily="18" charset="0"/>
                  </a:rPr>
                  <a:t>$x\le10$</a:t>
                </a:r>
                <a:r>
                  <a:rPr sz="2400" b="0">
                    <a:solidFill>
                      <a:srgbClr val="111827"/>
                    </a:solidFill>
                    <a:latin typeface="Arial"/>
                  </a:rPr>
                  <a:t> (for integers).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$x=10$</a:t>
                </a:r>
                <a:r>
                  <a:rPr sz="2400" b="0">
                    <a:solidFill>
                      <a:srgbClr val="111827"/>
                    </a:solidFill>
                    <a:latin typeface="Arial"/>
                  </a:rPr>
                  <a:t> is attainable (e.g. </a:t>
                </a:r>
                <a:r>
                  <a:rPr lang="en-IN" sz="2400">
                    <a:solidFill>
                      <a:srgbClr val="111827"/>
                    </a:solidFill>
                    <a:latin typeface="Cambria Math" panose="02040503050406030204" pitchFamily="18" charset="0"/>
                  </a:rPr>
                  <a:t>$n_2=1$</a:t>
                </a:r>
                <a:r>
                  <a:rPr sz="2400" b="0">
                    <a:solidFill>
                      <a:srgbClr val="111827"/>
                    </a:solidFill>
                    <a:latin typeface="Arial"/>
                  </a:rPr>
                  <a:t> in the diagram: </a:t>
                </a:r>
                <a:r>
                  <a:rPr lang="en-IN" sz="2400">
                    <a:solidFill>
                      <a:srgbClr val="111827"/>
                    </a:solidFill>
                    <a:latin typeface="Cambria Math" panose="02040503050406030204" pitchFamily="18" charset="0"/>
                  </a:rPr>
                  <a:t>$9,15,5$</a:t>
                </a:r>
                <a:r>
                  <a:rPr sz="2400" b="0">
                    <a:solidFill>
                      <a:srgbClr val="111827"/>
                    </a:solidFill>
                    <a:latin typeface="Arial"/>
                  </a:rPr>
                  <a:t> only-one regions and </a:t>
                </a:r>
                <a:r>
                  <a:rPr lang="en-IN" sz="2400">
                    <a:solidFill>
                      <a:srgbClr val="111827"/>
                    </a:solidFill>
                    <a:latin typeface="Cambria Math" panose="02040503050406030204" pitchFamily="18" charset="0"/>
                  </a:rPr>
                  <a:t>$1$</a:t>
                </a:r>
                <a:r>
                  <a:rPr sz="2400" b="0">
                    <a:solidFill>
                      <a:srgbClr val="111827"/>
                    </a:solidFill>
                    <a:latin typeface="Arial"/>
                  </a:rPr>
                  <a:t> student in </a:t>
                </a:r>
                <a:r>
                  <a:rPr lang="en-IN" sz="2400">
                    <a:solidFill>
                      <a:srgbClr val="111827"/>
                    </a:solidFill>
                    <a:latin typeface="Cambria Math" panose="02040503050406030204" pitchFamily="18" charset="0"/>
                  </a:rPr>
                  <a:t>$M\cap C$</a:t>
                </a:r>
                <a:r>
                  <a:rPr sz="2400" b="0">
                    <a:solidFill>
                      <a:srgbClr val="111827"/>
                    </a:solidFill>
                    <a:latin typeface="Arial"/>
                  </a:rPr>
                  <a:t> only), meeting every pair limit, so the maximum is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a:t>
            </a:r>
            <a:endParaRPr sz="2800">
              <a:solidFill>
                <a:srgbClr val="15803D"/>
              </a:solidFill>
            </a:endParaRP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Incidence counting: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students lie in the union, then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here: </a:t>
                </a:r>
                <a14:m>
                  <m:oMath xmlns:m="http://schemas.openxmlformats.org/officeDocument/2006/math">
                    <m:r>
                      <a:rPr lang="en-IN" sz="2400" i="1">
                        <a:solidFill>
                          <a:srgbClr val="111827"/>
                        </a:solidFill>
                        <a:latin typeface="Cambria Math" panose="02040503050406030204" pitchFamily="18" charset="0"/>
                      </a:rPr>
                      <m:t>61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maximum/minimum questions, get a bound, then always construct a case that attains it; do not just trust the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pairwise intersection is at least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each 'only' region must be non-negative.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Incidence counting: if </a:t>
                </a:r>
                <a:r>
                  <a:rPr lang="en-IN" sz="2400">
                    <a:solidFill>
                      <a:srgbClr val="111827"/>
                    </a:solidFill>
                    <a:latin typeface="Cambria Math" panose="02040503050406030204" pitchFamily="18" charset="0"/>
                  </a:rPr>
                  <a:t>$|A|+|B|+|C|=T$</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students lie in the union, then </a:t>
                </a:r>
                <a:r>
                  <a:rPr lang="en-IN" sz="2400">
                    <a:solidFill>
                      <a:srgbClr val="111827"/>
                    </a:solidFill>
                    <a:latin typeface="Cambria Math" panose="02040503050406030204" pitchFamily="18" charset="0"/>
                  </a:rPr>
                  <a:t>$T=n_1+2n_2+3n_3$</a:t>
                </a:r>
                <a:r>
                  <a:rPr sz="2400" b="0">
                    <a:solidFill>
                      <a:srgbClr val="111827"/>
                    </a:solidFill>
                    <a:latin typeface="Arial"/>
                  </a:rPr>
                  <a:t> and </a:t>
                </a:r>
                <a:r>
                  <a:rPr lang="en-IN" sz="2400">
                    <a:solidFill>
                      <a:srgbClr val="111827"/>
                    </a:solidFill>
                    <a:latin typeface="Cambria Math" panose="02040503050406030204" pitchFamily="18" charset="0"/>
                  </a:rPr>
                  <a:t>$n=n_1+n_2+n_3$</a:t>
                </a:r>
                <a:r>
                  <a:rPr sz="2400" b="0">
                    <a:solidFill>
                      <a:srgbClr val="111827"/>
                    </a:solidFill>
                    <a:latin typeface="Arial"/>
                  </a:rPr>
                  <a:t>, so </a:t>
                </a:r>
                <a:r>
                  <a:rPr lang="en-IN" sz="2400">
                    <a:solidFill>
                      <a:srgbClr val="111827"/>
                    </a:solidFill>
                    <a:latin typeface="Cambria Math" panose="02040503050406030204" pitchFamily="18" charset="0"/>
                  </a:rPr>
                  <a:t>$T-n=n_2+2n_3$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$|A\cup B\cup C|=\sum|A|-\sum|A\cap B|+|A\cap B\cap C|$</a:t>
                </a:r>
                <a:r>
                  <a:rPr sz="2400" b="0">
                    <a:solidFill>
                      <a:srgbClr val="111827"/>
                    </a:solidFill>
                    <a:latin typeface="Arial"/>
                  </a:rPr>
                  <a:t> (check here: </a:t>
                </a:r>
                <a:r>
                  <a:rPr lang="en-IN" sz="2400">
                    <a:solidFill>
                      <a:srgbClr val="111827"/>
                    </a:solidFill>
                    <a:latin typeface="Cambria Math" panose="02040503050406030204" pitchFamily="18" charset="0"/>
                  </a:rPr>
                  <a:t>$61-(10+10+11)+10=40$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maximum/minimum questions, get a bound, then always construct a case that attains it; do not just trust the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pairwise intersection is at least </a:t>
                </a:r>
                <a:r>
                  <a:rPr lang="en-IN" sz="2400">
                    <a:solidFill>
                      <a:srgbClr val="111827"/>
                    </a:solidFill>
                    <a:latin typeface="Cambria Math" panose="02040503050406030204" pitchFamily="18" charset="0"/>
                  </a:rPr>
                  <a:t>$|A\cap B\cap C|$</a:t>
                </a:r>
                <a:r>
                  <a:rPr sz="2400" b="0">
                    <a:solidFill>
                      <a:srgbClr val="111827"/>
                    </a:solidFill>
                    <a:latin typeface="Arial"/>
                  </a:rPr>
                  <a:t> and each 'only' region must be non-negative.</a:t>
                </a:r>
                <a:endParaRPr sz="2400">
                  <a:solidFill>
                    <a:srgbClr val="111827"/>
                  </a:solidFill>
                </a:endParaRPr>
              </a:p>
            </p:txBody>
          </p:sp>
        </mc:Fallback>
      </mc:AlternateContent>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symmetric relations defined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are not reflexive is __________. [JEE(Main) Jan 2024]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symmetric relations defined on the set </a:t>
                </a:r>
                <a:r>
                  <a:rPr lang="en-IN" sz="2400">
                    <a:solidFill>
                      <a:srgbClr val="111827"/>
                    </a:solidFill>
                    <a:latin typeface="Cambria Math" panose="02040503050406030204" pitchFamily="18" charset="0"/>
                  </a:rPr>
                  <a:t>$\{1,2,3,4\}$</a:t>
                </a:r>
                <a:r>
                  <a:rPr sz="2400" b="0">
                    <a:solidFill>
                      <a:srgbClr val="111827"/>
                    </a:solidFill>
                    <a:latin typeface="Arial"/>
                  </a:rPr>
                  <a:t> which are not reflexive is __________. [JEE(Main) Jan 2024]</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symmetric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relation on an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-set is fixed by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independent choices, and a reflexive one by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relation on an </a:t>
                </a:r>
                <a:r>
                  <a:rPr lang="en-IN" sz="2400">
                    <a:solidFill>
                      <a:srgbClr val="78350F"/>
                    </a:solidFill>
                    <a:latin typeface="Cambria Math" panose="02040503050406030204" pitchFamily="18" charset="0"/>
                  </a:rPr>
                  <a:t>$n$</a:t>
                </a:r>
                <a:r>
                  <a:rPr sz="2400" b="0">
                    <a:solidFill>
                      <a:srgbClr val="78350F"/>
                    </a:solidFill>
                    <a:latin typeface="Arial"/>
                  </a:rPr>
                  <a:t>-set is fixed by </a:t>
                </a:r>
                <a:r>
                  <a:rPr lang="en-IN" sz="2400">
                    <a:solidFill>
                      <a:srgbClr val="78350F"/>
                    </a:solidFill>
                    <a:latin typeface="Cambria Math" panose="02040503050406030204" pitchFamily="18" charset="0"/>
                  </a:rPr>
                  <a:t>$n(n+1)/2$</a:t>
                </a:r>
                <a:r>
                  <a:rPr sz="2400" b="0">
                    <a:solidFill>
                      <a:srgbClr val="78350F"/>
                    </a:solidFill>
                    <a:latin typeface="Arial"/>
                  </a:rPr>
                  <a:t> independent choices, and a reflexive one by </a:t>
                </a:r>
                <a:r>
                  <a:rPr lang="en-IN" sz="2400">
                    <a:solidFill>
                      <a:srgbClr val="78350F"/>
                    </a:solidFill>
                    <a:latin typeface="Cambria Math" panose="02040503050406030204" pitchFamily="18" charset="0"/>
                  </a:rPr>
                  <a:t>$n(n-1)/2$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set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elements, the number of relations that are both symmetric and reflexive is </a:t>
                </a:r>
                <a14:m>
                  <m:oMath xmlns:m="http://schemas.openxmlformats.org/officeDocument/2006/math">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(diagonal pairs forced in; one choice per unordered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total number of symmetric relations is </a:t>
                </a:r>
                <a14:m>
                  <m:oMath xmlns:m="http://schemas.openxmlformats.org/officeDocument/2006/math">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(one choice for each of the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unordered pairs, including diagonal ones).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symmetric relations that are not reflexive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set with </a:t>
                </a:r>
                <a:r>
                  <a:rPr lang="en-IN" sz="2400">
                    <a:solidFill>
                      <a:srgbClr val="111827"/>
                    </a:solidFill>
                    <a:latin typeface="Cambria Math" panose="02040503050406030204" pitchFamily="18" charset="0"/>
                  </a:rPr>
                  <a:t>$n$</a:t>
                </a:r>
                <a:r>
                  <a:rPr sz="2400" b="0">
                    <a:solidFill>
                      <a:srgbClr val="111827"/>
                    </a:solidFill>
                    <a:latin typeface="Arial"/>
                  </a:rPr>
                  <a:t> elements, the number of relations that are both symmetric and reflexive is </a:t>
                </a:r>
                <a:r>
                  <a:rPr lang="en-IN" sz="2400">
                    <a:solidFill>
                      <a:srgbClr val="111827"/>
                    </a:solidFill>
                    <a:latin typeface="Cambria Math" panose="02040503050406030204" pitchFamily="18" charset="0"/>
                  </a:rPr>
                  <a:t>$2^{\frac{n^2-n}{2}}$</a:t>
                </a:r>
                <a:r>
                  <a:rPr sz="2400" b="0">
                    <a:solidFill>
                      <a:srgbClr val="111827"/>
                    </a:solidFill>
                    <a:latin typeface="Arial"/>
                  </a:rPr>
                  <a:t> (diagonal pairs forced in; one choice per unordered pair </a:t>
                </a:r>
                <a:r>
                  <a:rPr lang="en-IN" sz="2400">
                    <a:solidFill>
                      <a:srgbClr val="111827"/>
                    </a:solidFill>
                    <a:latin typeface="Cambria Math" panose="02040503050406030204" pitchFamily="18" charset="0"/>
                  </a:rPr>
                  <a:t>$\{i,j\}$</a:t>
                </a:r>
                <a:r>
                  <a:rPr sz="2400" b="0">
                    <a:solidFill>
                      <a:srgbClr val="111827"/>
                    </a:solidFill>
                    <a:latin typeface="Arial"/>
                  </a:rPr>
                  <a:t>, </a:t>
                </a:r>
                <a:r>
                  <a:rPr lang="en-IN" sz="2400">
                    <a:solidFill>
                      <a:srgbClr val="111827"/>
                    </a:solidFill>
                    <a:latin typeface="Cambria Math" panose="02040503050406030204" pitchFamily="18" charset="0"/>
                  </a:rPr>
                  <a:t>$i\neq 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total number of symmetric relations is </a:t>
                </a:r>
                <a:r>
                  <a:rPr lang="en-IN" sz="2400">
                    <a:solidFill>
                      <a:srgbClr val="111827"/>
                    </a:solidFill>
                    <a:latin typeface="Cambria Math" panose="02040503050406030204" pitchFamily="18" charset="0"/>
                  </a:rPr>
                  <a:t>$2^{\frac{n^2+n}{2}}$</a:t>
                </a:r>
                <a:r>
                  <a:rPr sz="2400" b="0">
                    <a:solidFill>
                      <a:srgbClr val="111827"/>
                    </a:solidFill>
                    <a:latin typeface="Arial"/>
                  </a:rPr>
                  <a:t> (one choice for each of the </a:t>
                </a:r>
                <a:r>
                  <a:rPr lang="en-IN" sz="2400">
                    <a:solidFill>
                      <a:srgbClr val="111827"/>
                    </a:solidFill>
                    <a:latin typeface="Cambria Math" panose="02040503050406030204" pitchFamily="18" charset="0"/>
                  </a:rPr>
                  <a:t>$\frac{n(n+1)}2$</a:t>
                </a:r>
                <a:r>
                  <a:rPr sz="2400" b="0">
                    <a:solidFill>
                      <a:srgbClr val="111827"/>
                    </a:solidFill>
                    <a:latin typeface="Arial"/>
                  </a:rPr>
                  <a:t> unordered pairs, including diagonal ones).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symmetric relations that are not reflexive </a:t>
                </a:r>
                <a:r>
                  <a:rPr lang="en-IN" sz="2400">
                    <a:solidFill>
                      <a:srgbClr val="111827"/>
                    </a:solidFill>
                    <a:latin typeface="Cambria Math" panose="02040503050406030204" pitchFamily="18" charset="0"/>
                  </a:rPr>
                  <a:t>$=2^{\frac{n(n+1)}{2}}-2^{\frac{n(n-1)}{2}}$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PDF writes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 typo):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$\{1,2,3,4\}$</a:t>
                </a:r>
                <a:r>
                  <a:rPr sz="2400" b="0">
                    <a:solidFill>
                      <a:srgbClr val="111827"/>
                    </a:solidFill>
                    <a:latin typeface="Arial"/>
                  </a:rPr>
                  <a:t>, </a:t>
                </a:r>
                <a:r>
                  <a:rPr lang="en-IN" sz="2400">
                    <a:solidFill>
                      <a:srgbClr val="111827"/>
                    </a:solidFill>
                    <a:latin typeface="Cambria Math" panose="02040503050406030204" pitchFamily="18" charset="0"/>
                  </a:rPr>
                  <a:t>$n=4$</a:t>
                </a:r>
                <a:r>
                  <a:rPr sz="2400" b="0">
                    <a:solidFill>
                      <a:srgbClr val="111827"/>
                    </a:solidFill>
                    <a:latin typeface="Arial"/>
                  </a:rPr>
                  <a:t> (the PDF writes </a:t>
                </a:r>
                <a:r>
                  <a:rPr lang="en-IN" sz="2400">
                    <a:solidFill>
                      <a:srgbClr val="111827"/>
                    </a:solidFill>
                    <a:latin typeface="Cambria Math" panose="02040503050406030204" pitchFamily="18" charset="0"/>
                  </a:rPr>
                  <a:t>$n=5$</a:t>
                </a:r>
                <a:r>
                  <a:rPr sz="2400" b="0">
                    <a:solidFill>
                      <a:srgbClr val="111827"/>
                    </a:solidFill>
                    <a:latin typeface="Arial"/>
                  </a:rPr>
                  <a:t>, a typo): </a:t>
                </a:r>
                <a:r>
                  <a:rPr lang="en-IN" sz="2400">
                    <a:solidFill>
                      <a:srgbClr val="111827"/>
                    </a:solidFill>
                    <a:latin typeface="Cambria Math" panose="02040503050406030204" pitchFamily="18" charset="0"/>
                  </a:rPr>
                  <a:t>$2^{10}-2^{6}$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$=1024-64=960$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960</a:t>
            </a:r>
            <a:endParaRPr sz="2800">
              <a:solidFill>
                <a:srgbClr val="15803D"/>
              </a:solidFill>
            </a:endParaRP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the choices: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free off-diagonal pairs and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diagonal pairs; 'not reflexive' means the diagonal is not all present.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the choices: </a:t>
                </a:r>
                <a:r>
                  <a:rPr lang="en-IN" sz="2400">
                    <a:solidFill>
                      <a:srgbClr val="78350F"/>
                    </a:solidFill>
                    <a:latin typeface="Cambria Math" panose="02040503050406030204" pitchFamily="18" charset="0"/>
                  </a:rPr>
                  <a:t>$6$</a:t>
                </a:r>
                <a:r>
                  <a:rPr sz="2400" b="0">
                    <a:solidFill>
                      <a:srgbClr val="78350F"/>
                    </a:solidFill>
                    <a:latin typeface="Arial"/>
                  </a:rPr>
                  <a:t> free off-diagonal pairs and </a:t>
                </a:r>
                <a:r>
                  <a:rPr lang="en-IN" sz="2400">
                    <a:solidFill>
                      <a:srgbClr val="78350F"/>
                    </a:solidFill>
                    <a:latin typeface="Cambria Math" panose="02040503050406030204" pitchFamily="18" charset="0"/>
                  </a:rPr>
                  <a:t>$4$</a:t>
                </a:r>
                <a:r>
                  <a:rPr sz="2400" b="0">
                    <a:solidFill>
                      <a:srgbClr val="78350F"/>
                    </a:solidFill>
                    <a:latin typeface="Arial"/>
                  </a:rPr>
                  <a:t> diagonal pairs; 'not reflexive' means the diagonal is not all present.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relation is determined by which of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unordered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are present: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also determined by which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diagonal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present: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choices.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relation is determined by which of the </a:t>
                </a:r>
                <a:r>
                  <a:rPr lang="en-IN" sz="2400">
                    <a:solidFill>
                      <a:srgbClr val="111827"/>
                    </a:solidFill>
                    <a:latin typeface="Cambria Math" panose="02040503050406030204" pitchFamily="18" charset="0"/>
                  </a:rPr>
                  <a:t>$6$</a:t>
                </a:r>
                <a:r>
                  <a:rPr sz="2400" b="0">
                    <a:solidFill>
                      <a:srgbClr val="111827"/>
                    </a:solidFill>
                    <a:latin typeface="Arial"/>
                  </a:rPr>
                  <a:t> unordered pairs </a:t>
                </a:r>
                <a:r>
                  <a:rPr lang="en-IN" sz="2400">
                    <a:solidFill>
                      <a:srgbClr val="111827"/>
                    </a:solidFill>
                    <a:latin typeface="Cambria Math" panose="02040503050406030204" pitchFamily="18" charset="0"/>
                  </a:rPr>
                  <a:t>$\{i,j\}$</a:t>
                </a:r>
                <a:r>
                  <a:rPr sz="2400" b="0">
                    <a:solidFill>
                      <a:srgbClr val="111827"/>
                    </a:solidFill>
                    <a:latin typeface="Arial"/>
                  </a:rPr>
                  <a:t> (</a:t>
                </a:r>
                <a:r>
                  <a:rPr lang="en-IN" sz="2400">
                    <a:solidFill>
                      <a:srgbClr val="111827"/>
                    </a:solidFill>
                    <a:latin typeface="Cambria Math" panose="02040503050406030204" pitchFamily="18" charset="0"/>
                  </a:rPr>
                  <a:t>$i\ne j$</a:t>
                </a:r>
                <a:r>
                  <a:rPr sz="2400" b="0">
                    <a:solidFill>
                      <a:srgbClr val="111827"/>
                    </a:solidFill>
                    <a:latin typeface="Arial"/>
                  </a:rPr>
                  <a:t>) are present: </a:t>
                </a:r>
                <a:r>
                  <a:rPr lang="en-IN" sz="2400">
                    <a:solidFill>
                      <a:srgbClr val="111827"/>
                    </a:solidFill>
                    <a:latin typeface="Cambria Math" panose="02040503050406030204" pitchFamily="18" charset="0"/>
                  </a:rPr>
                  <a:t>$2^6=64$</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also determined by which of the </a:t>
                </a:r>
                <a:r>
                  <a:rPr lang="en-IN" sz="2400">
                    <a:solidFill>
                      <a:srgbClr val="111827"/>
                    </a:solidFill>
                    <a:latin typeface="Cambria Math" panose="02040503050406030204" pitchFamily="18" charset="0"/>
                  </a:rPr>
                  <a:t>$4$</a:t>
                </a:r>
                <a:r>
                  <a:rPr sz="2400" b="0">
                    <a:solidFill>
                      <a:srgbClr val="111827"/>
                    </a:solidFill>
                    <a:latin typeface="Arial"/>
                  </a:rPr>
                  <a:t> diagonal pairs </a:t>
                </a:r>
                <a:r>
                  <a:rPr lang="en-IN" sz="2400">
                    <a:solidFill>
                      <a:srgbClr val="111827"/>
                    </a:solidFill>
                    <a:latin typeface="Cambria Math" panose="02040503050406030204" pitchFamily="18" charset="0"/>
                  </a:rPr>
                  <a:t>$(i,i)$</a:t>
                </a:r>
                <a:r>
                  <a:rPr sz="2400" b="0">
                    <a:solidFill>
                      <a:srgbClr val="111827"/>
                    </a:solidFill>
                    <a:latin typeface="Arial"/>
                  </a:rPr>
                  <a:t> are present: </a:t>
                </a:r>
                <a:r>
                  <a:rPr lang="en-IN" sz="2400">
                    <a:solidFill>
                      <a:srgbClr val="111827"/>
                    </a:solidFill>
                    <a:latin typeface="Cambria Math" panose="02040503050406030204" pitchFamily="18" charset="0"/>
                  </a:rPr>
                  <a:t>$2^4=16$</a:t>
                </a:r>
                <a:r>
                  <a:rPr sz="2400" b="0">
                    <a:solidFill>
                      <a:srgbClr val="111827"/>
                    </a:solidFill>
                    <a:latin typeface="Arial"/>
                  </a:rPr>
                  <a:t> choices.</a:t>
                </a:r>
                <a:endParaRPr sz="2400">
                  <a:solidFill>
                    <a:srgbClr val="111827"/>
                  </a:solidFill>
                </a:endParaRPr>
              </a:p>
            </p:txBody>
          </p:sp>
        </mc:Fallback>
      </mc:AlternateContent>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Not reflexive means not 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diagonal pairs are present: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Not reflexive means not all </a:t>
                </a:r>
                <a:r>
                  <a:rPr lang="en-IN" sz="2400">
                    <a:solidFill>
                      <a:srgbClr val="111827"/>
                    </a:solidFill>
                    <a:latin typeface="Cambria Math" panose="02040503050406030204" pitchFamily="18" charset="0"/>
                  </a:rPr>
                  <a:t>$4$</a:t>
                </a:r>
                <a:r>
                  <a:rPr sz="2400" b="0">
                    <a:solidFill>
                      <a:srgbClr val="111827"/>
                    </a:solidFill>
                    <a:latin typeface="Arial"/>
                  </a:rPr>
                  <a:t> diagonal pairs are present: </a:t>
                </a:r>
                <a:r>
                  <a:rPr lang="en-IN" sz="2400">
                    <a:solidFill>
                      <a:srgbClr val="111827"/>
                    </a:solidFill>
                    <a:latin typeface="Cambria Math" panose="02040503050406030204" pitchFamily="18" charset="0"/>
                  </a:rPr>
                  <a:t>$16-1=15$</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$=64\times15=960$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960</a:t>
            </a:r>
            <a:endParaRPr sz="2800">
              <a:solidFill>
                <a:srgbClr val="15803D"/>
              </a:solidFill>
            </a:endParaRP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relations </a:t>
                </a:r>
                <a14:m>
                  <m:oMath xmlns:m="http://schemas.openxmlformats.org/officeDocument/2006/math">
                    <m:sSup>
                      <m:e>
                        <m:r>
                          <a:rPr lang="en-IN" sz="2400" i="1">
                            <a:solidFill>
                              <a:srgbClr val="111827"/>
                            </a:solidFill>
                            <a:latin typeface="Cambria Math" panose="02040503050406030204" pitchFamily="18" charset="0"/>
                          </a:rPr>
                          <m:t>2</m:t>
                        </m:r>
                      </m:e>
                      <m: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sup>
                    </m:sSup>
                  </m:oMath>
                </a14:m>
                <a:r>
                  <a:rPr sz="2400" b="0">
                    <a:solidFill>
                      <a:srgbClr val="111827"/>
                    </a:solidFill>
                    <a:latin typeface="Arial"/>
                  </a:rPr>
                  <a:t>; reflexive </a:t>
                </a:r>
                <a14:m>
                  <m:oMath xmlns:m="http://schemas.openxmlformats.org/officeDocument/2006/math">
                    <m:sSup>
                      <m:e>
                        <m:r>
                          <a:rPr lang="en-IN" sz="2400" i="1">
                            <a:solidFill>
                              <a:srgbClr val="111827"/>
                            </a:solidFill>
                            <a:latin typeface="Cambria Math" panose="02040503050406030204" pitchFamily="18" charset="0"/>
                          </a:rPr>
                          <m:t>2</m:t>
                        </m:r>
                      </m:e>
                      <m: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symmetric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reflexive and symmetric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65536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but not reflexive: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Antisymmetric relations: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(diagonal free, each off-diagonal pair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by independent choices: diagonal entries and unordered off-diagonal pairs are independent for symmetric relations.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an </a:t>
                </a:r>
                <a:r>
                  <a:rPr lang="en-IN" sz="2400">
                    <a:solidFill>
                      <a:srgbClr val="111827"/>
                    </a:solidFill>
                    <a:latin typeface="Cambria Math" panose="02040503050406030204" pitchFamily="18" charset="0"/>
                  </a:rPr>
                  <a:t>$n$</a:t>
                </a:r>
                <a:r>
                  <a:rPr sz="2400" b="0">
                    <a:solidFill>
                      <a:srgbClr val="111827"/>
                    </a:solidFill>
                    <a:latin typeface="Arial"/>
                  </a:rPr>
                  <a:t>-set: relations </a:t>
                </a:r>
                <a:r>
                  <a:rPr lang="en-IN" sz="2400">
                    <a:solidFill>
                      <a:srgbClr val="111827"/>
                    </a:solidFill>
                    <a:latin typeface="Cambria Math" panose="02040503050406030204" pitchFamily="18" charset="0"/>
                  </a:rPr>
                  <a:t>$2^{n^2}$</a:t>
                </a:r>
                <a:r>
                  <a:rPr sz="2400" b="0">
                    <a:solidFill>
                      <a:srgbClr val="111827"/>
                    </a:solidFill>
                    <a:latin typeface="Arial"/>
                  </a:rPr>
                  <a:t>; reflexive </a:t>
                </a:r>
                <a:r>
                  <a:rPr lang="en-IN" sz="2400">
                    <a:solidFill>
                      <a:srgbClr val="111827"/>
                    </a:solidFill>
                    <a:latin typeface="Cambria Math" panose="02040503050406030204" pitchFamily="18" charset="0"/>
                  </a:rPr>
                  <a:t>$2^{n^2-n}$</a:t>
                </a:r>
                <a:r>
                  <a:rPr sz="2400" b="0">
                    <a:solidFill>
                      <a:srgbClr val="111827"/>
                    </a:solidFill>
                    <a:latin typeface="Arial"/>
                  </a:rPr>
                  <a:t>; symmetric </a:t>
                </a:r>
                <a:r>
                  <a:rPr lang="en-IN" sz="2400">
                    <a:solidFill>
                      <a:srgbClr val="111827"/>
                    </a:solidFill>
                    <a:latin typeface="Cambria Math" panose="02040503050406030204" pitchFamily="18" charset="0"/>
                  </a:rPr>
                  <a:t>$2^{n(n+1)/2}$</a:t>
                </a:r>
                <a:r>
                  <a:rPr sz="2400" b="0">
                    <a:solidFill>
                      <a:srgbClr val="111827"/>
                    </a:solidFill>
                    <a:latin typeface="Arial"/>
                  </a:rPr>
                  <a:t>; reflexive and symmetric </a:t>
                </a:r>
                <a:r>
                  <a:rPr lang="en-IN" sz="2400">
                    <a:solidFill>
                      <a:srgbClr val="111827"/>
                    </a:solidFill>
                    <a:latin typeface="Cambria Math" panose="02040503050406030204" pitchFamily="18" charset="0"/>
                  </a:rPr>
                  <a:t>$2^{n(n-1)/2}$</a:t>
                </a:r>
                <a:r>
                  <a:rPr sz="2400" b="0">
                    <a:solidFill>
                      <a:srgbClr val="111827"/>
                    </a:solidFill>
                    <a:latin typeface="Arial"/>
                  </a:rPr>
                  <a:t> (for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$65536,4096,1024,64$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but not reflexive: </a:t>
                </a:r>
                <a:r>
                  <a:rPr lang="en-IN" sz="2400">
                    <a:solidFill>
                      <a:srgbClr val="111827"/>
                    </a:solidFill>
                    <a:latin typeface="Cambria Math" panose="02040503050406030204" pitchFamily="18" charset="0"/>
                  </a:rPr>
                  <a:t>$2^{n(n+1)/2}-2^{n(n-1)/2}=2^{n(n-1)/2}(2^n-1)$</a:t>
                </a:r>
                <a:r>
                  <a:rPr sz="2400" b="0">
                    <a:solidFill>
                      <a:srgbClr val="111827"/>
                    </a:solidFill>
                    <a:latin typeface="Arial"/>
                  </a:rPr>
                  <a:t> (check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$8-2=6=2\cdot3$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Antisymmetric relations: </a:t>
                </a:r>
                <a:r>
                  <a:rPr lang="en-IN" sz="2400">
                    <a:solidFill>
                      <a:srgbClr val="111827"/>
                    </a:solidFill>
                    <a:latin typeface="Cambria Math" panose="02040503050406030204" pitchFamily="18" charset="0"/>
                  </a:rPr>
                  <a:t>$2^n\cdot3^{n(n-1)/2}$</a:t>
                </a:r>
                <a:r>
                  <a:rPr sz="2400" b="0">
                    <a:solidFill>
                      <a:srgbClr val="111827"/>
                    </a:solidFill>
                    <a:latin typeface="Arial"/>
                  </a:rPr>
                  <a:t> (diagonal free, each off-diagonal pair has </a:t>
                </a:r>
                <a:r>
                  <a:rPr lang="en-IN" sz="2400">
                    <a:solidFill>
                      <a:srgbClr val="111827"/>
                    </a:solidFill>
                    <a:latin typeface="Cambria Math" panose="02040503050406030204" pitchFamily="18" charset="0"/>
                  </a:rPr>
                  <a:t>$3$</a:t>
                </a:r>
                <a:r>
                  <a:rPr sz="2400" b="0">
                    <a:solidFill>
                      <a:srgbClr val="111827"/>
                    </a:solidFill>
                    <a:latin typeface="Arial"/>
                  </a:rPr>
                  <a:t>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by independent choices: diagonal entries and unordered off-diagonal pairs are independent for symmetric relations.</a:t>
                </a:r>
                <a:endParaRPr sz="2400">
                  <a:solidFill>
                    <a:srgbClr val="111827"/>
                  </a:solidFill>
                </a:endParaRPr>
              </a:p>
            </p:txBody>
          </p:sp>
        </mc:Fallback>
      </mc:AlternateContent>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 equivalence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and the number of elements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Then, the minimum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__________. [JEE(Main) Jan 2024]</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a:t>
                </a:r>
                <a:r>
                  <a:rPr sz="2400" b="0">
                    <a:solidFill>
                      <a:srgbClr val="111827"/>
                    </a:solidFill>
                    <a:latin typeface="Arial"/>
                  </a:rPr>
                  <a:t> and </a:t>
                </a:r>
                <a:r>
                  <a:rPr lang="en-IN" sz="2400">
                    <a:solidFill>
                      <a:srgbClr val="111827"/>
                    </a:solidFill>
                    <a:latin typeface="Cambria Math" panose="02040503050406030204" pitchFamily="18" charset="0"/>
                  </a:rPr>
                  <a:t>$R=\{(1,2),(2,3),(1,4)\}$</a:t>
                </a:r>
                <a:r>
                  <a:rPr sz="2400" b="0">
                    <a:solidFill>
                      <a:srgbClr val="111827"/>
                    </a:solidFill>
                    <a:latin typeface="Arial"/>
                  </a:rPr>
                  <a:t> be a relation on </a:t>
                </a:r>
                <a:r>
                  <a:rPr lang="en-IN" sz="2400">
                    <a:solidFill>
                      <a:srgbClr val="111827"/>
                    </a:solidFill>
                    <a:latin typeface="Cambria Math" panose="02040503050406030204" pitchFamily="18" charset="0"/>
                  </a:rPr>
                  <a:t>$A$</a:t>
                </a:r>
                <a:r>
                  <a:rPr sz="2400" b="0">
                    <a:solidFill>
                      <a:srgbClr val="111827"/>
                    </a:solidFill>
                    <a:latin typeface="Arial"/>
                  </a:rPr>
                  <a:t>. Let </a:t>
                </a:r>
                <a:r>
                  <a:rPr lang="en-IN" sz="2400">
                    <a:solidFill>
                      <a:srgbClr val="111827"/>
                    </a:solidFill>
                    <a:latin typeface="Cambria Math" panose="02040503050406030204" pitchFamily="18" charset="0"/>
                  </a:rPr>
                  <a:t>$S$</a:t>
                </a:r>
                <a:r>
                  <a:rPr sz="2400" b="0">
                    <a:solidFill>
                      <a:srgbClr val="111827"/>
                    </a:solidFill>
                    <a:latin typeface="Arial"/>
                  </a:rPr>
                  <a:t> be the equivalence relation on </a:t>
                </a:r>
                <a:r>
                  <a:rPr lang="en-IN" sz="2400">
                    <a:solidFill>
                      <a:srgbClr val="111827"/>
                    </a:solidFill>
                    <a:latin typeface="Cambria Math" panose="02040503050406030204" pitchFamily="18" charset="0"/>
                  </a:rPr>
                  <a:t>$A$</a:t>
                </a:r>
                <a:r>
                  <a:rPr sz="2400" b="0">
                    <a:solidFill>
                      <a:srgbClr val="111827"/>
                    </a:solidFill>
                    <a:latin typeface="Arial"/>
                  </a:rPr>
                  <a:t> such that </a:t>
                </a:r>
                <a:r>
                  <a:rPr lang="en-IN" sz="2400">
                    <a:solidFill>
                      <a:srgbClr val="111827"/>
                    </a:solidFill>
                    <a:latin typeface="Cambria Math" panose="02040503050406030204" pitchFamily="18" charset="0"/>
                  </a:rPr>
                  <a:t>$R\subset S$</a:t>
                </a:r>
                <a:r>
                  <a:rPr sz="2400" b="0">
                    <a:solidFill>
                      <a:srgbClr val="111827"/>
                    </a:solidFill>
                    <a:latin typeface="Arial"/>
                  </a:rPr>
                  <a:t> and the number of elements in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$n$</a:t>
                </a:r>
                <a:r>
                  <a:rPr sz="2400" b="0">
                    <a:solidFill>
                      <a:srgbClr val="111827"/>
                    </a:solidFill>
                    <a:latin typeface="Arial"/>
                  </a:rPr>
                  <a:t>. Then, the minimum value of </a:t>
                </a:r>
                <a:r>
                  <a:rPr lang="en-IN" sz="2400">
                    <a:solidFill>
                      <a:srgbClr val="111827"/>
                    </a:solidFill>
                    <a:latin typeface="Cambria Math" panose="02040503050406030204" pitchFamily="18" charset="0"/>
                  </a:rPr>
                  <a:t>$n$</a:t>
                </a:r>
                <a:r>
                  <a:rPr sz="2400" b="0">
                    <a:solidFill>
                      <a:srgbClr val="111827"/>
                    </a:solidFill>
                    <a:latin typeface="Arial"/>
                  </a:rPr>
                  <a:t> is __________. [JEE(Main) Jan 2024]</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Smallest equivalence relation containing a given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are all linked through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so the smallest equivalence relation has a single class and is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$1,2,3,4$</a:t>
                </a:r>
                <a:r>
                  <a:rPr sz="2400" b="0">
                    <a:solidFill>
                      <a:srgbClr val="78350F"/>
                    </a:solidFill>
                    <a:latin typeface="Arial"/>
                  </a:rPr>
                  <a:t> are all linked through </a:t>
                </a:r>
                <a:r>
                  <a:rPr lang="en-IN" sz="2400">
                    <a:solidFill>
                      <a:srgbClr val="78350F"/>
                    </a:solidFill>
                    <a:latin typeface="Cambria Math" panose="02040503050406030204" pitchFamily="18" charset="0"/>
                  </a:rPr>
                  <a:t>$R$</a:t>
                </a:r>
                <a:r>
                  <a:rPr sz="2400" b="0">
                    <a:solidFill>
                      <a:srgbClr val="78350F"/>
                    </a:solidFill>
                    <a:latin typeface="Arial"/>
                  </a:rPr>
                  <a:t>, so the smallest equivalence relation has a single class and is </a:t>
                </a:r>
                <a:r>
                  <a:rPr lang="en-IN" sz="2400">
                    <a:solidFill>
                      <a:srgbClr val="78350F"/>
                    </a:solidFill>
                    <a:latin typeface="Cambria Math" panose="02040503050406030204" pitchFamily="18" charset="0"/>
                  </a:rPr>
                  <a:t>$A\times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PDF lists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instead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the relation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besides the diagonal.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add </a:t>
                </a:r>
                <a:r>
                  <a:rPr lang="en-IN" sz="2400">
                    <a:solidFill>
                      <a:srgbClr val="111827"/>
                    </a:solidFill>
                    <a:latin typeface="Cambria Math" panose="02040503050406030204" pitchFamily="18" charset="0"/>
                  </a:rPr>
                  <a:t>$(1,1),(2,2),(3,3),(4,4)$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add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$(3,2)$</a:t>
                </a:r>
                <a:r>
                  <a:rPr sz="2400" b="0">
                    <a:solidFill>
                      <a:srgbClr val="111827"/>
                    </a:solidFill>
                    <a:latin typeface="Arial"/>
                  </a:rPr>
                  <a:t>, </a:t>
                </a:r>
                <a:r>
                  <a:rPr lang="en-IN" sz="2400">
                    <a:solidFill>
                      <a:srgbClr val="111827"/>
                    </a:solidFill>
                    <a:latin typeface="Cambria Math" panose="02040503050406030204" pitchFamily="18" charset="0"/>
                  </a:rPr>
                  <a:t>$(4,1)$</a:t>
                </a:r>
                <a:r>
                  <a:rPr sz="2400" b="0">
                    <a:solidFill>
                      <a:srgbClr val="111827"/>
                    </a:solidFill>
                    <a:latin typeface="Arial"/>
                  </a:rPr>
                  <a:t> (the PDF lists </a:t>
                </a:r>
                <a:r>
                  <a:rPr lang="en-IN" sz="2400">
                    <a:solidFill>
                      <a:srgbClr val="111827"/>
                    </a:solidFill>
                    <a:latin typeface="Cambria Math" panose="02040503050406030204" pitchFamily="18" charset="0"/>
                  </a:rPr>
                  <a:t>$(3,1)$</a:t>
                </a:r>
                <a:r>
                  <a:rPr sz="2400" b="0">
                    <a:solidFill>
                      <a:srgbClr val="111827"/>
                    </a:solidFill>
                    <a:latin typeface="Arial"/>
                  </a:rPr>
                  <a:t> here instead of </a:t>
                </a:r>
                <a:r>
                  <a:rPr lang="en-IN" sz="2400">
                    <a:solidFill>
                      <a:srgbClr val="111827"/>
                    </a:solidFill>
                    <a:latin typeface="Cambria Math" panose="02040503050406030204" pitchFamily="18" charset="0"/>
                  </a:rPr>
                  <a: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the relation has </a:t>
                </a:r>
                <a:r>
                  <a:rPr lang="en-IN" sz="2400">
                    <a:solidFill>
                      <a:srgbClr val="111827"/>
                    </a:solidFill>
                    <a:latin typeface="Cambria Math" panose="02040503050406030204" pitchFamily="18" charset="0"/>
                  </a:rPr>
                  <a:t>$(1,2),(2,1),(2,3),(3,2),(1,4),(4,1)$</a:t>
                </a:r>
                <a:r>
                  <a:rPr sz="2400" b="0">
                    <a:solidFill>
                      <a:srgbClr val="111827"/>
                    </a:solidFill>
                    <a:latin typeface="Arial"/>
                  </a:rPr>
                  <a:t> besides the diagonal.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$(1,2),(2,3)\Rightarrow(1,3)$</a:t>
                </a:r>
                <a:r>
                  <a:rPr sz="2400" b="0">
                    <a:solidFill>
                      <a:srgbClr val="111827"/>
                    </a:solidFill>
                    <a:latin typeface="Arial"/>
                  </a:rPr>
                  <a:t> and so </a:t>
                </a:r>
                <a:r>
                  <a:rPr lang="en-IN" sz="2400">
                    <a:solidFill>
                      <a:srgbClr val="111827"/>
                    </a:solidFill>
                    <a:latin typeface="Cambria Math" panose="02040503050406030204" pitchFamily="18" charset="0"/>
                  </a:rPr>
                  <a:t>$(3,1)$</a:t>
                </a:r>
                <a:r>
                  <a:rPr sz="2400" b="0">
                    <a:solidFill>
                      <a:srgbClr val="111827"/>
                    </a:solidFill>
                    <a:latin typeface="Arial"/>
                  </a:rPr>
                  <a:t>; </a:t>
                </a:r>
                <a:r>
                  <a:rPr lang="en-IN" sz="2400">
                    <a:solidFill>
                      <a:srgbClr val="111827"/>
                    </a:solidFill>
                    <a:latin typeface="Cambria Math" panose="02040503050406030204" pitchFamily="18" charset="0"/>
                  </a:rPr>
                  <a:t>$(3,1),(1,4)\Rightarrow(3,4)$</a:t>
                </a:r>
                <a:r>
                  <a:rPr sz="2400" b="0">
                    <a:solidFill>
                      <a:srgbClr val="111827"/>
                    </a:solidFill>
                    <a:latin typeface="Arial"/>
                  </a:rPr>
                  <a:t> and so </a:t>
                </a:r>
                <a:r>
                  <a:rPr lang="en-IN" sz="2400">
                    <a:solidFill>
                      <a:srgbClr val="111827"/>
                    </a:solidFill>
                    <a:latin typeface="Cambria Math" panose="02040503050406030204" pitchFamily="18" charset="0"/>
                  </a:rPr>
                  <a:t>$(4,3)$</a:t>
                </a:r>
                <a:r>
                  <a:rPr sz="2400" b="0">
                    <a:solidFill>
                      <a:srgbClr val="111827"/>
                    </a:solidFill>
                    <a:latin typeface="Arial"/>
                  </a:rPr>
                  <a:t>; </a:t>
                </a:r>
                <a:r>
                  <a:rPr lang="en-IN" sz="2400">
                    <a:solidFill>
                      <a:srgbClr val="111827"/>
                    </a:solidFill>
                    <a:latin typeface="Cambria Math" panose="02040503050406030204" pitchFamily="18" charset="0"/>
                  </a:rPr>
                  <a:t>$(2,1),(1,4)\Rightarrow(2,4)$</a:t>
                </a:r>
                <a:r>
                  <a:rPr sz="2400" b="0">
                    <a:solidFill>
                      <a:srgbClr val="111827"/>
                    </a:solidFill>
                    <a:latin typeface="Arial"/>
                  </a:rPr>
                  <a:t> and so </a:t>
                </a:r>
                <a:r>
                  <a:rPr lang="en-IN" sz="2400">
                    <a:solidFill>
                      <a:srgbClr val="111827"/>
                    </a:solidFill>
                    <a:latin typeface="Cambria Math" panose="02040503050406030204" pitchFamily="18" charset="0"/>
                  </a:rPr>
                  <a:t>$(4,2)$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we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completes all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added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elements to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which had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minimum number of elements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we add </a:t>
                </a:r>
                <a:r>
                  <a:rPr lang="en-IN" sz="2400">
                    <a:solidFill>
                      <a:srgbClr val="111827"/>
                    </a:solidFill>
                    <a:latin typeface="Cambria Math" panose="02040503050406030204" pitchFamily="18" charset="0"/>
                  </a:rPr>
                  <a:t>$(1,3),(3,1),(3,4),(4,3),(2,4),(4,2)$</a:t>
                </a:r>
                <a:r>
                  <a:rPr sz="2400" b="0">
                    <a:solidFill>
                      <a:srgbClr val="111827"/>
                    </a:solidFill>
                    <a:latin typeface="Arial"/>
                  </a:rPr>
                  <a:t>, which completes all of </a:t>
                </a:r>
                <a:r>
                  <a:rPr lang="en-IN" sz="2400">
                    <a:solidFill>
                      <a:srgbClr val="111827"/>
                    </a:solidFill>
                    <a:latin typeface="Cambria Math" panose="02040503050406030204" pitchFamily="18" charset="0"/>
                  </a:rPr>
                  <a:t>$A\times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added </a:t>
                </a:r>
                <a:r>
                  <a:rPr lang="en-IN" sz="2400">
                    <a:solidFill>
                      <a:srgbClr val="111827"/>
                    </a:solidFill>
                    <a:latin typeface="Cambria Math" panose="02040503050406030204" pitchFamily="18" charset="0"/>
                  </a:rPr>
                  <a:t>$=4+3+6=13$</a:t>
                </a:r>
                <a:r>
                  <a:rPr sz="2400" b="0">
                    <a:solidFill>
                      <a:srgbClr val="111827"/>
                    </a:solidFill>
                    <a:latin typeface="Arial"/>
                  </a:rPr>
                  <a:t> elements to </a:t>
                </a:r>
                <a:r>
                  <a:rPr lang="en-IN" sz="2400">
                    <a:solidFill>
                      <a:srgbClr val="111827"/>
                    </a:solidFill>
                    <a:latin typeface="Cambria Math" panose="02040503050406030204" pitchFamily="18" charset="0"/>
                  </a:rPr>
                  <a:t>$R$</a:t>
                </a:r>
                <a:r>
                  <a:rPr sz="2400" b="0">
                    <a:solidFill>
                      <a:srgbClr val="111827"/>
                    </a:solidFill>
                    <a:latin typeface="Arial"/>
                  </a:rPr>
                  <a:t>, which had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minimum number of elements in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$3+13=16$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Connectivity: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links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so all four elements lie in one class; one class means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Connectivity: </a:t>
                </a:r>
                <a:r>
                  <a:rPr lang="en-IN" sz="2400">
                    <a:solidFill>
                      <a:srgbClr val="78350F"/>
                    </a:solidFill>
                    <a:latin typeface="Cambria Math" panose="02040503050406030204" pitchFamily="18" charset="0"/>
                  </a:rPr>
                  <a:t>$R$</a:t>
                </a:r>
                <a:r>
                  <a:rPr sz="2400" b="0">
                    <a:solidFill>
                      <a:srgbClr val="78350F"/>
                    </a:solidFill>
                    <a:latin typeface="Arial"/>
                  </a:rPr>
                  <a:t> links </a:t>
                </a:r>
                <a:r>
                  <a:rPr lang="en-IN" sz="2400">
                    <a:solidFill>
                      <a:srgbClr val="78350F"/>
                    </a:solidFill>
                    <a:latin typeface="Cambria Math" panose="02040503050406030204" pitchFamily="18" charset="0"/>
                  </a:rPr>
                  <a:t>$1-2$</a:t>
                </a:r>
                <a:r>
                  <a:rPr sz="2400" b="0">
                    <a:solidFill>
                      <a:srgbClr val="78350F"/>
                    </a:solidFill>
                    <a:latin typeface="Arial"/>
                  </a:rPr>
                  <a:t>, </a:t>
                </a:r>
                <a:r>
                  <a:rPr lang="en-IN" sz="2400">
                    <a:solidFill>
                      <a:srgbClr val="78350F"/>
                    </a:solidFill>
                    <a:latin typeface="Cambria Math" panose="02040503050406030204" pitchFamily="18" charset="0"/>
                  </a:rPr>
                  <a:t>$2-3$</a:t>
                </a:r>
                <a:r>
                  <a:rPr sz="2400" b="0">
                    <a:solidFill>
                      <a:srgbClr val="78350F"/>
                    </a:solidFill>
                    <a:latin typeface="Arial"/>
                  </a:rPr>
                  <a:t>, </a:t>
                </a:r>
                <a:r>
                  <a:rPr lang="en-IN" sz="2400">
                    <a:solidFill>
                      <a:srgbClr val="78350F"/>
                    </a:solidFill>
                    <a:latin typeface="Cambria Math" panose="02040503050406030204" pitchFamily="18" charset="0"/>
                  </a:rPr>
                  <a:t>$1-4$</a:t>
                </a:r>
                <a:r>
                  <a:rPr sz="2400" b="0">
                    <a:solidFill>
                      <a:srgbClr val="78350F"/>
                    </a:solidFill>
                    <a:latin typeface="Arial"/>
                  </a:rPr>
                  <a:t>, so all four elements lie in one class; one class means </a:t>
                </a:r>
                <a:r>
                  <a:rPr lang="en-IN" sz="2400">
                    <a:solidFill>
                      <a:srgbClr val="78350F"/>
                    </a:solidFill>
                    <a:latin typeface="Cambria Math" panose="02040503050406030204" pitchFamily="18" charset="0"/>
                  </a:rPr>
                  <a:t>$S=A\times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identifies elements joined by a chain of pairs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(in either direction).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join all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into a single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class of size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ordered pairs, so </a:t>
                </a:r>
                <a14:m>
                  <m:oMath xmlns:m="http://schemas.openxmlformats.org/officeDocument/2006/math">
                    <m:sSub>
                      <m:e>
                        <m:r>
                          <a:rPr lang="en-IN" sz="2400" i="1">
                            <a:solidFill>
                              <a:srgbClr val="111827"/>
                            </a:solidFill>
                            <a:latin typeface="Cambria Math" panose="02040503050406030204" pitchFamily="18" charset="0"/>
                          </a:rPr>
                          <m:t>𝑛</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r>
                  <a:rPr lang="en-IN" sz="2400">
                    <a:solidFill>
                      <a:srgbClr val="111827"/>
                    </a:solidFill>
                    <a:latin typeface="Cambria Math" panose="02040503050406030204" pitchFamily="18" charset="0"/>
                  </a:rPr>
                  <a:t>$R$</a:t>
                </a:r>
                <a:r>
                  <a:rPr sz="2400" b="0">
                    <a:solidFill>
                      <a:srgbClr val="111827"/>
                    </a:solidFill>
                    <a:latin typeface="Arial"/>
                  </a:rPr>
                  <a:t> identifies elements joined by a chain of pairs of </a:t>
                </a:r>
                <a:r>
                  <a:rPr lang="en-IN" sz="2400">
                    <a:solidFill>
                      <a:srgbClr val="111827"/>
                    </a:solidFill>
                    <a:latin typeface="Cambria Math" panose="02040503050406030204" pitchFamily="18" charset="0"/>
                  </a:rPr>
                  <a:t>$R$</a:t>
                </a:r>
                <a:r>
                  <a:rPr sz="2400" b="0">
                    <a:solidFill>
                      <a:srgbClr val="111827"/>
                    </a:solidFill>
                    <a:latin typeface="Arial"/>
                  </a:rPr>
                  <a:t> (in either direction).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$1\sim2$</a:t>
                </a:r>
                <a:r>
                  <a:rPr sz="2400" b="0">
                    <a:solidFill>
                      <a:srgbClr val="111827"/>
                    </a:solidFill>
                    <a:latin typeface="Arial"/>
                  </a:rPr>
                  <a:t>, </a:t>
                </a:r>
                <a:r>
                  <a:rPr lang="en-IN" sz="2400">
                    <a:solidFill>
                      <a:srgbClr val="111827"/>
                    </a:solidFill>
                    <a:latin typeface="Cambria Math" panose="02040503050406030204" pitchFamily="18" charset="0"/>
                  </a:rPr>
                  <a:t>$2\sim3$</a:t>
                </a:r>
                <a:r>
                  <a:rPr sz="2400" b="0">
                    <a:solidFill>
                      <a:srgbClr val="111827"/>
                    </a:solidFill>
                    <a:latin typeface="Arial"/>
                  </a:rPr>
                  <a:t>, </a:t>
                </a:r>
                <a:r>
                  <a:rPr lang="en-IN" sz="2400">
                    <a:solidFill>
                      <a:srgbClr val="111827"/>
                    </a:solidFill>
                    <a:latin typeface="Cambria Math" panose="02040503050406030204" pitchFamily="18" charset="0"/>
                  </a:rPr>
                  <a:t>$1\sim4$</a:t>
                </a:r>
                <a:r>
                  <a:rPr sz="2400" b="0">
                    <a:solidFill>
                      <a:srgbClr val="111827"/>
                    </a:solidFill>
                    <a:latin typeface="Arial"/>
                  </a:rPr>
                  <a:t> join all of </a:t>
                </a:r>
                <a:r>
                  <a:rPr lang="en-IN" sz="2400">
                    <a:solidFill>
                      <a:srgbClr val="111827"/>
                    </a:solidFill>
                    <a:latin typeface="Cambria Math" panose="02040503050406030204" pitchFamily="18" charset="0"/>
                  </a:rPr>
                  <a:t>$1,2,3,4$</a:t>
                </a:r>
                <a:r>
                  <a:rPr sz="2400" b="0">
                    <a:solidFill>
                      <a:srgbClr val="111827"/>
                    </a:solidFill>
                    <a:latin typeface="Arial"/>
                  </a:rPr>
                  <a:t> into a single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class of size </a:t>
                </a:r>
                <a:r>
                  <a:rPr lang="en-IN" sz="2400">
                    <a:solidFill>
                      <a:srgbClr val="111827"/>
                    </a:solidFill>
                    <a:latin typeface="Cambria Math" panose="02040503050406030204" pitchFamily="18" charset="0"/>
                  </a:rPr>
                  <a:t>$4$</a:t>
                </a:r>
                <a:r>
                  <a:rPr sz="2400" b="0">
                    <a:solidFill>
                      <a:srgbClr val="111827"/>
                    </a:solidFill>
                    <a:latin typeface="Arial"/>
                  </a:rPr>
                  <a:t> gives </a:t>
                </a:r>
                <a:r>
                  <a:rPr lang="en-IN" sz="2400">
                    <a:solidFill>
                      <a:srgbClr val="111827"/>
                    </a:solidFill>
                    <a:latin typeface="Cambria Math" panose="02040503050406030204" pitchFamily="18" charset="0"/>
                  </a:rPr>
                  <a:t>$4^2=16$</a:t>
                </a:r>
                <a:r>
                  <a:rPr sz="2400" b="0">
                    <a:solidFill>
                      <a:srgbClr val="111827"/>
                    </a:solidFill>
                    <a:latin typeface="Arial"/>
                  </a:rPr>
                  <a:t> ordered pairs, so </a:t>
                </a:r>
                <a:r>
                  <a:rPr lang="en-IN" sz="2400">
                    <a:solidFill>
                      <a:srgbClr val="111827"/>
                    </a:solidFill>
                    <a:latin typeface="Cambria Math" panose="02040503050406030204" pitchFamily="18" charset="0"/>
                  </a:rPr>
                  <a:t>$n_{\min}=16$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given by the connected components of the graph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(ignoring direction); its size is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over component sizes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connected graph on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vertices forces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closure of a symmetric relation is symmetric, so the order reflexive, symmetric, transitive needs no repeat.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case: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classes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elements.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equivalence relation containing </a:t>
                </a:r>
                <a:r>
                  <a:rPr lang="en-IN" sz="2400">
                    <a:solidFill>
                      <a:srgbClr val="111827"/>
                    </a:solidFill>
                    <a:latin typeface="Cambria Math" panose="02040503050406030204" pitchFamily="18" charset="0"/>
                  </a:rPr>
                  <a:t>$R$</a:t>
                </a:r>
                <a:r>
                  <a:rPr sz="2400" b="0">
                    <a:solidFill>
                      <a:srgbClr val="111827"/>
                    </a:solidFill>
                    <a:latin typeface="Arial"/>
                  </a:rPr>
                  <a:t> is given by the connected components of the graph of </a:t>
                </a:r>
                <a:r>
                  <a:rPr lang="en-IN" sz="2400">
                    <a:solidFill>
                      <a:srgbClr val="111827"/>
                    </a:solidFill>
                    <a:latin typeface="Cambria Math" panose="02040503050406030204" pitchFamily="18" charset="0"/>
                  </a:rPr>
                  <a:t>$R$</a:t>
                </a:r>
                <a:r>
                  <a:rPr sz="2400" b="0">
                    <a:solidFill>
                      <a:srgbClr val="111827"/>
                    </a:solidFill>
                    <a:latin typeface="Arial"/>
                  </a:rPr>
                  <a:t> (ignoring direction); its size is </a:t>
                </a:r>
                <a:r>
                  <a:rPr lang="en-IN" sz="2400">
                    <a:solidFill>
                      <a:srgbClr val="111827"/>
                    </a:solidFill>
                    <a:latin typeface="Cambria Math" panose="02040503050406030204" pitchFamily="18" charset="0"/>
                  </a:rPr>
                  <a:t>$\sum k_i^2$</a:t>
                </a:r>
                <a:r>
                  <a:rPr sz="2400" b="0">
                    <a:solidFill>
                      <a:srgbClr val="111827"/>
                    </a:solidFill>
                    <a:latin typeface="Arial"/>
                  </a:rPr>
                  <a:t> over component sizes </a:t>
                </a:r>
                <a:r>
                  <a:rPr lang="en-IN" sz="2400">
                    <a:solidFill>
                      <a:srgbClr val="111827"/>
                    </a:solidFill>
                    <a:latin typeface="Cambria Math" panose="02040503050406030204" pitchFamily="18" charset="0"/>
                  </a:rPr>
                  <a:t>$k_i$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connected graph on </a:t>
                </a:r>
                <a:r>
                  <a:rPr lang="en-IN" sz="2400">
                    <a:solidFill>
                      <a:srgbClr val="111827"/>
                    </a:solidFill>
                    <a:latin typeface="Cambria Math" panose="02040503050406030204" pitchFamily="18" charset="0"/>
                  </a:rPr>
                  <a:t>$n$</a:t>
                </a:r>
                <a:r>
                  <a:rPr sz="2400" b="0">
                    <a:solidFill>
                      <a:srgbClr val="111827"/>
                    </a:solidFill>
                    <a:latin typeface="Arial"/>
                  </a:rPr>
                  <a:t> vertices forces </a:t>
                </a:r>
                <a:r>
                  <a:rPr lang="en-IN" sz="2400">
                    <a:solidFill>
                      <a:srgbClr val="111827"/>
                    </a:solidFill>
                    <a:latin typeface="Cambria Math" panose="02040503050406030204" pitchFamily="18" charset="0"/>
                  </a:rPr>
                  <a:t>$S=A\times A$</a:t>
                </a:r>
                <a:r>
                  <a:rPr sz="2400" b="0">
                    <a:solidFill>
                      <a:srgbClr val="111827"/>
                    </a:solidFill>
                    <a:latin typeface="Arial"/>
                  </a:rPr>
                  <a:t> with </a:t>
                </a:r>
                <a:r>
                  <a:rPr lang="en-IN" sz="2400">
                    <a:solidFill>
                      <a:srgbClr val="111827"/>
                    </a:solidFill>
                    <a:latin typeface="Cambria Math" panose="02040503050406030204" pitchFamily="18" charset="0"/>
                  </a:rPr>
                  <a:t>$n^2$</a:t>
                </a:r>
                <a:r>
                  <a:rPr sz="2400" b="0">
                    <a:solidFill>
                      <a:srgbClr val="111827"/>
                    </a:solidFill>
                    <a:latin typeface="Arial"/>
                  </a:rPr>
                  <a:t> elements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closure of a symmetric relation is symmetric, so the order reflexive, symmetric, transitive needs no repeat.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case: </a:t>
                </a:r>
                <a:r>
                  <a:rPr lang="en-IN" sz="2400">
                    <a:solidFill>
                      <a:srgbClr val="111827"/>
                    </a:solidFill>
                    <a:latin typeface="Cambria Math" panose="02040503050406030204" pitchFamily="18" charset="0"/>
                  </a:rPr>
                  <a:t>$R=\{(1,2)\}$</a:t>
                </a:r>
                <a:r>
                  <a:rPr sz="2400" b="0">
                    <a:solidFill>
                      <a:srgbClr val="111827"/>
                    </a:solidFill>
                    <a:latin typeface="Arial"/>
                  </a:rPr>
                  <a:t> on </a:t>
                </a:r>
                <a:r>
                  <a:rPr lang="en-IN" sz="2400">
                    <a:solidFill>
                      <a:srgbClr val="111827"/>
                    </a:solidFill>
                    <a:latin typeface="Cambria Math" panose="02040503050406030204" pitchFamily="18" charset="0"/>
                  </a:rPr>
                  <a:t>$\{1,2,3\}$</a:t>
                </a:r>
                <a:r>
                  <a:rPr sz="2400" b="0">
                    <a:solidFill>
                      <a:srgbClr val="111827"/>
                    </a:solidFill>
                    <a:latin typeface="Arial"/>
                  </a:rPr>
                  <a:t> gives classes </a:t>
                </a:r>
                <a:r>
                  <a:rPr lang="en-IN" sz="2400">
                    <a:solidFill>
                      <a:srgbClr val="111827"/>
                    </a:solidFill>
                    <a:latin typeface="Cambria Math" panose="02040503050406030204" pitchFamily="18" charset="0"/>
                  </a:rPr>
                  <a:t>$\{1,2\},\{3\}$</a:t>
                </a:r>
                <a:r>
                  <a:rPr sz="2400" b="0">
                    <a:solidFill>
                      <a:srgbClr val="111827"/>
                    </a:solidFill>
                    <a:latin typeface="Arial"/>
                  </a:rPr>
                  <a:t> and </a:t>
                </a:r>
                <a:r>
                  <a:rPr lang="en-IN" sz="2400">
                    <a:solidFill>
                      <a:srgbClr val="111827"/>
                    </a:solidFill>
                    <a:latin typeface="Cambria Math" panose="02040503050406030204" pitchFamily="18" charset="0"/>
                  </a:rPr>
                  <a:t>$4+1=5$</a:t>
                </a:r>
                <a:r>
                  <a:rPr sz="2400" b="0">
                    <a:solidFill>
                      <a:srgbClr val="111827"/>
                    </a:solidFill>
                    <a:latin typeface="Arial"/>
                  </a:rPr>
                  <a:t> elements.</a:t>
                </a:r>
                <a:endParaRPr sz="2400">
                  <a:solidFill>
                    <a:srgbClr val="111827"/>
                  </a:solidFill>
                </a:endParaRPr>
              </a:p>
            </p:txBody>
          </p:sp>
        </mc:Fallback>
      </mc:AlternateContent>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be a symmetric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the number of elements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Then, the minimum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 [JEE(Main) Jan 2024]</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$A=\{1,2,3,\ldots,100\}$</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$A$</a:t>
                </a:r>
                <a:r>
                  <a:rPr sz="2400" b="0">
                    <a:solidFill>
                      <a:srgbClr val="111827"/>
                    </a:solidFill>
                    <a:latin typeface="Arial"/>
                  </a:rPr>
                  <a:t> defined by </a:t>
                </a:r>
                <a:r>
                  <a:rPr lang="en-IN" sz="2400">
                    <a:solidFill>
                      <a:srgbClr val="111827"/>
                    </a:solidFill>
                    <a:latin typeface="Cambria Math" panose="02040503050406030204" pitchFamily="18" charset="0"/>
                  </a:rPr>
                  <a:t>$(x,y)\in R$</a:t>
                </a:r>
                <a:r>
                  <a:rPr sz="2400" b="0">
                    <a:solidFill>
                      <a:srgbClr val="111827"/>
                    </a:solidFill>
                    <a:latin typeface="Arial"/>
                  </a:rPr>
                  <a:t> if and only if </a:t>
                </a:r>
                <a:r>
                  <a:rPr lang="en-IN" sz="2400">
                    <a:solidFill>
                      <a:srgbClr val="111827"/>
                    </a:solidFill>
                    <a:latin typeface="Cambria Math" panose="02040503050406030204" pitchFamily="18" charset="0"/>
                  </a:rPr>
                  <a:t>$2x=3y$</a:t>
                </a:r>
                <a:r>
                  <a:rPr sz="2400" b="0">
                    <a:solidFill>
                      <a:srgbClr val="111827"/>
                    </a:solidFill>
                    <a:latin typeface="Arial"/>
                  </a:rPr>
                  <a:t>. Let </a:t>
                </a:r>
                <a:r>
                  <a:rPr lang="en-IN" sz="2400">
                    <a:solidFill>
                      <a:srgbClr val="111827"/>
                    </a:solidFill>
                    <a:latin typeface="Cambria Math" panose="02040503050406030204" pitchFamily="18" charset="0"/>
                  </a:rPr>
                  <a:t>$R_1$</a:t>
                </a:r>
                <a:r>
                  <a:rPr sz="2400" b="0">
                    <a:solidFill>
                      <a:srgbClr val="111827"/>
                    </a:solidFill>
                    <a:latin typeface="Arial"/>
                  </a:rPr>
                  <a:t> be a symmetric relation on </a:t>
                </a:r>
                <a:r>
                  <a:rPr lang="en-IN" sz="2400">
                    <a:solidFill>
                      <a:srgbClr val="111827"/>
                    </a:solidFill>
                    <a:latin typeface="Cambria Math" panose="02040503050406030204" pitchFamily="18" charset="0"/>
                  </a:rPr>
                  <a:t>$A$</a:t>
                </a:r>
                <a:r>
                  <a:rPr sz="2400" b="0">
                    <a:solidFill>
                      <a:srgbClr val="111827"/>
                    </a:solidFill>
                    <a:latin typeface="Arial"/>
                  </a:rPr>
                  <a:t> such that </a:t>
                </a:r>
                <a:r>
                  <a:rPr lang="en-IN" sz="2400">
                    <a:solidFill>
                      <a:srgbClr val="111827"/>
                    </a:solidFill>
                    <a:latin typeface="Cambria Math" panose="02040503050406030204" pitchFamily="18" charset="0"/>
                  </a:rPr>
                  <a:t>$R\subset R_1$</a:t>
                </a:r>
                <a:r>
                  <a:rPr sz="2400" b="0">
                    <a:solidFill>
                      <a:srgbClr val="111827"/>
                    </a:solidFill>
                    <a:latin typeface="Arial"/>
                  </a:rPr>
                  <a:t> and the number of elements in </a:t>
                </a:r>
                <a:r>
                  <a:rPr lang="en-IN" sz="2400">
                    <a:solidFill>
                      <a:srgbClr val="111827"/>
                    </a:solidFill>
                    <a:latin typeface="Cambria Math" panose="02040503050406030204" pitchFamily="18" charset="0"/>
                  </a:rPr>
                  <a:t>$R_1$</a:t>
                </a:r>
                <a:r>
                  <a:rPr sz="2400" b="0">
                    <a:solidFill>
                      <a:srgbClr val="111827"/>
                    </a:solidFill>
                    <a:latin typeface="Arial"/>
                  </a:rPr>
                  <a:t> is </a:t>
                </a:r>
                <a:r>
                  <a:rPr lang="en-IN" sz="2400">
                    <a:solidFill>
                      <a:srgbClr val="111827"/>
                    </a:solidFill>
                    <a:latin typeface="Cambria Math" panose="02040503050406030204" pitchFamily="18" charset="0"/>
                  </a:rPr>
                  <a:t>$n$</a:t>
                </a:r>
                <a:r>
                  <a:rPr sz="2400" b="0">
                    <a:solidFill>
                      <a:srgbClr val="111827"/>
                    </a:solidFill>
                    <a:latin typeface="Arial"/>
                  </a:rPr>
                  <a:t>. Then, the minimum value of </a:t>
                </a:r>
                <a:r>
                  <a:rPr lang="en-IN" sz="2400">
                    <a:solidFill>
                      <a:srgbClr val="111827"/>
                    </a:solidFill>
                    <a:latin typeface="Cambria Math" panose="02040503050406030204" pitchFamily="18" charset="0"/>
                  </a:rPr>
                  <a:t>$n$</a:t>
                </a:r>
                <a:r>
                  <a:rPr sz="2400" b="0">
                    <a:solidFill>
                      <a:srgbClr val="111827"/>
                    </a:solidFill>
                    <a:latin typeface="Arial"/>
                  </a:rPr>
                  <a:t> is ______. [JEE(Main) Jan 2024]</a:t>
                </a:r>
                <a:endParaRPr sz="2400">
                  <a:solidFill>
                    <a:srgbClr val="111827"/>
                  </a:solidFill>
                </a:endParaRPr>
              </a:p>
            </p:txBody>
          </p:sp>
        </mc:Fallback>
      </mc:AlternateContent>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must contain every reverse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minimum is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𝑅</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a:t>
                </a:r>
                <a:r>
                  <a:rPr lang="en-IN" sz="2400">
                    <a:solidFill>
                      <a:srgbClr val="78350F"/>
                    </a:solidFill>
                    <a:latin typeface="Cambria Math" panose="02040503050406030204" pitchFamily="18" charset="0"/>
                  </a:rPr>
                  <a:t>$R_1\supseteq R$</a:t>
                </a:r>
                <a:r>
                  <a:rPr sz="2400" b="0">
                    <a:solidFill>
                      <a:srgbClr val="78350F"/>
                    </a:solidFill>
                    <a:latin typeface="Arial"/>
                  </a:rPr>
                  <a:t> must contain every reverse pair </a:t>
                </a:r>
                <a:r>
                  <a:rPr lang="en-IN" sz="2400">
                    <a:solidFill>
                      <a:srgbClr val="78350F"/>
                    </a:solidFill>
                    <a:latin typeface="Cambria Math" panose="02040503050406030204" pitchFamily="18" charset="0"/>
                  </a:rPr>
                  <a:t>$(y,x)$</a:t>
                </a:r>
                <a:r>
                  <a:rPr sz="2400" b="0">
                    <a:solidFill>
                      <a:srgbClr val="78350F"/>
                    </a:solidFill>
                    <a:latin typeface="Arial"/>
                  </a:rPr>
                  <a:t>, so the minimum is </a:t>
                </a:r>
                <a:r>
                  <a:rPr lang="en-IN" sz="2400">
                    <a:solidFill>
                      <a:srgbClr val="78350F"/>
                    </a:solidFill>
                    <a:latin typeface="Cambria Math" panose="02040503050406030204" pitchFamily="18" charset="0"/>
                  </a:rPr>
                  <a:t>$R\cup R^{-1}$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to be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 multiple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must lie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$2x=3y$</a:t>
                </a:r>
                <a:r>
                  <a:rPr sz="2400" b="0">
                    <a:solidFill>
                      <a:srgbClr val="111827"/>
                    </a:solidFill>
                    <a:latin typeface="Arial"/>
                  </a:rPr>
                  <a:t> forces </a:t>
                </a:r>
                <a:r>
                  <a:rPr lang="en-IN" sz="2400">
                    <a:solidFill>
                      <a:srgbClr val="111827"/>
                    </a:solidFill>
                    <a:latin typeface="Cambria Math" panose="02040503050406030204" pitchFamily="18" charset="0"/>
                  </a:rPr>
                  <a:t>$x$</a:t>
                </a:r>
                <a:r>
                  <a:rPr sz="2400" b="0">
                    <a:solidFill>
                      <a:srgbClr val="111827"/>
                    </a:solidFill>
                    <a:latin typeface="Arial"/>
                  </a:rPr>
                  <a:t> to be a multiple of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 multiple of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$x=3k,\ y=2k$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must lie in </a:t>
                </a:r>
                <a:r>
                  <a:rPr lang="en-IN" sz="2400">
                    <a:solidFill>
                      <a:srgbClr val="111827"/>
                    </a:solidFill>
                    <a:latin typeface="Cambria Math" panose="02040503050406030204" pitchFamily="18" charset="0"/>
                  </a:rPr>
                  <a:t>$A$</a:t>
                </a:r>
                <a:r>
                  <a:rPr sz="2400" b="0">
                    <a:solidFill>
                      <a:srgbClr val="111827"/>
                    </a:solidFill>
                    <a:latin typeface="Arial"/>
                  </a:rPr>
                  <a:t>, so </a:t>
                </a:r>
                <a:r>
                  <a:rPr lang="en-IN" sz="2400">
                    <a:solidFill>
                      <a:srgbClr val="111827"/>
                    </a:solidFill>
                    <a:latin typeface="Cambria Math" panose="02040503050406030204" pitchFamily="18" charset="0"/>
                  </a:rPr>
                  <a:t>$3k\le100$</a:t>
                </a:r>
                <a:r>
                  <a:rPr sz="2400" b="0">
                    <a:solidFill>
                      <a:srgbClr val="111827"/>
                    </a:solidFill>
                    <a:latin typeface="Arial"/>
                  </a:rPr>
                  <a:t>, i.e. </a:t>
                </a:r>
                <a:r>
                  <a:rPr lang="en-IN" sz="2400">
                    <a:solidFill>
                      <a:srgbClr val="111827"/>
                    </a:solidFill>
                    <a:latin typeface="Cambria Math" panose="02040503050406030204" pitchFamily="18" charset="0"/>
                  </a:rPr>
                  <a:t>$1\le k\le33$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$R=\{(3,2),(6,4),(9,6),(12,8),\ldots,(99,66)\}$</a:t>
                </a:r>
                <a:r>
                  <a:rPr sz="2400" b="0">
                    <a:solidFill>
                      <a:srgbClr val="111827"/>
                    </a:solidFill>
                    <a:latin typeface="Arial"/>
                  </a:rPr>
                  <a:t> and </a:t>
                </a:r>
                <a:r>
                  <a:rPr lang="en-IN" sz="2400">
                    <a:solidFill>
                      <a:srgbClr val="111827"/>
                    </a:solidFill>
                    <a:latin typeface="Cambria Math" panose="02040503050406030204" pitchFamily="18" charset="0"/>
                  </a:rPr>
                  <a:t>$n(R)=33$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must also contain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None of these reverse pairs is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oMath>
                </a14:m>
                <a:r>
                  <a:rPr sz="2400" b="0">
                    <a:solidFill>
                      <a:srgbClr val="111827"/>
                    </a:solidFill>
                    <a:latin typeface="Arial"/>
                  </a:rPr>
                  <a:t>, impossible. Also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has no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a:t>
                </a:r>
                <a14:m>
                  <m:oMath xmlns:m="http://schemas.openxmlformats.org/officeDocument/2006/math">
                    <m:r>
                      <a:rPr lang="en-IN" sz="2400" i="1">
                        <a:solidFill>
                          <a:srgbClr val="111827"/>
                        </a:solidFill>
                        <a:latin typeface="Cambria Math" panose="02040503050406030204" pitchFamily="18" charset="0"/>
                      </a:rPr>
                      <m:t>33</m:t>
                    </m:r>
                  </m:oMath>
                </a14:m>
                <a:r>
                  <a:rPr sz="2400" b="0">
                    <a:solidFill>
                      <a:srgbClr val="111827"/>
                    </a:solidFill>
                    <a:latin typeface="Arial"/>
                  </a:rPr>
                  <a:t> new, distinct pairs are needed, and the minimum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t>
                </a:r>
                <a:r>
                  <a:rPr lang="en-IN" sz="2400">
                    <a:solidFill>
                      <a:srgbClr val="111827"/>
                    </a:solidFill>
                    <a:latin typeface="Cambria Math" panose="02040503050406030204" pitchFamily="18" charset="0"/>
                  </a:rPr>
                  <a:t>$R_1$</a:t>
                </a:r>
                <a:r>
                  <a:rPr sz="2400" b="0">
                    <a:solidFill>
                      <a:srgbClr val="111827"/>
                    </a:solidFill>
                    <a:latin typeface="Arial"/>
                  </a:rPr>
                  <a:t> containing </a:t>
                </a:r>
                <a:r>
                  <a:rPr lang="en-IN" sz="2400">
                    <a:solidFill>
                      <a:srgbClr val="111827"/>
                    </a:solidFill>
                    <a:latin typeface="Cambria Math" panose="02040503050406030204" pitchFamily="18" charset="0"/>
                  </a:rPr>
                  <a:t>$R$</a:t>
                </a:r>
                <a:r>
                  <a:rPr sz="2400" b="0">
                    <a:solidFill>
                      <a:srgbClr val="111827"/>
                    </a:solidFill>
                    <a:latin typeface="Arial"/>
                  </a:rPr>
                  <a:t> must also contain </a:t>
                </a:r>
                <a:r>
                  <a:rPr lang="en-IN" sz="2400">
                    <a:solidFill>
                      <a:srgbClr val="111827"/>
                    </a:solidFill>
                    <a:latin typeface="Cambria Math" panose="02040503050406030204" pitchFamily="18" charset="0"/>
                  </a:rPr>
                  <a:t>$(2k,3k)$</a:t>
                </a:r>
                <a:r>
                  <a:rPr sz="2400" b="0">
                    <a:solidFill>
                      <a:srgbClr val="111827"/>
                    </a:solidFill>
                    <a:latin typeface="Arial"/>
                  </a:rPr>
                  <a:t> for every </a:t>
                </a:r>
                <a:r>
                  <a:rPr lang="en-IN" sz="2400">
                    <a:solidFill>
                      <a:srgbClr val="111827"/>
                    </a:solidFill>
                    <a:latin typeface="Cambria Math" panose="02040503050406030204" pitchFamily="18" charset="0"/>
                  </a:rPr>
                  <a:t>$(3k,2k)\in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None of these reverse pairs is in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$(2k,3k)\in R$</a:t>
                </a:r>
                <a:r>
                  <a:rPr sz="2400" b="0">
                    <a:solidFill>
                      <a:srgbClr val="111827"/>
                    </a:solidFill>
                    <a:latin typeface="Arial"/>
                  </a:rPr>
                  <a:t> would need </a:t>
                </a:r>
                <a:r>
                  <a:rPr lang="en-IN" sz="2400">
                    <a:solidFill>
                      <a:srgbClr val="111827"/>
                    </a:solidFill>
                    <a:latin typeface="Cambria Math" panose="02040503050406030204" pitchFamily="18" charset="0"/>
                  </a:rPr>
                  <a:t>$4k=9k$</a:t>
                </a:r>
                <a:r>
                  <a:rPr sz="2400" b="0">
                    <a:solidFill>
                      <a:srgbClr val="111827"/>
                    </a:solidFill>
                    <a:latin typeface="Arial"/>
                  </a:rPr>
                  <a:t>, impossible. Also </a:t>
                </a:r>
                <a:r>
                  <a:rPr lang="en-IN" sz="2400">
                    <a:solidFill>
                      <a:srgbClr val="111827"/>
                    </a:solidFill>
                    <a:latin typeface="Cambria Math" panose="02040503050406030204" pitchFamily="18" charset="0"/>
                  </a:rPr>
                  <a:t>$R$</a:t>
                </a:r>
                <a:r>
                  <a:rPr sz="2400" b="0">
                    <a:solidFill>
                      <a:srgbClr val="111827"/>
                    </a:solidFill>
                    <a:latin typeface="Arial"/>
                  </a:rPr>
                  <a:t> has no pair </a:t>
                </a:r>
                <a:r>
                  <a:rPr lang="en-IN" sz="2400">
                    <a:solidFill>
                      <a:srgbClr val="111827"/>
                    </a:solidFill>
                    <a:latin typeface="Cambria Math" panose="02040503050406030204" pitchFamily="18" charset="0"/>
                  </a:rPr>
                  <a:t>$(x,x)$</a:t>
                </a:r>
                <a:r>
                  <a:rPr sz="2400" b="0">
                    <a:solidFill>
                      <a:srgbClr val="111827"/>
                    </a:solidFill>
                    <a:latin typeface="Arial"/>
                  </a:rPr>
                  <a:t>, since </a:t>
                </a:r>
                <a:r>
                  <a:rPr lang="en-IN" sz="2400">
                    <a:solidFill>
                      <a:srgbClr val="111827"/>
                    </a:solidFill>
                    <a:latin typeface="Cambria Math" panose="02040503050406030204" pitchFamily="18" charset="0"/>
                  </a:rPr>
                  <a:t>$2x=3x$</a:t>
                </a:r>
                <a:r>
                  <a:rPr sz="2400" b="0">
                    <a:solidFill>
                      <a:srgbClr val="111827"/>
                    </a:solidFill>
                    <a:latin typeface="Arial"/>
                  </a:rPr>
                  <a:t> gives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a:t>
                </a:r>
                <a:r>
                  <a:rPr lang="en-IN" sz="2400">
                    <a:solidFill>
                      <a:srgbClr val="111827"/>
                    </a:solidFill>
                    <a:latin typeface="Cambria Math" panose="02040503050406030204" pitchFamily="18" charset="0"/>
                  </a:rPr>
                  <a:t>$33$</a:t>
                </a:r>
                <a:r>
                  <a:rPr sz="2400" b="0">
                    <a:solidFill>
                      <a:srgbClr val="111827"/>
                    </a:solidFill>
                    <a:latin typeface="Arial"/>
                  </a:rPr>
                  <a:t> new, distinct pairs are needed, and the minimum is </a:t>
                </a:r>
                <a:r>
                  <a:rPr lang="en-IN" sz="2400">
                    <a:solidFill>
                      <a:srgbClr val="111827"/>
                    </a:solidFill>
                    <a:latin typeface="Cambria Math" panose="02040503050406030204" pitchFamily="18" charset="0"/>
                  </a:rPr>
                  <a:t>$n=33+33=66$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66</a:t>
            </a:r>
            <a:endParaRPr sz="2800">
              <a:solidFill>
                <a:srgbClr val="15803D"/>
              </a:solidFill>
            </a:endParaRP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smallest symmetric relation containing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𝑅</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𝑅</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smallest symmetric relation containing </a:t>
                </a:r>
                <a:r>
                  <a:rPr lang="en-IN" sz="2400">
                    <a:solidFill>
                      <a:srgbClr val="78350F"/>
                    </a:solidFill>
                    <a:latin typeface="Cambria Math" panose="02040503050406030204" pitchFamily="18" charset="0"/>
                  </a:rPr>
                  <a:t>$R$</a:t>
                </a:r>
                <a:r>
                  <a:rPr sz="2400" b="0">
                    <a:solidFill>
                      <a:srgbClr val="78350F"/>
                    </a:solidFill>
                    <a:latin typeface="Arial"/>
                  </a:rPr>
                  <a:t> is </a:t>
                </a:r>
                <a:r>
                  <a:rPr lang="en-IN" sz="2400">
                    <a:solidFill>
                      <a:srgbClr val="78350F"/>
                    </a:solidFill>
                    <a:latin typeface="Cambria Math" panose="02040503050406030204" pitchFamily="18" charset="0"/>
                  </a:rPr>
                  <a:t>$R\cup R^{-1}$</a:t>
                </a:r>
                <a:r>
                  <a:rPr sz="2400" b="0">
                    <a:solidFill>
                      <a:srgbClr val="78350F"/>
                    </a:solidFill>
                    <a:latin typeface="Arial"/>
                  </a:rPr>
                  <a:t>, so </a:t>
                </a:r>
                <a:r>
                  <a:rPr lang="en-IN" sz="2400">
                    <a:solidFill>
                      <a:srgbClr val="78350F"/>
                    </a:solidFill>
                    <a:latin typeface="Cambria Math" panose="02040503050406030204" pitchFamily="18" charset="0"/>
                  </a:rPr>
                  <a:t>$n=2|R|-|R\cap R^{-1}|$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symmetric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contains </a:t>
                </a:r>
                <a14:m>
                  <m:oMath xmlns:m="http://schemas.openxmlformats.org/officeDocument/2006/math">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itself symmetric. Hence the minimum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bijection.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Subtracting the second from the first gives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 Therefore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symmetric </a:t>
                </a:r>
                <a:r>
                  <a:rPr lang="en-IN" sz="2400">
                    <a:solidFill>
                      <a:srgbClr val="111827"/>
                    </a:solidFill>
                    <a:latin typeface="Cambria Math" panose="02040503050406030204" pitchFamily="18" charset="0"/>
                  </a:rPr>
                  <a:t>$R_1\supseteq R$</a:t>
                </a:r>
                <a:r>
                  <a:rPr sz="2400" b="0">
                    <a:solidFill>
                      <a:srgbClr val="111827"/>
                    </a:solidFill>
                    <a:latin typeface="Arial"/>
                  </a:rPr>
                  <a:t> contains </a:t>
                </a:r>
                <a:r>
                  <a:rPr lang="en-IN" sz="2400">
                    <a:solidFill>
                      <a:srgbClr val="111827"/>
                    </a:solidFill>
                    <a:latin typeface="Cambria Math" panose="02040503050406030204" pitchFamily="18" charset="0"/>
                  </a:rPr>
                  <a:t>$R^{-1}$</a:t>
                </a:r>
                <a:r>
                  <a:rPr sz="2400" b="0">
                    <a:solidFill>
                      <a:srgbClr val="111827"/>
                    </a:solidFill>
                    <a:latin typeface="Arial"/>
                  </a:rPr>
                  <a:t>, and </a:t>
                </a:r>
                <a:r>
                  <a:rPr lang="en-IN" sz="2400">
                    <a:solidFill>
                      <a:srgbClr val="111827"/>
                    </a:solidFill>
                    <a:latin typeface="Cambria Math" panose="02040503050406030204" pitchFamily="18" charset="0"/>
                  </a:rPr>
                  <a:t>$R\cup R^{-1}$</a:t>
                </a:r>
                <a:r>
                  <a:rPr sz="2400" b="0">
                    <a:solidFill>
                      <a:srgbClr val="111827"/>
                    </a:solidFill>
                    <a:latin typeface="Arial"/>
                  </a:rPr>
                  <a:t> is itself symmetric. Hence the minimum is </a:t>
                </a:r>
                <a:r>
                  <a:rPr lang="en-IN" sz="2400">
                    <a:solidFill>
                      <a:srgbClr val="111827"/>
                    </a:solidFill>
                    <a:latin typeface="Cambria Math" panose="02040503050406030204" pitchFamily="18" charset="0"/>
                  </a:rPr>
                  <a:t>$|R\cup R^{-1}|=|R|+|R^{-1}|-|R\cap 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$|R^{-1}|=|R|$</a:t>
                </a:r>
                <a:r>
                  <a:rPr sz="2400" b="0">
                    <a:solidFill>
                      <a:srgbClr val="111827"/>
                    </a:solidFill>
                    <a:latin typeface="Arial"/>
                  </a:rPr>
                  <a:t>, since </a:t>
                </a:r>
                <a:r>
                  <a:rPr lang="en-IN" sz="2400">
                    <a:solidFill>
                      <a:srgbClr val="111827"/>
                    </a:solidFill>
                    <a:latin typeface="Cambria Math" panose="02040503050406030204" pitchFamily="18" charset="0"/>
                  </a:rPr>
                  <a:t>$(x,y)\mapsto(y,x)$</a:t>
                </a:r>
                <a:r>
                  <a:rPr sz="2400" b="0">
                    <a:solidFill>
                      <a:srgbClr val="111827"/>
                    </a:solidFill>
                    <a:latin typeface="Arial"/>
                  </a:rPr>
                  <a:t> is a bijection.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$(x,y)\in R\cap R^{-1}$</a:t>
                </a:r>
                <a:r>
                  <a:rPr sz="2400" b="0">
                    <a:solidFill>
                      <a:srgbClr val="111827"/>
                    </a:solidFill>
                    <a:latin typeface="Arial"/>
                  </a:rPr>
                  <a:t> means </a:t>
                </a:r>
                <a:r>
                  <a:rPr lang="en-IN" sz="2400">
                    <a:solidFill>
                      <a:srgbClr val="111827"/>
                    </a:solidFill>
                    <a:latin typeface="Cambria Math" panose="02040503050406030204" pitchFamily="18" charset="0"/>
                  </a:rPr>
                  <a:t>$2x=3y$</a:t>
                </a:r>
                <a:r>
                  <a:rPr sz="2400" b="0">
                    <a:solidFill>
                      <a:srgbClr val="111827"/>
                    </a:solidFill>
                    <a:latin typeface="Arial"/>
                  </a:rPr>
                  <a:t> and </a:t>
                </a:r>
                <a:r>
                  <a:rPr lang="en-IN" sz="2400">
                    <a:solidFill>
                      <a:srgbClr val="111827"/>
                    </a:solidFill>
                    <a:latin typeface="Cambria Math" panose="02040503050406030204" pitchFamily="18" charset="0"/>
                  </a:rPr>
                  <a:t>$2y=3x$</a:t>
                </a:r>
                <a:r>
                  <a:rPr sz="2400" b="0">
                    <a:solidFill>
                      <a:srgbClr val="111827"/>
                    </a:solidFill>
                    <a:latin typeface="Arial"/>
                  </a:rPr>
                  <a:t>. Subtracting the second from the first gives </a:t>
                </a:r>
                <a:r>
                  <a:rPr lang="en-IN" sz="2400">
                    <a:solidFill>
                      <a:srgbClr val="111827"/>
                    </a:solidFill>
                    <a:latin typeface="Cambria Math" panose="02040503050406030204" pitchFamily="18" charset="0"/>
                  </a:rPr>
                  <a:t>$5x=5y$</a:t>
                </a:r>
                <a:r>
                  <a:rPr sz="2400" b="0">
                    <a:solidFill>
                      <a:srgbClr val="111827"/>
                    </a:solidFill>
                    <a:latin typeface="Arial"/>
                  </a:rPr>
                  <a:t>, so </a:t>
                </a:r>
                <a:r>
                  <a:rPr lang="en-IN" sz="2400">
                    <a:solidFill>
                      <a:srgbClr val="111827"/>
                    </a:solidFill>
                    <a:latin typeface="Cambria Math" panose="02040503050406030204" pitchFamily="18" charset="0"/>
                  </a:rPr>
                  <a:t>$x=y$</a:t>
                </a:r>
                <a:r>
                  <a:rPr sz="2400" b="0">
                    <a:solidFill>
                      <a:srgbClr val="111827"/>
                    </a:solidFill>
                    <a:latin typeface="Arial"/>
                  </a:rPr>
                  <a:t>, and then </a:t>
                </a:r>
                <a:r>
                  <a:rPr lang="en-IN" sz="2400">
                    <a:solidFill>
                      <a:srgbClr val="111827"/>
                    </a:solidFill>
                    <a:latin typeface="Cambria Math" panose="02040503050406030204" pitchFamily="18" charset="0"/>
                  </a:rPr>
                  <a:t>$2x=3x$</a:t>
                </a:r>
                <a:r>
                  <a:rPr sz="2400" b="0">
                    <a:solidFill>
                      <a:srgbClr val="111827"/>
                    </a:solidFill>
                    <a:latin typeface="Arial"/>
                  </a:rPr>
                  <a:t> forces </a:t>
                </a:r>
                <a:r>
                  <a:rPr lang="en-IN" sz="2400">
                    <a:solidFill>
                      <a:srgbClr val="111827"/>
                    </a:solidFill>
                    <a:latin typeface="Cambria Math" panose="02040503050406030204" pitchFamily="18" charset="0"/>
                  </a:rPr>
                  <a:t>$x=0\notin A$</a:t>
                </a:r>
                <a:r>
                  <a:rPr sz="2400" b="0">
                    <a:solidFill>
                      <a:srgbClr val="111827"/>
                    </a:solidFill>
                    <a:latin typeface="Arial"/>
                  </a:rPr>
                  <a:t>. So </a:t>
                </a:r>
                <a:r>
                  <a:rPr lang="en-IN" sz="2400">
                    <a:solidFill>
                      <a:srgbClr val="111827"/>
                    </a:solidFill>
                    <a:latin typeface="Cambria Math" panose="02040503050406030204" pitchFamily="18" charset="0"/>
                  </a:rPr>
                  <a:t>$R\cap R^{-1}=\emptyset$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$|R|=33$</a:t>
                </a:r>
                <a:r>
                  <a:rPr sz="2400" b="0">
                    <a:solidFill>
                      <a:srgbClr val="111827"/>
                    </a:solidFill>
                    <a:latin typeface="Arial"/>
                  </a:rPr>
                  <a:t> (pairs </a:t>
                </a:r>
                <a:r>
                  <a:rPr lang="en-IN" sz="2400">
                    <a:solidFill>
                      <a:srgbClr val="111827"/>
                    </a:solidFill>
                    <a:latin typeface="Cambria Math" panose="02040503050406030204" pitchFamily="18" charset="0"/>
                  </a:rPr>
                  <a:t>$(3k,2k)$</a:t>
                </a:r>
                <a:r>
                  <a:rPr sz="2400" b="0">
                    <a:solidFill>
                      <a:srgbClr val="111827"/>
                    </a:solidFill>
                    <a:latin typeface="Arial"/>
                  </a:rPr>
                  <a:t>, </a:t>
                </a:r>
                <a:r>
                  <a:rPr lang="en-IN" sz="2400">
                    <a:solidFill>
                      <a:srgbClr val="111827"/>
                    </a:solidFill>
                    <a:latin typeface="Cambria Math" panose="02040503050406030204" pitchFamily="18" charset="0"/>
                  </a:rPr>
                  <a:t>$k\le33$</a:t>
                </a:r>
                <a:r>
                  <a:rPr sz="2400" b="0">
                    <a:solidFill>
                      <a:srgbClr val="111827"/>
                    </a:solidFill>
                    <a:latin typeface="Arial"/>
                  </a:rPr>
                  <a:t>). Therefore </a:t>
                </a:r>
                <a:r>
                  <a:rPr lang="en-IN" sz="2400">
                    <a:solidFill>
                      <a:srgbClr val="111827"/>
                    </a:solidFill>
                    <a:latin typeface="Cambria Math" panose="02040503050406030204" pitchFamily="18" charset="0"/>
                  </a:rPr>
                  <a:t>$n=33+33-0=66$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66</a:t>
            </a:r>
            <a:endParaRPr sz="2800">
              <a:solidFill>
                <a:srgbClr val="15803D"/>
              </a:solidFill>
            </a:endParaRP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Smallest symmetric relation containing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of size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size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has no symmetric pair.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exactly the set of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it includes every diagonal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size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pairs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Smallest symmetric relation containing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$R\cup R^{-1}$</a:t>
                </a:r>
                <a:r>
                  <a:rPr sz="2400" b="0">
                    <a:solidFill>
                      <a:srgbClr val="111827"/>
                    </a:solidFill>
                    <a:latin typeface="Arial"/>
                  </a:rPr>
                  <a:t>, of size </a:t>
                </a:r>
                <a:r>
                  <a:rPr lang="en-IN" sz="2400">
                    <a:solidFill>
                      <a:srgbClr val="111827"/>
                    </a:solidFill>
                    <a:latin typeface="Cambria Math" panose="02040503050406030204" pitchFamily="18" charset="0"/>
                  </a:rPr>
                  <a:t>$2|R|-|R\cap R^{-1}|$</a:t>
                </a:r>
                <a:r>
                  <a:rPr sz="2400" b="0">
                    <a:solidFill>
                      <a:srgbClr val="111827"/>
                    </a:solidFill>
                    <a:latin typeface="Arial"/>
                  </a:rPr>
                  <a:t>; its size is </a:t>
                </a:r>
                <a:r>
                  <a:rPr lang="en-IN" sz="2400">
                    <a:solidFill>
                      <a:srgbClr val="111827"/>
                    </a:solidFill>
                    <a:latin typeface="Cambria Math" panose="02040503050406030204" pitchFamily="18" charset="0"/>
                  </a:rPr>
                  <a:t>$2|R|$</a:t>
                </a:r>
                <a:r>
                  <a:rPr sz="2400" b="0">
                    <a:solidFill>
                      <a:srgbClr val="111827"/>
                    </a:solidFill>
                    <a:latin typeface="Arial"/>
                  </a:rPr>
                  <a:t> when </a:t>
                </a:r>
                <a:r>
                  <a:rPr lang="en-IN" sz="2400">
                    <a:solidFill>
                      <a:srgbClr val="111827"/>
                    </a:solidFill>
                    <a:latin typeface="Cambria Math" panose="02040503050406030204" pitchFamily="18" charset="0"/>
                  </a:rPr>
                  <a:t>$R$</a:t>
                </a:r>
                <a:r>
                  <a:rPr sz="2400" b="0">
                    <a:solidFill>
                      <a:srgbClr val="111827"/>
                    </a:solidFill>
                    <a:latin typeface="Arial"/>
                  </a:rPr>
                  <a:t> has no symmetric pair.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$R\cap R^{-1}$</a:t>
                </a:r>
                <a:r>
                  <a:rPr sz="2400" b="0">
                    <a:solidFill>
                      <a:srgbClr val="111827"/>
                    </a:solidFill>
                    <a:latin typeface="Arial"/>
                  </a:rPr>
                  <a:t> is exactly the set of pairs </a:t>
                </a:r>
                <a:r>
                  <a:rPr lang="en-IN" sz="2400">
                    <a:solidFill>
                      <a:srgbClr val="111827"/>
                    </a:solidFill>
                    <a:latin typeface="Cambria Math" panose="02040503050406030204" pitchFamily="18" charset="0"/>
                  </a:rPr>
                  <a:t>$(x,y)$</a:t>
                </a:r>
                <a:r>
                  <a:rPr sz="2400" b="0">
                    <a:solidFill>
                      <a:srgbClr val="111827"/>
                    </a:solidFill>
                    <a:latin typeface="Arial"/>
                  </a:rPr>
                  <a:t> with both </a:t>
                </a:r>
                <a:r>
                  <a:rPr lang="en-IN" sz="2400">
                    <a:solidFill>
                      <a:srgbClr val="111827"/>
                    </a:solidFill>
                    <a:latin typeface="Cambria Math" panose="02040503050406030204" pitchFamily="18" charset="0"/>
                  </a:rPr>
                  <a:t>$(x,y)$</a:t>
                </a:r>
                <a:r>
                  <a:rPr sz="2400" b="0">
                    <a:solidFill>
                      <a:srgbClr val="111827"/>
                    </a:solidFill>
                    <a:latin typeface="Arial"/>
                  </a:rPr>
                  <a:t> and </a:t>
                </a:r>
                <a:r>
                  <a:rPr lang="en-IN" sz="2400">
                    <a:solidFill>
                      <a:srgbClr val="111827"/>
                    </a:solidFill>
                    <a:latin typeface="Cambria Math" panose="02040503050406030204" pitchFamily="18" charset="0"/>
                  </a:rPr>
                  <a:t>$(y,x)$</a:t>
                </a:r>
                <a:r>
                  <a:rPr sz="2400" b="0">
                    <a:solidFill>
                      <a:srgbClr val="111827"/>
                    </a:solidFill>
                    <a:latin typeface="Arial"/>
                  </a:rPr>
                  <a:t> in </a:t>
                </a:r>
                <a:r>
                  <a:rPr lang="en-IN" sz="2400">
                    <a:solidFill>
                      <a:srgbClr val="111827"/>
                    </a:solidFill>
                    <a:latin typeface="Cambria Math" panose="02040503050406030204" pitchFamily="18" charset="0"/>
                  </a:rPr>
                  <a:t>$R$</a:t>
                </a:r>
                <a:r>
                  <a:rPr sz="2400" b="0">
                    <a:solidFill>
                      <a:srgbClr val="111827"/>
                    </a:solidFill>
                    <a:latin typeface="Arial"/>
                  </a:rPr>
                  <a:t>; it includes every diagonal pair </a:t>
                </a:r>
                <a:r>
                  <a:rPr lang="en-IN" sz="2400">
                    <a:solidFill>
                      <a:srgbClr val="111827"/>
                    </a:solidFill>
                    <a:latin typeface="Cambria Math" panose="02040503050406030204" pitchFamily="18" charset="0"/>
                  </a:rPr>
                  <a:t>$(x,x)\in R$</a:t>
                </a:r>
                <a:r>
                  <a:rPr sz="2400" b="0">
                    <a:solidFill>
                      <a:srgbClr val="111827"/>
                    </a:solidFill>
                    <a:latin typeface="Arial"/>
                  </a:rPr>
                  <a:t>. Check: </a:t>
                </a:r>
                <a:r>
                  <a:rPr lang="en-IN" sz="2400">
                    <a:solidFill>
                      <a:srgbClr val="111827"/>
                    </a:solidFill>
                    <a:latin typeface="Cambria Math" panose="02040503050406030204" pitchFamily="18" charset="0"/>
                  </a:rPr>
                  <a:t>$R=\{(1,1),(1,2)\}$</a:t>
                </a:r>
                <a:r>
                  <a:rPr sz="2400" b="0">
                    <a:solidFill>
                      <a:srgbClr val="111827"/>
                    </a:solidFill>
                    <a:latin typeface="Arial"/>
                  </a:rPr>
                  <a:t> gives </a:t>
                </a:r>
                <a:r>
                  <a:rPr lang="en-IN" sz="2400">
                    <a:solidFill>
                      <a:srgbClr val="111827"/>
                    </a:solidFill>
                    <a:latin typeface="Cambria Math" panose="02040503050406030204" pitchFamily="18" charset="0"/>
                  </a:rPr>
                  <a:t>$R\cup R^{-1}=\{(1,1),(1,2),(2,1)\}$</a:t>
                </a:r>
                <a:r>
                  <a:rPr sz="2400" b="0">
                    <a:solidFill>
                      <a:srgbClr val="111827"/>
                    </a:solidFill>
                    <a:latin typeface="Arial"/>
                  </a:rPr>
                  <a:t>, size </a:t>
                </a:r>
                <a:r>
                  <a:rPr lang="en-IN" sz="2400">
                    <a:solidFill>
                      <a:srgbClr val="111827"/>
                    </a:solidFill>
                    <a:latin typeface="Cambria Math" panose="02040503050406030204" pitchFamily="18" charset="0"/>
                  </a:rPr>
                  <a:t>$2\cdot2-1=3$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$ax=by$</a:t>
                </a:r>
                <a:r>
                  <a:rPr sz="2400" b="0">
                    <a:solidFill>
                      <a:srgbClr val="111827"/>
                    </a:solidFill>
                    <a:latin typeface="Arial"/>
                  </a:rPr>
                  <a:t> on </a:t>
                </a:r>
                <a:r>
                  <a:rPr lang="en-IN" sz="2400">
                    <a:solidFill>
                      <a:srgbClr val="111827"/>
                    </a:solidFill>
                    <a:latin typeface="Cambria Math" panose="02040503050406030204" pitchFamily="18" charset="0"/>
                  </a:rPr>
                  <a:t>$\{1,\ldots,N\}$</a:t>
                </a:r>
                <a:r>
                  <a:rPr sz="2400" b="0">
                    <a:solidFill>
                      <a:srgbClr val="111827"/>
                    </a:solidFill>
                    <a:latin typeface="Arial"/>
                  </a:rPr>
                  <a:t> with </a:t>
                </a:r>
                <a:r>
                  <a:rPr lang="en-IN" sz="2400">
                    <a:solidFill>
                      <a:srgbClr val="111827"/>
                    </a:solidFill>
                    <a:latin typeface="Cambria Math" panose="02040503050406030204" pitchFamily="18" charset="0"/>
                  </a:rPr>
                  <a:t>$\gcd(a,b)=1$</a:t>
                </a:r>
                <a:r>
                  <a:rPr sz="2400" b="0">
                    <a:solidFill>
                      <a:srgbClr val="111827"/>
                    </a:solidFill>
                    <a:latin typeface="Arial"/>
                  </a:rPr>
                  <a:t> and </a:t>
                </a:r>
                <a:r>
                  <a:rPr lang="en-IN" sz="2400">
                    <a:solidFill>
                      <a:srgbClr val="111827"/>
                    </a:solidFill>
                    <a:latin typeface="Cambria Math" panose="02040503050406030204" pitchFamily="18" charset="0"/>
                  </a:rPr>
                  <a:t>$a\ne b$</a:t>
                </a:r>
                <a:r>
                  <a:rPr sz="2400" b="0">
                    <a:solidFill>
                      <a:srgbClr val="111827"/>
                    </a:solidFill>
                    <a:latin typeface="Arial"/>
                  </a:rPr>
                  <a:t>: pairs are </a:t>
                </a:r>
                <a:r>
                  <a:rPr lang="en-IN" sz="2400">
                    <a:solidFill>
                      <a:srgbClr val="111827"/>
                    </a:solidFill>
                    <a:latin typeface="Cambria Math" panose="02040503050406030204" pitchFamily="18" charset="0"/>
                  </a:rPr>
                  <a:t>$(bk,ak)$</a:t>
                </a:r>
                <a:r>
                  <a:rPr sz="2400" b="0">
                    <a:solidFill>
                      <a:srgbClr val="111827"/>
                    </a:solidFill>
                    <a:latin typeface="Arial"/>
                  </a:rPr>
                  <a:t> with </a:t>
                </a:r>
                <a:r>
                  <a:rPr lang="en-IN" sz="2400">
                    <a:solidFill>
                      <a:srgbClr val="111827"/>
                    </a:solidFill>
                    <a:latin typeface="Cambria Math" panose="02040503050406030204" pitchFamily="18" charset="0"/>
                  </a:rPr>
                  <a:t>$k\le\lfloor N/\max(a,b)\rfloor$</a:t>
                </a:r>
                <a:r>
                  <a:rPr sz="2400" b="0">
                    <a:solidFill>
                      <a:srgbClr val="111827"/>
                    </a:solidFill>
                    <a:latin typeface="Arial"/>
                  </a:rPr>
                  <a:t>; here </a:t>
                </a:r>
                <a:r>
                  <a:rPr lang="en-IN" sz="2400">
                    <a:solidFill>
                      <a:srgbClr val="111827"/>
                    </a:solidFill>
                    <a:latin typeface="Cambria Math" panose="02040503050406030204" pitchFamily="18" charset="0"/>
                  </a:rPr>
                  <a:t>$\lfloor100/3\rfloor=33$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two relations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such that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an integral multiple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Then the number of elements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equal to ______. [JEE(Main) Jan 2024]</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$A=\{1,2,3,\ldots,20\}$</a:t>
                </a:r>
                <a:r>
                  <a:rPr sz="2400" b="0">
                    <a:solidFill>
                      <a:srgbClr val="111827"/>
                    </a:solidFill>
                    <a:latin typeface="Arial"/>
                  </a:rPr>
                  <a:t>. Let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be two relations on </a:t>
                </a:r>
                <a:r>
                  <a:rPr lang="en-IN" sz="2400">
                    <a:solidFill>
                      <a:srgbClr val="111827"/>
                    </a:solidFill>
                    <a:latin typeface="Cambria Math" panose="02040503050406030204" pitchFamily="18" charset="0"/>
                  </a:rPr>
                  <a:t>$A$</a:t>
                </a:r>
                <a:r>
                  <a:rPr sz="2400" b="0">
                    <a:solidFill>
                      <a:srgbClr val="111827"/>
                    </a:solidFill>
                    <a:latin typeface="Arial"/>
                  </a:rPr>
                  <a:t> such that </a:t>
                </a:r>
                <a:r>
                  <a:rPr lang="en-IN" sz="2400">
                    <a:solidFill>
                      <a:srgbClr val="111827"/>
                    </a:solidFill>
                    <a:latin typeface="Cambria Math" panose="02040503050406030204" pitchFamily="18" charset="0"/>
                  </a:rPr>
                  <a:t>$R_1=\{(a,b)\}$</a:t>
                </a:r>
                <a:r>
                  <a:rPr sz="2400" b="0">
                    <a:solidFill>
                      <a:srgbClr val="111827"/>
                    </a:solidFill>
                    <a:latin typeface="Arial"/>
                  </a:rPr>
                  <a:t> where </a:t>
                </a:r>
                <a:r>
                  <a:rPr lang="en-IN" sz="2400">
                    <a:solidFill>
                      <a:srgbClr val="111827"/>
                    </a:solidFill>
                    <a:latin typeface="Cambria Math" panose="02040503050406030204" pitchFamily="18" charset="0"/>
                  </a:rPr>
                  <a:t>$b$</a:t>
                </a:r>
                <a:r>
                  <a:rPr sz="2400" b="0">
                    <a:solidFill>
                      <a:srgbClr val="111827"/>
                    </a:solidFill>
                    <a:latin typeface="Arial"/>
                  </a:rPr>
                  <a:t> is divisible by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$R_2=\{(a,b)\}$</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is an integral multiple of </a:t>
                </a:r>
                <a:r>
                  <a:rPr lang="en-IN" sz="2400">
                    <a:solidFill>
                      <a:srgbClr val="111827"/>
                    </a:solidFill>
                    <a:latin typeface="Cambria Math" panose="02040503050406030204" pitchFamily="18" charset="0"/>
                  </a:rPr>
                  <a:t>$b$</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$R_1-R_2$</a:t>
                </a:r>
                <a:r>
                  <a:rPr sz="2400" b="0">
                    <a:solidFill>
                      <a:srgbClr val="111827"/>
                    </a:solidFill>
                    <a:latin typeface="Arial"/>
                  </a:rPr>
                  <a:t> is equal to ______. [JEE(Main) Jan 2024]</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Set operations on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just the diagonal, so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$R_1\cap R_2$</a:t>
                </a:r>
                <a:r>
                  <a:rPr sz="2400" b="0">
                    <a:solidFill>
                      <a:srgbClr val="78350F"/>
                    </a:solidFill>
                    <a:latin typeface="Arial"/>
                  </a:rPr>
                  <a:t> is just the diagonal, so </a:t>
                </a:r>
                <a:r>
                  <a:rPr lang="en-IN" sz="2400">
                    <a:solidFill>
                      <a:srgbClr val="78350F"/>
                    </a:solidFill>
                    <a:latin typeface="Cambria Math" panose="02040503050406030204" pitchFamily="18" charset="0"/>
                  </a:rPr>
                  <a:t>$|R_1-R_2|=|R_1|-20$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List: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 on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pairs with first entry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each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ordered pairs.</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a:t>
                </a:r>
                <a:r>
                  <a:rPr lang="en-IN" sz="2400">
                    <a:solidFill>
                      <a:srgbClr val="111827"/>
                    </a:solidFill>
                    <a:latin typeface="Cambria Math" panose="02040503050406030204" pitchFamily="18" charset="0"/>
                  </a:rPr>
                  <a:t>$(a,b)\in R_1$</a:t>
                </a:r>
                <a:r>
                  <a:rPr sz="2400" b="0">
                    <a:solidFill>
                      <a:srgbClr val="111827"/>
                    </a:solidFill>
                    <a:latin typeface="Arial"/>
                  </a:rPr>
                  <a:t> iff </a:t>
                </a:r>
                <a:r>
                  <a:rPr lang="en-IN" sz="2400">
                    <a:solidFill>
                      <a:srgbClr val="111827"/>
                    </a:solidFill>
                    <a:latin typeface="Cambria Math" panose="02040503050406030204" pitchFamily="18" charset="0"/>
                  </a:rPr>
                  <a:t>$a\mid b$</a:t>
                </a:r>
                <a:r>
                  <a:rPr sz="2400" b="0">
                    <a:solidFill>
                      <a:srgbClr val="111827"/>
                    </a:solidFill>
                    <a:latin typeface="Arial"/>
                  </a:rPr>
                  <a:t>. List: </a:t>
                </a:r>
                <a:r>
                  <a:rPr lang="en-IN" sz="2400">
                    <a:solidFill>
                      <a:srgbClr val="111827"/>
                    </a:solidFill>
                    <a:latin typeface="Cambria Math" panose="02040503050406030204" pitchFamily="18" charset="0"/>
                  </a:rPr>
                  <a:t>$(1,1),(1,2),\ldots,(1,20)$</a:t>
                </a:r>
                <a:r>
                  <a:rPr sz="2400" b="0">
                    <a:solidFill>
                      <a:srgbClr val="111827"/>
                    </a:solidFill>
                    <a:latin typeface="Arial"/>
                  </a:rPr>
                  <a:t>; </a:t>
                </a:r>
                <a:r>
                  <a:rPr lang="en-IN" sz="2400">
                    <a:solidFill>
                      <a:srgbClr val="111827"/>
                    </a:solidFill>
                    <a:latin typeface="Cambria Math" panose="02040503050406030204" pitchFamily="18" charset="0"/>
                  </a:rPr>
                  <a:t>$(2,2),(2,4),\ldots,(2,20)$</a:t>
                </a:r>
                <a:r>
                  <a:rPr sz="2400" b="0">
                    <a:solidFill>
                      <a:srgbClr val="111827"/>
                    </a:solidFill>
                    <a:latin typeface="Arial"/>
                  </a:rPr>
                  <a:t>; </a:t>
                </a:r>
                <a:r>
                  <a:rPr lang="en-IN" sz="2400">
                    <a:solidFill>
                      <a:srgbClr val="111827"/>
                    </a:solidFill>
                    <a:latin typeface="Cambria Math" panose="02040503050406030204" pitchFamily="18" charset="0"/>
                  </a:rPr>
                  <a:t>$(3,3),\ldots,(3,18)$</a:t>
                </a:r>
                <a:r>
                  <a:rPr sz="2400" b="0">
                    <a:solidFill>
                      <a:srgbClr val="111827"/>
                    </a:solidFill>
                    <a:latin typeface="Arial"/>
                  </a:rPr>
                  <a:t>; </a:t>
                </a:r>
                <a:r>
                  <a:rPr lang="en-IN" sz="2400">
                    <a:solidFill>
                      <a:srgbClr val="111827"/>
                    </a:solidFill>
                    <a:latin typeface="Cambria Math" panose="02040503050406030204" pitchFamily="18" charset="0"/>
                  </a:rPr>
                  <a:t>$(4,4),\ldots,(4,20)$</a:t>
                </a:r>
                <a:r>
                  <a:rPr sz="2400" b="0">
                    <a:solidFill>
                      <a:srgbClr val="111827"/>
                    </a:solidFill>
                    <a:latin typeface="Arial"/>
                  </a:rPr>
                  <a:t>; and so on up to </a:t>
                </a:r>
                <a:r>
                  <a:rPr lang="en-IN" sz="2400">
                    <a:solidFill>
                      <a:srgbClr val="111827"/>
                    </a:solidFill>
                    <a:latin typeface="Cambria Math" panose="02040503050406030204" pitchFamily="18" charset="0"/>
                  </a:rPr>
                  <a:t>$(20,20)$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pairs with first entry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$\lfloor 20/a\rfloor$</a:t>
                </a:r>
                <a:r>
                  <a:rPr sz="2400" b="0">
                    <a:solidFill>
                      <a:srgbClr val="111827"/>
                    </a:solidFill>
                    <a:latin typeface="Arial"/>
                  </a:rPr>
                  <a:t>: </a:t>
                </a:r>
                <a:r>
                  <a:rPr lang="en-IN" sz="2400">
                    <a:solidFill>
                      <a:srgbClr val="111827"/>
                    </a:solidFill>
                    <a:latin typeface="Cambria Math" panose="02040503050406030204" pitchFamily="18" charset="0"/>
                  </a:rPr>
                  <a:t>$20,10,6,5,4,3,2,2,2,2$</a:t>
                </a:r>
                <a:r>
                  <a:rPr sz="2400" b="0">
                    <a:solidFill>
                      <a:srgbClr val="111827"/>
                    </a:solidFill>
                    <a:latin typeface="Arial"/>
                  </a:rPr>
                  <a:t> for </a:t>
                </a:r>
                <a:r>
                  <a:rPr lang="en-IN" sz="2400">
                    <a:solidFill>
                      <a:srgbClr val="111827"/>
                    </a:solidFill>
                    <a:latin typeface="Cambria Math" panose="02040503050406030204" pitchFamily="18" charset="0"/>
                  </a:rPr>
                  <a:t>$a=1,\ldots,10$</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for each of </a:t>
                </a:r>
                <a:r>
                  <a:rPr lang="en-IN" sz="2400">
                    <a:solidFill>
                      <a:srgbClr val="111827"/>
                    </a:solidFill>
                    <a:latin typeface="Cambria Math" panose="02040503050406030204" pitchFamily="18" charset="0"/>
                  </a:rPr>
                  <a:t>$a=11,\ldots,20$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$|R_1|=(20+10+6+5+4+3+2+2+2+2)+10=56+10=66$</a:t>
                </a:r>
                <a:r>
                  <a:rPr sz="2400" b="0">
                    <a:solidFill>
                      <a:srgbClr val="111827"/>
                    </a:solidFill>
                    <a:latin typeface="Arial"/>
                  </a:rPr>
                  <a:t> ordered pairs.</a:t>
                </a:r>
                <a:endParaRPr sz="2400">
                  <a:solidFill>
                    <a:srgbClr val="111827"/>
                  </a:solidFill>
                </a:endParaRPr>
              </a:p>
            </p:txBody>
          </p:sp>
        </mc:Fallback>
      </mc:AlternateContent>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has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number of elements is </a:t>
                </a:r>
                <a14:m>
                  <m:oMath xmlns:m="http://schemas.openxmlformats.org/officeDocument/2006/math">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$(a,b)\in R_2$</a:t>
                </a:r>
                <a:r>
                  <a:rPr sz="2400" b="0">
                    <a:solidFill>
                      <a:srgbClr val="111827"/>
                    </a:solidFill>
                    <a:latin typeface="Arial"/>
                  </a:rPr>
                  <a:t> iff </a:t>
                </a:r>
                <a:r>
                  <a:rPr lang="en-IN" sz="2400">
                    <a:solidFill>
                      <a:srgbClr val="111827"/>
                    </a:solidFill>
                    <a:latin typeface="Cambria Math" panose="02040503050406030204" pitchFamily="18" charset="0"/>
                  </a:rPr>
                  <a:t>$a$</a:t>
                </a:r>
                <a:r>
                  <a:rPr sz="2400" b="0">
                    <a:solidFill>
                      <a:srgbClr val="111827"/>
                    </a:solidFill>
                    <a:latin typeface="Arial"/>
                  </a:rPr>
                  <a:t> is a multiple of </a:t>
                </a:r>
                <a:r>
                  <a:rPr lang="en-IN" sz="2400">
                    <a:solidFill>
                      <a:srgbClr val="111827"/>
                    </a:solidFill>
                    <a:latin typeface="Cambria Math" panose="02040503050406030204" pitchFamily="18" charset="0"/>
                  </a:rPr>
                  <a:t>$b$</a:t>
                </a:r>
                <a:r>
                  <a:rPr sz="2400" b="0">
                    <a:solidFill>
                      <a:srgbClr val="111827"/>
                    </a:solidFill>
                    <a:latin typeface="Arial"/>
                  </a:rPr>
                  <a:t>, i.e. </a:t>
                </a:r>
                <a:r>
                  <a:rPr lang="en-IN" sz="2400">
                    <a:solidFill>
                      <a:srgbClr val="111827"/>
                    </a:solidFill>
                    <a:latin typeface="Cambria Math" panose="02040503050406030204" pitchFamily="18" charset="0"/>
                  </a:rPr>
                  <a:t>$b\mid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$(a,b)\in R_1\cap R_2$</a:t>
                </a:r>
                <a:r>
                  <a:rPr sz="2400" b="0">
                    <a:solidFill>
                      <a:srgbClr val="111827"/>
                    </a:solidFill>
                    <a:latin typeface="Arial"/>
                  </a:rPr>
                  <a:t> needs </a:t>
                </a:r>
                <a:r>
                  <a:rPr lang="en-IN" sz="2400">
                    <a:solidFill>
                      <a:srgbClr val="111827"/>
                    </a:solidFill>
                    <a:latin typeface="Cambria Math" panose="02040503050406030204" pitchFamily="18" charset="0"/>
                  </a:rPr>
                  <a:t>$a\mid b$</a:t>
                </a:r>
                <a:r>
                  <a:rPr sz="2400" b="0">
                    <a:solidFill>
                      <a:srgbClr val="111827"/>
                    </a:solidFill>
                    <a:latin typeface="Arial"/>
                  </a:rPr>
                  <a:t> and </a:t>
                </a:r>
                <a:r>
                  <a:rPr lang="en-IN" sz="2400">
                    <a:solidFill>
                      <a:srgbClr val="111827"/>
                    </a:solidFill>
                    <a:latin typeface="Cambria Math" panose="02040503050406030204" pitchFamily="18" charset="0"/>
                  </a:rPr>
                  <a:t>$b\mid a$</a:t>
                </a:r>
                <a:r>
                  <a:rPr sz="2400" b="0">
                    <a:solidFill>
                      <a:srgbClr val="111827"/>
                    </a:solidFill>
                    <a:latin typeface="Arial"/>
                  </a:rPr>
                  <a:t>, so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$R_1\cap R_2=\{(1,1),(2,2),\ldots,(20,20)\}$</a:t>
                </a:r>
                <a:r>
                  <a:rPr sz="2400" b="0">
                    <a:solidFill>
                      <a:srgbClr val="111827"/>
                    </a:solidFill>
                    <a:latin typeface="Arial"/>
                  </a:rPr>
                  <a:t>, which has </a:t>
                </a:r>
                <a:r>
                  <a:rPr lang="en-IN" sz="2400">
                    <a:solidFill>
                      <a:srgbClr val="111827"/>
                    </a:solidFill>
                    <a:latin typeface="Cambria Math" panose="02040503050406030204" pitchFamily="18" charset="0"/>
                  </a:rPr>
                  <a:t>$20$</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$R_1-R_2=R_1-(R_1\cap R_2)$</a:t>
                </a:r>
                <a:r>
                  <a:rPr sz="2400" b="0">
                    <a:solidFill>
                      <a:srgbClr val="111827"/>
                    </a:solidFill>
                    <a:latin typeface="Arial"/>
                  </a:rPr>
                  <a:t>, so the number of elements is </a:t>
                </a:r>
                <a:r>
                  <a:rPr lang="en-IN" sz="2400">
                    <a:solidFill>
                      <a:srgbClr val="111827"/>
                    </a:solidFill>
                    <a:latin typeface="Cambria Math" panose="02040503050406030204" pitchFamily="18" charset="0"/>
                  </a:rPr>
                  <a:t>$66-20=46$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46</a:t>
            </a:r>
            <a:endParaRPr sz="2800">
              <a:solidFill>
                <a:srgbClr val="15803D"/>
              </a:solidFill>
            </a:endParaRP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𝑁</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𝑁</m:t>
                        </m:r>
                      </m:sup>
                      <m:e>
                        <m:r>
                          <a:rPr lang="en-IN" sz="2400" i="1">
                            <a:solidFill>
                              <a:srgbClr val="111827"/>
                            </a:solidFill>
                            <a:latin typeface="Cambria Math" panose="02040503050406030204" pitchFamily="18" charset="0"/>
                          </a:rPr>
                          <m:t>𝑑</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number of divisors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(positive integers) imply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so divisibility is antisymmetric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diagonal.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bSup>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set of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 proper-divisor pair), of size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 1\le a,b\le N,\ a\mid b\}|=\sum_{a=1}^{N}\lfloor N/a\rfloor=\sum_{b=1}^{N}d(b)$</a:t>
                </a:r>
                <a:r>
                  <a:rPr sz="2400" b="0">
                    <a:solidFill>
                      <a:srgbClr val="111827"/>
                    </a:solidFill>
                    <a:latin typeface="Arial"/>
                  </a:rPr>
                  <a:t>, where </a:t>
                </a:r>
                <a:r>
                  <a:rPr lang="en-IN" sz="2400">
                    <a:solidFill>
                      <a:srgbClr val="111827"/>
                    </a:solidFill>
                    <a:latin typeface="Cambria Math" panose="02040503050406030204" pitchFamily="18" charset="0"/>
                  </a:rPr>
                  <a:t>$d(b)$</a:t>
                </a:r>
                <a:r>
                  <a:rPr sz="2400" b="0">
                    <a:solidFill>
                      <a:srgbClr val="111827"/>
                    </a:solidFill>
                    <a:latin typeface="Arial"/>
                  </a:rPr>
                  <a:t> is the number of divisors of </a:t>
                </a:r>
                <a:r>
                  <a:rPr lang="en-IN" sz="2400">
                    <a:solidFill>
                      <a:srgbClr val="111827"/>
                    </a:solidFill>
                    <a:latin typeface="Cambria Math" panose="02040503050406030204" pitchFamily="18" charset="0"/>
                  </a:rPr>
                  <a:t>$b$</a:t>
                </a:r>
                <a:r>
                  <a:rPr sz="2400" b="0">
                    <a:solidFill>
                      <a:srgbClr val="111827"/>
                    </a:solidFill>
                    <a:latin typeface="Arial"/>
                  </a:rPr>
                  <a:t>. 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$4+2+1+1=8$</a:t>
                </a:r>
                <a:r>
                  <a:rPr sz="2400" b="0">
                    <a:solidFill>
                      <a:srgbClr val="111827"/>
                    </a:solidFill>
                    <a:latin typeface="Arial"/>
                  </a:rPr>
                  <a:t> and </a:t>
                </a:r>
                <a:r>
                  <a:rPr lang="en-IN" sz="2400">
                    <a:solidFill>
                      <a:srgbClr val="111827"/>
                    </a:solidFill>
                    <a:latin typeface="Cambria Math" panose="02040503050406030204" pitchFamily="18" charset="0"/>
                  </a:rPr>
                  <a:t>$1+2+2+3=8$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$a\mid b$</a:t>
                </a:r>
                <a:r>
                  <a:rPr sz="2400" b="0">
                    <a:solidFill>
                      <a:srgbClr val="111827"/>
                    </a:solidFill>
                    <a:latin typeface="Arial"/>
                  </a:rPr>
                  <a:t> and </a:t>
                </a:r>
                <a:r>
                  <a:rPr lang="en-IN" sz="2400">
                    <a:solidFill>
                      <a:srgbClr val="111827"/>
                    </a:solidFill>
                    <a:latin typeface="Cambria Math" panose="02040503050406030204" pitchFamily="18" charset="0"/>
                  </a:rPr>
                  <a:t>$b\mid a$</a:t>
                </a:r>
                <a:r>
                  <a:rPr sz="2400" b="0">
                    <a:solidFill>
                      <a:srgbClr val="111827"/>
                    </a:solidFill>
                    <a:latin typeface="Arial"/>
                  </a:rPr>
                  <a:t> (positive integers) imply </a:t>
                </a:r>
                <a:r>
                  <a:rPr lang="en-IN" sz="2400">
                    <a:solidFill>
                      <a:srgbClr val="111827"/>
                    </a:solidFill>
                    <a:latin typeface="Cambria Math" panose="02040503050406030204" pitchFamily="18" charset="0"/>
                  </a:rPr>
                  <a:t>$a=b$</a:t>
                </a:r>
                <a:r>
                  <a:rPr sz="2400" b="0">
                    <a:solidFill>
                      <a:srgbClr val="111827"/>
                    </a:solidFill>
                    <a:latin typeface="Arial"/>
                  </a:rPr>
                  <a:t>; so divisibility is antisymmetric and </a:t>
                </a:r>
                <a:r>
                  <a:rPr lang="en-IN" sz="2400">
                    <a:solidFill>
                      <a:srgbClr val="111827"/>
                    </a:solidFill>
                    <a:latin typeface="Cambria Math" panose="02040503050406030204" pitchFamily="18" charset="0"/>
                  </a:rPr>
                  <a:t>$R_1\cap R_2$</a:t>
                </a:r>
                <a:r>
                  <a:rPr sz="2400" b="0">
                    <a:solidFill>
                      <a:srgbClr val="111827"/>
                    </a:solidFill>
                    <a:latin typeface="Arial"/>
                  </a:rPr>
                  <a:t> is the diagonal.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$R_2=R_1^{-1}$</a:t>
                </a:r>
                <a:r>
                  <a:rPr sz="2400" b="0">
                    <a:solidFill>
                      <a:srgbClr val="111827"/>
                    </a:solidFill>
                    <a:latin typeface="Arial"/>
                  </a:rPr>
                  <a:t>; so </a:t>
                </a:r>
                <a:r>
                  <a:rPr lang="en-IN" sz="2400">
                    <a:solidFill>
                      <a:srgbClr val="111827"/>
                    </a:solidFill>
                    <a:latin typeface="Cambria Math" panose="02040503050406030204" pitchFamily="18" charset="0"/>
                  </a:rPr>
                  <a:t>$R_1-R_2$</a:t>
                </a:r>
                <a:r>
                  <a:rPr sz="2400" b="0">
                    <a:solidFill>
                      <a:srgbClr val="111827"/>
                    </a:solidFill>
                    <a:latin typeface="Arial"/>
                  </a:rPr>
                  <a:t> is the set of pairs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$a\mid b$</a:t>
                </a:r>
                <a:r>
                  <a:rPr sz="2400" b="0">
                    <a:solidFill>
                      <a:srgbClr val="111827"/>
                    </a:solidFill>
                    <a:latin typeface="Arial"/>
                  </a:rPr>
                  <a:t>, </a:t>
                </a:r>
                <a:r>
                  <a:rPr lang="en-IN" sz="2400">
                    <a:solidFill>
                      <a:srgbClr val="111827"/>
                    </a:solidFill>
                    <a:latin typeface="Cambria Math" panose="02040503050406030204" pitchFamily="18" charset="0"/>
                  </a:rPr>
                  <a:t>$a\ne b$</a:t>
                </a:r>
                <a:r>
                  <a:rPr sz="2400" b="0">
                    <a:solidFill>
                      <a:srgbClr val="111827"/>
                    </a:solidFill>
                    <a:latin typeface="Arial"/>
                  </a:rPr>
                  <a:t> (a proper-divisor pair), of size </a:t>
                </a:r>
                <a:r>
                  <a:rPr lang="en-IN" sz="2400">
                    <a:solidFill>
                      <a:srgbClr val="111827"/>
                    </a:solidFill>
                    <a:latin typeface="Cambria Math" panose="02040503050406030204" pitchFamily="18" charset="0"/>
                  </a:rPr>
                  <a:t>$\sum_{b\le N}(d(b)-1)$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Q67 – Q71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option is correct</a:t>
            </a:r>
            <a:endParaRPr sz="2800">
              <a:solidFill>
                <a:srgbClr val="FFFFFF"/>
              </a:solidFill>
            </a:endParaRP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defined as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or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Consider the two statements: (I)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but not symmetric. (II)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 Then which of the following is true?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Only (II)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Neither (I) nor (II)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(I) and (II) are correct</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relation </a:t>
                </a:r>
                <a:r>
                  <a:rPr lang="en-IN" sz="2400">
                    <a:solidFill>
                      <a:srgbClr val="111827"/>
                    </a:solidFill>
                    <a:latin typeface="Cambria Math" panose="02040503050406030204" pitchFamily="18" charset="0"/>
                  </a:rPr>
                  <a:t>$R$</a:t>
                </a:r>
                <a:r>
                  <a:rPr sz="2400" b="0">
                    <a:solidFill>
                      <a:srgbClr val="111827"/>
                    </a:solidFill>
                    <a:latin typeface="Arial"/>
                  </a:rPr>
                  <a:t> on </a:t>
                </a:r>
                <a:r>
                  <a:rPr lang="en-IN" sz="2400">
                    <a:solidFill>
                      <a:srgbClr val="111827"/>
                    </a:solidFill>
                    <a:latin typeface="Cambria Math" panose="02040503050406030204" pitchFamily="18" charset="0"/>
                  </a:rPr>
                  <a:t>$\mathbb{N}\times\mathbb{N}$</a:t>
                </a:r>
                <a:r>
                  <a:rPr sz="2400" b="0">
                    <a:solidFill>
                      <a:srgbClr val="111827"/>
                    </a:solidFill>
                    <a:latin typeface="Arial"/>
                  </a:rPr>
                  <a:t> be defined as </a:t>
                </a:r>
                <a:r>
                  <a:rPr lang="en-IN" sz="2400">
                    <a:solidFill>
                      <a:srgbClr val="111827"/>
                    </a:solidFill>
                    <a:latin typeface="Cambria Math" panose="02040503050406030204" pitchFamily="18" charset="0"/>
                  </a:rPr>
                  <a:t>$(x_1,y_1)\,R\,(x_2,y_2)$</a:t>
                </a:r>
                <a:r>
                  <a:rPr sz="2400" b="0">
                    <a:solidFill>
                      <a:srgbClr val="111827"/>
                    </a:solidFill>
                    <a:latin typeface="Arial"/>
                  </a:rPr>
                  <a:t> if and only if </a:t>
                </a:r>
                <a:r>
                  <a:rPr lang="en-IN" sz="2400">
                    <a:solidFill>
                      <a:srgbClr val="111827"/>
                    </a:solidFill>
                    <a:latin typeface="Cambria Math" panose="02040503050406030204" pitchFamily="18" charset="0"/>
                  </a:rPr>
                  <a:t>$x_1\le x_2$</a:t>
                </a:r>
                <a:r>
                  <a:rPr sz="2400" b="0">
                    <a:solidFill>
                      <a:srgbClr val="111827"/>
                    </a:solidFill>
                    <a:latin typeface="Arial"/>
                  </a:rPr>
                  <a:t> or </a:t>
                </a:r>
                <a:r>
                  <a:rPr lang="en-IN" sz="2400">
                    <a:solidFill>
                      <a:srgbClr val="111827"/>
                    </a:solidFill>
                    <a:latin typeface="Cambria Math" panose="02040503050406030204" pitchFamily="18" charset="0"/>
                  </a:rPr>
                  <a:t>$y_1\le y_2$</a:t>
                </a:r>
                <a:r>
                  <a:rPr sz="2400" b="0">
                    <a:solidFill>
                      <a:srgbClr val="111827"/>
                    </a:solidFill>
                    <a:latin typeface="Arial"/>
                  </a:rPr>
                  <a:t>. Consider the two statements: (I) </a:t>
                </a:r>
                <a:r>
                  <a:rPr lang="en-IN" sz="2400">
                    <a:solidFill>
                      <a:srgbClr val="111827"/>
                    </a:solidFill>
                    <a:latin typeface="Cambria Math" panose="02040503050406030204" pitchFamily="18" charset="0"/>
                  </a:rPr>
                  <a:t>$R$</a:t>
                </a:r>
                <a:r>
                  <a:rPr sz="2400" b="0">
                    <a:solidFill>
                      <a:srgbClr val="111827"/>
                    </a:solidFill>
                    <a:latin typeface="Arial"/>
                  </a:rPr>
                  <a:t> is reflexive but not symmetric. (II) </a:t>
                </a:r>
                <a:r>
                  <a:rPr lang="en-IN" sz="2400">
                    <a:solidFill>
                      <a:srgbClr val="111827"/>
                    </a:solidFill>
                    <a:latin typeface="Cambria Math" panose="02040503050406030204" pitchFamily="18" charset="0"/>
                  </a:rPr>
                  <a:t>$R$</a:t>
                </a:r>
                <a:r>
                  <a:rPr sz="2400" b="0">
                    <a:solidFill>
                      <a:srgbClr val="111827"/>
                    </a:solidFill>
                    <a:latin typeface="Arial"/>
                  </a:rPr>
                  <a:t> is transitive. Then which of the following is true?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Only (II)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Neither (I) nor (II)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(I) and (II) are correct</a:t>
                </a:r>
                <a:endParaRPr sz="2400">
                  <a:solidFill>
                    <a:srgbClr val="111827"/>
                  </a:solidFill>
                </a:endParaRPr>
              </a:p>
            </p:txBody>
          </p:sp>
        </mc:Fallback>
      </mc:AlternateContent>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(reflexive, symmetric, transitive)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 refute a property of a relation, one explicit counter-example is enough; for an 'or' relation choose pairs where both inequalities fail.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In general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$(5,4)\,R\,(5,4)$</a:t>
                </a:r>
                <a:r>
                  <a:rPr sz="2400" b="0">
                    <a:solidFill>
                      <a:srgbClr val="111827"/>
                    </a:solidFill>
                    <a:latin typeface="Arial"/>
                  </a:rPr>
                  <a:t> because </a:t>
                </a:r>
                <a:r>
                  <a:rPr lang="en-IN" sz="2400">
                    <a:solidFill>
                      <a:srgbClr val="111827"/>
                    </a:solidFill>
                    <a:latin typeface="Cambria Math" panose="02040503050406030204" pitchFamily="18" charset="0"/>
                  </a:rPr>
                  <a:t>$5\le5$</a:t>
                </a:r>
                <a:r>
                  <a:rPr sz="2400" b="0">
                    <a:solidFill>
                      <a:srgbClr val="111827"/>
                    </a:solidFill>
                    <a:latin typeface="Arial"/>
                  </a:rPr>
                  <a:t>. In general </a:t>
                </a:r>
                <a:r>
                  <a:rPr lang="en-IN" sz="2400">
                    <a:solidFill>
                      <a:srgbClr val="111827"/>
                    </a:solidFill>
                    <a:latin typeface="Cambria Math" panose="02040503050406030204" pitchFamily="18" charset="0"/>
                  </a:rPr>
                  <a:t>$(x,y)R(x,y)$</a:t>
                </a:r>
                <a:r>
                  <a:rPr sz="2400" b="0">
                    <a:solidFill>
                      <a:srgbClr val="111827"/>
                    </a:solidFill>
                    <a:latin typeface="Arial"/>
                  </a:rPr>
                  <a:t> as </a:t>
                </a:r>
                <a:r>
                  <a:rPr lang="en-IN" sz="2400">
                    <a:solidFill>
                      <a:srgbClr val="111827"/>
                    </a:solidFill>
                    <a:latin typeface="Cambria Math" panose="02040503050406030204" pitchFamily="18" charset="0"/>
                  </a:rPr>
                  <a:t>$x\le x$</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p:txBody>
          </p:sp>
        </mc:Fallback>
      </mc:AlternateContent>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both false.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Hence (I)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 since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 since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both false.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 Hence (II)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(I) is correct: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Take </a:t>
                </a:r>
                <a:r>
                  <a:rPr lang="en-IN" sz="2400">
                    <a:solidFill>
                      <a:srgbClr val="111827"/>
                    </a:solidFill>
                    <a:latin typeface="Cambria Math" panose="02040503050406030204" pitchFamily="18" charset="0"/>
                  </a:rPr>
                  <a:t>$(1,2)\,R\,(3,4)$</a:t>
                </a:r>
                <a:r>
                  <a:rPr sz="2400" b="0">
                    <a:solidFill>
                      <a:srgbClr val="111827"/>
                    </a:solidFill>
                    <a:latin typeface="Arial"/>
                  </a:rPr>
                  <a:t>: true, since </a:t>
                </a:r>
                <a:r>
                  <a:rPr lang="en-IN" sz="2400">
                    <a:solidFill>
                      <a:srgbClr val="111827"/>
                    </a:solidFill>
                    <a:latin typeface="Cambria Math" panose="02040503050406030204" pitchFamily="18" charset="0"/>
                  </a:rPr>
                  <a:t>$1\le3$</a:t>
                </a:r>
                <a:r>
                  <a:rPr sz="2400" b="0">
                    <a:solidFill>
                      <a:srgbClr val="111827"/>
                    </a:solidFill>
                    <a:latin typeface="Arial"/>
                  </a:rPr>
                  <a:t> (or </a:t>
                </a:r>
                <a:r>
                  <a:rPr lang="en-IN" sz="2400">
                    <a:solidFill>
                      <a:srgbClr val="111827"/>
                    </a:solidFill>
                    <a:latin typeface="Cambria Math" panose="02040503050406030204" pitchFamily="18" charset="0"/>
                  </a:rPr>
                  <a:t>$2\le4$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$(3,4)\,R\,(1,2)$</a:t>
                </a:r>
                <a:r>
                  <a:rPr sz="2400" b="0">
                    <a:solidFill>
                      <a:srgbClr val="111827"/>
                    </a:solidFill>
                    <a:latin typeface="Arial"/>
                  </a:rPr>
                  <a:t> needs </a:t>
                </a:r>
                <a:r>
                  <a:rPr lang="en-IN" sz="2400">
                    <a:solidFill>
                      <a:srgbClr val="111827"/>
                    </a:solidFill>
                    <a:latin typeface="Cambria Math" panose="02040503050406030204" pitchFamily="18" charset="0"/>
                  </a:rPr>
                  <a:t>$3\le1$</a:t>
                </a:r>
                <a:r>
                  <a:rPr sz="2400" b="0">
                    <a:solidFill>
                      <a:srgbClr val="111827"/>
                    </a:solidFill>
                    <a:latin typeface="Arial"/>
                  </a:rPr>
                  <a:t> or </a:t>
                </a:r>
                <a:r>
                  <a:rPr lang="en-IN" sz="2400">
                    <a:solidFill>
                      <a:srgbClr val="111827"/>
                    </a:solidFill>
                    <a:latin typeface="Cambria Math" panose="02040503050406030204" pitchFamily="18" charset="0"/>
                  </a:rPr>
                  <a:t>$4\le2$</a:t>
                </a:r>
                <a:r>
                  <a:rPr sz="2400" b="0">
                    <a:solidFill>
                      <a:srgbClr val="111827"/>
                    </a:solidFill>
                    <a:latin typeface="Arial"/>
                  </a:rPr>
                  <a:t>, both false. So </a:t>
                </a:r>
                <a:r>
                  <a:rPr lang="en-IN" sz="2400">
                    <a:solidFill>
                      <a:srgbClr val="111827"/>
                    </a:solidFill>
                    <a:latin typeface="Cambria Math" panose="02040503050406030204" pitchFamily="18" charset="0"/>
                  </a:rPr>
                  <a:t>$(3,4)\not R\,(1,2)$</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symmetric. Hence (I)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r>
                  <a:rPr lang="en-IN" sz="2400">
                    <a:solidFill>
                      <a:srgbClr val="111827"/>
                    </a:solidFill>
                    <a:latin typeface="Cambria Math" panose="02040503050406030204" pitchFamily="18" charset="0"/>
                  </a:rPr>
                  <a:t>$(3,7)\,R\,(4,3)$</a:t>
                </a:r>
                <a:r>
                  <a:rPr sz="2400" b="0">
                    <a:solidFill>
                      <a:srgbClr val="111827"/>
                    </a:solidFill>
                    <a:latin typeface="Arial"/>
                  </a:rPr>
                  <a:t>: true since </a:t>
                </a:r>
                <a:r>
                  <a:rPr lang="en-IN" sz="2400">
                    <a:solidFill>
                      <a:srgbClr val="111827"/>
                    </a:solidFill>
                    <a:latin typeface="Cambria Math" panose="02040503050406030204" pitchFamily="18" charset="0"/>
                  </a:rPr>
                  <a:t>$3\le4$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$(4,3)\,R\,(1,3)$</a:t>
                </a:r>
                <a:r>
                  <a:rPr sz="2400" b="0">
                    <a:solidFill>
                      <a:srgbClr val="111827"/>
                    </a:solidFill>
                    <a:latin typeface="Arial"/>
                  </a:rPr>
                  <a:t>: true since </a:t>
                </a:r>
                <a:r>
                  <a:rPr lang="en-IN" sz="2400">
                    <a:solidFill>
                      <a:srgbClr val="111827"/>
                    </a:solidFill>
                    <a:latin typeface="Cambria Math" panose="02040503050406030204" pitchFamily="18" charset="0"/>
                  </a:rPr>
                  <a:t>$3\le3$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$(3,7)\,R\,(1,3)$</a:t>
                </a:r>
                <a:r>
                  <a:rPr sz="2400" b="0">
                    <a:solidFill>
                      <a:srgbClr val="111827"/>
                    </a:solidFill>
                    <a:latin typeface="Arial"/>
                  </a:rPr>
                  <a:t> needs </a:t>
                </a:r>
                <a:r>
                  <a:rPr lang="en-IN" sz="2400">
                    <a:solidFill>
                      <a:srgbClr val="111827"/>
                    </a:solidFill>
                    <a:latin typeface="Cambria Math" panose="02040503050406030204" pitchFamily="18" charset="0"/>
                  </a:rPr>
                  <a:t>$3\le1$</a:t>
                </a:r>
                <a:r>
                  <a:rPr sz="2400" b="0">
                    <a:solidFill>
                      <a:srgbClr val="111827"/>
                    </a:solidFill>
                    <a:latin typeface="Arial"/>
                  </a:rPr>
                  <a:t> or </a:t>
                </a:r>
                <a:r>
                  <a:rPr lang="en-IN" sz="2400">
                    <a:solidFill>
                      <a:srgbClr val="111827"/>
                    </a:solidFill>
                    <a:latin typeface="Cambria Math" panose="02040503050406030204" pitchFamily="18" charset="0"/>
                  </a:rPr>
                  <a:t>$7\le3$</a:t>
                </a:r>
                <a:r>
                  <a:rPr sz="2400" b="0">
                    <a:solidFill>
                      <a:srgbClr val="111827"/>
                    </a:solidFill>
                    <a:latin typeface="Arial"/>
                  </a:rPr>
                  <a:t>, both false. So </a:t>
                </a:r>
                <a:r>
                  <a:rPr lang="en-IN" sz="2400">
                    <a:solidFill>
                      <a:srgbClr val="111827"/>
                    </a:solidFill>
                    <a:latin typeface="Cambria Math" panose="02040503050406030204" pitchFamily="18" charset="0"/>
                  </a:rPr>
                  <a:t>$(3,7)\not R\,(1,3)$</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transitive. Hence (II)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(I) is correct: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Only (I) is correct</a:t>
            </a:r>
            <a:endParaRPr sz="2800">
              <a:solidFill>
                <a:srgbClr val="15803D"/>
              </a:solidFill>
            </a:endParaRP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with 'or' between coordinate inequalities is reflexive, and is non-transitive/non-symmetric in general: fail it by choosing pairs for which BOTH inequalities fail.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transitivity find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oMath>
                </a14:m>
                <a:r>
                  <a:rPr sz="2400" b="0">
                    <a:solidFill>
                      <a:srgbClr val="111827"/>
                    </a:solidFill>
                    <a:latin typeface="Arial"/>
                  </a:rPr>
                  <a:t>; to disprove symmetry find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oMath>
                </a14:m>
                <a:r>
                  <a:rPr sz="2400" b="0">
                    <a:solidFill>
                      <a:srgbClr val="111827"/>
                    </a:solidFill>
                    <a:latin typeface="Arial"/>
                  </a:rPr>
                  <a:t>. One example suffices; to prove a property you must argue for all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'and' version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 partial order (reflexive, antisymmetric, transitive), unlike this 'or' version.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with 'or' between coordinate inequalities is reflexive, and is non-transitive/non-symmetric in general: fail it by choosing pairs for which BOTH inequalities fail.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disprove transitivity find </a:t>
                </a:r>
                <a:r>
                  <a:rPr lang="en-IN" sz="2400">
                    <a:solidFill>
                      <a:srgbClr val="111827"/>
                    </a:solidFill>
                    <a:latin typeface="Cambria Math" panose="02040503050406030204" pitchFamily="18" charset="0"/>
                  </a:rPr>
                  <a:t>$a\,R\,b$</a:t>
                </a:r>
                <a:r>
                  <a:rPr sz="2400" b="0">
                    <a:solidFill>
                      <a:srgbClr val="111827"/>
                    </a:solidFill>
                    <a:latin typeface="Arial"/>
                  </a:rPr>
                  <a:t>, </a:t>
                </a:r>
                <a:r>
                  <a:rPr lang="en-IN" sz="2400">
                    <a:solidFill>
                      <a:srgbClr val="111827"/>
                    </a:solidFill>
                    <a:latin typeface="Cambria Math" panose="02040503050406030204" pitchFamily="18" charset="0"/>
                  </a:rPr>
                  <a:t>$b\,R\,c$</a:t>
                </a:r>
                <a:r>
                  <a:rPr sz="2400" b="0">
                    <a:solidFill>
                      <a:srgbClr val="111827"/>
                    </a:solidFill>
                    <a:latin typeface="Arial"/>
                  </a:rPr>
                  <a:t> with </a:t>
                </a:r>
                <a:r>
                  <a:rPr lang="en-IN" sz="2400">
                    <a:solidFill>
                      <a:srgbClr val="111827"/>
                    </a:solidFill>
                    <a:latin typeface="Cambria Math" panose="02040503050406030204" pitchFamily="18" charset="0"/>
                  </a:rPr>
                  <a:t>$a\not R\,c$</a:t>
                </a:r>
                <a:r>
                  <a:rPr sz="2400" b="0">
                    <a:solidFill>
                      <a:srgbClr val="111827"/>
                    </a:solidFill>
                    <a:latin typeface="Arial"/>
                  </a:rPr>
                  <a:t>; to disprove symmetry find </a:t>
                </a:r>
                <a:r>
                  <a:rPr lang="en-IN" sz="2400">
                    <a:solidFill>
                      <a:srgbClr val="111827"/>
                    </a:solidFill>
                    <a:latin typeface="Cambria Math" panose="02040503050406030204" pitchFamily="18" charset="0"/>
                  </a:rPr>
                  <a:t>$a\,R\,b$</a:t>
                </a:r>
                <a:r>
                  <a:rPr sz="2400" b="0">
                    <a:solidFill>
                      <a:srgbClr val="111827"/>
                    </a:solidFill>
                    <a:latin typeface="Arial"/>
                  </a:rPr>
                  <a:t> with </a:t>
                </a:r>
                <a:r>
                  <a:rPr lang="en-IN" sz="2400">
                    <a:solidFill>
                      <a:srgbClr val="111827"/>
                    </a:solidFill>
                    <a:latin typeface="Cambria Math" panose="02040503050406030204" pitchFamily="18" charset="0"/>
                  </a:rPr>
                  <a:t>$b\not R\,a$</a:t>
                </a:r>
                <a:r>
                  <a:rPr sz="2400" b="0">
                    <a:solidFill>
                      <a:srgbClr val="111827"/>
                    </a:solidFill>
                    <a:latin typeface="Arial"/>
                  </a:rPr>
                  <a:t>. One example suffices; to prove a property you must argue for all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'and' version (</a:t>
                </a:r>
                <a:r>
                  <a:rPr lang="en-IN" sz="2400">
                    <a:solidFill>
                      <a:srgbClr val="111827"/>
                    </a:solidFill>
                    <a:latin typeface="Cambria Math" panose="02040503050406030204" pitchFamily="18" charset="0"/>
                  </a:rPr>
                  <a:t>$x_1\le x_2$</a:t>
                </a:r>
                <a:r>
                  <a:rPr sz="2400" b="0">
                    <a:solidFill>
                      <a:srgbClr val="111827"/>
                    </a:solidFill>
                    <a:latin typeface="Arial"/>
                  </a:rPr>
                  <a:t> and </a:t>
                </a:r>
                <a:r>
                  <a:rPr lang="en-IN" sz="2400">
                    <a:solidFill>
                      <a:srgbClr val="111827"/>
                    </a:solidFill>
                    <a:latin typeface="Cambria Math" panose="02040503050406030204" pitchFamily="18" charset="0"/>
                  </a:rPr>
                  <a:t>$y_1\le y_2$</a:t>
                </a:r>
                <a:r>
                  <a:rPr sz="2400" b="0">
                    <a:solidFill>
                      <a:srgbClr val="111827"/>
                    </a:solidFill>
                    <a:latin typeface="Arial"/>
                  </a:rPr>
                  <a:t>) is a partial order (reflexive, antisymmetric, transitive), unlike this 'or' version.</a:t>
                </a:r>
                <a:endParaRPr sz="2400">
                  <a:solidFill>
                    <a:srgbClr val="111827"/>
                  </a:solidFill>
                </a:endParaRPr>
              </a:p>
            </p:txBody>
          </p:sp>
        </mc:Fallback>
      </mc:AlternateContent>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relations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on the set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given by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are the minimum number of elements required to be added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respectively, in order to make the relations symmetric, then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equals: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m:t>
                    </m:r>
                  </m:oMath>
                </a14:m>
                <a:endParaRPr sz="2400">
                  <a:solidFill>
                    <a:srgbClr val="111827"/>
                  </a:solidFill>
                </a:endParaRPr>
              </a:p>
            </p:txBody>
          </p:sp>
        </mc:Choice>
        <mc:Fallback>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relations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on the set </a:t>
                </a:r>
                <a:r>
                  <a:rPr lang="en-IN" sz="2400">
                    <a:solidFill>
                      <a:srgbClr val="111827"/>
                    </a:solidFill>
                    <a:latin typeface="Cambria Math" panose="02040503050406030204" pitchFamily="18" charset="0"/>
                  </a:rPr>
                  <a:t>$X=\{1,2,3,\ldots,20\}$</a:t>
                </a:r>
                <a:r>
                  <a:rPr sz="2400" b="0">
                    <a:solidFill>
                      <a:srgbClr val="111827"/>
                    </a:solidFill>
                    <a:latin typeface="Arial"/>
                  </a:rPr>
                  <a:t> be given by </a:t>
                </a:r>
                <a:r>
                  <a:rPr lang="en-IN" sz="2400">
                    <a:solidFill>
                      <a:srgbClr val="111827"/>
                    </a:solidFill>
                    <a:latin typeface="Cambria Math" panose="02040503050406030204" pitchFamily="18" charset="0"/>
                  </a:rPr>
                  <a:t>$R_1=\{(x,y):2x-3y=2\}$</a:t>
                </a:r>
                <a:r>
                  <a:rPr sz="2400" b="0">
                    <a:solidFill>
                      <a:srgbClr val="111827"/>
                    </a:solidFill>
                    <a:latin typeface="Arial"/>
                  </a:rPr>
                  <a:t> and </a:t>
                </a:r>
                <a:r>
                  <a:rPr lang="en-IN" sz="2400">
                    <a:solidFill>
                      <a:srgbClr val="111827"/>
                    </a:solidFill>
                    <a:latin typeface="Cambria Math" panose="02040503050406030204" pitchFamily="18" charset="0"/>
                  </a:rPr>
                  <a:t>$R_2=\{(x,y):-5x+4y=0\}$</a:t>
                </a:r>
                <a:r>
                  <a:rPr sz="2400" b="0">
                    <a:solidFill>
                      <a:srgbClr val="111827"/>
                    </a:solidFill>
                    <a:latin typeface="Arial"/>
                  </a:rPr>
                  <a:t>. If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are the minimum number of elements required to be added in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respectively, in order to make the relations symmetric, then </a:t>
                </a:r>
                <a:r>
                  <a:rPr lang="en-IN" sz="2400">
                    <a:solidFill>
                      <a:srgbClr val="111827"/>
                    </a:solidFill>
                    <a:latin typeface="Cambria Math" panose="02040503050406030204" pitchFamily="18" charset="0"/>
                  </a:rPr>
                  <a:t>$M+N$</a:t>
                </a:r>
                <a:r>
                  <a:rPr sz="2400" b="0">
                    <a:solidFill>
                      <a:srgbClr val="111827"/>
                    </a:solidFill>
                    <a:latin typeface="Arial"/>
                  </a:rPr>
                  <a:t> equals: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a:t>
                </a:r>
                <a:r>
                  <a:rPr sz="2400" b="0">
                    <a:solidFill>
                      <a:srgbClr val="111827"/>
                    </a:solidFill>
                    <a:latin typeface="Arial"/>
                  </a:rPr>
                  <a:t>   (B) </a:t>
                </a:r>
                <a:r>
                  <a:rPr lang="en-IN" sz="2400">
                    <a:solidFill>
                      <a:srgbClr val="111827"/>
                    </a:solidFill>
                    <a:latin typeface="Cambria Math" panose="02040503050406030204" pitchFamily="18" charset="0"/>
                  </a:rPr>
                  <a:t>$16$</a:t>
                </a:r>
                <a:r>
                  <a:rPr sz="2400" b="0">
                    <a:solidFill>
                      <a:srgbClr val="111827"/>
                    </a:solidFill>
                    <a:latin typeface="Arial"/>
                  </a:rPr>
                  <a:t>   (C) </a:t>
                </a:r>
                <a:r>
                  <a:rPr lang="en-IN" sz="2400">
                    <a:solidFill>
                      <a:srgbClr val="111827"/>
                    </a:solidFill>
                    <a:latin typeface="Cambria Math" panose="02040503050406030204" pitchFamily="18" charset="0"/>
                  </a:rPr>
                  <a:t>$10$</a:t>
                </a:r>
                <a:r>
                  <a:rPr sz="2400" b="0">
                    <a:solidFill>
                      <a:srgbClr val="111827"/>
                    </a:solidFill>
                    <a:latin typeface="Arial"/>
                  </a:rPr>
                  <a:t>   (D) </a:t>
                </a:r>
                <a:r>
                  <a:rPr lang="en-IN" sz="2400">
                    <a:solidFill>
                      <a:srgbClr val="111827"/>
                    </a:solidFill>
                    <a:latin typeface="Cambria Math" panose="02040503050406030204" pitchFamily="18" charset="0"/>
                  </a:rPr>
                  <a:t>$12$</a:t>
                </a:r>
                <a:endParaRPr sz="2400">
                  <a:solidFill>
                    <a:srgbClr val="111827"/>
                  </a:solidFill>
                </a:endParaRPr>
              </a:p>
            </p:txBody>
          </p:sp>
        </mc:Fallback>
      </mc:AlternateContent>
      <p:sp>
        <p:nvSpPr>
          <p:cNvPr id="5" name="Rectangle 4"/>
          <p:cNvSpPr/>
          <p:nvPr/>
        </p:nvSpPr>
        <p:spPr>
          <a:xfrm>
            <a:off x="731520" y="46959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pair of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has a reverse that is not already present, so the number to add equals the size of each relation.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pair of </a:t>
                </a:r>
                <a:r>
                  <a:rPr lang="en-IN" sz="2400">
                    <a:solidFill>
                      <a:srgbClr val="78350F"/>
                    </a:solidFill>
                    <a:latin typeface="Cambria Math" panose="02040503050406030204" pitchFamily="18" charset="0"/>
                  </a:rPr>
                  <a:t>$R_1,R_2$</a:t>
                </a:r>
                <a:r>
                  <a:rPr sz="2400" b="0">
                    <a:solidFill>
                      <a:srgbClr val="78350F"/>
                    </a:solidFill>
                    <a:latin typeface="Arial"/>
                  </a:rPr>
                  <a:t> has a reverse that is not already present, so the number to add equals the size of each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excluded since it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is the last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$R_1$</a:t>
                </a:r>
                <a:r>
                  <a:rPr sz="2400" b="0">
                    <a:solidFill>
                      <a:srgbClr val="111827"/>
                    </a:solidFill>
                    <a:latin typeface="Arial"/>
                  </a:rPr>
                  <a:t>: </a:t>
                </a:r>
                <a:r>
                  <a:rPr lang="en-IN" sz="2400">
                    <a:solidFill>
                      <a:srgbClr val="111827"/>
                    </a:solidFill>
                    <a:latin typeface="Cambria Math" panose="02040503050406030204" pitchFamily="18" charset="0"/>
                  </a:rPr>
                  <a:t>$2x-3y=2$</a:t>
                </a:r>
                <a:r>
                  <a:rPr sz="2400" b="0">
                    <a:solidFill>
                      <a:srgbClr val="111827"/>
                    </a:solidFill>
                    <a:latin typeface="Arial"/>
                  </a:rPr>
                  <a:t> gives </a:t>
                </a:r>
                <a:r>
                  <a:rPr lang="en-IN" sz="2400">
                    <a:solidFill>
                      <a:srgbClr val="111827"/>
                    </a:solidFill>
                    <a:latin typeface="Cambria Math" panose="02040503050406030204" pitchFamily="18" charset="0"/>
                  </a:rPr>
                  <a:t>$y=\frac{2x-2}{3}$</a:t>
                </a:r>
                <a:r>
                  <a:rPr sz="2400" b="0">
                    <a:solidFill>
                      <a:srgbClr val="111827"/>
                    </a:solidFill>
                    <a:latin typeface="Arial"/>
                  </a:rPr>
                  <a:t>, so </a:t>
                </a:r>
                <a:r>
                  <a:rPr lang="en-IN" sz="2400">
                    <a:solidFill>
                      <a:srgbClr val="111827"/>
                    </a:solidFill>
                    <a:latin typeface="Cambria Math" panose="02040503050406030204" pitchFamily="18" charset="0"/>
                  </a:rPr>
                  <a:t>$x\equiv1\pmod3$</a:t>
                </a:r>
                <a:r>
                  <a:rPr sz="2400" b="0">
                    <a:solidFill>
                      <a:srgbClr val="111827"/>
                    </a:solidFill>
                    <a:latin typeface="Arial"/>
                  </a:rPr>
                  <a:t> with </a:t>
                </a:r>
                <a:r>
                  <a:rPr lang="en-IN" sz="2400">
                    <a:solidFill>
                      <a:srgbClr val="111827"/>
                    </a:solidFill>
                    <a:latin typeface="Cambria Math" panose="02040503050406030204" pitchFamily="18" charset="0"/>
                  </a:rPr>
                  <a:t>$x,y\in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$R_1=\{(4,2),(7,4),(10,6),(13,8),(16,10),(19,12)\}$</a:t>
                </a:r>
                <a:r>
                  <a:rPr sz="2400" b="0">
                    <a:solidFill>
                      <a:srgbClr val="111827"/>
                    </a:solidFill>
                    <a:latin typeface="Arial"/>
                  </a:rPr>
                  <a:t>, where </a:t>
                </a:r>
                <a:r>
                  <a:rPr lang="en-IN" sz="2400">
                    <a:solidFill>
                      <a:srgbClr val="111827"/>
                    </a:solidFill>
                    <a:latin typeface="Cambria Math" panose="02040503050406030204" pitchFamily="18" charset="0"/>
                  </a:rPr>
                  <a:t>$x=1$</a:t>
                </a:r>
                <a:r>
                  <a:rPr sz="2400" b="0">
                    <a:solidFill>
                      <a:srgbClr val="111827"/>
                    </a:solidFill>
                    <a:latin typeface="Arial"/>
                  </a:rPr>
                  <a:t> is excluded since it gives </a:t>
                </a:r>
                <a:r>
                  <a:rPr lang="en-IN" sz="2400">
                    <a:solidFill>
                      <a:srgbClr val="111827"/>
                    </a:solidFill>
                    <a:latin typeface="Cambria Math" panose="02040503050406030204" pitchFamily="18" charset="0"/>
                  </a:rPr>
                  <a:t>$y=0\notin X$</a:t>
                </a:r>
                <a:r>
                  <a:rPr sz="2400" b="0">
                    <a:solidFill>
                      <a:srgbClr val="111827"/>
                    </a:solidFill>
                    <a:latin typeface="Arial"/>
                  </a:rPr>
                  <a:t>, and </a:t>
                </a:r>
                <a:r>
                  <a:rPr lang="en-IN" sz="2400">
                    <a:solidFill>
                      <a:srgbClr val="111827"/>
                    </a:solidFill>
                    <a:latin typeface="Cambria Math" panose="02040503050406030204" pitchFamily="18" charset="0"/>
                  </a:rPr>
                  <a:t>$x=19$</a:t>
                </a:r>
                <a:r>
                  <a:rPr sz="2400" b="0">
                    <a:solidFill>
                      <a:srgbClr val="111827"/>
                    </a:solidFill>
                    <a:latin typeface="Arial"/>
                  </a:rPr>
                  <a:t> is the last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$-5x+4y=0$</a:t>
                </a:r>
                <a:r>
                  <a:rPr sz="2400" b="0">
                    <a:solidFill>
                      <a:srgbClr val="111827"/>
                    </a:solidFill>
                    <a:latin typeface="Arial"/>
                  </a:rPr>
                  <a:t> gives </a:t>
                </a:r>
                <a:r>
                  <a:rPr lang="en-IN" sz="2400">
                    <a:solidFill>
                      <a:srgbClr val="111827"/>
                    </a:solidFill>
                    <a:latin typeface="Cambria Math" panose="02040503050406030204" pitchFamily="18" charset="0"/>
                  </a:rPr>
                  <a:t>$y=\frac{5x}{4}$</a:t>
                </a:r>
                <a:r>
                  <a:rPr sz="2400" b="0">
                    <a:solidFill>
                      <a:srgbClr val="111827"/>
                    </a:solidFill>
                    <a:latin typeface="Arial"/>
                  </a:rPr>
                  <a:t>, so </a:t>
                </a:r>
                <a:r>
                  <a:rPr lang="en-IN" sz="2400">
                    <a:solidFill>
                      <a:srgbClr val="111827"/>
                    </a:solidFill>
                    <a:latin typeface="Cambria Math" panose="02040503050406030204" pitchFamily="18" charset="0"/>
                  </a:rPr>
                  <a:t>$x$</a:t>
                </a:r>
                <a:r>
                  <a:rPr sz="2400" b="0">
                    <a:solidFill>
                      <a:srgbClr val="111827"/>
                    </a:solidFill>
                    <a:latin typeface="Arial"/>
                  </a:rPr>
                  <a:t> is a multiple of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$R_2=\{(4,5),(8,10),(12,15),(16,20)\}$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to be symmetric the reverse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needed; none of them satisfies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none is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elements must be added: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reverses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not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$R_1$</a:t>
                </a:r>
                <a:r>
                  <a:rPr sz="2400" b="0">
                    <a:solidFill>
                      <a:srgbClr val="111827"/>
                    </a:solidFill>
                    <a:latin typeface="Arial"/>
                  </a:rPr>
                  <a:t> to be symmetric the reverse pairs </a:t>
                </a:r>
                <a:r>
                  <a:rPr lang="en-IN" sz="2400">
                    <a:solidFill>
                      <a:srgbClr val="111827"/>
                    </a:solidFill>
                    <a:latin typeface="Cambria Math" panose="02040503050406030204" pitchFamily="18" charset="0"/>
                  </a:rPr>
                  <a:t>$(2,4),(4,7),\ldots,(12,19)$</a:t>
                </a:r>
                <a:r>
                  <a:rPr sz="2400" b="0">
                    <a:solidFill>
                      <a:srgbClr val="111827"/>
                    </a:solidFill>
                    <a:latin typeface="Arial"/>
                  </a:rPr>
                  <a:t> are needed; none of them satisfies </a:t>
                </a:r>
                <a:r>
                  <a:rPr lang="en-IN" sz="2400">
                    <a:solidFill>
                      <a:srgbClr val="111827"/>
                    </a:solidFill>
                    <a:latin typeface="Cambria Math" panose="02040503050406030204" pitchFamily="18" charset="0"/>
                  </a:rPr>
                  <a:t>$2x-3y=2$</a:t>
                </a:r>
                <a:r>
                  <a:rPr sz="2400" b="0">
                    <a:solidFill>
                      <a:srgbClr val="111827"/>
                    </a:solidFill>
                    <a:latin typeface="Arial"/>
                  </a:rPr>
                  <a:t>, so none is in </a:t>
                </a:r>
                <a:r>
                  <a:rPr lang="en-IN" sz="2400">
                    <a:solidFill>
                      <a:srgbClr val="111827"/>
                    </a:solidFill>
                    <a:latin typeface="Cambria Math" panose="02040503050406030204" pitchFamily="18" charset="0"/>
                  </a:rPr>
                  <a:t>$R_1$</a:t>
                </a:r>
                <a:r>
                  <a:rPr sz="2400" b="0">
                    <a:solidFill>
                      <a:srgbClr val="111827"/>
                    </a:solidFill>
                    <a:latin typeface="Arial"/>
                  </a:rPr>
                  <a:t>. Hence </a:t>
                </a:r>
                <a:r>
                  <a:rPr lang="en-IN" sz="2400">
                    <a:solidFill>
                      <a:srgbClr val="111827"/>
                    </a:solidFill>
                    <a:latin typeface="Cambria Math" panose="02040503050406030204" pitchFamily="18" charset="0"/>
                  </a:rPr>
                  <a:t>$6$</a:t>
                </a:r>
                <a:r>
                  <a:rPr sz="2400" b="0">
                    <a:solidFill>
                      <a:srgbClr val="111827"/>
                    </a:solidFill>
                    <a:latin typeface="Arial"/>
                  </a:rPr>
                  <a:t> elements must be added: </a:t>
                </a:r>
                <a:r>
                  <a:rPr lang="en-IN" sz="2400">
                    <a:solidFill>
                      <a:srgbClr val="111827"/>
                    </a:solidFill>
                    <a:latin typeface="Cambria Math" panose="02040503050406030204" pitchFamily="18" charset="0"/>
                  </a:rPr>
                  <a:t>$M=6$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reverses </a:t>
                </a:r>
                <a:r>
                  <a:rPr lang="en-IN" sz="2400">
                    <a:solidFill>
                      <a:srgbClr val="111827"/>
                    </a:solidFill>
                    <a:latin typeface="Cambria Math" panose="02040503050406030204" pitchFamily="18" charset="0"/>
                  </a:rPr>
                  <a:t>$(5,4),(10,8),(15,12),(20,16)$</a:t>
                </a:r>
                <a:r>
                  <a:rPr sz="2400" b="0">
                    <a:solidFill>
                      <a:srgbClr val="111827"/>
                    </a:solidFill>
                    <a:latin typeface="Arial"/>
                  </a:rPr>
                  <a:t> are not in </a:t>
                </a:r>
                <a:r>
                  <a:rPr lang="en-IN" sz="2400">
                    <a:solidFill>
                      <a:srgbClr val="111827"/>
                    </a:solidFill>
                    <a:latin typeface="Cambria Math" panose="02040503050406030204" pitchFamily="18" charset="0"/>
                  </a:rPr>
                  <a:t>$R_2$</a:t>
                </a:r>
                <a:r>
                  <a:rPr sz="2400" b="0">
                    <a:solidFill>
                      <a:srgbClr val="111827"/>
                    </a:solidFill>
                    <a:latin typeface="Arial"/>
                  </a:rPr>
                  <a:t>, so </a:t>
                </a:r>
                <a:r>
                  <a:rPr lang="en-IN" sz="2400">
                    <a:solidFill>
                      <a:srgbClr val="111827"/>
                    </a:solidFill>
                    <a:latin typeface="Cambria Math" panose="02040503050406030204" pitchFamily="18" charset="0"/>
                  </a:rPr>
                  <a:t>$N=4$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$M+N=6+4=10$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10</a:t>
            </a:r>
            <a:endParaRPr sz="2800">
              <a:solidFill>
                <a:srgbClr val="15803D"/>
              </a:solidFill>
            </a:endParaRP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number to add for symmetry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pairs whose reverse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relation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counted by finding the congruence class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the range limit; verify the end values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last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oMath>
                </a14:m>
                <a:r>
                  <a:rPr sz="2400" b="0">
                    <a:solidFill>
                      <a:srgbClr val="111827"/>
                    </a:solidFill>
                    <a:latin typeface="Arial"/>
                  </a:rPr>
                  <a:t> type has its reverse in the relation only 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 too, which forces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no pair is its own reverse partner. 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Minimum number to add for symmetry </a:t>
                </a:r>
                <a:r>
                  <a:rPr lang="en-IN" sz="2400">
                    <a:solidFill>
                      <a:srgbClr val="111827"/>
                    </a:solidFill>
                    <a:latin typeface="Cambria Math" panose="02040503050406030204" pitchFamily="18" charset="0"/>
                  </a:rPr>
                  <a:t>$=|R^{-1}\setminus R|$</a:t>
                </a:r>
                <a:r>
                  <a:rPr sz="2400" b="0">
                    <a:solidFill>
                      <a:srgbClr val="111827"/>
                    </a:solidFill>
                    <a:latin typeface="Arial"/>
                  </a:rPr>
                  <a:t> </a:t>
                </a:r>
                <a:r>
                  <a:rPr lang="en-IN" sz="2400">
                    <a:solidFill>
                      <a:srgbClr val="111827"/>
                    </a:solidFill>
                    <a:latin typeface="Cambria Math" panose="02040503050406030204" pitchFamily="18" charset="0"/>
                  </a:rPr>
                  <a:t>$=\;|R|-|R\cap R^{-1}|$</a:t>
                </a:r>
                <a:r>
                  <a:rPr sz="2400" b="0">
                    <a:solidFill>
                      <a:srgbClr val="111827"/>
                    </a:solidFill>
                    <a:latin typeface="Arial"/>
                  </a:rPr>
                  <a:t> (the number of pairs whose reverse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relation </a:t>
                </a:r>
                <a:r>
                  <a:rPr lang="en-IN" sz="2400">
                    <a:solidFill>
                      <a:srgbClr val="111827"/>
                    </a:solidFill>
                    <a:latin typeface="Cambria Math" panose="02040503050406030204" pitchFamily="18" charset="0"/>
                  </a:rPr>
                  <a:t>$ax+by=c$</a:t>
                </a:r>
                <a:r>
                  <a:rPr sz="2400" b="0">
                    <a:solidFill>
                      <a:srgbClr val="111827"/>
                    </a:solidFill>
                    <a:latin typeface="Arial"/>
                  </a:rPr>
                  <a:t> on </a:t>
                </a:r>
                <a:r>
                  <a:rPr lang="en-IN" sz="2400">
                    <a:solidFill>
                      <a:srgbClr val="111827"/>
                    </a:solidFill>
                    <a:latin typeface="Cambria Math" panose="02040503050406030204" pitchFamily="18" charset="0"/>
                  </a:rPr>
                  <a:t>$\{1,\ldots,N\}$</a:t>
                </a:r>
                <a:r>
                  <a:rPr sz="2400" b="0">
                    <a:solidFill>
                      <a:srgbClr val="111827"/>
                    </a:solidFill>
                    <a:latin typeface="Arial"/>
                  </a:rPr>
                  <a:t> is counted by finding the congruence class of </a:t>
                </a:r>
                <a:r>
                  <a:rPr lang="en-IN" sz="2400">
                    <a:solidFill>
                      <a:srgbClr val="111827"/>
                    </a:solidFill>
                    <a:latin typeface="Cambria Math" panose="02040503050406030204" pitchFamily="18" charset="0"/>
                  </a:rPr>
                  <a:t>$x$</a:t>
                </a:r>
                <a:r>
                  <a:rPr sz="2400" b="0">
                    <a:solidFill>
                      <a:srgbClr val="111827"/>
                    </a:solidFill>
                    <a:latin typeface="Arial"/>
                  </a:rPr>
                  <a:t> and the range limit; verify the end values (</a:t>
                </a:r>
                <a:r>
                  <a:rPr lang="en-IN" sz="2400">
                    <a:solidFill>
                      <a:srgbClr val="111827"/>
                    </a:solidFill>
                    <a:latin typeface="Cambria Math" panose="02040503050406030204" pitchFamily="18" charset="0"/>
                  </a:rPr>
                  <a:t>$x=1$</a:t>
                </a:r>
                <a:r>
                  <a:rPr sz="2400" b="0">
                    <a:solidFill>
                      <a:srgbClr val="111827"/>
                    </a:solidFill>
                    <a:latin typeface="Arial"/>
                  </a:rPr>
                  <a:t> and the last </a:t>
                </a:r>
                <a:r>
                  <a:rPr lang="en-IN" sz="2400">
                    <a:solidFill>
                      <a:srgbClr val="111827"/>
                    </a:solidFill>
                    <a:latin typeface="Cambria Math" panose="02040503050406030204" pitchFamily="18" charset="0"/>
                  </a:rPr>
                  <a:t>$x$</a:t>
                </a:r>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pair </a:t>
                </a:r>
                <a:r>
                  <a:rPr lang="en-IN" sz="2400">
                    <a:solidFill>
                      <a:srgbClr val="111827"/>
                    </a:solidFill>
                    <a:latin typeface="Cambria Math" panose="02040503050406030204" pitchFamily="18" charset="0"/>
                  </a:rPr>
                  <a:t>$(x,y)$</a:t>
                </a:r>
                <a:r>
                  <a:rPr sz="2400" b="0">
                    <a:solidFill>
                      <a:srgbClr val="111827"/>
                    </a:solidFill>
                    <a:latin typeface="Arial"/>
                  </a:rPr>
                  <a:t> of </a:t>
                </a:r>
                <a:r>
                  <a:rPr lang="en-IN" sz="2400">
                    <a:solidFill>
                      <a:srgbClr val="111827"/>
                    </a:solidFill>
                    <a:latin typeface="Cambria Math" panose="02040503050406030204" pitchFamily="18" charset="0"/>
                  </a:rPr>
                  <a:t>$ax=by$</a:t>
                </a:r>
                <a:r>
                  <a:rPr sz="2400" b="0">
                    <a:solidFill>
                      <a:srgbClr val="111827"/>
                    </a:solidFill>
                    <a:latin typeface="Arial"/>
                  </a:rPr>
                  <a:t> type has its reverse in the relation only if </a:t>
                </a:r>
                <a:r>
                  <a:rPr lang="en-IN" sz="2400">
                    <a:solidFill>
                      <a:srgbClr val="111827"/>
                    </a:solidFill>
                    <a:latin typeface="Cambria Math" panose="02040503050406030204" pitchFamily="18" charset="0"/>
                  </a:rPr>
                  <a:t>$ay=bx$</a:t>
                </a:r>
                <a:r>
                  <a:rPr sz="2400" b="0">
                    <a:solidFill>
                      <a:srgbClr val="111827"/>
                    </a:solidFill>
                    <a:latin typeface="Arial"/>
                  </a:rPr>
                  <a:t> too, which forces </a:t>
                </a:r>
                <a:r>
                  <a:rPr lang="en-IN" sz="2400">
                    <a:solidFill>
                      <a:srgbClr val="111827"/>
                    </a:solidFill>
                    <a:latin typeface="Cambria Math" panose="02040503050406030204" pitchFamily="18" charset="0"/>
                  </a:rPr>
                  <a:t>$x=y$</a:t>
                </a:r>
                <a:r>
                  <a:rPr sz="2400" b="0">
                    <a:solidFill>
                      <a:srgbClr val="111827"/>
                    </a:solidFill>
                    <a:latin typeface="Arial"/>
                  </a:rPr>
                  <a:t> when </a:t>
                </a:r>
                <a:r>
                  <a:rPr lang="en-IN" sz="2400">
                    <a:solidFill>
                      <a:srgbClr val="111827"/>
                    </a:solidFill>
                    <a:latin typeface="Cambria Math" panose="02040503050406030204" pitchFamily="18" charset="0"/>
                  </a:rPr>
                  <a:t>$a\ne b$</a:t>
                </a:r>
                <a:r>
                  <a:rPr sz="2400" b="0">
                    <a:solidFill>
                      <a:srgbClr val="111827"/>
                    </a:solidFill>
                    <a:latin typeface="Arial"/>
                  </a:rPr>
                  <a:t> (here </a:t>
                </a:r>
                <a:r>
                  <a:rPr lang="en-IN" sz="2400">
                    <a:solidFill>
                      <a:srgbClr val="111827"/>
                    </a:solidFill>
                    <a:latin typeface="Cambria Math" panose="02040503050406030204" pitchFamily="18" charset="0"/>
                  </a:rPr>
                  <a:t>$x=y=0$</a:t>
                </a:r>
                <a:r>
                  <a:rPr sz="2400" b="0">
                    <a:solidFill>
                      <a:srgbClr val="111827"/>
                    </a:solidFill>
                    <a:latin typeface="Arial"/>
                  </a:rPr>
                  <a:t>); so no pair is its own reverse partner. Check: </a:t>
                </a:r>
                <a:r>
                  <a:rPr lang="en-IN" sz="2400">
                    <a:solidFill>
                      <a:srgbClr val="111827"/>
                    </a:solidFill>
                    <a:latin typeface="Cambria Math" panose="02040503050406030204" pitchFamily="18" charset="0"/>
                  </a:rPr>
                  <a:t>$(4,5)\in R_2$</a:t>
                </a:r>
                <a:r>
                  <a:rPr sz="2400" b="0">
                    <a:solidFill>
                      <a:srgbClr val="111827"/>
                    </a:solidFill>
                    <a:latin typeface="Arial"/>
                  </a:rPr>
                  <a:t> but </a:t>
                </a:r>
                <a:r>
                  <a:rPr lang="en-IN" sz="2400">
                    <a:solidFill>
                      <a:srgbClr val="111827"/>
                    </a:solidFill>
                    <a:latin typeface="Cambria Math" panose="02040503050406030204" pitchFamily="18" charset="0"/>
                  </a:rPr>
                  <a:t>$(5,4)$</a:t>
                </a:r>
                <a:r>
                  <a:rPr sz="2400" b="0">
                    <a:solidFill>
                      <a:srgbClr val="111827"/>
                    </a:solidFill>
                    <a:latin typeface="Arial"/>
                  </a:rPr>
                  <a:t> gives </a:t>
                </a:r>
                <a:r>
                  <a:rPr lang="en-IN" sz="2400">
                    <a:solidFill>
                      <a:srgbClr val="111827"/>
                    </a:solidFill>
                    <a:latin typeface="Cambria Math" panose="02040503050406030204" pitchFamily="18" charset="0"/>
                  </a:rPr>
                  <a:t>$-25+16\ne0$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the set of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neither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nor a multiple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300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280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290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the set of all </a:t>
                </a:r>
                <a:r>
                  <a:rPr lang="en-IN" sz="2400">
                    <a:solidFill>
                      <a:srgbClr val="111827"/>
                    </a:solidFill>
                    <a:latin typeface="Cambria Math" panose="02040503050406030204" pitchFamily="18" charset="0"/>
                  </a:rPr>
                  <a:t>$n\in[100,700]\cap\mathbb{N}$</a:t>
                </a:r>
                <a:r>
                  <a:rPr sz="2400" b="0">
                    <a:solidFill>
                      <a:srgbClr val="111827"/>
                    </a:solidFill>
                    <a:latin typeface="Arial"/>
                  </a:rPr>
                  <a:t> such that </a:t>
                </a:r>
                <a:r>
                  <a:rPr lang="en-IN" sz="2400">
                    <a:solidFill>
                      <a:srgbClr val="111827"/>
                    </a:solidFill>
                    <a:latin typeface="Cambria Math" panose="02040503050406030204" pitchFamily="18" charset="0"/>
                  </a:rPr>
                  <a:t>$n$</a:t>
                </a:r>
                <a:r>
                  <a:rPr sz="2400" b="0">
                    <a:solidFill>
                      <a:srgbClr val="111827"/>
                    </a:solidFill>
                    <a:latin typeface="Arial"/>
                  </a:rPr>
                  <a:t> is neither a multiple of </a:t>
                </a:r>
                <a:r>
                  <a:rPr lang="en-IN" sz="2400">
                    <a:solidFill>
                      <a:srgbClr val="111827"/>
                    </a:solidFill>
                    <a:latin typeface="Cambria Math" panose="02040503050406030204" pitchFamily="18" charset="0"/>
                  </a:rPr>
                  <a:t>$3$</a:t>
                </a:r>
                <a:r>
                  <a:rPr sz="2400" b="0">
                    <a:solidFill>
                      <a:srgbClr val="111827"/>
                    </a:solidFill>
                    <a:latin typeface="Arial"/>
                  </a:rPr>
                  <a:t> nor a multiple of </a:t>
                </a:r>
                <a:r>
                  <a:rPr lang="en-IN" sz="2400">
                    <a:solidFill>
                      <a:srgbClr val="111827"/>
                    </a:solidFill>
                    <a:latin typeface="Cambria Math" panose="02040503050406030204" pitchFamily="18" charset="0"/>
                  </a:rPr>
                  <a:t>$4$</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$A$</a:t>
                </a:r>
                <a:r>
                  <a:rPr sz="2400" b="0">
                    <a:solidFill>
                      <a:srgbClr val="111827"/>
                    </a:solidFill>
                    <a:latin typeface="Arial"/>
                  </a:rPr>
                  <a: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$310$</a:t>
                </a:r>
                <a:r>
                  <a:rPr sz="2400" b="0">
                    <a:solidFill>
                      <a:srgbClr val="111827"/>
                    </a:solidFill>
                    <a:latin typeface="Arial"/>
                  </a:rPr>
                  <a:t>   (B) </a:t>
                </a:r>
                <a:r>
                  <a:rPr lang="en-IN" sz="2400">
                    <a:solidFill>
                      <a:srgbClr val="111827"/>
                    </a:solidFill>
                    <a:latin typeface="Cambria Math" panose="02040503050406030204" pitchFamily="18" charset="0"/>
                  </a:rPr>
                  <a:t>$300$</a:t>
                </a:r>
                <a:r>
                  <a:rPr sz="2400" b="0">
                    <a:solidFill>
                      <a:srgbClr val="111827"/>
                    </a:solidFill>
                    <a:latin typeface="Arial"/>
                  </a:rPr>
                  <a:t>   (C) </a:t>
                </a:r>
                <a:r>
                  <a:rPr lang="en-IN" sz="2400">
                    <a:solidFill>
                      <a:srgbClr val="111827"/>
                    </a:solidFill>
                    <a:latin typeface="Cambria Math" panose="02040503050406030204" pitchFamily="18" charset="0"/>
                  </a:rPr>
                  <a:t>$280$</a:t>
                </a:r>
                <a:r>
                  <a:rPr sz="2400" b="0">
                    <a:solidFill>
                      <a:srgbClr val="111827"/>
                    </a:solidFill>
                    <a:latin typeface="Arial"/>
                  </a:rPr>
                  <a:t>   (D) </a:t>
                </a:r>
                <a:r>
                  <a:rPr lang="en-IN" sz="2400">
                    <a:solidFill>
                      <a:srgbClr val="111827"/>
                    </a:solidFill>
                    <a:latin typeface="Cambria Math" panose="02040503050406030204" pitchFamily="18" charset="0"/>
                  </a:rPr>
                  <a:t>$290$</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Inclusion-exclusion principle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multiples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by A.P. term counts, then use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subtract from the total.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multiples of </a:t>
                </a:r>
                <a:r>
                  <a:rPr lang="en-IN" sz="2400">
                    <a:solidFill>
                      <a:srgbClr val="78350F"/>
                    </a:solidFill>
                    <a:latin typeface="Cambria Math" panose="02040503050406030204" pitchFamily="18" charset="0"/>
                  </a:rPr>
                  <a:t>$3$</a:t>
                </a:r>
                <a:r>
                  <a:rPr sz="2400" b="0">
                    <a:solidFill>
                      <a:srgbClr val="78350F"/>
                    </a:solidFill>
                    <a:latin typeface="Arial"/>
                  </a:rPr>
                  <a:t>, </a:t>
                </a:r>
                <a:r>
                  <a:rPr lang="en-IN" sz="2400">
                    <a:solidFill>
                      <a:srgbClr val="78350F"/>
                    </a:solidFill>
                    <a:latin typeface="Cambria Math" panose="02040503050406030204" pitchFamily="18" charset="0"/>
                  </a:rPr>
                  <a:t>$4$</a:t>
                </a:r>
                <a:r>
                  <a:rPr sz="2400" b="0">
                    <a:solidFill>
                      <a:srgbClr val="78350F"/>
                    </a:solidFill>
                    <a:latin typeface="Arial"/>
                  </a:rPr>
                  <a:t> and </a:t>
                </a:r>
                <a:r>
                  <a:rPr lang="en-IN" sz="2400">
                    <a:solidFill>
                      <a:srgbClr val="78350F"/>
                    </a:solidFill>
                    <a:latin typeface="Cambria Math" panose="02040503050406030204" pitchFamily="18" charset="0"/>
                  </a:rPr>
                  <a:t>$12$</a:t>
                </a:r>
                <a:r>
                  <a:rPr sz="2400" b="0">
                    <a:solidFill>
                      <a:srgbClr val="78350F"/>
                    </a:solidFill>
                    <a:latin typeface="Arial"/>
                  </a:rPr>
                  <a:t> by A.P. term counts, then use </a:t>
                </a:r>
                <a:r>
                  <a:rPr lang="en-IN" sz="2400">
                    <a:solidFill>
                      <a:srgbClr val="78350F"/>
                    </a:solidFill>
                    <a:latin typeface="Cambria Math" panose="02040503050406030204" pitchFamily="18" charset="0"/>
                  </a:rPr>
                  <a:t>$n(3\cup4)=n(3)+n(4)-n(3\cap4)$</a:t>
                </a:r>
                <a:r>
                  <a:rPr sz="2400" b="0">
                    <a:solidFill>
                      <a:srgbClr val="78350F"/>
                    </a:solidFill>
                    <a:latin typeface="Arial"/>
                  </a:rPr>
                  <a:t> and subtract from the total.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601</m:t>
                    </m:r>
                  </m:oMath>
                </a14:m>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699</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699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interval </a:t>
                </a:r>
                <a:r>
                  <a:rPr lang="en-IN" sz="2400">
                    <a:solidFill>
                      <a:srgbClr val="111827"/>
                    </a:solidFill>
                    <a:latin typeface="Cambria Math" panose="02040503050406030204" pitchFamily="18" charset="0"/>
                  </a:rPr>
                  <a:t>$[100,700]$</a:t>
                </a:r>
                <a:r>
                  <a:rPr sz="2400" b="0">
                    <a:solidFill>
                      <a:srgbClr val="111827"/>
                    </a:solidFill>
                    <a:latin typeface="Arial"/>
                  </a:rPr>
                  <a:t> contains </a:t>
                </a:r>
                <a:r>
                  <a:rPr lang="en-IN" sz="2400">
                    <a:solidFill>
                      <a:srgbClr val="111827"/>
                    </a:solidFill>
                    <a:latin typeface="Cambria Math" panose="02040503050406030204" pitchFamily="18" charset="0"/>
                  </a:rPr>
                  <a:t>$700-100+1=601$</a:t>
                </a:r>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$102,105,\ldots,699$</a:t>
                </a:r>
                <a:r>
                  <a:rPr sz="2400" b="0">
                    <a:solidFill>
                      <a:srgbClr val="111827"/>
                    </a:solidFill>
                    <a:latin typeface="Arial"/>
                  </a:rPr>
                  <a:t>. From </a:t>
                </a:r>
                <a:r>
                  <a:rPr lang="en-IN" sz="2400">
                    <a:solidFill>
                      <a:srgbClr val="111827"/>
                    </a:solidFill>
                    <a:latin typeface="Cambria Math" panose="02040503050406030204" pitchFamily="18" charset="0"/>
                  </a:rPr>
                  <a:t>$699=102+(n-1)3$</a:t>
                </a:r>
                <a:r>
                  <a:rPr sz="2400" b="0">
                    <a:solidFill>
                      <a:srgbClr val="111827"/>
                    </a:solidFill>
                    <a:latin typeface="Arial"/>
                  </a:rPr>
                  <a:t> we get </a:t>
                </a:r>
                <a:r>
                  <a:rPr lang="en-IN" sz="2400">
                    <a:solidFill>
                      <a:srgbClr val="111827"/>
                    </a:solidFill>
                    <a:latin typeface="Cambria Math" panose="02040503050406030204" pitchFamily="18" charset="0"/>
                  </a:rPr>
                  <a:t>$n=200$</a:t>
                </a:r>
                <a:r>
                  <a:rPr sz="2400" b="0">
                    <a:solidFill>
                      <a:srgbClr val="111827"/>
                    </a:solidFill>
                    <a:latin typeface="Arial"/>
                  </a:rPr>
                  <a:t>, so </a:t>
                </a:r>
                <a:r>
                  <a:rPr lang="en-IN" sz="2400">
                    <a:solidFill>
                      <a:srgbClr val="111827"/>
                    </a:solidFill>
                    <a:latin typeface="Cambria Math" panose="02040503050406030204" pitchFamily="18" charset="0"/>
                  </a:rPr>
                  <a:t>$n(3)=200$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$100,104,\ldots,700$</a:t>
                </a:r>
                <a:r>
                  <a:rPr sz="2400" b="0">
                    <a:solidFill>
                      <a:srgbClr val="111827"/>
                    </a:solidFill>
                    <a:latin typeface="Arial"/>
                  </a:rPr>
                  <a:t>. From </a:t>
                </a:r>
                <a:r>
                  <a:rPr lang="en-IN" sz="2400">
                    <a:solidFill>
                      <a:srgbClr val="111827"/>
                    </a:solidFill>
                    <a:latin typeface="Cambria Math" panose="02040503050406030204" pitchFamily="18" charset="0"/>
                  </a:rPr>
                  <a:t>$700=100+(n-1)4$</a:t>
                </a:r>
                <a:r>
                  <a:rPr sz="2400" b="0">
                    <a:solidFill>
                      <a:srgbClr val="111827"/>
                    </a:solidFill>
                    <a:latin typeface="Arial"/>
                  </a:rPr>
                  <a:t> we get </a:t>
                </a:r>
                <a:r>
                  <a:rPr lang="en-IN" sz="2400">
                    <a:solidFill>
                      <a:srgbClr val="111827"/>
                    </a:solidFill>
                    <a:latin typeface="Cambria Math" panose="02040503050406030204" pitchFamily="18" charset="0"/>
                  </a:rPr>
                  <a:t>$n=151$</a:t>
                </a:r>
                <a:r>
                  <a:rPr sz="2400" b="0">
                    <a:solidFill>
                      <a:srgbClr val="111827"/>
                    </a:solidFill>
                    <a:latin typeface="Arial"/>
                  </a:rPr>
                  <a:t>, so </a:t>
                </a:r>
                <a:r>
                  <a:rPr lang="en-IN" sz="2400">
                    <a:solidFill>
                      <a:srgbClr val="111827"/>
                    </a:solidFill>
                    <a:latin typeface="Cambria Math" panose="02040503050406030204" pitchFamily="18" charset="0"/>
                  </a:rPr>
                  <a:t>$n(4)=151$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both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696</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696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that are neither: </a:t>
                </a:r>
                <a14:m>
                  <m:oMath xmlns:m="http://schemas.openxmlformats.org/officeDocument/2006/math">
                    <m:r>
                      <a:rPr lang="en-IN" sz="2400" i="1">
                        <a:solidFill>
                          <a:srgbClr val="111827"/>
                        </a:solidFill>
                        <a:latin typeface="Cambria Math" panose="02040503050406030204" pitchFamily="18" charset="0"/>
                      </a:rPr>
                      <m:t>601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both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(multiples of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$108,120,\ldots,696$</a:t>
                </a:r>
                <a:r>
                  <a:rPr sz="2400" b="0">
                    <a:solidFill>
                      <a:srgbClr val="111827"/>
                    </a:solidFill>
                    <a:latin typeface="Arial"/>
                  </a:rPr>
                  <a:t>. From </a:t>
                </a:r>
                <a:r>
                  <a:rPr lang="en-IN" sz="2400">
                    <a:solidFill>
                      <a:srgbClr val="111827"/>
                    </a:solidFill>
                    <a:latin typeface="Cambria Math" panose="02040503050406030204" pitchFamily="18" charset="0"/>
                  </a:rPr>
                  <a:t>$696=108+(n-1)12$</a:t>
                </a:r>
                <a:r>
                  <a:rPr sz="2400" b="0">
                    <a:solidFill>
                      <a:srgbClr val="111827"/>
                    </a:solidFill>
                    <a:latin typeface="Arial"/>
                  </a:rPr>
                  <a:t> we get </a:t>
                </a:r>
                <a:r>
                  <a:rPr lang="en-IN" sz="2400">
                    <a:solidFill>
                      <a:srgbClr val="111827"/>
                    </a:solidFill>
                    <a:latin typeface="Cambria Math" panose="02040503050406030204" pitchFamily="18" charset="0"/>
                  </a:rPr>
                  <a:t>$n=50$</a:t>
                </a:r>
                <a:r>
                  <a:rPr sz="2400" b="0">
                    <a:solidFill>
                      <a:srgbClr val="111827"/>
                    </a:solidFill>
                    <a:latin typeface="Arial"/>
                  </a:rPr>
                  <a:t>, so </a:t>
                </a:r>
                <a:r>
                  <a:rPr lang="en-IN" sz="2400">
                    <a:solidFill>
                      <a:srgbClr val="111827"/>
                    </a:solidFill>
                    <a:latin typeface="Cambria Math" panose="02040503050406030204" pitchFamily="18" charset="0"/>
                  </a:rPr>
                  <a:t>$n(3\cap4)=50$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$n(3\cup4)=n(3)+n(4)-n(3\cap4)=200+151-50=301$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that are neither: </a:t>
                </a:r>
                <a:r>
                  <a:rPr lang="en-IN" sz="2400">
                    <a:solidFill>
                      <a:srgbClr val="111827"/>
                    </a:solidFill>
                    <a:latin typeface="Cambria Math" panose="02040503050406030204" pitchFamily="18" charset="0"/>
                  </a:rPr>
                  <a:t>$601-301=300$</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300</a:t>
            </a:r>
            <a:endParaRPr sz="2800">
              <a:solidFill>
                <a:srgbClr val="15803D"/>
              </a:solidFill>
            </a:endParaRP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Divisibility by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repeats with period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and exactly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residues mod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are free of both.</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Divisibility by </a:t>
                </a:r>
                <a:r>
                  <a:rPr lang="en-IN" sz="2400">
                    <a:solidFill>
                      <a:srgbClr val="78350F"/>
                    </a:solidFill>
                    <a:latin typeface="Cambria Math" panose="02040503050406030204" pitchFamily="18" charset="0"/>
                  </a:rPr>
                  <a:t>$3$</a:t>
                </a:r>
                <a:r>
                  <a:rPr sz="2400" b="0">
                    <a:solidFill>
                      <a:srgbClr val="78350F"/>
                    </a:solidFill>
                    <a:latin typeface="Arial"/>
                  </a:rPr>
                  <a:t> and </a:t>
                </a:r>
                <a:r>
                  <a:rPr lang="en-IN" sz="2400">
                    <a:solidFill>
                      <a:srgbClr val="78350F"/>
                    </a:solidFill>
                    <a:latin typeface="Cambria Math" panose="02040503050406030204" pitchFamily="18" charset="0"/>
                  </a:rPr>
                  <a:t>$4$</a:t>
                </a:r>
                <a:r>
                  <a:rPr sz="2400" b="0">
                    <a:solidFill>
                      <a:srgbClr val="78350F"/>
                    </a:solidFill>
                    <a:latin typeface="Arial"/>
                  </a:rPr>
                  <a:t> repeats with period </a:t>
                </a:r>
                <a:r>
                  <a:rPr lang="en-IN" sz="2400">
                    <a:solidFill>
                      <a:srgbClr val="78350F"/>
                    </a:solidFill>
                    <a:latin typeface="Cambria Math" panose="02040503050406030204" pitchFamily="18" charset="0"/>
                  </a:rPr>
                  <a:t>$12$</a:t>
                </a:r>
                <a:r>
                  <a:rPr sz="2400" b="0">
                    <a:solidFill>
                      <a:srgbClr val="78350F"/>
                    </a:solidFill>
                    <a:latin typeface="Arial"/>
                  </a:rPr>
                  <a:t>, and exactly </a:t>
                </a:r>
                <a:r>
                  <a:rPr lang="en-IN" sz="2400">
                    <a:solidFill>
                      <a:srgbClr val="78350F"/>
                    </a:solidFill>
                    <a:latin typeface="Cambria Math" panose="02040503050406030204" pitchFamily="18" charset="0"/>
                  </a:rPr>
                  <a:t>$6$</a:t>
                </a:r>
                <a:r>
                  <a:rPr sz="2400" b="0">
                    <a:solidFill>
                      <a:srgbClr val="78350F"/>
                    </a:solidFill>
                    <a:latin typeface="Arial"/>
                  </a:rPr>
                  <a:t> residues mod </a:t>
                </a:r>
                <a:r>
                  <a:rPr lang="en-IN" sz="2400">
                    <a:solidFill>
                      <a:srgbClr val="78350F"/>
                    </a:solidFill>
                    <a:latin typeface="Cambria Math" panose="02040503050406030204" pitchFamily="18" charset="0"/>
                  </a:rPr>
                  <a:t>$12$</a:t>
                </a:r>
                <a:r>
                  <a:rPr sz="2400" b="0">
                    <a:solidFill>
                      <a:srgbClr val="78350F"/>
                    </a:solidFill>
                    <a:latin typeface="Arial"/>
                  </a:rPr>
                  <a:t> are free of both.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Whether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depends only on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that are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other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residues,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are good.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block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699</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600</m:t>
                    </m:r>
                  </m:oMath>
                </a14:m>
                <a:r>
                  <a:rPr sz="2400" b="0">
                    <a:solidFill>
                      <a:srgbClr val="111827"/>
                    </a:solidFill>
                    <a:latin typeface="Arial"/>
                  </a:rPr>
                  <a:t> consecutive integers, which is exactly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full periods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so it contains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good numbers.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Whether </a:t>
                </a:r>
                <a:r>
                  <a:rPr lang="en-IN" sz="2400">
                    <a:solidFill>
                      <a:srgbClr val="111827"/>
                    </a:solidFill>
                    <a:latin typeface="Cambria Math" panose="02040503050406030204" pitchFamily="18" charset="0"/>
                  </a:rPr>
                  <a:t>$n$</a:t>
                </a:r>
                <a:r>
                  <a:rPr sz="2400" b="0">
                    <a:solidFill>
                      <a:srgbClr val="111827"/>
                    </a:solidFill>
                    <a:latin typeface="Arial"/>
                  </a:rPr>
                  <a:t> is a multiple of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depends only on </a:t>
                </a:r>
                <a:r>
                  <a:rPr lang="en-IN" sz="2400">
                    <a:solidFill>
                      <a:srgbClr val="111827"/>
                    </a:solidFill>
                    <a:latin typeface="Cambria Math" panose="02040503050406030204" pitchFamily="18" charset="0"/>
                  </a:rPr>
                  <a:t>$n \bmod 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a:t>
                </a:r>
                <a:r>
                  <a:rPr lang="en-IN" sz="2400">
                    <a:solidFill>
                      <a:srgbClr val="111827"/>
                    </a:solidFill>
                    <a:latin typeface="Cambria Math" panose="02040503050406030204" pitchFamily="18" charset="0"/>
                  </a:rPr>
                  <a:t>$0,\ldots,11$</a:t>
                </a:r>
                <a:r>
                  <a:rPr sz="2400" b="0">
                    <a:solidFill>
                      <a:srgbClr val="111827"/>
                    </a:solidFill>
                    <a:latin typeface="Arial"/>
                  </a:rPr>
                  <a:t> that are multiples of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$0,3,4,6,8,9$</a:t>
                </a:r>
                <a:r>
                  <a:rPr sz="2400" b="0">
                    <a:solidFill>
                      <a:srgbClr val="111827"/>
                    </a:solidFill>
                    <a:latin typeface="Arial"/>
                  </a:rPr>
                  <a:t>. The other </a:t>
                </a:r>
                <a:r>
                  <a:rPr lang="en-IN" sz="2400">
                    <a:solidFill>
                      <a:srgbClr val="111827"/>
                    </a:solidFill>
                    <a:latin typeface="Cambria Math" panose="02040503050406030204" pitchFamily="18" charset="0"/>
                  </a:rPr>
                  <a:t>$6$</a:t>
                </a:r>
                <a:r>
                  <a:rPr sz="2400" b="0">
                    <a:solidFill>
                      <a:srgbClr val="111827"/>
                    </a:solidFill>
                    <a:latin typeface="Arial"/>
                  </a:rPr>
                  <a:t> residues, </a:t>
                </a:r>
                <a:r>
                  <a:rPr lang="en-IN" sz="2400">
                    <a:solidFill>
                      <a:srgbClr val="111827"/>
                    </a:solidFill>
                    <a:latin typeface="Cambria Math" panose="02040503050406030204" pitchFamily="18" charset="0"/>
                  </a:rPr>
                  <a:t>$1,2,5,7,10,11$</a:t>
                </a:r>
                <a:r>
                  <a:rPr sz="2400" b="0">
                    <a:solidFill>
                      <a:srgbClr val="111827"/>
                    </a:solidFill>
                    <a:latin typeface="Arial"/>
                  </a:rPr>
                  <a:t>, are good.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block </a:t>
                </a:r>
                <a:r>
                  <a:rPr lang="en-IN" sz="2400">
                    <a:solidFill>
                      <a:srgbClr val="111827"/>
                    </a:solidFill>
                    <a:latin typeface="Cambria Math" panose="02040503050406030204" pitchFamily="18" charset="0"/>
                  </a:rPr>
                  <a:t>$100,\ldots,699$</a:t>
                </a:r>
                <a:r>
                  <a:rPr sz="2400" b="0">
                    <a:solidFill>
                      <a:srgbClr val="111827"/>
                    </a:solidFill>
                    <a:latin typeface="Arial"/>
                  </a:rPr>
                  <a:t> has </a:t>
                </a:r>
                <a:r>
                  <a:rPr lang="en-IN" sz="2400">
                    <a:solidFill>
                      <a:srgbClr val="111827"/>
                    </a:solidFill>
                    <a:latin typeface="Cambria Math" panose="02040503050406030204" pitchFamily="18" charset="0"/>
                  </a:rPr>
                  <a:t>$600$</a:t>
                </a:r>
                <a:r>
                  <a:rPr sz="2400" b="0">
                    <a:solidFill>
                      <a:srgbClr val="111827"/>
                    </a:solidFill>
                    <a:latin typeface="Arial"/>
                  </a:rPr>
                  <a:t> consecutive integers, which is exactly </a:t>
                </a:r>
                <a:r>
                  <a:rPr lang="en-IN" sz="2400">
                    <a:solidFill>
                      <a:srgbClr val="111827"/>
                    </a:solidFill>
                    <a:latin typeface="Cambria Math" panose="02040503050406030204" pitchFamily="18" charset="0"/>
                  </a:rPr>
                  <a:t>$50$</a:t>
                </a:r>
                <a:r>
                  <a:rPr sz="2400" b="0">
                    <a:solidFill>
                      <a:srgbClr val="111827"/>
                    </a:solidFill>
                    <a:latin typeface="Arial"/>
                  </a:rPr>
                  <a:t> full periods of </a:t>
                </a:r>
                <a:r>
                  <a:rPr lang="en-IN" sz="2400">
                    <a:solidFill>
                      <a:srgbClr val="111827"/>
                    </a:solidFill>
                    <a:latin typeface="Cambria Math" panose="02040503050406030204" pitchFamily="18" charset="0"/>
                  </a:rPr>
                  <a:t>$12$</a:t>
                </a:r>
                <a:r>
                  <a:rPr sz="2400" b="0">
                    <a:solidFill>
                      <a:srgbClr val="111827"/>
                    </a:solidFill>
                    <a:latin typeface="Arial"/>
                  </a:rPr>
                  <a:t>, so it contains </a:t>
                </a:r>
                <a:r>
                  <a:rPr lang="en-IN" sz="2400">
                    <a:solidFill>
                      <a:srgbClr val="111827"/>
                    </a:solidFill>
                    <a:latin typeface="Cambria Math" panose="02040503050406030204" pitchFamily="18" charset="0"/>
                  </a:rPr>
                  <a:t>$50\times6=300$</a:t>
                </a:r>
                <a:r>
                  <a:rPr sz="2400" b="0">
                    <a:solidFill>
                      <a:srgbClr val="111827"/>
                    </a:solidFill>
                    <a:latin typeface="Arial"/>
                  </a:rPr>
                  <a:t> good numbers.</a:t>
                </a:r>
                <a:endParaRPr sz="2400">
                  <a:solidFill>
                    <a:srgbClr val="111827"/>
                  </a:solidFill>
                </a:endParaRPr>
              </a:p>
            </p:txBody>
          </p:sp>
        </mc:Fallback>
      </mc:AlternateContent>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number </a:t>
                </a:r>
                <a14:m>
                  <m:oMath xmlns:m="http://schemas.openxmlformats.org/officeDocument/2006/math">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it is not good.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number </a:t>
                </a:r>
                <a:r>
                  <a:rPr lang="en-IN" sz="2400">
                    <a:solidFill>
                      <a:srgbClr val="111827"/>
                    </a:solidFill>
                    <a:latin typeface="Cambria Math" panose="02040503050406030204" pitchFamily="18" charset="0"/>
                  </a:rPr>
                  <a:t>$700=12\cdot58+4$</a:t>
                </a:r>
                <a:r>
                  <a:rPr sz="2400" b="0">
                    <a:solidFill>
                      <a:srgbClr val="111827"/>
                    </a:solidFill>
                    <a:latin typeface="Arial"/>
                  </a:rPr>
                  <a:t> is a multiple of </a:t>
                </a:r>
                <a:r>
                  <a:rPr lang="en-IN" sz="2400">
                    <a:solidFill>
                      <a:srgbClr val="111827"/>
                    </a:solidFill>
                    <a:latin typeface="Cambria Math" panose="02040503050406030204" pitchFamily="18" charset="0"/>
                  </a:rPr>
                  <a:t>$4$</a:t>
                </a:r>
                <a:r>
                  <a:rPr sz="2400" b="0">
                    <a:solidFill>
                      <a:srgbClr val="111827"/>
                    </a:solidFill>
                    <a:latin typeface="Arial"/>
                  </a:rPr>
                  <a:t>, so it is not good.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$=300$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300</a:t>
            </a:r>
            <a:endParaRPr sz="2800">
              <a:solidFill>
                <a:srgbClr val="15803D"/>
              </a:solidFill>
            </a:endParaRP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multiples of both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are the multiples of </a:t>
                </a:r>
                <a14:m>
                  <m:oMath xmlns:m="http://schemas.openxmlformats.org/officeDocument/2006/math">
                    <m:r>
                      <m:rPr>
                        <m:sty m:val="p"/>
                      </m:rPr>
                      <a:rPr lang="en-IN" sz="2400">
                        <a:solidFill>
                          <a:srgbClr val="111827"/>
                        </a:solidFill>
                        <a:latin typeface="Cambria Math" panose="02040503050406030204" pitchFamily="18" charset="0"/>
                      </a:rPr>
                      <m:t>lcm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any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consecutive integers, exactly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are multiples of neither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(residues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$n(A\cup B)=n(A)+n(B)-n(A\cap B)$</a:t>
                </a:r>
                <a:r>
                  <a:rPr sz="2400" b="0">
                    <a:solidFill>
                      <a:srgbClr val="111827"/>
                    </a:solidFill>
                    <a:latin typeface="Arial"/>
                  </a:rPr>
                  <a:t>; multiples of both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are the multiples of </a:t>
                </a:r>
                <a:r>
                  <a:rPr lang="en-IN" sz="2400">
                    <a:solidFill>
                      <a:srgbClr val="111827"/>
                    </a:solidFill>
                    <a:latin typeface="Cambria Math" panose="02040503050406030204" pitchFamily="18" charset="0"/>
                  </a:rPr>
                  <a:t>$\operatorname{lcm}=12$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r>
                  <a:rPr lang="en-IN" sz="2400">
                    <a:solidFill>
                      <a:srgbClr val="111827"/>
                    </a:solidFill>
                    <a:latin typeface="Cambria Math" panose="02040503050406030204" pitchFamily="18" charset="0"/>
                  </a:rPr>
                  <a:t>$d$</a:t>
                </a:r>
                <a:r>
                  <a:rPr sz="2400" b="0">
                    <a:solidFill>
                      <a:srgbClr val="111827"/>
                    </a:solidFill>
                    <a:latin typeface="Arial"/>
                  </a:rPr>
                  <a:t> in </a:t>
                </a:r>
                <a:r>
                  <a:rPr lang="en-IN" sz="2400">
                    <a:solidFill>
                      <a:srgbClr val="111827"/>
                    </a:solidFill>
                    <a:latin typeface="Cambria Math" panose="02040503050406030204" pitchFamily="18" charset="0"/>
                  </a:rPr>
                  <a:t>$[a,b]$</a:t>
                </a:r>
                <a:r>
                  <a:rPr sz="2400" b="0">
                    <a:solidFill>
                      <a:srgbClr val="111827"/>
                    </a:solidFill>
                    <a:latin typeface="Arial"/>
                  </a:rPr>
                  <a:t> is </a:t>
                </a:r>
                <a:r>
                  <a:rPr lang="en-IN" sz="2400">
                    <a:solidFill>
                      <a:srgbClr val="111827"/>
                    </a:solidFill>
                    <a:latin typeface="Cambria Math" panose="02040503050406030204" pitchFamily="18" charset="0"/>
                  </a:rPr>
                  <a:t>$\lfloor b/d\rfloor-\lfloor (a-1)/d\rfloor$</a:t>
                </a:r>
                <a:r>
                  <a:rPr sz="2400" b="0">
                    <a:solidFill>
                      <a:srgbClr val="111827"/>
                    </a:solidFill>
                    <a:latin typeface="Arial"/>
                  </a:rPr>
                  <a:t>. Check: multiples of </a:t>
                </a:r>
                <a:r>
                  <a:rPr lang="en-IN" sz="2400">
                    <a:solidFill>
                      <a:srgbClr val="111827"/>
                    </a:solidFill>
                    <a:latin typeface="Cambria Math" panose="02040503050406030204" pitchFamily="18" charset="0"/>
                  </a:rPr>
                  <a:t>$3$</a:t>
                </a:r>
                <a:r>
                  <a:rPr sz="2400" b="0">
                    <a:solidFill>
                      <a:srgbClr val="111827"/>
                    </a:solidFill>
                    <a:latin typeface="Arial"/>
                  </a:rPr>
                  <a:t> in </a:t>
                </a:r>
                <a:r>
                  <a:rPr lang="en-IN" sz="2400">
                    <a:solidFill>
                      <a:srgbClr val="111827"/>
                    </a:solidFill>
                    <a:latin typeface="Cambria Math" panose="02040503050406030204" pitchFamily="18" charset="0"/>
                  </a:rPr>
                  <a:t>$[100,700]$</a:t>
                </a:r>
                <a:r>
                  <a:rPr sz="2400" b="0">
                    <a:solidFill>
                      <a:srgbClr val="111827"/>
                    </a:solidFill>
                    <a:latin typeface="Arial"/>
                  </a:rPr>
                  <a:t>: </a:t>
                </a:r>
                <a:r>
                  <a:rPr lang="en-IN" sz="2400">
                    <a:solidFill>
                      <a:srgbClr val="111827"/>
                    </a:solidFill>
                    <a:latin typeface="Cambria Math" panose="02040503050406030204" pitchFamily="18" charset="0"/>
                  </a:rPr>
                  <a:t>$233-33=200$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any </a:t>
                </a:r>
                <a:r>
                  <a:rPr lang="en-IN" sz="2400">
                    <a:solidFill>
                      <a:srgbClr val="111827"/>
                    </a:solidFill>
                    <a:latin typeface="Cambria Math" panose="02040503050406030204" pitchFamily="18" charset="0"/>
                  </a:rPr>
                  <a:t>$12$</a:t>
                </a:r>
                <a:r>
                  <a:rPr sz="2400" b="0">
                    <a:solidFill>
                      <a:srgbClr val="111827"/>
                    </a:solidFill>
                    <a:latin typeface="Arial"/>
                  </a:rPr>
                  <a:t> consecutive integers, exactly </a:t>
                </a:r>
                <a:r>
                  <a:rPr lang="en-IN" sz="2400">
                    <a:solidFill>
                      <a:srgbClr val="111827"/>
                    </a:solidFill>
                    <a:latin typeface="Cambria Math" panose="02040503050406030204" pitchFamily="18" charset="0"/>
                  </a:rPr>
                  <a:t>$12(1-\frac13-\frac14+\frac1{12})=6$</a:t>
                </a:r>
                <a:r>
                  <a:rPr sz="2400" b="0">
                    <a:solidFill>
                      <a:srgbClr val="111827"/>
                    </a:solidFill>
                    <a:latin typeface="Arial"/>
                  </a:rPr>
                  <a:t> are multiples of neither </a:t>
                </a:r>
                <a:r>
                  <a:rPr lang="en-IN" sz="2400">
                    <a:solidFill>
                      <a:srgbClr val="111827"/>
                    </a:solidFill>
                    <a:latin typeface="Cambria Math" panose="02040503050406030204" pitchFamily="18" charset="0"/>
                  </a:rPr>
                  <a:t>$3$</a:t>
                </a:r>
                <a:r>
                  <a:rPr sz="2400" b="0">
                    <a:solidFill>
                      <a:srgbClr val="111827"/>
                    </a:solidFill>
                    <a:latin typeface="Arial"/>
                  </a:rPr>
                  <a:t> nor </a:t>
                </a:r>
                <a:r>
                  <a:rPr lang="en-IN" sz="2400">
                    <a:solidFill>
                      <a:srgbClr val="111827"/>
                    </a:solidFill>
                    <a:latin typeface="Cambria Math" panose="02040503050406030204" pitchFamily="18" charset="0"/>
                  </a:rPr>
                  <a:t>$4$</a:t>
                </a:r>
                <a:r>
                  <a:rPr sz="2400" b="0">
                    <a:solidFill>
                      <a:srgbClr val="111827"/>
                    </a:solidFill>
                    <a:latin typeface="Arial"/>
                  </a:rPr>
                  <a:t> (residues </a:t>
                </a:r>
                <a:r>
                  <a:rPr lang="en-IN" sz="2400">
                    <a:solidFill>
                      <a:srgbClr val="111827"/>
                    </a:solidFill>
                    <a:latin typeface="Cambria Math" panose="02040503050406030204" pitchFamily="18" charset="0"/>
                  </a:rPr>
                  <a:t>$1,2,5,7,10,11$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defined by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be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the minimum number of elements from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that are required to be added to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to make it a symmetric relation.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24</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$A$</a:t>
                </a:r>
                <a:r>
                  <a:rPr sz="2400" b="0">
                    <a:solidFill>
                      <a:srgbClr val="111827"/>
                    </a:solidFill>
                    <a:latin typeface="Arial"/>
                  </a:rPr>
                  <a:t> defined by </a:t>
                </a:r>
                <a:r>
                  <a:rPr lang="en-IN" sz="2400">
                    <a:solidFill>
                      <a:srgbClr val="111827"/>
                    </a:solidFill>
                    <a:latin typeface="Cambria Math" panose="02040503050406030204" pitchFamily="18" charset="0"/>
                  </a:rPr>
                  <a:t>$xRy$</a:t>
                </a:r>
                <a:r>
                  <a:rPr sz="2400" b="0">
                    <a:solidFill>
                      <a:srgbClr val="111827"/>
                    </a:solidFill>
                    <a:latin typeface="Arial"/>
                  </a:rPr>
                  <a:t> if and only if </a:t>
                </a:r>
                <a:r>
                  <a:rPr lang="en-IN" sz="2400">
                    <a:solidFill>
                      <a:srgbClr val="111827"/>
                    </a:solidFill>
                    <a:latin typeface="Cambria Math" panose="02040503050406030204" pitchFamily="18" charset="0"/>
                  </a:rPr>
                  <a:t>$4x\le5y$</a:t>
                </a:r>
                <a:r>
                  <a:rPr sz="2400" b="0">
                    <a:solidFill>
                      <a:srgbClr val="111827"/>
                    </a:solidFill>
                    <a:latin typeface="Arial"/>
                  </a:rPr>
                  <a:t>. Let </a:t>
                </a:r>
                <a:r>
                  <a:rPr lang="en-IN" sz="2400">
                    <a:solidFill>
                      <a:srgbClr val="111827"/>
                    </a:solidFill>
                    <a:latin typeface="Cambria Math" panose="02040503050406030204" pitchFamily="18" charset="0"/>
                  </a:rPr>
                  <a:t>$m$</a:t>
                </a:r>
                <a:r>
                  <a:rPr sz="2400" b="0">
                    <a:solidFill>
                      <a:srgbClr val="111827"/>
                    </a:solidFill>
                    <a:latin typeface="Arial"/>
                  </a:rPr>
                  <a:t> be the number of elements in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be the minimum number of elements from </a:t>
                </a:r>
                <a:r>
                  <a:rPr lang="en-IN" sz="2400">
                    <a:solidFill>
                      <a:srgbClr val="111827"/>
                    </a:solidFill>
                    <a:latin typeface="Cambria Math" panose="02040503050406030204" pitchFamily="18" charset="0"/>
                  </a:rPr>
                  <a:t>$A\times A$</a:t>
                </a:r>
                <a:r>
                  <a:rPr sz="2400" b="0">
                    <a:solidFill>
                      <a:srgbClr val="111827"/>
                    </a:solidFill>
                    <a:latin typeface="Arial"/>
                  </a:rPr>
                  <a:t> that are required to be added to </a:t>
                </a:r>
                <a:r>
                  <a:rPr lang="en-IN" sz="2400">
                    <a:solidFill>
                      <a:srgbClr val="111827"/>
                    </a:solidFill>
                    <a:latin typeface="Cambria Math" panose="02040503050406030204" pitchFamily="18" charset="0"/>
                  </a:rPr>
                  <a:t>$R$</a:t>
                </a:r>
                <a:r>
                  <a:rPr sz="2400" b="0">
                    <a:solidFill>
                      <a:srgbClr val="111827"/>
                    </a:solidFill>
                    <a:latin typeface="Arial"/>
                  </a:rPr>
                  <a:t> to make it a symmetric relation. Then </a:t>
                </a:r>
                <a:r>
                  <a:rPr lang="en-IN" sz="2400">
                    <a:solidFill>
                      <a:srgbClr val="111827"/>
                    </a:solidFill>
                    <a:latin typeface="Cambria Math" panose="02040503050406030204" pitchFamily="18" charset="0"/>
                  </a:rPr>
                  <a:t>$m+n$</a:t>
                </a:r>
                <a:r>
                  <a:rPr sz="2400" b="0">
                    <a:solidFill>
                      <a:srgbClr val="111827"/>
                    </a:solidFill>
                    <a:latin typeface="Arial"/>
                  </a:rPr>
                  <a: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$26$</a:t>
                </a:r>
                <a:r>
                  <a:rPr sz="2400" b="0">
                    <a:solidFill>
                      <a:srgbClr val="111827"/>
                    </a:solidFill>
                    <a:latin typeface="Arial"/>
                  </a:rPr>
                  <a:t>   (B) </a:t>
                </a:r>
                <a:r>
                  <a:rPr lang="en-IN" sz="2400">
                    <a:solidFill>
                      <a:srgbClr val="111827"/>
                    </a:solidFill>
                    <a:latin typeface="Cambria Math" panose="02040503050406030204" pitchFamily="18" charset="0"/>
                  </a:rPr>
                  <a:t>$25$</a:t>
                </a:r>
                <a:r>
                  <a:rPr sz="2400" b="0">
                    <a:solidFill>
                      <a:srgbClr val="111827"/>
                    </a:solidFill>
                    <a:latin typeface="Arial"/>
                  </a:rPr>
                  <a:t>   (C) </a:t>
                </a:r>
                <a:r>
                  <a:rPr lang="en-IN" sz="2400">
                    <a:solidFill>
                      <a:srgbClr val="111827"/>
                    </a:solidFill>
                    <a:latin typeface="Cambria Math" panose="02040503050406030204" pitchFamily="18" charset="0"/>
                  </a:rPr>
                  <a:t>$23$</a:t>
                </a:r>
                <a:r>
                  <a:rPr sz="2400" b="0">
                    <a:solidFill>
                      <a:srgbClr val="111827"/>
                    </a:solidFill>
                    <a:latin typeface="Arial"/>
                  </a:rPr>
                  <a:t>   (D) </a:t>
                </a:r>
                <a:r>
                  <a:rPr lang="en-IN" sz="2400">
                    <a:solidFill>
                      <a:srgbClr val="111827"/>
                    </a:solidFill>
                    <a:latin typeface="Cambria Math" panose="02040503050406030204" pitchFamily="18" charset="0"/>
                  </a:rPr>
                  <a:t>$24$</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 (symmetric closure)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pairs with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𝑦</m:t>
                    </m:r>
                  </m:oMath>
                </a14:m>
                <a:r>
                  <a:rPr sz="2400" b="0">
                    <a:solidFill>
                      <a:srgbClr val="78350F"/>
                    </a:solidFill>
                    <a:latin typeface="Arial"/>
                  </a:rPr>
                  <a:t> row by row; the pairs to add are the reverses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of pairs of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that are not themselves in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pairs with </a:t>
                </a:r>
                <a:r>
                  <a:rPr lang="en-IN" sz="2400">
                    <a:solidFill>
                      <a:srgbClr val="78350F"/>
                    </a:solidFill>
                    <a:latin typeface="Cambria Math" panose="02040503050406030204" pitchFamily="18" charset="0"/>
                  </a:rPr>
                  <a:t>$4x\le5y$</a:t>
                </a:r>
                <a:r>
                  <a:rPr sz="2400" b="0">
                    <a:solidFill>
                      <a:srgbClr val="78350F"/>
                    </a:solidFill>
                    <a:latin typeface="Arial"/>
                  </a:rPr>
                  <a:t> row by row; the pairs to add are the reverses </a:t>
                </a:r>
                <a:r>
                  <a:rPr lang="en-IN" sz="2400">
                    <a:solidFill>
                      <a:srgbClr val="78350F"/>
                    </a:solidFill>
                    <a:latin typeface="Cambria Math" panose="02040503050406030204" pitchFamily="18" charset="0"/>
                  </a:rPr>
                  <a:t>$(y,x)$</a:t>
                </a:r>
                <a:r>
                  <a:rPr sz="2400" b="0">
                    <a:solidFill>
                      <a:srgbClr val="78350F"/>
                    </a:solidFill>
                    <a:latin typeface="Arial"/>
                  </a:rPr>
                  <a:t> of pairs of </a:t>
                </a:r>
                <a:r>
                  <a:rPr lang="en-IN" sz="2400">
                    <a:solidFill>
                      <a:srgbClr val="78350F"/>
                    </a:solidFill>
                    <a:latin typeface="Cambria Math" panose="02040503050406030204" pitchFamily="18" charset="0"/>
                  </a:rPr>
                  <a:t>$R$</a:t>
                </a:r>
                <a:r>
                  <a:rPr sz="2400" b="0">
                    <a:solidFill>
                      <a:srgbClr val="78350F"/>
                    </a:solidFill>
                    <a:latin typeface="Arial"/>
                  </a:rPr>
                  <a:t> that are not themselves in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$xRy$</a:t>
                </a:r>
                <a:r>
                  <a:rPr sz="2400" b="0">
                    <a:solidFill>
                      <a:srgbClr val="111827"/>
                    </a:solidFill>
                    <a:latin typeface="Arial"/>
                  </a:rPr>
                  <a:t> iff </a:t>
                </a:r>
                <a:r>
                  <a:rPr lang="en-IN" sz="2400">
                    <a:solidFill>
                      <a:srgbClr val="111827"/>
                    </a:solidFill>
                    <a:latin typeface="Cambria Math" panose="02040503050406030204" pitchFamily="18" charset="0"/>
                  </a:rPr>
                  <a:t>$y\ge\frac{4x}{5}$</a:t>
                </a:r>
                <a:r>
                  <a:rPr sz="2400" b="0">
                    <a:solidFill>
                      <a:srgbClr val="111827"/>
                    </a:solidFill>
                    <a:latin typeface="Arial"/>
                  </a:rPr>
                  <a:t>. For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$y\ge0.8$</a:t>
                </a:r>
                <a:r>
                  <a:rPr sz="2400" b="0">
                    <a:solidFill>
                      <a:srgbClr val="111827"/>
                    </a:solidFill>
                    <a:latin typeface="Arial"/>
                  </a:rPr>
                  <a:t>, so </a:t>
                </a:r>
                <a:r>
                  <a:rPr lang="en-IN" sz="2400">
                    <a:solidFill>
                      <a:srgbClr val="111827"/>
                    </a:solidFill>
                    <a:latin typeface="Cambria Math" panose="02040503050406030204" pitchFamily="18" charset="0"/>
                  </a:rPr>
                  <a:t>$y=1,2,3,4,5$</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$y\ge1.6$</a:t>
                </a:r>
                <a:r>
                  <a:rPr sz="2400" b="0">
                    <a:solidFill>
                      <a:srgbClr val="111827"/>
                    </a:solidFill>
                    <a:latin typeface="Arial"/>
                  </a:rPr>
                  <a:t>, so </a:t>
                </a:r>
                <a:r>
                  <a:rPr lang="en-IN" sz="2400">
                    <a:solidFill>
                      <a:srgbClr val="111827"/>
                    </a:solidFill>
                    <a:latin typeface="Cambria Math" panose="02040503050406030204" pitchFamily="18" charset="0"/>
                  </a:rPr>
                  <a:t>$y=2,3,4,5$</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pairs).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$y\ge2.4$</a:t>
                </a:r>
                <a:r>
                  <a:rPr sz="2400" b="0">
                    <a:solidFill>
                      <a:srgbClr val="111827"/>
                    </a:solidFill>
                    <a:latin typeface="Arial"/>
                  </a:rPr>
                  <a:t>, so </a:t>
                </a:r>
                <a:r>
                  <a:rPr lang="en-IN" sz="2400">
                    <a:solidFill>
                      <a:srgbClr val="111827"/>
                    </a:solidFill>
                    <a:latin typeface="Cambria Math" panose="02040503050406030204" pitchFamily="18" charset="0"/>
                  </a:rPr>
                  <a:t>$y=3,4,5$</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$y\ge3.2$</a:t>
                </a:r>
                <a:r>
                  <a:rPr sz="2400" b="0">
                    <a:solidFill>
                      <a:srgbClr val="111827"/>
                    </a:solidFill>
                    <a:latin typeface="Arial"/>
                  </a:rPr>
                  <a:t>, so </a:t>
                </a:r>
                <a:r>
                  <a:rPr lang="en-IN" sz="2400">
                    <a:solidFill>
                      <a:srgbClr val="111827"/>
                    </a:solidFill>
                    <a:latin typeface="Cambria Math" panose="02040503050406030204" pitchFamily="18" charset="0"/>
                  </a:rPr>
                  <a:t>$y=4,5$</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pairs).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$y\ge4$</a:t>
                </a:r>
                <a:r>
                  <a:rPr sz="2400" b="0">
                    <a:solidFill>
                      <a:srgbClr val="111827"/>
                    </a:solidFill>
                    <a:latin typeface="Arial"/>
                  </a:rPr>
                  <a:t>, so </a:t>
                </a:r>
                <a:r>
                  <a:rPr lang="en-IN" sz="2400">
                    <a:solidFill>
                      <a:srgbClr val="111827"/>
                    </a:solidFill>
                    <a:latin typeface="Cambria Math" panose="02040503050406030204" pitchFamily="18" charset="0"/>
                  </a:rPr>
                  <a:t>$y=4,5$</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$R=\{(1,1),(1,2),(1,3),(1,4),(1,5),(2,2),(2,3),(2,4),(2,5),(3,3),(3,4),(3,5),(4,4),(4,5),(5,4),(5,5)\}$</a:t>
                </a:r>
                <a:r>
                  <a:rPr sz="2400" b="0">
                    <a:solidFill>
                      <a:srgbClr val="111827"/>
                    </a:solidFill>
                    <a:latin typeface="Arial"/>
                  </a:rPr>
                  <a:t>, so </a:t>
                </a:r>
                <a:r>
                  <a:rPr lang="en-IN" sz="2400">
                    <a:solidFill>
                      <a:srgbClr val="111827"/>
                    </a:solidFill>
                    <a:latin typeface="Cambria Math" panose="02040503050406030204" pitchFamily="18" charset="0"/>
                  </a:rPr>
                  <a:t>$m=16$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whose reverse is missing: all off-diagonal pairs except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are already each other's reverse.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to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of </a:t>
                </a:r>
                <a:r>
                  <a:rPr lang="en-IN" sz="2400">
                    <a:solidFill>
                      <a:srgbClr val="111827"/>
                    </a:solidFill>
                    <a:latin typeface="Cambria Math" panose="02040503050406030204" pitchFamily="18" charset="0"/>
                  </a:rPr>
                  <a:t>$R$</a:t>
                </a:r>
                <a:r>
                  <a:rPr sz="2400" b="0">
                    <a:solidFill>
                      <a:srgbClr val="111827"/>
                    </a:solidFill>
                    <a:latin typeface="Arial"/>
                  </a:rPr>
                  <a:t> whose reverse is missing: all off-diagonal pairs except </a:t>
                </a:r>
                <a:r>
                  <a:rPr lang="en-IN" sz="2400">
                    <a:solidFill>
                      <a:srgbClr val="111827"/>
                    </a:solidFill>
                    <a:latin typeface="Cambria Math" panose="02040503050406030204" pitchFamily="18" charset="0"/>
                  </a:rPr>
                  <a:t>$(4,5),(5,4)$</a:t>
                </a:r>
                <a:r>
                  <a:rPr sz="2400" b="0">
                    <a:solidFill>
                      <a:srgbClr val="111827"/>
                    </a:solidFill>
                    <a:latin typeface="Arial"/>
                  </a:rPr>
                  <a:t>, which are already each other's reverse.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to add: </a:t>
                </a:r>
                <a:r>
                  <a:rPr lang="en-IN" sz="2400">
                    <a:solidFill>
                      <a:srgbClr val="111827"/>
                    </a:solidFill>
                    <a:latin typeface="Cambria Math" panose="02040503050406030204" pitchFamily="18" charset="0"/>
                  </a:rPr>
                  <a:t>$(2,1),(3,1),(4,1),(5,1),(3,2),(4,2),(5,2),(4,3),(5,3)$</a:t>
                </a:r>
                <a:r>
                  <a:rPr sz="2400" b="0">
                    <a:solidFill>
                      <a:srgbClr val="111827"/>
                    </a:solidFill>
                    <a:latin typeface="Arial"/>
                  </a:rPr>
                  <a:t>. So </a:t>
                </a:r>
                <a:r>
                  <a:rPr lang="en-IN" sz="2400">
                    <a:solidFill>
                      <a:srgbClr val="111827"/>
                    </a:solidFill>
                    <a:latin typeface="Cambria Math" panose="02040503050406030204" pitchFamily="18" charset="0"/>
                  </a:rPr>
                  <a:t>$n=9$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$m+n=16+9=25$</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25</a:t>
            </a:r>
            <a:endParaRPr sz="2800">
              <a:solidFill>
                <a:srgbClr val="15803D"/>
              </a:solidFill>
            </a:endParaRP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to add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diagonal pairs plus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row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pairs (here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relation is reflexive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both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oMath>
                </a14:m>
                <a:r>
                  <a:rPr sz="2400" b="0">
                    <a:solidFill>
                      <a:srgbClr val="111827"/>
                    </a:solidFill>
                    <a:latin typeface="Arial"/>
                  </a:rPr>
                  <a:t> form the symmetric part: here the diagonal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pairs); all other pairs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need their reverse added.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$|R\cup R^{-1}|=2|R|-|R\cap R^{-1}|$</a:t>
                </a:r>
                <a:r>
                  <a:rPr sz="2400" b="0">
                    <a:solidFill>
                      <a:srgbClr val="111827"/>
                    </a:solidFill>
                    <a:latin typeface="Arial"/>
                  </a:rPr>
                  <a:t>; number to add </a:t>
                </a:r>
                <a:r>
                  <a:rPr lang="en-IN" sz="2400">
                    <a:solidFill>
                      <a:srgbClr val="111827"/>
                    </a:solidFill>
                    <a:latin typeface="Cambria Math" panose="02040503050406030204" pitchFamily="18" charset="0"/>
                  </a:rPr>
                  <a:t>$=|R|-|R\cap R^{-1}|$</a:t>
                </a:r>
                <a:r>
                  <a:rPr sz="2400" b="0">
                    <a:solidFill>
                      <a:srgbClr val="111827"/>
                    </a:solidFill>
                    <a:latin typeface="Arial"/>
                  </a:rPr>
                  <a:t>. Here </a:t>
                </a:r>
                <a:r>
                  <a:rPr lang="en-IN" sz="2400">
                    <a:solidFill>
                      <a:srgbClr val="111827"/>
                    </a:solidFill>
                    <a:latin typeface="Cambria Math" panose="02040503050406030204" pitchFamily="18" charset="0"/>
                  </a:rPr>
                  <a:t>$R\cap R^{-1}$</a:t>
                </a:r>
                <a:r>
                  <a:rPr sz="2400" b="0">
                    <a:solidFill>
                      <a:srgbClr val="111827"/>
                    </a:solidFill>
                    <a:latin typeface="Arial"/>
                  </a:rPr>
                  <a:t> has </a:t>
                </a:r>
                <a:r>
                  <a:rPr lang="en-IN" sz="2400">
                    <a:solidFill>
                      <a:srgbClr val="111827"/>
                    </a:solidFill>
                    <a:latin typeface="Cambria Math" panose="02040503050406030204" pitchFamily="18" charset="0"/>
                  </a:rPr>
                  <a:t>$5$</a:t>
                </a:r>
                <a:r>
                  <a:rPr sz="2400" b="0">
                    <a:solidFill>
                      <a:srgbClr val="111827"/>
                    </a:solidFill>
                    <a:latin typeface="Arial"/>
                  </a:rPr>
                  <a:t> diagonal pairs plus </a:t>
                </a:r>
                <a:r>
                  <a:rPr lang="en-IN" sz="2400">
                    <a:solidFill>
                      <a:srgbClr val="111827"/>
                    </a:solidFill>
                    <a:latin typeface="Cambria Math" panose="02040503050406030204" pitchFamily="18" charset="0"/>
                  </a:rPr>
                  <a:t>$(4,5),(5,4)$</a:t>
                </a:r>
                <a:r>
                  <a:rPr sz="2400" b="0">
                    <a:solidFill>
                      <a:srgbClr val="111827"/>
                    </a:solidFill>
                    <a:latin typeface="Arial"/>
                  </a:rPr>
                  <a:t>, so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$n=16-7=9$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$xRy\iff ax\le by$</a:t>
                </a:r>
                <a:r>
                  <a:rPr sz="2400" b="0">
                    <a:solidFill>
                      <a:srgbClr val="111827"/>
                    </a:solidFill>
                    <a:latin typeface="Arial"/>
                  </a:rPr>
                  <a:t> on </a:t>
                </a:r>
                <a:r>
                  <a:rPr lang="en-IN" sz="2400">
                    <a:solidFill>
                      <a:srgbClr val="111827"/>
                    </a:solidFill>
                    <a:latin typeface="Cambria Math" panose="02040503050406030204" pitchFamily="18" charset="0"/>
                  </a:rPr>
                  <a:t>$\{1,\ldots,N\}$</a:t>
                </a:r>
                <a:r>
                  <a:rPr sz="2400" b="0">
                    <a:solidFill>
                      <a:srgbClr val="111827"/>
                    </a:solidFill>
                    <a:latin typeface="Arial"/>
                  </a:rPr>
                  <a:t>, row </a:t>
                </a:r>
                <a:r>
                  <a:rPr lang="en-IN" sz="2400">
                    <a:solidFill>
                      <a:srgbClr val="111827"/>
                    </a:solidFill>
                    <a:latin typeface="Cambria Math" panose="02040503050406030204" pitchFamily="18" charset="0"/>
                  </a:rPr>
                  <a:t>$x$</a:t>
                </a:r>
                <a:r>
                  <a:rPr sz="2400" b="0">
                    <a:solidFill>
                      <a:srgbClr val="111827"/>
                    </a:solidFill>
                    <a:latin typeface="Arial"/>
                  </a:rPr>
                  <a:t> has </a:t>
                </a:r>
                <a:r>
                  <a:rPr lang="en-IN" sz="2400">
                    <a:solidFill>
                      <a:srgbClr val="111827"/>
                    </a:solidFill>
                    <a:latin typeface="Cambria Math" panose="02040503050406030204" pitchFamily="18" charset="0"/>
                  </a:rPr>
                  <a:t>$N-\lceil ax/b\rceil+1$</a:t>
                </a:r>
                <a:r>
                  <a:rPr sz="2400" b="0">
                    <a:solidFill>
                      <a:srgbClr val="111827"/>
                    </a:solidFill>
                    <a:latin typeface="Arial"/>
                  </a:rPr>
                  <a:t> pairs (here </a:t>
                </a:r>
                <a:r>
                  <a:rPr lang="en-IN" sz="2400">
                    <a:solidFill>
                      <a:srgbClr val="111827"/>
                    </a:solidFill>
                    <a:latin typeface="Cambria Math" panose="02040503050406030204" pitchFamily="18" charset="0"/>
                  </a:rPr>
                  <a:t>$5-\lceil4x/5\rceil+1$</a:t>
                </a:r>
                <a:r>
                  <a:rPr sz="2400" b="0">
                    <a:solidFill>
                      <a:srgbClr val="111827"/>
                    </a:solidFill>
                    <a:latin typeface="Arial"/>
                  </a:rPr>
                  <a:t>: </a:t>
                </a:r>
                <a:r>
                  <a:rPr lang="en-IN" sz="2400">
                    <a:solidFill>
                      <a:srgbClr val="111827"/>
                    </a:solidFill>
                    <a:latin typeface="Cambria Math" panose="02040503050406030204" pitchFamily="18" charset="0"/>
                  </a:rPr>
                  <a:t>$5,4,3,2,2$</a:t>
                </a:r>
                <a:r>
                  <a:rPr sz="2400" b="0">
                    <a:solidFill>
                      <a:srgbClr val="111827"/>
                    </a:solidFill>
                    <a:latin typeface="Arial"/>
                  </a:rPr>
                  <a:t>). The relation is reflexive iff </a:t>
                </a:r>
                <a:r>
                  <a:rPr lang="en-IN" sz="2400">
                    <a:solidFill>
                      <a:srgbClr val="111827"/>
                    </a:solidFill>
                    <a:latin typeface="Cambria Math" panose="02040503050406030204" pitchFamily="18" charset="0"/>
                  </a:rPr>
                  <a:t>$a\le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r>
                  <a:rPr lang="en-IN" sz="2400">
                    <a:solidFill>
                      <a:srgbClr val="111827"/>
                    </a:solidFill>
                    <a:latin typeface="Cambria Math" panose="02040503050406030204" pitchFamily="18" charset="0"/>
                  </a:rPr>
                  <a:t>$(x,y)$</a:t>
                </a:r>
                <a:r>
                  <a:rPr sz="2400" b="0">
                    <a:solidFill>
                      <a:srgbClr val="111827"/>
                    </a:solidFill>
                    <a:latin typeface="Arial"/>
                  </a:rPr>
                  <a:t> with both </a:t>
                </a:r>
                <a:r>
                  <a:rPr lang="en-IN" sz="2400">
                    <a:solidFill>
                      <a:srgbClr val="111827"/>
                    </a:solidFill>
                    <a:latin typeface="Cambria Math" panose="02040503050406030204" pitchFamily="18" charset="0"/>
                  </a:rPr>
                  <a:t>$4x\le5y$</a:t>
                </a:r>
                <a:r>
                  <a:rPr sz="2400" b="0">
                    <a:solidFill>
                      <a:srgbClr val="111827"/>
                    </a:solidFill>
                    <a:latin typeface="Arial"/>
                  </a:rPr>
                  <a:t> and </a:t>
                </a:r>
                <a:r>
                  <a:rPr lang="en-IN" sz="2400">
                    <a:solidFill>
                      <a:srgbClr val="111827"/>
                    </a:solidFill>
                    <a:latin typeface="Cambria Math" panose="02040503050406030204" pitchFamily="18" charset="0"/>
                  </a:rPr>
                  <a:t>$4y\le5x$</a:t>
                </a:r>
                <a:r>
                  <a:rPr sz="2400" b="0">
                    <a:solidFill>
                      <a:srgbClr val="111827"/>
                    </a:solidFill>
                    <a:latin typeface="Arial"/>
                  </a:rPr>
                  <a:t> form the symmetric part: here the diagonal and </a:t>
                </a:r>
                <a:r>
                  <a:rPr lang="en-IN" sz="2400">
                    <a:solidFill>
                      <a:srgbClr val="111827"/>
                    </a:solidFill>
                    <a:latin typeface="Cambria Math" panose="02040503050406030204" pitchFamily="18" charset="0"/>
                  </a:rPr>
                  <a:t>$(4,5),(5,4)$</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pairs); all other pairs of </a:t>
                </a:r>
                <a:r>
                  <a:rPr lang="en-IN" sz="2400">
                    <a:solidFill>
                      <a:srgbClr val="111827"/>
                    </a:solidFill>
                    <a:latin typeface="Cambria Math" panose="02040503050406030204" pitchFamily="18" charset="0"/>
                  </a:rPr>
                  <a:t>$R$</a:t>
                </a:r>
                <a:r>
                  <a:rPr sz="2400" b="0">
                    <a:solidFill>
                      <a:srgbClr val="111827"/>
                    </a:solidFill>
                    <a:latin typeface="Arial"/>
                  </a:rPr>
                  <a:t> need their reverse added.</a:t>
                </a:r>
                <a:endParaRPr sz="2400">
                  <a:solidFill>
                    <a:srgbClr val="111827"/>
                  </a:solidFill>
                </a:endParaRPr>
              </a:p>
            </p:txBody>
          </p:sp>
        </mc:Fallback>
      </mc:AlternateContent>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an even integer. Then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not symmetric</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$A=\{2,3,6,8,9,11\}$</a:t>
                </a:r>
                <a:r>
                  <a:rPr sz="2400" b="0">
                    <a:solidFill>
                      <a:srgbClr val="111827"/>
                    </a:solidFill>
                    <a:latin typeface="Arial"/>
                  </a:rPr>
                  <a:t> and </a:t>
                </a:r>
                <a:r>
                  <a:rPr lang="en-IN" sz="2400">
                    <a:solidFill>
                      <a:srgbClr val="111827"/>
                    </a:solidFill>
                    <a:latin typeface="Cambria Math" panose="02040503050406030204" pitchFamily="18" charset="0"/>
                  </a:rPr>
                  <a:t>$B=\{1,4,5,10,15\}$</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$A\times B$</a:t>
                </a:r>
                <a:r>
                  <a:rPr sz="2400" b="0">
                    <a:solidFill>
                      <a:srgbClr val="111827"/>
                    </a:solidFill>
                    <a:latin typeface="Arial"/>
                  </a:rPr>
                  <a:t> defined by </a:t>
                </a:r>
                <a:r>
                  <a:rPr lang="en-IN" sz="2400">
                    <a:solidFill>
                      <a:srgbClr val="111827"/>
                    </a:solidFill>
                    <a:latin typeface="Cambria Math" panose="02040503050406030204" pitchFamily="18" charset="0"/>
                  </a:rPr>
                  <a:t>$(a,b)\,R\,(c,d)$</a:t>
                </a:r>
                <a:r>
                  <a:rPr sz="2400" b="0">
                    <a:solidFill>
                      <a:srgbClr val="111827"/>
                    </a:solidFill>
                    <a:latin typeface="Arial"/>
                  </a:rPr>
                  <a:t> if and only if </a:t>
                </a:r>
                <a:r>
                  <a:rPr lang="en-IN" sz="2400">
                    <a:solidFill>
                      <a:srgbClr val="111827"/>
                    </a:solidFill>
                    <a:latin typeface="Cambria Math" panose="02040503050406030204" pitchFamily="18" charset="0"/>
                  </a:rPr>
                  <a:t>$3ad-7bc$</a:t>
                </a:r>
                <a:r>
                  <a:rPr sz="2400" b="0">
                    <a:solidFill>
                      <a:srgbClr val="111827"/>
                    </a:solidFill>
                    <a:latin typeface="Arial"/>
                  </a:rPr>
                  <a:t> is an even integer. Then the relation </a:t>
                </a:r>
                <a:r>
                  <a:rPr lang="en-IN" sz="2400">
                    <a:solidFill>
                      <a:srgbClr val="111827"/>
                    </a:solidFill>
                    <a:latin typeface="Cambria Math" panose="02040503050406030204" pitchFamily="18" charset="0"/>
                  </a:rPr>
                  <a:t>$R$</a:t>
                </a:r>
                <a:r>
                  <a:rPr sz="2400" b="0">
                    <a:solidFill>
                      <a:srgbClr val="111827"/>
                    </a:solidFill>
                    <a:latin typeface="Arial"/>
                  </a:rPr>
                  <a: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and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transitive but not symmetric</a:t>
                </a:r>
                <a:endParaRPr sz="2400">
                  <a:solidFill>
                    <a:srgbClr val="111827"/>
                  </a:solidFill>
                </a:endParaRPr>
              </a:p>
            </p:txBody>
          </p:sp>
        </mc:Fallback>
      </mc:AlternateContent>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(reflexive, symmetric, transitive)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is even iff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is even; this is symmetric in the two pairs, but transitivity fails.</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$3ad-7bc$</a:t>
                </a:r>
                <a:r>
                  <a:rPr sz="2400" b="0">
                    <a:solidFill>
                      <a:srgbClr val="78350F"/>
                    </a:solidFill>
                    <a:latin typeface="Arial"/>
                  </a:rPr>
                  <a:t> is even iff </a:t>
                </a:r>
                <a:r>
                  <a:rPr lang="en-IN" sz="2400">
                    <a:solidFill>
                      <a:srgbClr val="78350F"/>
                    </a:solidFill>
                    <a:latin typeface="Cambria Math" panose="02040503050406030204" pitchFamily="18" charset="0"/>
                  </a:rPr>
                  <a:t>$ad+bc$</a:t>
                </a:r>
                <a:r>
                  <a:rPr sz="2400" b="0">
                    <a:solidFill>
                      <a:srgbClr val="78350F"/>
                    </a:solidFill>
                    <a:latin typeface="Arial"/>
                  </a:rPr>
                  <a:t> is even; this is symmetric in the two pairs, but transitivity fails.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which is even.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$(a,b)R(c,d)\iff 3ad-7bc$</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$(a,b)R(a,b)$</a:t>
                </a:r>
                <a:r>
                  <a:rPr sz="2400" b="0">
                    <a:solidFill>
                      <a:srgbClr val="111827"/>
                    </a:solidFill>
                    <a:latin typeface="Arial"/>
                  </a:rPr>
                  <a:t> gives </a:t>
                </a:r>
                <a:r>
                  <a:rPr lang="en-IN" sz="2400">
                    <a:solidFill>
                      <a:srgbClr val="111827"/>
                    </a:solidFill>
                    <a:latin typeface="Cambria Math" panose="02040503050406030204" pitchFamily="18" charset="0"/>
                  </a:rPr>
                  <a:t>$3ab-7ba=-4ab$</a:t>
                </a:r>
                <a:r>
                  <a:rPr sz="2400" b="0">
                    <a:solidFill>
                      <a:srgbClr val="111827"/>
                    </a:solidFill>
                    <a:latin typeface="Arial"/>
                  </a:rPr>
                  <a:t>, which is even.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p:txBody>
          </p:sp>
        </mc:Fallback>
      </mc:AlternateContent>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suppose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The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even, hence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True,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162</m:t>
                    </m:r>
                  </m:oMath>
                </a14:m>
                <a:r>
                  <a:rPr sz="2400" b="0">
                    <a:solidFill>
                      <a:srgbClr val="111827"/>
                    </a:solidFill>
                    <a:latin typeface="Arial"/>
                  </a:rPr>
                  <a:t>, even.</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suppose </a:t>
                </a:r>
                <a:r>
                  <a:rPr lang="en-IN" sz="2400">
                    <a:solidFill>
                      <a:srgbClr val="111827"/>
                    </a:solidFill>
                    <a:latin typeface="Cambria Math" panose="02040503050406030204" pitchFamily="18" charset="0"/>
                  </a:rPr>
                  <a:t>$(a,b)R(c,d)$</a:t>
                </a:r>
                <a:r>
                  <a:rPr sz="2400" b="0">
                    <a:solidFill>
                      <a:srgbClr val="111827"/>
                    </a:solidFill>
                    <a:latin typeface="Arial"/>
                  </a:rPr>
                  <a:t>, so </a:t>
                </a:r>
                <a:r>
                  <a:rPr lang="en-IN" sz="2400">
                    <a:solidFill>
                      <a:srgbClr val="111827"/>
                    </a:solidFill>
                    <a:latin typeface="Cambria Math" panose="02040503050406030204" pitchFamily="18" charset="0"/>
                  </a:rPr>
                  <a:t>$3ad-7bc=(7ad-3bc)+(-4ad-4bc)$</a:t>
                </a:r>
                <a:r>
                  <a:rPr sz="2400" b="0">
                    <a:solidFill>
                      <a:srgbClr val="111827"/>
                    </a:solidFill>
                    <a:latin typeface="Arial"/>
                  </a:rPr>
                  <a:t> is even. The term </a:t>
                </a:r>
                <a:r>
                  <a:rPr lang="en-IN" sz="2400">
                    <a:solidFill>
                      <a:srgbClr val="111827"/>
                    </a:solidFill>
                    <a:latin typeface="Cambria Math" panose="02040503050406030204" pitchFamily="18" charset="0"/>
                  </a:rPr>
                  <a:t>$-4ad-4bc$</a:t>
                </a:r>
                <a:r>
                  <a:rPr sz="2400" b="0">
                    <a:solidFill>
                      <a:srgbClr val="111827"/>
                    </a:solidFill>
                    <a:latin typeface="Arial"/>
                  </a:rPr>
                  <a:t> is even, hence </a:t>
                </a:r>
                <a:r>
                  <a:rPr lang="en-IN" sz="2400">
                    <a:solidFill>
                      <a:srgbClr val="111827"/>
                    </a:solidFill>
                    <a:latin typeface="Cambria Math" panose="02040503050406030204" pitchFamily="18" charset="0"/>
                  </a:rPr>
                  <a:t>$7ad-3bc$</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$(c,d)R(a,b)$</a:t>
                </a:r>
                <a:r>
                  <a:rPr sz="2400" b="0">
                    <a:solidFill>
                      <a:srgbClr val="111827"/>
                    </a:solidFill>
                    <a:latin typeface="Arial"/>
                  </a:rPr>
                  <a:t> means </a:t>
                </a:r>
                <a:r>
                  <a:rPr lang="en-IN" sz="2400">
                    <a:solidFill>
                      <a:srgbClr val="111827"/>
                    </a:solidFill>
                    <a:latin typeface="Cambria Math" panose="02040503050406030204" pitchFamily="18" charset="0"/>
                  </a:rPr>
                  <a:t>$3bc-7ad=-(7ad-3bc)$</a:t>
                </a:r>
                <a:r>
                  <a:rPr sz="2400" b="0">
                    <a:solidFill>
                      <a:srgbClr val="111827"/>
                    </a:solidFill>
                    <a:latin typeface="Arial"/>
                  </a:rPr>
                  <a:t> is even. True, so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Take </a:t>
                </a:r>
                <a:r>
                  <a:rPr lang="en-IN" sz="2400">
                    <a:solidFill>
                      <a:srgbClr val="111827"/>
                    </a:solidFill>
                    <a:latin typeface="Cambria Math" panose="02040503050406030204" pitchFamily="18" charset="0"/>
                  </a:rPr>
                  <a:t>$(2,5)R(6,8)$</a:t>
                </a:r>
                <a:r>
                  <a:rPr sz="2400" b="0">
                    <a:solidFill>
                      <a:srgbClr val="111827"/>
                    </a:solidFill>
                    <a:latin typeface="Arial"/>
                  </a:rPr>
                  <a:t>: </a:t>
                </a:r>
                <a:r>
                  <a:rPr lang="en-IN" sz="2400">
                    <a:solidFill>
                      <a:srgbClr val="111827"/>
                    </a:solidFill>
                    <a:latin typeface="Cambria Math" panose="02040503050406030204" pitchFamily="18" charset="0"/>
                  </a:rPr>
                  <a:t>$3\cdot2\cdot8-7\cdot5\cdot6=48-210=-162$</a:t>
                </a:r>
                <a:r>
                  <a:rPr sz="2400" b="0">
                    <a:solidFill>
                      <a:srgbClr val="111827"/>
                    </a:solidFill>
                    <a:latin typeface="Arial"/>
                  </a:rPr>
                  <a:t>, even.</a:t>
                </a:r>
                <a:endParaRPr sz="2400">
                  <a:solidFill>
                    <a:srgbClr val="111827"/>
                  </a:solidFill>
                </a:endParaRPr>
              </a:p>
            </p:txBody>
          </p:sp>
        </mc:Fallback>
      </mc:AlternateContent>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291</m:t>
                    </m:r>
                  </m:oMath>
                </a14:m>
                <a:r>
                  <a:rPr sz="2400" b="0">
                    <a:solidFill>
                      <a:srgbClr val="111827"/>
                    </a:solidFill>
                    <a:latin typeface="Arial"/>
                  </a:rPr>
                  <a:t>, which is odd.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symmetric but not transitive: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$(6,8)R(9,4)$</a:t>
                </a:r>
                <a:r>
                  <a:rPr sz="2400" b="0">
                    <a:solidFill>
                      <a:srgbClr val="111827"/>
                    </a:solidFill>
                    <a:latin typeface="Arial"/>
                  </a:rPr>
                  <a:t>: </a:t>
                </a:r>
                <a:r>
                  <a:rPr lang="en-IN" sz="2400">
                    <a:solidFill>
                      <a:srgbClr val="111827"/>
                    </a:solidFill>
                    <a:latin typeface="Cambria Math" panose="02040503050406030204" pitchFamily="18" charset="0"/>
                  </a:rPr>
                  <a:t>$3\cdot6\cdot4-7\cdot8\cdot9=72-504=-432$</a:t>
                </a:r>
                <a:r>
                  <a:rPr sz="2400" b="0">
                    <a:solidFill>
                      <a:srgbClr val="111827"/>
                    </a:solidFill>
                    <a:latin typeface="Arial"/>
                  </a:rPr>
                  <a:t>,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$(2,5)R(9,4)$</a:t>
                </a:r>
                <a:r>
                  <a:rPr sz="2400" b="0">
                    <a:solidFill>
                      <a:srgbClr val="111827"/>
                    </a:solidFill>
                    <a:latin typeface="Arial"/>
                  </a:rPr>
                  <a:t> needs </a:t>
                </a:r>
                <a:r>
                  <a:rPr lang="en-IN" sz="2400">
                    <a:solidFill>
                      <a:srgbClr val="111827"/>
                    </a:solidFill>
                    <a:latin typeface="Cambria Math" panose="02040503050406030204" pitchFamily="18" charset="0"/>
                  </a:rPr>
                  <a:t>$3\cdot2\cdot4-7\cdot5\cdot9=24-315=-291$</a:t>
                </a:r>
                <a:r>
                  <a:rPr sz="2400" b="0">
                    <a:solidFill>
                      <a:srgbClr val="111827"/>
                    </a:solidFill>
                    <a:latin typeface="Arial"/>
                  </a:rPr>
                  <a:t>, which is odd. So </a:t>
                </a:r>
                <a:r>
                  <a:rPr lang="en-IN" sz="2400">
                    <a:solidFill>
                      <a:srgbClr val="111827"/>
                    </a:solidFill>
                    <a:latin typeface="Cambria Math" panose="02040503050406030204" pitchFamily="18" charset="0"/>
                  </a:rPr>
                  <a:t>$(2,5)\not R(9,4)$</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and symmetric but not transitive: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reflexive and symmetric but not transitive</a:t>
            </a:r>
            <a:endParaRPr sz="2800">
              <a:solidFill>
                <a:srgbClr val="15803D"/>
              </a:solidFill>
            </a:endParaRP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both entries even is related to every element, so a transitive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would force everything to be related; find an unrelated pair.</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$(a,b)$</a:t>
                </a:r>
                <a:r>
                  <a:rPr sz="2400" b="0">
                    <a:solidFill>
                      <a:srgbClr val="78350F"/>
                    </a:solidFill>
                    <a:latin typeface="Arial"/>
                  </a:rPr>
                  <a:t> with both entries even is related to every element, so a transitive </a:t>
                </a:r>
                <a:r>
                  <a:rPr lang="en-IN" sz="2400">
                    <a:solidFill>
                      <a:srgbClr val="78350F"/>
                    </a:solidFill>
                    <a:latin typeface="Cambria Math" panose="02040503050406030204" pitchFamily="18" charset="0"/>
                  </a:rPr>
                  <a:t>$R$</a:t>
                </a:r>
                <a:r>
                  <a:rPr sz="2400" b="0">
                    <a:solidFill>
                      <a:srgbClr val="78350F"/>
                    </a:solidFill>
                    <a:latin typeface="Arial"/>
                  </a:rPr>
                  <a:t> would force everything to be related; find an unrelated pair.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Reduce mod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has both entries even. For any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oMath>
                </a14:m>
                <a:r>
                  <a:rPr sz="2400" b="0">
                    <a:solidFill>
                      <a:srgbClr val="111827"/>
                    </a:solidFill>
                    <a:latin typeface="Arial"/>
                  </a:rPr>
                  <a:t> is even,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related to every element, in both directions.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were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Reduce mod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$3ad-7bc\equiv ad+bc\pmod2$</a:t>
                </a:r>
                <a:r>
                  <a:rPr sz="2400" b="0">
                    <a:solidFill>
                      <a:srgbClr val="111827"/>
                    </a:solidFill>
                    <a:latin typeface="Arial"/>
                  </a:rPr>
                  <a:t>. So </a:t>
                </a:r>
                <a:r>
                  <a:rPr lang="en-IN" sz="2400">
                    <a:solidFill>
                      <a:srgbClr val="111827"/>
                    </a:solidFill>
                    <a:latin typeface="Cambria Math" panose="02040503050406030204" pitchFamily="18" charset="0"/>
                  </a:rPr>
                  <a:t>$(a,b)R(c,d)$</a:t>
                </a:r>
                <a:r>
                  <a:rPr sz="2400" b="0">
                    <a:solidFill>
                      <a:srgbClr val="111827"/>
                    </a:solidFill>
                    <a:latin typeface="Arial"/>
                  </a:rPr>
                  <a:t> iff </a:t>
                </a:r>
                <a:r>
                  <a:rPr lang="en-IN" sz="2400">
                    <a:solidFill>
                      <a:srgbClr val="111827"/>
                    </a:solidFill>
                    <a:latin typeface="Cambria Math" panose="02040503050406030204" pitchFamily="18" charset="0"/>
                  </a:rPr>
                  <a:t>$ad+bc$</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element </a:t>
                </a:r>
                <a:r>
                  <a:rPr lang="en-IN" sz="2400">
                    <a:solidFill>
                      <a:srgbClr val="111827"/>
                    </a:solidFill>
                    <a:latin typeface="Cambria Math" panose="02040503050406030204" pitchFamily="18" charset="0"/>
                  </a:rPr>
                  <a:t>$(2,4)\in A\times B$</a:t>
                </a:r>
                <a:r>
                  <a:rPr sz="2400" b="0">
                    <a:solidFill>
                      <a:srgbClr val="111827"/>
                    </a:solidFill>
                    <a:latin typeface="Arial"/>
                  </a:rPr>
                  <a:t> has both entries even. For any </a:t>
                </a:r>
                <a:r>
                  <a:rPr lang="en-IN" sz="2400">
                    <a:solidFill>
                      <a:srgbClr val="111827"/>
                    </a:solidFill>
                    <a:latin typeface="Cambria Math" panose="02040503050406030204" pitchFamily="18" charset="0"/>
                  </a:rPr>
                  <a:t>$(c,d)$</a:t>
                </a:r>
                <a:r>
                  <a:rPr sz="2400" b="0">
                    <a:solidFill>
                      <a:srgbClr val="111827"/>
                    </a:solidFill>
                    <a:latin typeface="Arial"/>
                  </a:rPr>
                  <a:t>: </a:t>
                </a:r>
                <a:r>
                  <a:rPr lang="en-IN" sz="2400">
                    <a:solidFill>
                      <a:srgbClr val="111827"/>
                    </a:solidFill>
                    <a:latin typeface="Cambria Math" panose="02040503050406030204" pitchFamily="18" charset="0"/>
                  </a:rPr>
                  <a:t>$ad+bc=2d+4c$</a:t>
                </a:r>
                <a:r>
                  <a:rPr sz="2400" b="0">
                    <a:solidFill>
                      <a:srgbClr val="111827"/>
                    </a:solidFill>
                    <a:latin typeface="Arial"/>
                  </a:rPr>
                  <a:t> is even, so </a:t>
                </a:r>
                <a:r>
                  <a:rPr lang="en-IN" sz="2400">
                    <a:solidFill>
                      <a:srgbClr val="111827"/>
                    </a:solidFill>
                    <a:latin typeface="Cambria Math" panose="02040503050406030204" pitchFamily="18" charset="0"/>
                  </a:rPr>
                  <a:t>$(2,4)$</a:t>
                </a:r>
                <a:r>
                  <a:rPr sz="2400" b="0">
                    <a:solidFill>
                      <a:srgbClr val="111827"/>
                    </a:solidFill>
                    <a:latin typeface="Arial"/>
                  </a:rPr>
                  <a:t> is related to every element, in both directions.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a:t>
                </a:r>
                <a:r>
                  <a:rPr sz="2400" b="0">
                    <a:solidFill>
                      <a:srgbClr val="111827"/>
                    </a:solidFill>
                    <a:latin typeface="Arial"/>
                  </a:rPr>
                  <a:t> were transitive, </a:t>
                </a:r>
                <a:r>
                  <a:rPr lang="en-IN" sz="2400">
                    <a:solidFill>
                      <a:srgbClr val="111827"/>
                    </a:solidFill>
                    <a:latin typeface="Cambria Math" panose="02040503050406030204" pitchFamily="18" charset="0"/>
                  </a:rPr>
                  <a:t>$(3,4)R(2,4)$</a:t>
                </a:r>
                <a:r>
                  <a:rPr sz="2400" b="0">
                    <a:solidFill>
                      <a:srgbClr val="111827"/>
                    </a:solidFill>
                    <a:latin typeface="Arial"/>
                  </a:rPr>
                  <a:t> and </a:t>
                </a:r>
                <a:r>
                  <a:rPr lang="en-IN" sz="2400">
                    <a:solidFill>
                      <a:srgbClr val="111827"/>
                    </a:solidFill>
                    <a:latin typeface="Cambria Math" panose="02040503050406030204" pitchFamily="18" charset="0"/>
                  </a:rPr>
                  <a:t>$(2,4)R(2,1)$</a:t>
                </a:r>
                <a:r>
                  <a:rPr sz="2400" b="0">
                    <a:solidFill>
                      <a:srgbClr val="111827"/>
                    </a:solidFill>
                    <a:latin typeface="Arial"/>
                  </a:rPr>
                  <a:t> would give </a:t>
                </a:r>
                <a:r>
                  <a:rPr lang="en-IN" sz="2400">
                    <a:solidFill>
                      <a:srgbClr val="111827"/>
                    </a:solidFill>
                    <a:latin typeface="Cambria Math" panose="02040503050406030204" pitchFamily="18" charset="0"/>
                  </a:rPr>
                  <a:t>$(3,4)R(2,1)$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odd.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even) and symmetry (the expression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unchanged on swapping the pairs) hold,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symmetric but not transitive: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for </a:t>
                </a:r>
                <a:r>
                  <a:rPr lang="en-IN" sz="2400">
                    <a:solidFill>
                      <a:srgbClr val="111827"/>
                    </a:solidFill>
                    <a:latin typeface="Cambria Math" panose="02040503050406030204" pitchFamily="18" charset="0"/>
                  </a:rPr>
                  <a:t>$(3,4)$</a:t>
                </a:r>
                <a:r>
                  <a:rPr sz="2400" b="0">
                    <a:solidFill>
                      <a:srgbClr val="111827"/>
                    </a:solidFill>
                    <a:latin typeface="Arial"/>
                  </a:rPr>
                  <a:t> and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$ad+bc=3\cdot1+4\cdot2=11$</a:t>
                </a:r>
                <a:r>
                  <a:rPr sz="2400" b="0">
                    <a:solidFill>
                      <a:srgbClr val="111827"/>
                    </a:solidFill>
                    <a:latin typeface="Arial"/>
                  </a:rPr>
                  <a:t>, odd. So </a:t>
                </a:r>
                <a:r>
                  <a:rPr lang="en-IN" sz="2400">
                    <a:solidFill>
                      <a:srgbClr val="111827"/>
                    </a:solidFill>
                    <a:latin typeface="Cambria Math" panose="02040503050406030204" pitchFamily="18" charset="0"/>
                  </a:rPr>
                  <a:t>$(3,4)\not R(2,1)$</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a:t>
                </a:r>
                <a:r>
                  <a:rPr lang="en-IN" sz="2400">
                    <a:solidFill>
                      <a:srgbClr val="111827"/>
                    </a:solidFill>
                    <a:latin typeface="Cambria Math" panose="02040503050406030204" pitchFamily="18" charset="0"/>
                  </a:rPr>
                  <a:t>$-4ab$</a:t>
                </a:r>
                <a:r>
                  <a:rPr sz="2400" b="0">
                    <a:solidFill>
                      <a:srgbClr val="111827"/>
                    </a:solidFill>
                    <a:latin typeface="Arial"/>
                  </a:rPr>
                  <a:t> even) and symmetry (the expression </a:t>
                </a:r>
                <a:r>
                  <a:rPr lang="en-IN" sz="2400">
                    <a:solidFill>
                      <a:srgbClr val="111827"/>
                    </a:solidFill>
                    <a:latin typeface="Cambria Math" panose="02040503050406030204" pitchFamily="18" charset="0"/>
                  </a:rPr>
                  <a:t>$ad+bc$</a:t>
                </a:r>
                <a:r>
                  <a:rPr sz="2400" b="0">
                    <a:solidFill>
                      <a:srgbClr val="111827"/>
                    </a:solidFill>
                    <a:latin typeface="Arial"/>
                  </a:rPr>
                  <a:t> is unchanged on swapping the pairs) hold, so </a:t>
                </a:r>
                <a:r>
                  <a:rPr lang="en-IN" sz="2400">
                    <a:solidFill>
                      <a:srgbClr val="111827"/>
                    </a:solidFill>
                    <a:latin typeface="Cambria Math" panose="02040503050406030204" pitchFamily="18" charset="0"/>
                  </a:rPr>
                  <a:t>$R$</a:t>
                </a:r>
                <a:r>
                  <a:rPr sz="2400" b="0">
                    <a:solidFill>
                      <a:srgbClr val="111827"/>
                    </a:solidFill>
                    <a:latin typeface="Arial"/>
                  </a:rPr>
                  <a:t> is reflexive and symmetric but not transitive: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reflexive and symmetric but not transitive</a:t>
            </a:r>
            <a:endParaRPr sz="2800">
              <a:solidFill>
                <a:srgbClr val="15803D"/>
              </a:solidFill>
            </a:endParaRP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odd coefficients can be replaced by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some element is related to every element, and the relation is not total, then the relation cannot be an equivalence relation (it would make all elements equivalent). Test: elements with both coordinates even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check: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 one failing instance (with all three elements explicitly named and verified) is enough to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 symmetric expression in the two arguments (here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automatically symmetric.</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$3ad-7bc\equiv ad+bc\pmod2$</a:t>
                </a:r>
                <a:r>
                  <a:rPr sz="2400" b="0">
                    <a:solidFill>
                      <a:srgbClr val="111827"/>
                    </a:solidFill>
                    <a:latin typeface="Arial"/>
                  </a:rPr>
                  <a:t> because odd coefficients can be replaced by </a:t>
                </a:r>
                <a:r>
                  <a:rPr lang="en-IN" sz="2400">
                    <a:solidFill>
                      <a:srgbClr val="111827"/>
                    </a:solidFill>
                    <a:latin typeface="Cambria Math" panose="02040503050406030204" pitchFamily="18" charset="0"/>
                  </a:rPr>
                  <a:t>$1$</a:t>
                </a:r>
                <a:r>
                  <a:rPr sz="2400" b="0">
                    <a:solidFill>
                      <a:srgbClr val="111827"/>
                    </a:solidFill>
                    <a:latin typeface="Arial"/>
                  </a:rPr>
                  <a:t> modulo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some element is related to every element, and the relation is not total, then the relation cannot be an equivalence relation (it would make all elements equivalent). Test: elements with both coordinates even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Equivalence relation check: reflexive </a:t>
                </a:r>
                <a:r>
                  <a:rPr lang="en-IN" sz="2400">
                    <a:solidFill>
                      <a:srgbClr val="111827"/>
                    </a:solidFill>
                    <a:latin typeface="Cambria Math" panose="02040503050406030204" pitchFamily="18" charset="0"/>
                  </a:rPr>
                  <a:t>$(a\,R\,a)$</a:t>
                </a:r>
                <a:r>
                  <a:rPr sz="2400" b="0">
                    <a:solidFill>
                      <a:srgbClr val="111827"/>
                    </a:solidFill>
                    <a:latin typeface="Arial"/>
                  </a:rPr>
                  <a:t>, symmetric </a:t>
                </a:r>
                <a:r>
                  <a:rPr lang="en-IN" sz="2400">
                    <a:solidFill>
                      <a:srgbClr val="111827"/>
                    </a:solidFill>
                    <a:latin typeface="Cambria Math" panose="02040503050406030204" pitchFamily="18" charset="0"/>
                  </a:rPr>
                  <a:t>$(a\,R\,b\Rightarrow b\,R\,a)$</a:t>
                </a:r>
                <a:r>
                  <a:rPr sz="2400" b="0">
                    <a:solidFill>
                      <a:srgbClr val="111827"/>
                    </a:solidFill>
                    <a:latin typeface="Arial"/>
                  </a:rPr>
                  <a:t>, transitive; one failing instance (with all three elements explicitly named and verified) is enough to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defined by a symmetric expression in the two arguments (here </a:t>
                </a:r>
                <a:r>
                  <a:rPr lang="en-IN" sz="2400">
                    <a:solidFill>
                      <a:srgbClr val="111827"/>
                    </a:solidFill>
                    <a:latin typeface="Cambria Math" panose="02040503050406030204" pitchFamily="18" charset="0"/>
                  </a:rPr>
                  <a:t>$ad+bc$</a:t>
                </a:r>
                <a:r>
                  <a:rPr sz="2400" b="0">
                    <a:solidFill>
                      <a:srgbClr val="111827"/>
                    </a:solidFill>
                    <a:latin typeface="Arial"/>
                  </a:rPr>
                  <a:t>) is automatically symmetric.</a:t>
                </a:r>
                <a:endParaRPr sz="2400">
                  <a:solidFill>
                    <a:srgbClr val="111827"/>
                  </a:solidFill>
                </a:endParaRPr>
              </a:p>
            </p:txBody>
          </p:sp>
        </mc:Fallback>
      </mc:AlternateContent>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Q72 – Q73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answer</a:t>
            </a:r>
            <a:endParaRPr sz="2800">
              <a:solidFill>
                <a:srgbClr val="FFFFFF"/>
              </a:solidFill>
            </a:endParaRP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survey of </a:t>
                </a:r>
                <a14:m>
                  <m:oMath xmlns:m="http://schemas.openxmlformats.org/officeDocument/2006/math">
                    <m:r>
                      <a:rPr lang="en-IN" sz="2400" i="1">
                        <a:solidFill>
                          <a:srgbClr val="111827"/>
                        </a:solidFill>
                        <a:latin typeface="Cambria Math" panose="02040503050406030204" pitchFamily="18" charset="0"/>
                      </a:rPr>
                      <m:t>220</m:t>
                    </m:r>
                  </m:oMath>
                </a14:m>
                <a:r>
                  <a:rPr sz="2400" b="0">
                    <a:solidFill>
                      <a:srgbClr val="111827"/>
                    </a:solidFill>
                    <a:latin typeface="Arial"/>
                  </a:rPr>
                  <a:t> students of a higher secondary school, it was found that at least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 and at most </a:t>
                </a:r>
                <a14:m>
                  <m:oMath xmlns:m="http://schemas.openxmlformats.org/officeDocument/2006/math">
                    <m:r>
                      <a:rPr lang="en-IN" sz="2400" i="1">
                        <a:solidFill>
                          <a:srgbClr val="111827"/>
                        </a:solidFill>
                        <a:latin typeface="Cambria Math" panose="02040503050406030204" pitchFamily="18" charset="0"/>
                      </a:rPr>
                      <m:t>130</m:t>
                    </m:r>
                  </m:oMath>
                </a14:m>
                <a:r>
                  <a:rPr sz="2400" b="0">
                    <a:solidFill>
                      <a:srgbClr val="111827"/>
                    </a:solidFill>
                    <a:latin typeface="Arial"/>
                  </a:rPr>
                  <a:t> students studied Mathematics; at least </a:t>
                </a:r>
                <a14:m>
                  <m:oMath xmlns:m="http://schemas.openxmlformats.org/officeDocument/2006/math">
                    <m:r>
                      <a:rPr lang="en-IN" sz="2400" i="1">
                        <a:solidFill>
                          <a:srgbClr val="111827"/>
                        </a:solidFill>
                        <a:latin typeface="Cambria Math" panose="02040503050406030204" pitchFamily="18" charset="0"/>
                      </a:rPr>
                      <m:t>85</m:t>
                    </m:r>
                  </m:oMath>
                </a14:m>
                <a:r>
                  <a:rPr sz="2400" b="0">
                    <a:solidFill>
                      <a:srgbClr val="111827"/>
                    </a:solidFill>
                    <a:latin typeface="Arial"/>
                  </a:rPr>
                  <a:t> and at most </a:t>
                </a:r>
                <a14:m>
                  <m:oMath xmlns:m="http://schemas.openxmlformats.org/officeDocument/2006/math">
                    <m:r>
                      <a:rPr lang="en-IN" sz="2400" i="1">
                        <a:solidFill>
                          <a:srgbClr val="111827"/>
                        </a:solidFill>
                        <a:latin typeface="Cambria Math" panose="02040503050406030204" pitchFamily="18" charset="0"/>
                      </a:rPr>
                      <m:t>95</m:t>
                    </m:r>
                  </m:oMath>
                </a14:m>
                <a:r>
                  <a:rPr sz="2400" b="0">
                    <a:solidFill>
                      <a:srgbClr val="111827"/>
                    </a:solidFill>
                    <a:latin typeface="Arial"/>
                  </a:rPr>
                  <a:t> studied Physics; at least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 and at most </a:t>
                </a:r>
                <a14:m>
                  <m:oMath xmlns:m="http://schemas.openxmlformats.org/officeDocument/2006/math">
                    <m:r>
                      <a:rPr lang="en-IN" sz="2400" i="1">
                        <a:solidFill>
                          <a:srgbClr val="111827"/>
                        </a:solidFill>
                        <a:latin typeface="Cambria Math" panose="02040503050406030204" pitchFamily="18" charset="0"/>
                      </a:rPr>
                      <m:t>90</m:t>
                    </m:r>
                  </m:oMath>
                </a14:m>
                <a:r>
                  <a:rPr sz="2400" b="0">
                    <a:solidFill>
                      <a:srgbClr val="111827"/>
                    </a:solidFill>
                    <a:latin typeface="Arial"/>
                  </a:rPr>
                  <a:t> studied Chemistry;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studied both Physics and Chemistry;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studied both Chemistry and Mathematics;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studied both Mathematics and Physics and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studied none of these subjects. 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respectively be the least and the most number of students who studied all the three subjects.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 [JEE(Main) April 2024]</a:t>
                </a:r>
                <a:endParaRPr sz="2400">
                  <a:solidFill>
                    <a:srgbClr val="111827"/>
                  </a:solidFill>
                </a:endParaRPr>
              </a:p>
            </p:txBody>
          </p:sp>
        </mc:Choice>
        <mc:Fallback>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survey of </a:t>
                </a:r>
                <a:r>
                  <a:rPr lang="en-IN" sz="2400">
                    <a:solidFill>
                      <a:srgbClr val="111827"/>
                    </a:solidFill>
                    <a:latin typeface="Cambria Math" panose="02040503050406030204" pitchFamily="18" charset="0"/>
                  </a:rPr>
                  <a:t>$220$</a:t>
                </a:r>
                <a:r>
                  <a:rPr sz="2400" b="0">
                    <a:solidFill>
                      <a:srgbClr val="111827"/>
                    </a:solidFill>
                    <a:latin typeface="Arial"/>
                  </a:rPr>
                  <a:t> students of a higher secondary school, it was found that at least </a:t>
                </a:r>
                <a:r>
                  <a:rPr lang="en-IN" sz="2400">
                    <a:solidFill>
                      <a:srgbClr val="111827"/>
                    </a:solidFill>
                    <a:latin typeface="Cambria Math" panose="02040503050406030204" pitchFamily="18" charset="0"/>
                  </a:rPr>
                  <a:t>$125$</a:t>
                </a:r>
                <a:r>
                  <a:rPr sz="2400" b="0">
                    <a:solidFill>
                      <a:srgbClr val="111827"/>
                    </a:solidFill>
                    <a:latin typeface="Arial"/>
                  </a:rPr>
                  <a:t> and at most </a:t>
                </a:r>
                <a:r>
                  <a:rPr lang="en-IN" sz="2400">
                    <a:solidFill>
                      <a:srgbClr val="111827"/>
                    </a:solidFill>
                    <a:latin typeface="Cambria Math" panose="02040503050406030204" pitchFamily="18" charset="0"/>
                  </a:rPr>
                  <a:t>$130$</a:t>
                </a:r>
                <a:r>
                  <a:rPr sz="2400" b="0">
                    <a:solidFill>
                      <a:srgbClr val="111827"/>
                    </a:solidFill>
                    <a:latin typeface="Arial"/>
                  </a:rPr>
                  <a:t> students studied Mathematics; at least </a:t>
                </a:r>
                <a:r>
                  <a:rPr lang="en-IN" sz="2400">
                    <a:solidFill>
                      <a:srgbClr val="111827"/>
                    </a:solidFill>
                    <a:latin typeface="Cambria Math" panose="02040503050406030204" pitchFamily="18" charset="0"/>
                  </a:rPr>
                  <a:t>$85$</a:t>
                </a:r>
                <a:r>
                  <a:rPr sz="2400" b="0">
                    <a:solidFill>
                      <a:srgbClr val="111827"/>
                    </a:solidFill>
                    <a:latin typeface="Arial"/>
                  </a:rPr>
                  <a:t> and at most </a:t>
                </a:r>
                <a:r>
                  <a:rPr lang="en-IN" sz="2400">
                    <a:solidFill>
                      <a:srgbClr val="111827"/>
                    </a:solidFill>
                    <a:latin typeface="Cambria Math" panose="02040503050406030204" pitchFamily="18" charset="0"/>
                  </a:rPr>
                  <a:t>$95$</a:t>
                </a:r>
                <a:r>
                  <a:rPr sz="2400" b="0">
                    <a:solidFill>
                      <a:srgbClr val="111827"/>
                    </a:solidFill>
                    <a:latin typeface="Arial"/>
                  </a:rPr>
                  <a:t> studied Physics; at least </a:t>
                </a:r>
                <a:r>
                  <a:rPr lang="en-IN" sz="2400">
                    <a:solidFill>
                      <a:srgbClr val="111827"/>
                    </a:solidFill>
                    <a:latin typeface="Cambria Math" panose="02040503050406030204" pitchFamily="18" charset="0"/>
                  </a:rPr>
                  <a:t>$75$</a:t>
                </a:r>
                <a:r>
                  <a:rPr sz="2400" b="0">
                    <a:solidFill>
                      <a:srgbClr val="111827"/>
                    </a:solidFill>
                    <a:latin typeface="Arial"/>
                  </a:rPr>
                  <a:t> and at most </a:t>
                </a:r>
                <a:r>
                  <a:rPr lang="en-IN" sz="2400">
                    <a:solidFill>
                      <a:srgbClr val="111827"/>
                    </a:solidFill>
                    <a:latin typeface="Cambria Math" panose="02040503050406030204" pitchFamily="18" charset="0"/>
                  </a:rPr>
                  <a:t>$90$</a:t>
                </a:r>
                <a:r>
                  <a:rPr sz="2400" b="0">
                    <a:solidFill>
                      <a:srgbClr val="111827"/>
                    </a:solidFill>
                    <a:latin typeface="Arial"/>
                  </a:rPr>
                  <a:t> studied Chemistry; </a:t>
                </a:r>
                <a:r>
                  <a:rPr lang="en-IN" sz="2400">
                    <a:solidFill>
                      <a:srgbClr val="111827"/>
                    </a:solidFill>
                    <a:latin typeface="Cambria Math" panose="02040503050406030204" pitchFamily="18" charset="0"/>
                  </a:rPr>
                  <a:t>$30$</a:t>
                </a:r>
                <a:r>
                  <a:rPr sz="2400" b="0">
                    <a:solidFill>
                      <a:srgbClr val="111827"/>
                    </a:solidFill>
                    <a:latin typeface="Arial"/>
                  </a:rPr>
                  <a:t> studied both Physics and Chemistry; </a:t>
                </a:r>
                <a:r>
                  <a:rPr lang="en-IN" sz="2400">
                    <a:solidFill>
                      <a:srgbClr val="111827"/>
                    </a:solidFill>
                    <a:latin typeface="Cambria Math" panose="02040503050406030204" pitchFamily="18" charset="0"/>
                  </a:rPr>
                  <a:t>$50$</a:t>
                </a:r>
                <a:r>
                  <a:rPr sz="2400" b="0">
                    <a:solidFill>
                      <a:srgbClr val="111827"/>
                    </a:solidFill>
                    <a:latin typeface="Arial"/>
                  </a:rPr>
                  <a:t> studied both Chemistry and Mathematics; </a:t>
                </a:r>
                <a:r>
                  <a:rPr lang="en-IN" sz="2400">
                    <a:solidFill>
                      <a:srgbClr val="111827"/>
                    </a:solidFill>
                    <a:latin typeface="Cambria Math" panose="02040503050406030204" pitchFamily="18" charset="0"/>
                  </a:rPr>
                  <a:t>$40$</a:t>
                </a:r>
                <a:r>
                  <a:rPr sz="2400" b="0">
                    <a:solidFill>
                      <a:srgbClr val="111827"/>
                    </a:solidFill>
                    <a:latin typeface="Arial"/>
                  </a:rPr>
                  <a:t> studied both Mathematics and Physics and </a:t>
                </a:r>
                <a:r>
                  <a:rPr lang="en-IN" sz="2400">
                    <a:solidFill>
                      <a:srgbClr val="111827"/>
                    </a:solidFill>
                    <a:latin typeface="Cambria Math" panose="02040503050406030204" pitchFamily="18" charset="0"/>
                  </a:rPr>
                  <a:t>$10$</a:t>
                </a:r>
                <a:r>
                  <a:rPr sz="2400" b="0">
                    <a:solidFill>
                      <a:srgbClr val="111827"/>
                    </a:solidFill>
                    <a:latin typeface="Arial"/>
                  </a:rPr>
                  <a:t> studied none of these subjects. Let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respectively be the least and the most number of students who studied all the three subjects. Then </a:t>
                </a:r>
                <a:r>
                  <a:rPr lang="en-IN" sz="2400">
                    <a:solidFill>
                      <a:srgbClr val="111827"/>
                    </a:solidFill>
                    <a:latin typeface="Cambria Math" panose="02040503050406030204" pitchFamily="18" charset="0"/>
                  </a:rPr>
                  <a:t>$m+n$</a:t>
                </a:r>
                <a:r>
                  <a:rPr sz="2400" b="0">
                    <a:solidFill>
                      <a:srgbClr val="111827"/>
                    </a:solidFill>
                    <a:latin typeface="Arial"/>
                  </a:rPr>
                  <a:t> is equal to ______. [JEE(Main) April 2024]</a:t>
                </a:r>
                <a:endParaRPr sz="2400">
                  <a:solidFill>
                    <a:srgbClr val="111827"/>
                  </a:solidFill>
                </a:endParaRPr>
              </a:p>
            </p:txBody>
          </p:sp>
        </mc:Fallback>
      </mc:AlternateContent>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diagrams and inclusion-exclusion principle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students in all three; the Venn regions fix the total as a function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the extreme set sizes plus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oMath>
                </a14:m>
                <a:r>
                  <a:rPr sz="2400" b="0">
                    <a:solidFill>
                      <a:srgbClr val="78350F"/>
                    </a:solidFill>
                    <a:latin typeface="Arial"/>
                  </a:rPr>
                  <a:t> give the extreme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a:t>
                </a:r>
                <a:r>
                  <a:rPr sz="2400" b="0">
                    <a:solidFill>
                      <a:srgbClr val="78350F"/>
                    </a:solidFill>
                    <a:latin typeface="Arial"/>
                  </a:rPr>
                  <a:t> students in all three; the Venn regions fix the total as a function of </a:t>
                </a:r>
                <a:r>
                  <a:rPr lang="en-IN" sz="2400">
                    <a:solidFill>
                      <a:srgbClr val="78350F"/>
                    </a:solidFill>
                    <a:latin typeface="Cambria Math" panose="02040503050406030204" pitchFamily="18" charset="0"/>
                  </a:rPr>
                  <a:t>$x$</a:t>
                </a:r>
                <a:r>
                  <a:rPr sz="2400" b="0">
                    <a:solidFill>
                      <a:srgbClr val="78350F"/>
                    </a:solidFill>
                    <a:latin typeface="Arial"/>
                  </a:rPr>
                  <a:t>, and the extreme set sizes plus </a:t>
                </a:r>
                <a:r>
                  <a:rPr lang="en-IN" sz="2400">
                    <a:solidFill>
                      <a:srgbClr val="78350F"/>
                    </a:solidFill>
                    <a:latin typeface="Cambria Math" panose="02040503050406030204" pitchFamily="18" charset="0"/>
                  </a:rPr>
                  <a:t>$x\le30$</a:t>
                </a:r>
                <a:r>
                  <a:rPr sz="2400" b="0">
                    <a:solidFill>
                      <a:srgbClr val="78350F"/>
                    </a:solidFill>
                    <a:latin typeface="Arial"/>
                  </a:rPr>
                  <a:t> give the extreme </a:t>
                </a:r>
                <a:r>
                  <a:rPr lang="en-IN" sz="2400">
                    <a:solidFill>
                      <a:srgbClr val="78350F"/>
                    </a:solidFill>
                    <a:latin typeface="Cambria Math" panose="02040503050406030204" pitchFamily="18" charset="0"/>
                  </a:rPr>
                  <a:t>$x$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students study all three subjects. The regions of the Venn diagram: only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students study all three subjects. The regions of the Venn diagram: only </a:t>
                </a:r>
                <a:r>
                  <a:rPr lang="en-IN" sz="2400">
                    <a:solidFill>
                      <a:srgbClr val="111827"/>
                    </a:solidFill>
                    <a:latin typeface="Cambria Math" panose="02040503050406030204" pitchFamily="18" charset="0"/>
                  </a:rPr>
                  <a:t>$M\cap P$</a:t>
                </a:r>
                <a:r>
                  <a:rPr sz="2400" b="0">
                    <a:solidFill>
                      <a:srgbClr val="111827"/>
                    </a:solidFill>
                    <a:latin typeface="Arial"/>
                  </a:rPr>
                  <a:t> is </a:t>
                </a:r>
                <a:r>
                  <a:rPr lang="en-IN" sz="2400">
                    <a:solidFill>
                      <a:srgbClr val="111827"/>
                    </a:solidFill>
                    <a:latin typeface="Cambria Math" panose="02040503050406030204" pitchFamily="18" charset="0"/>
                  </a:rPr>
                  <a:t>$40-x$</a:t>
                </a:r>
                <a:r>
                  <a:rPr sz="2400" b="0">
                    <a:solidFill>
                      <a:srgbClr val="111827"/>
                    </a:solidFill>
                    <a:latin typeface="Arial"/>
                  </a:rPr>
                  <a:t>, only </a:t>
                </a:r>
                <a:r>
                  <a:rPr lang="en-IN" sz="2400">
                    <a:solidFill>
                      <a:srgbClr val="111827"/>
                    </a:solidFill>
                    <a:latin typeface="Cambria Math" panose="02040503050406030204" pitchFamily="18" charset="0"/>
                  </a:rPr>
                  <a:t>$P\cap C$</a:t>
                </a:r>
                <a:r>
                  <a:rPr sz="2400" b="0">
                    <a:solidFill>
                      <a:srgbClr val="111827"/>
                    </a:solidFill>
                    <a:latin typeface="Arial"/>
                  </a:rPr>
                  <a:t> is </a:t>
                </a:r>
                <a:r>
                  <a:rPr lang="en-IN" sz="2400">
                    <a:solidFill>
                      <a:srgbClr val="111827"/>
                    </a:solidFill>
                    <a:latin typeface="Cambria Math" panose="02040503050406030204" pitchFamily="18" charset="0"/>
                  </a:rPr>
                  <a:t>$30-x$</a:t>
                </a:r>
                <a:r>
                  <a:rPr sz="2400" b="0">
                    <a:solidFill>
                      <a:srgbClr val="111827"/>
                    </a:solidFill>
                    <a:latin typeface="Arial"/>
                  </a:rPr>
                  <a:t>, only </a:t>
                </a:r>
                <a:r>
                  <a:rPr lang="en-IN" sz="2400">
                    <a:solidFill>
                      <a:srgbClr val="111827"/>
                    </a:solidFill>
                    <a:latin typeface="Cambria Math" panose="02040503050406030204" pitchFamily="18" charset="0"/>
                  </a:rPr>
                  <a:t>$C\cap M$</a:t>
                </a:r>
                <a:r>
                  <a:rPr sz="2400" b="0">
                    <a:solidFill>
                      <a:srgbClr val="111827"/>
                    </a:solidFill>
                    <a:latin typeface="Arial"/>
                  </a:rPr>
                  <a:t> is </a:t>
                </a:r>
                <a:r>
                  <a:rPr lang="en-IN" sz="2400">
                    <a:solidFill>
                      <a:srgbClr val="111827"/>
                    </a:solidFill>
                    <a:latin typeface="Cambria Math" panose="02040503050406030204" pitchFamily="18" charset="0"/>
                  </a:rPr>
                  <a:t>$50-x$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(the largest sets): only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all regions and the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outside: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This is the least value,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(the smallest sets): only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total is </a:t>
                </a:r>
                <a14:m>
                  <m:oMath xmlns:m="http://schemas.openxmlformats.org/officeDocument/2006/math">
                    <m:r>
                      <a:rPr lang="en-IN" sz="2400" i="1">
                        <a:solidFill>
                          <a:srgbClr val="111827"/>
                        </a:solidFill>
                        <a:latin typeface="Cambria Math" panose="02040503050406030204" pitchFamily="18" charset="0"/>
                      </a:rPr>
                      <m:t>175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$=M-(40-x)-(50-x)-x=M-90+x$</a:t>
                </a:r>
                <a:r>
                  <a:rPr sz="2400" b="0">
                    <a:solidFill>
                      <a:srgbClr val="111827"/>
                    </a:solidFill>
                    <a:latin typeface="Arial"/>
                  </a:rPr>
                  <a:t>; only </a:t>
                </a:r>
                <a:r>
                  <a:rPr lang="en-IN" sz="2400">
                    <a:solidFill>
                      <a:srgbClr val="111827"/>
                    </a:solidFill>
                    <a:latin typeface="Cambria Math" panose="02040503050406030204" pitchFamily="18" charset="0"/>
                  </a:rPr>
                  <a:t>$P=P-70+x$</a:t>
                </a:r>
                <a:r>
                  <a:rPr sz="2400" b="0">
                    <a:solidFill>
                      <a:srgbClr val="111827"/>
                    </a:solidFill>
                    <a:latin typeface="Arial"/>
                  </a:rPr>
                  <a:t>; only </a:t>
                </a:r>
                <a:r>
                  <a:rPr lang="en-IN" sz="2400">
                    <a:solidFill>
                      <a:srgbClr val="111827"/>
                    </a:solidFill>
                    <a:latin typeface="Cambria Math" panose="02040503050406030204" pitchFamily="18" charset="0"/>
                  </a:rPr>
                  <a:t>$C=C-80+x$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$M=130,\ P=95,\ C=90$</a:t>
                </a:r>
                <a:r>
                  <a:rPr sz="2400" b="0">
                    <a:solidFill>
                      <a:srgbClr val="111827"/>
                    </a:solidFill>
                    <a:latin typeface="Arial"/>
                  </a:rPr>
                  <a:t> (the largest sets): only </a:t>
                </a:r>
                <a:r>
                  <a:rPr lang="en-IN" sz="2400">
                    <a:solidFill>
                      <a:srgbClr val="111827"/>
                    </a:solidFill>
                    <a:latin typeface="Cambria Math" panose="02040503050406030204" pitchFamily="18" charset="0"/>
                  </a:rPr>
                  <a:t>$M=40+x$</a:t>
                </a:r>
                <a:r>
                  <a:rPr sz="2400" b="0">
                    <a:solidFill>
                      <a:srgbClr val="111827"/>
                    </a:solidFill>
                    <a:latin typeface="Arial"/>
                  </a:rPr>
                  <a:t>, only </a:t>
                </a:r>
                <a:r>
                  <a:rPr lang="en-IN" sz="2400">
                    <a:solidFill>
                      <a:srgbClr val="111827"/>
                    </a:solidFill>
                    <a:latin typeface="Cambria Math" panose="02040503050406030204" pitchFamily="18" charset="0"/>
                  </a:rPr>
                  <a:t>$P=25+x$</a:t>
                </a:r>
                <a:r>
                  <a:rPr sz="2400" b="0">
                    <a:solidFill>
                      <a:srgbClr val="111827"/>
                    </a:solidFill>
                    <a:latin typeface="Arial"/>
                  </a:rPr>
                  <a:t>, only </a:t>
                </a:r>
                <a:r>
                  <a:rPr lang="en-IN" sz="2400">
                    <a:solidFill>
                      <a:srgbClr val="111827"/>
                    </a:solidFill>
                    <a:latin typeface="Cambria Math" panose="02040503050406030204" pitchFamily="18" charset="0"/>
                  </a:rPr>
                  <a:t>$C=10+x$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all regions and the </a:t>
                </a:r>
                <a:r>
                  <a:rPr lang="en-IN" sz="2400">
                    <a:solidFill>
                      <a:srgbClr val="111827"/>
                    </a:solidFill>
                    <a:latin typeface="Cambria Math" panose="02040503050406030204" pitchFamily="18" charset="0"/>
                  </a:rPr>
                  <a:t>$10$</a:t>
                </a:r>
                <a:r>
                  <a:rPr sz="2400" b="0">
                    <a:solidFill>
                      <a:srgbClr val="111827"/>
                    </a:solidFill>
                    <a:latin typeface="Arial"/>
                  </a:rPr>
                  <a:t> outside: </a:t>
                </a:r>
                <a:r>
                  <a:rPr lang="en-IN" sz="2400">
                    <a:solidFill>
                      <a:srgbClr val="111827"/>
                    </a:solidFill>
                    <a:latin typeface="Cambria Math" panose="02040503050406030204" pitchFamily="18" charset="0"/>
                  </a:rPr>
                  <a:t>$(40+x)+(40-x)+(25+x)+(50-x)+x+(30-x)+(10+x)+10=205+x=220$</a:t>
                </a:r>
                <a:r>
                  <a:rPr sz="2400" b="0">
                    <a:solidFill>
                      <a:srgbClr val="111827"/>
                    </a:solidFill>
                    <a:latin typeface="Arial"/>
                  </a:rPr>
                  <a:t>, so </a:t>
                </a:r>
                <a:r>
                  <a:rPr lang="en-IN" sz="2400">
                    <a:solidFill>
                      <a:srgbClr val="111827"/>
                    </a:solidFill>
                    <a:latin typeface="Cambria Math" panose="02040503050406030204" pitchFamily="18" charset="0"/>
                  </a:rPr>
                  <a:t>$x=15$</a:t>
                </a:r>
                <a:r>
                  <a:rPr sz="2400" b="0">
                    <a:solidFill>
                      <a:srgbClr val="111827"/>
                    </a:solidFill>
                    <a:latin typeface="Arial"/>
                  </a:rPr>
                  <a:t>. This is the least value, </a:t>
                </a:r>
                <a:r>
                  <a:rPr lang="en-IN" sz="2400">
                    <a:solidFill>
                      <a:srgbClr val="111827"/>
                    </a:solidFill>
                    <a:latin typeface="Cambria Math" panose="02040503050406030204" pitchFamily="18" charset="0"/>
                  </a:rPr>
                  <a:t>$m=15$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$M=125,\ P=85,\ C=75$</a:t>
                </a:r>
                <a:r>
                  <a:rPr sz="2400" b="0">
                    <a:solidFill>
                      <a:srgbClr val="111827"/>
                    </a:solidFill>
                    <a:latin typeface="Arial"/>
                  </a:rPr>
                  <a:t> (the smallest sets): only </a:t>
                </a:r>
                <a:r>
                  <a:rPr lang="en-IN" sz="2400">
                    <a:solidFill>
                      <a:srgbClr val="111827"/>
                    </a:solidFill>
                    <a:latin typeface="Cambria Math" panose="02040503050406030204" pitchFamily="18" charset="0"/>
                  </a:rPr>
                  <a:t>$M=35+x$</a:t>
                </a:r>
                <a:r>
                  <a:rPr sz="2400" b="0">
                    <a:solidFill>
                      <a:srgbClr val="111827"/>
                    </a:solidFill>
                    <a:latin typeface="Arial"/>
                  </a:rPr>
                  <a:t>, only </a:t>
                </a:r>
                <a:r>
                  <a:rPr lang="en-IN" sz="2400">
                    <a:solidFill>
                      <a:srgbClr val="111827"/>
                    </a:solidFill>
                    <a:latin typeface="Cambria Math" panose="02040503050406030204" pitchFamily="18" charset="0"/>
                  </a:rPr>
                  <a:t>$P=15+x$</a:t>
                </a:r>
                <a:r>
                  <a:rPr sz="2400" b="0">
                    <a:solidFill>
                      <a:srgbClr val="111827"/>
                    </a:solidFill>
                    <a:latin typeface="Arial"/>
                  </a:rPr>
                  <a:t>, only </a:t>
                </a:r>
                <a:r>
                  <a:rPr lang="en-IN" sz="2400">
                    <a:solidFill>
                      <a:srgbClr val="111827"/>
                    </a:solidFill>
                    <a:latin typeface="Cambria Math" panose="02040503050406030204" pitchFamily="18" charset="0"/>
                  </a:rPr>
                  <a:t>$C=x-5$</a:t>
                </a:r>
                <a:r>
                  <a:rPr sz="2400" b="0">
                    <a:solidFill>
                      <a:srgbClr val="111827"/>
                    </a:solidFill>
                    <a:latin typeface="Arial"/>
                  </a:rPr>
                  <a:t> and the total is </a:t>
                </a:r>
                <a:r>
                  <a:rPr lang="en-IN" sz="2400">
                    <a:solidFill>
                      <a:srgbClr val="111827"/>
                    </a:solidFill>
                    <a:latin typeface="Cambria Math" panose="02040503050406030204" pitchFamily="18" charset="0"/>
                  </a:rPr>
                  <a:t>$175+x=220$</a:t>
                </a:r>
                <a:r>
                  <a:rPr sz="2400" b="0">
                    <a:solidFill>
                      <a:srgbClr val="111827"/>
                    </a:solidFill>
                    <a:latin typeface="Arial"/>
                  </a:rPr>
                  <a:t>, so </a:t>
                </a:r>
                <a:r>
                  <a:rPr lang="en-IN" sz="2400">
                    <a:solidFill>
                      <a:srgbClr val="111827"/>
                    </a:solidFill>
                    <a:latin typeface="Cambria Math" panose="02040503050406030204" pitchFamily="18" charset="0"/>
                  </a:rPr>
                  <a:t>$x=45$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is impossible: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students study both Physics and Chemistry,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the sets can be made to fit (e.g.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regions all non-negative). So the greatest value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$x=45$</a:t>
                </a:r>
                <a:r>
                  <a:rPr sz="2400" b="0">
                    <a:solidFill>
                      <a:srgbClr val="111827"/>
                    </a:solidFill>
                    <a:latin typeface="Arial"/>
                  </a:rPr>
                  <a:t> is impossible: </a:t>
                </a:r>
                <a:r>
                  <a:rPr lang="en-IN" sz="2400">
                    <a:solidFill>
                      <a:srgbClr val="111827"/>
                    </a:solidFill>
                    <a:latin typeface="Cambria Math" panose="02040503050406030204" pitchFamily="18" charset="0"/>
                  </a:rPr>
                  <a:t>$30$</a:t>
                </a:r>
                <a:r>
                  <a:rPr sz="2400" b="0">
                    <a:solidFill>
                      <a:srgbClr val="111827"/>
                    </a:solidFill>
                    <a:latin typeface="Arial"/>
                  </a:rPr>
                  <a:t> students study both Physics and Chemistry, so </a:t>
                </a:r>
                <a:r>
                  <a:rPr lang="en-IN" sz="2400">
                    <a:solidFill>
                      <a:srgbClr val="111827"/>
                    </a:solidFill>
                    <a:latin typeface="Cambria Math" panose="02040503050406030204" pitchFamily="18" charset="0"/>
                  </a:rPr>
                  <a:t>$x\le30$</a:t>
                </a:r>
                <a:r>
                  <a:rPr sz="2400" b="0">
                    <a:solidFill>
                      <a:srgbClr val="111827"/>
                    </a:solidFill>
                    <a:latin typeface="Arial"/>
                  </a:rPr>
                  <a:t> (also </a:t>
                </a:r>
                <a:r>
                  <a:rPr lang="en-IN" sz="2400">
                    <a:solidFill>
                      <a:srgbClr val="111827"/>
                    </a:solidFill>
                    <a:latin typeface="Cambria Math" panose="02040503050406030204" pitchFamily="18" charset="0"/>
                  </a:rPr>
                  <a:t>$30-x\ge0$</a:t>
                </a:r>
                <a:r>
                  <a:rPr sz="2400" b="0">
                    <a:solidFill>
                      <a:srgbClr val="111827"/>
                    </a:solidFill>
                    <a:latin typeface="Arial"/>
                  </a:rPr>
                  <a:t>). With </a:t>
                </a:r>
                <a:r>
                  <a:rPr lang="en-IN" sz="2400">
                    <a:solidFill>
                      <a:srgbClr val="111827"/>
                    </a:solidFill>
                    <a:latin typeface="Cambria Math" panose="02040503050406030204" pitchFamily="18" charset="0"/>
                  </a:rPr>
                  <a:t>$x=30$</a:t>
                </a:r>
                <a:r>
                  <a:rPr sz="2400" b="0">
                    <a:solidFill>
                      <a:srgbClr val="111827"/>
                    </a:solidFill>
                    <a:latin typeface="Arial"/>
                  </a:rPr>
                  <a:t> the sets can be made to fit (e.g. </a:t>
                </a:r>
                <a:r>
                  <a:rPr lang="en-IN" sz="2400">
                    <a:solidFill>
                      <a:srgbClr val="111827"/>
                    </a:solidFill>
                    <a:latin typeface="Cambria Math" panose="02040503050406030204" pitchFamily="18" charset="0"/>
                  </a:rPr>
                  <a:t>$M=125,P=95,C=80$</a:t>
                </a:r>
                <a:r>
                  <a:rPr sz="2400" b="0">
                    <a:solidFill>
                      <a:srgbClr val="111827"/>
                    </a:solidFill>
                    <a:latin typeface="Arial"/>
                  </a:rPr>
                  <a:t>, regions all non-negative). So the greatest value is </a:t>
                </a:r>
                <a:r>
                  <a:rPr lang="en-IN" sz="2400">
                    <a:solidFill>
                      <a:srgbClr val="111827"/>
                    </a:solidFill>
                    <a:latin typeface="Cambria Math" panose="02040503050406030204" pitchFamily="18" charset="0"/>
                  </a:rPr>
                  <a:t>$n=30$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$m+n=15+30=45$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45</a:t>
            </a:r>
            <a:endParaRPr sz="2800">
              <a:solidFill>
                <a:srgbClr val="15803D"/>
              </a:solidFill>
            </a:endParaRP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the regions: inclusion-exclusion gives </a:t>
                </a:r>
                <a14:m>
                  <m:oMath xmlns:m="http://schemas.openxmlformats.org/officeDocument/2006/math">
                    <m:r>
                      <a:rPr lang="en-IN" sz="2400" i="1">
                        <a:solidFill>
                          <a:srgbClr val="78350F"/>
                        </a:solidFill>
                        <a:latin typeface="Cambria Math" panose="02040503050406030204" pitchFamily="18" charset="0"/>
                      </a:rPr>
                      <m:t>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330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the given size ranges bound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the regions: inclusion-exclusion gives </a:t>
                </a:r>
                <a:r>
                  <a:rPr lang="en-IN" sz="2400">
                    <a:solidFill>
                      <a:srgbClr val="78350F"/>
                    </a:solidFill>
                    <a:latin typeface="Cambria Math" panose="02040503050406030204" pitchFamily="18" charset="0"/>
                  </a:rPr>
                  <a:t>$M+P+C=330-x$</a:t>
                </a:r>
                <a:r>
                  <a:rPr sz="2400" b="0">
                    <a:solidFill>
                      <a:srgbClr val="78350F"/>
                    </a:solidFill>
                    <a:latin typeface="Arial"/>
                  </a:rPr>
                  <a:t>, and the given size ranges bound </a:t>
                </a:r>
                <a:r>
                  <a:rPr lang="en-IN" sz="2400">
                    <a:solidFill>
                      <a:srgbClr val="78350F"/>
                    </a:solidFill>
                    <a:latin typeface="Cambria Math" panose="02040503050406030204" pitchFamily="18" charset="0"/>
                  </a:rPr>
                  <a:t>$x$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Students studying at least one subject: </a:t>
                </a:r>
                <a14:m>
                  <m:oMath xmlns:m="http://schemas.openxmlformats.org/officeDocument/2006/math">
                    <m:r>
                      <a:rPr lang="en-IN" sz="2400" i="1">
                        <a:solidFill>
                          <a:srgbClr val="111827"/>
                        </a:solidFill>
                        <a:latin typeface="Cambria Math" panose="02040503050406030204" pitchFamily="18" charset="0"/>
                      </a:rPr>
                      <m:t>220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ranges give </a:t>
                </a:r>
                <a14:m>
                  <m:oMath xmlns:m="http://schemas.openxmlformats.org/officeDocument/2006/math">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Students studying at least one subject: </a:t>
                </a:r>
                <a:r>
                  <a:rPr lang="en-IN" sz="2400">
                    <a:solidFill>
                      <a:srgbClr val="111827"/>
                    </a:solidFill>
                    <a:latin typeface="Cambria Math" panose="02040503050406030204" pitchFamily="18" charset="0"/>
                  </a:rPr>
                  <a:t>$220-10=210$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$210=M+P+C-(40+30+50)+x$</a:t>
                </a:r>
                <a:r>
                  <a:rPr sz="2400" b="0">
                    <a:solidFill>
                      <a:srgbClr val="111827"/>
                    </a:solidFill>
                    <a:latin typeface="Arial"/>
                  </a:rPr>
                  <a:t>, so </a:t>
                </a:r>
                <a:r>
                  <a:rPr lang="en-IN" sz="2400">
                    <a:solidFill>
                      <a:srgbClr val="111827"/>
                    </a:solidFill>
                    <a:latin typeface="Cambria Math" panose="02040503050406030204" pitchFamily="18" charset="0"/>
                  </a:rPr>
                  <a:t>$M+P+C=330-x$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ranges give </a:t>
                </a:r>
                <a:r>
                  <a:rPr lang="en-IN" sz="2400">
                    <a:solidFill>
                      <a:srgbClr val="111827"/>
                    </a:solidFill>
                    <a:latin typeface="Cambria Math" panose="02040503050406030204" pitchFamily="18" charset="0"/>
                  </a:rPr>
                  <a:t>$125+85+75=285\le M+P+C\le130+95+90=315$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all three subjects lie inside Physics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Chemistry,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ends occur: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Venn regions are then non-negative.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$285\le330-x\le315$</a:t>
                </a:r>
                <a:r>
                  <a:rPr sz="2400" b="0">
                    <a:solidFill>
                      <a:srgbClr val="111827"/>
                    </a:solidFill>
                    <a:latin typeface="Arial"/>
                  </a:rPr>
                  <a:t>, i.e. </a:t>
                </a:r>
                <a:r>
                  <a:rPr lang="en-IN" sz="2400">
                    <a:solidFill>
                      <a:srgbClr val="111827"/>
                    </a:solidFill>
                    <a:latin typeface="Cambria Math" panose="02040503050406030204" pitchFamily="18" charset="0"/>
                  </a:rPr>
                  <a:t>$15\le x\le45$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all three subjects lie inside Physics </a:t>
                </a:r>
                <a:r>
                  <a:rPr lang="en-IN" sz="2400">
                    <a:solidFill>
                      <a:srgbClr val="111827"/>
                    </a:solidFill>
                    <a:latin typeface="Cambria Math" panose="02040503050406030204" pitchFamily="18" charset="0"/>
                  </a:rPr>
                  <a:t>$\cap$</a:t>
                </a:r>
                <a:r>
                  <a:rPr sz="2400" b="0">
                    <a:solidFill>
                      <a:srgbClr val="111827"/>
                    </a:solidFill>
                    <a:latin typeface="Arial"/>
                  </a:rPr>
                  <a:t> Chemistry, so </a:t>
                </a:r>
                <a:r>
                  <a:rPr lang="en-IN" sz="2400">
                    <a:solidFill>
                      <a:srgbClr val="111827"/>
                    </a:solidFill>
                    <a:latin typeface="Cambria Math" panose="02040503050406030204" pitchFamily="18" charset="0"/>
                  </a:rPr>
                  <a:t>$x\le30$</a:t>
                </a:r>
                <a:r>
                  <a:rPr sz="2400" b="0">
                    <a:solidFill>
                      <a:srgbClr val="111827"/>
                    </a:solidFill>
                    <a:latin typeface="Arial"/>
                  </a:rPr>
                  <a:t>. Hence </a:t>
                </a:r>
                <a:r>
                  <a:rPr lang="en-IN" sz="2400">
                    <a:solidFill>
                      <a:srgbClr val="111827"/>
                    </a:solidFill>
                    <a:latin typeface="Cambria Math" panose="02040503050406030204" pitchFamily="18" charset="0"/>
                  </a:rPr>
                  <a:t>$15\le x\le30$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ends occur: </a:t>
                </a:r>
                <a:r>
                  <a:rPr lang="en-IN" sz="2400">
                    <a:solidFill>
                      <a:srgbClr val="111827"/>
                    </a:solidFill>
                    <a:latin typeface="Cambria Math" panose="02040503050406030204" pitchFamily="18" charset="0"/>
                  </a:rPr>
                  <a:t>$x=15$</a:t>
                </a:r>
                <a:r>
                  <a:rPr sz="2400" b="0">
                    <a:solidFill>
                      <a:srgbClr val="111827"/>
                    </a:solidFill>
                    <a:latin typeface="Arial"/>
                  </a:rPr>
                  <a:t> with </a:t>
                </a:r>
                <a:r>
                  <a:rPr lang="en-IN" sz="2400">
                    <a:solidFill>
                      <a:srgbClr val="111827"/>
                    </a:solidFill>
                    <a:latin typeface="Cambria Math" panose="02040503050406030204" pitchFamily="18" charset="0"/>
                  </a:rPr>
                  <a:t>$(M,P,C)=(130,95,90)$</a:t>
                </a:r>
                <a:r>
                  <a:rPr sz="2400" b="0">
                    <a:solidFill>
                      <a:srgbClr val="111827"/>
                    </a:solidFill>
                    <a:latin typeface="Arial"/>
                  </a:rPr>
                  <a:t> and </a:t>
                </a:r>
                <a:r>
                  <a:rPr lang="en-IN" sz="2400">
                    <a:solidFill>
                      <a:srgbClr val="111827"/>
                    </a:solidFill>
                    <a:latin typeface="Cambria Math" panose="02040503050406030204" pitchFamily="18" charset="0"/>
                  </a:rPr>
                  <a:t>$x=30$</a:t>
                </a:r>
                <a:r>
                  <a:rPr sz="2400" b="0">
                    <a:solidFill>
                      <a:srgbClr val="111827"/>
                    </a:solidFill>
                    <a:latin typeface="Arial"/>
                  </a:rPr>
                  <a:t> with </a:t>
                </a:r>
                <a:r>
                  <a:rPr lang="en-IN" sz="2400">
                    <a:solidFill>
                      <a:srgbClr val="111827"/>
                    </a:solidFill>
                    <a:latin typeface="Cambria Math" panose="02040503050406030204" pitchFamily="18" charset="0"/>
                  </a:rPr>
                  <a:t>$M+P+C=300$</a:t>
                </a:r>
                <a:r>
                  <a:rPr sz="2400" b="0">
                    <a:solidFill>
                      <a:srgbClr val="111827"/>
                    </a:solidFill>
                    <a:latin typeface="Arial"/>
                  </a:rPr>
                  <a:t>, e.g. </a:t>
                </a:r>
                <a:r>
                  <a:rPr lang="en-IN" sz="2400">
                    <a:solidFill>
                      <a:srgbClr val="111827"/>
                    </a:solidFill>
                    <a:latin typeface="Cambria Math" panose="02040503050406030204" pitchFamily="18" charset="0"/>
                  </a:rPr>
                  <a:t>$(125,95,80)$</a:t>
                </a:r>
                <a:r>
                  <a:rPr sz="2400" b="0">
                    <a:solidFill>
                      <a:srgbClr val="111827"/>
                    </a:solidFill>
                    <a:latin typeface="Arial"/>
                  </a:rPr>
                  <a:t>; all Venn regions are then non-negative. So </a:t>
                </a:r>
                <a:r>
                  <a:rPr lang="en-IN" sz="2400">
                    <a:solidFill>
                      <a:srgbClr val="111827"/>
                    </a:solidFill>
                    <a:latin typeface="Cambria Math" panose="02040503050406030204" pitchFamily="18" charset="0"/>
                  </a:rPr>
                  <a:t>$m=15$</a:t>
                </a:r>
                <a:r>
                  <a:rPr sz="2400" b="0">
                    <a:solidFill>
                      <a:srgbClr val="111827"/>
                    </a:solidFill>
                    <a:latin typeface="Arial"/>
                  </a:rPr>
                  <a:t>, </a:t>
                </a:r>
                <a:r>
                  <a:rPr lang="en-IN" sz="2400">
                    <a:solidFill>
                      <a:srgbClr val="111827"/>
                    </a:solidFill>
                    <a:latin typeface="Cambria Math" panose="02040503050406030204" pitchFamily="18" charset="0"/>
                  </a:rPr>
                  <a:t>$n=30$</a:t>
                </a:r>
                <a:r>
                  <a:rPr sz="2400" b="0">
                    <a:solidFill>
                      <a:srgbClr val="111827"/>
                    </a:solidFill>
                    <a:latin typeface="Arial"/>
                  </a:rPr>
                  <a:t> and </a:t>
                </a:r>
                <a:r>
                  <a:rPr lang="en-IN" sz="2400">
                    <a:solidFill>
                      <a:srgbClr val="111827"/>
                    </a:solidFill>
                    <a:latin typeface="Cambria Math" panose="02040503050406030204" pitchFamily="18" charset="0"/>
                  </a:rPr>
                  <a:t>$m+n=45$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45</a:t>
            </a:r>
            <a:endParaRPr sz="2800">
              <a:solidFill>
                <a:srgbClr val="15803D"/>
              </a:solidFill>
            </a:endParaRP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Three-set inclusion-exclusion: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combine the inclusion-exclusion bound with the trivial bound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oMath>
                </a14:m>
                <a:r>
                  <a:rPr sz="2400" b="0">
                    <a:solidFill>
                      <a:srgbClr val="111827"/>
                    </a:solidFill>
                    <a:latin typeface="Arial"/>
                  </a:rPr>
                  <a:t> of the pairwise intersections; the formula alone can give an infeasible value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Region 'only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must be non-negative; and each 'only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region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Check feasibility at each extreme.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stated 'both' count includes the triple intersection (as here), the exclusive regions are 'both' minus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Three-set inclusion-exclusion: </a:t>
                </a:r>
                <a:r>
                  <a:rPr lang="en-IN" sz="2400">
                    <a:solidFill>
                      <a:srgbClr val="111827"/>
                    </a:solidFill>
                    <a:latin typeface="Cambria Math" panose="02040503050406030204" pitchFamily="18" charset="0"/>
                  </a:rPr>
                  <a:t>$|M\cup P\cup C|=|M|+|P|+|C|-|M\cap P|-|P\cap C|-|C\cap M|+|M\cap P\cap C|$</a:t>
                </a:r>
                <a:r>
                  <a:rPr sz="2400" b="0">
                    <a:solidFill>
                      <a:srgbClr val="111827"/>
                    </a:solidFill>
                    <a:latin typeface="Arial"/>
                  </a:rPr>
                  <a:t>. Check: </a:t>
                </a:r>
                <a:r>
                  <a:rPr lang="en-IN" sz="2400">
                    <a:solidFill>
                      <a:srgbClr val="111827"/>
                    </a:solidFill>
                    <a:latin typeface="Cambria Math" panose="02040503050406030204" pitchFamily="18" charset="0"/>
                  </a:rPr>
                  <a:t>$M=\{1,2,3\},P=\{2,3,4\},C=\{3,4,5\}$</a:t>
                </a:r>
                <a:r>
                  <a:rPr sz="2400" b="0">
                    <a:solidFill>
                      <a:srgbClr val="111827"/>
                    </a:solidFill>
                    <a:latin typeface="Arial"/>
                  </a:rPr>
                  <a:t>: </a:t>
                </a:r>
                <a:r>
                  <a:rPr lang="en-IN" sz="2400">
                    <a:solidFill>
                      <a:srgbClr val="111827"/>
                    </a:solidFill>
                    <a:latin typeface="Cambria Math" panose="02040503050406030204" pitchFamily="18" charset="0"/>
                  </a:rPr>
                  <a:t>$9-2-2-1+1=5$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combine the inclusion-exclusion bound with the trivial bound </a:t>
                </a:r>
                <a:r>
                  <a:rPr lang="en-IN" sz="2400">
                    <a:solidFill>
                      <a:srgbClr val="111827"/>
                    </a:solidFill>
                    <a:latin typeface="Cambria Math" panose="02040503050406030204" pitchFamily="18" charset="0"/>
                  </a:rPr>
                  <a:t>$|M\cap P\cap C|\le\min$</a:t>
                </a:r>
                <a:r>
                  <a:rPr sz="2400" b="0">
                    <a:solidFill>
                      <a:srgbClr val="111827"/>
                    </a:solidFill>
                    <a:latin typeface="Arial"/>
                  </a:rPr>
                  <a:t> of the pairwise intersections; the formula alone can give an infeasible value (</a:t>
                </a:r>
                <a:r>
                  <a:rPr lang="en-IN" sz="2400">
                    <a:solidFill>
                      <a:srgbClr val="111827"/>
                    </a:solidFill>
                    <a:latin typeface="Cambria Math" panose="02040503050406030204" pitchFamily="18" charset="0"/>
                  </a:rPr>
                  <a:t>$45$</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Region 'only </a:t>
                </a:r>
                <a:r>
                  <a:rPr lang="en-IN" sz="2400">
                    <a:solidFill>
                      <a:srgbClr val="111827"/>
                    </a:solidFill>
                    <a:latin typeface="Cambria Math" panose="02040503050406030204" pitchFamily="18" charset="0"/>
                  </a:rPr>
                  <a:t>$M\cap P$</a:t>
                </a:r>
                <a:r>
                  <a:rPr sz="2400" b="0">
                    <a:solidFill>
                      <a:srgbClr val="111827"/>
                    </a:solidFill>
                    <a:latin typeface="Arial"/>
                  </a:rPr>
                  <a:t>' </a:t>
                </a:r>
                <a:r>
                  <a:rPr lang="en-IN" sz="2400">
                    <a:solidFill>
                      <a:srgbClr val="111827"/>
                    </a:solidFill>
                    <a:latin typeface="Cambria Math" panose="02040503050406030204" pitchFamily="18" charset="0"/>
                  </a:rPr>
                  <a:t>$=|M\cap P|-x$</a:t>
                </a:r>
                <a:r>
                  <a:rPr sz="2400" b="0">
                    <a:solidFill>
                      <a:srgbClr val="111827"/>
                    </a:solidFill>
                    <a:latin typeface="Arial"/>
                  </a:rPr>
                  <a:t> must be non-negative; and each 'only </a:t>
                </a:r>
                <a:r>
                  <a:rPr lang="en-IN" sz="2400">
                    <a:solidFill>
                      <a:srgbClr val="111827"/>
                    </a:solidFill>
                    <a:latin typeface="Cambria Math" panose="02040503050406030204" pitchFamily="18" charset="0"/>
                  </a:rPr>
                  <a:t>$M$</a:t>
                </a:r>
                <a:r>
                  <a:rPr sz="2400" b="0">
                    <a:solidFill>
                      <a:srgbClr val="111827"/>
                    </a:solidFill>
                    <a:latin typeface="Arial"/>
                  </a:rPr>
                  <a:t>' region </a:t>
                </a:r>
                <a:r>
                  <a:rPr lang="en-IN" sz="2400">
                    <a:solidFill>
                      <a:srgbClr val="111827"/>
                    </a:solidFill>
                    <a:latin typeface="Cambria Math" panose="02040503050406030204" pitchFamily="18" charset="0"/>
                  </a:rPr>
                  <a:t>$=|M|-|M\cap P|-|M\cap C|+x\ge0$</a:t>
                </a:r>
                <a:r>
                  <a:rPr sz="2400" b="0">
                    <a:solidFill>
                      <a:srgbClr val="111827"/>
                    </a:solidFill>
                    <a:latin typeface="Arial"/>
                  </a:rPr>
                  <a:t>. Check feasibility at each extreme.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stated 'both' count includes the triple intersection (as here), the exclusive regions are 'both' minus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______. [JEE(Main) April 2024]</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$A=\{2,3,6,7\}$</a:t>
                </a:r>
                <a:r>
                  <a:rPr sz="2400" b="0">
                    <a:solidFill>
                      <a:srgbClr val="111827"/>
                    </a:solidFill>
                    <a:latin typeface="Arial"/>
                  </a:rPr>
                  <a:t> and </a:t>
                </a:r>
                <a:r>
                  <a:rPr lang="en-IN" sz="2400">
                    <a:solidFill>
                      <a:srgbClr val="111827"/>
                    </a:solidFill>
                    <a:latin typeface="Cambria Math" panose="02040503050406030204" pitchFamily="18" charset="0"/>
                  </a:rPr>
                  <a:t>$B=\{4,5,6,8\}$</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relation on </a:t>
                </a:r>
                <a:r>
                  <a:rPr lang="en-IN" sz="2400">
                    <a:solidFill>
                      <a:srgbClr val="111827"/>
                    </a:solidFill>
                    <a:latin typeface="Cambria Math" panose="02040503050406030204" pitchFamily="18" charset="0"/>
                  </a:rPr>
                  <a:t>$A\times B$</a:t>
                </a:r>
                <a:r>
                  <a:rPr sz="2400" b="0">
                    <a:solidFill>
                      <a:srgbClr val="111827"/>
                    </a:solidFill>
                    <a:latin typeface="Arial"/>
                  </a:rPr>
                  <a:t> defined by </a:t>
                </a:r>
                <a:r>
                  <a:rPr lang="en-IN" sz="2400">
                    <a:solidFill>
                      <a:srgbClr val="111827"/>
                    </a:solidFill>
                    <a:latin typeface="Cambria Math" panose="02040503050406030204" pitchFamily="18" charset="0"/>
                  </a:rPr>
                  <a:t>$(a_1,b_1)\,R\,(a_2,b_2)$</a:t>
                </a:r>
                <a:r>
                  <a:rPr sz="2400" b="0">
                    <a:solidFill>
                      <a:srgbClr val="111827"/>
                    </a:solidFill>
                    <a:latin typeface="Arial"/>
                  </a:rPr>
                  <a:t> if and only if </a:t>
                </a:r>
                <a:r>
                  <a:rPr lang="en-IN" sz="2400">
                    <a:solidFill>
                      <a:srgbClr val="111827"/>
                    </a:solidFill>
                    <a:latin typeface="Cambria Math" panose="02040503050406030204" pitchFamily="18" charset="0"/>
                  </a:rPr>
                  <a:t>$a_1+a_2=b_1+b_2$</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 ______. [JEE(Main) April 2024]</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Relations on a Cartesian product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rearranges to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so the pair counts depend only on the differences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rearranges to </a:t>
                </a:r>
                <a:r>
                  <a:rPr lang="en-IN" sz="2400">
                    <a:solidFill>
                      <a:srgbClr val="78350F"/>
                    </a:solidFill>
                    <a:latin typeface="Cambria Math" panose="02040503050406030204" pitchFamily="18" charset="0"/>
                  </a:rPr>
                  <a:t>$a_1-b_1=b_2-a_2$</a:t>
                </a:r>
                <a:r>
                  <a:rPr sz="2400" b="0">
                    <a:solidFill>
                      <a:srgbClr val="78350F"/>
                    </a:solidFill>
                    <a:latin typeface="Arial"/>
                  </a:rPr>
                  <a:t>, so the pair counts depend only on the differences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elements;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 set of ordered pairs of these elements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starting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$A\times B$</a:t>
                </a:r>
                <a:r>
                  <a:rPr sz="2400" b="0">
                    <a:solidFill>
                      <a:srgbClr val="111827"/>
                    </a:solidFill>
                    <a:latin typeface="Arial"/>
                  </a:rPr>
                  <a:t> has </a:t>
                </a:r>
                <a:r>
                  <a:rPr lang="en-IN" sz="2400">
                    <a:solidFill>
                      <a:srgbClr val="111827"/>
                    </a:solidFill>
                    <a:latin typeface="Cambria Math" panose="02040503050406030204" pitchFamily="18" charset="0"/>
                  </a:rPr>
                  <a:t>$16$</a:t>
                </a:r>
                <a:r>
                  <a:rPr sz="2400" b="0">
                    <a:solidFill>
                      <a:srgbClr val="111827"/>
                    </a:solidFill>
                    <a:latin typeface="Arial"/>
                  </a:rPr>
                  <a:t> elements; </a:t>
                </a:r>
                <a:r>
                  <a:rPr lang="en-IN" sz="2400">
                    <a:solidFill>
                      <a:srgbClr val="111827"/>
                    </a:solidFill>
                    <a:latin typeface="Cambria Math" panose="02040503050406030204" pitchFamily="18" charset="0"/>
                  </a:rPr>
                  <a:t>$R$</a:t>
                </a:r>
                <a:r>
                  <a:rPr sz="2400" b="0">
                    <a:solidFill>
                      <a:srgbClr val="111827"/>
                    </a:solidFill>
                    <a:latin typeface="Arial"/>
                  </a:rPr>
                  <a:t> is a set of ordered pairs of these elements with </a:t>
                </a:r>
                <a:r>
                  <a:rPr lang="en-IN" sz="2400">
                    <a:solidFill>
                      <a:srgbClr val="111827"/>
                    </a:solidFill>
                    <a:latin typeface="Cambria Math" panose="02040503050406030204" pitchFamily="18" charset="0"/>
                  </a:rPr>
                  <a:t>$a_1+a_2=b_1+b_2$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starting at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$(2,4)R(6,4)$</a:t>
                </a:r>
                <a:r>
                  <a:rPr sz="2400" b="0">
                    <a:solidFill>
                      <a:srgbClr val="111827"/>
                    </a:solidFill>
                    <a:latin typeface="Arial"/>
                  </a:rPr>
                  <a:t> and </a:t>
                </a:r>
                <a:r>
                  <a:rPr lang="en-IN" sz="2400">
                    <a:solidFill>
                      <a:srgbClr val="111827"/>
                    </a:solidFill>
                    <a:latin typeface="Cambria Math" panose="02040503050406030204" pitchFamily="18" charset="0"/>
                  </a:rPr>
                  <a:t>$(2,4)R(7,5)$</a:t>
                </a:r>
                <a:r>
                  <a:rPr sz="2400" b="0">
                    <a:solidFill>
                      <a:srgbClr val="111827"/>
                    </a:solidFill>
                    <a:latin typeface="Arial"/>
                  </a:rPr>
                  <a:t>. At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$(2,5)R(7,4)$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$(6,5)$</a:t>
                </a:r>
                <a:r>
                  <a:rPr sz="2400" b="0">
                    <a:solidFill>
                      <a:srgbClr val="111827"/>
                    </a:solidFill>
                    <a:latin typeface="Arial"/>
                  </a:rPr>
                  <a:t>, </a:t>
                </a:r>
                <a:r>
                  <a:rPr lang="en-IN" sz="2400">
                    <a:solidFill>
                      <a:srgbClr val="111827"/>
                    </a:solidFill>
                    <a:latin typeface="Cambria Math" panose="02040503050406030204" pitchFamily="18" charset="0"/>
                  </a:rPr>
                  <a:t>$(7,6)$</a:t>
                </a:r>
                <a:r>
                  <a:rPr sz="2400" b="0">
                    <a:solidFill>
                      <a:srgbClr val="111827"/>
                    </a:solidFill>
                    <a:latin typeface="Arial"/>
                  </a:rPr>
                  <a:t>. At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$(6,4)$</a:t>
                </a:r>
                <a:r>
                  <a:rPr sz="2400" b="0">
                    <a:solidFill>
                      <a:srgbClr val="111827"/>
                    </a:solidFill>
                    <a:latin typeface="Arial"/>
                  </a:rPr>
                  <a:t>, </a:t>
                </a:r>
                <a:r>
                  <a:rPr lang="en-IN" sz="2400">
                    <a:solidFill>
                      <a:srgbClr val="111827"/>
                    </a:solidFill>
                    <a:latin typeface="Cambria Math" panose="02040503050406030204" pitchFamily="18" charset="0"/>
                  </a:rPr>
                  <a:t>$(7,5)$</a:t>
                </a:r>
                <a:r>
                  <a:rPr sz="2400" b="0">
                    <a:solidFill>
                      <a:srgbClr val="111827"/>
                    </a:solidFill>
                    <a:latin typeface="Arial"/>
                  </a:rPr>
                  <a:t>. At </a:t>
                </a:r>
                <a:r>
                  <a:rPr lang="en-IN" sz="2400">
                    <a:solidFill>
                      <a:srgbClr val="111827"/>
                    </a:solidFill>
                    <a:latin typeface="Cambria Math" panose="02040503050406030204" pitchFamily="18" charset="0"/>
                  </a:rPr>
                  <a:t>$(3,6)$</a:t>
                </a:r>
                <a:r>
                  <a:rPr sz="2400" b="0">
                    <a:solidFill>
                      <a:srgbClr val="111827"/>
                    </a:solidFill>
                    <a:latin typeface="Arial"/>
                  </a:rPr>
                  <a:t>: </a:t>
                </a:r>
                <a:r>
                  <a:rPr lang="en-IN" sz="2400">
                    <a:solidFill>
                      <a:srgbClr val="111827"/>
                    </a:solidFill>
                    <a:latin typeface="Cambria Math" panose="02040503050406030204" pitchFamily="18" charset="0"/>
                  </a:rPr>
                  <a:t>$(7,4)$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$(6,4)$</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$(6,8)$</a:t>
                </a:r>
                <a:r>
                  <a:rPr sz="2400" b="0">
                    <a:solidFill>
                      <a:srgbClr val="111827"/>
                    </a:solidFill>
                    <a:latin typeface="Arial"/>
                  </a:rPr>
                  <a:t>. At </a:t>
                </a:r>
                <a:r>
                  <a:rPr lang="en-IN" sz="2400">
                    <a:solidFill>
                      <a:srgbClr val="111827"/>
                    </a:solidFill>
                    <a:latin typeface="Cambria Math" panose="02040503050406030204" pitchFamily="18" charset="0"/>
                  </a:rPr>
                  <a:t>$(6,5)$</a:t>
                </a:r>
                <a:r>
                  <a:rPr sz="2400" b="0">
                    <a:solidFill>
                      <a:srgbClr val="111827"/>
                    </a:solidFill>
                    <a:latin typeface="Arial"/>
                  </a:rPr>
                  <a:t>: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$(7,8)$</a:t>
                </a:r>
                <a:r>
                  <a:rPr sz="2400" b="0">
                    <a:solidFill>
                      <a:srgbClr val="111827"/>
                    </a:solidFill>
                    <a:latin typeface="Arial"/>
                  </a:rPr>
                  <a:t>. At </a:t>
                </a:r>
                <a:r>
                  <a:rPr lang="en-IN" sz="2400">
                    <a:solidFill>
                      <a:srgbClr val="111827"/>
                    </a:solidFill>
                    <a:latin typeface="Cambria Math" panose="02040503050406030204" pitchFamily="18" charset="0"/>
                  </a:rPr>
                  <a:t>$(6,6)$</a:t>
                </a:r>
                <a:r>
                  <a:rPr sz="2400" b="0">
                    <a:solidFill>
                      <a:srgbClr val="111827"/>
                    </a:solidFill>
                    <a:latin typeface="Arial"/>
                  </a:rPr>
                  <a:t>: </a:t>
                </a:r>
                <a:r>
                  <a:rPr lang="en-IN" sz="2400">
                    <a:solidFill>
                      <a:srgbClr val="111827"/>
                    </a:solidFill>
                    <a:latin typeface="Cambria Math" panose="02040503050406030204" pitchFamily="18" charset="0"/>
                  </a:rPr>
                  <a:t>$(6,6)$</a:t>
                </a:r>
                <a:r>
                  <a:rPr sz="2400" b="0">
                    <a:solidFill>
                      <a:srgbClr val="111827"/>
                    </a:solidFill>
                    <a:latin typeface="Arial"/>
                  </a:rPr>
                  <a:t>. At </a:t>
                </a:r>
                <a:r>
                  <a:rPr lang="en-IN" sz="2400">
                    <a:solidFill>
                      <a:srgbClr val="111827"/>
                    </a:solidFill>
                    <a:latin typeface="Cambria Math" panose="02040503050406030204" pitchFamily="18" charset="0"/>
                  </a:rPr>
                  <a:t>$(6,8)$</a:t>
                </a:r>
                <a:r>
                  <a:rPr sz="2400" b="0">
                    <a:solidFill>
                      <a:srgbClr val="111827"/>
                    </a:solidFill>
                    <a:latin typeface="Arial"/>
                  </a:rPr>
                  <a:t>: </a:t>
                </a:r>
                <a:r>
                  <a:rPr lang="en-IN" sz="2400">
                    <a:solidFill>
                      <a:srgbClr val="111827"/>
                    </a:solidFill>
                    <a:latin typeface="Cambria Math" panose="02040503050406030204" pitchFamily="18" charset="0"/>
                  </a:rPr>
                  <a:t>$(6,4)$</a:t>
                </a:r>
                <a:r>
                  <a:rPr sz="2400" b="0">
                    <a:solidFill>
                      <a:srgbClr val="111827"/>
                    </a:solidFill>
                    <a:latin typeface="Arial"/>
                  </a:rPr>
                  <a:t>, </a:t>
                </a:r>
                <a:r>
                  <a:rPr lang="en-IN" sz="2400">
                    <a:solidFill>
                      <a:srgbClr val="111827"/>
                    </a:solidFill>
                    <a:latin typeface="Cambria Math" panose="02040503050406030204" pitchFamily="18" charset="0"/>
                  </a:rPr>
                  <a:t>$(7,5)$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the pairs listed: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$(7,4)$</a:t>
                </a:r>
                <a:r>
                  <a:rPr sz="2400" b="0">
                    <a:solidFill>
                      <a:srgbClr val="111827"/>
                    </a:solidFill>
                    <a:latin typeface="Arial"/>
                  </a:rPr>
                  <a:t>: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 At </a:t>
                </a:r>
                <a:r>
                  <a:rPr lang="en-IN" sz="2400">
                    <a:solidFill>
                      <a:srgbClr val="111827"/>
                    </a:solidFill>
                    <a:latin typeface="Cambria Math" panose="02040503050406030204" pitchFamily="18" charset="0"/>
                  </a:rPr>
                  <a:t>$(7,5)$</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$(6,8)$</a:t>
                </a:r>
                <a:r>
                  <a:rPr sz="2400" b="0">
                    <a:solidFill>
                      <a:srgbClr val="111827"/>
                    </a:solidFill>
                    <a:latin typeface="Arial"/>
                  </a:rPr>
                  <a:t>. At </a:t>
                </a:r>
                <a:r>
                  <a:rPr lang="en-IN" sz="2400">
                    <a:solidFill>
                      <a:srgbClr val="111827"/>
                    </a:solidFill>
                    <a:latin typeface="Cambria Math" panose="02040503050406030204" pitchFamily="18" charset="0"/>
                  </a:rPr>
                  <a:t>$(7,6)$</a:t>
                </a:r>
                <a:r>
                  <a:rPr sz="2400" b="0">
                    <a:solidFill>
                      <a:srgbClr val="111827"/>
                    </a:solidFill>
                    <a:latin typeface="Arial"/>
                  </a:rPr>
                  <a:t>: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$(7,8)$</a:t>
                </a:r>
                <a:r>
                  <a:rPr sz="2400" b="0">
                    <a:solidFill>
                      <a:srgbClr val="111827"/>
                    </a:solidFill>
                    <a:latin typeface="Arial"/>
                  </a:rPr>
                  <a:t>. At </a:t>
                </a:r>
                <a:r>
                  <a:rPr lang="en-IN" sz="2400">
                    <a:solidFill>
                      <a:srgbClr val="111827"/>
                    </a:solidFill>
                    <a:latin typeface="Cambria Math" panose="02040503050406030204" pitchFamily="18" charset="0"/>
                  </a:rPr>
                  <a:t>$(7,8)$</a:t>
                </a:r>
                <a:r>
                  <a:rPr sz="2400" b="0">
                    <a:solidFill>
                      <a:srgbClr val="111827"/>
                    </a:solidFill>
                    <a:latin typeface="Arial"/>
                  </a:rPr>
                  <a:t>: </a:t>
                </a:r>
                <a:r>
                  <a:rPr lang="en-IN" sz="2400">
                    <a:solidFill>
                      <a:srgbClr val="111827"/>
                    </a:solidFill>
                    <a:latin typeface="Cambria Math" panose="02040503050406030204" pitchFamily="18" charset="0"/>
                  </a:rPr>
                  <a:t>$(6,5)$</a:t>
                </a:r>
                <a:r>
                  <a:rPr sz="2400" b="0">
                    <a:solidFill>
                      <a:srgbClr val="111827"/>
                    </a:solidFill>
                    <a:latin typeface="Arial"/>
                  </a:rPr>
                  <a:t>, </a:t>
                </a:r>
                <a:r>
                  <a:rPr lang="en-IN" sz="2400">
                    <a:solidFill>
                      <a:srgbClr val="111827"/>
                    </a:solidFill>
                    <a:latin typeface="Cambria Math" panose="02040503050406030204" pitchFamily="18" charset="0"/>
                  </a:rPr>
                  <a:t>$(7,6)$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the pairs listed: </a:t>
                </a:r>
                <a:r>
                  <a:rPr lang="en-IN" sz="2400">
                    <a:solidFill>
                      <a:srgbClr val="111827"/>
                    </a:solidFill>
                    <a:latin typeface="Cambria Math" panose="02040503050406030204" pitchFamily="18" charset="0"/>
                  </a:rPr>
                  <a:t>$2+1+2+2+1+3+2+1+2+2+3+2+2=25$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a:t>
            </a:r>
            <a:endParaRPr sz="2800">
              <a:solidFill>
                <a:srgbClr val="15803D"/>
              </a:solidFill>
            </a:endParaRP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Rewrite as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count by the value of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over the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elements.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Rewrite as </a:t>
                </a:r>
                <a:r>
                  <a:rPr lang="en-IN" sz="2400">
                    <a:solidFill>
                      <a:srgbClr val="78350F"/>
                    </a:solidFill>
                    <a:latin typeface="Cambria Math" panose="02040503050406030204" pitchFamily="18" charset="0"/>
                  </a:rPr>
                  <a:t>$(a_1-b_1)+(a_2-b_2)=0$</a:t>
                </a:r>
                <a:r>
                  <a:rPr sz="2400" b="0">
                    <a:solidFill>
                      <a:srgbClr val="78350F"/>
                    </a:solidFill>
                    <a:latin typeface="Arial"/>
                  </a:rPr>
                  <a:t> and count by the value of </a:t>
                </a:r>
                <a:r>
                  <a:rPr lang="en-IN" sz="2400">
                    <a:solidFill>
                      <a:srgbClr val="78350F"/>
                    </a:solidFill>
                    <a:latin typeface="Cambria Math" panose="02040503050406030204" pitchFamily="18" charset="0"/>
                  </a:rPr>
                  <a:t>$d=a-b$</a:t>
                </a:r>
                <a:r>
                  <a:rPr sz="2400" b="0">
                    <a:solidFill>
                      <a:srgbClr val="78350F"/>
                    </a:solidFill>
                    <a:latin typeface="Arial"/>
                  </a:rPr>
                  <a:t> over the </a:t>
                </a:r>
                <a:r>
                  <a:rPr lang="en-IN" sz="2400">
                    <a:solidFill>
                      <a:srgbClr val="78350F"/>
                    </a:solidFill>
                    <a:latin typeface="Cambria Math" panose="02040503050406030204" pitchFamily="18" charset="0"/>
                  </a:rPr>
                  <a:t>$16$</a:t>
                </a:r>
                <a:r>
                  <a:rPr sz="2400" b="0">
                    <a:solidFill>
                      <a:srgbClr val="78350F"/>
                    </a:solidFill>
                    <a:latin typeface="Arial"/>
                  </a:rPr>
                  <a:t> elements.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for each element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number of elements with value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ordered pair is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iff its two elements have values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𝑑</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𝑁</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$a_1+a_2=b_1+b_2\iff(a_1-b_1)+(a_2-b_2)=0$</a:t>
                </a:r>
                <a:r>
                  <a:rPr sz="2400" b="0">
                    <a:solidFill>
                      <a:srgbClr val="111827"/>
                    </a:solidFill>
                    <a:latin typeface="Arial"/>
                  </a:rPr>
                  <a:t>. Let </a:t>
                </a:r>
                <a:r>
                  <a:rPr lang="en-IN" sz="2400">
                    <a:solidFill>
                      <a:srgbClr val="111827"/>
                    </a:solidFill>
                    <a:latin typeface="Cambria Math" panose="02040503050406030204" pitchFamily="18" charset="0"/>
                  </a:rPr>
                  <a:t>$d=a-b$</a:t>
                </a:r>
                <a:r>
                  <a:rPr sz="2400" b="0">
                    <a:solidFill>
                      <a:srgbClr val="111827"/>
                    </a:solidFill>
                    <a:latin typeface="Arial"/>
                  </a:rPr>
                  <a:t> for each element of </a:t>
                </a:r>
                <a:r>
                  <a:rPr lang="en-IN" sz="2400">
                    <a:solidFill>
                      <a:srgbClr val="111827"/>
                    </a:solidFill>
                    <a:latin typeface="Cambria Math" panose="02040503050406030204" pitchFamily="18" charset="0"/>
                  </a:rPr>
                  <a:t>$A\times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$N(d)$</a:t>
                </a:r>
                <a:r>
                  <a:rPr sz="2400" b="0">
                    <a:solidFill>
                      <a:srgbClr val="111827"/>
                    </a:solidFill>
                    <a:latin typeface="Arial"/>
                  </a:rPr>
                  <a:t> be the number of elements with value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$N(-6)=N(-5)=N(-4)=N(0)=N(3)=1$</a:t>
                </a:r>
                <a:r>
                  <a:rPr sz="2400" b="0">
                    <a:solidFill>
                      <a:srgbClr val="111827"/>
                    </a:solidFill>
                    <a:latin typeface="Arial"/>
                  </a:rPr>
                  <a:t>, </a:t>
                </a:r>
                <a:r>
                  <a:rPr lang="en-IN" sz="2400">
                    <a:solidFill>
                      <a:srgbClr val="111827"/>
                    </a:solidFill>
                    <a:latin typeface="Cambria Math" panose="02040503050406030204" pitchFamily="18" charset="0"/>
                  </a:rPr>
                  <a:t>$N(-3)=N(-1)=N(1)=N(2)=2$</a:t>
                </a:r>
                <a:r>
                  <a:rPr sz="2400" b="0">
                    <a:solidFill>
                      <a:srgbClr val="111827"/>
                    </a:solidFill>
                    <a:latin typeface="Arial"/>
                  </a:rPr>
                  <a:t>, </a:t>
                </a:r>
                <a:r>
                  <a:rPr lang="en-IN" sz="2400">
                    <a:solidFill>
                      <a:srgbClr val="111827"/>
                    </a:solidFill>
                    <a:latin typeface="Cambria Math" panose="02040503050406030204" pitchFamily="18" charset="0"/>
                  </a:rPr>
                  <a:t>$N(-2)=3$</a:t>
                </a:r>
                <a:r>
                  <a:rPr sz="2400" b="0">
                    <a:solidFill>
                      <a:srgbClr val="111827"/>
                    </a:solidFill>
                    <a:latin typeface="Arial"/>
                  </a:rPr>
                  <a:t> (total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ordered pair is in </a:t>
                </a:r>
                <a:r>
                  <a:rPr lang="en-IN" sz="2400">
                    <a:solidFill>
                      <a:srgbClr val="111827"/>
                    </a:solidFill>
                    <a:latin typeface="Cambria Math" panose="02040503050406030204" pitchFamily="18" charset="0"/>
                  </a:rPr>
                  <a:t>$R$</a:t>
                </a:r>
                <a:r>
                  <a:rPr sz="2400" b="0">
                    <a:solidFill>
                      <a:srgbClr val="111827"/>
                    </a:solidFill>
                    <a:latin typeface="Arial"/>
                  </a:rPr>
                  <a:t> iff its two elements have values </a:t>
                </a:r>
                <a:r>
                  <a:rPr lang="en-IN" sz="2400">
                    <a:solidFill>
                      <a:srgbClr val="111827"/>
                    </a:solidFill>
                    <a:latin typeface="Cambria Math" panose="02040503050406030204" pitchFamily="18" charset="0"/>
                  </a:rPr>
                  <a:t>$d$</a:t>
                </a:r>
                <a:r>
                  <a:rPr sz="2400" b="0">
                    <a:solidFill>
                      <a:srgbClr val="111827"/>
                    </a:solidFill>
                    <a:latin typeface="Arial"/>
                  </a:rPr>
                  <a:t> and </a:t>
                </a:r>
                <a:r>
                  <a:rPr lang="en-IN" sz="2400">
                    <a:solidFill>
                      <a:srgbClr val="111827"/>
                    </a:solidFill>
                    <a:latin typeface="Cambria Math" panose="02040503050406030204" pitchFamily="18" charset="0"/>
                  </a:rPr>
                  <a:t>$-d$</a:t>
                </a:r>
                <a:r>
                  <a:rPr sz="2400" b="0">
                    <a:solidFill>
                      <a:srgbClr val="111827"/>
                    </a:solidFill>
                    <a:latin typeface="Arial"/>
                  </a:rPr>
                  <a:t>. So </a:t>
                </a:r>
                <a:r>
                  <a:rPr lang="en-IN" sz="2400">
                    <a:solidFill>
                      <a:srgbClr val="111827"/>
                    </a:solidFill>
                    <a:latin typeface="Cambria Math" panose="02040503050406030204" pitchFamily="18" charset="0"/>
                  </a:rPr>
                  <a:t>$|R|=\sum_dN(d)N(-d)$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for each of the two orders, so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two orders,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two orders,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Others give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$d=0$</a:t>
                </a:r>
                <a:r>
                  <a:rPr sz="2400" b="0">
                    <a:solidFill>
                      <a:srgbClr val="111827"/>
                    </a:solidFill>
                    <a:latin typeface="Arial"/>
                  </a:rPr>
                  <a:t>: </a:t>
                </a:r>
                <a:r>
                  <a:rPr lang="en-IN" sz="2400">
                    <a:solidFill>
                      <a:srgbClr val="111827"/>
                    </a:solidFill>
                    <a:latin typeface="Cambria Math" panose="02040503050406030204" pitchFamily="18" charset="0"/>
                  </a:rPr>
                  <a:t>$1\cdot1=1$</a:t>
                </a:r>
                <a:r>
                  <a:rPr sz="2400" b="0">
                    <a:solidFill>
                      <a:srgbClr val="111827"/>
                    </a:solidFill>
                    <a:latin typeface="Arial"/>
                  </a:rPr>
                  <a:t>. </a:t>
                </a:r>
                <a:r>
                  <a:rPr lang="en-IN" sz="2400">
                    <a:solidFill>
                      <a:srgbClr val="111827"/>
                    </a:solidFill>
                    <a:latin typeface="Cambria Math" panose="02040503050406030204" pitchFamily="18" charset="0"/>
                  </a:rPr>
                  <a:t>$d=\pm1$</a:t>
                </a:r>
                <a:r>
                  <a:rPr sz="2400" b="0">
                    <a:solidFill>
                      <a:srgbClr val="111827"/>
                    </a:solidFill>
                    <a:latin typeface="Arial"/>
                  </a:rPr>
                  <a:t>: </a:t>
                </a:r>
                <a:r>
                  <a:rPr lang="en-IN" sz="2400">
                    <a:solidFill>
                      <a:srgbClr val="111827"/>
                    </a:solidFill>
                    <a:latin typeface="Cambria Math" panose="02040503050406030204" pitchFamily="18" charset="0"/>
                  </a:rPr>
                  <a:t>$N(1)N(-1)=4$</a:t>
                </a:r>
                <a:r>
                  <a:rPr sz="2400" b="0">
                    <a:solidFill>
                      <a:srgbClr val="111827"/>
                    </a:solidFill>
                    <a:latin typeface="Arial"/>
                  </a:rPr>
                  <a:t> for each of the two orders, so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$d=\pm2$</a:t>
                </a:r>
                <a:r>
                  <a:rPr sz="2400" b="0">
                    <a:solidFill>
                      <a:srgbClr val="111827"/>
                    </a:solidFill>
                    <a:latin typeface="Arial"/>
                  </a:rPr>
                  <a:t>: </a:t>
                </a:r>
                <a:r>
                  <a:rPr lang="en-IN" sz="2400">
                    <a:solidFill>
                      <a:srgbClr val="111827"/>
                    </a:solidFill>
                    <a:latin typeface="Cambria Math" panose="02040503050406030204" pitchFamily="18" charset="0"/>
                  </a:rPr>
                  <a:t>$N(2)N(-2)=6$</a:t>
                </a:r>
                <a:r>
                  <a:rPr sz="2400" b="0">
                    <a:solidFill>
                      <a:srgbClr val="111827"/>
                    </a:solidFill>
                    <a:latin typeface="Arial"/>
                  </a:rPr>
                  <a:t>, two orders,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$d=\pm3$</a:t>
                </a:r>
                <a:r>
                  <a:rPr sz="2400" b="0">
                    <a:solidFill>
                      <a:srgbClr val="111827"/>
                    </a:solidFill>
                    <a:latin typeface="Arial"/>
                  </a:rPr>
                  <a:t>: </a:t>
                </a:r>
                <a:r>
                  <a:rPr lang="en-IN" sz="2400">
                    <a:solidFill>
                      <a:srgbClr val="111827"/>
                    </a:solidFill>
                    <a:latin typeface="Cambria Math" panose="02040503050406030204" pitchFamily="18" charset="0"/>
                  </a:rPr>
                  <a:t>$N(3)N(-3)=2$</a:t>
                </a:r>
                <a:r>
                  <a:rPr sz="2400" b="0">
                    <a:solidFill>
                      <a:srgbClr val="111827"/>
                    </a:solidFill>
                    <a:latin typeface="Arial"/>
                  </a:rPr>
                  <a:t>, two orders, </a:t>
                </a:r>
                <a:r>
                  <a:rPr lang="en-IN" sz="2400">
                    <a:solidFill>
                      <a:srgbClr val="111827"/>
                    </a:solidFill>
                    <a:latin typeface="Cambria Math" panose="02040503050406030204" pitchFamily="18" charset="0"/>
                  </a:rPr>
                  <a:t>$4$</a:t>
                </a:r>
                <a:r>
                  <a:rPr sz="2400" b="0">
                    <a:solidFill>
                      <a:srgbClr val="111827"/>
                    </a:solidFill>
                    <a:latin typeface="Arial"/>
                  </a:rPr>
                  <a:t>. Others give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$=1+8+12+4=25$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a:t>
            </a:r>
            <a:endParaRPr sz="2800">
              <a:solidFill>
                <a:srgbClr val="15803D"/>
              </a:solidFill>
            </a:endParaRP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-type on pairs can be turned into a sum over values: if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𝑑</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𝑁</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(counting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need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here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qualifies. The relation is symmetric because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listing by hand, count by structure: here the multiset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total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r>
                  <a:rPr lang="en-IN" sz="2400">
                    <a:solidFill>
                      <a:srgbClr val="111827"/>
                    </a:solidFill>
                    <a:latin typeface="Cambria Math" panose="02040503050406030204" pitchFamily="18" charset="0"/>
                  </a:rPr>
                  <a:t>$f(x_1)+f(x_2)=g$</a:t>
                </a:r>
                <a:r>
                  <a:rPr sz="2400" b="0">
                    <a:solidFill>
                      <a:srgbClr val="111827"/>
                    </a:solidFill>
                    <a:latin typeface="Arial"/>
                  </a:rPr>
                  <a:t>-type on pairs can be turned into a sum over values: if </a:t>
                </a:r>
                <a:r>
                  <a:rPr lang="en-IN" sz="2400">
                    <a:solidFill>
                      <a:srgbClr val="111827"/>
                    </a:solidFill>
                    <a:latin typeface="Cambria Math" panose="02040503050406030204" pitchFamily="18" charset="0"/>
                  </a:rPr>
                  <a:t>$d_1+d_2=0$</a:t>
                </a:r>
                <a:r>
                  <a:rPr sz="2400" b="0">
                    <a:solidFill>
                      <a:srgbClr val="111827"/>
                    </a:solidFill>
                    <a:latin typeface="Arial"/>
                  </a:rPr>
                  <a:t>, then </a:t>
                </a:r>
                <a:r>
                  <a:rPr lang="en-IN" sz="2400">
                    <a:solidFill>
                      <a:srgbClr val="111827"/>
                    </a:solidFill>
                    <a:latin typeface="Cambria Math" panose="02040503050406030204" pitchFamily="18" charset="0"/>
                  </a:rPr>
                  <a:t>$|R|=\sum_dN(d)N(-d)$</a:t>
                </a:r>
                <a:r>
                  <a:rPr sz="2400" b="0">
                    <a:solidFill>
                      <a:srgbClr val="111827"/>
                    </a:solidFill>
                    <a:latin typeface="Arial"/>
                  </a:rPr>
                  <a:t> (counting ordered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Reflexive pairs </a:t>
                </a:r>
                <a:r>
                  <a:rPr lang="en-IN" sz="2400">
                    <a:solidFill>
                      <a:srgbClr val="111827"/>
                    </a:solidFill>
                    <a:latin typeface="Cambria Math" panose="02040503050406030204" pitchFamily="18" charset="0"/>
                  </a:rPr>
                  <a:t>$(p,p)\in R$</a:t>
                </a:r>
                <a:r>
                  <a:rPr sz="2400" b="0">
                    <a:solidFill>
                      <a:srgbClr val="111827"/>
                    </a:solidFill>
                    <a:latin typeface="Arial"/>
                  </a:rPr>
                  <a:t> need </a:t>
                </a:r>
                <a:r>
                  <a:rPr lang="en-IN" sz="2400">
                    <a:solidFill>
                      <a:srgbClr val="111827"/>
                    </a:solidFill>
                    <a:latin typeface="Cambria Math" panose="02040503050406030204" pitchFamily="18" charset="0"/>
                  </a:rPr>
                  <a:t>$2a=2b$</a:t>
                </a:r>
                <a:r>
                  <a:rPr sz="2400" b="0">
                    <a:solidFill>
                      <a:srgbClr val="111827"/>
                    </a:solidFill>
                    <a:latin typeface="Arial"/>
                  </a:rPr>
                  <a:t>, i.e. </a:t>
                </a:r>
                <a:r>
                  <a:rPr lang="en-IN" sz="2400">
                    <a:solidFill>
                      <a:srgbClr val="111827"/>
                    </a:solidFill>
                    <a:latin typeface="Cambria Math" panose="02040503050406030204" pitchFamily="18" charset="0"/>
                  </a:rPr>
                  <a:t>$a=b$</a:t>
                </a:r>
                <a:r>
                  <a:rPr sz="2400" b="0">
                    <a:solidFill>
                      <a:srgbClr val="111827"/>
                    </a:solidFill>
                    <a:latin typeface="Arial"/>
                  </a:rPr>
                  <a:t>; here only </a:t>
                </a:r>
                <a:r>
                  <a:rPr lang="en-IN" sz="2400">
                    <a:solidFill>
                      <a:srgbClr val="111827"/>
                    </a:solidFill>
                    <a:latin typeface="Cambria Math" panose="02040503050406030204" pitchFamily="18" charset="0"/>
                  </a:rPr>
                  <a:t>$(6,6)$</a:t>
                </a:r>
                <a:r>
                  <a:rPr sz="2400" b="0">
                    <a:solidFill>
                      <a:srgbClr val="111827"/>
                    </a:solidFill>
                    <a:latin typeface="Arial"/>
                  </a:rPr>
                  <a:t> qualifies. The relation is symmetric because </a:t>
                </a:r>
                <a:r>
                  <a:rPr lang="en-IN" sz="2400">
                    <a:solidFill>
                      <a:srgbClr val="111827"/>
                    </a:solidFill>
                    <a:latin typeface="Cambria Math" panose="02040503050406030204" pitchFamily="18" charset="0"/>
                  </a:rPr>
                  <a:t>$a_1+a_2$</a:t>
                </a:r>
                <a:r>
                  <a:rPr sz="2400" b="0">
                    <a:solidFill>
                      <a:srgbClr val="111827"/>
                    </a:solidFill>
                    <a:latin typeface="Arial"/>
                  </a:rPr>
                  <a:t> and </a:t>
                </a:r>
                <a:r>
                  <a:rPr lang="en-IN" sz="2400">
                    <a:solidFill>
                      <a:srgbClr val="111827"/>
                    </a:solidFill>
                    <a:latin typeface="Cambria Math" panose="02040503050406030204" pitchFamily="18" charset="0"/>
                  </a:rPr>
                  <a:t>$b_1+b_2$</a:t>
                </a:r>
                <a:r>
                  <a:rPr sz="2400" b="0">
                    <a:solidFill>
                      <a:srgbClr val="111827"/>
                    </a:solidFill>
                    <a:latin typeface="Arial"/>
                  </a:rPr>
                  <a:t> are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listing by hand, count by structure: here the multiset of </a:t>
                </a:r>
                <a:r>
                  <a:rPr lang="en-IN" sz="2400">
                    <a:solidFill>
                      <a:srgbClr val="111827"/>
                    </a:solidFill>
                    <a:latin typeface="Cambria Math" panose="02040503050406030204" pitchFamily="18" charset="0"/>
                  </a:rPr>
                  <a:t>$a-b$</a:t>
                </a:r>
                <a:r>
                  <a:rPr sz="2400" b="0">
                    <a:solidFill>
                      <a:srgbClr val="111827"/>
                    </a:solidFill>
                    <a:latin typeface="Arial"/>
                  </a:rPr>
                  <a:t> is </a:t>
                </a:r>
                <a:r>
                  <a:rPr lang="en-IN" sz="2400">
                    <a:solidFill>
                      <a:srgbClr val="111827"/>
                    </a:solidFill>
                    <a:latin typeface="Cambria Math" panose="02040503050406030204" pitchFamily="18" charset="0"/>
                  </a:rPr>
                  <a:t>$\{-6,-5,-4,-3^2,-2^3,-1^2,0,1^2,2^2,3\}$</a:t>
                </a:r>
                <a:r>
                  <a:rPr sz="2400" b="0">
                    <a:solidFill>
                      <a:srgbClr val="111827"/>
                    </a:solidFill>
                    <a:latin typeface="Arial"/>
                  </a:rPr>
                  <a:t> (check: total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bl>
          </a:graphicData>
        </a:graphic>
      </p:graphicFrame>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60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63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65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69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70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71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72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73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1.76</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31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35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73 questions, 292 marks.  Index = Σ(marks × level) ÷ Σ marks, on the 0-5 scale.</a:t>
            </a:r>
            <a:endParaRPr sz="2400">
              <a:solidFill>
                <a:srgbClr val="111827"/>
              </a:solidFill>
            </a:endParaRP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Set &amp; Relation Sheet FCopy JM</a:t>
                      </a:r>
                    </a:p>
                  </a:txBody>
                  <a:tcPr anchor="ctr" marL="137160" marR="137160">
                    <a:solidFill>
                      <a:srgbClr val="E0ECFF"/>
                    </a:solidFill>
                  </a:tcPr>
                </a:tc>
                <a:tc>
                  <a:txBody>
                    <a:bodyPr/>
                    <a:lstStyle/>
                    <a:p>
                      <a:pPr algn="ctr"/>
                      <a:r>
                        <a:rPr sz="2600" b="1">
                          <a:solidFill>
                            <a:srgbClr val="0B1F3A"/>
                          </a:solidFill>
                          <a:latin typeface="Arial"/>
                        </a:rPr>
                        <a:t>1.76</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