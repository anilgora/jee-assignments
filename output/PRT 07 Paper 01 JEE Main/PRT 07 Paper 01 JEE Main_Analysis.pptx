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Level</c:v>
                </c:pt>
              </c:strCache>
            </c:strRef>
          </c:tx>
          <c:dPt>
            <c:idx val="0"/>
            <c:spPr>
              <a:solidFill>
                <a:srgbClr val="FFD966"/>
              </a:solidFill>
              <a:ln w="9525">
                <a:solidFill>
                  <a:srgbClr val="111827"/>
                </a:solidFill>
              </a:ln>
            </c:spPr>
          </c:dPt>
          <c:dPt>
            <c:idx val="1"/>
            <c:spPr>
              <a:solidFill>
                <a:srgbClr val="93C47D"/>
              </a:solidFill>
              <a:ln w="9525">
                <a:solidFill>
                  <a:srgbClr val="111827"/>
                </a:solidFill>
              </a:ln>
            </c:spPr>
          </c:dPt>
          <c:dPt>
            <c:idx val="2"/>
            <c:spPr>
              <a:solidFill>
                <a:srgbClr val="B6D7A8"/>
              </a:solidFill>
              <a:ln w="9525">
                <a:solidFill>
                  <a:srgbClr val="111827"/>
                </a:solidFill>
              </a:ln>
            </c:spPr>
          </c:dPt>
          <c:dPt>
            <c:idx val="3"/>
            <c:spPr>
              <a:solidFill>
                <a:srgbClr val="FFD966"/>
              </a:solidFill>
              <a:ln w="9525">
                <a:solidFill>
                  <a:srgbClr val="111827"/>
                </a:solidFill>
              </a:ln>
            </c:spPr>
          </c:dPt>
          <c:dPt>
            <c:idx val="4"/>
            <c:spPr>
              <a:solidFill>
                <a:srgbClr val="B6D7A8"/>
              </a:solidFill>
              <a:ln w="9525">
                <a:solidFill>
                  <a:srgbClr val="111827"/>
                </a:solidFill>
              </a:ln>
            </c:spPr>
          </c:dPt>
          <c:dPt>
            <c:idx val="5"/>
            <c:spPr>
              <a:solidFill>
                <a:srgbClr val="B6D7A8"/>
              </a:solidFill>
              <a:ln w="9525">
                <a:solidFill>
                  <a:srgbClr val="111827"/>
                </a:solidFill>
              </a:ln>
            </c:spPr>
          </c:dPt>
          <c:dPt>
            <c:idx val="6"/>
            <c:spPr>
              <a:solidFill>
                <a:srgbClr val="93C47D"/>
              </a:solidFill>
              <a:ln w="9525">
                <a:solidFill>
                  <a:srgbClr val="111827"/>
                </a:solidFill>
              </a:ln>
            </c:spPr>
          </c:dPt>
          <c:dPt>
            <c:idx val="7"/>
            <c:spPr>
              <a:solidFill>
                <a:srgbClr val="B6D7A8"/>
              </a:solidFill>
              <a:ln w="9525">
                <a:solidFill>
                  <a:srgbClr val="111827"/>
                </a:solidFill>
              </a:ln>
            </c:spPr>
          </c:dPt>
          <c:dPt>
            <c:idx val="8"/>
            <c:spPr>
              <a:solidFill>
                <a:srgbClr val="93C47D"/>
              </a:solidFill>
              <a:ln w="9525">
                <a:solidFill>
                  <a:srgbClr val="111827"/>
                </a:solidFill>
              </a:ln>
            </c:spPr>
          </c:dPt>
          <c:dPt>
            <c:idx val="9"/>
            <c:spPr>
              <a:solidFill>
                <a:srgbClr val="93C47D"/>
              </a:solidFill>
              <a:ln w="9525">
                <a:solidFill>
                  <a:srgbClr val="111827"/>
                </a:solidFill>
              </a:ln>
            </c:spPr>
          </c:dPt>
          <c:dPt>
            <c:idx val="10"/>
            <c:spPr>
              <a:solidFill>
                <a:srgbClr val="B6D7A8"/>
              </a:solidFill>
              <a:ln w="9525">
                <a:solidFill>
                  <a:srgbClr val="111827"/>
                </a:solidFill>
              </a:ln>
            </c:spPr>
          </c:dPt>
          <c:dPt>
            <c:idx val="11"/>
            <c:spPr>
              <a:solidFill>
                <a:srgbClr val="FFD966"/>
              </a:solidFill>
              <a:ln w="9525">
                <a:solidFill>
                  <a:srgbClr val="111827"/>
                </a:solidFill>
              </a:ln>
            </c:spPr>
          </c:dPt>
          <c:dPt>
            <c:idx val="12"/>
            <c:spPr>
              <a:solidFill>
                <a:srgbClr val="93C47D"/>
              </a:solidFill>
              <a:ln w="9525">
                <a:solidFill>
                  <a:srgbClr val="111827"/>
                </a:solidFill>
              </a:ln>
            </c:spPr>
          </c:dPt>
          <c:dPt>
            <c:idx val="13"/>
            <c:spPr>
              <a:solidFill>
                <a:srgbClr val="93C47D"/>
              </a:solidFill>
              <a:ln w="9525">
                <a:solidFill>
                  <a:srgbClr val="111827"/>
                </a:solidFill>
              </a:ln>
            </c:spPr>
          </c:dPt>
          <c:dPt>
            <c:idx val="14"/>
            <c:spPr>
              <a:solidFill>
                <a:srgbClr val="B6D7A8"/>
              </a:solidFill>
              <a:ln w="9525">
                <a:solidFill>
                  <a:srgbClr val="111827"/>
                </a:solidFill>
              </a:ln>
            </c:spPr>
          </c:dPt>
          <c:dPt>
            <c:idx val="15"/>
            <c:spPr>
              <a:solidFill>
                <a:srgbClr val="B6D7A8"/>
              </a:solidFill>
              <a:ln w="9525">
                <a:solidFill>
                  <a:srgbClr val="111827"/>
                </a:solidFill>
              </a:ln>
            </c:spPr>
          </c:dPt>
          <c:dPt>
            <c:idx val="16"/>
            <c:spPr>
              <a:solidFill>
                <a:srgbClr val="B6D7A8"/>
              </a:solidFill>
              <a:ln w="9525">
                <a:solidFill>
                  <a:srgbClr val="111827"/>
                </a:solidFill>
              </a:ln>
            </c:spPr>
          </c:dPt>
          <c:dPt>
            <c:idx val="17"/>
            <c:spPr>
              <a:solidFill>
                <a:srgbClr val="FFD966"/>
              </a:solidFill>
              <a:ln w="9525">
                <a:solidFill>
                  <a:srgbClr val="111827"/>
                </a:solidFill>
              </a:ln>
            </c:spPr>
          </c:dPt>
          <c:dPt>
            <c:idx val="18"/>
            <c:spPr>
              <a:solidFill>
                <a:srgbClr val="B6D7A8"/>
              </a:solidFill>
              <a:ln w="9525">
                <a:solidFill>
                  <a:srgbClr val="111827"/>
                </a:solidFill>
              </a:ln>
            </c:spPr>
          </c:dPt>
          <c:dPt>
            <c:idx val="19"/>
            <c:spPr>
              <a:solidFill>
                <a:srgbClr val="B6D7A8"/>
              </a:solidFill>
              <a:ln w="9525">
                <a:solidFill>
                  <a:srgbClr val="111827"/>
                </a:solidFill>
              </a:ln>
            </c:spPr>
          </c:dPt>
          <c:dPt>
            <c:idx val="20"/>
            <c:spPr>
              <a:solidFill>
                <a:srgbClr val="F6B26B"/>
              </a:solidFill>
              <a:ln w="9525">
                <a:solidFill>
                  <a:srgbClr val="111827"/>
                </a:solidFill>
              </a:ln>
            </c:spPr>
          </c:dPt>
          <c:dPt>
            <c:idx val="21"/>
            <c:spPr>
              <a:solidFill>
                <a:srgbClr val="FFD966"/>
              </a:solidFill>
              <a:ln w="9525">
                <a:solidFill>
                  <a:srgbClr val="111827"/>
                </a:solidFill>
              </a:ln>
            </c:spPr>
          </c:dPt>
          <c:dPt>
            <c:idx val="22"/>
            <c:spPr>
              <a:solidFill>
                <a:srgbClr val="FFD966"/>
              </a:solidFill>
              <a:ln w="9525">
                <a:solidFill>
                  <a:srgbClr val="111827"/>
                </a:solidFill>
              </a:ln>
            </c:spPr>
          </c:dPt>
          <c:dPt>
            <c:idx val="23"/>
            <c:spPr>
              <a:solidFill>
                <a:srgbClr val="FFD966"/>
              </a:solidFill>
              <a:ln w="9525">
                <a:solidFill>
                  <a:srgbClr val="111827"/>
                </a:solidFill>
              </a:ln>
            </c:spPr>
          </c:dPt>
          <c:dPt>
            <c:idx val="24"/>
            <c:spPr>
              <a:solidFill>
                <a:srgbClr val="FFD966"/>
              </a:solidFill>
              <a:ln w="9525">
                <a:solidFill>
                  <a:srgbClr val="111827"/>
                </a:solidFill>
              </a:ln>
            </c:spPr>
          </c:dPt>
          <c:cat>
            <c:strRef>
              <c:f>Sheet1!$A$2:$A$26</c:f>
              <c:strCache>
                <c:ptCount val="25"/>
                <c:pt idx="0">
                  <c:v>Q1</c:v>
                </c:pt>
                <c:pt idx="1">
                  <c:v>Q2</c:v>
                </c:pt>
                <c:pt idx="2">
                  <c:v>Q3</c:v>
                </c:pt>
                <c:pt idx="3">
                  <c:v>Q4</c:v>
                </c:pt>
                <c:pt idx="4">
                  <c:v>Q5</c:v>
                </c:pt>
                <c:pt idx="5">
                  <c:v>Q6</c:v>
                </c:pt>
                <c:pt idx="6">
                  <c:v>Q7</c:v>
                </c:pt>
                <c:pt idx="7">
                  <c:v>Q8</c:v>
                </c:pt>
                <c:pt idx="8">
                  <c:v>Q9</c:v>
                </c:pt>
                <c:pt idx="9">
                  <c:v>Q10</c:v>
                </c:pt>
                <c:pt idx="10">
                  <c:v>Q11</c:v>
                </c:pt>
                <c:pt idx="11">
                  <c:v>Q12</c:v>
                </c:pt>
                <c:pt idx="12">
                  <c:v>Q13</c:v>
                </c:pt>
                <c:pt idx="13">
                  <c:v>Q14</c:v>
                </c:pt>
                <c:pt idx="14">
                  <c:v>Q15</c:v>
                </c:pt>
                <c:pt idx="15">
                  <c:v>Q16</c:v>
                </c:pt>
                <c:pt idx="16">
                  <c:v>Q17</c:v>
                </c:pt>
                <c:pt idx="17">
                  <c:v>Q18</c:v>
                </c:pt>
                <c:pt idx="18">
                  <c:v>Q19</c:v>
                </c:pt>
                <c:pt idx="19">
                  <c:v>Q20</c:v>
                </c:pt>
                <c:pt idx="20">
                  <c:v>Q21</c:v>
                </c:pt>
                <c:pt idx="21">
                  <c:v>Q22</c:v>
                </c:pt>
                <c:pt idx="22">
                  <c:v>Q23</c:v>
                </c:pt>
                <c:pt idx="23">
                  <c:v>Q24</c:v>
                </c:pt>
                <c:pt idx="24">
                  <c:v>Q25</c:v>
                </c:pt>
              </c:strCache>
            </c:strRef>
          </c:cat>
          <c:val>
            <c:numRef>
              <c:f>Sheet1!$B$2:$B$26</c:f>
              <c:numCache>
                <c:formatCode>General</c:formatCode>
                <c:ptCount val="25"/>
                <c:pt idx="0">
                  <c:v>2.0</c:v>
                </c:pt>
                <c:pt idx="1">
                  <c:v>0.0</c:v>
                </c:pt>
                <c:pt idx="2">
                  <c:v>1.0</c:v>
                </c:pt>
                <c:pt idx="3">
                  <c:v>2.0</c:v>
                </c:pt>
                <c:pt idx="4">
                  <c:v>1.0</c:v>
                </c:pt>
                <c:pt idx="5">
                  <c:v>1.0</c:v>
                </c:pt>
                <c:pt idx="6">
                  <c:v>0.0</c:v>
                </c:pt>
                <c:pt idx="7">
                  <c:v>1.0</c:v>
                </c:pt>
                <c:pt idx="8">
                  <c:v>0.0</c:v>
                </c:pt>
                <c:pt idx="9">
                  <c:v>0.0</c:v>
                </c:pt>
                <c:pt idx="10">
                  <c:v>1.0</c:v>
                </c:pt>
                <c:pt idx="11">
                  <c:v>2.0</c:v>
                </c:pt>
                <c:pt idx="12">
                  <c:v>0.0</c:v>
                </c:pt>
                <c:pt idx="13">
                  <c:v>0.0</c:v>
                </c:pt>
                <c:pt idx="14">
                  <c:v>1.0</c:v>
                </c:pt>
                <c:pt idx="15">
                  <c:v>1.0</c:v>
                </c:pt>
                <c:pt idx="16">
                  <c:v>1.0</c:v>
                </c:pt>
                <c:pt idx="17">
                  <c:v>2.0</c:v>
                </c:pt>
                <c:pt idx="18">
                  <c:v>1.0</c:v>
                </c:pt>
                <c:pt idx="19">
                  <c:v>1.0</c:v>
                </c:pt>
                <c:pt idx="20">
                  <c:v>3.0</c:v>
                </c:pt>
                <c:pt idx="21">
                  <c:v>2.0</c:v>
                </c:pt>
                <c:pt idx="22">
                  <c:v>2.0</c:v>
                </c:pt>
                <c:pt idx="23">
                  <c:v>2.0</c:v>
                </c:pt>
                <c:pt idx="24">
                  <c:v>2.0</c:v>
                </c:pt>
              </c:numCache>
            </c:numRef>
          </c:val>
        </c:ser>
        <c:dLbls>
          <c:numFmt formatCode="0.0#" sourceLinked="0"/>
          <c:txPr>
            <a:bodyPr/>
            <a:lstStyle/>
            <a:p>
              <a:pPr>
                <a:defRPr sz="2000" b="1">
                  <a:solidFill>
                    <a:srgbClr val="111827"/>
                  </a:solidFill>
                  <a:latin typeface="Arial"/>
                </a:defRPr>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b"/>
        <c:majorTickMark val="out"/>
        <c:minorTickMark val="none"/>
        <c:tickLblPos val="nextTo"/>
        <c:txPr>
          <a:bodyPr/>
          <a:lstStyle/>
          <a:p>
            <a:pPr>
              <a:defRPr sz="2000" b="1">
                <a:latin typeface="Arial"/>
              </a:defRPr>
            </a:pPr>
          </a:p>
        </c:txPr>
        <c:crossAx val="-2113994440"/>
        <c:crosses val="autoZero"/>
        <c:auto val="1"/>
        <c:lblAlgn val="ctr"/>
        <c:lblOffset val="100"/>
        <c:noMultiLvlLbl val="0"/>
      </c:catAx>
      <c:valAx>
        <c:axId val="-2113994440"/>
        <c:scaling>
          <c:max val="5.5"/>
          <c:min val="0.0"/>
        </c:scaling>
        <c:delete val="0"/>
        <c:axPos val="l"/>
        <c:majorGridlines>
          <c:spPr>
            <a:ln>
              <a:solidFill>
                <a:srgbClr val="D1D5DB"/>
              </a:solidFill>
            </a:ln>
          </c:spPr>
        </c:majorGridlines>
        <c:title>
          <c:tx>
            <c:rich>
              <a:bodyPr/>
              <a:lstStyle/>
              <a:p>
                <a:r>
                  <a:rPr sz="2000"/>
                  <a:t>Level</a:t>
                </a:r>
              </a:p>
            </c:rich>
          </c:tx>
          <c:layout/>
          <c:overlay val="0"/>
        </c:title>
        <c:majorTickMark val="out"/>
        <c:minorTickMark val="none"/>
        <c:tickLblPos val="nextTo"/>
        <c:txPr>
          <a:bodyPr/>
          <a:lstStyle/>
          <a:p>
            <a:pPr>
              <a:defRPr sz="2000">
                <a:latin typeface="Arial"/>
              </a:defRPr>
            </a:pPr>
          </a:p>
        </c:txPr>
        <c:crossAx val="-2068027336"/>
        <c:crosses val="autoZero"/>
        <c:majorUnit val="1.0"/>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 stops after finding $x_1=R/\sqrt2$ and states the key (D) without showing the LMVT part. Steps 4-8 were added: chord slope $\sqrt2R$, solving $A'(c)=\sqrt2R$ gives $c=\frac R4\sqrt{7-\sqrt{17}}\approx0.424R$, matching none of (A)-(C). Key (D)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 proves only the lower bound (at least 2 distinct roots) and then states 2 as the answer. A minimum also needs an example with exactly 2 roots; the last two steps (f=1-3x, g has one root near -0.338) were added. The answer 2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a:lstStyle>
            <a:lvl1pPr>
              <a:defRPr sz="4000">
                <a:solidFill>
                  <a:srgbClr val="FFFFFF"/>
                </a:solidFill>
              </a:defRPr>
            </a:lvl1pPr>
          </a:lstStyle>
          <a:p>
            <a:pPr algn="ctr">
              <a:defRPr sz="4000">
                <a:solidFill>
                  <a:srgbClr val="FFFFFF"/>
                </a:solidFill>
              </a:defRPr>
            </a:pPr>
            <a:r>
              <a:rPr sz="4000" b="1">
                <a:solidFill>
                  <a:srgbClr val="FFFFFF"/>
                </a:solidFill>
                <a:latin typeface="Arial"/>
              </a:rPr>
              <a:t>PRT 07 — Paper Analysis</a:t>
            </a:r>
            <a:endParaRPr sz="4000">
              <a:solidFill>
                <a:srgbClr val="FFFFFF"/>
              </a:solidFill>
            </a:endParaRPr>
          </a:p>
          <a:p>
            <a:pPr algn="ctr"/>
            <a:r>
              <a:rPr sz="2200">
                <a:solidFill>
                  <a:srgbClr val="FFFFFF"/>
                </a:solidFill>
                <a:latin typeface="Arial"/>
              </a:rPr>
              <a:t>Paper 01 · JEE Main · detailed solutions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1</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Single Correct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Q01 – Q20</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Marks not printed in the paper: JEE Advanced default of 4 per question assumed</a:t>
            </a:r>
            <a:endParaRPr sz="2800">
              <a:solidFill>
                <a:srgbClr val="FFFFFF"/>
              </a:solidFill>
            </a:endParaR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92506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𝑄</m:t>
                    </m:r>
                  </m:oMath>
                </a14:m>
                <a:r>
                  <a:rPr sz="2400" b="0">
                    <a:solidFill>
                      <a:srgbClr val="111827"/>
                    </a:solidFill>
                    <a:latin typeface="Arial"/>
                  </a:rPr>
                  <a:t> be the points of contact of the common tangents to the parabola </a:t>
                </a:r>
                <a14:m>
                  <m:oMath xmlns:m="http://schemas.openxmlformats.org/officeDocument/2006/math">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oMath>
                </a14:m>
                <a:r>
                  <a:rPr sz="2400" b="0">
                    <a:solidFill>
                      <a:srgbClr val="111827"/>
                    </a:solidFill>
                    <a:latin typeface="Arial"/>
                  </a:rPr>
                  <a:t> and the circle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on the parabola, and let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be their corresponding points of contact on the circle. Then the area (in sq. units) of the quadrilateral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𝑆</m:t>
                    </m:r>
                    <m:r>
                      <a:rPr lang="en-IN" sz="2400" i="1">
                        <a:solidFill>
                          <a:srgbClr val="111827"/>
                        </a:solidFill>
                        <a:latin typeface="Cambria Math" panose="02040503050406030204" pitchFamily="18" charset="0"/>
                      </a:rPr>
                      <m:t>𝑄</m:t>
                    </m:r>
                  </m:oMath>
                </a14:m>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21</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4</m:t>
                        </m:r>
                      </m:den>
                    </m:f>
                  </m:oMath>
                </a14:m>
                <a:r>
                  <a:rPr sz="2400" b="0">
                    <a:solidFill>
                      <a:srgbClr val="111827"/>
                    </a:solidFill>
                    <a:latin typeface="Arial"/>
                  </a:rPr>
                  <a:t>   (B)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21</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oMath>
                </a14:m>
                <a:r>
                  <a:rPr sz="2400" b="0">
                    <a:solidFill>
                      <a:srgbClr val="111827"/>
                    </a:solidFill>
                    <a:latin typeface="Arial"/>
                  </a:rPr>
                  <a:t>   (C)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oMath>
                </a14:m>
                <a:r>
                  <a:rPr sz="2400" b="0">
                    <a:solidFill>
                      <a:srgbClr val="111827"/>
                    </a:solidFill>
                    <a:latin typeface="Arial"/>
                  </a:rPr>
                  <a:t>   (D)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4</m:t>
                        </m:r>
                      </m:den>
                    </m:f>
                  </m:oMath>
                </a14:m>
                <a:endParaRPr sz="2400">
                  <a:solidFill>
                    <a:srgbClr val="111827"/>
                  </a:solidFill>
                </a:endParaRPr>
              </a:p>
            </p:txBody>
          </p:sp>
        </mc:Choice>
        <mc:Fallback>
          <p:sp>
            <p:nvSpPr>
              <p:cNvPr id="4" name="Rounded Rectangle 3"/>
              <p:cNvSpPr/>
              <p:nvPr/>
            </p:nvSpPr>
            <p:spPr>
              <a:xfrm>
                <a:off x="731520" y="1280160"/>
                <a:ext cx="10725912" cy="292506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$P$</a:t>
                </a:r>
                <a:r>
                  <a:rPr sz="2400" b="0">
                    <a:solidFill>
                      <a:srgbClr val="111827"/>
                    </a:solidFill>
                    <a:latin typeface="Arial"/>
                  </a:rPr>
                  <a:t> and </a:t>
                </a:r>
                <a:r>
                  <a:rPr lang="en-IN" sz="2400">
                    <a:solidFill>
                      <a:srgbClr val="111827"/>
                    </a:solidFill>
                    <a:latin typeface="Cambria Math" panose="02040503050406030204" pitchFamily="18" charset="0"/>
                  </a:rPr>
                  <a:t>$Q$</a:t>
                </a:r>
                <a:r>
                  <a:rPr sz="2400" b="0">
                    <a:solidFill>
                      <a:srgbClr val="111827"/>
                    </a:solidFill>
                    <a:latin typeface="Arial"/>
                  </a:rPr>
                  <a:t> be the points of contact of the common tangents to the parabola </a:t>
                </a:r>
                <a:r>
                  <a:rPr lang="en-IN" sz="2400">
                    <a:solidFill>
                      <a:srgbClr val="111827"/>
                    </a:solidFill>
                    <a:latin typeface="Cambria Math" panose="02040503050406030204" pitchFamily="18" charset="0"/>
                  </a:rPr>
                  <a:t>$y^2=4x$</a:t>
                </a:r>
                <a:r>
                  <a:rPr sz="2400" b="0">
                    <a:solidFill>
                      <a:srgbClr val="111827"/>
                    </a:solidFill>
                    <a:latin typeface="Arial"/>
                  </a:rPr>
                  <a:t> and the circle </a:t>
                </a:r>
                <a:r>
                  <a:rPr lang="en-IN" sz="2400">
                    <a:solidFill>
                      <a:srgbClr val="111827"/>
                    </a:solidFill>
                    <a:latin typeface="Cambria Math" panose="02040503050406030204" pitchFamily="18" charset="0"/>
                  </a:rPr>
                  <a:t>$x^2+y^2-6x=0$</a:t>
                </a:r>
                <a:r>
                  <a:rPr sz="2400" b="0">
                    <a:solidFill>
                      <a:srgbClr val="111827"/>
                    </a:solidFill>
                    <a:latin typeface="Arial"/>
                  </a:rPr>
                  <a:t> on the parabola, and let </a:t>
                </a:r>
                <a:r>
                  <a:rPr lang="en-IN" sz="2400">
                    <a:solidFill>
                      <a:srgbClr val="111827"/>
                    </a:solidFill>
                    <a:latin typeface="Cambria Math" panose="02040503050406030204" pitchFamily="18" charset="0"/>
                  </a:rPr>
                  <a:t>$R$</a:t>
                </a:r>
                <a:r>
                  <a:rPr sz="2400" b="0">
                    <a:solidFill>
                      <a:srgbClr val="111827"/>
                    </a:solidFill>
                    <a:latin typeface="Arial"/>
                  </a:rPr>
                  <a:t> and </a:t>
                </a:r>
                <a:r>
                  <a:rPr lang="en-IN" sz="2400">
                    <a:solidFill>
                      <a:srgbClr val="111827"/>
                    </a:solidFill>
                    <a:latin typeface="Cambria Math" panose="02040503050406030204" pitchFamily="18" charset="0"/>
                  </a:rPr>
                  <a:t>$S$</a:t>
                </a:r>
                <a:r>
                  <a:rPr sz="2400" b="0">
                    <a:solidFill>
                      <a:srgbClr val="111827"/>
                    </a:solidFill>
                    <a:latin typeface="Arial"/>
                  </a:rPr>
                  <a:t> be their corresponding points of contact on the circle. Then the area (in sq. units) of the quadrilateral </a:t>
                </a:r>
                <a:r>
                  <a:rPr lang="en-IN" sz="2400">
                    <a:solidFill>
                      <a:srgbClr val="111827"/>
                    </a:solidFill>
                    <a:latin typeface="Cambria Math" panose="02040503050406030204" pitchFamily="18" charset="0"/>
                  </a:rPr>
                  <a:t>$PRSQ$</a:t>
                </a:r>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$\frac{21\sqrt3}{4}$</a:t>
                </a:r>
                <a:r>
                  <a:rPr sz="2400" b="0">
                    <a:solidFill>
                      <a:srgbClr val="111827"/>
                    </a:solidFill>
                    <a:latin typeface="Arial"/>
                  </a:rPr>
                  <a:t>   (B) </a:t>
                </a:r>
                <a:r>
                  <a:rPr lang="en-IN" sz="2400">
                    <a:solidFill>
                      <a:srgbClr val="111827"/>
                    </a:solidFill>
                    <a:latin typeface="Cambria Math" panose="02040503050406030204" pitchFamily="18" charset="0"/>
                  </a:rPr>
                  <a:t>$\frac{21\sqrt3}{2}$</a:t>
                </a:r>
                <a:r>
                  <a:rPr sz="2400" b="0">
                    <a:solidFill>
                      <a:srgbClr val="111827"/>
                    </a:solidFill>
                    <a:latin typeface="Arial"/>
                  </a:rPr>
                  <a:t>   (C) </a:t>
                </a:r>
                <a:r>
                  <a:rPr lang="en-IN" sz="2400">
                    <a:solidFill>
                      <a:srgbClr val="111827"/>
                    </a:solidFill>
                    <a:latin typeface="Cambria Math" panose="02040503050406030204" pitchFamily="18" charset="0"/>
                  </a:rPr>
                  <a:t>$\frac{7\sqrt3}{2}$</a:t>
                </a:r>
                <a:r>
                  <a:rPr sz="2400" b="0">
                    <a:solidFill>
                      <a:srgbClr val="111827"/>
                    </a:solidFill>
                    <a:latin typeface="Arial"/>
                  </a:rPr>
                  <a:t>   (D) </a:t>
                </a:r>
                <a:r>
                  <a:rPr lang="en-IN" sz="2400">
                    <a:solidFill>
                      <a:srgbClr val="111827"/>
                    </a:solidFill>
                    <a:latin typeface="Cambria Math" panose="02040503050406030204" pitchFamily="18" charset="0"/>
                  </a:rPr>
                  <a:t>$\frac{7\sqrt3}{4}$</a:t>
                </a:r>
                <a:endParaRPr sz="2400">
                  <a:solidFill>
                    <a:srgbClr val="111827"/>
                  </a:solidFill>
                </a:endParaRPr>
              </a:p>
            </p:txBody>
          </p:sp>
        </mc:Fallback>
      </mc:AlternateContent>
      <p:sp>
        <p:nvSpPr>
          <p:cNvPr id="5" name="Rectangle 4"/>
          <p:cNvSpPr/>
          <p:nvPr/>
        </p:nvSpPr>
        <p:spPr>
          <a:xfrm>
            <a:off x="731520" y="4433823"/>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Equation of a tangent to a parabola, Condition of tangency of a line to a circle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common tangents are symmetric about the </a:t>
                </a:r>
                <a14:m>
                  <m:oMath xmlns:m="http://schemas.openxmlformats.org/officeDocument/2006/math">
                    <m:r>
                      <a:rPr lang="en-IN" sz="2400" i="1">
                        <a:solidFill>
                          <a:srgbClr val="78350F"/>
                        </a:solidFill>
                        <a:latin typeface="Cambria Math" panose="02040503050406030204" pitchFamily="18" charset="0"/>
                      </a:rPr>
                      <m:t>𝑥</m:t>
                    </m:r>
                  </m:oMath>
                </a14:m>
                <a:r>
                  <a:rPr sz="2400" b="0">
                    <a:solidFill>
                      <a:srgbClr val="78350F"/>
                    </a:solidFill>
                    <a:latin typeface="Arial"/>
                  </a:rPr>
                  <a:t>-axis, so </a:t>
                </a:r>
                <a14:m>
                  <m:oMath xmlns:m="http://schemas.openxmlformats.org/officeDocument/2006/math">
                    <m:r>
                      <a:rPr lang="en-IN" sz="2400" i="1">
                        <a:solidFill>
                          <a:srgbClr val="78350F"/>
                        </a:solidFill>
                        <a:latin typeface="Cambria Math" panose="02040503050406030204" pitchFamily="18" charset="0"/>
                      </a:rPr>
                      <m:t>𝑃</m:t>
                    </m:r>
                    <m:r>
                      <a:rPr lang="en-IN" sz="2400" i="1">
                        <a:solidFill>
                          <a:srgbClr val="78350F"/>
                        </a:solidFill>
                        <a:latin typeface="Cambria Math" panose="02040503050406030204" pitchFamily="18" charset="0"/>
                      </a:rPr>
                      <m:t>𝑄</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𝑅</m:t>
                    </m:r>
                    <m:r>
                      <a:rPr lang="en-IN" sz="2400" i="1">
                        <a:solidFill>
                          <a:srgbClr val="78350F"/>
                        </a:solidFill>
                        <a:latin typeface="Cambria Math" panose="02040503050406030204" pitchFamily="18" charset="0"/>
                      </a:rPr>
                      <m:t>𝑆</m:t>
                    </m:r>
                  </m:oMath>
                </a14:m>
                <a:r>
                  <a:rPr sz="2400" b="0">
                    <a:solidFill>
                      <a:srgbClr val="78350F"/>
                    </a:solidFill>
                    <a:latin typeface="Arial"/>
                  </a:rPr>
                  <a:t> are parallel vertical chords and </a:t>
                </a:r>
                <a14:m>
                  <m:oMath xmlns:m="http://schemas.openxmlformats.org/officeDocument/2006/math">
                    <m:r>
                      <a:rPr lang="en-IN" sz="2400" i="1">
                        <a:solidFill>
                          <a:srgbClr val="78350F"/>
                        </a:solidFill>
                        <a:latin typeface="Cambria Math" panose="02040503050406030204" pitchFamily="18" charset="0"/>
                      </a:rPr>
                      <m:t>𝑃</m:t>
                    </m:r>
                    <m:r>
                      <a:rPr lang="en-IN" sz="2400" i="1">
                        <a:solidFill>
                          <a:srgbClr val="78350F"/>
                        </a:solidFill>
                        <a:latin typeface="Cambria Math" panose="02040503050406030204" pitchFamily="18" charset="0"/>
                      </a:rPr>
                      <m:t>𝑅</m:t>
                    </m:r>
                    <m:r>
                      <a:rPr lang="en-IN" sz="2400" i="1">
                        <a:solidFill>
                          <a:srgbClr val="78350F"/>
                        </a:solidFill>
                        <a:latin typeface="Cambria Math" panose="02040503050406030204" pitchFamily="18" charset="0"/>
                      </a:rPr>
                      <m:t>𝑆</m:t>
                    </m:r>
                    <m:r>
                      <a:rPr lang="en-IN" sz="2400" i="1">
                        <a:solidFill>
                          <a:srgbClr val="78350F"/>
                        </a:solidFill>
                        <a:latin typeface="Cambria Math" panose="02040503050406030204" pitchFamily="18" charset="0"/>
                      </a:rPr>
                      <m:t>𝑄</m:t>
                    </m:r>
                  </m:oMath>
                </a14:m>
                <a:r>
                  <a:rPr sz="2400" b="0">
                    <a:solidFill>
                      <a:srgbClr val="78350F"/>
                    </a:solidFill>
                    <a:latin typeface="Arial"/>
                  </a:rPr>
                  <a:t> is a trapezoid.</a:t>
                </a:r>
                <a:endParaRPr sz="2400">
                  <a:solidFill>
                    <a:srgbClr val="78350F"/>
                  </a:solidFill>
                </a:endParaRPr>
              </a:p>
            </p:txBody>
          </p:sp>
        </mc:Choice>
        <mc:Fallback>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common tangents are symmetric about the </a:t>
                </a:r>
                <a:r>
                  <a:rPr lang="en-IN" sz="2400">
                    <a:solidFill>
                      <a:srgbClr val="78350F"/>
                    </a:solidFill>
                    <a:latin typeface="Cambria Math" panose="02040503050406030204" pitchFamily="18" charset="0"/>
                  </a:rPr>
                  <a:t>$x$</a:t>
                </a:r>
                <a:r>
                  <a:rPr sz="2400" b="0">
                    <a:solidFill>
                      <a:srgbClr val="78350F"/>
                    </a:solidFill>
                    <a:latin typeface="Arial"/>
                  </a:rPr>
                  <a:t>-axis, so </a:t>
                </a:r>
                <a:r>
                  <a:rPr lang="en-IN" sz="2400">
                    <a:solidFill>
                      <a:srgbClr val="78350F"/>
                    </a:solidFill>
                    <a:latin typeface="Cambria Math" panose="02040503050406030204" pitchFamily="18" charset="0"/>
                  </a:rPr>
                  <a:t>$PQ$</a:t>
                </a:r>
                <a:r>
                  <a:rPr sz="2400" b="0">
                    <a:solidFill>
                      <a:srgbClr val="78350F"/>
                    </a:solidFill>
                    <a:latin typeface="Arial"/>
                  </a:rPr>
                  <a:t> and </a:t>
                </a:r>
                <a:r>
                  <a:rPr lang="en-IN" sz="2400">
                    <a:solidFill>
                      <a:srgbClr val="78350F"/>
                    </a:solidFill>
                    <a:latin typeface="Cambria Math" panose="02040503050406030204" pitchFamily="18" charset="0"/>
                  </a:rPr>
                  <a:t>$RS$</a:t>
                </a:r>
                <a:r>
                  <a:rPr sz="2400" b="0">
                    <a:solidFill>
                      <a:srgbClr val="78350F"/>
                    </a:solidFill>
                    <a:latin typeface="Arial"/>
                  </a:rPr>
                  <a:t> are parallel vertical chords and </a:t>
                </a:r>
                <a:r>
                  <a:rPr lang="en-IN" sz="2400">
                    <a:solidFill>
                      <a:srgbClr val="78350F"/>
                    </a:solidFill>
                    <a:latin typeface="Cambria Math" panose="02040503050406030204" pitchFamily="18" charset="0"/>
                  </a:rPr>
                  <a:t>$PRSQ$</a:t>
                </a:r>
                <a:r>
                  <a:rPr sz="2400" b="0">
                    <a:solidFill>
                      <a:srgbClr val="78350F"/>
                    </a:solidFill>
                    <a:latin typeface="Arial"/>
                  </a:rPr>
                  <a:t> is a trapezoid.</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Any tangent to the parabola </a:t>
                </a:r>
                <a14:m>
                  <m:oMath xmlns:m="http://schemas.openxmlformats.org/officeDocument/2006/math">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𝑚</m:t>
                        </m:r>
                      </m:den>
                    </m:f>
                  </m:oMath>
                </a14:m>
                <a:r>
                  <a:rPr sz="2400" b="0">
                    <a:solidFill>
                      <a:srgbClr val="111827"/>
                    </a:solidFill>
                    <a:latin typeface="Arial"/>
                  </a:rPr>
                  <a:t>, i.e. </a:t>
                </a:r>
                <a14:m>
                  <m:oMath xmlns:m="http://schemas.openxmlformats.org/officeDocument/2006/math">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circle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has centre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radius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The line is also tangent to the circle, so the distance from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to it equals the radius.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2</m:t>
                                </m:r>
                              </m:sup>
                            </m:sSup>
                          </m:e>
                        </m:rad>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Any tangent to the parabola </a:t>
                </a:r>
                <a:r>
                  <a:rPr lang="en-IN" sz="2400">
                    <a:solidFill>
                      <a:srgbClr val="111827"/>
                    </a:solidFill>
                    <a:latin typeface="Cambria Math" panose="02040503050406030204" pitchFamily="18" charset="0"/>
                  </a:rPr>
                  <a:t>$y^2=4x$</a:t>
                </a:r>
                <a:r>
                  <a:rPr sz="2400" b="0">
                    <a:solidFill>
                      <a:srgbClr val="111827"/>
                    </a:solidFill>
                    <a:latin typeface="Arial"/>
                  </a:rPr>
                  <a:t> is </a:t>
                </a:r>
                <a:r>
                  <a:rPr lang="en-IN" sz="2400">
                    <a:solidFill>
                      <a:srgbClr val="111827"/>
                    </a:solidFill>
                    <a:latin typeface="Cambria Math" panose="02040503050406030204" pitchFamily="18" charset="0"/>
                  </a:rPr>
                  <a:t>$y=mx+\frac1m$</a:t>
                </a:r>
                <a:r>
                  <a:rPr sz="2400" b="0">
                    <a:solidFill>
                      <a:srgbClr val="111827"/>
                    </a:solidFill>
                    <a:latin typeface="Arial"/>
                  </a:rPr>
                  <a:t>, i.e. </a:t>
                </a:r>
                <a:r>
                  <a:rPr lang="en-IN" sz="2400">
                    <a:solidFill>
                      <a:srgbClr val="111827"/>
                    </a:solidFill>
                    <a:latin typeface="Cambria Math" panose="02040503050406030204" pitchFamily="18" charset="0"/>
                  </a:rPr>
                  <a:t>$m^2x-my+1=0$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circle </a:t>
                </a:r>
                <a:r>
                  <a:rPr lang="en-IN" sz="2400">
                    <a:solidFill>
                      <a:srgbClr val="111827"/>
                    </a:solidFill>
                    <a:latin typeface="Cambria Math" panose="02040503050406030204" pitchFamily="18" charset="0"/>
                  </a:rPr>
                  <a:t>$x^2+y^2-6x=0$</a:t>
                </a:r>
                <a:r>
                  <a:rPr sz="2400" b="0">
                    <a:solidFill>
                      <a:srgbClr val="111827"/>
                    </a:solidFill>
                    <a:latin typeface="Arial"/>
                  </a:rPr>
                  <a:t> has centre </a:t>
                </a:r>
                <a:r>
                  <a:rPr lang="en-IN" sz="2400">
                    <a:solidFill>
                      <a:srgbClr val="111827"/>
                    </a:solidFill>
                    <a:latin typeface="Cambria Math" panose="02040503050406030204" pitchFamily="18" charset="0"/>
                  </a:rPr>
                  <a:t>$(3,0)$</a:t>
                </a:r>
                <a:r>
                  <a:rPr sz="2400" b="0">
                    <a:solidFill>
                      <a:srgbClr val="111827"/>
                    </a:solidFill>
                    <a:latin typeface="Arial"/>
                  </a:rPr>
                  <a:t> and radius </a:t>
                </a:r>
                <a:r>
                  <a:rPr lang="en-IN" sz="2400">
                    <a:solidFill>
                      <a:srgbClr val="111827"/>
                    </a:solidFill>
                    <a:latin typeface="Cambria Math" panose="02040503050406030204" pitchFamily="18" charset="0"/>
                  </a:rPr>
                  <a:t>$3$</a:t>
                </a:r>
                <a:r>
                  <a:rPr sz="2400" b="0">
                    <a:solidFill>
                      <a:srgbClr val="111827"/>
                    </a:solidFill>
                    <a:latin typeface="Arial"/>
                  </a:rPr>
                  <a:t>. The line is also tangent to the circle, so the distance from </a:t>
                </a:r>
                <a:r>
                  <a:rPr lang="en-IN" sz="2400">
                    <a:solidFill>
                      <a:srgbClr val="111827"/>
                    </a:solidFill>
                    <a:latin typeface="Cambria Math" panose="02040503050406030204" pitchFamily="18" charset="0"/>
                  </a:rPr>
                  <a:t>$(3,0)$</a:t>
                </a:r>
                <a:r>
                  <a:rPr sz="2400" b="0">
                    <a:solidFill>
                      <a:srgbClr val="111827"/>
                    </a:solidFill>
                    <a:latin typeface="Arial"/>
                  </a:rPr>
                  <a:t> to it equals the radius.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$\frac{|3m^2+1|}{\sqrt{m^4+m^2}}=3\Rightarrow(3m^2+1)^2=9m^2(m^2+1)$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9</m:t>
                    </m:r>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 the point of contact on the parabola is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 it is </a:t>
                </a:r>
                <a14:m>
                  <m:oMath xmlns:m="http://schemas.openxmlformats.org/officeDocument/2006/math">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 the tangent is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the normal through the centre is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Solving them gives </a:t>
                </a:r>
                <a14:m>
                  <m:oMath xmlns:m="http://schemas.openxmlformats.org/officeDocument/2006/math">
                    <m:r>
                      <a:rPr lang="en-IN" sz="2400" i="1">
                        <a:solidFill>
                          <a:srgbClr val="111827"/>
                        </a:solidFill>
                        <a:latin typeface="Cambria Math" panose="02040503050406030204" pitchFamily="18" charset="0"/>
                      </a:rPr>
                      <m:t>𝑅</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$9m^4+6m^2+1=9m^4+9m^2\Rightarrow 3m^2=1\Rightarrow m=\pm\frac1{\sqrt3}$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$m=\frac1{\sqrt3}$</a:t>
                </a:r>
                <a:r>
                  <a:rPr sz="2400" b="0">
                    <a:solidFill>
                      <a:srgbClr val="111827"/>
                    </a:solidFill>
                    <a:latin typeface="Arial"/>
                  </a:rPr>
                  <a:t> the point of contact on the parabola is </a:t>
                </a:r>
                <a:r>
                  <a:rPr lang="en-IN" sz="2400">
                    <a:solidFill>
                      <a:srgbClr val="111827"/>
                    </a:solidFill>
                    <a:latin typeface="Cambria Math" panose="02040503050406030204" pitchFamily="18" charset="0"/>
                  </a:rPr>
                  <a:t>$P(3,2\sqrt3)$</a:t>
                </a:r>
                <a:r>
                  <a:rPr sz="2400" b="0">
                    <a:solidFill>
                      <a:srgbClr val="111827"/>
                    </a:solidFill>
                    <a:latin typeface="Arial"/>
                  </a:rPr>
                  <a:t>; for </a:t>
                </a:r>
                <a:r>
                  <a:rPr lang="en-IN" sz="2400">
                    <a:solidFill>
                      <a:srgbClr val="111827"/>
                    </a:solidFill>
                    <a:latin typeface="Cambria Math" panose="02040503050406030204" pitchFamily="18" charset="0"/>
                  </a:rPr>
                  <a:t>$m=-\frac1{\sqrt3}$</a:t>
                </a:r>
                <a:r>
                  <a:rPr sz="2400" b="0">
                    <a:solidFill>
                      <a:srgbClr val="111827"/>
                    </a:solidFill>
                    <a:latin typeface="Arial"/>
                  </a:rPr>
                  <a:t> it is </a:t>
                </a:r>
                <a:r>
                  <a:rPr lang="en-IN" sz="2400">
                    <a:solidFill>
                      <a:srgbClr val="111827"/>
                    </a:solidFill>
                    <a:latin typeface="Cambria Math" panose="02040503050406030204" pitchFamily="18" charset="0"/>
                  </a:rPr>
                  <a:t>$Q(3,-2\sqrt3)$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$m=\frac1{\sqrt3}$</a:t>
                </a:r>
                <a:r>
                  <a:rPr sz="2400" b="0">
                    <a:solidFill>
                      <a:srgbClr val="111827"/>
                    </a:solidFill>
                    <a:latin typeface="Arial"/>
                  </a:rPr>
                  <a:t> the tangent is </a:t>
                </a:r>
                <a:r>
                  <a:rPr lang="en-IN" sz="2400">
                    <a:solidFill>
                      <a:srgbClr val="111827"/>
                    </a:solidFill>
                    <a:latin typeface="Cambria Math" panose="02040503050406030204" pitchFamily="18" charset="0"/>
                  </a:rPr>
                  <a:t>$x-\sqrt3y+3=0$</a:t>
                </a:r>
                <a:r>
                  <a:rPr sz="2400" b="0">
                    <a:solidFill>
                      <a:srgbClr val="111827"/>
                    </a:solidFill>
                    <a:latin typeface="Arial"/>
                  </a:rPr>
                  <a:t> and the normal through the centre is </a:t>
                </a:r>
                <a:r>
                  <a:rPr lang="en-IN" sz="2400">
                    <a:solidFill>
                      <a:srgbClr val="111827"/>
                    </a:solidFill>
                    <a:latin typeface="Cambria Math" panose="02040503050406030204" pitchFamily="18" charset="0"/>
                  </a:rPr>
                  <a:t>$\sqrt3x+y-3\sqrt3=0$</a:t>
                </a:r>
                <a:r>
                  <a:rPr sz="2400" b="0">
                    <a:solidFill>
                      <a:srgbClr val="111827"/>
                    </a:solidFill>
                    <a:latin typeface="Arial"/>
                  </a:rPr>
                  <a:t>. Solving them gives </a:t>
                </a:r>
                <a:r>
                  <a:rPr lang="en-IN" sz="2400">
                    <a:solidFill>
                      <a:srgbClr val="111827"/>
                    </a:solidFill>
                    <a:latin typeface="Cambria Math" panose="02040503050406030204" pitchFamily="18" charset="0"/>
                  </a:rPr>
                  <a:t>$R\left(\frac32,\frac{3\sqrt3}2\right)$</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 by symmetry, the point of contact on the circle is </a:t>
                </a:r>
                <a14:m>
                  <m:oMath xmlns:m="http://schemas.openxmlformats.org/officeDocument/2006/math">
                    <m:r>
                      <a:rPr lang="en-IN" sz="2400" i="1">
                        <a:solidFill>
                          <a:srgbClr val="111827"/>
                        </a:solidFill>
                        <a:latin typeface="Cambria Math" panose="02040503050406030204" pitchFamily="18" charset="0"/>
                      </a:rPr>
                      <m:t>𝑆</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vertices of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𝑆</m:t>
                    </m:r>
                    <m:r>
                      <a:rPr lang="en-IN" sz="2400" i="1">
                        <a:solidFill>
                          <a:srgbClr val="111827"/>
                        </a:solidFill>
                        <a:latin typeface="Cambria Math" panose="02040503050406030204" pitchFamily="18" charset="0"/>
                      </a:rPr>
                      <m:t>𝑄</m:t>
                    </m:r>
                  </m:oMath>
                </a14:m>
                <a:r>
                  <a:rPr sz="2400" b="0">
                    <a:solidFill>
                      <a:srgbClr val="111827"/>
                    </a:solidFill>
                    <a:latin typeface="Arial"/>
                  </a:rPr>
                  <a:t> are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𝑅</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𝑆</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oMath>
                </a14:m>
                <a:r>
                  <a:rPr sz="2400" b="0">
                    <a:solidFill>
                      <a:srgbClr val="111827"/>
                    </a:solidFill>
                    <a:latin typeface="Arial"/>
                  </a:rPr>
                  <a:t>: a trapezoid with parallel sides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and height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Area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21</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$m=-\frac1{\sqrt3}$</a:t>
                </a:r>
                <a:r>
                  <a:rPr sz="2400" b="0">
                    <a:solidFill>
                      <a:srgbClr val="111827"/>
                    </a:solidFill>
                    <a:latin typeface="Arial"/>
                  </a:rPr>
                  <a:t>, by symmetry, the point of contact on the circle is </a:t>
                </a:r>
                <a:r>
                  <a:rPr lang="en-IN" sz="2400">
                    <a:solidFill>
                      <a:srgbClr val="111827"/>
                    </a:solidFill>
                    <a:latin typeface="Cambria Math" panose="02040503050406030204" pitchFamily="18" charset="0"/>
                  </a:rPr>
                  <a:t>$S\left(\frac32,-\frac{3\sqrt3}2\right)$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vertices of </a:t>
                </a:r>
                <a:r>
                  <a:rPr lang="en-IN" sz="2400">
                    <a:solidFill>
                      <a:srgbClr val="111827"/>
                    </a:solidFill>
                    <a:latin typeface="Cambria Math" panose="02040503050406030204" pitchFamily="18" charset="0"/>
                  </a:rPr>
                  <a:t>$PRSQ$</a:t>
                </a:r>
                <a:r>
                  <a:rPr sz="2400" b="0">
                    <a:solidFill>
                      <a:srgbClr val="111827"/>
                    </a:solidFill>
                    <a:latin typeface="Arial"/>
                  </a:rPr>
                  <a:t> are </a:t>
                </a:r>
                <a:r>
                  <a:rPr lang="en-IN" sz="2400">
                    <a:solidFill>
                      <a:srgbClr val="111827"/>
                    </a:solidFill>
                    <a:latin typeface="Cambria Math" panose="02040503050406030204" pitchFamily="18" charset="0"/>
                  </a:rPr>
                  <a:t>$P(3,2\sqrt3)$</a:t>
                </a:r>
                <a:r>
                  <a:rPr sz="2400" b="0">
                    <a:solidFill>
                      <a:srgbClr val="111827"/>
                    </a:solidFill>
                    <a:latin typeface="Arial"/>
                  </a:rPr>
                  <a:t>, </a:t>
                </a:r>
                <a:r>
                  <a:rPr lang="en-IN" sz="2400">
                    <a:solidFill>
                      <a:srgbClr val="111827"/>
                    </a:solidFill>
                    <a:latin typeface="Cambria Math" panose="02040503050406030204" pitchFamily="18" charset="0"/>
                  </a:rPr>
                  <a:t>$R\left(\frac32,\frac{3\sqrt3}2\right)$</a:t>
                </a:r>
                <a:r>
                  <a:rPr sz="2400" b="0">
                    <a:solidFill>
                      <a:srgbClr val="111827"/>
                    </a:solidFill>
                    <a:latin typeface="Arial"/>
                  </a:rPr>
                  <a:t>, </a:t>
                </a:r>
                <a:r>
                  <a:rPr lang="en-IN" sz="2400">
                    <a:solidFill>
                      <a:srgbClr val="111827"/>
                    </a:solidFill>
                    <a:latin typeface="Cambria Math" panose="02040503050406030204" pitchFamily="18" charset="0"/>
                  </a:rPr>
                  <a:t>$S\left(\frac32,-\frac{3\sqrt3}2\right)$</a:t>
                </a:r>
                <a:r>
                  <a:rPr sz="2400" b="0">
                    <a:solidFill>
                      <a:srgbClr val="111827"/>
                    </a:solidFill>
                    <a:latin typeface="Arial"/>
                  </a:rPr>
                  <a:t>, </a:t>
                </a:r>
                <a:r>
                  <a:rPr lang="en-IN" sz="2400">
                    <a:solidFill>
                      <a:srgbClr val="111827"/>
                    </a:solidFill>
                    <a:latin typeface="Cambria Math" panose="02040503050406030204" pitchFamily="18" charset="0"/>
                  </a:rPr>
                  <a:t>$Q(3,-2\sqrt3)$</a:t>
                </a:r>
                <a:r>
                  <a:rPr sz="2400" b="0">
                    <a:solidFill>
                      <a:srgbClr val="111827"/>
                    </a:solidFill>
                    <a:latin typeface="Arial"/>
                  </a:rPr>
                  <a:t>: a trapezoid with parallel sides </a:t>
                </a:r>
                <a:r>
                  <a:rPr lang="en-IN" sz="2400">
                    <a:solidFill>
                      <a:srgbClr val="111827"/>
                    </a:solidFill>
                    <a:latin typeface="Cambria Math" panose="02040503050406030204" pitchFamily="18" charset="0"/>
                  </a:rPr>
                  <a:t>$PQ=4\sqrt3$</a:t>
                </a:r>
                <a:r>
                  <a:rPr sz="2400" b="0">
                    <a:solidFill>
                      <a:srgbClr val="111827"/>
                    </a:solidFill>
                    <a:latin typeface="Arial"/>
                  </a:rPr>
                  <a:t>, </a:t>
                </a:r>
                <a:r>
                  <a:rPr lang="en-IN" sz="2400">
                    <a:solidFill>
                      <a:srgbClr val="111827"/>
                    </a:solidFill>
                    <a:latin typeface="Cambria Math" panose="02040503050406030204" pitchFamily="18" charset="0"/>
                  </a:rPr>
                  <a:t>$RS=3\sqrt3$</a:t>
                </a:r>
                <a:r>
                  <a:rPr sz="2400" b="0">
                    <a:solidFill>
                      <a:srgbClr val="111827"/>
                    </a:solidFill>
                    <a:latin typeface="Arial"/>
                  </a:rPr>
                  <a:t> and height </a:t>
                </a:r>
                <a:r>
                  <a:rPr lang="en-IN" sz="2400">
                    <a:solidFill>
                      <a:srgbClr val="111827"/>
                    </a:solidFill>
                    <a:latin typeface="Cambria Math" panose="02040503050406030204" pitchFamily="18" charset="0"/>
                  </a:rPr>
                  <a:t>$h=\frac32$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Area </a:t>
                </a:r>
                <a:r>
                  <a:rPr lang="en-IN" sz="2400">
                    <a:solidFill>
                      <a:srgbClr val="111827"/>
                    </a:solidFill>
                    <a:latin typeface="Cambria Math" panose="02040503050406030204" pitchFamily="18" charset="0"/>
                  </a:rPr>
                  <a:t>$=\frac12(PQ+RS)\times h=\frac12(4\sqrt3+3\sqrt3)\times\frac32=\frac{21\sqrt3}4$</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21</m:t>
                        </m:r>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3</m:t>
                            </m:r>
                          </m:e>
                        </m:rad>
                      </m:num>
                      <m:den>
                        <m:r>
                          <a:rPr lang="en-IN" sz="2800" i="1">
                            <a:solidFill>
                              <a:srgbClr val="15803D"/>
                            </a:solidFill>
                            <a:latin typeface="Cambria Math" panose="02040503050406030204" pitchFamily="18" charset="0"/>
                          </a:rPr>
                          <m:t>4</m:t>
                        </m:r>
                      </m:den>
                    </m:f>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r>
                  <a:rPr lang="en-IN" sz="2800">
                    <a:solidFill>
                      <a:srgbClr val="15803D"/>
                    </a:solidFill>
                    <a:latin typeface="Cambria Math" panose="02040503050406030204" pitchFamily="18" charset="0"/>
                  </a:rPr>
                  <a:t>$\frac{21\sqrt3}{4}$</a:t>
                </a:r>
                <a:endParaRPr sz="2800">
                  <a:solidFill>
                    <a:srgbClr val="15803D"/>
                  </a:solidFill>
                </a:endParaRPr>
              </a:p>
            </p:txBody>
          </p:sp>
        </mc:Fallback>
      </mc:AlternateContent>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The two common tangents meet on the axis at </a:t>
                </a:r>
                <a14:m>
                  <m:oMath xmlns:m="http://schemas.openxmlformats.org/officeDocument/2006/math">
                    <m:r>
                      <a:rPr lang="en-IN" sz="2400" i="1">
                        <a:solidFill>
                          <a:srgbClr val="78350F"/>
                        </a:solidFill>
                        <a:latin typeface="Cambria Math" panose="02040503050406030204" pitchFamily="18" charset="0"/>
                      </a:rPr>
                      <m:t>𝑇</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𝑡</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a homothety (similar triangles) from </a:t>
                </a:r>
                <a14:m>
                  <m:oMath xmlns:m="http://schemas.openxmlformats.org/officeDocument/2006/math">
                    <m:r>
                      <a:rPr lang="en-IN" sz="2400" i="1">
                        <a:solidFill>
                          <a:srgbClr val="78350F"/>
                        </a:solidFill>
                        <a:latin typeface="Cambria Math" panose="02040503050406030204" pitchFamily="18" charset="0"/>
                      </a:rPr>
                      <m:t>𝑇</m:t>
                    </m:r>
                  </m:oMath>
                </a14:m>
                <a:r>
                  <a:rPr sz="2400" b="0">
                    <a:solidFill>
                      <a:srgbClr val="78350F"/>
                    </a:solidFill>
                    <a:latin typeface="Arial"/>
                  </a:rPr>
                  <a:t> takes </a:t>
                </a:r>
                <a14:m>
                  <m:oMath xmlns:m="http://schemas.openxmlformats.org/officeDocument/2006/math">
                    <m:r>
                      <a:rPr lang="en-IN" sz="2400" i="1">
                        <a:solidFill>
                          <a:srgbClr val="78350F"/>
                        </a:solidFill>
                        <a:latin typeface="Cambria Math" panose="02040503050406030204" pitchFamily="18" charset="0"/>
                      </a:rPr>
                      <m:t>𝑃</m:t>
                    </m:r>
                    <m:r>
                      <a:rPr lang="en-IN" sz="2400" i="1">
                        <a:solidFill>
                          <a:srgbClr val="78350F"/>
                        </a:solidFill>
                        <a:latin typeface="Cambria Math" panose="02040503050406030204" pitchFamily="18" charset="0"/>
                      </a:rPr>
                      <m:t>𝑄</m:t>
                    </m:r>
                  </m:oMath>
                </a14:m>
                <a:r>
                  <a:rPr sz="2400" b="0">
                    <a:solidFill>
                      <a:srgbClr val="78350F"/>
                    </a:solidFill>
                    <a:latin typeface="Arial"/>
                  </a:rPr>
                  <a:t> to </a:t>
                </a:r>
                <a14:m>
                  <m:oMath xmlns:m="http://schemas.openxmlformats.org/officeDocument/2006/math">
                    <m:r>
                      <a:rPr lang="en-IN" sz="2400" i="1">
                        <a:solidFill>
                          <a:srgbClr val="78350F"/>
                        </a:solidFill>
                        <a:latin typeface="Cambria Math" panose="02040503050406030204" pitchFamily="18" charset="0"/>
                      </a:rPr>
                      <m:t>𝑅</m:t>
                    </m:r>
                    <m:r>
                      <a:rPr lang="en-IN" sz="2400" i="1">
                        <a:solidFill>
                          <a:srgbClr val="78350F"/>
                        </a:solidFill>
                        <a:latin typeface="Cambria Math" panose="02040503050406030204" pitchFamily="18" charset="0"/>
                      </a:rPr>
                      <m:t>𝑆</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The two common tangents meet on the axis at </a:t>
                </a:r>
                <a:r>
                  <a:rPr lang="en-IN" sz="2400">
                    <a:solidFill>
                      <a:srgbClr val="78350F"/>
                    </a:solidFill>
                    <a:latin typeface="Cambria Math" panose="02040503050406030204" pitchFamily="18" charset="0"/>
                  </a:rPr>
                  <a:t>$T(-t,0)$</a:t>
                </a:r>
                <a:r>
                  <a:rPr sz="2400" b="0">
                    <a:solidFill>
                      <a:srgbClr val="78350F"/>
                    </a:solidFill>
                    <a:latin typeface="Arial"/>
                  </a:rPr>
                  <a:t>; a homothety (similar triangles) from </a:t>
                </a:r>
                <a:r>
                  <a:rPr lang="en-IN" sz="2400">
                    <a:solidFill>
                      <a:srgbClr val="78350F"/>
                    </a:solidFill>
                    <a:latin typeface="Cambria Math" panose="02040503050406030204" pitchFamily="18" charset="0"/>
                  </a:rPr>
                  <a:t>$T$</a:t>
                </a:r>
                <a:r>
                  <a:rPr sz="2400" b="0">
                    <a:solidFill>
                      <a:srgbClr val="78350F"/>
                    </a:solidFill>
                    <a:latin typeface="Arial"/>
                  </a:rPr>
                  <a:t> takes </a:t>
                </a:r>
                <a:r>
                  <a:rPr lang="en-IN" sz="2400">
                    <a:solidFill>
                      <a:srgbClr val="78350F"/>
                    </a:solidFill>
                    <a:latin typeface="Cambria Math" panose="02040503050406030204" pitchFamily="18" charset="0"/>
                  </a:rPr>
                  <a:t>$PQ$</a:t>
                </a:r>
                <a:r>
                  <a:rPr sz="2400" b="0">
                    <a:solidFill>
                      <a:srgbClr val="78350F"/>
                    </a:solidFill>
                    <a:latin typeface="Arial"/>
                  </a:rPr>
                  <a:t> to </a:t>
                </a:r>
                <a:r>
                  <a:rPr lang="en-IN" sz="2400">
                    <a:solidFill>
                      <a:srgbClr val="78350F"/>
                    </a:solidFill>
                    <a:latin typeface="Cambria Math" panose="02040503050406030204" pitchFamily="18" charset="0"/>
                  </a:rPr>
                  <a:t>$RS$</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By symmetry both common tangents meet on the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-axis at </a:t>
                </a:r>
                <a14:m>
                  <m:oMath xmlns:m="http://schemas.openxmlformats.org/officeDocument/2006/math">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 tangent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touches </a:t>
                </a:r>
                <a14:m>
                  <m:oMath xmlns:m="http://schemas.openxmlformats.org/officeDocument/2006/math">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oMath>
                </a14:m>
                <a:r>
                  <a:rPr sz="2400" b="0">
                    <a:solidFill>
                      <a:srgbClr val="111827"/>
                    </a:solidFill>
                    <a:latin typeface="Arial"/>
                  </a:rPr>
                  <a:t> iff its intercept </a:t>
                </a:r>
                <a14:m>
                  <m:oMath xmlns:m="http://schemas.openxmlformats.org/officeDocument/2006/math">
                    <m:r>
                      <a:rPr lang="en-IN" sz="2400" i="1">
                        <a:solidFill>
                          <a:srgbClr val="111827"/>
                        </a:solidFill>
                        <a:latin typeface="Cambria Math" panose="02040503050406030204" pitchFamily="18" charset="0"/>
                      </a:rPr>
                      <m:t>𝑚</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𝑚</m:t>
                        </m:r>
                      </m:den>
                    </m:f>
                  </m:oMath>
                </a14:m>
                <a:r>
                  <a:rPr sz="2400" b="0">
                    <a:solidFill>
                      <a:srgbClr val="111827"/>
                    </a:solidFill>
                    <a:latin typeface="Arial"/>
                  </a:rPr>
                  <a:t>, i.e. </a:t>
                </a:r>
                <a14:m>
                  <m:oMath xmlns:m="http://schemas.openxmlformats.org/officeDocument/2006/math">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𝑡</m:t>
                            </m:r>
                          </m:e>
                        </m:rad>
                      </m:den>
                    </m:f>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α</m:t>
                    </m:r>
                  </m:oMath>
                </a14:m>
                <a:r>
                  <a:rPr sz="2400" b="0">
                    <a:solidFill>
                      <a:srgbClr val="111827"/>
                    </a:solidFill>
                    <a:latin typeface="Arial"/>
                  </a:rPr>
                  <a:t> is its angle with the axis.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2</m:t>
                                </m:r>
                              </m:sup>
                            </m:sSup>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e>
                        </m:rad>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centre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at distance </a:t>
                </a:r>
                <a14:m>
                  <m:oMath xmlns:m="http://schemas.openxmlformats.org/officeDocument/2006/math">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α</m:t>
                    </m:r>
                  </m:oMath>
                </a14:m>
                <a:r>
                  <a:rPr sz="2400" b="0">
                    <a:solidFill>
                      <a:srgbClr val="111827"/>
                    </a:solidFill>
                    <a:latin typeface="Arial"/>
                  </a:rPr>
                  <a:t> from the tangent, and this equals the radius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By symmetry both common tangents meet on the </a:t>
                </a:r>
                <a:r>
                  <a:rPr lang="en-IN" sz="2400">
                    <a:solidFill>
                      <a:srgbClr val="111827"/>
                    </a:solidFill>
                    <a:latin typeface="Cambria Math" panose="02040503050406030204" pitchFamily="18" charset="0"/>
                  </a:rPr>
                  <a:t>$x$</a:t>
                </a:r>
                <a:r>
                  <a:rPr sz="2400" b="0">
                    <a:solidFill>
                      <a:srgbClr val="111827"/>
                    </a:solidFill>
                    <a:latin typeface="Arial"/>
                  </a:rPr>
                  <a:t>-axis at </a:t>
                </a:r>
                <a:r>
                  <a:rPr lang="en-IN" sz="2400">
                    <a:solidFill>
                      <a:srgbClr val="111827"/>
                    </a:solidFill>
                    <a:latin typeface="Cambria Math" panose="02040503050406030204" pitchFamily="18" charset="0"/>
                  </a:rPr>
                  <a:t>$T(-t,0)$</a:t>
                </a:r>
                <a:r>
                  <a:rPr sz="2400" b="0">
                    <a:solidFill>
                      <a:srgbClr val="111827"/>
                    </a:solidFill>
                    <a:latin typeface="Arial"/>
                  </a:rPr>
                  <a:t>, </a:t>
                </a:r>
                <a:r>
                  <a:rPr lang="en-IN" sz="2400">
                    <a:solidFill>
                      <a:srgbClr val="111827"/>
                    </a:solidFill>
                    <a:latin typeface="Cambria Math" panose="02040503050406030204" pitchFamily="18" charset="0"/>
                  </a:rPr>
                  <a:t>$t&gt;0$</a:t>
                </a:r>
                <a:r>
                  <a:rPr sz="2400" b="0">
                    <a:solidFill>
                      <a:srgbClr val="111827"/>
                    </a:solidFill>
                    <a:latin typeface="Arial"/>
                  </a:rPr>
                  <a:t>. A tangent </a:t>
                </a:r>
                <a:r>
                  <a:rPr lang="en-IN" sz="2400">
                    <a:solidFill>
                      <a:srgbClr val="111827"/>
                    </a:solidFill>
                    <a:latin typeface="Cambria Math" panose="02040503050406030204" pitchFamily="18" charset="0"/>
                  </a:rPr>
                  <a:t>$y=m(x+t)$</a:t>
                </a:r>
                <a:r>
                  <a:rPr sz="2400" b="0">
                    <a:solidFill>
                      <a:srgbClr val="111827"/>
                    </a:solidFill>
                    <a:latin typeface="Arial"/>
                  </a:rPr>
                  <a:t> touches </a:t>
                </a:r>
                <a:r>
                  <a:rPr lang="en-IN" sz="2400">
                    <a:solidFill>
                      <a:srgbClr val="111827"/>
                    </a:solidFill>
                    <a:latin typeface="Cambria Math" panose="02040503050406030204" pitchFamily="18" charset="0"/>
                  </a:rPr>
                  <a:t>$y^2=4x$</a:t>
                </a:r>
                <a:r>
                  <a:rPr sz="2400" b="0">
                    <a:solidFill>
                      <a:srgbClr val="111827"/>
                    </a:solidFill>
                    <a:latin typeface="Arial"/>
                  </a:rPr>
                  <a:t> iff its intercept </a:t>
                </a:r>
                <a:r>
                  <a:rPr lang="en-IN" sz="2400">
                    <a:solidFill>
                      <a:srgbClr val="111827"/>
                    </a:solidFill>
                    <a:latin typeface="Cambria Math" panose="02040503050406030204" pitchFamily="18" charset="0"/>
                  </a:rPr>
                  <a:t>$mt=\frac1m$</a:t>
                </a:r>
                <a:r>
                  <a:rPr sz="2400" b="0">
                    <a:solidFill>
                      <a:srgbClr val="111827"/>
                    </a:solidFill>
                    <a:latin typeface="Arial"/>
                  </a:rPr>
                  <a:t>, i.e. </a:t>
                </a:r>
                <a:r>
                  <a:rPr lang="en-IN" sz="2400">
                    <a:solidFill>
                      <a:srgbClr val="111827"/>
                    </a:solidFill>
                    <a:latin typeface="Cambria Math" panose="02040503050406030204" pitchFamily="18" charset="0"/>
                  </a:rPr>
                  <a:t>$m^2t=1$</a:t>
                </a:r>
                <a:r>
                  <a:rPr sz="2400" b="0">
                    <a:solidFill>
                      <a:srgbClr val="111827"/>
                    </a:solidFill>
                    <a:latin typeface="Arial"/>
                  </a:rPr>
                  <a:t>, so </a:t>
                </a:r>
                <a:r>
                  <a:rPr lang="en-IN" sz="2400">
                    <a:solidFill>
                      <a:srgbClr val="111827"/>
                    </a:solidFill>
                    <a:latin typeface="Cambria Math" panose="02040503050406030204" pitchFamily="18" charset="0"/>
                  </a:rPr>
                  <a:t>$\tan\alpha=m=\frac1{\sqrt t}$</a:t>
                </a:r>
                <a:r>
                  <a:rPr sz="2400" b="0">
                    <a:solidFill>
                      <a:srgbClr val="111827"/>
                    </a:solidFill>
                    <a:latin typeface="Arial"/>
                  </a:rPr>
                  <a:t> where </a:t>
                </a:r>
                <a:r>
                  <a:rPr lang="en-IN" sz="2400">
                    <a:solidFill>
                      <a:srgbClr val="111827"/>
                    </a:solidFill>
                    <a:latin typeface="Cambria Math" panose="02040503050406030204" pitchFamily="18" charset="0"/>
                  </a:rPr>
                  <a:t>$\alpha$</a:t>
                </a:r>
                <a:r>
                  <a:rPr sz="2400" b="0">
                    <a:solidFill>
                      <a:srgbClr val="111827"/>
                    </a:solidFill>
                    <a:latin typeface="Arial"/>
                  </a:rPr>
                  <a:t> is its angle with the axis.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r>
                  <a:rPr lang="en-IN" sz="2400">
                    <a:solidFill>
                      <a:srgbClr val="111827"/>
                    </a:solidFill>
                    <a:latin typeface="Cambria Math" panose="02040503050406030204" pitchFamily="18" charset="0"/>
                  </a:rPr>
                  <a:t>$\sin\alpha=\frac{m}{\sqrt{1+m^2}}=\frac1{\sqrt{1+t}}$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centre </a:t>
                </a:r>
                <a:r>
                  <a:rPr lang="en-IN" sz="2400">
                    <a:solidFill>
                      <a:srgbClr val="111827"/>
                    </a:solidFill>
                    <a:latin typeface="Cambria Math" panose="02040503050406030204" pitchFamily="18" charset="0"/>
                  </a:rPr>
                  <a:t>$C(3,0)$</a:t>
                </a:r>
                <a:r>
                  <a:rPr sz="2400" b="0">
                    <a:solidFill>
                      <a:srgbClr val="111827"/>
                    </a:solidFill>
                    <a:latin typeface="Arial"/>
                  </a:rPr>
                  <a:t> is at distance </a:t>
                </a:r>
                <a:r>
                  <a:rPr lang="en-IN" sz="2400">
                    <a:solidFill>
                      <a:srgbClr val="111827"/>
                    </a:solidFill>
                    <a:latin typeface="Cambria Math" panose="02040503050406030204" pitchFamily="18" charset="0"/>
                  </a:rPr>
                  <a:t>$CT\sin\alpha=(3+t)\sin\alpha$</a:t>
                </a:r>
                <a:r>
                  <a:rPr sz="2400" b="0">
                    <a:solidFill>
                      <a:srgbClr val="111827"/>
                    </a:solidFill>
                    <a:latin typeface="Arial"/>
                  </a:rPr>
                  <a:t> from the tangent, and this equals the radius </a:t>
                </a:r>
                <a:r>
                  <a:rPr lang="en-IN" sz="2400">
                    <a:solidFill>
                      <a:srgbClr val="111827"/>
                    </a:solidFill>
                    <a:latin typeface="Cambria Math" panose="02040503050406030204" pitchFamily="18" charset="0"/>
                  </a:rPr>
                  <a:t>$3$</a:t>
                </a:r>
                <a:r>
                  <a:rPr sz="2400" b="0">
                    <a:solidFill>
                      <a:srgbClr val="111827"/>
                    </a:solidFill>
                    <a:latin typeface="Arial"/>
                  </a:rPr>
                  <a:t>: </a:t>
                </a:r>
                <a:r>
                  <a:rPr lang="en-IN" sz="2400">
                    <a:solidFill>
                      <a:srgbClr val="111827"/>
                    </a:solidFill>
                    <a:latin typeface="Cambria Math" panose="02040503050406030204" pitchFamily="18" charset="0"/>
                  </a:rPr>
                  <a:t>$(3+t)^2=9(1+t)\Rightarrow t^2-3t=0\Rightarrow t=3$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The tangent length to the circle is </a:t>
                </a:r>
                <a14:m>
                  <m:oMath xmlns:m="http://schemas.openxmlformats.org/officeDocument/2006/math">
                    <m:r>
                      <a:rPr lang="en-IN" sz="2400" i="1">
                        <a:solidFill>
                          <a:srgbClr val="111827"/>
                        </a:solidFill>
                        <a:latin typeface="Cambria Math" panose="02040503050406030204" pitchFamily="18" charset="0"/>
                      </a:rPr>
                      <m:t>𝑇</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𝑇</m:t>
                        </m:r>
                        <m:sSup>
                          <m:e>
                            <m:r>
                              <a:rPr lang="en-IN" sz="2400" i="1">
                                <a:solidFill>
                                  <a:srgbClr val="111827"/>
                                </a:solidFill>
                                <a:latin typeface="Cambria Math" panose="02040503050406030204" pitchFamily="18" charset="0"/>
                              </a:rPr>
                              <m:t>𝐶</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2</m:t>
                            </m:r>
                          </m:sup>
                        </m:sSup>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contact on the parabola is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𝑇</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cos</m:t>
                        </m:r>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𝑄</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𝑆</m:t>
                    </m:r>
                  </m:oMath>
                </a14:m>
                <a:r>
                  <a:rPr sz="2400" b="0">
                    <a:solidFill>
                      <a:srgbClr val="111827"/>
                    </a:solidFill>
                    <a:latin typeface="Arial"/>
                  </a:rPr>
                  <a:t> are both perpendicular to the axis, so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𝑆</m:t>
                    </m:r>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𝑆</m:t>
                        </m:r>
                      </m:num>
                      <m:den>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𝑄</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𝑇</m:t>
                        </m:r>
                        <m:r>
                          <a:rPr lang="en-IN" sz="2400" i="1">
                            <a:solidFill>
                              <a:srgbClr val="111827"/>
                            </a:solidFill>
                            <a:latin typeface="Cambria Math" panose="02040503050406030204" pitchFamily="18" charset="0"/>
                          </a:rPr>
                          <m:t>𝑅</m:t>
                        </m:r>
                      </m:num>
                      <m:den>
                        <m:r>
                          <a:rPr lang="en-IN" sz="2400" i="1">
                            <a:solidFill>
                              <a:srgbClr val="111827"/>
                            </a:solidFill>
                            <a:latin typeface="Cambria Math" panose="02040503050406030204" pitchFamily="18" charset="0"/>
                          </a:rPr>
                          <m:t>𝑇</m:t>
                        </m:r>
                        <m:r>
                          <a:rPr lang="en-IN" sz="2400" i="1">
                            <a:solidFill>
                              <a:srgbClr val="111827"/>
                            </a:solidFill>
                            <a:latin typeface="Cambria Math" panose="02040503050406030204" pitchFamily="18" charset="0"/>
                          </a:rPr>
                          <m:t>𝑃</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𝑇</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sin</m:t>
                    </m:r>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we get </a:t>
                </a:r>
                <a14:m>
                  <m:oMath xmlns:m="http://schemas.openxmlformats.org/officeDocument/2006/math">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$T(-3,0)$</a:t>
                </a:r>
                <a:r>
                  <a:rPr sz="2400" b="0">
                    <a:solidFill>
                      <a:srgbClr val="111827"/>
                    </a:solidFill>
                    <a:latin typeface="Arial"/>
                  </a:rPr>
                  <a:t>, </a:t>
                </a:r>
                <a:r>
                  <a:rPr lang="en-IN" sz="2400">
                    <a:solidFill>
                      <a:srgbClr val="111827"/>
                    </a:solidFill>
                    <a:latin typeface="Cambria Math" panose="02040503050406030204" pitchFamily="18" charset="0"/>
                  </a:rPr>
                  <a:t>$\tan\alpha=\frac1{\sqrt3}$</a:t>
                </a:r>
                <a:r>
                  <a:rPr sz="2400" b="0">
                    <a:solidFill>
                      <a:srgbClr val="111827"/>
                    </a:solidFill>
                    <a:latin typeface="Arial"/>
                  </a:rPr>
                  <a:t>, </a:t>
                </a:r>
                <a:r>
                  <a:rPr lang="en-IN" sz="2400">
                    <a:solidFill>
                      <a:srgbClr val="111827"/>
                    </a:solidFill>
                    <a:latin typeface="Cambria Math" panose="02040503050406030204" pitchFamily="18" charset="0"/>
                  </a:rPr>
                  <a:t>$\alpha=30^\circ$</a:t>
                </a:r>
                <a:r>
                  <a:rPr sz="2400" b="0">
                    <a:solidFill>
                      <a:srgbClr val="111827"/>
                    </a:solidFill>
                    <a:latin typeface="Arial"/>
                  </a:rPr>
                  <a:t>. The tangent length to the circle is </a:t>
                </a:r>
                <a:r>
                  <a:rPr lang="en-IN" sz="2400">
                    <a:solidFill>
                      <a:srgbClr val="111827"/>
                    </a:solidFill>
                    <a:latin typeface="Cambria Math" panose="02040503050406030204" pitchFamily="18" charset="0"/>
                  </a:rPr>
                  <a:t>$TR=\sqrt{TC^2-3^2}=\sqrt{36-9}=3\sqrt3$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contact on the parabola is at </a:t>
                </a:r>
                <a:r>
                  <a:rPr lang="en-IN" sz="2400">
                    <a:solidFill>
                      <a:srgbClr val="111827"/>
                    </a:solidFill>
                    <a:latin typeface="Cambria Math" panose="02040503050406030204" pitchFamily="18" charset="0"/>
                  </a:rPr>
                  <a:t>$x=\frac1{m^2}=3$</a:t>
                </a:r>
                <a:r>
                  <a:rPr sz="2400" b="0">
                    <a:solidFill>
                      <a:srgbClr val="111827"/>
                    </a:solidFill>
                    <a:latin typeface="Arial"/>
                  </a:rPr>
                  <a:t>, so </a:t>
                </a:r>
                <a:r>
                  <a:rPr lang="en-IN" sz="2400">
                    <a:solidFill>
                      <a:srgbClr val="111827"/>
                    </a:solidFill>
                    <a:latin typeface="Cambria Math" panose="02040503050406030204" pitchFamily="18" charset="0"/>
                  </a:rPr>
                  <a:t>$TP=\frac{3-(-3)}{\cos30^\circ}=4\sqrt3$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$PQ$</a:t>
                </a:r>
                <a:r>
                  <a:rPr sz="2400" b="0">
                    <a:solidFill>
                      <a:srgbClr val="111827"/>
                    </a:solidFill>
                    <a:latin typeface="Arial"/>
                  </a:rPr>
                  <a:t> and </a:t>
                </a:r>
                <a:r>
                  <a:rPr lang="en-IN" sz="2400">
                    <a:solidFill>
                      <a:srgbClr val="111827"/>
                    </a:solidFill>
                    <a:latin typeface="Cambria Math" panose="02040503050406030204" pitchFamily="18" charset="0"/>
                  </a:rPr>
                  <a:t>$RS$</a:t>
                </a:r>
                <a:r>
                  <a:rPr sz="2400" b="0">
                    <a:solidFill>
                      <a:srgbClr val="111827"/>
                    </a:solidFill>
                    <a:latin typeface="Arial"/>
                  </a:rPr>
                  <a:t> are both perpendicular to the axis, so </a:t>
                </a:r>
                <a:r>
                  <a:rPr lang="en-IN" sz="2400">
                    <a:solidFill>
                      <a:srgbClr val="111827"/>
                    </a:solidFill>
                    <a:latin typeface="Cambria Math" panose="02040503050406030204" pitchFamily="18" charset="0"/>
                  </a:rPr>
                  <a:t>$PQ\parallel RS$</a:t>
                </a:r>
                <a:r>
                  <a:rPr sz="2400" b="0">
                    <a:solidFill>
                      <a:srgbClr val="111827"/>
                    </a:solidFill>
                    <a:latin typeface="Arial"/>
                  </a:rPr>
                  <a:t> and </a:t>
                </a:r>
                <a:r>
                  <a:rPr lang="en-IN" sz="2400">
                    <a:solidFill>
                      <a:srgbClr val="111827"/>
                    </a:solidFill>
                    <a:latin typeface="Cambria Math" panose="02040503050406030204" pitchFamily="18" charset="0"/>
                  </a:rPr>
                  <a:t>$\frac{RS}{PQ}=\frac{TR}{TP}=\frac34$</a:t>
                </a:r>
                <a:r>
                  <a:rPr sz="2400" b="0">
                    <a:solidFill>
                      <a:srgbClr val="111827"/>
                    </a:solidFill>
                    <a:latin typeface="Arial"/>
                  </a:rPr>
                  <a:t>. With </a:t>
                </a:r>
                <a:r>
                  <a:rPr lang="en-IN" sz="2400">
                    <a:solidFill>
                      <a:srgbClr val="111827"/>
                    </a:solidFill>
                    <a:latin typeface="Cambria Math" panose="02040503050406030204" pitchFamily="18" charset="0"/>
                  </a:rPr>
                  <a:t>$PQ=2\cdot TP\sin30^\circ=4\sqrt3$</a:t>
                </a:r>
                <a:r>
                  <a:rPr sz="2400" b="0">
                    <a:solidFill>
                      <a:srgbClr val="111827"/>
                    </a:solidFill>
                    <a:latin typeface="Arial"/>
                  </a:rPr>
                  <a:t> we get </a:t>
                </a:r>
                <a:r>
                  <a:rPr lang="en-IN" sz="2400">
                    <a:solidFill>
                      <a:srgbClr val="111827"/>
                    </a:solidFill>
                    <a:latin typeface="Cambria Math" panose="02040503050406030204" pitchFamily="18" charset="0"/>
                  </a:rPr>
                  <a:t>$RS=3\sqrt3$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distance between the parallel sides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𝑇</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𝑇</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Area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21</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distance between the parallel sides is </a:t>
                </a:r>
                <a:r>
                  <a:rPr lang="en-IN" sz="2400">
                    <a:solidFill>
                      <a:srgbClr val="111827"/>
                    </a:solidFill>
                    <a:latin typeface="Cambria Math" panose="02040503050406030204" pitchFamily="18" charset="0"/>
                  </a:rPr>
                  <a:t>$(TP-TR)\cos30^\circ=\sqrt3\cdot\frac{\sqrt3}2=\frac32$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Area </a:t>
                </a:r>
                <a:r>
                  <a:rPr lang="en-IN" sz="2400">
                    <a:solidFill>
                      <a:srgbClr val="111827"/>
                    </a:solidFill>
                    <a:latin typeface="Cambria Math" panose="02040503050406030204" pitchFamily="18" charset="0"/>
                  </a:rPr>
                  <a:t>$=\frac12(4\sqrt3+3\sqrt3)\cdot\frac32=\frac{21\sqrt3}4$</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21</m:t>
                        </m:r>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3</m:t>
                            </m:r>
                          </m:e>
                        </m:rad>
                      </m:num>
                      <m:den>
                        <m:r>
                          <a:rPr lang="en-IN" sz="2800" i="1">
                            <a:solidFill>
                              <a:srgbClr val="15803D"/>
                            </a:solidFill>
                            <a:latin typeface="Cambria Math" panose="02040503050406030204" pitchFamily="18" charset="0"/>
                          </a:rPr>
                          <m:t>4</m:t>
                        </m:r>
                      </m:den>
                    </m:f>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r>
                  <a:rPr lang="en-IN" sz="2800">
                    <a:solidFill>
                      <a:srgbClr val="15803D"/>
                    </a:solidFill>
                    <a:latin typeface="Cambria Math" panose="02040503050406030204" pitchFamily="18" charset="0"/>
                  </a:rPr>
                  <a:t>$\frac{21\sqrt3}{4}$</a:t>
                </a:r>
                <a:endParaRPr sz="2800">
                  <a:solidFill>
                    <a:srgbClr val="15803D"/>
                  </a:solidFill>
                </a:endParaRPr>
              </a:p>
            </p:txBody>
          </p:sp>
        </mc:Fallback>
      </mc:AlternateContent>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line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touches </a:t>
                </a:r>
                <a14:m>
                  <m:oMath xmlns:m="http://schemas.openxmlformats.org/officeDocument/2006/math">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oMath>
                </a14:m>
                <a:r>
                  <a:rPr sz="2400" b="0">
                    <a:solidFill>
                      <a:srgbClr val="111827"/>
                    </a:solidFill>
                    <a:latin typeface="Arial"/>
                  </a:rPr>
                  <a:t> iff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𝑚</m:t>
                        </m:r>
                      </m:den>
                    </m:f>
                  </m:oMath>
                </a14:m>
                <a:r>
                  <a:rPr sz="2400" b="0">
                    <a:solidFill>
                      <a:srgbClr val="111827"/>
                    </a:solidFill>
                    <a:latin typeface="Arial"/>
                  </a:rPr>
                  <a:t>; the point of contact is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𝑚</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line touches a circle (centre </a:t>
                </a:r>
                <a14:m>
                  <m:oMath xmlns:m="http://schemas.openxmlformats.org/officeDocument/2006/math">
                    <m:r>
                      <a:rPr lang="en-IN" sz="2400" i="1">
                        <a:solidFill>
                          <a:srgbClr val="111827"/>
                        </a:solidFill>
                        <a:latin typeface="Cambria Math" panose="02040503050406030204" pitchFamily="18" charset="0"/>
                      </a:rPr>
                      <m:t>𝑂</m:t>
                    </m:r>
                  </m:oMath>
                </a14:m>
                <a:r>
                  <a:rPr sz="2400" b="0">
                    <a:solidFill>
                      <a:srgbClr val="111827"/>
                    </a:solidFill>
                    <a:latin typeface="Arial"/>
                  </a:rPr>
                  <a:t>, radius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iff its distance from </a:t>
                </a:r>
                <a14:m>
                  <m:oMath xmlns:m="http://schemas.openxmlformats.org/officeDocument/2006/math">
                    <m:r>
                      <a:rPr lang="en-IN" sz="2400" i="1">
                        <a:solidFill>
                          <a:srgbClr val="111827"/>
                        </a:solidFill>
                        <a:latin typeface="Cambria Math" panose="02040503050406030204" pitchFamily="18" charset="0"/>
                      </a:rPr>
                      <m:t>𝑂</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the radius to the contact point is perpendicular to the tangent.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Common tangents of two curves that are symmetric about a line meet on that line. Here the external centre of similitude is </a:t>
                </a:r>
                <a14:m>
                  <m:oMath xmlns:m="http://schemas.openxmlformats.org/officeDocument/2006/math">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the ratio </a:t>
                </a:r>
                <a14:m>
                  <m:oMath xmlns:m="http://schemas.openxmlformats.org/officeDocument/2006/math">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equals </a:t>
                </a:r>
                <a14:m>
                  <m:oMath xmlns:m="http://schemas.openxmlformats.org/officeDocument/2006/math">
                    <m:r>
                      <a:rPr lang="en-IN" sz="2400" i="1">
                        <a:solidFill>
                          <a:srgbClr val="111827"/>
                        </a:solidFill>
                        <a:latin typeface="Cambria Math" panose="02040503050406030204" pitchFamily="18" charset="0"/>
                      </a:rPr>
                      <m:t>𝑇</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𝑇</m:t>
                    </m:r>
                    <m:r>
                      <a:rPr lang="en-IN" sz="2400" i="1">
                        <a:solidFill>
                          <a:srgbClr val="111827"/>
                        </a:solidFill>
                        <a:latin typeface="Cambria Math" panose="02040503050406030204" pitchFamily="18" charset="0"/>
                      </a:rPr>
                      <m:t>𝑃</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Quick check of this paper's data: the tangent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𝑚</m:t>
                        </m:r>
                      </m:den>
                    </m:f>
                  </m:oMath>
                </a14:m>
                <a:r>
                  <a:rPr sz="2400" b="0">
                    <a:solidFill>
                      <a:srgbClr val="111827"/>
                    </a:solidFill>
                    <a:latin typeface="Arial"/>
                  </a:rPr>
                  <a:t> cuts the axis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for </a:t>
                </a:r>
                <a14:m>
                  <m:oMath xmlns:m="http://schemas.openxmlformats.org/officeDocument/2006/math">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line </a:t>
                </a:r>
                <a:r>
                  <a:rPr lang="en-IN" sz="2400">
                    <a:solidFill>
                      <a:srgbClr val="111827"/>
                    </a:solidFill>
                    <a:latin typeface="Cambria Math" panose="02040503050406030204" pitchFamily="18" charset="0"/>
                  </a:rPr>
                  <a:t>$y=mx+c$</a:t>
                </a:r>
                <a:r>
                  <a:rPr sz="2400" b="0">
                    <a:solidFill>
                      <a:srgbClr val="111827"/>
                    </a:solidFill>
                    <a:latin typeface="Arial"/>
                  </a:rPr>
                  <a:t> touches </a:t>
                </a:r>
                <a:r>
                  <a:rPr lang="en-IN" sz="2400">
                    <a:solidFill>
                      <a:srgbClr val="111827"/>
                    </a:solidFill>
                    <a:latin typeface="Cambria Math" panose="02040503050406030204" pitchFamily="18" charset="0"/>
                  </a:rPr>
                  <a:t>$y^2=4ax$</a:t>
                </a:r>
                <a:r>
                  <a:rPr sz="2400" b="0">
                    <a:solidFill>
                      <a:srgbClr val="111827"/>
                    </a:solidFill>
                    <a:latin typeface="Arial"/>
                  </a:rPr>
                  <a:t> iff </a:t>
                </a:r>
                <a:r>
                  <a:rPr lang="en-IN" sz="2400">
                    <a:solidFill>
                      <a:srgbClr val="111827"/>
                    </a:solidFill>
                    <a:latin typeface="Cambria Math" panose="02040503050406030204" pitchFamily="18" charset="0"/>
                  </a:rPr>
                  <a:t>$c=\frac am$</a:t>
                </a:r>
                <a:r>
                  <a:rPr sz="2400" b="0">
                    <a:solidFill>
                      <a:srgbClr val="111827"/>
                    </a:solidFill>
                    <a:latin typeface="Arial"/>
                  </a:rPr>
                  <a:t>; the point of contact is </a:t>
                </a:r>
                <a:r>
                  <a:rPr lang="en-IN" sz="2400">
                    <a:solidFill>
                      <a:srgbClr val="111827"/>
                    </a:solidFill>
                    <a:latin typeface="Cambria Math" panose="02040503050406030204" pitchFamily="18" charset="0"/>
                  </a:rPr>
                  <a:t>$\left(\frac a{m^2},\frac{2a}m\right)$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line touches a circle (centre </a:t>
                </a:r>
                <a:r>
                  <a:rPr lang="en-IN" sz="2400">
                    <a:solidFill>
                      <a:srgbClr val="111827"/>
                    </a:solidFill>
                    <a:latin typeface="Cambria Math" panose="02040503050406030204" pitchFamily="18" charset="0"/>
                  </a:rPr>
                  <a:t>$O$</a:t>
                </a:r>
                <a:r>
                  <a:rPr sz="2400" b="0">
                    <a:solidFill>
                      <a:srgbClr val="111827"/>
                    </a:solidFill>
                    <a:latin typeface="Arial"/>
                  </a:rPr>
                  <a:t>, radius </a:t>
                </a:r>
                <a:r>
                  <a:rPr lang="en-IN" sz="2400">
                    <a:solidFill>
                      <a:srgbClr val="111827"/>
                    </a:solidFill>
                    <a:latin typeface="Cambria Math" panose="02040503050406030204" pitchFamily="18" charset="0"/>
                  </a:rPr>
                  <a:t>$r$</a:t>
                </a:r>
                <a:r>
                  <a:rPr sz="2400" b="0">
                    <a:solidFill>
                      <a:srgbClr val="111827"/>
                    </a:solidFill>
                    <a:latin typeface="Arial"/>
                  </a:rPr>
                  <a:t>) iff its distance from </a:t>
                </a:r>
                <a:r>
                  <a:rPr lang="en-IN" sz="2400">
                    <a:solidFill>
                      <a:srgbClr val="111827"/>
                    </a:solidFill>
                    <a:latin typeface="Cambria Math" panose="02040503050406030204" pitchFamily="18" charset="0"/>
                  </a:rPr>
                  <a:t>$O$</a:t>
                </a:r>
                <a:r>
                  <a:rPr sz="2400" b="0">
                    <a:solidFill>
                      <a:srgbClr val="111827"/>
                    </a:solidFill>
                    <a:latin typeface="Arial"/>
                  </a:rPr>
                  <a:t> is </a:t>
                </a:r>
                <a:r>
                  <a:rPr lang="en-IN" sz="2400">
                    <a:solidFill>
                      <a:srgbClr val="111827"/>
                    </a:solidFill>
                    <a:latin typeface="Cambria Math" panose="02040503050406030204" pitchFamily="18" charset="0"/>
                  </a:rPr>
                  <a:t>$r$</a:t>
                </a:r>
                <a:r>
                  <a:rPr sz="2400" b="0">
                    <a:solidFill>
                      <a:srgbClr val="111827"/>
                    </a:solidFill>
                    <a:latin typeface="Arial"/>
                  </a:rPr>
                  <a:t>; the radius to the contact point is perpendicular to the tangent.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Common tangents of two curves that are symmetric about a line meet on that line. Here the external centre of similitude is </a:t>
                </a:r>
                <a:r>
                  <a:rPr lang="en-IN" sz="2400">
                    <a:solidFill>
                      <a:srgbClr val="111827"/>
                    </a:solidFill>
                    <a:latin typeface="Cambria Math" panose="02040503050406030204" pitchFamily="18" charset="0"/>
                  </a:rPr>
                  <a:t>$T(-3,0)$</a:t>
                </a:r>
                <a:r>
                  <a:rPr sz="2400" b="0">
                    <a:solidFill>
                      <a:srgbClr val="111827"/>
                    </a:solidFill>
                    <a:latin typeface="Arial"/>
                  </a:rPr>
                  <a:t> and the ratio </a:t>
                </a:r>
                <a:r>
                  <a:rPr lang="en-IN" sz="2400">
                    <a:solidFill>
                      <a:srgbClr val="111827"/>
                    </a:solidFill>
                    <a:latin typeface="Cambria Math" panose="02040503050406030204" pitchFamily="18" charset="0"/>
                  </a:rPr>
                  <a:t>$RS:PQ=3:4$</a:t>
                </a:r>
                <a:r>
                  <a:rPr sz="2400" b="0">
                    <a:solidFill>
                      <a:srgbClr val="111827"/>
                    </a:solidFill>
                    <a:latin typeface="Arial"/>
                  </a:rPr>
                  <a:t> equals </a:t>
                </a:r>
                <a:r>
                  <a:rPr lang="en-IN" sz="2400">
                    <a:solidFill>
                      <a:srgbClr val="111827"/>
                    </a:solidFill>
                    <a:latin typeface="Cambria Math" panose="02040503050406030204" pitchFamily="18" charset="0"/>
                  </a:rPr>
                  <a:t>$TR:TP$</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Quick check of this paper's data: the tangent </a:t>
                </a:r>
                <a:r>
                  <a:rPr lang="en-IN" sz="2400">
                    <a:solidFill>
                      <a:srgbClr val="111827"/>
                    </a:solidFill>
                    <a:latin typeface="Cambria Math" panose="02040503050406030204" pitchFamily="18" charset="0"/>
                  </a:rPr>
                  <a:t>$y=mx+\frac1m$</a:t>
                </a:r>
                <a:r>
                  <a:rPr sz="2400" b="0">
                    <a:solidFill>
                      <a:srgbClr val="111827"/>
                    </a:solidFill>
                    <a:latin typeface="Arial"/>
                  </a:rPr>
                  <a:t> cuts the axis at </a:t>
                </a:r>
                <a:r>
                  <a:rPr lang="en-IN" sz="2400">
                    <a:solidFill>
                      <a:srgbClr val="111827"/>
                    </a:solidFill>
                    <a:latin typeface="Cambria Math" panose="02040503050406030204" pitchFamily="18" charset="0"/>
                  </a:rPr>
                  <a:t>$x=-\frac1{m^2}=-3$</a:t>
                </a:r>
                <a:r>
                  <a:rPr sz="2400" b="0">
                    <a:solidFill>
                      <a:srgbClr val="111827"/>
                    </a:solidFill>
                    <a:latin typeface="Arial"/>
                  </a:rPr>
                  <a:t> for </a:t>
                </a:r>
                <a:r>
                  <a:rPr lang="en-IN" sz="2400">
                    <a:solidFill>
                      <a:srgbClr val="111827"/>
                    </a:solidFill>
                    <a:latin typeface="Cambria Math" panose="02040503050406030204" pitchFamily="18" charset="0"/>
                  </a:rPr>
                  <a:t>$m^2=\frac13$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93C47D"/>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0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8153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Consider a continuous frequency distribution given below: class intervals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a:t>
                </a:r>
                <a14:m>
                  <m:oMath xmlns:m="http://schemas.openxmlformats.org/officeDocument/2006/math">
                    <m:r>
                      <a:rPr lang="en-IN" sz="2400" i="1">
                        <a:solidFill>
                          <a:srgbClr val="111827"/>
                        </a:solidFill>
                        <a:latin typeface="Cambria Math" panose="02040503050406030204" pitchFamily="18" charset="0"/>
                      </a:rPr>
                      <m:t>20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20</m:t>
                    </m:r>
                  </m:oMath>
                </a14:m>
                <a:r>
                  <a:rPr sz="2400" b="0">
                    <a:solidFill>
                      <a:srgbClr val="111827"/>
                    </a:solidFill>
                    <a:latin typeface="Arial"/>
                  </a:rPr>
                  <a:t>-</a:t>
                </a:r>
                <a14:m>
                  <m:oMath xmlns:m="http://schemas.openxmlformats.org/officeDocument/2006/math">
                    <m:r>
                      <a:rPr lang="en-IN" sz="2400" i="1">
                        <a:solidFill>
                          <a:srgbClr val="111827"/>
                        </a:solidFill>
                        <a:latin typeface="Cambria Math" panose="02040503050406030204" pitchFamily="18" charset="0"/>
                      </a:rPr>
                      <m:t>30</m:t>
                    </m:r>
                  </m:oMath>
                </a14:m>
                <a:r>
                  <a:rPr sz="2400" b="0">
                    <a:solidFill>
                      <a:srgbClr val="111827"/>
                    </a:solidFill>
                    <a:latin typeface="Arial"/>
                  </a:rPr>
                  <a:t> with frequencies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If </a:t>
                </a:r>
                <a14:m>
                  <m:oMath xmlns:m="http://schemas.openxmlformats.org/officeDocument/2006/math">
                    <m:r>
                      <a:rPr lang="en-IN" sz="2400" i="1">
                        <a:solidFill>
                          <a:srgbClr val="111827"/>
                        </a:solidFill>
                        <a:latin typeface="Cambria Math" panose="02040503050406030204" pitchFamily="18" charset="0"/>
                      </a:rPr>
                      <m:t>μ</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denote the mean and the variance of this distribution respectively, then </a:t>
                </a:r>
                <a14:m>
                  <m:oMath xmlns:m="http://schemas.openxmlformats.org/officeDocument/2006/math">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75</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65</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55</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45</m:t>
                    </m:r>
                  </m:oMath>
                </a14:m>
                <a:endParaRPr sz="2400">
                  <a:solidFill>
                    <a:srgbClr val="111827"/>
                  </a:solidFill>
                </a:endParaRPr>
              </a:p>
            </p:txBody>
          </p:sp>
        </mc:Choice>
        <mc:Fallback>
          <p:sp>
            <p:nvSpPr>
              <p:cNvPr id="4" name="Rounded Rectangle 3"/>
              <p:cNvSpPr/>
              <p:nvPr/>
            </p:nvSpPr>
            <p:spPr>
              <a:xfrm>
                <a:off x="731520" y="1280160"/>
                <a:ext cx="10725912" cy="28153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Consider a continuous frequency distribution given below: class intervals </a:t>
                </a:r>
                <a:r>
                  <a:rPr lang="en-IN" sz="2400">
                    <a:solidFill>
                      <a:srgbClr val="111827"/>
                    </a:solidFill>
                    <a:latin typeface="Cambria Math" panose="02040503050406030204" pitchFamily="18" charset="0"/>
                  </a:rPr>
                  <a:t>$0$</a:t>
                </a:r>
                <a:r>
                  <a:rPr sz="2400" b="0">
                    <a:solidFill>
                      <a:srgbClr val="111827"/>
                    </a:solidFill>
                    <a:latin typeface="Arial"/>
                  </a:rPr>
                  <a:t>-</a:t>
                </a:r>
                <a:r>
                  <a:rPr lang="en-IN" sz="2400">
                    <a:solidFill>
                      <a:srgbClr val="111827"/>
                    </a:solidFill>
                    <a:latin typeface="Cambria Math" panose="02040503050406030204" pitchFamily="18" charset="0"/>
                  </a:rPr>
                  <a:t>$10$</a:t>
                </a:r>
                <a:r>
                  <a:rPr sz="2400" b="0">
                    <a:solidFill>
                      <a:srgbClr val="111827"/>
                    </a:solidFill>
                    <a:latin typeface="Arial"/>
                  </a:rPr>
                  <a:t>, </a:t>
                </a:r>
                <a:r>
                  <a:rPr lang="en-IN" sz="2400">
                    <a:solidFill>
                      <a:srgbClr val="111827"/>
                    </a:solidFill>
                    <a:latin typeface="Cambria Math" panose="02040503050406030204" pitchFamily="18" charset="0"/>
                  </a:rPr>
                  <a:t>$10$</a:t>
                </a:r>
                <a:r>
                  <a:rPr sz="2400" b="0">
                    <a:solidFill>
                      <a:srgbClr val="111827"/>
                    </a:solidFill>
                    <a:latin typeface="Arial"/>
                  </a:rPr>
                  <a:t>-</a:t>
                </a:r>
                <a:r>
                  <a:rPr lang="en-IN" sz="2400">
                    <a:solidFill>
                      <a:srgbClr val="111827"/>
                    </a:solidFill>
                    <a:latin typeface="Cambria Math" panose="02040503050406030204" pitchFamily="18" charset="0"/>
                  </a:rPr>
                  <a:t>$20$</a:t>
                </a:r>
                <a:r>
                  <a:rPr sz="2400" b="0">
                    <a:solidFill>
                      <a:srgbClr val="111827"/>
                    </a:solidFill>
                    <a:latin typeface="Arial"/>
                  </a:rPr>
                  <a:t>, </a:t>
                </a:r>
                <a:r>
                  <a:rPr lang="en-IN" sz="2400">
                    <a:solidFill>
                      <a:srgbClr val="111827"/>
                    </a:solidFill>
                    <a:latin typeface="Cambria Math" panose="02040503050406030204" pitchFamily="18" charset="0"/>
                  </a:rPr>
                  <a:t>$20$</a:t>
                </a:r>
                <a:r>
                  <a:rPr sz="2400" b="0">
                    <a:solidFill>
                      <a:srgbClr val="111827"/>
                    </a:solidFill>
                    <a:latin typeface="Arial"/>
                  </a:rPr>
                  <a:t>-</a:t>
                </a:r>
                <a:r>
                  <a:rPr lang="en-IN" sz="2400">
                    <a:solidFill>
                      <a:srgbClr val="111827"/>
                    </a:solidFill>
                    <a:latin typeface="Cambria Math" panose="02040503050406030204" pitchFamily="18" charset="0"/>
                  </a:rPr>
                  <a:t>$30$</a:t>
                </a:r>
                <a:r>
                  <a:rPr sz="2400" b="0">
                    <a:solidFill>
                      <a:srgbClr val="111827"/>
                    </a:solidFill>
                    <a:latin typeface="Arial"/>
                  </a:rPr>
                  <a:t> with frequencies </a:t>
                </a:r>
                <a:r>
                  <a:rPr lang="en-IN" sz="2400">
                    <a:solidFill>
                      <a:srgbClr val="111827"/>
                    </a:solidFill>
                    <a:latin typeface="Cambria Math" panose="02040503050406030204" pitchFamily="18" charset="0"/>
                  </a:rPr>
                  <a:t>$3$</a:t>
                </a:r>
                <a:r>
                  <a:rPr sz="2400" b="0">
                    <a:solidFill>
                      <a:srgbClr val="111827"/>
                    </a:solidFill>
                    <a:latin typeface="Arial"/>
                  </a:rPr>
                  <a:t>, </a:t>
                </a:r>
                <a:r>
                  <a:rPr lang="en-IN" sz="2400">
                    <a:solidFill>
                      <a:srgbClr val="111827"/>
                    </a:solidFill>
                    <a:latin typeface="Cambria Math" panose="02040503050406030204" pitchFamily="18" charset="0"/>
                  </a:rPr>
                  <a:t>$4$</a:t>
                </a:r>
                <a:r>
                  <a:rPr sz="2400" b="0">
                    <a:solidFill>
                      <a:srgbClr val="111827"/>
                    </a:solidFill>
                    <a:latin typeface="Arial"/>
                  </a:rPr>
                  <a:t>, </a:t>
                </a:r>
                <a:r>
                  <a:rPr lang="en-IN" sz="2400">
                    <a:solidFill>
                      <a:srgbClr val="111827"/>
                    </a:solidFill>
                    <a:latin typeface="Cambria Math" panose="02040503050406030204" pitchFamily="18" charset="0"/>
                  </a:rPr>
                  <a:t>$3$</a:t>
                </a:r>
                <a:r>
                  <a:rPr sz="2400" b="0">
                    <a:solidFill>
                      <a:srgbClr val="111827"/>
                    </a:solidFill>
                    <a:latin typeface="Arial"/>
                  </a:rPr>
                  <a:t>. If </a:t>
                </a:r>
                <a:r>
                  <a:rPr lang="en-IN" sz="2400">
                    <a:solidFill>
                      <a:srgbClr val="111827"/>
                    </a:solidFill>
                    <a:latin typeface="Cambria Math" panose="02040503050406030204" pitchFamily="18" charset="0"/>
                  </a:rPr>
                  <a:t>$\mu$</a:t>
                </a:r>
                <a:r>
                  <a:rPr sz="2400" b="0">
                    <a:solidFill>
                      <a:srgbClr val="111827"/>
                    </a:solidFill>
                    <a:latin typeface="Arial"/>
                  </a:rPr>
                  <a:t> and </a:t>
                </a:r>
                <a:r>
                  <a:rPr lang="en-IN" sz="2400">
                    <a:solidFill>
                      <a:srgbClr val="111827"/>
                    </a:solidFill>
                    <a:latin typeface="Cambria Math" panose="02040503050406030204" pitchFamily="18" charset="0"/>
                  </a:rPr>
                  <a:t>$\sigma^2$</a:t>
                </a:r>
                <a:r>
                  <a:rPr sz="2400" b="0">
                    <a:solidFill>
                      <a:srgbClr val="111827"/>
                    </a:solidFill>
                    <a:latin typeface="Arial"/>
                  </a:rPr>
                  <a:t> denote the mean and the variance of this distribution respectively, then </a:t>
                </a:r>
                <a:r>
                  <a:rPr lang="en-IN" sz="2400">
                    <a:solidFill>
                      <a:srgbClr val="111827"/>
                    </a:solidFill>
                    <a:latin typeface="Cambria Math" panose="02040503050406030204" pitchFamily="18" charset="0"/>
                  </a:rPr>
                  <a:t>$\mu+\sigma^2$</a:t>
                </a:r>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$75$</a:t>
                </a:r>
                <a:r>
                  <a:rPr sz="2400" b="0">
                    <a:solidFill>
                      <a:srgbClr val="111827"/>
                    </a:solidFill>
                    <a:latin typeface="Arial"/>
                  </a:rPr>
                  <a:t>   (B) </a:t>
                </a:r>
                <a:r>
                  <a:rPr lang="en-IN" sz="2400">
                    <a:solidFill>
                      <a:srgbClr val="111827"/>
                    </a:solidFill>
                    <a:latin typeface="Cambria Math" panose="02040503050406030204" pitchFamily="18" charset="0"/>
                  </a:rPr>
                  <a:t>$65$</a:t>
                </a:r>
                <a:r>
                  <a:rPr sz="2400" b="0">
                    <a:solidFill>
                      <a:srgbClr val="111827"/>
                    </a:solidFill>
                    <a:latin typeface="Arial"/>
                  </a:rPr>
                  <a:t>   (C) </a:t>
                </a:r>
                <a:r>
                  <a:rPr lang="en-IN" sz="2400">
                    <a:solidFill>
                      <a:srgbClr val="111827"/>
                    </a:solidFill>
                    <a:latin typeface="Cambria Math" panose="02040503050406030204" pitchFamily="18" charset="0"/>
                  </a:rPr>
                  <a:t>$55$</a:t>
                </a:r>
                <a:r>
                  <a:rPr sz="2400" b="0">
                    <a:solidFill>
                      <a:srgbClr val="111827"/>
                    </a:solidFill>
                    <a:latin typeface="Arial"/>
                  </a:rPr>
                  <a:t>   (D) </a:t>
                </a:r>
                <a:r>
                  <a:rPr lang="en-IN" sz="2400">
                    <a:solidFill>
                      <a:srgbClr val="111827"/>
                    </a:solidFill>
                    <a:latin typeface="Cambria Math" panose="02040503050406030204" pitchFamily="18" charset="0"/>
                  </a:rPr>
                  <a:t>$45$</a:t>
                </a:r>
                <a:endParaRPr sz="2400">
                  <a:solidFill>
                    <a:srgbClr val="111827"/>
                  </a:solidFill>
                </a:endParaRPr>
              </a:p>
            </p:txBody>
          </p:sp>
        </mc:Fallback>
      </mc:AlternateContent>
      <p:sp>
        <p:nvSpPr>
          <p:cNvPr id="5" name="Rectangle 4"/>
          <p:cNvSpPr/>
          <p:nvPr/>
        </p:nvSpPr>
        <p:spPr>
          <a:xfrm>
            <a:off x="731520" y="4324095"/>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Mean and variance of a continuous frequency distribution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0(Easier than JEE Main Level)</a:t>
            </a:r>
            <a:endParaRPr sz="2400">
              <a:solidFill>
                <a:srgbClr val="111827"/>
              </a:solidFill>
            </a:endParaRP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93C47D"/>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0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For a continuous distribution use the class mid-points </a:t>
                </a:r>
                <a14:m>
                  <m:oMath xmlns:m="http://schemas.openxmlformats.org/officeDocument/2006/math">
                    <m:sSub>
                      <m:e>
                        <m:r>
                          <a:rPr lang="en-IN" sz="2400" i="1">
                            <a:solidFill>
                              <a:srgbClr val="78350F"/>
                            </a:solidFill>
                            <a:latin typeface="Cambria Math" panose="02040503050406030204" pitchFamily="18" charset="0"/>
                          </a:rPr>
                          <m:t>𝑥</m:t>
                        </m:r>
                      </m:e>
                      <m:sub>
                        <m:r>
                          <a:rPr lang="en-IN" sz="2400" i="1">
                            <a:solidFill>
                              <a:srgbClr val="78350F"/>
                            </a:solidFill>
                            <a:latin typeface="Cambria Math" panose="02040503050406030204" pitchFamily="18" charset="0"/>
                          </a:rPr>
                          <m:t>𝑖</m:t>
                        </m:r>
                      </m:sub>
                    </m:sSub>
                  </m:oMath>
                </a14:m>
                <a:r>
                  <a:rPr sz="2400" b="0">
                    <a:solidFill>
                      <a:srgbClr val="78350F"/>
                    </a:solidFill>
                    <a:latin typeface="Arial"/>
                  </a:rPr>
                  <a:t> as the values.</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For a continuous distribution use the class mid-points </a:t>
                </a:r>
                <a:r>
                  <a:rPr lang="en-IN" sz="2400">
                    <a:solidFill>
                      <a:srgbClr val="78350F"/>
                    </a:solidFill>
                    <a:latin typeface="Cambria Math" panose="02040503050406030204" pitchFamily="18" charset="0"/>
                  </a:rPr>
                  <a:t>$x_i$</a:t>
                </a:r>
                <a:r>
                  <a:rPr sz="2400" b="0">
                    <a:solidFill>
                      <a:srgbClr val="78350F"/>
                    </a:solidFill>
                    <a:latin typeface="Arial"/>
                  </a:rPr>
                  <a:t> as the values.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mid-points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oMath>
                </a14:m>
                <a:r>
                  <a:rPr sz="2400" b="0">
                    <a:solidFill>
                      <a:srgbClr val="111827"/>
                    </a:solidFill>
                    <a:latin typeface="Arial"/>
                  </a:rPr>
                  <a:t> of the class intervals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a:t>
                </a:r>
                <a14:m>
                  <m:oMath xmlns:m="http://schemas.openxmlformats.org/officeDocument/2006/math">
                    <m:r>
                      <a:rPr lang="en-IN" sz="2400" i="1">
                        <a:solidFill>
                          <a:srgbClr val="111827"/>
                        </a:solidFill>
                        <a:latin typeface="Cambria Math" panose="02040503050406030204" pitchFamily="18" charset="0"/>
                      </a:rPr>
                      <m:t>20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20</m:t>
                    </m:r>
                  </m:oMath>
                </a14:m>
                <a:r>
                  <a:rPr sz="2400" b="0">
                    <a:solidFill>
                      <a:srgbClr val="111827"/>
                    </a:solidFill>
                    <a:latin typeface="Arial"/>
                  </a:rPr>
                  <a:t>-</a:t>
                </a:r>
                <a14:m>
                  <m:oMath xmlns:m="http://schemas.openxmlformats.org/officeDocument/2006/math">
                    <m:r>
                      <a:rPr lang="en-IN" sz="2400" i="1">
                        <a:solidFill>
                          <a:srgbClr val="111827"/>
                        </a:solidFill>
                        <a:latin typeface="Cambria Math" panose="02040503050406030204" pitchFamily="18" charset="0"/>
                      </a:rPr>
                      <m:t>30</m:t>
                    </m:r>
                  </m:oMath>
                </a14:m>
                <a:r>
                  <a:rPr sz="2400" b="0">
                    <a:solidFill>
                      <a:srgbClr val="111827"/>
                    </a:solidFill>
                    <a:latin typeface="Arial"/>
                  </a:rPr>
                  <a:t> are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15</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25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frequencies are </a:t>
                </a:r>
                <a14:m>
                  <m:oMath xmlns:m="http://schemas.openxmlformats.org/officeDocument/2006/math">
                    <m:sSub>
                      <m:e>
                        <m:r>
                          <a:rPr lang="en-IN" sz="2400" i="1">
                            <a:solidFill>
                              <a:srgbClr val="111827"/>
                            </a:solidFill>
                            <a:latin typeface="Cambria Math" panose="02040503050406030204" pitchFamily="18" charset="0"/>
                          </a:rPr>
                          <m:t>𝑓</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𝑓</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𝑓</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so the total frequency is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𝑓</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Mean: </a:t>
                </a:r>
                <a14:m>
                  <m:oMath xmlns:m="http://schemas.openxmlformats.org/officeDocument/2006/math">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𝑓</m:t>
                            </m:r>
                          </m:e>
                          <m:sub>
                            <m:r>
                              <a:rPr lang="en-IN" sz="2400" i="1">
                                <a:solidFill>
                                  <a:srgbClr val="111827"/>
                                </a:solidFill>
                                <a:latin typeface="Cambria Math" panose="02040503050406030204" pitchFamily="18" charset="0"/>
                              </a:rPr>
                              <m:t>𝑖</m:t>
                            </m:r>
                          </m:sub>
                        </m:sSub>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num>
                      <m:den>
                        <m:r>
                          <a:rPr lang="en-IN" sz="2400" i="1">
                            <a:solidFill>
                              <a:srgbClr val="111827"/>
                            </a:solidFill>
                            <a:latin typeface="Cambria Math" panose="02040503050406030204" pitchFamily="18" charset="0"/>
                          </a:rPr>
                          <m:t>𝑁</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10</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75</m:t>
                        </m:r>
                      </m:num>
                      <m:den>
                        <m:r>
                          <a:rPr lang="en-IN" sz="2400" i="1">
                            <a:solidFill>
                              <a:srgbClr val="111827"/>
                            </a:solidFill>
                            <a:latin typeface="Cambria Math" panose="02040503050406030204" pitchFamily="18" charset="0"/>
                          </a:rPr>
                          <m:t>10</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mid-points </a:t>
                </a:r>
                <a:r>
                  <a:rPr lang="en-IN" sz="2400">
                    <a:solidFill>
                      <a:srgbClr val="111827"/>
                    </a:solidFill>
                    <a:latin typeface="Cambria Math" panose="02040503050406030204" pitchFamily="18" charset="0"/>
                  </a:rPr>
                  <a:t>$x_i$</a:t>
                </a:r>
                <a:r>
                  <a:rPr sz="2400" b="0">
                    <a:solidFill>
                      <a:srgbClr val="111827"/>
                    </a:solidFill>
                    <a:latin typeface="Arial"/>
                  </a:rPr>
                  <a:t> of the class intervals </a:t>
                </a:r>
                <a:r>
                  <a:rPr lang="en-IN" sz="2400">
                    <a:solidFill>
                      <a:srgbClr val="111827"/>
                    </a:solidFill>
                    <a:latin typeface="Cambria Math" panose="02040503050406030204" pitchFamily="18" charset="0"/>
                  </a:rPr>
                  <a:t>$0$</a:t>
                </a:r>
                <a:r>
                  <a:rPr sz="2400" b="0">
                    <a:solidFill>
                      <a:srgbClr val="111827"/>
                    </a:solidFill>
                    <a:latin typeface="Arial"/>
                  </a:rPr>
                  <a:t>-</a:t>
                </a:r>
                <a:r>
                  <a:rPr lang="en-IN" sz="2400">
                    <a:solidFill>
                      <a:srgbClr val="111827"/>
                    </a:solidFill>
                    <a:latin typeface="Cambria Math" panose="02040503050406030204" pitchFamily="18" charset="0"/>
                  </a:rPr>
                  <a:t>$10$</a:t>
                </a:r>
                <a:r>
                  <a:rPr sz="2400" b="0">
                    <a:solidFill>
                      <a:srgbClr val="111827"/>
                    </a:solidFill>
                    <a:latin typeface="Arial"/>
                  </a:rPr>
                  <a:t>, </a:t>
                </a:r>
                <a:r>
                  <a:rPr lang="en-IN" sz="2400">
                    <a:solidFill>
                      <a:srgbClr val="111827"/>
                    </a:solidFill>
                    <a:latin typeface="Cambria Math" panose="02040503050406030204" pitchFamily="18" charset="0"/>
                  </a:rPr>
                  <a:t>$10$</a:t>
                </a:r>
                <a:r>
                  <a:rPr sz="2400" b="0">
                    <a:solidFill>
                      <a:srgbClr val="111827"/>
                    </a:solidFill>
                    <a:latin typeface="Arial"/>
                  </a:rPr>
                  <a:t>-</a:t>
                </a:r>
                <a:r>
                  <a:rPr lang="en-IN" sz="2400">
                    <a:solidFill>
                      <a:srgbClr val="111827"/>
                    </a:solidFill>
                    <a:latin typeface="Cambria Math" panose="02040503050406030204" pitchFamily="18" charset="0"/>
                  </a:rPr>
                  <a:t>$20$</a:t>
                </a:r>
                <a:r>
                  <a:rPr sz="2400" b="0">
                    <a:solidFill>
                      <a:srgbClr val="111827"/>
                    </a:solidFill>
                    <a:latin typeface="Arial"/>
                  </a:rPr>
                  <a:t>, </a:t>
                </a:r>
                <a:r>
                  <a:rPr lang="en-IN" sz="2400">
                    <a:solidFill>
                      <a:srgbClr val="111827"/>
                    </a:solidFill>
                    <a:latin typeface="Cambria Math" panose="02040503050406030204" pitchFamily="18" charset="0"/>
                  </a:rPr>
                  <a:t>$20$</a:t>
                </a:r>
                <a:r>
                  <a:rPr sz="2400" b="0">
                    <a:solidFill>
                      <a:srgbClr val="111827"/>
                    </a:solidFill>
                    <a:latin typeface="Arial"/>
                  </a:rPr>
                  <a:t>-</a:t>
                </a:r>
                <a:r>
                  <a:rPr lang="en-IN" sz="2400">
                    <a:solidFill>
                      <a:srgbClr val="111827"/>
                    </a:solidFill>
                    <a:latin typeface="Cambria Math" panose="02040503050406030204" pitchFamily="18" charset="0"/>
                  </a:rPr>
                  <a:t>$30$</a:t>
                </a:r>
                <a:r>
                  <a:rPr sz="2400" b="0">
                    <a:solidFill>
                      <a:srgbClr val="111827"/>
                    </a:solidFill>
                    <a:latin typeface="Arial"/>
                  </a:rPr>
                  <a:t> are </a:t>
                </a:r>
                <a:r>
                  <a:rPr lang="en-IN" sz="2400">
                    <a:solidFill>
                      <a:srgbClr val="111827"/>
                    </a:solidFill>
                    <a:latin typeface="Cambria Math" panose="02040503050406030204" pitchFamily="18" charset="0"/>
                  </a:rPr>
                  <a:t>$5$</a:t>
                </a:r>
                <a:r>
                  <a:rPr sz="2400" b="0">
                    <a:solidFill>
                      <a:srgbClr val="111827"/>
                    </a:solidFill>
                    <a:latin typeface="Arial"/>
                  </a:rPr>
                  <a:t>, </a:t>
                </a:r>
                <a:r>
                  <a:rPr lang="en-IN" sz="2400">
                    <a:solidFill>
                      <a:srgbClr val="111827"/>
                    </a:solidFill>
                    <a:latin typeface="Cambria Math" panose="02040503050406030204" pitchFamily="18" charset="0"/>
                  </a:rPr>
                  <a:t>$15$</a:t>
                </a:r>
                <a:r>
                  <a:rPr sz="2400" b="0">
                    <a:solidFill>
                      <a:srgbClr val="111827"/>
                    </a:solidFill>
                    <a:latin typeface="Arial"/>
                  </a:rPr>
                  <a:t> and </a:t>
                </a:r>
                <a:r>
                  <a:rPr lang="en-IN" sz="2400">
                    <a:solidFill>
                      <a:srgbClr val="111827"/>
                    </a:solidFill>
                    <a:latin typeface="Cambria Math" panose="02040503050406030204" pitchFamily="18" charset="0"/>
                  </a:rPr>
                  <a:t>$25$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frequencies are </a:t>
                </a:r>
                <a:r>
                  <a:rPr lang="en-IN" sz="2400">
                    <a:solidFill>
                      <a:srgbClr val="111827"/>
                    </a:solidFill>
                    <a:latin typeface="Cambria Math" panose="02040503050406030204" pitchFamily="18" charset="0"/>
                  </a:rPr>
                  <a:t>$f_1=3$</a:t>
                </a:r>
                <a:r>
                  <a:rPr sz="2400" b="0">
                    <a:solidFill>
                      <a:srgbClr val="111827"/>
                    </a:solidFill>
                    <a:latin typeface="Arial"/>
                  </a:rPr>
                  <a:t>, </a:t>
                </a:r>
                <a:r>
                  <a:rPr lang="en-IN" sz="2400">
                    <a:solidFill>
                      <a:srgbClr val="111827"/>
                    </a:solidFill>
                    <a:latin typeface="Cambria Math" panose="02040503050406030204" pitchFamily="18" charset="0"/>
                  </a:rPr>
                  <a:t>$f_2=4$</a:t>
                </a:r>
                <a:r>
                  <a:rPr sz="2400" b="0">
                    <a:solidFill>
                      <a:srgbClr val="111827"/>
                    </a:solidFill>
                    <a:latin typeface="Arial"/>
                  </a:rPr>
                  <a:t>, </a:t>
                </a:r>
                <a:r>
                  <a:rPr lang="en-IN" sz="2400">
                    <a:solidFill>
                      <a:srgbClr val="111827"/>
                    </a:solidFill>
                    <a:latin typeface="Cambria Math" panose="02040503050406030204" pitchFamily="18" charset="0"/>
                  </a:rPr>
                  <a:t>$f_3=3$</a:t>
                </a:r>
                <a:r>
                  <a:rPr sz="2400" b="0">
                    <a:solidFill>
                      <a:srgbClr val="111827"/>
                    </a:solidFill>
                    <a:latin typeface="Arial"/>
                  </a:rPr>
                  <a:t>, so the total frequency is </a:t>
                </a:r>
                <a:r>
                  <a:rPr lang="en-IN" sz="2400">
                    <a:solidFill>
                      <a:srgbClr val="111827"/>
                    </a:solidFill>
                    <a:latin typeface="Cambria Math" panose="02040503050406030204" pitchFamily="18" charset="0"/>
                  </a:rPr>
                  <a:t>$N=\sum f_i=3+4+3=10$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Mean: </a:t>
                </a:r>
                <a:r>
                  <a:rPr lang="en-IN" sz="2400">
                    <a:solidFill>
                      <a:srgbClr val="111827"/>
                    </a:solidFill>
                    <a:latin typeface="Cambria Math" panose="02040503050406030204" pitchFamily="18" charset="0"/>
                  </a:rPr>
                  <a:t>$\mu=\frac{\sum f_ix_i}{N}=\frac{3(5)+4(15)+3(25)}{10}=\frac{15+60+75}{10}=15$</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93C47D"/>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0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Variance: </a:t>
                </a:r>
                <a14:m>
                  <m:oMath xmlns:m="http://schemas.openxmlformats.org/officeDocument/2006/math">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𝑓</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μ</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𝑁</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10</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10</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600</m:t>
                        </m:r>
                      </m:num>
                      <m:den>
                        <m:r>
                          <a:rPr lang="en-IN" sz="2400" i="1">
                            <a:solidFill>
                              <a:srgbClr val="111827"/>
                            </a:solidFill>
                            <a:latin typeface="Cambria Math" panose="02040503050406030204" pitchFamily="18" charset="0"/>
                          </a:rPr>
                          <m:t>10</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Thus the required value is </a:t>
                </a:r>
                <a14:m>
                  <m:oMath xmlns:m="http://schemas.openxmlformats.org/officeDocument/2006/math">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75</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Variance: </a:t>
                </a:r>
                <a:r>
                  <a:rPr lang="en-IN" sz="2400">
                    <a:solidFill>
                      <a:srgbClr val="111827"/>
                    </a:solidFill>
                    <a:latin typeface="Cambria Math" panose="02040503050406030204" pitchFamily="18" charset="0"/>
                  </a:rPr>
                  <a:t>$\sigma^2=\frac{\sum f_i(x_i-\mu)^2}{N}=\frac{3(5-15)^2+4(15-15)^2+3(25-15)^2}{10}$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$\sigma^2=\frac{3(100)+4(0)+3(100)}{10}=\frac{600}{10}=60$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Thus the required value is </a:t>
                </a:r>
                <a:r>
                  <a:rPr lang="en-IN" sz="2400">
                    <a:solidFill>
                      <a:srgbClr val="111827"/>
                    </a:solidFill>
                    <a:latin typeface="Cambria Math" panose="02040503050406030204" pitchFamily="18" charset="0"/>
                  </a:rPr>
                  <a:t>$\mu+\sigma^2=15+60=75$</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75</a:t>
            </a:r>
            <a:endParaRPr sz="2800">
              <a:solidFill>
                <a:srgbClr val="15803D"/>
              </a:solidFill>
            </a:endParaRP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93C47D"/>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0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Step-deviation: the data are symmetric about </a:t>
                </a:r>
                <a14:m>
                  <m:oMath xmlns:m="http://schemas.openxmlformats.org/officeDocument/2006/math">
                    <m:r>
                      <a:rPr lang="en-IN" sz="2400" i="1">
                        <a:solidFill>
                          <a:srgbClr val="78350F"/>
                        </a:solidFill>
                        <a:latin typeface="Cambria Math" panose="02040503050406030204" pitchFamily="18" charset="0"/>
                      </a:rPr>
                      <m:t>15</m:t>
                    </m:r>
                  </m:oMath>
                </a14:m>
                <a:r>
                  <a:rPr sz="2400" b="0">
                    <a:solidFill>
                      <a:srgbClr val="78350F"/>
                    </a:solidFill>
                    <a:latin typeface="Arial"/>
                  </a:rPr>
                  <a:t>, so shift and scale by </a:t>
                </a:r>
                <a14:m>
                  <m:oMath xmlns:m="http://schemas.openxmlformats.org/officeDocument/2006/math">
                    <m:r>
                      <a:rPr lang="en-IN" sz="2400" i="1">
                        <a:solidFill>
                          <a:srgbClr val="78350F"/>
                        </a:solidFill>
                        <a:latin typeface="Cambria Math" panose="02040503050406030204" pitchFamily="18" charset="0"/>
                      </a:rPr>
                      <m:t>𝑢</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15</m:t>
                        </m:r>
                      </m:num>
                      <m:den>
                        <m:r>
                          <a:rPr lang="en-IN" sz="2400" i="1">
                            <a:solidFill>
                              <a:srgbClr val="78350F"/>
                            </a:solidFill>
                            <a:latin typeface="Cambria Math" panose="02040503050406030204" pitchFamily="18" charset="0"/>
                          </a:rPr>
                          <m:t>10</m:t>
                        </m:r>
                      </m:den>
                    </m:f>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Step-deviation: the data are symmetric about </a:t>
                </a:r>
                <a:r>
                  <a:rPr lang="en-IN" sz="2400">
                    <a:solidFill>
                      <a:srgbClr val="78350F"/>
                    </a:solidFill>
                    <a:latin typeface="Cambria Math" panose="02040503050406030204" pitchFamily="18" charset="0"/>
                  </a:rPr>
                  <a:t>$15$</a:t>
                </a:r>
                <a:r>
                  <a:rPr sz="2400" b="0">
                    <a:solidFill>
                      <a:srgbClr val="78350F"/>
                    </a:solidFill>
                    <a:latin typeface="Arial"/>
                  </a:rPr>
                  <a:t>, so shift and scale by </a:t>
                </a:r>
                <a:r>
                  <a:rPr lang="en-IN" sz="2400">
                    <a:solidFill>
                      <a:srgbClr val="78350F"/>
                    </a:solidFill>
                    <a:latin typeface="Cambria Math" panose="02040503050406030204" pitchFamily="18" charset="0"/>
                  </a:rPr>
                  <a:t>$u=\frac{x-15}{10}$</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frequencies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are symmetric about the middle class, so the mean is the middle mid-point: </a:t>
                </a:r>
                <a14:m>
                  <m:oMath xmlns:m="http://schemas.openxmlformats.org/officeDocument/2006/math">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num>
                      <m:den>
                        <m:r>
                          <a:rPr lang="en-IN" sz="2400" i="1">
                            <a:solidFill>
                              <a:srgbClr val="111827"/>
                            </a:solidFill>
                            <a:latin typeface="Cambria Math" panose="02040503050406030204" pitchFamily="18" charset="0"/>
                          </a:rPr>
                          <m:t>10</m:t>
                        </m:r>
                      </m:den>
                    </m:f>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with frequencies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Var</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10</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10</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frequencies </a:t>
                </a:r>
                <a:r>
                  <a:rPr lang="en-IN" sz="2400">
                    <a:solidFill>
                      <a:srgbClr val="111827"/>
                    </a:solidFill>
                    <a:latin typeface="Cambria Math" panose="02040503050406030204" pitchFamily="18" charset="0"/>
                  </a:rPr>
                  <a:t>$3,4,3$</a:t>
                </a:r>
                <a:r>
                  <a:rPr sz="2400" b="0">
                    <a:solidFill>
                      <a:srgbClr val="111827"/>
                    </a:solidFill>
                    <a:latin typeface="Arial"/>
                  </a:rPr>
                  <a:t> are symmetric about the middle class, so the mean is the middle mid-point: </a:t>
                </a:r>
                <a:r>
                  <a:rPr lang="en-IN" sz="2400">
                    <a:solidFill>
                      <a:srgbClr val="111827"/>
                    </a:solidFill>
                    <a:latin typeface="Cambria Math" panose="02040503050406030204" pitchFamily="18" charset="0"/>
                  </a:rPr>
                  <a:t>$\mu=15$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$u=\frac{x-15}{10}$</a:t>
                </a:r>
                <a:r>
                  <a:rPr sz="2400" b="0">
                    <a:solidFill>
                      <a:srgbClr val="111827"/>
                    </a:solidFill>
                    <a:latin typeface="Arial"/>
                  </a:rPr>
                  <a:t>; then </a:t>
                </a:r>
                <a:r>
                  <a:rPr lang="en-IN" sz="2400">
                    <a:solidFill>
                      <a:srgbClr val="111827"/>
                    </a:solidFill>
                    <a:latin typeface="Cambria Math" panose="02040503050406030204" pitchFamily="18" charset="0"/>
                  </a:rPr>
                  <a:t>$u=-1,0,1$</a:t>
                </a:r>
                <a:r>
                  <a:rPr sz="2400" b="0">
                    <a:solidFill>
                      <a:srgbClr val="111827"/>
                    </a:solidFill>
                    <a:latin typeface="Arial"/>
                  </a:rPr>
                  <a:t> with frequencies </a:t>
                </a:r>
                <a:r>
                  <a:rPr lang="en-IN" sz="2400">
                    <a:solidFill>
                      <a:srgbClr val="111827"/>
                    </a:solidFill>
                    <a:latin typeface="Cambria Math" panose="02040503050406030204" pitchFamily="18" charset="0"/>
                  </a:rPr>
                  <a:t>$3,4,3$</a:t>
                </a:r>
                <a:r>
                  <a:rPr sz="2400" b="0">
                    <a:solidFill>
                      <a:srgbClr val="111827"/>
                    </a:solidFill>
                    <a:latin typeface="Arial"/>
                  </a:rPr>
                  <a:t>, and </a:t>
                </a:r>
                <a:r>
                  <a:rPr lang="en-IN" sz="2400">
                    <a:solidFill>
                      <a:srgbClr val="111827"/>
                    </a:solidFill>
                    <a:latin typeface="Cambria Math" panose="02040503050406030204" pitchFamily="18" charset="0"/>
                  </a:rPr>
                  <a:t>$\bar u=0$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$\operatorname{Var}(u)=\frac{3(1)+4(0)+3(1)}{10}=\frac{6}{10}$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93C47D"/>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0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Variance scales with the square of the multiplier: </a:t>
                </a:r>
                <a14:m>
                  <m:oMath xmlns:m="http://schemas.openxmlformats.org/officeDocument/2006/math">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10</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Var</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10</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75</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Variance scales with the square of the multiplier: </a:t>
                </a:r>
                <a:r>
                  <a:rPr lang="en-IN" sz="2400">
                    <a:solidFill>
                      <a:srgbClr val="111827"/>
                    </a:solidFill>
                    <a:latin typeface="Cambria Math" panose="02040503050406030204" pitchFamily="18" charset="0"/>
                  </a:rPr>
                  <a:t>$\sigma^2=10^2\operatorname{Var}(u)=100\cdot\frac6{10}=60$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$\mu+\sigma^2=15+60=75$</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75</a:t>
            </a:r>
            <a:endParaRPr sz="2800">
              <a:solidFill>
                <a:srgbClr val="15803D"/>
              </a:solidFill>
            </a:endParaRP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93C47D"/>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0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Variance is unchanged by a shift and is multiplied by </a:t>
                </a:r>
                <a14:m>
                  <m:oMath xmlns:m="http://schemas.openxmlformats.org/officeDocument/2006/math">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when the data are multiplied by </a:t>
                </a:r>
                <a14:m>
                  <m:oMath xmlns:m="http://schemas.openxmlformats.org/officeDocument/2006/math">
                    <m:r>
                      <a:rPr lang="en-IN" sz="2400" i="1">
                        <a:solidFill>
                          <a:srgbClr val="111827"/>
                        </a:solidFill>
                        <a:latin typeface="Cambria Math" panose="02040503050406030204" pitchFamily="18" charset="0"/>
                      </a:rPr>
                      <m:t>𝑐</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Var</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Var</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 symmetric frequency distribution the mean is the centre of symmetry.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Short form: </a:t>
                </a:r>
                <a14:m>
                  <m:oMath xmlns:m="http://schemas.openxmlformats.org/officeDocument/2006/math">
                    <m:sSup>
                      <m:e>
                        <m:r>
                          <a:rPr lang="en-IN" sz="2400" i="1">
                            <a:solidFill>
                              <a:srgbClr val="111827"/>
                            </a:solidFill>
                            <a:latin typeface="Cambria Math" panose="02040503050406030204" pitchFamily="18" charset="0"/>
                          </a:rPr>
                          <m:t>σ</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𝑓</m:t>
                            </m:r>
                          </m:e>
                          <m:sub>
                            <m:r>
                              <a:rPr lang="en-IN" sz="2400" i="1">
                                <a:solidFill>
                                  <a:srgbClr val="111827"/>
                                </a:solidFill>
                                <a:latin typeface="Cambria Math" panose="02040503050406030204" pitchFamily="18" charset="0"/>
                              </a:rPr>
                              <m:t>𝑖</m:t>
                            </m:r>
                          </m:sub>
                        </m:sSub>
                        <m:sSubSup>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2</m:t>
                            </m:r>
                          </m:sup>
                        </m:sSubSup>
                      </m:num>
                      <m:den>
                        <m:r>
                          <a:rPr lang="en-IN" sz="2400" i="1">
                            <a:solidFill>
                              <a:srgbClr val="111827"/>
                            </a:solidFill>
                            <a:latin typeface="Cambria Math" panose="02040503050406030204" pitchFamily="18" charset="0"/>
                          </a:rPr>
                          <m:t>𝑁</m:t>
                        </m:r>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μ</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Here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625</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10</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grouped data the class mid-point stands for the whole class (this is an approximation used by convention).</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Variance is unchanged by a shift and is multiplied by </a:t>
                </a:r>
                <a:r>
                  <a:rPr lang="en-IN" sz="2400">
                    <a:solidFill>
                      <a:srgbClr val="111827"/>
                    </a:solidFill>
                    <a:latin typeface="Cambria Math" panose="02040503050406030204" pitchFamily="18" charset="0"/>
                  </a:rPr>
                  <a:t>$c^2$</a:t>
                </a:r>
                <a:r>
                  <a:rPr sz="2400" b="0">
                    <a:solidFill>
                      <a:srgbClr val="111827"/>
                    </a:solidFill>
                    <a:latin typeface="Arial"/>
                  </a:rPr>
                  <a:t> when the data are multiplied by </a:t>
                </a:r>
                <a:r>
                  <a:rPr lang="en-IN" sz="2400">
                    <a:solidFill>
                      <a:srgbClr val="111827"/>
                    </a:solidFill>
                    <a:latin typeface="Cambria Math" panose="02040503050406030204" pitchFamily="18" charset="0"/>
                  </a:rPr>
                  <a:t>$c$</a:t>
                </a:r>
                <a:r>
                  <a:rPr sz="2400" b="0">
                    <a:solidFill>
                      <a:srgbClr val="111827"/>
                    </a:solidFill>
                    <a:latin typeface="Arial"/>
                  </a:rPr>
                  <a:t>: </a:t>
                </a:r>
                <a:r>
                  <a:rPr lang="en-IN" sz="2400">
                    <a:solidFill>
                      <a:srgbClr val="111827"/>
                    </a:solidFill>
                    <a:latin typeface="Cambria Math" panose="02040503050406030204" pitchFamily="18" charset="0"/>
                  </a:rPr>
                  <a:t>$\operatorname{Var}(a+cX)=c^2\operatorname{Var}(X)$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 symmetric frequency distribution the mean is the centre of symmetry.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Short form: </a:t>
                </a:r>
                <a:r>
                  <a:rPr lang="en-IN" sz="2400">
                    <a:solidFill>
                      <a:srgbClr val="111827"/>
                    </a:solidFill>
                    <a:latin typeface="Cambria Math" panose="02040503050406030204" pitchFamily="18" charset="0"/>
                  </a:rPr>
                  <a:t>$\sigma^2=\frac{\sum f_ix_i^2}{N}-\mu^2$</a:t>
                </a:r>
                <a:r>
                  <a:rPr sz="2400" b="0">
                    <a:solidFill>
                      <a:srgbClr val="111827"/>
                    </a:solidFill>
                    <a:latin typeface="Arial"/>
                  </a:rPr>
                  <a:t>. Here </a:t>
                </a:r>
                <a:r>
                  <a:rPr lang="en-IN" sz="2400">
                    <a:solidFill>
                      <a:srgbClr val="111827"/>
                    </a:solidFill>
                    <a:latin typeface="Cambria Math" panose="02040503050406030204" pitchFamily="18" charset="0"/>
                  </a:rPr>
                  <a:t>$\frac{3(25)+4(225)+3(625)}{10}-225=285-225=60$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grouped data the class mid-point stands for the whole class (this is an approximation used by convention).</a:t>
                </a:r>
                <a:endParaRPr sz="2400">
                  <a:solidFill>
                    <a:srgbClr val="111827"/>
                  </a:solidFill>
                </a:endParaRPr>
              </a:p>
            </p:txBody>
          </p:sp>
        </mc:Fallback>
      </mc:AlternateContent>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40080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value of the limit </a:t>
                </a:r>
                <a14:m>
                  <m:oMath xmlns:m="http://schemas.openxmlformats.org/officeDocument/2006/math">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Sub>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𝑒</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(B)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𝑒</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(C)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𝑒</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(D)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endParaRPr sz="2400">
                  <a:solidFill>
                    <a:srgbClr val="111827"/>
                  </a:solidFill>
                </a:endParaRPr>
              </a:p>
            </p:txBody>
          </p:sp>
        </mc:Choice>
        <mc:Fallback>
          <p:sp>
            <p:nvSpPr>
              <p:cNvPr id="4" name="Rounded Rectangle 3"/>
              <p:cNvSpPr/>
              <p:nvPr/>
            </p:nvSpPr>
            <p:spPr>
              <a:xfrm>
                <a:off x="731520" y="1280160"/>
                <a:ext cx="10725912" cy="240080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value of the limit </a:t>
                </a:r>
                <a:r>
                  <a:rPr lang="en-IN" sz="2400">
                    <a:solidFill>
                      <a:srgbClr val="111827"/>
                    </a:solidFill>
                    <a:latin typeface="Cambria Math" panose="02040503050406030204" pitchFamily="18" charset="0"/>
                  </a:rPr>
                  <a:t>$\lim_{x\to0}\frac{e^{x\cot x}-e}{x^2}$</a:t>
                </a:r>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$-\frac e2$</a:t>
                </a:r>
                <a:r>
                  <a:rPr sz="2400" b="0">
                    <a:solidFill>
                      <a:srgbClr val="111827"/>
                    </a:solidFill>
                    <a:latin typeface="Arial"/>
                  </a:rPr>
                  <a:t>   (B) </a:t>
                </a:r>
                <a:r>
                  <a:rPr lang="en-IN" sz="2400">
                    <a:solidFill>
                      <a:srgbClr val="111827"/>
                    </a:solidFill>
                    <a:latin typeface="Cambria Math" panose="02040503050406030204" pitchFamily="18" charset="0"/>
                  </a:rPr>
                  <a:t>$-\frac e3$</a:t>
                </a:r>
                <a:r>
                  <a:rPr sz="2400" b="0">
                    <a:solidFill>
                      <a:srgbClr val="111827"/>
                    </a:solidFill>
                    <a:latin typeface="Arial"/>
                  </a:rPr>
                  <a:t>   (C) </a:t>
                </a:r>
                <a:r>
                  <a:rPr lang="en-IN" sz="2400">
                    <a:solidFill>
                      <a:srgbClr val="111827"/>
                    </a:solidFill>
                    <a:latin typeface="Cambria Math" panose="02040503050406030204" pitchFamily="18" charset="0"/>
                  </a:rPr>
                  <a:t>$\frac e3$</a:t>
                </a:r>
                <a:r>
                  <a:rPr sz="2400" b="0">
                    <a:solidFill>
                      <a:srgbClr val="111827"/>
                    </a:solidFill>
                    <a:latin typeface="Arial"/>
                  </a:rPr>
                  <a:t>   (D) </a:t>
                </a:r>
                <a:r>
                  <a:rPr lang="en-IN" sz="2400">
                    <a:solidFill>
                      <a:srgbClr val="111827"/>
                    </a:solidFill>
                    <a:latin typeface="Cambria Math" panose="02040503050406030204" pitchFamily="18" charset="0"/>
                  </a:rPr>
                  <a:t>$-\frac13$</a:t>
                </a:r>
                <a:endParaRPr sz="2400">
                  <a:solidFill>
                    <a:srgbClr val="111827"/>
                  </a:solidFill>
                </a:endParaRPr>
              </a:p>
            </p:txBody>
          </p:sp>
        </mc:Fallback>
      </mc:AlternateContent>
      <p:sp>
        <p:nvSpPr>
          <p:cNvPr id="5" name="Rectangle 4"/>
          <p:cNvSpPr/>
          <p:nvPr/>
        </p:nvSpPr>
        <p:spPr>
          <a:xfrm>
            <a:off x="731520" y="3909567"/>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Evaluation of limits by L'Hospital's rule and series expansion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Since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cot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num>
                      <m:den>
                        <m:r>
                          <a:rPr lang="en-IN" sz="2400" i="1">
                            <a:solidFill>
                              <a:srgbClr val="78350F"/>
                            </a:solidFill>
                            <a:latin typeface="Cambria Math" panose="02040503050406030204" pitchFamily="18" charset="0"/>
                          </a:rPr>
                          <m:t>3</m:t>
                        </m:r>
                      </m:den>
                    </m:f>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the numerator is </a:t>
                </a:r>
                <a14:m>
                  <m:oMath xmlns:m="http://schemas.openxmlformats.org/officeDocument/2006/math">
                    <m:r>
                      <a:rPr lang="en-IN" sz="2400" i="1">
                        <a:solidFill>
                          <a:srgbClr val="78350F"/>
                        </a:solidFill>
                        <a:latin typeface="Cambria Math" panose="02040503050406030204" pitchFamily="18" charset="0"/>
                      </a:rPr>
                      <m:t>𝑒</m:t>
                    </m:r>
                    <m:d>
                      <m:dPr>
                        <m:begChr m:val="("/>
                        <m:sepChr m:val=""/>
                        <m:endChr m:val=")"/>
                        <m:grow/>
                        <m:ctrlPr>
                          <a:rPr lang="en-IN" sz="2400" i="1">
                            <a:solidFill>
                              <a:srgbClr val="78350F"/>
                            </a:solidFill>
                            <a:latin typeface="Cambria Math" panose="02040503050406030204" pitchFamily="18" charset="0"/>
                          </a:rPr>
                        </m:ctrlPr>
                      </m:dPr>
                      <m:e>
                        <m:sSup>
                          <m:e>
                            <m:r>
                              <a:rPr lang="en-IN" sz="2400" i="1">
                                <a:solidFill>
                                  <a:srgbClr val="78350F"/>
                                </a:solidFill>
                                <a:latin typeface="Cambria Math" panose="02040503050406030204" pitchFamily="18" charset="0"/>
                              </a:rPr>
                              <m:t>𝑒</m:t>
                            </m:r>
                          </m:e>
                          <m:sup>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cot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e>
                    </m:d>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𝑒</m:t>
                    </m:r>
                    <m:d>
                      <m:dPr>
                        <m:begChr m:val="("/>
                        <m:sepChr m:val=""/>
                        <m:endChr m:val=")"/>
                        <m:grow/>
                        <m:ctrlPr>
                          <a:rPr lang="en-IN" sz="2400" i="1">
                            <a:solidFill>
                              <a:srgbClr val="78350F"/>
                            </a:solidFill>
                            <a:latin typeface="Cambria Math" panose="02040503050406030204" pitchFamily="18" charset="0"/>
                          </a:rPr>
                        </m:ctrlPr>
                      </m:dPr>
                      <m:e>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cot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e>
                    </m:d>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Since </a:t>
                </a:r>
                <a:r>
                  <a:rPr lang="en-IN" sz="2400">
                    <a:solidFill>
                      <a:srgbClr val="78350F"/>
                    </a:solidFill>
                    <a:latin typeface="Cambria Math" panose="02040503050406030204" pitchFamily="18" charset="0"/>
                  </a:rPr>
                  <a:t>$x\cot x=1-\frac{x^2}3+\dots$</a:t>
                </a:r>
                <a:r>
                  <a:rPr sz="2400" b="0">
                    <a:solidFill>
                      <a:srgbClr val="78350F"/>
                    </a:solidFill>
                    <a:latin typeface="Arial"/>
                  </a:rPr>
                  <a:t>, the numerator is </a:t>
                </a:r>
                <a:r>
                  <a:rPr lang="en-IN" sz="2400">
                    <a:solidFill>
                      <a:srgbClr val="78350F"/>
                    </a:solidFill>
                    <a:latin typeface="Cambria Math" panose="02040503050406030204" pitchFamily="18" charset="0"/>
                  </a:rPr>
                  <a:t>$e\left(e^{x\cot x-1}-1\right)\approx e\left(x\cot x-1\right)$</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limit is of the form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0</m:t>
                        </m:r>
                      </m:num>
                      <m:den>
                        <m:r>
                          <a:rPr lang="en-IN" sz="2400" i="1">
                            <a:solidFill>
                              <a:srgbClr val="111827"/>
                            </a:solidFill>
                            <a:latin typeface="Cambria Math" panose="02040503050406030204" pitchFamily="18" charset="0"/>
                          </a:rPr>
                          <m:t>0</m:t>
                        </m:r>
                      </m:den>
                    </m:f>
                  </m:oMath>
                </a14:m>
                <a:r>
                  <a:rPr sz="2400" b="0">
                    <a:solidFill>
                      <a:srgbClr val="111827"/>
                    </a:solidFill>
                    <a:latin typeface="Arial"/>
                  </a:rPr>
                  <a:t>, so apply L'Hospital's rule: </a:t>
                </a:r>
                <a14:m>
                  <m:oMath xmlns:m="http://schemas.openxmlformats.org/officeDocument/2006/math">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Sub>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csc</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oMath>
                </a14:m>
                <a:r>
                  <a:rPr sz="2400" b="0">
                    <a:solidFill>
                      <a:srgbClr val="111827"/>
                    </a:solidFill>
                    <a:latin typeface="Arial"/>
                  </a:rPr>
                  <a:t> (because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keep </a:t>
                </a:r>
                <a14:m>
                  <m:oMath xmlns:m="http://schemas.openxmlformats.org/officeDocument/2006/math">
                    <m:r>
                      <a:rPr lang="en-IN" sz="2400" i="1">
                        <a:solidFill>
                          <a:srgbClr val="111827"/>
                        </a:solidFill>
                        <a:latin typeface="Cambria Math" panose="02040503050406030204" pitchFamily="18" charset="0"/>
                      </a:rPr>
                      <m:t>𝑒</m:t>
                    </m:r>
                  </m:oMath>
                </a14:m>
                <a:r>
                  <a:rPr sz="2400" b="0">
                    <a:solidFill>
                      <a:srgbClr val="111827"/>
                    </a:solidFill>
                    <a:latin typeface="Arial"/>
                  </a:rPr>
                  <a:t> as a front factor.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Rewrite in sines and cosines: </a:t>
                </a:r>
                <a14:m>
                  <m:oMath xmlns:m="http://schemas.openxmlformats.org/officeDocument/2006/math">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csc</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num>
                      <m:den>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num>
                      <m:den>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𝑥</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limit is of the form </a:t>
                </a:r>
                <a:r>
                  <a:rPr lang="en-IN" sz="2400">
                    <a:solidFill>
                      <a:srgbClr val="111827"/>
                    </a:solidFill>
                    <a:latin typeface="Cambria Math" panose="02040503050406030204" pitchFamily="18" charset="0"/>
                  </a:rPr>
                  <a:t>$\frac00$</a:t>
                </a:r>
                <a:r>
                  <a:rPr sz="2400" b="0">
                    <a:solidFill>
                      <a:srgbClr val="111827"/>
                    </a:solidFill>
                    <a:latin typeface="Arial"/>
                  </a:rPr>
                  <a:t>, so apply L'Hospital's rule: </a:t>
                </a:r>
                <a:r>
                  <a:rPr lang="en-IN" sz="2400">
                    <a:solidFill>
                      <a:srgbClr val="111827"/>
                    </a:solidFill>
                    <a:latin typeface="Cambria Math" panose="02040503050406030204" pitchFamily="18" charset="0"/>
                  </a:rPr>
                  <a:t>$\lim_{x\to0}\frac{e^{x\cot x}(\cot x-x\csc^2x)}{2x}$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As </a:t>
                </a:r>
                <a:r>
                  <a:rPr lang="en-IN" sz="2400">
                    <a:solidFill>
                      <a:srgbClr val="111827"/>
                    </a:solidFill>
                    <a:latin typeface="Cambria Math" panose="02040503050406030204" pitchFamily="18" charset="0"/>
                  </a:rPr>
                  <a:t>$x\to0$</a:t>
                </a:r>
                <a:r>
                  <a:rPr sz="2400" b="0">
                    <a:solidFill>
                      <a:srgbClr val="111827"/>
                    </a:solidFill>
                    <a:latin typeface="Arial"/>
                  </a:rPr>
                  <a:t>, </a:t>
                </a:r>
                <a:r>
                  <a:rPr lang="en-IN" sz="2400">
                    <a:solidFill>
                      <a:srgbClr val="111827"/>
                    </a:solidFill>
                    <a:latin typeface="Cambria Math" panose="02040503050406030204" pitchFamily="18" charset="0"/>
                  </a:rPr>
                  <a:t>$e^{x\cot x}\to e$</a:t>
                </a:r>
                <a:r>
                  <a:rPr sz="2400" b="0">
                    <a:solidFill>
                      <a:srgbClr val="111827"/>
                    </a:solidFill>
                    <a:latin typeface="Arial"/>
                  </a:rPr>
                  <a:t> (because </a:t>
                </a:r>
                <a:r>
                  <a:rPr lang="en-IN" sz="2400">
                    <a:solidFill>
                      <a:srgbClr val="111827"/>
                    </a:solidFill>
                    <a:latin typeface="Cambria Math" panose="02040503050406030204" pitchFamily="18" charset="0"/>
                  </a:rPr>
                  <a:t>$x\cot x\to1$</a:t>
                </a:r>
                <a:r>
                  <a:rPr sz="2400" b="0">
                    <a:solidFill>
                      <a:srgbClr val="111827"/>
                    </a:solidFill>
                    <a:latin typeface="Arial"/>
                  </a:rPr>
                  <a:t>), so keep </a:t>
                </a:r>
                <a:r>
                  <a:rPr lang="en-IN" sz="2400">
                    <a:solidFill>
                      <a:srgbClr val="111827"/>
                    </a:solidFill>
                    <a:latin typeface="Cambria Math" panose="02040503050406030204" pitchFamily="18" charset="0"/>
                  </a:rPr>
                  <a:t>$e$</a:t>
                </a:r>
                <a:r>
                  <a:rPr sz="2400" b="0">
                    <a:solidFill>
                      <a:srgbClr val="111827"/>
                    </a:solidFill>
                    <a:latin typeface="Arial"/>
                  </a:rPr>
                  <a:t> as a front factor.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Rewrite in sines and cosines: </a:t>
                </a:r>
                <a:r>
                  <a:rPr lang="en-IN" sz="2400">
                    <a:solidFill>
                      <a:srgbClr val="111827"/>
                    </a:solidFill>
                    <a:latin typeface="Cambria Math" panose="02040503050406030204" pitchFamily="18" charset="0"/>
                  </a:rPr>
                  <a:t>$\cot x-x\csc^2x=\frac{\cos x}{\sin x}-\frac{x}{\sin^2x}=\frac{\sin x\cos x-x}{\sin^2x}$</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limit becomes </a:t>
                </a:r>
                <a14:m>
                  <m:oMath xmlns:m="http://schemas.openxmlformats.org/officeDocument/2006/math">
                    <m:r>
                      <a:rPr lang="en-IN" sz="2400" i="1">
                        <a:solidFill>
                          <a:srgbClr val="111827"/>
                        </a:solidFill>
                        <a:latin typeface="Cambria Math" panose="02040503050406030204" pitchFamily="18" charset="0"/>
                      </a:rPr>
                      <m:t>𝑒</m:t>
                    </m:r>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Sub>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Sub>
                    <m:f>
                      <m:fPr>
                        <m:type m:val="bar"/>
                        <m:ctrlPr>
                          <a:rPr lang="en-IN" sz="2400" i="1">
                            <a:solidFill>
                              <a:srgbClr val="111827"/>
                            </a:solidFill>
                            <a:latin typeface="Cambria Math" panose="02040503050406030204" pitchFamily="18" charset="0"/>
                          </a:rPr>
                        </m:ctrlPr>
                      </m:fPr>
                      <m:num>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den>
                    </m:f>
                  </m:oMath>
                </a14:m>
                <a:r>
                  <a:rPr sz="2400" b="0">
                    <a:solidFill>
                      <a:srgbClr val="111827"/>
                    </a:solidFill>
                    <a:latin typeface="Arial"/>
                  </a:rPr>
                  <a:t> (using </a:t>
                </a:r>
                <a14:m>
                  <m:oMath xmlns:m="http://schemas.openxmlformats.org/officeDocument/2006/math">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Applying L'Hospital's rule again (form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0</m:t>
                        </m:r>
                      </m:num>
                      <m:den>
                        <m:r>
                          <a:rPr lang="en-IN" sz="2400" i="1">
                            <a:solidFill>
                              <a:srgbClr val="111827"/>
                            </a:solidFill>
                            <a:latin typeface="Cambria Math" panose="02040503050406030204" pitchFamily="18" charset="0"/>
                          </a:rPr>
                          <m:t>0</m:t>
                        </m:r>
                      </m:den>
                    </m:f>
                  </m:oMath>
                </a14:m>
                <a:r>
                  <a:rPr sz="2400" b="0">
                    <a:solidFill>
                      <a:srgbClr val="111827"/>
                    </a:solidFill>
                    <a:latin typeface="Arial"/>
                  </a:rPr>
                  <a:t>): </a:t>
                </a:r>
                <a14:m>
                  <m:oMath xmlns:m="http://schemas.openxmlformats.org/officeDocument/2006/math">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Sub>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6</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Applying it one more time: </a:t>
                </a:r>
                <a14:m>
                  <m:oMath xmlns:m="http://schemas.openxmlformats.org/officeDocument/2006/math">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Sub>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12</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12</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Combining with the front factor </a:t>
                </a:r>
                <a14:m>
                  <m:oMath xmlns:m="http://schemas.openxmlformats.org/officeDocument/2006/math">
                    <m:r>
                      <a:rPr lang="en-IN" sz="2400" i="1">
                        <a:solidFill>
                          <a:srgbClr val="111827"/>
                        </a:solidFill>
                        <a:latin typeface="Cambria Math" panose="02040503050406030204" pitchFamily="18" charset="0"/>
                      </a:rPr>
                      <m:t>𝑒</m:t>
                    </m:r>
                  </m:oMath>
                </a14:m>
                <a:r>
                  <a:rPr sz="2400" b="0">
                    <a:solidFill>
                      <a:srgbClr val="111827"/>
                    </a:solidFill>
                    <a:latin typeface="Arial"/>
                  </a:rPr>
                  <a:t>: the required limit is </a:t>
                </a:r>
                <a14:m>
                  <m:oMath xmlns:m="http://schemas.openxmlformats.org/officeDocument/2006/math">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𝑒</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limit becomes </a:t>
                </a:r>
                <a:r>
                  <a:rPr lang="en-IN" sz="2400">
                    <a:solidFill>
                      <a:srgbClr val="111827"/>
                    </a:solidFill>
                    <a:latin typeface="Cambria Math" panose="02040503050406030204" pitchFamily="18" charset="0"/>
                  </a:rPr>
                  <a:t>$e\lim_{x\to0}\frac{\sin x\cos x-x}{2x\sin^2x}=e\lim_{x\to0}\frac{\frac12\sin2x-x}{2x^3}$</a:t>
                </a:r>
                <a:r>
                  <a:rPr sz="2400" b="0">
                    <a:solidFill>
                      <a:srgbClr val="111827"/>
                    </a:solidFill>
                    <a:latin typeface="Arial"/>
                  </a:rPr>
                  <a:t> (using </a:t>
                </a:r>
                <a:r>
                  <a:rPr lang="en-IN" sz="2400">
                    <a:solidFill>
                      <a:srgbClr val="111827"/>
                    </a:solidFill>
                    <a:latin typeface="Cambria Math" panose="02040503050406030204" pitchFamily="18" charset="0"/>
                  </a:rPr>
                  <a:t>$\sin^2x\sim x^2$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Applying L'Hospital's rule again (form </a:t>
                </a:r>
                <a:r>
                  <a:rPr lang="en-IN" sz="2400">
                    <a:solidFill>
                      <a:srgbClr val="111827"/>
                    </a:solidFill>
                    <a:latin typeface="Cambria Math" panose="02040503050406030204" pitchFamily="18" charset="0"/>
                  </a:rPr>
                  <a:t>$\frac00$</a:t>
                </a:r>
                <a:r>
                  <a:rPr sz="2400" b="0">
                    <a:solidFill>
                      <a:srgbClr val="111827"/>
                    </a:solidFill>
                    <a:latin typeface="Arial"/>
                  </a:rPr>
                  <a:t>): </a:t>
                </a:r>
                <a:r>
                  <a:rPr lang="en-IN" sz="2400">
                    <a:solidFill>
                      <a:srgbClr val="111827"/>
                    </a:solidFill>
                    <a:latin typeface="Cambria Math" panose="02040503050406030204" pitchFamily="18" charset="0"/>
                  </a:rPr>
                  <a:t>$\lim_{x\to0}\frac{\cos2x-1}{6x^2}$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Applying it one more time: </a:t>
                </a:r>
                <a:r>
                  <a:rPr lang="en-IN" sz="2400">
                    <a:solidFill>
                      <a:srgbClr val="111827"/>
                    </a:solidFill>
                    <a:latin typeface="Cambria Math" panose="02040503050406030204" pitchFamily="18" charset="0"/>
                  </a:rPr>
                  <a:t>$\lim_{x\to0}\frac{-2\sin2x}{12x}=-\frac4{12}=-\frac13$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Combining with the front factor </a:t>
                </a:r>
                <a:r>
                  <a:rPr lang="en-IN" sz="2400">
                    <a:solidFill>
                      <a:srgbClr val="111827"/>
                    </a:solidFill>
                    <a:latin typeface="Cambria Math" panose="02040503050406030204" pitchFamily="18" charset="0"/>
                  </a:rPr>
                  <a:t>$e$</a:t>
                </a:r>
                <a:r>
                  <a:rPr sz="2400" b="0">
                    <a:solidFill>
                      <a:srgbClr val="111827"/>
                    </a:solidFill>
                    <a:latin typeface="Arial"/>
                  </a:rPr>
                  <a:t>: the required limit is </a:t>
                </a:r>
                <a:r>
                  <a:rPr lang="en-IN" sz="2400">
                    <a:solidFill>
                      <a:srgbClr val="111827"/>
                    </a:solidFill>
                    <a:latin typeface="Cambria Math" panose="02040503050406030204" pitchFamily="18" charset="0"/>
                  </a:rPr>
                  <a:t>$e\times\left(-\frac13\right)=-\frac e3$</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14:m>
                  <m:oMath xmlns:m="http://schemas.openxmlformats.org/officeDocument/2006/math">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𝑒</m:t>
                        </m:r>
                      </m:num>
                      <m:den>
                        <m:r>
                          <a:rPr lang="en-IN" sz="2800" i="1">
                            <a:solidFill>
                              <a:srgbClr val="15803D"/>
                            </a:solidFill>
                            <a:latin typeface="Cambria Math" panose="02040503050406030204" pitchFamily="18" charset="0"/>
                          </a:rPr>
                          <m:t>3</m:t>
                        </m:r>
                      </m:den>
                    </m:f>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r>
                  <a:rPr lang="en-IN" sz="2800">
                    <a:solidFill>
                      <a:srgbClr val="15803D"/>
                    </a:solidFill>
                    <a:latin typeface="Cambria Math" panose="02040503050406030204" pitchFamily="18" charset="0"/>
                  </a:rPr>
                  <a:t>$-\frac e3$</a:t>
                </a:r>
                <a:endParaRPr sz="2800">
                  <a:solidFill>
                    <a:srgbClr val="15803D"/>
                  </a:solidFill>
                </a:endParaRPr>
              </a:p>
            </p:txBody>
          </p:sp>
        </mc:Fallback>
      </mc:AlternateContent>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Expand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cot</m:t>
                    </m:r>
                    <m:r>
                      <a:rPr lang="en-IN" sz="2400" i="1">
                        <a:solidFill>
                          <a:srgbClr val="78350F"/>
                        </a:solidFill>
                        <a:latin typeface="Cambria Math" panose="02040503050406030204" pitchFamily="18" charset="0"/>
                      </a:rPr>
                      <m:t>𝑥</m:t>
                    </m:r>
                  </m:oMath>
                </a14:m>
                <a:r>
                  <a:rPr sz="2400" b="0">
                    <a:solidFill>
                      <a:srgbClr val="78350F"/>
                    </a:solidFill>
                    <a:latin typeface="Arial"/>
                  </a:rPr>
                  <a:t> as a series; then </a:t>
                </a:r>
                <a14:m>
                  <m:oMath xmlns:m="http://schemas.openxmlformats.org/officeDocument/2006/math">
                    <m:sSup>
                      <m:e>
                        <m:r>
                          <a:rPr lang="en-IN" sz="2400" i="1">
                            <a:solidFill>
                              <a:srgbClr val="78350F"/>
                            </a:solidFill>
                            <a:latin typeface="Cambria Math" panose="02040503050406030204" pitchFamily="18" charset="0"/>
                          </a:rPr>
                          <m:t>𝑒</m:t>
                        </m:r>
                      </m:e>
                      <m:sup>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cot</m:t>
                        </m:r>
                        <m:r>
                          <a:rPr lang="en-IN" sz="2400" i="1">
                            <a:solidFill>
                              <a:srgbClr val="78350F"/>
                            </a:solidFill>
                            <a:latin typeface="Cambria Math" panose="02040503050406030204" pitchFamily="18" charset="0"/>
                          </a:rPr>
                          <m:t>𝑥</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𝑒</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𝑒</m:t>
                        </m:r>
                      </m:e>
                      <m: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Expand </a:t>
                </a:r>
                <a:r>
                  <a:rPr lang="en-IN" sz="2400">
                    <a:solidFill>
                      <a:srgbClr val="78350F"/>
                    </a:solidFill>
                    <a:latin typeface="Cambria Math" panose="02040503050406030204" pitchFamily="18" charset="0"/>
                  </a:rPr>
                  <a:t>$x\cot x$</a:t>
                </a:r>
                <a:r>
                  <a:rPr sz="2400" b="0">
                    <a:solidFill>
                      <a:srgbClr val="78350F"/>
                    </a:solidFill>
                    <a:latin typeface="Arial"/>
                  </a:rPr>
                  <a:t> as a series; then </a:t>
                </a:r>
                <a:r>
                  <a:rPr lang="en-IN" sz="2400">
                    <a:solidFill>
                      <a:srgbClr val="78350F"/>
                    </a:solidFill>
                    <a:latin typeface="Cambria Math" panose="02040503050406030204" pitchFamily="18" charset="0"/>
                  </a:rPr>
                  <a:t>$e^{x\cot x}=e\cdot e^{-x^2/3+\dots}$</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num>
                      <m:den>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𝑒</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Dividing by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and letting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the limit is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𝑒</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$x\cot x=\frac{x\cos x}{\sin x}=\frac{1-\frac{x^2}2+\dots}{1-\frac{x^2}6+\dots}=1-\frac{x^2}3+O(x^4)$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$e^{x\cot x}=e\cdot e^{-\frac{x^2}3+O(x^4)}=e\left(1-\frac{x^2}3+O(x^4)\right)$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$e^{x\cot x}-e=-\frac{e\,x^2}3+O(x^4)$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Dividing by </a:t>
                </a:r>
                <a:r>
                  <a:rPr lang="en-IN" sz="2400">
                    <a:solidFill>
                      <a:srgbClr val="111827"/>
                    </a:solidFill>
                    <a:latin typeface="Cambria Math" panose="02040503050406030204" pitchFamily="18" charset="0"/>
                  </a:rPr>
                  <a:t>$x^2$</a:t>
                </a:r>
                <a:r>
                  <a:rPr sz="2400" b="0">
                    <a:solidFill>
                      <a:srgbClr val="111827"/>
                    </a:solidFill>
                    <a:latin typeface="Arial"/>
                  </a:rPr>
                  <a:t> and letting </a:t>
                </a:r>
                <a:r>
                  <a:rPr lang="en-IN" sz="2400">
                    <a:solidFill>
                      <a:srgbClr val="111827"/>
                    </a:solidFill>
                    <a:latin typeface="Cambria Math" panose="02040503050406030204" pitchFamily="18" charset="0"/>
                  </a:rPr>
                  <a:t>$x\to0$</a:t>
                </a:r>
                <a:r>
                  <a:rPr sz="2400" b="0">
                    <a:solidFill>
                      <a:srgbClr val="111827"/>
                    </a:solidFill>
                    <a:latin typeface="Arial"/>
                  </a:rPr>
                  <a:t>: the limit is </a:t>
                </a:r>
                <a:r>
                  <a:rPr lang="en-IN" sz="2400">
                    <a:solidFill>
                      <a:srgbClr val="111827"/>
                    </a:solidFill>
                    <a:latin typeface="Cambria Math" panose="02040503050406030204" pitchFamily="18" charset="0"/>
                  </a:rPr>
                  <a:t>$-\frac e3$</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14:m>
                  <m:oMath xmlns:m="http://schemas.openxmlformats.org/officeDocument/2006/math">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𝑒</m:t>
                        </m:r>
                      </m:num>
                      <m:den>
                        <m:r>
                          <a:rPr lang="en-IN" sz="2800" i="1">
                            <a:solidFill>
                              <a:srgbClr val="15803D"/>
                            </a:solidFill>
                            <a:latin typeface="Cambria Math" panose="02040503050406030204" pitchFamily="18" charset="0"/>
                          </a:rPr>
                          <m:t>3</m:t>
                        </m:r>
                      </m:den>
                    </m:f>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r>
                  <a:rPr lang="en-IN" sz="2800">
                    <a:solidFill>
                      <a:srgbClr val="15803D"/>
                    </a:solidFill>
                    <a:latin typeface="Cambria Math" panose="02040503050406030204" pitchFamily="18" charset="0"/>
                  </a:rPr>
                  <a:t>$-\frac e3$</a:t>
                </a:r>
                <a:endParaRPr sz="2800">
                  <a:solidFill>
                    <a:srgbClr val="15803D"/>
                  </a:solidFill>
                </a:endParaRPr>
              </a:p>
            </p:txBody>
          </p:sp>
        </mc:Fallback>
      </mc:AlternateContent>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num>
                      <m:den>
                        <m:r>
                          <a:rPr lang="en-IN" sz="2400" i="1">
                            <a:solidFill>
                              <a:srgbClr val="111827"/>
                            </a:solidFill>
                            <a:latin typeface="Cambria Math" panose="02040503050406030204" pitchFamily="18" charset="0"/>
                          </a:rPr>
                          <m:t>45</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are worth remembering.</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then </a:t>
                </a:r>
                <a14:m>
                  <m:oMath xmlns:m="http://schemas.openxmlformats.org/officeDocument/2006/math">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𝑔</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𝐿</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𝐿</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𝐿</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when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𝐿</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Compare with </a:t>
                </a:r>
                <a14:m>
                  <m:oMath xmlns:m="http://schemas.openxmlformats.org/officeDocument/2006/math">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Sub>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𝑥</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 standard limit); this question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oMath>
                </a14:m>
                <a:r>
                  <a:rPr sz="2400" b="0">
                    <a:solidFill>
                      <a:srgbClr val="111827"/>
                    </a:solidFill>
                    <a:latin typeface="Arial"/>
                  </a:rPr>
                  <a:t> times that.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Series expansion needs far fewer steps than repeated L'Hospital when the numerator has trigonometric products.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$x\cot x=1-\frac{x^2}3-\frac{x^4}{45}-\dots$</a:t>
                </a:r>
                <a:r>
                  <a:rPr sz="2400" b="0">
                    <a:solidFill>
                      <a:srgbClr val="111827"/>
                    </a:solidFill>
                    <a:latin typeface="Arial"/>
                  </a:rPr>
                  <a:t> and </a:t>
                </a:r>
                <a:r>
                  <a:rPr lang="en-IN" sz="2400">
                    <a:solidFill>
                      <a:srgbClr val="111827"/>
                    </a:solidFill>
                    <a:latin typeface="Cambria Math" panose="02040503050406030204" pitchFamily="18" charset="0"/>
                  </a:rPr>
                  <a:t>$\frac{\sin x}x=1-\frac{x^2}6+\dots$</a:t>
                </a:r>
                <a:r>
                  <a:rPr sz="2400" b="0">
                    <a:solidFill>
                      <a:srgbClr val="111827"/>
                    </a:solidFill>
                    <a:latin typeface="Arial"/>
                  </a:rPr>
                  <a:t> are worth remembering.</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$g(x)\to0$</a:t>
                </a:r>
                <a:r>
                  <a:rPr sz="2400" b="0">
                    <a:solidFill>
                      <a:srgbClr val="111827"/>
                    </a:solidFill>
                    <a:latin typeface="Arial"/>
                  </a:rPr>
                  <a:t> then </a:t>
                </a:r>
                <a:r>
                  <a:rPr lang="en-IN" sz="2400">
                    <a:solidFill>
                      <a:srgbClr val="111827"/>
                    </a:solidFill>
                    <a:latin typeface="Cambria Math" panose="02040503050406030204" pitchFamily="18" charset="0"/>
                  </a:rPr>
                  <a:t>$e^{g}-1\sim g$</a:t>
                </a:r>
                <a:r>
                  <a:rPr sz="2400" b="0">
                    <a:solidFill>
                      <a:srgbClr val="111827"/>
                    </a:solidFill>
                    <a:latin typeface="Arial"/>
                  </a:rPr>
                  <a:t>; so </a:t>
                </a:r>
                <a:r>
                  <a:rPr lang="en-IN" sz="2400">
                    <a:solidFill>
                      <a:srgbClr val="111827"/>
                    </a:solidFill>
                    <a:latin typeface="Cambria Math" panose="02040503050406030204" pitchFamily="18" charset="0"/>
                  </a:rPr>
                  <a:t>$e^{f(x)}-e^{L}\sim e^{L}(f(x)-L)$</a:t>
                </a:r>
                <a:r>
                  <a:rPr sz="2400" b="0">
                    <a:solidFill>
                      <a:srgbClr val="111827"/>
                    </a:solidFill>
                    <a:latin typeface="Arial"/>
                  </a:rPr>
                  <a:t> when </a:t>
                </a:r>
                <a:r>
                  <a:rPr lang="en-IN" sz="2400">
                    <a:solidFill>
                      <a:srgbClr val="111827"/>
                    </a:solidFill>
                    <a:latin typeface="Cambria Math" panose="02040503050406030204" pitchFamily="18" charset="0"/>
                  </a:rPr>
                  <a:t>$f\to L$</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Compare with </a:t>
                </a:r>
                <a:r>
                  <a:rPr lang="en-IN" sz="2400">
                    <a:solidFill>
                      <a:srgbClr val="111827"/>
                    </a:solidFill>
                    <a:latin typeface="Cambria Math" panose="02040503050406030204" pitchFamily="18" charset="0"/>
                  </a:rPr>
                  <a:t>$\lim_{x\to0}\frac{1-x\cot x}{x^2}=\frac13$</a:t>
                </a:r>
                <a:r>
                  <a:rPr sz="2400" b="0">
                    <a:solidFill>
                      <a:srgbClr val="111827"/>
                    </a:solidFill>
                    <a:latin typeface="Arial"/>
                  </a:rPr>
                  <a:t> (a standard limit); this question is </a:t>
                </a:r>
                <a:r>
                  <a:rPr lang="en-IN" sz="2400">
                    <a:solidFill>
                      <a:srgbClr val="111827"/>
                    </a:solidFill>
                    <a:latin typeface="Cambria Math" panose="02040503050406030204" pitchFamily="18" charset="0"/>
                  </a:rPr>
                  <a:t>$-e$</a:t>
                </a:r>
                <a:r>
                  <a:rPr sz="2400" b="0">
                    <a:solidFill>
                      <a:srgbClr val="111827"/>
                    </a:solidFill>
                    <a:latin typeface="Arial"/>
                  </a:rPr>
                  <a:t> times that.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Series expansion needs far fewer steps than repeated L'Hospital when the numerator has trigonometric products.</a:t>
                </a:r>
                <a:endParaRPr sz="2400">
                  <a:solidFill>
                    <a:srgbClr val="111827"/>
                  </a:solidFill>
                </a:endParaRPr>
              </a:p>
            </p:txBody>
          </p:sp>
        </mc:Fallback>
      </mc:AlternateContent>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29691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Consider a continuous frequency distribution with class intervals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having frequencies </a:t>
                </a:r>
                <a14:m>
                  <m:oMath xmlns:m="http://schemas.openxmlformats.org/officeDocument/2006/math">
                    <m:sSub>
                      <m:e>
                        <m:r>
                          <a:rPr lang="en-IN" sz="2400" i="1">
                            <a:solidFill>
                              <a:srgbClr val="111827"/>
                            </a:solidFill>
                            <a:latin typeface="Cambria Math" panose="02040503050406030204" pitchFamily="18" charset="0"/>
                          </a:rPr>
                          <m:t>𝑓</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𝑓</m:t>
                        </m:r>
                      </m:e>
                      <m:sub>
                        <m:r>
                          <a:rPr lang="en-IN" sz="2400" i="1">
                            <a:solidFill>
                              <a:srgbClr val="111827"/>
                            </a:solidFill>
                            <a:latin typeface="Cambria Math" panose="02040503050406030204" pitchFamily="18" charset="0"/>
                          </a:rPr>
                          <m:t>3</m:t>
                        </m:r>
                      </m:sub>
                    </m:sSub>
                  </m:oMath>
                </a14:m>
                <a:r>
                  <a:rPr sz="2400" b="0">
                    <a:solidFill>
                      <a:srgbClr val="111827"/>
                    </a:solidFill>
                    <a:latin typeface="Arial"/>
                  </a:rPr>
                  <a:t> respectively. If the total frequency is </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 and the mean of the distribution is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let the mean deviation about the mean of this distribution be </a:t>
                </a:r>
                <a14:m>
                  <m:oMath xmlns:m="http://schemas.openxmlformats.org/officeDocument/2006/math">
                    <m:r>
                      <a:rPr lang="en-IN" sz="2400" i="1">
                        <a:solidFill>
                          <a:srgbClr val="111827"/>
                        </a:solidFill>
                        <a:latin typeface="Cambria Math" panose="02040503050406030204" pitchFamily="18" charset="0"/>
                      </a:rPr>
                      <m:t>𝑝</m:t>
                    </m:r>
                  </m:oMath>
                </a14:m>
                <a:r>
                  <a:rPr sz="2400" b="0">
                    <a:solidFill>
                      <a:srgbClr val="111827"/>
                    </a:solidFill>
                    <a:latin typeface="Arial"/>
                  </a:rPr>
                  <a:t>. If a random variable </a:t>
                </a:r>
                <a14:m>
                  <m:oMath xmlns:m="http://schemas.openxmlformats.org/officeDocument/2006/math">
                    <m:r>
                      <a:rPr lang="en-IN" sz="2400" i="1">
                        <a:solidFill>
                          <a:srgbClr val="111827"/>
                        </a:solidFill>
                        <a:latin typeface="Cambria Math" panose="02040503050406030204" pitchFamily="18" charset="0"/>
                      </a:rPr>
                      <m:t>𝑋</m:t>
                    </m:r>
                  </m:oMath>
                </a14:m>
                <a:r>
                  <a:rPr sz="2400" b="0">
                    <a:solidFill>
                      <a:srgbClr val="111827"/>
                    </a:solidFill>
                    <a:latin typeface="Arial"/>
                  </a:rPr>
                  <a:t> follows a binomial distribution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then the probability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256</m:t>
                        </m:r>
                      </m:num>
                      <m:den>
                        <m:r>
                          <a:rPr lang="en-IN" sz="2400" i="1">
                            <a:solidFill>
                              <a:srgbClr val="111827"/>
                            </a:solidFill>
                            <a:latin typeface="Cambria Math" panose="02040503050406030204" pitchFamily="18" charset="0"/>
                          </a:rPr>
                          <m:t>625</m:t>
                        </m:r>
                      </m:den>
                    </m:f>
                  </m:oMath>
                </a14:m>
                <a:r>
                  <a:rPr sz="2400" b="0">
                    <a:solidFill>
                      <a:srgbClr val="111827"/>
                    </a:solidFill>
                    <a:latin typeface="Arial"/>
                  </a:rPr>
                  <a:t>   (B)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512</m:t>
                        </m:r>
                      </m:num>
                      <m:den>
                        <m:r>
                          <a:rPr lang="en-IN" sz="2400" i="1">
                            <a:solidFill>
                              <a:srgbClr val="111827"/>
                            </a:solidFill>
                            <a:latin typeface="Cambria Math" panose="02040503050406030204" pitchFamily="18" charset="0"/>
                          </a:rPr>
                          <m:t>625</m:t>
                        </m:r>
                      </m:den>
                    </m:f>
                  </m:oMath>
                </a14:m>
                <a:r>
                  <a:rPr sz="2400" b="0">
                    <a:solidFill>
                      <a:srgbClr val="111827"/>
                    </a:solidFill>
                    <a:latin typeface="Arial"/>
                  </a:rPr>
                  <a:t>   (C)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128</m:t>
                        </m:r>
                      </m:num>
                      <m:den>
                        <m:r>
                          <a:rPr lang="en-IN" sz="2400" i="1">
                            <a:solidFill>
                              <a:srgbClr val="111827"/>
                            </a:solidFill>
                            <a:latin typeface="Cambria Math" panose="02040503050406030204" pitchFamily="18" charset="0"/>
                          </a:rPr>
                          <m:t>625</m:t>
                        </m:r>
                      </m:den>
                    </m:f>
                  </m:oMath>
                </a14:m>
                <a:r>
                  <a:rPr sz="2400" b="0">
                    <a:solidFill>
                      <a:srgbClr val="111827"/>
                    </a:solidFill>
                    <a:latin typeface="Arial"/>
                  </a:rPr>
                  <a:t>   (D)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432</m:t>
                        </m:r>
                      </m:num>
                      <m:den>
                        <m:r>
                          <a:rPr lang="en-IN" sz="2400" i="1">
                            <a:solidFill>
                              <a:srgbClr val="111827"/>
                            </a:solidFill>
                            <a:latin typeface="Cambria Math" panose="02040503050406030204" pitchFamily="18" charset="0"/>
                          </a:rPr>
                          <m:t>625</m:t>
                        </m:r>
                      </m:den>
                    </m:f>
                  </m:oMath>
                </a14:m>
                <a:endParaRPr sz="2400">
                  <a:solidFill>
                    <a:srgbClr val="111827"/>
                  </a:solidFill>
                </a:endParaRPr>
              </a:p>
            </p:txBody>
          </p:sp>
        </mc:Choice>
        <mc:Fallback>
          <p:sp>
            <p:nvSpPr>
              <p:cNvPr id="4" name="Rounded Rectangle 3"/>
              <p:cNvSpPr/>
              <p:nvPr/>
            </p:nvSpPr>
            <p:spPr>
              <a:xfrm>
                <a:off x="731520" y="1280160"/>
                <a:ext cx="10725912" cy="329691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Consider a continuous frequency distribution with class intervals </a:t>
                </a:r>
                <a:r>
                  <a:rPr lang="en-IN" sz="2400">
                    <a:solidFill>
                      <a:srgbClr val="111827"/>
                    </a:solidFill>
                    <a:latin typeface="Cambria Math" panose="02040503050406030204" pitchFamily="18" charset="0"/>
                  </a:rPr>
                  <a:t>$0$</a:t>
                </a:r>
                <a:r>
                  <a:rPr sz="2400" b="0">
                    <a:solidFill>
                      <a:srgbClr val="111827"/>
                    </a:solidFill>
                    <a:latin typeface="Arial"/>
                  </a:rPr>
                  <a:t>-</a:t>
                </a:r>
                <a:r>
                  <a:rPr lang="en-IN" sz="2400">
                    <a:solidFill>
                      <a:srgbClr val="111827"/>
                    </a:solidFill>
                    <a:latin typeface="Cambria Math" panose="02040503050406030204" pitchFamily="18" charset="0"/>
                  </a:rPr>
                  <a:t>$2$</a:t>
                </a:r>
                <a:r>
                  <a:rPr sz="2400" b="0">
                    <a:solidFill>
                      <a:srgbClr val="111827"/>
                    </a:solidFill>
                    <a:latin typeface="Arial"/>
                  </a:rPr>
                  <a:t>, </a:t>
                </a:r>
                <a:r>
                  <a:rPr lang="en-IN" sz="2400">
                    <a:solidFill>
                      <a:srgbClr val="111827"/>
                    </a:solidFill>
                    <a:latin typeface="Cambria Math" panose="02040503050406030204" pitchFamily="18" charset="0"/>
                  </a:rPr>
                  <a:t>$2$</a:t>
                </a:r>
                <a:r>
                  <a:rPr sz="2400" b="0">
                    <a:solidFill>
                      <a:srgbClr val="111827"/>
                    </a:solidFill>
                    <a:latin typeface="Arial"/>
                  </a:rPr>
                  <a:t>-</a:t>
                </a:r>
                <a:r>
                  <a:rPr lang="en-IN" sz="2400">
                    <a:solidFill>
                      <a:srgbClr val="111827"/>
                    </a:solidFill>
                    <a:latin typeface="Cambria Math" panose="02040503050406030204" pitchFamily="18" charset="0"/>
                  </a:rPr>
                  <a:t>$4$</a:t>
                </a:r>
                <a:r>
                  <a:rPr sz="2400" b="0">
                    <a:solidFill>
                      <a:srgbClr val="111827"/>
                    </a:solidFill>
                    <a:latin typeface="Arial"/>
                  </a:rPr>
                  <a:t> and </a:t>
                </a:r>
                <a:r>
                  <a:rPr lang="en-IN" sz="2400">
                    <a:solidFill>
                      <a:srgbClr val="111827"/>
                    </a:solidFill>
                    <a:latin typeface="Cambria Math" panose="02040503050406030204" pitchFamily="18" charset="0"/>
                  </a:rPr>
                  <a:t>$4$</a:t>
                </a:r>
                <a:r>
                  <a:rPr sz="2400" b="0">
                    <a:solidFill>
                      <a:srgbClr val="111827"/>
                    </a:solidFill>
                    <a:latin typeface="Arial"/>
                  </a:rPr>
                  <a:t>-</a:t>
                </a:r>
                <a:r>
                  <a:rPr lang="en-IN" sz="2400">
                    <a:solidFill>
                      <a:srgbClr val="111827"/>
                    </a:solidFill>
                    <a:latin typeface="Cambria Math" panose="02040503050406030204" pitchFamily="18" charset="0"/>
                  </a:rPr>
                  <a:t>$6$</a:t>
                </a:r>
                <a:r>
                  <a:rPr sz="2400" b="0">
                    <a:solidFill>
                      <a:srgbClr val="111827"/>
                    </a:solidFill>
                    <a:latin typeface="Arial"/>
                  </a:rPr>
                  <a:t> having frequencies </a:t>
                </a:r>
                <a:r>
                  <a:rPr lang="en-IN" sz="2400">
                    <a:solidFill>
                      <a:srgbClr val="111827"/>
                    </a:solidFill>
                    <a:latin typeface="Cambria Math" panose="02040503050406030204" pitchFamily="18" charset="0"/>
                  </a:rPr>
                  <a:t>$f_1$</a:t>
                </a:r>
                <a:r>
                  <a:rPr sz="2400" b="0">
                    <a:solidFill>
                      <a:srgbClr val="111827"/>
                    </a:solidFill>
                    <a:latin typeface="Arial"/>
                  </a:rPr>
                  <a:t>, </a:t>
                </a:r>
                <a:r>
                  <a:rPr lang="en-IN" sz="2400">
                    <a:solidFill>
                      <a:srgbClr val="111827"/>
                    </a:solidFill>
                    <a:latin typeface="Cambria Math" panose="02040503050406030204" pitchFamily="18" charset="0"/>
                  </a:rPr>
                  <a:t>$6$</a:t>
                </a:r>
                <a:r>
                  <a:rPr sz="2400" b="0">
                    <a:solidFill>
                      <a:srgbClr val="111827"/>
                    </a:solidFill>
                    <a:latin typeface="Arial"/>
                  </a:rPr>
                  <a:t> and </a:t>
                </a:r>
                <a:r>
                  <a:rPr lang="en-IN" sz="2400">
                    <a:solidFill>
                      <a:srgbClr val="111827"/>
                    </a:solidFill>
                    <a:latin typeface="Cambria Math" panose="02040503050406030204" pitchFamily="18" charset="0"/>
                  </a:rPr>
                  <a:t>$f_3$</a:t>
                </a:r>
                <a:r>
                  <a:rPr sz="2400" b="0">
                    <a:solidFill>
                      <a:srgbClr val="111827"/>
                    </a:solidFill>
                    <a:latin typeface="Arial"/>
                  </a:rPr>
                  <a:t> respectively. If the total frequency is </a:t>
                </a:r>
                <a:r>
                  <a:rPr lang="en-IN" sz="2400">
                    <a:solidFill>
                      <a:srgbClr val="111827"/>
                    </a:solidFill>
                    <a:latin typeface="Cambria Math" panose="02040503050406030204" pitchFamily="18" charset="0"/>
                  </a:rPr>
                  <a:t>$10$</a:t>
                </a:r>
                <a:r>
                  <a:rPr sz="2400" b="0">
                    <a:solidFill>
                      <a:srgbClr val="111827"/>
                    </a:solidFill>
                    <a:latin typeface="Arial"/>
                  </a:rPr>
                  <a:t> and the mean of the distribution is </a:t>
                </a:r>
                <a:r>
                  <a:rPr lang="en-IN" sz="2400">
                    <a:solidFill>
                      <a:srgbClr val="111827"/>
                    </a:solidFill>
                    <a:latin typeface="Cambria Math" panose="02040503050406030204" pitchFamily="18" charset="0"/>
                  </a:rPr>
                  <a:t>$3$</a:t>
                </a:r>
                <a:r>
                  <a:rPr sz="2400" b="0">
                    <a:solidFill>
                      <a:srgbClr val="111827"/>
                    </a:solidFill>
                    <a:latin typeface="Arial"/>
                  </a:rPr>
                  <a:t>, let the mean deviation about the mean of this distribution be </a:t>
                </a:r>
                <a:r>
                  <a:rPr lang="en-IN" sz="2400">
                    <a:solidFill>
                      <a:srgbClr val="111827"/>
                    </a:solidFill>
                    <a:latin typeface="Cambria Math" panose="02040503050406030204" pitchFamily="18" charset="0"/>
                  </a:rPr>
                  <a:t>$p$</a:t>
                </a:r>
                <a:r>
                  <a:rPr sz="2400" b="0">
                    <a:solidFill>
                      <a:srgbClr val="111827"/>
                    </a:solidFill>
                    <a:latin typeface="Arial"/>
                  </a:rPr>
                  <a:t>. If a random variable </a:t>
                </a:r>
                <a:r>
                  <a:rPr lang="en-IN" sz="2400">
                    <a:solidFill>
                      <a:srgbClr val="111827"/>
                    </a:solidFill>
                    <a:latin typeface="Cambria Math" panose="02040503050406030204" pitchFamily="18" charset="0"/>
                  </a:rPr>
                  <a:t>$X$</a:t>
                </a:r>
                <a:r>
                  <a:rPr sz="2400" b="0">
                    <a:solidFill>
                      <a:srgbClr val="111827"/>
                    </a:solidFill>
                    <a:latin typeface="Arial"/>
                  </a:rPr>
                  <a:t> follows a binomial distribution </a:t>
                </a:r>
                <a:r>
                  <a:rPr lang="en-IN" sz="2400">
                    <a:solidFill>
                      <a:srgbClr val="111827"/>
                    </a:solidFill>
                    <a:latin typeface="Cambria Math" panose="02040503050406030204" pitchFamily="18" charset="0"/>
                  </a:rPr>
                  <a:t>$B(n,p)$</a:t>
                </a:r>
                <a:r>
                  <a:rPr sz="2400" b="0">
                    <a:solidFill>
                      <a:srgbClr val="111827"/>
                    </a:solidFill>
                    <a:latin typeface="Arial"/>
                  </a:rPr>
                  <a:t> with </a:t>
                </a:r>
                <a:r>
                  <a:rPr lang="en-IN" sz="2400">
                    <a:solidFill>
                      <a:srgbClr val="111827"/>
                    </a:solidFill>
                    <a:latin typeface="Cambria Math" panose="02040503050406030204" pitchFamily="18" charset="0"/>
                  </a:rPr>
                  <a:t>$n=4$</a:t>
                </a:r>
                <a:r>
                  <a:rPr sz="2400" b="0">
                    <a:solidFill>
                      <a:srgbClr val="111827"/>
                    </a:solidFill>
                    <a:latin typeface="Arial"/>
                  </a:rPr>
                  <a:t>, then the probability </a:t>
                </a:r>
                <a:r>
                  <a:rPr lang="en-IN" sz="2400">
                    <a:solidFill>
                      <a:srgbClr val="111827"/>
                    </a:solidFill>
                    <a:latin typeface="Cambria Math" panose="02040503050406030204" pitchFamily="18" charset="0"/>
                  </a:rPr>
                  <a:t>$P(X\ge3)$</a:t>
                </a:r>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$\frac{256}{625}$</a:t>
                </a:r>
                <a:r>
                  <a:rPr sz="2400" b="0">
                    <a:solidFill>
                      <a:srgbClr val="111827"/>
                    </a:solidFill>
                    <a:latin typeface="Arial"/>
                  </a:rPr>
                  <a:t>   (B) </a:t>
                </a:r>
                <a:r>
                  <a:rPr lang="en-IN" sz="2400">
                    <a:solidFill>
                      <a:srgbClr val="111827"/>
                    </a:solidFill>
                    <a:latin typeface="Cambria Math" panose="02040503050406030204" pitchFamily="18" charset="0"/>
                  </a:rPr>
                  <a:t>$\frac{512}{625}$</a:t>
                </a:r>
                <a:r>
                  <a:rPr sz="2400" b="0">
                    <a:solidFill>
                      <a:srgbClr val="111827"/>
                    </a:solidFill>
                    <a:latin typeface="Arial"/>
                  </a:rPr>
                  <a:t>   (C) </a:t>
                </a:r>
                <a:r>
                  <a:rPr lang="en-IN" sz="2400">
                    <a:solidFill>
                      <a:srgbClr val="111827"/>
                    </a:solidFill>
                    <a:latin typeface="Cambria Math" panose="02040503050406030204" pitchFamily="18" charset="0"/>
                  </a:rPr>
                  <a:t>$\frac{128}{625}$</a:t>
                </a:r>
                <a:r>
                  <a:rPr sz="2400" b="0">
                    <a:solidFill>
                      <a:srgbClr val="111827"/>
                    </a:solidFill>
                    <a:latin typeface="Arial"/>
                  </a:rPr>
                  <a:t>   (D) </a:t>
                </a:r>
                <a:r>
                  <a:rPr lang="en-IN" sz="2400">
                    <a:solidFill>
                      <a:srgbClr val="111827"/>
                    </a:solidFill>
                    <a:latin typeface="Cambria Math" panose="02040503050406030204" pitchFamily="18" charset="0"/>
                  </a:rPr>
                  <a:t>$\frac{432}{625}$</a:t>
                </a:r>
                <a:endParaRPr sz="2400">
                  <a:solidFill>
                    <a:srgbClr val="111827"/>
                  </a:solidFill>
                </a:endParaRPr>
              </a:p>
            </p:txBody>
          </p:sp>
        </mc:Fallback>
      </mc:AlternateContent>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ectangle 3"/>
          <p:cNvSpPr/>
          <p:nvPr/>
        </p:nvSpPr>
        <p:spPr>
          <a:xfrm>
            <a:off x="731520" y="128016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Mean deviation about the mean of a frequency distribution, Binomial distribution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65760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Mean </a:t>
                </a:r>
                <a14:m>
                  <m:oMath xmlns:m="http://schemas.openxmlformats.org/officeDocument/2006/math">
                    <m:r>
                      <a:rPr lang="en-IN" sz="2400" i="1">
                        <a:solidFill>
                          <a:srgbClr val="78350F"/>
                        </a:solidFill>
                        <a:latin typeface="Cambria Math" panose="02040503050406030204" pitchFamily="18" charset="0"/>
                      </a:rPr>
                      <m:t>3</m:t>
                    </m:r>
                  </m:oMath>
                </a14:m>
                <a:r>
                  <a:rPr sz="2400" b="0">
                    <a:solidFill>
                      <a:srgbClr val="78350F"/>
                    </a:solidFill>
                    <a:latin typeface="Arial"/>
                  </a:rPr>
                  <a:t> equals the centre, so </a:t>
                </a:r>
                <a14:m>
                  <m:oMath xmlns:m="http://schemas.openxmlformats.org/officeDocument/2006/math">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𝑓</m:t>
                        </m:r>
                      </m:e>
                      <m:sub>
                        <m:r>
                          <a:rPr lang="en-IN" sz="2400" i="1">
                            <a:solidFill>
                              <a:srgbClr val="78350F"/>
                            </a:solidFill>
                            <a:latin typeface="Cambria Math" panose="02040503050406030204" pitchFamily="18" charset="0"/>
                          </a:rPr>
                          <m:t>𝑖</m:t>
                        </m:r>
                      </m:sub>
                    </m:sSub>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𝑥</m:t>
                        </m:r>
                      </m:e>
                      <m:sub>
                        <m:r>
                          <a:rPr lang="en-IN" sz="2400" i="1">
                            <a:solidFill>
                              <a:srgbClr val="78350F"/>
                            </a:solidFill>
                            <a:latin typeface="Cambria Math" panose="02040503050406030204" pitchFamily="18" charset="0"/>
                          </a:rPr>
                          <m:t>𝑖</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 forces </a:t>
                </a:r>
                <a14:m>
                  <m:oMath xmlns:m="http://schemas.openxmlformats.org/officeDocument/2006/math">
                    <m:sSub>
                      <m:e>
                        <m:r>
                          <a:rPr lang="en-IN" sz="2400" i="1">
                            <a:solidFill>
                              <a:srgbClr val="78350F"/>
                            </a:solidFill>
                            <a:latin typeface="Cambria Math" panose="02040503050406030204" pitchFamily="18" charset="0"/>
                          </a:rPr>
                          <m:t>𝑓</m:t>
                        </m:r>
                      </m:e>
                      <m:sub>
                        <m:r>
                          <a:rPr lang="en-IN" sz="2400" i="1">
                            <a:solidFill>
                              <a:srgbClr val="78350F"/>
                            </a:solidFill>
                            <a:latin typeface="Cambria Math" panose="02040503050406030204" pitchFamily="18" charset="0"/>
                          </a:rPr>
                          <m:t>1</m:t>
                        </m:r>
                      </m:sub>
                    </m:sSub>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𝑓</m:t>
                        </m:r>
                      </m:e>
                      <m:sub>
                        <m:r>
                          <a:rPr lang="en-IN" sz="2400" i="1">
                            <a:solidFill>
                              <a:srgbClr val="78350F"/>
                            </a:solidFill>
                            <a:latin typeface="Cambria Math" panose="02040503050406030204" pitchFamily="18" charset="0"/>
                          </a:rPr>
                          <m:t>3</m:t>
                        </m:r>
                      </m:sub>
                    </m:sSub>
                  </m:oMath>
                </a14:m>
                <a:r>
                  <a:rPr sz="2400" b="0">
                    <a:solidFill>
                      <a:srgbClr val="78350F"/>
                    </a:solidFill>
                    <a:latin typeface="Arial"/>
                  </a:rPr>
                  <a:t>; then </a:t>
                </a:r>
                <a14:m>
                  <m:oMath xmlns:m="http://schemas.openxmlformats.org/officeDocument/2006/math">
                    <m:r>
                      <a:rPr lang="en-IN" sz="2400" i="1">
                        <a:solidFill>
                          <a:srgbClr val="78350F"/>
                        </a:solidFill>
                        <a:latin typeface="Cambria Math" panose="02040503050406030204" pitchFamily="18" charset="0"/>
                      </a:rPr>
                      <m:t>𝑝</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4</m:t>
                        </m:r>
                      </m:num>
                      <m:den>
                        <m:r>
                          <a:rPr lang="en-IN" sz="2400" i="1">
                            <a:solidFill>
                              <a:srgbClr val="78350F"/>
                            </a:solidFill>
                            <a:latin typeface="Cambria Math" panose="02040503050406030204" pitchFamily="18" charset="0"/>
                          </a:rPr>
                          <m:t>5</m:t>
                        </m:r>
                      </m:den>
                    </m:f>
                  </m:oMath>
                </a14:m>
                <a:r>
                  <a:rPr sz="2400" b="0">
                    <a:solidFill>
                      <a:srgbClr val="78350F"/>
                    </a:solidFill>
                    <a:latin typeface="Arial"/>
                  </a:rPr>
                  <a:t> and the binomial tail is a short sum.</a:t>
                </a:r>
                <a:endParaRPr sz="2400">
                  <a:solidFill>
                    <a:srgbClr val="78350F"/>
                  </a:solidFill>
                </a:endParaRPr>
              </a:p>
            </p:txBody>
          </p:sp>
        </mc:Choice>
        <mc:Fallback>
          <p:sp>
            <p:nvSpPr>
              <p:cNvPr id="5" name="Rounded Rectangle 4"/>
              <p:cNvSpPr/>
              <p:nvPr/>
            </p:nvSpPr>
            <p:spPr>
              <a:xfrm>
                <a:off x="731520" y="365760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Mean </a:t>
                </a:r>
                <a:r>
                  <a:rPr lang="en-IN" sz="2400">
                    <a:solidFill>
                      <a:srgbClr val="78350F"/>
                    </a:solidFill>
                    <a:latin typeface="Cambria Math" panose="02040503050406030204" pitchFamily="18" charset="0"/>
                  </a:rPr>
                  <a:t>$3$</a:t>
                </a:r>
                <a:r>
                  <a:rPr sz="2400" b="0">
                    <a:solidFill>
                      <a:srgbClr val="78350F"/>
                    </a:solidFill>
                    <a:latin typeface="Arial"/>
                  </a:rPr>
                  <a:t> equals the centre, so </a:t>
                </a:r>
                <a:r>
                  <a:rPr lang="en-IN" sz="2400">
                    <a:solidFill>
                      <a:srgbClr val="78350F"/>
                    </a:solidFill>
                    <a:latin typeface="Cambria Math" panose="02040503050406030204" pitchFamily="18" charset="0"/>
                  </a:rPr>
                  <a:t>$\sum f_i(x_i-3)=0$</a:t>
                </a:r>
                <a:r>
                  <a:rPr sz="2400" b="0">
                    <a:solidFill>
                      <a:srgbClr val="78350F"/>
                    </a:solidFill>
                    <a:latin typeface="Arial"/>
                  </a:rPr>
                  <a:t> forces </a:t>
                </a:r>
                <a:r>
                  <a:rPr lang="en-IN" sz="2400">
                    <a:solidFill>
                      <a:srgbClr val="78350F"/>
                    </a:solidFill>
                    <a:latin typeface="Cambria Math" panose="02040503050406030204" pitchFamily="18" charset="0"/>
                  </a:rPr>
                  <a:t>$f_1=f_3$</a:t>
                </a:r>
                <a:r>
                  <a:rPr sz="2400" b="0">
                    <a:solidFill>
                      <a:srgbClr val="78350F"/>
                    </a:solidFill>
                    <a:latin typeface="Arial"/>
                  </a:rPr>
                  <a:t>; then </a:t>
                </a:r>
                <a:r>
                  <a:rPr lang="en-IN" sz="2400">
                    <a:solidFill>
                      <a:srgbClr val="78350F"/>
                    </a:solidFill>
                    <a:latin typeface="Cambria Math" panose="02040503050406030204" pitchFamily="18" charset="0"/>
                  </a:rPr>
                  <a:t>$p=\frac45$</a:t>
                </a:r>
                <a:r>
                  <a:rPr sz="2400" b="0">
                    <a:solidFill>
                      <a:srgbClr val="78350F"/>
                    </a:solidFill>
                    <a:latin typeface="Arial"/>
                  </a:rPr>
                  <a:t> and the binomial tail is a short sum.</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5013960"/>
                <a:ext cx="10725912" cy="166115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Total frequency: </a:t>
                </a:r>
                <a14:m>
                  <m:oMath xmlns:m="http://schemas.openxmlformats.org/officeDocument/2006/math">
                    <m:sSub>
                      <m:e>
                        <m:r>
                          <a:rPr lang="en-IN" sz="2400" i="1">
                            <a:solidFill>
                              <a:srgbClr val="111827"/>
                            </a:solidFill>
                            <a:latin typeface="Cambria Math" panose="02040503050406030204" pitchFamily="18" charset="0"/>
                          </a:rPr>
                          <m:t>𝑓</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𝑓</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𝑓</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𝑓</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mid-points are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5013960"/>
                <a:ext cx="10725912" cy="166115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Total frequency: </a:t>
                </a:r>
                <a:r>
                  <a:rPr lang="en-IN" sz="2400">
                    <a:solidFill>
                      <a:srgbClr val="111827"/>
                    </a:solidFill>
                    <a:latin typeface="Cambria Math" panose="02040503050406030204" pitchFamily="18" charset="0"/>
                  </a:rPr>
                  <a:t>$f_1+6+f_3=10\Rightarrow f_1+f_3=4$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mid-points are </a:t>
                </a:r>
                <a:r>
                  <a:rPr lang="en-IN" sz="2400">
                    <a:solidFill>
                      <a:srgbClr val="111827"/>
                    </a:solidFill>
                    <a:latin typeface="Cambria Math" panose="02040503050406030204" pitchFamily="18" charset="0"/>
                  </a:rPr>
                  <a:t>$x_1=1$</a:t>
                </a:r>
                <a:r>
                  <a:rPr sz="2400" b="0">
                    <a:solidFill>
                      <a:srgbClr val="111827"/>
                    </a:solidFill>
                    <a:latin typeface="Arial"/>
                  </a:rPr>
                  <a:t>, </a:t>
                </a:r>
                <a:r>
                  <a:rPr lang="en-IN" sz="2400">
                    <a:solidFill>
                      <a:srgbClr val="111827"/>
                    </a:solidFill>
                    <a:latin typeface="Cambria Math" panose="02040503050406030204" pitchFamily="18" charset="0"/>
                  </a:rPr>
                  <a:t>$x_2=3$</a:t>
                </a:r>
                <a:r>
                  <a:rPr sz="2400" b="0">
                    <a:solidFill>
                      <a:srgbClr val="111827"/>
                    </a:solidFill>
                    <a:latin typeface="Arial"/>
                  </a:rPr>
                  <a:t>, </a:t>
                </a:r>
                <a:r>
                  <a:rPr lang="en-IN" sz="2400">
                    <a:solidFill>
                      <a:srgbClr val="111827"/>
                    </a:solidFill>
                    <a:latin typeface="Cambria Math" panose="02040503050406030204" pitchFamily="18" charset="0"/>
                  </a:rPr>
                  <a:t>$x_3=5$</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Mean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𝑓</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𝑓</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10</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𝑓</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sSub>
                      <m:e>
                        <m:r>
                          <a:rPr lang="en-IN" sz="2400" i="1">
                            <a:solidFill>
                              <a:srgbClr val="111827"/>
                            </a:solidFill>
                            <a:latin typeface="Cambria Math" panose="02040503050406030204" pitchFamily="18" charset="0"/>
                          </a:rPr>
                          <m:t>𝑓</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Solving the two equations: </a:t>
                </a:r>
                <a14:m>
                  <m:oMath xmlns:m="http://schemas.openxmlformats.org/officeDocument/2006/math">
                    <m:sSub>
                      <m:e>
                        <m:r>
                          <a:rPr lang="en-IN" sz="2400" i="1">
                            <a:solidFill>
                              <a:srgbClr val="111827"/>
                            </a:solidFill>
                            <a:latin typeface="Cambria Math" panose="02040503050406030204" pitchFamily="18" charset="0"/>
                          </a:rPr>
                          <m:t>𝑓</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𝑓</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Mean deviation about the mean: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𝑓</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𝑓</m:t>
                            </m:r>
                          </m:e>
                          <m:sub>
                            <m:r>
                              <a:rPr lang="en-IN" sz="2400" i="1">
                                <a:solidFill>
                                  <a:srgbClr val="111827"/>
                                </a:solidFill>
                                <a:latin typeface="Cambria Math" panose="02040503050406030204" pitchFamily="18" charset="0"/>
                              </a:rPr>
                              <m:t>𝑖</m:t>
                            </m:r>
                          </m:sub>
                        </m:sSub>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10</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10</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Mean </a:t>
                </a:r>
                <a:r>
                  <a:rPr lang="en-IN" sz="2400">
                    <a:solidFill>
                      <a:srgbClr val="111827"/>
                    </a:solidFill>
                    <a:latin typeface="Cambria Math" panose="02040503050406030204" pitchFamily="18" charset="0"/>
                  </a:rPr>
                  <a:t>$=3$</a:t>
                </a:r>
                <a:r>
                  <a:rPr sz="2400" b="0">
                    <a:solidFill>
                      <a:srgbClr val="111827"/>
                    </a:solidFill>
                    <a:latin typeface="Arial"/>
                  </a:rPr>
                  <a:t>: </a:t>
                </a:r>
                <a:r>
                  <a:rPr lang="en-IN" sz="2400">
                    <a:solidFill>
                      <a:srgbClr val="111827"/>
                    </a:solidFill>
                    <a:latin typeface="Cambria Math" panose="02040503050406030204" pitchFamily="18" charset="0"/>
                  </a:rPr>
                  <a:t>$\frac{f_1(1)+6(3)+f_3(5)}{10}=3\Rightarrow f_1+5f_3=12$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Solving the two equations: </a:t>
                </a:r>
                <a:r>
                  <a:rPr lang="en-IN" sz="2400">
                    <a:solidFill>
                      <a:srgbClr val="111827"/>
                    </a:solidFill>
                    <a:latin typeface="Cambria Math" panose="02040503050406030204" pitchFamily="18" charset="0"/>
                  </a:rPr>
                  <a:t>$f_3=2$</a:t>
                </a:r>
                <a:r>
                  <a:rPr sz="2400" b="0">
                    <a:solidFill>
                      <a:srgbClr val="111827"/>
                    </a:solidFill>
                    <a:latin typeface="Arial"/>
                  </a:rPr>
                  <a:t> and </a:t>
                </a:r>
                <a:r>
                  <a:rPr lang="en-IN" sz="2400">
                    <a:solidFill>
                      <a:srgbClr val="111827"/>
                    </a:solidFill>
                    <a:latin typeface="Cambria Math" panose="02040503050406030204" pitchFamily="18" charset="0"/>
                  </a:rPr>
                  <a:t>$f_1=2$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Mean deviation about the mean: </a:t>
                </a:r>
                <a:r>
                  <a:rPr lang="en-IN" sz="2400">
                    <a:solidFill>
                      <a:srgbClr val="111827"/>
                    </a:solidFill>
                    <a:latin typeface="Cambria Math" panose="02040503050406030204" pitchFamily="18" charset="0"/>
                  </a:rPr>
                  <a:t>$p=\frac{\sum f_i|x_i-\bar x|}{\sum f_i}=\frac{2|1-3|+6|3-3|+2|5-3|}{10}=\frac{4+0+4}{10}=\frac45$</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5</m:t>
                            </m:r>
                          </m:den>
                        </m:f>
                      </m:e>
                    </m:d>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e>
                    </m:d>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5</m:t>
                                </m:r>
                              </m:den>
                            </m:f>
                          </m:e>
                        </m:d>
                      </m:e>
                      <m:sup>
                        <m:r>
                          <a:rPr lang="en-IN" sz="2400" i="1">
                            <a:solidFill>
                              <a:srgbClr val="111827"/>
                            </a:solidFill>
                            <a:latin typeface="Cambria Math" panose="02040503050406030204" pitchFamily="18" charset="0"/>
                          </a:rPr>
                          <m:t>3</m:t>
                        </m:r>
                      </m:sup>
                    </m:sSup>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5</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4</m:t>
                            </m:r>
                          </m:den>
                        </m:f>
                      </m:e>
                    </m:d>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5</m:t>
                                </m:r>
                              </m:den>
                            </m:f>
                          </m:e>
                        </m:d>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64</m:t>
                        </m:r>
                      </m:num>
                      <m:den>
                        <m:r>
                          <a:rPr lang="en-IN" sz="2400" i="1">
                            <a:solidFill>
                              <a:srgbClr val="111827"/>
                            </a:solidFill>
                            <a:latin typeface="Cambria Math" panose="02040503050406030204" pitchFamily="18" charset="0"/>
                          </a:rPr>
                          <m:t>625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256</m:t>
                        </m:r>
                      </m:num>
                      <m:den>
                        <m:r>
                          <a:rPr lang="en-IN" sz="2400" i="1">
                            <a:solidFill>
                              <a:srgbClr val="111827"/>
                            </a:solidFill>
                            <a:latin typeface="Cambria Math" panose="02040503050406030204" pitchFamily="18" charset="0"/>
                          </a:rPr>
                          <m:t>625</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256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256</m:t>
                        </m:r>
                      </m:num>
                      <m:den>
                        <m:r>
                          <a:rPr lang="en-IN" sz="2400" i="1">
                            <a:solidFill>
                              <a:srgbClr val="111827"/>
                            </a:solidFill>
                            <a:latin typeface="Cambria Math" panose="02040503050406030204" pitchFamily="18" charset="0"/>
                          </a:rPr>
                          <m:t>625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512</m:t>
                        </m:r>
                      </m:num>
                      <m:den>
                        <m:r>
                          <a:rPr lang="en-IN" sz="2400" i="1">
                            <a:solidFill>
                              <a:srgbClr val="111827"/>
                            </a:solidFill>
                            <a:latin typeface="Cambria Math" panose="02040503050406030204" pitchFamily="18" charset="0"/>
                          </a:rPr>
                          <m:t>625</m:t>
                        </m:r>
                      </m:den>
                    </m:f>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$X\sim B\left(4,\frac45\right)$</a:t>
                </a:r>
                <a:r>
                  <a:rPr sz="2400" b="0">
                    <a:solidFill>
                      <a:srgbClr val="111827"/>
                    </a:solidFill>
                    <a:latin typeface="Arial"/>
                  </a:rPr>
                  <a:t>: </a:t>
                </a:r>
                <a:r>
                  <a:rPr lang="en-IN" sz="2400">
                    <a:solidFill>
                      <a:srgbClr val="111827"/>
                    </a:solidFill>
                    <a:latin typeface="Cambria Math" panose="02040503050406030204" pitchFamily="18" charset="0"/>
                  </a:rPr>
                  <a:t>$P(X\ge3)=P(X=3)+P(X=4)$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$P(X\ge3)=\binom43\left(\frac45\right)^3\left(\frac15\right)+\binom44\left(\frac45\right)^4=4\cdot\frac{64}{625}+\frac{256}{625}$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$P(X\ge3)=\frac{256+256}{625}=\frac{512}{625}$</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512</m:t>
                        </m:r>
                      </m:num>
                      <m:den>
                        <m:r>
                          <a:rPr lang="en-IN" sz="2800" i="1">
                            <a:solidFill>
                              <a:srgbClr val="15803D"/>
                            </a:solidFill>
                            <a:latin typeface="Cambria Math" panose="02040503050406030204" pitchFamily="18" charset="0"/>
                          </a:rPr>
                          <m:t>625</m:t>
                        </m:r>
                      </m:den>
                    </m:f>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r>
                  <a:rPr lang="en-IN" sz="2800">
                    <a:solidFill>
                      <a:srgbClr val="15803D"/>
                    </a:solidFill>
                    <a:latin typeface="Cambria Math" panose="02040503050406030204" pitchFamily="18" charset="0"/>
                  </a:rPr>
                  <a:t>$\frac{512}{625}$</a:t>
                </a:r>
                <a:endParaRPr sz="2800">
                  <a:solidFill>
                    <a:srgbClr val="15803D"/>
                  </a:solidFill>
                </a:endParaRPr>
              </a:p>
            </p:txBody>
          </p:sp>
        </mc:Fallback>
      </mc:AlternateContent>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deviations from the given mean to get </a:t>
                </a:r>
                <a14:m>
                  <m:oMath xmlns:m="http://schemas.openxmlformats.org/officeDocument/2006/math">
                    <m:sSub>
                      <m:e>
                        <m:r>
                          <a:rPr lang="en-IN" sz="2400" i="1">
                            <a:solidFill>
                              <a:srgbClr val="78350F"/>
                            </a:solidFill>
                            <a:latin typeface="Cambria Math" panose="02040503050406030204" pitchFamily="18" charset="0"/>
                          </a:rPr>
                          <m:t>𝑓</m:t>
                        </m:r>
                      </m:e>
                      <m:sub>
                        <m:r>
                          <a:rPr lang="en-IN" sz="2400" i="1">
                            <a:solidFill>
                              <a:srgbClr val="78350F"/>
                            </a:solidFill>
                            <a:latin typeface="Cambria Math" panose="02040503050406030204" pitchFamily="18" charset="0"/>
                          </a:rPr>
                          <m:t>1</m:t>
                        </m:r>
                      </m:sub>
                    </m:sSub>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𝑓</m:t>
                        </m:r>
                      </m:e>
                      <m:sub>
                        <m:r>
                          <a:rPr lang="en-IN" sz="2400" i="1">
                            <a:solidFill>
                              <a:srgbClr val="78350F"/>
                            </a:solidFill>
                            <a:latin typeface="Cambria Math" panose="02040503050406030204" pitchFamily="18" charset="0"/>
                          </a:rPr>
                          <m:t>3</m:t>
                        </m:r>
                      </m:sub>
                    </m:sSub>
                  </m:oMath>
                </a14:m>
                <a:r>
                  <a:rPr sz="2400" b="0">
                    <a:solidFill>
                      <a:srgbClr val="78350F"/>
                    </a:solidFill>
                    <a:latin typeface="Arial"/>
                  </a:rPr>
                  <a:t> at once, and count failures instead of successes.</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deviations from the given mean to get </a:t>
                </a:r>
                <a:r>
                  <a:rPr lang="en-IN" sz="2400">
                    <a:solidFill>
                      <a:srgbClr val="78350F"/>
                    </a:solidFill>
                    <a:latin typeface="Cambria Math" panose="02040503050406030204" pitchFamily="18" charset="0"/>
                  </a:rPr>
                  <a:t>$f_1=f_3$</a:t>
                </a:r>
                <a:r>
                  <a:rPr sz="2400" b="0">
                    <a:solidFill>
                      <a:srgbClr val="78350F"/>
                    </a:solidFill>
                    <a:latin typeface="Arial"/>
                  </a:rPr>
                  <a:t> at once, and count failures instead of successes.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Since the mean is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𝑓</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i.e. </a:t>
                </a:r>
                <a14:m>
                  <m:oMath xmlns:m="http://schemas.openxmlformats.org/officeDocument/2006/math">
                    <m:sSub>
                      <m:e>
                        <m:r>
                          <a:rPr lang="en-IN" sz="2400" i="1">
                            <a:solidFill>
                              <a:srgbClr val="111827"/>
                            </a:solidFill>
                            <a:latin typeface="Cambria Math" panose="02040503050406030204" pitchFamily="18" charset="0"/>
                          </a:rPr>
                          <m:t>𝑓</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𝑓</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sSub>
                      <m:e>
                        <m:r>
                          <a:rPr lang="en-IN" sz="2400" i="1">
                            <a:solidFill>
                              <a:srgbClr val="111827"/>
                            </a:solidFill>
                            <a:latin typeface="Cambria Math" panose="02040503050406030204" pitchFamily="18" charset="0"/>
                          </a:rPr>
                          <m:t>𝑓</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𝑓</m:t>
                        </m:r>
                      </m:e>
                      <m:sub>
                        <m:r>
                          <a:rPr lang="en-IN" sz="2400" i="1">
                            <a:solidFill>
                              <a:srgbClr val="111827"/>
                            </a:solidFill>
                            <a:latin typeface="Cambria Math" panose="02040503050406030204" pitchFamily="18" charset="0"/>
                          </a:rPr>
                          <m:t>3</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14:m>
                  <m:oMath xmlns:m="http://schemas.openxmlformats.org/officeDocument/2006/math">
                    <m:sSub>
                      <m:e>
                        <m:r>
                          <a:rPr lang="en-IN" sz="2400" i="1">
                            <a:solidFill>
                              <a:srgbClr val="111827"/>
                            </a:solidFill>
                            <a:latin typeface="Cambria Math" panose="02040503050406030204" pitchFamily="18" charset="0"/>
                          </a:rPr>
                          <m:t>𝑓</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𝑓</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we get </a:t>
                </a:r>
                <a14:m>
                  <m:oMath xmlns:m="http://schemas.openxmlformats.org/officeDocument/2006/math">
                    <m:sSub>
                      <m:e>
                        <m:r>
                          <a:rPr lang="en-IN" sz="2400" i="1">
                            <a:solidFill>
                              <a:srgbClr val="111827"/>
                            </a:solidFill>
                            <a:latin typeface="Cambria Math" panose="02040503050406030204" pitchFamily="18" charset="0"/>
                          </a:rPr>
                          <m:t>𝑓</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𝑓</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immediately.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Mean deviation about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10</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Since the mean is </a:t>
                </a:r>
                <a:r>
                  <a:rPr lang="en-IN" sz="2400">
                    <a:solidFill>
                      <a:srgbClr val="111827"/>
                    </a:solidFill>
                    <a:latin typeface="Cambria Math" panose="02040503050406030204" pitchFamily="18" charset="0"/>
                  </a:rPr>
                  <a:t>$3$</a:t>
                </a:r>
                <a:r>
                  <a:rPr sz="2400" b="0">
                    <a:solidFill>
                      <a:srgbClr val="111827"/>
                    </a:solidFill>
                    <a:latin typeface="Arial"/>
                  </a:rPr>
                  <a:t>, </a:t>
                </a:r>
                <a:r>
                  <a:rPr lang="en-IN" sz="2400">
                    <a:solidFill>
                      <a:srgbClr val="111827"/>
                    </a:solidFill>
                    <a:latin typeface="Cambria Math" panose="02040503050406030204" pitchFamily="18" charset="0"/>
                  </a:rPr>
                  <a:t>$\sum f_i(x_i-3)=0$</a:t>
                </a:r>
                <a:r>
                  <a:rPr sz="2400" b="0">
                    <a:solidFill>
                      <a:srgbClr val="111827"/>
                    </a:solidFill>
                    <a:latin typeface="Arial"/>
                  </a:rPr>
                  <a:t>, i.e. </a:t>
                </a:r>
                <a:r>
                  <a:rPr lang="en-IN" sz="2400">
                    <a:solidFill>
                      <a:srgbClr val="111827"/>
                    </a:solidFill>
                    <a:latin typeface="Cambria Math" panose="02040503050406030204" pitchFamily="18" charset="0"/>
                  </a:rPr>
                  <a:t>$f_1(-2)+6(0)+f_3(2)=0$</a:t>
                </a:r>
                <a:r>
                  <a:rPr sz="2400" b="0">
                    <a:solidFill>
                      <a:srgbClr val="111827"/>
                    </a:solidFill>
                    <a:latin typeface="Arial"/>
                  </a:rPr>
                  <a:t>, so </a:t>
                </a:r>
                <a:r>
                  <a:rPr lang="en-IN" sz="2400">
                    <a:solidFill>
                      <a:srgbClr val="111827"/>
                    </a:solidFill>
                    <a:latin typeface="Cambria Math" panose="02040503050406030204" pitchFamily="18" charset="0"/>
                  </a:rPr>
                  <a:t>$f_1=f_3$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r>
                  <a:rPr lang="en-IN" sz="2400">
                    <a:solidFill>
                      <a:srgbClr val="111827"/>
                    </a:solidFill>
                    <a:latin typeface="Cambria Math" panose="02040503050406030204" pitchFamily="18" charset="0"/>
                  </a:rPr>
                  <a:t>$f_1+f_3=10-6=4$</a:t>
                </a:r>
                <a:r>
                  <a:rPr sz="2400" b="0">
                    <a:solidFill>
                      <a:srgbClr val="111827"/>
                    </a:solidFill>
                    <a:latin typeface="Arial"/>
                  </a:rPr>
                  <a:t> we get </a:t>
                </a:r>
                <a:r>
                  <a:rPr lang="en-IN" sz="2400">
                    <a:solidFill>
                      <a:srgbClr val="111827"/>
                    </a:solidFill>
                    <a:latin typeface="Cambria Math" panose="02040503050406030204" pitchFamily="18" charset="0"/>
                  </a:rPr>
                  <a:t>$f_1=f_3=2$</a:t>
                </a:r>
                <a:r>
                  <a:rPr sz="2400" b="0">
                    <a:solidFill>
                      <a:srgbClr val="111827"/>
                    </a:solidFill>
                    <a:latin typeface="Arial"/>
                  </a:rPr>
                  <a:t> immediately.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Mean deviation about </a:t>
                </a:r>
                <a:r>
                  <a:rPr lang="en-IN" sz="2400">
                    <a:solidFill>
                      <a:srgbClr val="111827"/>
                    </a:solidFill>
                    <a:latin typeface="Cambria Math" panose="02040503050406030204" pitchFamily="18" charset="0"/>
                  </a:rPr>
                  <a:t>$3$</a:t>
                </a:r>
                <a:r>
                  <a:rPr sz="2400" b="0">
                    <a:solidFill>
                      <a:srgbClr val="111827"/>
                    </a:solidFill>
                    <a:latin typeface="Arial"/>
                  </a:rPr>
                  <a:t>: </a:t>
                </a:r>
                <a:r>
                  <a:rPr lang="en-IN" sz="2400">
                    <a:solidFill>
                      <a:srgbClr val="111827"/>
                    </a:solidFill>
                    <a:latin typeface="Cambria Math" panose="02040503050406030204" pitchFamily="18" charset="0"/>
                  </a:rPr>
                  <a:t>$p=\frac{2\cdot2+0+2\cdot2}{10}=\frac45$</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oMath>
                </a14:m>
                <a:r>
                  <a:rPr sz="2400" b="0">
                    <a:solidFill>
                      <a:srgbClr val="111827"/>
                    </a:solidFill>
                    <a:latin typeface="Arial"/>
                  </a:rPr>
                  <a:t> be the number of failures, </a:t>
                </a:r>
                <a14:m>
                  <m:oMath xmlns:m="http://schemas.openxmlformats.org/officeDocument/2006/math">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5</m:t>
                            </m:r>
                          </m:den>
                        </m:f>
                      </m:e>
                    </m:d>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5</m:t>
                                </m:r>
                              </m:den>
                            </m:f>
                          </m:e>
                        </m:d>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256</m:t>
                        </m:r>
                      </m:num>
                      <m:den>
                        <m:r>
                          <a:rPr lang="en-IN" sz="2400" i="1">
                            <a:solidFill>
                              <a:srgbClr val="111827"/>
                            </a:solidFill>
                            <a:latin typeface="Cambria Math" panose="02040503050406030204" pitchFamily="18" charset="0"/>
                          </a:rPr>
                          <m:t>625</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5</m:t>
                                </m:r>
                              </m:den>
                            </m:f>
                          </m:e>
                        </m:d>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256</m:t>
                        </m:r>
                      </m:num>
                      <m:den>
                        <m:r>
                          <a:rPr lang="en-IN" sz="2400" i="1">
                            <a:solidFill>
                              <a:srgbClr val="111827"/>
                            </a:solidFill>
                            <a:latin typeface="Cambria Math" panose="02040503050406030204" pitchFamily="18" charset="0"/>
                          </a:rPr>
                          <m:t>625</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256</m:t>
                        </m:r>
                      </m:num>
                      <m:den>
                        <m:r>
                          <a:rPr lang="en-IN" sz="2400" i="1">
                            <a:solidFill>
                              <a:srgbClr val="111827"/>
                            </a:solidFill>
                            <a:latin typeface="Cambria Math" panose="02040503050406030204" pitchFamily="18" charset="0"/>
                          </a:rPr>
                          <m:t>625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256</m:t>
                        </m:r>
                      </m:num>
                      <m:den>
                        <m:r>
                          <a:rPr lang="en-IN" sz="2400" i="1">
                            <a:solidFill>
                              <a:srgbClr val="111827"/>
                            </a:solidFill>
                            <a:latin typeface="Cambria Math" panose="02040503050406030204" pitchFamily="18" charset="0"/>
                          </a:rPr>
                          <m:t>625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512</m:t>
                        </m:r>
                      </m:num>
                      <m:den>
                        <m:r>
                          <a:rPr lang="en-IN" sz="2400" i="1">
                            <a:solidFill>
                              <a:srgbClr val="111827"/>
                            </a:solidFill>
                            <a:latin typeface="Cambria Math" panose="02040503050406030204" pitchFamily="18" charset="0"/>
                          </a:rPr>
                          <m:t>625</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$Y=4-X$</a:t>
                </a:r>
                <a:r>
                  <a:rPr sz="2400" b="0">
                    <a:solidFill>
                      <a:srgbClr val="111827"/>
                    </a:solidFill>
                    <a:latin typeface="Arial"/>
                  </a:rPr>
                  <a:t> be the number of failures, </a:t>
                </a:r>
                <a:r>
                  <a:rPr lang="en-IN" sz="2400">
                    <a:solidFill>
                      <a:srgbClr val="111827"/>
                    </a:solidFill>
                    <a:latin typeface="Cambria Math" panose="02040503050406030204" pitchFamily="18" charset="0"/>
                  </a:rPr>
                  <a:t>$Y\sim B\left(4,\frac15\right)$</a:t>
                </a:r>
                <a:r>
                  <a:rPr sz="2400" b="0">
                    <a:solidFill>
                      <a:srgbClr val="111827"/>
                    </a:solidFill>
                    <a:latin typeface="Arial"/>
                  </a:rPr>
                  <a:t>. Then </a:t>
                </a:r>
                <a:r>
                  <a:rPr lang="en-IN" sz="2400">
                    <a:solidFill>
                      <a:srgbClr val="111827"/>
                    </a:solidFill>
                    <a:latin typeface="Cambria Math" panose="02040503050406030204" pitchFamily="18" charset="0"/>
                  </a:rPr>
                  <a:t>$P(X\ge3)=P(Y\le1)$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$P(Y=0)=\left(\frac45\right)^4=\frac{256}{625}$</a:t>
                </a:r>
                <a:r>
                  <a:rPr sz="2400" b="0">
                    <a:solidFill>
                      <a:srgbClr val="111827"/>
                    </a:solidFill>
                    <a:latin typeface="Arial"/>
                  </a:rPr>
                  <a:t> and </a:t>
                </a:r>
                <a:r>
                  <a:rPr lang="en-IN" sz="2400">
                    <a:solidFill>
                      <a:srgbClr val="111827"/>
                    </a:solidFill>
                    <a:latin typeface="Cambria Math" panose="02040503050406030204" pitchFamily="18" charset="0"/>
                  </a:rPr>
                  <a:t>$P(Y=1)=4\cdot\frac15\cdot\left(\frac45\right)^3=\frac{256}{625}$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$P(X\ge3)=\frac{256}{625}+\frac{256}{625}=\frac{512}{625}$</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512</m:t>
                        </m:r>
                      </m:num>
                      <m:den>
                        <m:r>
                          <a:rPr lang="en-IN" sz="2800" i="1">
                            <a:solidFill>
                              <a:srgbClr val="15803D"/>
                            </a:solidFill>
                            <a:latin typeface="Cambria Math" panose="02040503050406030204" pitchFamily="18" charset="0"/>
                          </a:rPr>
                          <m:t>625</m:t>
                        </m:r>
                      </m:den>
                    </m:f>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r>
                  <a:rPr lang="en-IN" sz="2800">
                    <a:solidFill>
                      <a:srgbClr val="15803D"/>
                    </a:solidFill>
                    <a:latin typeface="Cambria Math" panose="02040503050406030204" pitchFamily="18" charset="0"/>
                  </a:rPr>
                  <a:t>$\frac{512}{625}$</a:t>
                </a:r>
                <a:endParaRPr sz="2800">
                  <a:solidFill>
                    <a:srgbClr val="15803D"/>
                  </a:solidFill>
                </a:endParaRPr>
              </a:p>
            </p:txBody>
          </p:sp>
        </mc:Fallback>
      </mc:AlternateContent>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𝑓</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always: when the mean is a given number you can write the balance equation directly.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𝑝</m:t>
                    </m:r>
                  </m:oMath>
                </a14:m>
                <a:r>
                  <a:rPr sz="2400" b="0">
                    <a:solidFill>
                      <a:srgbClr val="111827"/>
                    </a:solidFill>
                    <a:latin typeface="Arial"/>
                  </a:rPr>
                  <a:t> large, count failures: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Mean deviation about the mean is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𝑓</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𝑓</m:t>
                            </m:r>
                          </m:e>
                          <m:sub>
                            <m:r>
                              <a:rPr lang="en-IN" sz="2400" i="1">
                                <a:solidFill>
                                  <a:srgbClr val="111827"/>
                                </a:solidFill>
                                <a:latin typeface="Cambria Math" panose="02040503050406030204" pitchFamily="18" charset="0"/>
                              </a:rPr>
                              <m:t>𝑖</m:t>
                            </m:r>
                          </m:sub>
                        </m:sSub>
                      </m:den>
                    </m:f>
                  </m:oMath>
                </a14:m>
                <a:r>
                  <a:rPr sz="2400" b="0">
                    <a:solidFill>
                      <a:srgbClr val="111827"/>
                    </a:solidFill>
                    <a:latin typeface="Arial"/>
                  </a:rPr>
                  <a:t>; about the median replace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oMath>
                </a14:m>
                <a:r>
                  <a:rPr sz="2400" b="0">
                    <a:solidFill>
                      <a:srgbClr val="111827"/>
                    </a:solidFill>
                    <a:latin typeface="Arial"/>
                  </a:rPr>
                  <a:t> by the median.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Binomial tail check: </a:t>
                </a:r>
                <a14:m>
                  <m:oMath xmlns:m="http://schemas.openxmlformats.org/officeDocument/2006/math">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sub>
                      <m:sup>
                        <m:r>
                          <a:rPr lang="en-IN" sz="2400" i="1">
                            <a:solidFill>
                              <a:srgbClr val="111827"/>
                            </a:solidFill>
                            <a:latin typeface="Cambria Math" panose="02040503050406030204" pitchFamily="18" charset="0"/>
                          </a:rPr>
                          <m:t>​</m:t>
                        </m:r>
                      </m:sup>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𝑟</m:t>
                                </m:r>
                              </m:den>
                            </m:f>
                          </m:e>
                        </m:d>
                      </m:e>
                    </m:nary>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5</m:t>
                                </m:r>
                              </m:den>
                            </m:f>
                          </m:e>
                        </m:d>
                      </m:e>
                      <m:sup>
                        <m:r>
                          <a:rPr lang="en-IN" sz="2400" i="1">
                            <a:solidFill>
                              <a:srgbClr val="111827"/>
                            </a:solidFill>
                            <a:latin typeface="Cambria Math" panose="02040503050406030204" pitchFamily="18" charset="0"/>
                          </a:rPr>
                          <m:t>𝑟</m:t>
                        </m:r>
                      </m:sup>
                    </m:sSup>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5</m:t>
                                </m:r>
                              </m:den>
                            </m:f>
                          </m:e>
                        </m:d>
                      </m:e>
                      <m:sup>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 f_i(x_i-\bar x)=0$</a:t>
                </a:r>
                <a:r>
                  <a:rPr sz="2400" b="0">
                    <a:solidFill>
                      <a:srgbClr val="111827"/>
                    </a:solidFill>
                    <a:latin typeface="Arial"/>
                  </a:rPr>
                  <a:t> always: when the mean is a given number you can write the balance equation directly.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$B(n,p)$</a:t>
                </a:r>
                <a:r>
                  <a:rPr sz="2400" b="0">
                    <a:solidFill>
                      <a:srgbClr val="111827"/>
                    </a:solidFill>
                    <a:latin typeface="Arial"/>
                  </a:rPr>
                  <a:t> with </a:t>
                </a:r>
                <a:r>
                  <a:rPr lang="en-IN" sz="2400">
                    <a:solidFill>
                      <a:srgbClr val="111827"/>
                    </a:solidFill>
                    <a:latin typeface="Cambria Math" panose="02040503050406030204" pitchFamily="18" charset="0"/>
                  </a:rPr>
                  <a:t>$p$</a:t>
                </a:r>
                <a:r>
                  <a:rPr sz="2400" b="0">
                    <a:solidFill>
                      <a:srgbClr val="111827"/>
                    </a:solidFill>
                    <a:latin typeface="Arial"/>
                  </a:rPr>
                  <a:t> large, count failures: </a:t>
                </a:r>
                <a:r>
                  <a:rPr lang="en-IN" sz="2400">
                    <a:solidFill>
                      <a:srgbClr val="111827"/>
                    </a:solidFill>
                    <a:latin typeface="Cambria Math" panose="02040503050406030204" pitchFamily="18" charset="0"/>
                  </a:rPr>
                  <a:t>$P(X\ge k)=P(Y\le n-k)$</a:t>
                </a:r>
                <a:r>
                  <a:rPr sz="2400" b="0">
                    <a:solidFill>
                      <a:srgbClr val="111827"/>
                    </a:solidFill>
                    <a:latin typeface="Arial"/>
                  </a:rPr>
                  <a:t>, </a:t>
                </a:r>
                <a:r>
                  <a:rPr lang="en-IN" sz="2400">
                    <a:solidFill>
                      <a:srgbClr val="111827"/>
                    </a:solidFill>
                    <a:latin typeface="Cambria Math" panose="02040503050406030204" pitchFamily="18" charset="0"/>
                  </a:rPr>
                  <a:t>$Y\sim B(n,1-p)$</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Mean deviation about the mean is </a:t>
                </a:r>
                <a:r>
                  <a:rPr lang="en-IN" sz="2400">
                    <a:solidFill>
                      <a:srgbClr val="111827"/>
                    </a:solidFill>
                    <a:latin typeface="Cambria Math" panose="02040503050406030204" pitchFamily="18" charset="0"/>
                  </a:rPr>
                  <a:t>$\frac{\sum f_i|x_i-\bar x|}{\sum f_i}$</a:t>
                </a:r>
                <a:r>
                  <a:rPr sz="2400" b="0">
                    <a:solidFill>
                      <a:srgbClr val="111827"/>
                    </a:solidFill>
                    <a:latin typeface="Arial"/>
                  </a:rPr>
                  <a:t>; about the median replace </a:t>
                </a:r>
                <a:r>
                  <a:rPr lang="en-IN" sz="2400">
                    <a:solidFill>
                      <a:srgbClr val="111827"/>
                    </a:solidFill>
                    <a:latin typeface="Cambria Math" panose="02040503050406030204" pitchFamily="18" charset="0"/>
                  </a:rPr>
                  <a:t>$\bar x$</a:t>
                </a:r>
                <a:r>
                  <a:rPr sz="2400" b="0">
                    <a:solidFill>
                      <a:srgbClr val="111827"/>
                    </a:solidFill>
                    <a:latin typeface="Arial"/>
                  </a:rPr>
                  <a:t> by the median.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Binomial tail check: </a:t>
                </a:r>
                <a:r>
                  <a:rPr lang="en-IN" sz="2400">
                    <a:solidFill>
                      <a:srgbClr val="111827"/>
                    </a:solidFill>
                    <a:latin typeface="Cambria Math" panose="02040503050406030204" pitchFamily="18" charset="0"/>
                  </a:rPr>
                  <a:t>$\sum_{r}\binom4r\left(\frac45\right)^r\left(\frac15\right)^{4-r}=1$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1871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sSub>
                      <m:e>
                        <m:r>
                          <a:rPr lang="en-IN" sz="2400" i="1">
                            <a:solidFill>
                              <a:srgbClr val="111827"/>
                            </a:solidFill>
                            <a:latin typeface="Cambria Math" panose="02040503050406030204" pitchFamily="18" charset="0"/>
                          </a:rPr>
                          <m:t>𝐿</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be the line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𝐿</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be a line passing through the origin. Let the line </a:t>
                </a:r>
                <a14:m>
                  <m:oMath xmlns:m="http://schemas.openxmlformats.org/officeDocument/2006/math">
                    <m:sSub>
                      <m:e>
                        <m:r>
                          <a:rPr lang="en-IN" sz="2400" i="1">
                            <a:solidFill>
                              <a:srgbClr val="111827"/>
                            </a:solidFill>
                            <a:latin typeface="Cambria Math" panose="02040503050406030204" pitchFamily="18" charset="0"/>
                          </a:rPr>
                          <m:t>𝐿</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be the internal angle bisector of the angle between </a:t>
                </a:r>
                <a14:m>
                  <m:oMath xmlns:m="http://schemas.openxmlformats.org/officeDocument/2006/math">
                    <m:sSub>
                      <m:e>
                        <m:r>
                          <a:rPr lang="en-IN" sz="2400" i="1">
                            <a:solidFill>
                              <a:srgbClr val="111827"/>
                            </a:solidFill>
                            <a:latin typeface="Cambria Math" panose="02040503050406030204" pitchFamily="18" charset="0"/>
                          </a:rPr>
                          <m:t>𝐿</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𝐿</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If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 point on </a:t>
                </a:r>
                <a14:m>
                  <m:oMath xmlns:m="http://schemas.openxmlformats.org/officeDocument/2006/math">
                    <m:sSub>
                      <m:e>
                        <m:r>
                          <a:rPr lang="en-IN" sz="2400" i="1">
                            <a:solidFill>
                              <a:srgbClr val="111827"/>
                            </a:solidFill>
                            <a:latin typeface="Cambria Math" panose="02040503050406030204" pitchFamily="18" charset="0"/>
                          </a:rPr>
                          <m:t>𝐿</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then the coordinates of the image of point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with respect to the line </a:t>
                </a:r>
                <a14:m>
                  <m:oMath xmlns:m="http://schemas.openxmlformats.org/officeDocument/2006/math">
                    <m:sSub>
                      <m:e>
                        <m:r>
                          <a:rPr lang="en-IN" sz="2400" i="1">
                            <a:solidFill>
                              <a:srgbClr val="111827"/>
                            </a:solidFill>
                            <a:latin typeface="Cambria Math" panose="02040503050406030204" pitchFamily="18" charset="0"/>
                          </a:rPr>
                          <m:t>𝐿</m:t>
                        </m:r>
                      </m:e>
                      <m:sub>
                        <m:r>
                          <a:rPr lang="en-IN" sz="2400" i="1">
                            <a:solidFill>
                              <a:srgbClr val="111827"/>
                            </a:solidFill>
                            <a:latin typeface="Cambria Math" panose="02040503050406030204" pitchFamily="18" charset="0"/>
                          </a:rPr>
                          <m:t>3</m:t>
                        </m:r>
                      </m:sub>
                    </m:sSub>
                  </m:oMath>
                </a14:m>
                <a:r>
                  <a:rPr sz="2400" b="0">
                    <a:solidFill>
                      <a:srgbClr val="111827"/>
                    </a:solidFill>
                    <a:latin typeface="Arial"/>
                  </a:rPr>
                  <a:t> are: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oMath>
                </a14:m>
                <a:r>
                  <a:rPr sz="2400" b="0">
                    <a:solidFill>
                      <a:srgbClr val="111827"/>
                    </a:solidFill>
                    <a:latin typeface="Arial"/>
                  </a:rPr>
                  <a:t>   (B) </a:t>
                </a:r>
                <a14:m>
                  <m:oMath xmlns:m="http://schemas.openxmlformats.org/officeDocument/2006/math">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(C)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oMath>
                </a14:m>
                <a:r>
                  <a:rPr sz="2400" b="0">
                    <a:solidFill>
                      <a:srgbClr val="111827"/>
                    </a:solidFill>
                    <a:latin typeface="Arial"/>
                  </a:rPr>
                  <a:t>   (D)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oMath>
                </a14:m>
                <a:endParaRPr sz="2400">
                  <a:solidFill>
                    <a:srgbClr val="111827"/>
                  </a:solidFill>
                </a:endParaRPr>
              </a:p>
            </p:txBody>
          </p:sp>
        </mc:Choice>
        <mc:Fallback>
          <p:sp>
            <p:nvSpPr>
              <p:cNvPr id="4" name="Rounded Rectangle 3"/>
              <p:cNvSpPr/>
              <p:nvPr/>
            </p:nvSpPr>
            <p:spPr>
              <a:xfrm>
                <a:off x="731520" y="1280160"/>
                <a:ext cx="10725912" cy="31871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$L_1$</a:t>
                </a:r>
                <a:r>
                  <a:rPr sz="2400" b="0">
                    <a:solidFill>
                      <a:srgbClr val="111827"/>
                    </a:solidFill>
                    <a:latin typeface="Arial"/>
                  </a:rPr>
                  <a:t> be the line </a:t>
                </a:r>
                <a:r>
                  <a:rPr lang="en-IN" sz="2400">
                    <a:solidFill>
                      <a:srgbClr val="111827"/>
                    </a:solidFill>
                    <a:latin typeface="Cambria Math" panose="02040503050406030204" pitchFamily="18" charset="0"/>
                  </a:rPr>
                  <a:t>$y=0$</a:t>
                </a:r>
                <a:r>
                  <a:rPr sz="2400" b="0">
                    <a:solidFill>
                      <a:srgbClr val="111827"/>
                    </a:solidFill>
                    <a:latin typeface="Arial"/>
                  </a:rPr>
                  <a:t> and </a:t>
                </a:r>
                <a:r>
                  <a:rPr lang="en-IN" sz="2400">
                    <a:solidFill>
                      <a:srgbClr val="111827"/>
                    </a:solidFill>
                    <a:latin typeface="Cambria Math" panose="02040503050406030204" pitchFamily="18" charset="0"/>
                  </a:rPr>
                  <a:t>$L_2$</a:t>
                </a:r>
                <a:r>
                  <a:rPr sz="2400" b="0">
                    <a:solidFill>
                      <a:srgbClr val="111827"/>
                    </a:solidFill>
                    <a:latin typeface="Arial"/>
                  </a:rPr>
                  <a:t> be a line passing through the origin. Let the line </a:t>
                </a:r>
                <a:r>
                  <a:rPr lang="en-IN" sz="2400">
                    <a:solidFill>
                      <a:srgbClr val="111827"/>
                    </a:solidFill>
                    <a:latin typeface="Cambria Math" panose="02040503050406030204" pitchFamily="18" charset="0"/>
                  </a:rPr>
                  <a:t>$L_3: x-\sqrt3y=0$</a:t>
                </a:r>
                <a:r>
                  <a:rPr sz="2400" b="0">
                    <a:solidFill>
                      <a:srgbClr val="111827"/>
                    </a:solidFill>
                    <a:latin typeface="Arial"/>
                  </a:rPr>
                  <a:t> be the internal angle bisector of the angle between </a:t>
                </a:r>
                <a:r>
                  <a:rPr lang="en-IN" sz="2400">
                    <a:solidFill>
                      <a:srgbClr val="111827"/>
                    </a:solidFill>
                    <a:latin typeface="Cambria Math" panose="02040503050406030204" pitchFamily="18" charset="0"/>
                  </a:rPr>
                  <a:t>$L_1$</a:t>
                </a:r>
                <a:r>
                  <a:rPr sz="2400" b="0">
                    <a:solidFill>
                      <a:srgbClr val="111827"/>
                    </a:solidFill>
                    <a:latin typeface="Arial"/>
                  </a:rPr>
                  <a:t> and </a:t>
                </a:r>
                <a:r>
                  <a:rPr lang="en-IN" sz="2400">
                    <a:solidFill>
                      <a:srgbClr val="111827"/>
                    </a:solidFill>
                    <a:latin typeface="Cambria Math" panose="02040503050406030204" pitchFamily="18" charset="0"/>
                  </a:rPr>
                  <a:t>$L_2$</a:t>
                </a:r>
                <a:r>
                  <a:rPr sz="2400" b="0">
                    <a:solidFill>
                      <a:srgbClr val="111827"/>
                    </a:solidFill>
                    <a:latin typeface="Arial"/>
                  </a:rPr>
                  <a:t>. If </a:t>
                </a:r>
                <a:r>
                  <a:rPr lang="en-IN" sz="2400">
                    <a:solidFill>
                      <a:srgbClr val="111827"/>
                    </a:solidFill>
                    <a:latin typeface="Cambria Math" panose="02040503050406030204" pitchFamily="18" charset="0"/>
                  </a:rPr>
                  <a:t>$P(2,0)$</a:t>
                </a:r>
                <a:r>
                  <a:rPr sz="2400" b="0">
                    <a:solidFill>
                      <a:srgbClr val="111827"/>
                    </a:solidFill>
                    <a:latin typeface="Arial"/>
                  </a:rPr>
                  <a:t> is a point on </a:t>
                </a:r>
                <a:r>
                  <a:rPr lang="en-IN" sz="2400">
                    <a:solidFill>
                      <a:srgbClr val="111827"/>
                    </a:solidFill>
                    <a:latin typeface="Cambria Math" panose="02040503050406030204" pitchFamily="18" charset="0"/>
                  </a:rPr>
                  <a:t>$L_1$</a:t>
                </a:r>
                <a:r>
                  <a:rPr sz="2400" b="0">
                    <a:solidFill>
                      <a:srgbClr val="111827"/>
                    </a:solidFill>
                    <a:latin typeface="Arial"/>
                  </a:rPr>
                  <a:t>, then the coordinates of the image of point </a:t>
                </a:r>
                <a:r>
                  <a:rPr lang="en-IN" sz="2400">
                    <a:solidFill>
                      <a:srgbClr val="111827"/>
                    </a:solidFill>
                    <a:latin typeface="Cambria Math" panose="02040503050406030204" pitchFamily="18" charset="0"/>
                  </a:rPr>
                  <a:t>$P$</a:t>
                </a:r>
                <a:r>
                  <a:rPr sz="2400" b="0">
                    <a:solidFill>
                      <a:srgbClr val="111827"/>
                    </a:solidFill>
                    <a:latin typeface="Arial"/>
                  </a:rPr>
                  <a:t> with respect to the line </a:t>
                </a:r>
                <a:r>
                  <a:rPr lang="en-IN" sz="2400">
                    <a:solidFill>
                      <a:srgbClr val="111827"/>
                    </a:solidFill>
                    <a:latin typeface="Cambria Math" panose="02040503050406030204" pitchFamily="18" charset="0"/>
                  </a:rPr>
                  <a:t>$L_3$</a:t>
                </a:r>
                <a:r>
                  <a:rPr sz="2400" b="0">
                    <a:solidFill>
                      <a:srgbClr val="111827"/>
                    </a:solidFill>
                    <a:latin typeface="Arial"/>
                  </a:rPr>
                  <a:t> are: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$(1,\sqrt3)$</a:t>
                </a:r>
                <a:r>
                  <a:rPr sz="2400" b="0">
                    <a:solidFill>
                      <a:srgbClr val="111827"/>
                    </a:solidFill>
                    <a:latin typeface="Arial"/>
                  </a:rPr>
                  <a:t>   (B) </a:t>
                </a:r>
                <a:r>
                  <a:rPr lang="en-IN" sz="2400">
                    <a:solidFill>
                      <a:srgbClr val="111827"/>
                    </a:solidFill>
                    <a:latin typeface="Cambria Math" panose="02040503050406030204" pitchFamily="18" charset="0"/>
                  </a:rPr>
                  <a:t>$(\sqrt3,1)$</a:t>
                </a:r>
                <a:r>
                  <a:rPr sz="2400" b="0">
                    <a:solidFill>
                      <a:srgbClr val="111827"/>
                    </a:solidFill>
                    <a:latin typeface="Arial"/>
                  </a:rPr>
                  <a:t>   (C) </a:t>
                </a:r>
                <a:r>
                  <a:rPr lang="en-IN" sz="2400">
                    <a:solidFill>
                      <a:srgbClr val="111827"/>
                    </a:solidFill>
                    <a:latin typeface="Cambria Math" panose="02040503050406030204" pitchFamily="18" charset="0"/>
                  </a:rPr>
                  <a:t>$(1,-\sqrt3)$</a:t>
                </a:r>
                <a:r>
                  <a:rPr sz="2400" b="0">
                    <a:solidFill>
                      <a:srgbClr val="111827"/>
                    </a:solidFill>
                    <a:latin typeface="Arial"/>
                  </a:rPr>
                  <a:t>   (D) </a:t>
                </a:r>
                <a:r>
                  <a:rPr lang="en-IN" sz="2400">
                    <a:solidFill>
                      <a:srgbClr val="111827"/>
                    </a:solidFill>
                    <a:latin typeface="Cambria Math" panose="02040503050406030204" pitchFamily="18" charset="0"/>
                  </a:rPr>
                  <a:t>$(-1,\sqrt3)$</a:t>
                </a:r>
                <a:endParaRPr sz="2400">
                  <a:solidFill>
                    <a:srgbClr val="111827"/>
                  </a:solidFill>
                </a:endParaRPr>
              </a:p>
            </p:txBody>
          </p:sp>
        </mc:Fallback>
      </mc:AlternateContent>
      <p:sp>
        <p:nvSpPr>
          <p:cNvPr id="5" name="Rectangle 4"/>
          <p:cNvSpPr/>
          <p:nvPr/>
        </p:nvSpPr>
        <p:spPr>
          <a:xfrm>
            <a:off x="731520" y="4695952"/>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Image of a point in a line and angle bisectors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image of </a:t>
                </a:r>
                <a14:m>
                  <m:oMath xmlns:m="http://schemas.openxmlformats.org/officeDocument/2006/math">
                    <m:r>
                      <a:rPr lang="en-IN" sz="2400" i="1">
                        <a:solidFill>
                          <a:srgbClr val="78350F"/>
                        </a:solidFill>
                        <a:latin typeface="Cambria Math" panose="02040503050406030204" pitchFamily="18" charset="0"/>
                      </a:rPr>
                      <m:t>𝑃</m:t>
                    </m:r>
                  </m:oMath>
                </a14:m>
                <a:r>
                  <a:rPr sz="2400" b="0">
                    <a:solidFill>
                      <a:srgbClr val="78350F"/>
                    </a:solidFill>
                    <a:latin typeface="Arial"/>
                  </a:rPr>
                  <a:t> in the bisector </a:t>
                </a:r>
                <a14:m>
                  <m:oMath xmlns:m="http://schemas.openxmlformats.org/officeDocument/2006/math">
                    <m:sSub>
                      <m:e>
                        <m:r>
                          <a:rPr lang="en-IN" sz="2400" i="1">
                            <a:solidFill>
                              <a:srgbClr val="78350F"/>
                            </a:solidFill>
                            <a:latin typeface="Cambria Math" panose="02040503050406030204" pitchFamily="18" charset="0"/>
                          </a:rPr>
                          <m:t>𝐿</m:t>
                        </m:r>
                      </m:e>
                      <m:sub>
                        <m:r>
                          <a:rPr lang="en-IN" sz="2400" i="1">
                            <a:solidFill>
                              <a:srgbClr val="78350F"/>
                            </a:solidFill>
                            <a:latin typeface="Cambria Math" panose="02040503050406030204" pitchFamily="18" charset="0"/>
                          </a:rPr>
                          <m:t>3</m:t>
                        </m:r>
                      </m:sub>
                    </m:sSub>
                  </m:oMath>
                </a14:m>
                <a:r>
                  <a:rPr sz="2400" b="0">
                    <a:solidFill>
                      <a:srgbClr val="78350F"/>
                    </a:solidFill>
                    <a:latin typeface="Arial"/>
                  </a:rPr>
                  <a:t> is the reflection of </a:t>
                </a:r>
                <a14:m>
                  <m:oMath xmlns:m="http://schemas.openxmlformats.org/officeDocument/2006/math">
                    <m:r>
                      <a:rPr lang="en-IN" sz="2400" i="1">
                        <a:solidFill>
                          <a:srgbClr val="78350F"/>
                        </a:solidFill>
                        <a:latin typeface="Cambria Math" panose="02040503050406030204" pitchFamily="18" charset="0"/>
                      </a:rPr>
                      <m:t>𝑃</m:t>
                    </m:r>
                  </m:oMath>
                </a14:m>
                <a:r>
                  <a:rPr sz="2400" b="0">
                    <a:solidFill>
                      <a:srgbClr val="78350F"/>
                    </a:solidFill>
                    <a:latin typeface="Arial"/>
                  </a:rPr>
                  <a:t> across </a:t>
                </a:r>
                <a14:m>
                  <m:oMath xmlns:m="http://schemas.openxmlformats.org/officeDocument/2006/math">
                    <m:sSub>
                      <m:e>
                        <m:r>
                          <a:rPr lang="en-IN" sz="2400" i="1">
                            <a:solidFill>
                              <a:srgbClr val="78350F"/>
                            </a:solidFill>
                            <a:latin typeface="Cambria Math" panose="02040503050406030204" pitchFamily="18" charset="0"/>
                          </a:rPr>
                          <m:t>𝐿</m:t>
                        </m:r>
                      </m:e>
                      <m:sub>
                        <m:r>
                          <a:rPr lang="en-IN" sz="2400" i="1">
                            <a:solidFill>
                              <a:srgbClr val="78350F"/>
                            </a:solidFill>
                            <a:latin typeface="Cambria Math" panose="02040503050406030204" pitchFamily="18" charset="0"/>
                          </a:rPr>
                          <m:t>3</m:t>
                        </m:r>
                      </m:sub>
                    </m:sSub>
                  </m:oMath>
                </a14:m>
                <a:r>
                  <a:rPr sz="2400" b="0">
                    <a:solidFill>
                      <a:srgbClr val="78350F"/>
                    </a:solidFill>
                    <a:latin typeface="Arial"/>
                  </a:rPr>
                  <a:t>; it lies on </a:t>
                </a:r>
                <a14:m>
                  <m:oMath xmlns:m="http://schemas.openxmlformats.org/officeDocument/2006/math">
                    <m:sSub>
                      <m:e>
                        <m:r>
                          <a:rPr lang="en-IN" sz="2400" i="1">
                            <a:solidFill>
                              <a:srgbClr val="78350F"/>
                            </a:solidFill>
                            <a:latin typeface="Cambria Math" panose="02040503050406030204" pitchFamily="18" charset="0"/>
                          </a:rPr>
                          <m:t>𝐿</m:t>
                        </m:r>
                      </m:e>
                      <m:sub>
                        <m:r>
                          <a:rPr lang="en-IN" sz="2400" i="1">
                            <a:solidFill>
                              <a:srgbClr val="78350F"/>
                            </a:solidFill>
                            <a:latin typeface="Cambria Math" panose="02040503050406030204" pitchFamily="18" charset="0"/>
                          </a:rPr>
                          <m:t>2</m:t>
                        </m:r>
                      </m:sub>
                    </m:sSub>
                  </m:oMath>
                </a14:m>
                <a:r>
                  <a:rPr sz="2400" b="0">
                    <a:solidFill>
                      <a:srgbClr val="78350F"/>
                    </a:solidFill>
                    <a:latin typeface="Arial"/>
                  </a:rPr>
                  <a:t> at the same distance from the origin.</a:t>
                </a:r>
                <a:endParaRPr sz="2400">
                  <a:solidFill>
                    <a:srgbClr val="78350F"/>
                  </a:solidFill>
                </a:endParaRPr>
              </a:p>
            </p:txBody>
          </p:sp>
        </mc:Choice>
        <mc:Fallback>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image of </a:t>
                </a:r>
                <a:r>
                  <a:rPr lang="en-IN" sz="2400">
                    <a:solidFill>
                      <a:srgbClr val="78350F"/>
                    </a:solidFill>
                    <a:latin typeface="Cambria Math" panose="02040503050406030204" pitchFamily="18" charset="0"/>
                  </a:rPr>
                  <a:t>$P$</a:t>
                </a:r>
                <a:r>
                  <a:rPr sz="2400" b="0">
                    <a:solidFill>
                      <a:srgbClr val="78350F"/>
                    </a:solidFill>
                    <a:latin typeface="Arial"/>
                  </a:rPr>
                  <a:t> in the bisector </a:t>
                </a:r>
                <a:r>
                  <a:rPr lang="en-IN" sz="2400">
                    <a:solidFill>
                      <a:srgbClr val="78350F"/>
                    </a:solidFill>
                    <a:latin typeface="Cambria Math" panose="02040503050406030204" pitchFamily="18" charset="0"/>
                  </a:rPr>
                  <a:t>$L_3$</a:t>
                </a:r>
                <a:r>
                  <a:rPr sz="2400" b="0">
                    <a:solidFill>
                      <a:srgbClr val="78350F"/>
                    </a:solidFill>
                    <a:latin typeface="Arial"/>
                  </a:rPr>
                  <a:t> is the reflection of </a:t>
                </a:r>
                <a:r>
                  <a:rPr lang="en-IN" sz="2400">
                    <a:solidFill>
                      <a:srgbClr val="78350F"/>
                    </a:solidFill>
                    <a:latin typeface="Cambria Math" panose="02040503050406030204" pitchFamily="18" charset="0"/>
                  </a:rPr>
                  <a:t>$P$</a:t>
                </a:r>
                <a:r>
                  <a:rPr sz="2400" b="0">
                    <a:solidFill>
                      <a:srgbClr val="78350F"/>
                    </a:solidFill>
                    <a:latin typeface="Arial"/>
                  </a:rPr>
                  <a:t> across </a:t>
                </a:r>
                <a:r>
                  <a:rPr lang="en-IN" sz="2400">
                    <a:solidFill>
                      <a:srgbClr val="78350F"/>
                    </a:solidFill>
                    <a:latin typeface="Cambria Math" panose="02040503050406030204" pitchFamily="18" charset="0"/>
                  </a:rPr>
                  <a:t>$L_3$</a:t>
                </a:r>
                <a:r>
                  <a:rPr sz="2400" b="0">
                    <a:solidFill>
                      <a:srgbClr val="78350F"/>
                    </a:solidFill>
                    <a:latin typeface="Arial"/>
                  </a:rPr>
                  <a:t>; it lies on </a:t>
                </a:r>
                <a:r>
                  <a:rPr lang="en-IN" sz="2400">
                    <a:solidFill>
                      <a:srgbClr val="78350F"/>
                    </a:solidFill>
                    <a:latin typeface="Cambria Math" panose="02040503050406030204" pitchFamily="18" charset="0"/>
                  </a:rPr>
                  <a:t>$L_2$</a:t>
                </a:r>
                <a:r>
                  <a:rPr sz="2400" b="0">
                    <a:solidFill>
                      <a:srgbClr val="78350F"/>
                    </a:solidFill>
                    <a:latin typeface="Arial"/>
                  </a:rPr>
                  <a:t> at the same distance from the origin.</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image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of a point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in the line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satisfies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num>
                      <m:den>
                        <m:r>
                          <a:rPr lang="en-IN" sz="2400" i="1">
                            <a:solidFill>
                              <a:srgbClr val="111827"/>
                            </a:solidFill>
                            <a:latin typeface="Cambria Math" panose="02040503050406030204" pitchFamily="18" charset="0"/>
                          </a:rPr>
                          <m:t>𝑎</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num>
                      <m:den>
                        <m:r>
                          <a:rPr lang="en-IN" sz="2400" i="1">
                            <a:solidFill>
                              <a:srgbClr val="111827"/>
                            </a:solidFill>
                            <a:latin typeface="Cambria Math" panose="02040503050406030204" pitchFamily="18" charset="0"/>
                          </a:rPr>
                          <m:t>𝑏</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 </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num>
                      <m:den>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the point is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the line is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image </a:t>
                </a:r>
                <a:r>
                  <a:rPr lang="en-IN" sz="2400">
                    <a:solidFill>
                      <a:srgbClr val="111827"/>
                    </a:solidFill>
                    <a:latin typeface="Cambria Math" panose="02040503050406030204" pitchFamily="18" charset="0"/>
                  </a:rPr>
                  <a:t>$(x,y)$</a:t>
                </a:r>
                <a:r>
                  <a:rPr sz="2400" b="0">
                    <a:solidFill>
                      <a:srgbClr val="111827"/>
                    </a:solidFill>
                    <a:latin typeface="Arial"/>
                  </a:rPr>
                  <a:t> of a point </a:t>
                </a:r>
                <a:r>
                  <a:rPr lang="en-IN" sz="2400">
                    <a:solidFill>
                      <a:srgbClr val="111827"/>
                    </a:solidFill>
                    <a:latin typeface="Cambria Math" panose="02040503050406030204" pitchFamily="18" charset="0"/>
                  </a:rPr>
                  <a:t>$(x_1,y_1)$</a:t>
                </a:r>
                <a:r>
                  <a:rPr sz="2400" b="0">
                    <a:solidFill>
                      <a:srgbClr val="111827"/>
                    </a:solidFill>
                    <a:latin typeface="Arial"/>
                  </a:rPr>
                  <a:t> in the line </a:t>
                </a:r>
                <a:r>
                  <a:rPr lang="en-IN" sz="2400">
                    <a:solidFill>
                      <a:srgbClr val="111827"/>
                    </a:solidFill>
                    <a:latin typeface="Cambria Math" panose="02040503050406030204" pitchFamily="18" charset="0"/>
                  </a:rPr>
                  <a:t>$ax+by+c=0$</a:t>
                </a:r>
                <a:r>
                  <a:rPr sz="2400" b="0">
                    <a:solidFill>
                      <a:srgbClr val="111827"/>
                    </a:solidFill>
                    <a:latin typeface="Arial"/>
                  </a:rPr>
                  <a:t> satisfies </a:t>
                </a:r>
                <a:r>
                  <a:rPr lang="en-IN" sz="2400">
                    <a:solidFill>
                      <a:srgbClr val="111827"/>
                    </a:solidFill>
                    <a:latin typeface="Cambria Math" panose="02040503050406030204" pitchFamily="18" charset="0"/>
                  </a:rPr>
                  <a:t>$\frac{x-x_1}a=\frac{y-y_1}b=-2\,\frac{ax_1+by_1+c}{a^2+b^2}$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the point is </a:t>
                </a:r>
                <a:r>
                  <a:rPr lang="en-IN" sz="2400">
                    <a:solidFill>
                      <a:srgbClr val="111827"/>
                    </a:solidFill>
                    <a:latin typeface="Cambria Math" panose="02040503050406030204" pitchFamily="18" charset="0"/>
                  </a:rPr>
                  <a:t>$P(2,0)$</a:t>
                </a:r>
                <a:r>
                  <a:rPr sz="2400" b="0">
                    <a:solidFill>
                      <a:srgbClr val="111827"/>
                    </a:solidFill>
                    <a:latin typeface="Arial"/>
                  </a:rPr>
                  <a:t> and the line is </a:t>
                </a:r>
                <a:r>
                  <a:rPr lang="en-IN" sz="2400">
                    <a:solidFill>
                      <a:srgbClr val="111827"/>
                    </a:solidFill>
                    <a:latin typeface="Cambria Math" panose="02040503050406030204" pitchFamily="18" charset="0"/>
                  </a:rPr>
                  <a:t>$x-\sqrt3y=0$</a:t>
                </a:r>
                <a:r>
                  <a:rPr sz="2400" b="0">
                    <a:solidFill>
                      <a:srgbClr val="111827"/>
                    </a:solidFill>
                    <a:latin typeface="Arial"/>
                  </a:rPr>
                  <a:t>, so </a:t>
                </a:r>
                <a:r>
                  <a:rPr lang="en-IN" sz="2400">
                    <a:solidFill>
                      <a:srgbClr val="111827"/>
                    </a:solidFill>
                    <a:latin typeface="Cambria Math" panose="02040503050406030204" pitchFamily="18" charset="0"/>
                  </a:rPr>
                  <a:t>$a=1$</a:t>
                </a:r>
                <a:r>
                  <a:rPr sz="2400" b="0">
                    <a:solidFill>
                      <a:srgbClr val="111827"/>
                    </a:solidFill>
                    <a:latin typeface="Arial"/>
                  </a:rPr>
                  <a:t>, </a:t>
                </a:r>
                <a:r>
                  <a:rPr lang="en-IN" sz="2400">
                    <a:solidFill>
                      <a:srgbClr val="111827"/>
                    </a:solidFill>
                    <a:latin typeface="Cambria Math" panose="02040503050406030204" pitchFamily="18" charset="0"/>
                  </a:rPr>
                  <a:t>$b=-\sqrt3$</a:t>
                </a:r>
                <a:r>
                  <a:rPr sz="2400" b="0">
                    <a:solidFill>
                      <a:srgbClr val="111827"/>
                    </a:solidFill>
                    <a:latin typeface="Arial"/>
                  </a:rPr>
                  <a:t>, </a:t>
                </a:r>
                <a:r>
                  <a:rPr lang="en-IN" sz="2400">
                    <a:solidFill>
                      <a:srgbClr val="111827"/>
                    </a:solidFill>
                    <a:latin typeface="Cambria Math" panose="02040503050406030204" pitchFamily="18" charset="0"/>
                  </a:rPr>
                  <a:t>$c=0$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𝑎</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hence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num>
                      <m:den>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This gives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Thus the image of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$ax_1+by_1+c=2$</a:t>
                </a:r>
                <a:r>
                  <a:rPr sz="2400" b="0">
                    <a:solidFill>
                      <a:srgbClr val="111827"/>
                    </a:solidFill>
                    <a:latin typeface="Arial"/>
                  </a:rPr>
                  <a:t> and </a:t>
                </a:r>
                <a:r>
                  <a:rPr lang="en-IN" sz="2400">
                    <a:solidFill>
                      <a:srgbClr val="111827"/>
                    </a:solidFill>
                    <a:latin typeface="Cambria Math" panose="02040503050406030204" pitchFamily="18" charset="0"/>
                  </a:rPr>
                  <a:t>$a^2+b^2=4$</a:t>
                </a:r>
                <a:r>
                  <a:rPr sz="2400" b="0">
                    <a:solidFill>
                      <a:srgbClr val="111827"/>
                    </a:solidFill>
                    <a:latin typeface="Arial"/>
                  </a:rPr>
                  <a:t>, hence </a:t>
                </a:r>
                <a:r>
                  <a:rPr lang="en-IN" sz="2400">
                    <a:solidFill>
                      <a:srgbClr val="111827"/>
                    </a:solidFill>
                    <a:latin typeface="Cambria Math" panose="02040503050406030204" pitchFamily="18" charset="0"/>
                  </a:rPr>
                  <a:t>$\frac{x-2}1=\frac{y-0}{-\sqrt3}=-2\cdot\frac24=-1$</a:t>
                </a:r>
                <a:r>
                  <a:rPr sz="2400" b="0">
                    <a:solidFill>
                      <a:srgbClr val="111827"/>
                    </a:solidFill>
                    <a:latin typeface="Arial"/>
                  </a:rPr>
                  <a:t>. This gives </a:t>
                </a:r>
                <a:r>
                  <a:rPr lang="en-IN" sz="2400">
                    <a:solidFill>
                      <a:srgbClr val="111827"/>
                    </a:solidFill>
                    <a:latin typeface="Cambria Math" panose="02040503050406030204" pitchFamily="18" charset="0"/>
                  </a:rPr>
                  <a:t>$x=1$</a:t>
                </a:r>
                <a:r>
                  <a:rPr sz="2400" b="0">
                    <a:solidFill>
                      <a:srgbClr val="111827"/>
                    </a:solidFill>
                    <a:latin typeface="Arial"/>
                  </a:rPr>
                  <a:t> and </a:t>
                </a:r>
                <a:r>
                  <a:rPr lang="en-IN" sz="2400">
                    <a:solidFill>
                      <a:srgbClr val="111827"/>
                    </a:solidFill>
                    <a:latin typeface="Cambria Math" panose="02040503050406030204" pitchFamily="18" charset="0"/>
                  </a:rPr>
                  <a:t>$y=\sqrt3$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Thus the image of </a:t>
                </a:r>
                <a:r>
                  <a:rPr lang="en-IN" sz="2400">
                    <a:solidFill>
                      <a:srgbClr val="111827"/>
                    </a:solidFill>
                    <a:latin typeface="Cambria Math" panose="02040503050406030204" pitchFamily="18" charset="0"/>
                  </a:rPr>
                  <a:t>$P$</a:t>
                </a:r>
                <a:r>
                  <a:rPr sz="2400" b="0">
                    <a:solidFill>
                      <a:srgbClr val="111827"/>
                    </a:solidFill>
                    <a:latin typeface="Arial"/>
                  </a:rPr>
                  <a:t> is </a:t>
                </a:r>
                <a:r>
                  <a:rPr lang="en-IN" sz="2400">
                    <a:solidFill>
                      <a:srgbClr val="111827"/>
                    </a:solidFill>
                    <a:latin typeface="Cambria Math" panose="02040503050406030204" pitchFamily="18" charset="0"/>
                  </a:rPr>
                  <a:t>$(1,\sqrt3)$</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14:m>
                  <m:oMath xmlns:m="http://schemas.openxmlformats.org/officeDocument/2006/math">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r>
                      <m:rPr>
                        <m:sty m:val="p"/>
                      </m:rPr>
                      <a:rPr lang="en-IN" sz="2800">
                        <a:solidFill>
                          <a:srgbClr val="15803D"/>
                        </a:solidFill>
                        <a:latin typeface="Cambria Math" panose="02040503050406030204" pitchFamily="18" charset="0"/>
                      </a:rPr>
                      <m:t>,</m:t>
                    </m:r>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3</m:t>
                        </m:r>
                      </m:e>
                    </m:rad>
                    <m:r>
                      <m:rPr>
                        <m:sty m:val="p"/>
                      </m:rPr>
                      <a:rPr lang="en-IN" sz="2800">
                        <a:solidFill>
                          <a:srgbClr val="15803D"/>
                        </a:solidFill>
                        <a:latin typeface="Cambria Math" panose="02040503050406030204" pitchFamily="18" charset="0"/>
                      </a:rPr>
                      <m:t>)</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r>
                  <a:rPr lang="en-IN" sz="2800">
                    <a:solidFill>
                      <a:srgbClr val="15803D"/>
                    </a:solidFill>
                    <a:latin typeface="Cambria Math" panose="02040503050406030204" pitchFamily="18" charset="0"/>
                  </a:rPr>
                  <a:t>$(1,\sqrt3)$</a:t>
                </a:r>
                <a:endParaRPr sz="2800">
                  <a:solidFill>
                    <a:srgbClr val="15803D"/>
                  </a:solidFill>
                </a:endParaRPr>
              </a:p>
            </p:txBody>
          </p:sp>
        </mc:Fallback>
      </mc:AlternateContent>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Geometric: a reflection in the bisector preserves distance from the vertex and doubles the angle (the PDF's own alternative method).</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image of any point on </a:t>
                </a:r>
                <a14:m>
                  <m:oMath xmlns:m="http://schemas.openxmlformats.org/officeDocument/2006/math">
                    <m:sSub>
                      <m:e>
                        <m:r>
                          <a:rPr lang="en-IN" sz="2400" i="1">
                            <a:solidFill>
                              <a:srgbClr val="111827"/>
                            </a:solidFill>
                            <a:latin typeface="Cambria Math" panose="02040503050406030204" pitchFamily="18" charset="0"/>
                          </a:rPr>
                          <m:t>𝐿</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in the bisector </a:t>
                </a:r>
                <a14:m>
                  <m:oMath xmlns:m="http://schemas.openxmlformats.org/officeDocument/2006/math">
                    <m:sSub>
                      <m:e>
                        <m:r>
                          <a:rPr lang="en-IN" sz="2400" i="1">
                            <a:solidFill>
                              <a:srgbClr val="111827"/>
                            </a:solidFill>
                            <a:latin typeface="Cambria Math" panose="02040503050406030204" pitchFamily="18" charset="0"/>
                          </a:rPr>
                          <m:t>𝐿</m:t>
                        </m:r>
                      </m:e>
                      <m:sub>
                        <m:r>
                          <a:rPr lang="en-IN" sz="2400" i="1">
                            <a:solidFill>
                              <a:srgbClr val="111827"/>
                            </a:solidFill>
                            <a:latin typeface="Cambria Math" panose="02040503050406030204" pitchFamily="18" charset="0"/>
                          </a:rPr>
                          <m:t>3</m:t>
                        </m:r>
                      </m:sub>
                    </m:sSub>
                  </m:oMath>
                </a14:m>
                <a:r>
                  <a:rPr sz="2400" b="0">
                    <a:solidFill>
                      <a:srgbClr val="111827"/>
                    </a:solidFill>
                    <a:latin typeface="Arial"/>
                  </a:rPr>
                  <a:t> lies on </a:t>
                </a:r>
                <a14:m>
                  <m:oMath xmlns:m="http://schemas.openxmlformats.org/officeDocument/2006/math">
                    <m:sSub>
                      <m:e>
                        <m:r>
                          <a:rPr lang="en-IN" sz="2400" i="1">
                            <a:solidFill>
                              <a:srgbClr val="111827"/>
                            </a:solidFill>
                            <a:latin typeface="Cambria Math" panose="02040503050406030204" pitchFamily="18" charset="0"/>
                          </a:rPr>
                          <m:t>𝐿</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at the same distance from the vertex (the origin).</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so the image is at distance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from the origin.</a:t>
                </a:r>
                <a:endParaRPr sz="2400">
                  <a:solidFill>
                    <a:srgbClr val="111827"/>
                  </a:solidFill>
                </a:endParaRPr>
              </a:p>
            </p:txBody>
          </p:sp>
        </mc:Choice>
        <mc:Fallback>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image of any point on </a:t>
                </a:r>
                <a:r>
                  <a:rPr lang="en-IN" sz="2400">
                    <a:solidFill>
                      <a:srgbClr val="111827"/>
                    </a:solidFill>
                    <a:latin typeface="Cambria Math" panose="02040503050406030204" pitchFamily="18" charset="0"/>
                  </a:rPr>
                  <a:t>$L_1$</a:t>
                </a:r>
                <a:r>
                  <a:rPr sz="2400" b="0">
                    <a:solidFill>
                      <a:srgbClr val="111827"/>
                    </a:solidFill>
                    <a:latin typeface="Arial"/>
                  </a:rPr>
                  <a:t> in the bisector </a:t>
                </a:r>
                <a:r>
                  <a:rPr lang="en-IN" sz="2400">
                    <a:solidFill>
                      <a:srgbClr val="111827"/>
                    </a:solidFill>
                    <a:latin typeface="Cambria Math" panose="02040503050406030204" pitchFamily="18" charset="0"/>
                  </a:rPr>
                  <a:t>$L_3$</a:t>
                </a:r>
                <a:r>
                  <a:rPr sz="2400" b="0">
                    <a:solidFill>
                      <a:srgbClr val="111827"/>
                    </a:solidFill>
                    <a:latin typeface="Arial"/>
                  </a:rPr>
                  <a:t> lies on </a:t>
                </a:r>
                <a:r>
                  <a:rPr lang="en-IN" sz="2400">
                    <a:solidFill>
                      <a:srgbClr val="111827"/>
                    </a:solidFill>
                    <a:latin typeface="Cambria Math" panose="02040503050406030204" pitchFamily="18" charset="0"/>
                  </a:rPr>
                  <a:t>$L_2$</a:t>
                </a:r>
                <a:r>
                  <a:rPr sz="2400" b="0">
                    <a:solidFill>
                      <a:srgbClr val="111827"/>
                    </a:solidFill>
                    <a:latin typeface="Arial"/>
                  </a:rPr>
                  <a:t>, at the same distance from the vertex (the origin).</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$OP=2$</a:t>
                </a:r>
                <a:r>
                  <a:rPr sz="2400" b="0">
                    <a:solidFill>
                      <a:srgbClr val="111827"/>
                    </a:solidFill>
                    <a:latin typeface="Arial"/>
                  </a:rPr>
                  <a:t>, so the image is at distance </a:t>
                </a:r>
                <a:r>
                  <a:rPr lang="en-IN" sz="2400">
                    <a:solidFill>
                      <a:srgbClr val="111827"/>
                    </a:solidFill>
                    <a:latin typeface="Cambria Math" panose="02040503050406030204" pitchFamily="18" charset="0"/>
                  </a:rPr>
                  <a:t>$2$</a:t>
                </a:r>
                <a:r>
                  <a:rPr sz="2400" b="0">
                    <a:solidFill>
                      <a:srgbClr val="111827"/>
                    </a:solidFill>
                    <a:latin typeface="Arial"/>
                  </a:rPr>
                  <a:t> from the origin.</a:t>
                </a:r>
                <a:endParaRPr sz="2400">
                  <a:solidFill>
                    <a:srgbClr val="111827"/>
                  </a:solidFill>
                </a:endParaRPr>
              </a:p>
            </p:txBody>
          </p:sp>
        </mc:Fallback>
      </mc:AlternateContent>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𝐿</m:t>
                        </m:r>
                      </m:e>
                      <m:sub>
                        <m:r>
                          <a:rPr lang="en-IN" sz="2400" i="1">
                            <a:solidFill>
                              <a:srgbClr val="111827"/>
                            </a:solidFill>
                            <a:latin typeface="Cambria Math" panose="02040503050406030204" pitchFamily="18" charset="0"/>
                          </a:rPr>
                          <m:t>3</m:t>
                        </m:r>
                      </m:sub>
                    </m:sSub>
                  </m:oMath>
                </a14:m>
                <a:r>
                  <a:rPr sz="2400" b="0">
                    <a:solidFill>
                      <a:srgbClr val="111827"/>
                    </a:solidFill>
                    <a:latin typeface="Arial"/>
                  </a:rPr>
                  <a:t> makes </a:t>
                </a:r>
                <a14:m>
                  <m:oMath xmlns:m="http://schemas.openxmlformats.org/officeDocument/2006/math">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with the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-axis (</a:t>
                </a:r>
                <a14:m>
                  <m:oMath xmlns:m="http://schemas.openxmlformats.org/officeDocument/2006/math">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 so </a:t>
                </a:r>
                <a14:m>
                  <m:oMath xmlns:m="http://schemas.openxmlformats.org/officeDocument/2006/math">
                    <m:sSub>
                      <m:e>
                        <m:r>
                          <a:rPr lang="en-IN" sz="2400" i="1">
                            <a:solidFill>
                              <a:srgbClr val="111827"/>
                            </a:solidFill>
                            <a:latin typeface="Cambria Math" panose="02040503050406030204" pitchFamily="18" charset="0"/>
                          </a:rPr>
                          <m:t>𝐿</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makes </a:t>
                </a:r>
                <a14:m>
                  <m:oMath xmlns:m="http://schemas.openxmlformats.org/officeDocument/2006/math">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with the positive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-axis.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image is therefore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cos</m:t>
                    </m:r>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sin</m:t>
                    </m:r>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$L_3$</a:t>
                </a:r>
                <a:r>
                  <a:rPr sz="2400" b="0">
                    <a:solidFill>
                      <a:srgbClr val="111827"/>
                    </a:solidFill>
                    <a:latin typeface="Arial"/>
                  </a:rPr>
                  <a:t> makes </a:t>
                </a:r>
                <a:r>
                  <a:rPr lang="en-IN" sz="2400">
                    <a:solidFill>
                      <a:srgbClr val="111827"/>
                    </a:solidFill>
                    <a:latin typeface="Cambria Math" panose="02040503050406030204" pitchFamily="18" charset="0"/>
                  </a:rPr>
                  <a:t>$30^\circ$</a:t>
                </a:r>
                <a:r>
                  <a:rPr sz="2400" b="0">
                    <a:solidFill>
                      <a:srgbClr val="111827"/>
                    </a:solidFill>
                    <a:latin typeface="Arial"/>
                  </a:rPr>
                  <a:t> with the </a:t>
                </a:r>
                <a:r>
                  <a:rPr lang="en-IN" sz="2400">
                    <a:solidFill>
                      <a:srgbClr val="111827"/>
                    </a:solidFill>
                    <a:latin typeface="Cambria Math" panose="02040503050406030204" pitchFamily="18" charset="0"/>
                  </a:rPr>
                  <a:t>$x$</a:t>
                </a:r>
                <a:r>
                  <a:rPr sz="2400" b="0">
                    <a:solidFill>
                      <a:srgbClr val="111827"/>
                    </a:solidFill>
                    <a:latin typeface="Arial"/>
                  </a:rPr>
                  <a:t>-axis (</a:t>
                </a:r>
                <a:r>
                  <a:rPr lang="en-IN" sz="2400">
                    <a:solidFill>
                      <a:srgbClr val="111827"/>
                    </a:solidFill>
                    <a:latin typeface="Cambria Math" panose="02040503050406030204" pitchFamily="18" charset="0"/>
                  </a:rPr>
                  <a:t>$\tan\theta=\frac1{\sqrt3}$</a:t>
                </a:r>
                <a:r>
                  <a:rPr sz="2400" b="0">
                    <a:solidFill>
                      <a:srgbClr val="111827"/>
                    </a:solidFill>
                    <a:latin typeface="Arial"/>
                  </a:rPr>
                  <a:t>), so </a:t>
                </a:r>
                <a:r>
                  <a:rPr lang="en-IN" sz="2400">
                    <a:solidFill>
                      <a:srgbClr val="111827"/>
                    </a:solidFill>
                    <a:latin typeface="Cambria Math" panose="02040503050406030204" pitchFamily="18" charset="0"/>
                  </a:rPr>
                  <a:t>$L_2$</a:t>
                </a:r>
                <a:r>
                  <a:rPr sz="2400" b="0">
                    <a:solidFill>
                      <a:srgbClr val="111827"/>
                    </a:solidFill>
                    <a:latin typeface="Arial"/>
                  </a:rPr>
                  <a:t> makes </a:t>
                </a:r>
                <a:r>
                  <a:rPr lang="en-IN" sz="2400">
                    <a:solidFill>
                      <a:srgbClr val="111827"/>
                    </a:solidFill>
                    <a:latin typeface="Cambria Math" panose="02040503050406030204" pitchFamily="18" charset="0"/>
                  </a:rPr>
                  <a:t>$60^\circ$</a:t>
                </a:r>
                <a:r>
                  <a:rPr sz="2400" b="0">
                    <a:solidFill>
                      <a:srgbClr val="111827"/>
                    </a:solidFill>
                    <a:latin typeface="Arial"/>
                  </a:rPr>
                  <a:t> with the positive </a:t>
                </a:r>
                <a:r>
                  <a:rPr lang="en-IN" sz="2400">
                    <a:solidFill>
                      <a:srgbClr val="111827"/>
                    </a:solidFill>
                    <a:latin typeface="Cambria Math" panose="02040503050406030204" pitchFamily="18" charset="0"/>
                  </a:rPr>
                  <a:t>$x$</a:t>
                </a:r>
                <a:r>
                  <a:rPr sz="2400" b="0">
                    <a:solidFill>
                      <a:srgbClr val="111827"/>
                    </a:solidFill>
                    <a:latin typeface="Arial"/>
                  </a:rPr>
                  <a:t>-axis.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image is therefore </a:t>
                </a:r>
                <a:r>
                  <a:rPr lang="en-IN" sz="2400">
                    <a:solidFill>
                      <a:srgbClr val="111827"/>
                    </a:solidFill>
                    <a:latin typeface="Cambria Math" panose="02040503050406030204" pitchFamily="18" charset="0"/>
                  </a:rPr>
                  <a:t>$(2\cos60^\circ,2\sin60^\circ)=(1,\sqrt3)$</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14:m>
                  <m:oMath xmlns:m="http://schemas.openxmlformats.org/officeDocument/2006/math">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r>
                      <m:rPr>
                        <m:sty m:val="p"/>
                      </m:rPr>
                      <a:rPr lang="en-IN" sz="2800">
                        <a:solidFill>
                          <a:srgbClr val="15803D"/>
                        </a:solidFill>
                        <a:latin typeface="Cambria Math" panose="02040503050406030204" pitchFamily="18" charset="0"/>
                      </a:rPr>
                      <m:t>,</m:t>
                    </m:r>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3</m:t>
                        </m:r>
                      </m:e>
                    </m:rad>
                    <m:r>
                      <m:rPr>
                        <m:sty m:val="p"/>
                      </m:rPr>
                      <a:rPr lang="en-IN" sz="2800">
                        <a:solidFill>
                          <a:srgbClr val="15803D"/>
                        </a:solidFill>
                        <a:latin typeface="Cambria Math" panose="02040503050406030204" pitchFamily="18" charset="0"/>
                      </a:rPr>
                      <m:t>)</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r>
                  <a:rPr lang="en-IN" sz="2800">
                    <a:solidFill>
                      <a:srgbClr val="15803D"/>
                    </a:solidFill>
                    <a:latin typeface="Cambria Math" panose="02040503050406030204" pitchFamily="18" charset="0"/>
                  </a:rPr>
                  <a:t>$(1,\sqrt3)$</a:t>
                </a:r>
                <a:endParaRPr sz="2800">
                  <a:solidFill>
                    <a:srgbClr val="15803D"/>
                  </a:solidFill>
                </a:endParaRPr>
              </a:p>
            </p:txBody>
          </p:sp>
        </mc:Fallback>
      </mc:AlternateContent>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Reflection in a line through the origin at angle </a:t>
                </a:r>
                <a14:m>
                  <m:oMath xmlns:m="http://schemas.openxmlformats.org/officeDocument/2006/math">
                    <m:r>
                      <a:rPr lang="en-IN" sz="2400" i="1">
                        <a:solidFill>
                          <a:srgbClr val="111827"/>
                        </a:solidFill>
                        <a:latin typeface="Cambria Math" panose="02040503050406030204" pitchFamily="18" charset="0"/>
                      </a:rPr>
                      <m:t>θ</m:t>
                    </m:r>
                  </m:oMath>
                </a14:m>
                <a:r>
                  <a:rPr sz="2400" b="0">
                    <a:solidFill>
                      <a:srgbClr val="111827"/>
                    </a:solidFill>
                    <a:latin typeface="Arial"/>
                  </a:rPr>
                  <a:t> takes the polar point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ϕ</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ϕ</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Image of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in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num>
                      <m:den>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bisector of </a:t>
                </a:r>
                <a14:m>
                  <m:oMath xmlns:m="http://schemas.openxmlformats.org/officeDocument/2006/math">
                    <m:sSub>
                      <m:e>
                        <m:r>
                          <a:rPr lang="en-IN" sz="2400" i="1">
                            <a:solidFill>
                              <a:srgbClr val="111827"/>
                            </a:solidFill>
                            <a:latin typeface="Cambria Math" panose="02040503050406030204" pitchFamily="18" charset="0"/>
                          </a:rPr>
                          <m:t>𝐿</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𝐿</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is the mirror that swaps them; so reflect a point of </a:t>
                </a:r>
                <a14:m>
                  <m:oMath xmlns:m="http://schemas.openxmlformats.org/officeDocument/2006/math">
                    <m:sSub>
                      <m:e>
                        <m:r>
                          <a:rPr lang="en-IN" sz="2400" i="1">
                            <a:solidFill>
                              <a:srgbClr val="111827"/>
                            </a:solidFill>
                            <a:latin typeface="Cambria Math" panose="02040503050406030204" pitchFamily="18" charset="0"/>
                          </a:rPr>
                          <m:t>𝐿</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to get a point of </a:t>
                </a:r>
                <a14:m>
                  <m:oMath xmlns:m="http://schemas.openxmlformats.org/officeDocument/2006/math">
                    <m:sSub>
                      <m:e>
                        <m:r>
                          <a:rPr lang="en-IN" sz="2400" i="1">
                            <a:solidFill>
                              <a:srgbClr val="111827"/>
                            </a:solidFill>
                            <a:latin typeface="Cambria Math" panose="02040503050406030204" pitchFamily="18" charset="0"/>
                          </a:rPr>
                          <m:t>𝐿</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complex form the reflection in the line at angle </a:t>
                </a:r>
                <a14:m>
                  <m:oMath xmlns:m="http://schemas.openxmlformats.org/officeDocument/2006/math">
                    <m:r>
                      <a:rPr lang="en-IN" sz="2400" i="1">
                        <a:solidFill>
                          <a:srgbClr val="111827"/>
                        </a:solidFill>
                        <a:latin typeface="Cambria Math" panose="02040503050406030204" pitchFamily="18" charset="0"/>
                      </a:rPr>
                      <m:t>θ</m:t>
                    </m:r>
                  </m:oMath>
                </a14:m>
                <a:r>
                  <a:rPr sz="2400" b="0">
                    <a:solidFill>
                      <a:srgbClr val="111827"/>
                    </a:solidFill>
                    <a:latin typeface="Arial"/>
                  </a:rPr>
                  <a:t> through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θ</m:t>
                        </m:r>
                      </m:sup>
                    </m:sSup>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oMath>
                </a14:m>
                <a:r>
                  <a:rPr sz="2400" b="0">
                    <a:solidFill>
                      <a:srgbClr val="111827"/>
                    </a:solidFill>
                    <a:latin typeface="Arial"/>
                  </a:rPr>
                  <a:t>; here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Reflection in a line through the origin at angle </a:t>
                </a:r>
                <a:r>
                  <a:rPr lang="en-IN" sz="2400">
                    <a:solidFill>
                      <a:srgbClr val="111827"/>
                    </a:solidFill>
                    <a:latin typeface="Cambria Math" panose="02040503050406030204" pitchFamily="18" charset="0"/>
                  </a:rPr>
                  <a:t>$\theta$</a:t>
                </a:r>
                <a:r>
                  <a:rPr sz="2400" b="0">
                    <a:solidFill>
                      <a:srgbClr val="111827"/>
                    </a:solidFill>
                    <a:latin typeface="Arial"/>
                  </a:rPr>
                  <a:t> takes the polar point </a:t>
                </a:r>
                <a:r>
                  <a:rPr lang="en-IN" sz="2400">
                    <a:solidFill>
                      <a:srgbClr val="111827"/>
                    </a:solidFill>
                    <a:latin typeface="Cambria Math" panose="02040503050406030204" pitchFamily="18" charset="0"/>
                  </a:rPr>
                  <a:t>$(r,\phi)$</a:t>
                </a:r>
                <a:r>
                  <a:rPr sz="2400" b="0">
                    <a:solidFill>
                      <a:srgbClr val="111827"/>
                    </a:solidFill>
                    <a:latin typeface="Arial"/>
                  </a:rPr>
                  <a:t> to </a:t>
                </a:r>
                <a:r>
                  <a:rPr lang="en-IN" sz="2400">
                    <a:solidFill>
                      <a:srgbClr val="111827"/>
                    </a:solidFill>
                    <a:latin typeface="Cambria Math" panose="02040503050406030204" pitchFamily="18" charset="0"/>
                  </a:rPr>
                  <a:t>$(r,2\theta-\phi)$</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Image of </a:t>
                </a:r>
                <a:r>
                  <a:rPr lang="en-IN" sz="2400">
                    <a:solidFill>
                      <a:srgbClr val="111827"/>
                    </a:solidFill>
                    <a:latin typeface="Cambria Math" panose="02040503050406030204" pitchFamily="18" charset="0"/>
                  </a:rPr>
                  <a:t>$(x_1,y_1)$</a:t>
                </a:r>
                <a:r>
                  <a:rPr sz="2400" b="0">
                    <a:solidFill>
                      <a:srgbClr val="111827"/>
                    </a:solidFill>
                    <a:latin typeface="Arial"/>
                  </a:rPr>
                  <a:t> in </a:t>
                </a:r>
                <a:r>
                  <a:rPr lang="en-IN" sz="2400">
                    <a:solidFill>
                      <a:srgbClr val="111827"/>
                    </a:solidFill>
                    <a:latin typeface="Cambria Math" panose="02040503050406030204" pitchFamily="18" charset="0"/>
                  </a:rPr>
                  <a:t>$ax+by+c=0$</a:t>
                </a:r>
                <a:r>
                  <a:rPr sz="2400" b="0">
                    <a:solidFill>
                      <a:srgbClr val="111827"/>
                    </a:solidFill>
                    <a:latin typeface="Arial"/>
                  </a:rPr>
                  <a:t>: </a:t>
                </a:r>
                <a:r>
                  <a:rPr lang="en-IN" sz="2400">
                    <a:solidFill>
                      <a:srgbClr val="111827"/>
                    </a:solidFill>
                    <a:latin typeface="Cambria Math" panose="02040503050406030204" pitchFamily="18" charset="0"/>
                  </a:rPr>
                  <a:t>$(x,y)=(x_1,y_1)-\frac{2(ax_1+by_1+c)}{a^2+b^2}(a,b)$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bisector of </a:t>
                </a:r>
                <a:r>
                  <a:rPr lang="en-IN" sz="2400">
                    <a:solidFill>
                      <a:srgbClr val="111827"/>
                    </a:solidFill>
                    <a:latin typeface="Cambria Math" panose="02040503050406030204" pitchFamily="18" charset="0"/>
                  </a:rPr>
                  <a:t>$L_1,L_2$</a:t>
                </a:r>
                <a:r>
                  <a:rPr sz="2400" b="0">
                    <a:solidFill>
                      <a:srgbClr val="111827"/>
                    </a:solidFill>
                    <a:latin typeface="Arial"/>
                  </a:rPr>
                  <a:t> is the mirror that swaps them; so reflect a point of </a:t>
                </a:r>
                <a:r>
                  <a:rPr lang="en-IN" sz="2400">
                    <a:solidFill>
                      <a:srgbClr val="111827"/>
                    </a:solidFill>
                    <a:latin typeface="Cambria Math" panose="02040503050406030204" pitchFamily="18" charset="0"/>
                  </a:rPr>
                  <a:t>$L_1$</a:t>
                </a:r>
                <a:r>
                  <a:rPr sz="2400" b="0">
                    <a:solidFill>
                      <a:srgbClr val="111827"/>
                    </a:solidFill>
                    <a:latin typeface="Arial"/>
                  </a:rPr>
                  <a:t> to get a point of </a:t>
                </a:r>
                <a:r>
                  <a:rPr lang="en-IN" sz="2400">
                    <a:solidFill>
                      <a:srgbClr val="111827"/>
                    </a:solidFill>
                    <a:latin typeface="Cambria Math" panose="02040503050406030204" pitchFamily="18" charset="0"/>
                  </a:rPr>
                  <a:t>$L_2$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complex form the reflection in the line at angle </a:t>
                </a:r>
                <a:r>
                  <a:rPr lang="en-IN" sz="2400">
                    <a:solidFill>
                      <a:srgbClr val="111827"/>
                    </a:solidFill>
                    <a:latin typeface="Cambria Math" panose="02040503050406030204" pitchFamily="18" charset="0"/>
                  </a:rPr>
                  <a:t>$\theta$</a:t>
                </a:r>
                <a:r>
                  <a:rPr sz="2400" b="0">
                    <a:solidFill>
                      <a:srgbClr val="111827"/>
                    </a:solidFill>
                    <a:latin typeface="Arial"/>
                  </a:rPr>
                  <a:t> through </a:t>
                </a:r>
                <a:r>
                  <a:rPr lang="en-IN" sz="2400">
                    <a:solidFill>
                      <a:srgbClr val="111827"/>
                    </a:solidFill>
                    <a:latin typeface="Cambria Math" panose="02040503050406030204" pitchFamily="18" charset="0"/>
                  </a:rPr>
                  <a:t>$0$</a:t>
                </a:r>
                <a:r>
                  <a:rPr sz="2400" b="0">
                    <a:solidFill>
                      <a:srgbClr val="111827"/>
                    </a:solidFill>
                    <a:latin typeface="Arial"/>
                  </a:rPr>
                  <a:t> is </a:t>
                </a:r>
                <a:r>
                  <a:rPr lang="en-IN" sz="2400">
                    <a:solidFill>
                      <a:srgbClr val="111827"/>
                    </a:solidFill>
                    <a:latin typeface="Cambria Math" panose="02040503050406030204" pitchFamily="18" charset="0"/>
                  </a:rPr>
                  <a:t>$z\mapsto e^{2i\theta}\bar z$</a:t>
                </a:r>
                <a:r>
                  <a:rPr sz="2400" b="0">
                    <a:solidFill>
                      <a:srgbClr val="111827"/>
                    </a:solidFill>
                    <a:latin typeface="Arial"/>
                  </a:rPr>
                  <a:t>; here </a:t>
                </a:r>
                <a:r>
                  <a:rPr lang="en-IN" sz="2400">
                    <a:solidFill>
                      <a:srgbClr val="111827"/>
                    </a:solidFill>
                    <a:latin typeface="Cambria Math" panose="02040503050406030204" pitchFamily="18" charset="0"/>
                  </a:rPr>
                  <a:t>$2\cdot e^{i\pi/3}\cdot1=1+i\sqrt3$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5105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Consider the limit </a:t>
                </a:r>
                <a14:m>
                  <m:oMath xmlns:m="http://schemas.openxmlformats.org/officeDocument/2006/math">
                    <m:r>
                      <a:rPr lang="en-IN" sz="2400" i="1">
                        <a:solidFill>
                          <a:srgbClr val="111827"/>
                        </a:solidFill>
                        <a:latin typeface="Cambria Math" panose="02040503050406030204" pitchFamily="18" charset="0"/>
                      </a:rPr>
                      <m:t>𝐿</m:t>
                    </m:r>
                    <m:r>
                      <m:rPr>
                        <m:sty m:val="p"/>
                      </m:rPr>
                      <a:rPr lang="en-IN" sz="2400">
                        <a:solidFill>
                          <a:srgbClr val="111827"/>
                        </a:solidFill>
                        <a:latin typeface="Cambria Math" panose="02040503050406030204" pitchFamily="18" charset="0"/>
                      </a:rPr>
                      <m:t>=</m:t>
                    </m:r>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Sub>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den>
                            </m:f>
                          </m:e>
                        </m:d>
                      </m:e>
                      <m: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sup>
                    </m:sSup>
                  </m:oMath>
                </a14:m>
                <a:r>
                  <a:rPr sz="2400" b="0">
                    <a:solidFill>
                      <a:srgbClr val="111827"/>
                    </a:solidFill>
                    <a:latin typeface="Arial"/>
                  </a:rPr>
                  <a:t>. Then the value of </a:t>
                </a:r>
                <a14:m>
                  <m:oMath xmlns:m="http://schemas.openxmlformats.org/officeDocument/2006/math">
                    <m:r>
                      <a:rPr lang="en-IN" sz="2400" i="1">
                        <a:solidFill>
                          <a:srgbClr val="111827"/>
                        </a:solidFill>
                        <a:latin typeface="Cambria Math" panose="02040503050406030204" pitchFamily="18" charset="0"/>
                      </a:rPr>
                      <m:t>𝐿</m:t>
                    </m:r>
                  </m:oMath>
                </a14:m>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sup>
                    </m:sSup>
                  </m:oMath>
                </a14:m>
                <a:r>
                  <a:rPr sz="2400" b="0">
                    <a:solidFill>
                      <a:srgbClr val="111827"/>
                    </a:solidFill>
                    <a:latin typeface="Arial"/>
                  </a:rPr>
                  <a:t>   (B) </a:t>
                </a:r>
                <a14:m>
                  <m:oMath xmlns:m="http://schemas.openxmlformats.org/officeDocument/2006/math">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sup>
                    </m:sSup>
                  </m:oMath>
                </a14:m>
                <a:r>
                  <a:rPr sz="2400" b="0">
                    <a:solidFill>
                      <a:srgbClr val="111827"/>
                    </a:solidFill>
                    <a:latin typeface="Arial"/>
                  </a:rPr>
                  <a:t>   (C) </a:t>
                </a:r>
                <a14:m>
                  <m:oMath xmlns:m="http://schemas.openxmlformats.org/officeDocument/2006/math">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6</m:t>
                            </m:r>
                          </m:den>
                        </m:f>
                      </m:sup>
                    </m:sSup>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1</m:t>
                    </m:r>
                  </m:oMath>
                </a14:m>
                <a:endParaRPr sz="2400">
                  <a:solidFill>
                    <a:srgbClr val="111827"/>
                  </a:solidFill>
                </a:endParaRPr>
              </a:p>
            </p:txBody>
          </p:sp>
        </mc:Choice>
        <mc:Fallback>
          <p:sp>
            <p:nvSpPr>
              <p:cNvPr id="4" name="Rounded Rectangle 3"/>
              <p:cNvSpPr/>
              <p:nvPr/>
            </p:nvSpPr>
            <p:spPr>
              <a:xfrm>
                <a:off x="731520" y="1280160"/>
                <a:ext cx="10725912" cy="25105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Consider the limit </a:t>
                </a:r>
                <a:r>
                  <a:rPr lang="en-IN" sz="2400">
                    <a:solidFill>
                      <a:srgbClr val="111827"/>
                    </a:solidFill>
                    <a:latin typeface="Cambria Math" panose="02040503050406030204" pitchFamily="18" charset="0"/>
                  </a:rPr>
                  <a:t>$L=\lim_{x\to0}\left(\frac{e^x\cos x-1}{x}\right)^{\frac1{x^2}}$</a:t>
                </a:r>
                <a:r>
                  <a:rPr sz="2400" b="0">
                    <a:solidFill>
                      <a:srgbClr val="111827"/>
                    </a:solidFill>
                    <a:latin typeface="Arial"/>
                  </a:rPr>
                  <a:t>. Then the value of </a:t>
                </a:r>
                <a:r>
                  <a:rPr lang="en-IN" sz="2400">
                    <a:solidFill>
                      <a:srgbClr val="111827"/>
                    </a:solidFill>
                    <a:latin typeface="Cambria Math" panose="02040503050406030204" pitchFamily="18" charset="0"/>
                  </a:rPr>
                  <a:t>$L$</a:t>
                </a:r>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$e^{-\frac12}$</a:t>
                </a:r>
                <a:r>
                  <a:rPr sz="2400" b="0">
                    <a:solidFill>
                      <a:srgbClr val="111827"/>
                    </a:solidFill>
                    <a:latin typeface="Arial"/>
                  </a:rPr>
                  <a:t>   (B) </a:t>
                </a:r>
                <a:r>
                  <a:rPr lang="en-IN" sz="2400">
                    <a:solidFill>
                      <a:srgbClr val="111827"/>
                    </a:solidFill>
                    <a:latin typeface="Cambria Math" panose="02040503050406030204" pitchFamily="18" charset="0"/>
                  </a:rPr>
                  <a:t>$e^{-\frac13}$</a:t>
                </a:r>
                <a:r>
                  <a:rPr sz="2400" b="0">
                    <a:solidFill>
                      <a:srgbClr val="111827"/>
                    </a:solidFill>
                    <a:latin typeface="Arial"/>
                  </a:rPr>
                  <a:t>   (C) </a:t>
                </a:r>
                <a:r>
                  <a:rPr lang="en-IN" sz="2400">
                    <a:solidFill>
                      <a:srgbClr val="111827"/>
                    </a:solidFill>
                    <a:latin typeface="Cambria Math" panose="02040503050406030204" pitchFamily="18" charset="0"/>
                  </a:rPr>
                  <a:t>$e^{-\frac16}$</a:t>
                </a:r>
                <a:r>
                  <a:rPr sz="2400" b="0">
                    <a:solidFill>
                      <a:srgbClr val="111827"/>
                    </a:solidFill>
                    <a:latin typeface="Arial"/>
                  </a:rPr>
                  <a:t>   (D) </a:t>
                </a:r>
                <a:r>
                  <a:rPr lang="en-IN" sz="2400">
                    <a:solidFill>
                      <a:srgbClr val="111827"/>
                    </a:solidFill>
                    <a:latin typeface="Cambria Math" panose="02040503050406030204" pitchFamily="18" charset="0"/>
                  </a:rPr>
                  <a:t>$1$</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4019295"/>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a:t>
                </a:r>
                <a14:m>
                  <m:oMath xmlns:m="http://schemas.openxmlformats.org/officeDocument/2006/math">
                    <m:sSup>
                      <m:e>
                        <m:r>
                          <a:rPr lang="en-IN" sz="2400" i="1">
                            <a:solidFill>
                              <a:srgbClr val="111827"/>
                            </a:solidFill>
                            <a:latin typeface="Cambria Math" panose="02040503050406030204" pitchFamily="18" charset="0"/>
                          </a:rPr>
                          <m:t>1</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form limits and Maclaurin series expansion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mc:Choice>
        <mc:Fallback>
          <p:sp>
            <p:nvSpPr>
              <p:cNvPr id="5" name="Rectangle 4"/>
              <p:cNvSpPr/>
              <p:nvPr/>
            </p:nvSpPr>
            <p:spPr>
              <a:xfrm>
                <a:off x="731520" y="4019295"/>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a:t>
                </a:r>
                <a:r>
                  <a:rPr lang="en-IN" sz="2400">
                    <a:solidFill>
                      <a:srgbClr val="111827"/>
                    </a:solidFill>
                    <a:latin typeface="Cambria Math" panose="02040503050406030204" pitchFamily="18" charset="0"/>
                  </a:rPr>
                  <a:t>$1^\infty$</a:t>
                </a:r>
                <a:r>
                  <a:rPr sz="2400" b="0">
                    <a:solidFill>
                      <a:srgbClr val="111827"/>
                    </a:solidFill>
                    <a:latin typeface="Arial"/>
                  </a:rPr>
                  <a:t> form limits and Maclaurin series expansion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mc:Fallback>
      </mc:AlternateContent>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For the </a:t>
                </a:r>
                <a14:m>
                  <m:oMath xmlns:m="http://schemas.openxmlformats.org/officeDocument/2006/math">
                    <m:sSup>
                      <m:e>
                        <m:r>
                          <a:rPr lang="en-IN" sz="2400" i="1">
                            <a:solidFill>
                              <a:srgbClr val="78350F"/>
                            </a:solidFill>
                            <a:latin typeface="Cambria Math" panose="02040503050406030204" pitchFamily="18" charset="0"/>
                          </a:rPr>
                          <m:t>1</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 form </a:t>
                </a:r>
                <a14:m>
                  <m:oMath xmlns:m="http://schemas.openxmlformats.org/officeDocument/2006/math">
                    <m:r>
                      <a:rPr lang="en-IN" sz="2400" i="1">
                        <a:solidFill>
                          <a:srgbClr val="78350F"/>
                        </a:solidFill>
                        <a:latin typeface="Cambria Math" panose="02040503050406030204" pitchFamily="18" charset="0"/>
                      </a:rPr>
                      <m:t>𝐿</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𝑒</m:t>
                        </m:r>
                      </m:e>
                      <m:sup>
                        <m:r>
                          <a:rPr lang="en-IN" sz="2400" i="1">
                            <a:solidFill>
                              <a:srgbClr val="78350F"/>
                            </a:solidFill>
                            <a:latin typeface="Cambria Math" panose="02040503050406030204" pitchFamily="18" charset="0"/>
                          </a:rPr>
                          <m:t>𝐾</m:t>
                        </m:r>
                      </m:sup>
                    </m:sSup>
                  </m:oMath>
                </a14:m>
                <a:r>
                  <a:rPr sz="2400" b="0">
                    <a:solidFill>
                      <a:srgbClr val="78350F"/>
                    </a:solidFill>
                    <a:latin typeface="Arial"/>
                  </a:rPr>
                  <a:t> with </a:t>
                </a:r>
                <a14:m>
                  <m:oMath xmlns:m="http://schemas.openxmlformats.org/officeDocument/2006/math">
                    <m:r>
                      <a:rPr lang="en-IN" sz="2400" i="1">
                        <a:solidFill>
                          <a:srgbClr val="78350F"/>
                        </a:solidFill>
                        <a:latin typeface="Cambria Math" panose="02040503050406030204" pitchFamily="18" charset="0"/>
                      </a:rPr>
                      <m:t>𝐾</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lim</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den>
                    </m:f>
                    <m:d>
                      <m:dPr>
                        <m:begChr m:val="("/>
                        <m:sepChr m:val=""/>
                        <m:endChr m:val=")"/>
                        <m:grow/>
                        <m:ctrlPr>
                          <a:rPr lang="en-IN" sz="2400" i="1">
                            <a:solidFill>
                              <a:srgbClr val="78350F"/>
                            </a:solidFill>
                            <a:latin typeface="Cambria Math" panose="02040503050406030204" pitchFamily="18" charset="0"/>
                          </a:rPr>
                        </m:ctrlPr>
                      </m:dPr>
                      <m:e>
                        <m:r>
                          <m:rPr>
                            <m:nor/>
                          </m:rPr>
                          <a:rPr lang="en-IN" sz="2400" i="1">
                            <a:solidFill>
                              <a:srgbClr val="78350F"/>
                            </a:solidFill>
                            <a:latin typeface="Cambria Math" panose="02040503050406030204" pitchFamily="18" charset="0"/>
                          </a:rPr>
                          <m:t>𝑏𝑎𝑠𝑒</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e>
                    </m:d>
                  </m:oMath>
                </a14:m>
                <a:r>
                  <a:rPr sz="2400" b="0">
                    <a:solidFill>
                      <a:srgbClr val="78350F"/>
                    </a:solidFill>
                    <a:latin typeface="Arial"/>
                  </a:rPr>
                  <a:t>; expand </a:t>
                </a:r>
                <a14:m>
                  <m:oMath xmlns:m="http://schemas.openxmlformats.org/officeDocument/2006/math">
                    <m:sSup>
                      <m:e>
                        <m:r>
                          <a:rPr lang="en-IN" sz="2400" i="1">
                            <a:solidFill>
                              <a:srgbClr val="78350F"/>
                            </a:solidFill>
                            <a:latin typeface="Cambria Math" panose="02040503050406030204" pitchFamily="18" charset="0"/>
                          </a:rPr>
                          <m:t>𝑒</m:t>
                        </m:r>
                      </m:e>
                      <m:sup>
                        <m:r>
                          <a:rPr lang="en-IN" sz="2400" i="1">
                            <a:solidFill>
                              <a:srgbClr val="78350F"/>
                            </a:solidFill>
                            <a:latin typeface="Cambria Math" panose="02040503050406030204" pitchFamily="18" charset="0"/>
                          </a:rPr>
                          <m:t>𝑥</m:t>
                        </m:r>
                      </m:sup>
                    </m:sSup>
                    <m:r>
                      <m:rPr>
                        <m:sty m:val="p"/>
                      </m:rPr>
                      <a:rPr lang="en-IN" sz="2400">
                        <a:solidFill>
                          <a:srgbClr val="78350F"/>
                        </a:solidFill>
                        <a:latin typeface="Cambria Math" panose="02040503050406030204" pitchFamily="18" charset="0"/>
                      </a:rPr>
                      <m:t>cos</m:t>
                    </m:r>
                    <m:r>
                      <a:rPr lang="en-IN" sz="2400" i="1">
                        <a:solidFill>
                          <a:srgbClr val="78350F"/>
                        </a:solidFill>
                        <a:latin typeface="Cambria Math" panose="02040503050406030204" pitchFamily="18" charset="0"/>
                      </a:rPr>
                      <m:t>𝑥</m:t>
                    </m:r>
                  </m:oMath>
                </a14:m>
                <a:r>
                  <a:rPr sz="2400" b="0">
                    <a:solidFill>
                      <a:srgbClr val="78350F"/>
                    </a:solidFill>
                    <a:latin typeface="Arial"/>
                  </a:rPr>
                  <a:t> to </a:t>
                </a:r>
                <a14:m>
                  <m:oMath xmlns:m="http://schemas.openxmlformats.org/officeDocument/2006/math">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3</m:t>
                        </m:r>
                      </m:sup>
                    </m:sSup>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For the </a:t>
                </a:r>
                <a:r>
                  <a:rPr lang="en-IN" sz="2400">
                    <a:solidFill>
                      <a:srgbClr val="78350F"/>
                    </a:solidFill>
                    <a:latin typeface="Cambria Math" panose="02040503050406030204" pitchFamily="18" charset="0"/>
                  </a:rPr>
                  <a:t>$1^\infty$</a:t>
                </a:r>
                <a:r>
                  <a:rPr sz="2400" b="0">
                    <a:solidFill>
                      <a:srgbClr val="78350F"/>
                    </a:solidFill>
                    <a:latin typeface="Arial"/>
                  </a:rPr>
                  <a:t> form </a:t>
                </a:r>
                <a:r>
                  <a:rPr lang="en-IN" sz="2400">
                    <a:solidFill>
                      <a:srgbClr val="78350F"/>
                    </a:solidFill>
                    <a:latin typeface="Cambria Math" panose="02040503050406030204" pitchFamily="18" charset="0"/>
                  </a:rPr>
                  <a:t>$L=e^K$</a:t>
                </a:r>
                <a:r>
                  <a:rPr sz="2400" b="0">
                    <a:solidFill>
                      <a:srgbClr val="78350F"/>
                    </a:solidFill>
                    <a:latin typeface="Arial"/>
                  </a:rPr>
                  <a:t> with </a:t>
                </a:r>
                <a:r>
                  <a:rPr lang="en-IN" sz="2400">
                    <a:solidFill>
                      <a:srgbClr val="78350F"/>
                    </a:solidFill>
                    <a:latin typeface="Cambria Math" panose="02040503050406030204" pitchFamily="18" charset="0"/>
                  </a:rPr>
                  <a:t>$K=\lim\frac1{x^2}\left(\text{base}-1\right)$</a:t>
                </a:r>
                <a:r>
                  <a:rPr sz="2400" b="0">
                    <a:solidFill>
                      <a:srgbClr val="78350F"/>
                    </a:solidFill>
                    <a:latin typeface="Arial"/>
                  </a:rPr>
                  <a:t>; expand </a:t>
                </a:r>
                <a:r>
                  <a:rPr lang="en-IN" sz="2400">
                    <a:solidFill>
                      <a:srgbClr val="78350F"/>
                    </a:solidFill>
                    <a:latin typeface="Cambria Math" panose="02040503050406030204" pitchFamily="18" charset="0"/>
                  </a:rPr>
                  <a:t>$e^x\cos x$</a:t>
                </a:r>
                <a:r>
                  <a:rPr sz="2400" b="0">
                    <a:solidFill>
                      <a:srgbClr val="78350F"/>
                    </a:solidFill>
                    <a:latin typeface="Arial"/>
                  </a:rPr>
                  <a:t> to </a:t>
                </a:r>
                <a:r>
                  <a:rPr lang="en-IN" sz="2400">
                    <a:solidFill>
                      <a:srgbClr val="78350F"/>
                    </a:solidFill>
                    <a:latin typeface="Cambria Math" panose="02040503050406030204" pitchFamily="18" charset="0"/>
                  </a:rPr>
                  <a:t>$x^3$</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limit is of the form </a:t>
                </a:r>
                <a14:m>
                  <m:oMath xmlns:m="http://schemas.openxmlformats.org/officeDocument/2006/math">
                    <m:sSup>
                      <m:e>
                        <m:r>
                          <a:rPr lang="en-IN" sz="2400" i="1">
                            <a:solidFill>
                              <a:srgbClr val="111827"/>
                            </a:solidFill>
                            <a:latin typeface="Cambria Math" panose="02040503050406030204" pitchFamily="18" charset="0"/>
                          </a:rPr>
                          <m:t>1</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since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Using the </a:t>
                </a:r>
                <a14:m>
                  <m:oMath xmlns:m="http://schemas.openxmlformats.org/officeDocument/2006/math">
                    <m:sSup>
                      <m:e>
                        <m:r>
                          <a:rPr lang="en-IN" sz="2400" i="1">
                            <a:solidFill>
                              <a:srgbClr val="111827"/>
                            </a:solidFill>
                            <a:latin typeface="Cambria Math" panose="02040503050406030204" pitchFamily="18" charset="0"/>
                          </a:rPr>
                          <m:t>1</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property, </a:t>
                </a:r>
                <a14:m>
                  <m:oMath xmlns:m="http://schemas.openxmlformats.org/officeDocument/2006/math">
                    <m:r>
                      <a:rPr lang="en-IN" sz="2400" i="1">
                        <a:solidFill>
                          <a:srgbClr val="111827"/>
                        </a:solidFill>
                        <a:latin typeface="Cambria Math" panose="02040503050406030204" pitchFamily="18" charset="0"/>
                      </a:rPr>
                      <m:t>𝐿</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𝐾</m:t>
                        </m:r>
                      </m:sup>
                    </m:sSup>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𝐾</m:t>
                    </m:r>
                    <m:r>
                      <m:rPr>
                        <m:sty m:val="p"/>
                      </m:rPr>
                      <a:rPr lang="en-IN" sz="2400">
                        <a:solidFill>
                          <a:srgbClr val="111827"/>
                        </a:solidFill>
                        <a:latin typeface="Cambria Math" panose="02040503050406030204" pitchFamily="18" charset="0"/>
                      </a:rPr>
                      <m:t>=</m:t>
                    </m:r>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Sub>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r>
                      <m:rPr>
                        <m:sty m:val="p"/>
                      </m:rPr>
                      <a:rPr lang="en-IN" sz="2400">
                        <a:solidFill>
                          <a:srgbClr val="111827"/>
                        </a:solidFill>
                        <a:latin typeface="Cambria Math" panose="02040503050406030204" pitchFamily="18" charset="0"/>
                      </a:rPr>
                      <m:t>=</m:t>
                    </m:r>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Sub>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Maclaurin series: </a:t>
                </a:r>
                <a14:m>
                  <m:oMath xmlns:m="http://schemas.openxmlformats.org/officeDocument/2006/math">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e>
                    </m:d>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e>
                    </m:d>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limit is of the form </a:t>
                </a:r>
                <a:r>
                  <a:rPr lang="en-IN" sz="2400">
                    <a:solidFill>
                      <a:srgbClr val="111827"/>
                    </a:solidFill>
                    <a:latin typeface="Cambria Math" panose="02040503050406030204" pitchFamily="18" charset="0"/>
                  </a:rPr>
                  <a:t>$1^\infty$</a:t>
                </a:r>
                <a:r>
                  <a:rPr sz="2400" b="0">
                    <a:solidFill>
                      <a:srgbClr val="111827"/>
                    </a:solidFill>
                    <a:latin typeface="Arial"/>
                  </a:rPr>
                  <a:t>, since </a:t>
                </a:r>
                <a:r>
                  <a:rPr lang="en-IN" sz="2400">
                    <a:solidFill>
                      <a:srgbClr val="111827"/>
                    </a:solidFill>
                    <a:latin typeface="Cambria Math" panose="02040503050406030204" pitchFamily="18" charset="0"/>
                  </a:rPr>
                  <a:t>$\frac{e^x\cos x-1}x\to1$</a:t>
                </a:r>
                <a:r>
                  <a:rPr sz="2400" b="0">
                    <a:solidFill>
                      <a:srgbClr val="111827"/>
                    </a:solidFill>
                    <a:latin typeface="Arial"/>
                  </a:rPr>
                  <a:t> and </a:t>
                </a:r>
                <a:r>
                  <a:rPr lang="en-IN" sz="2400">
                    <a:solidFill>
                      <a:srgbClr val="111827"/>
                    </a:solidFill>
                    <a:latin typeface="Cambria Math" panose="02040503050406030204" pitchFamily="18" charset="0"/>
                  </a:rPr>
                  <a:t>$\frac1{x^2}\to\infty$</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Using the </a:t>
                </a:r>
                <a:r>
                  <a:rPr lang="en-IN" sz="2400">
                    <a:solidFill>
                      <a:srgbClr val="111827"/>
                    </a:solidFill>
                    <a:latin typeface="Cambria Math" panose="02040503050406030204" pitchFamily="18" charset="0"/>
                  </a:rPr>
                  <a:t>$1^\infty$</a:t>
                </a:r>
                <a:r>
                  <a:rPr sz="2400" b="0">
                    <a:solidFill>
                      <a:srgbClr val="111827"/>
                    </a:solidFill>
                    <a:latin typeface="Arial"/>
                  </a:rPr>
                  <a:t> property, </a:t>
                </a:r>
                <a:r>
                  <a:rPr lang="en-IN" sz="2400">
                    <a:solidFill>
                      <a:srgbClr val="111827"/>
                    </a:solidFill>
                    <a:latin typeface="Cambria Math" panose="02040503050406030204" pitchFamily="18" charset="0"/>
                  </a:rPr>
                  <a:t>$L=e^K$</a:t>
                </a:r>
                <a:r>
                  <a:rPr sz="2400" b="0">
                    <a:solidFill>
                      <a:srgbClr val="111827"/>
                    </a:solidFill>
                    <a:latin typeface="Arial"/>
                  </a:rPr>
                  <a:t> where </a:t>
                </a:r>
                <a:r>
                  <a:rPr lang="en-IN" sz="2400">
                    <a:solidFill>
                      <a:srgbClr val="111827"/>
                    </a:solidFill>
                    <a:latin typeface="Cambria Math" panose="02040503050406030204" pitchFamily="18" charset="0"/>
                  </a:rPr>
                  <a:t>$K=\lim_{x\to0}\frac1{x^2}\left(\frac{e^x\cos x-1}x-1\right)=\lim_{x\to0}\frac{e^x\cos x-1-x}{x^3}$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Maclaurin series: </a:t>
                </a:r>
                <a:r>
                  <a:rPr lang="en-IN" sz="2400">
                    <a:solidFill>
                      <a:srgbClr val="111827"/>
                    </a:solidFill>
                    <a:latin typeface="Cambria Math" panose="02040503050406030204" pitchFamily="18" charset="0"/>
                  </a:rPr>
                  <a:t>$e^x\cos x=\left(1+x+\frac{x^2}2+\frac{x^3}6+\dots\right)\left(1-\frac{x^2}2+\dots\right)$</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Multiplying: </a:t>
                </a:r>
                <a14:m>
                  <m:oMath xmlns:m="http://schemas.openxmlformats.org/officeDocument/2006/math">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terms cancel: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Substituting: </a:t>
                </a:r>
                <a14:m>
                  <m:oMath xmlns:m="http://schemas.openxmlformats.org/officeDocument/2006/math">
                    <m:r>
                      <a:rPr lang="en-IN" sz="2400" i="1">
                        <a:solidFill>
                          <a:srgbClr val="111827"/>
                        </a:solidFill>
                        <a:latin typeface="Cambria Math" panose="02040503050406030204" pitchFamily="18" charset="0"/>
                      </a:rPr>
                      <m:t>𝐾</m:t>
                    </m:r>
                    <m:r>
                      <m:rPr>
                        <m:sty m:val="p"/>
                      </m:rPr>
                      <a:rPr lang="en-IN" sz="2400">
                        <a:solidFill>
                          <a:srgbClr val="111827"/>
                        </a:solidFill>
                        <a:latin typeface="Cambria Math" panose="02040503050406030204" pitchFamily="18" charset="0"/>
                      </a:rPr>
                      <m:t>=</m:t>
                    </m:r>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Sub>
                    <m:f>
                      <m:fPr>
                        <m:type m:val="bar"/>
                        <m:ctrlPr>
                          <a:rPr lang="en-IN" sz="2400" i="1">
                            <a:solidFill>
                              <a:srgbClr val="111827"/>
                            </a:solidFill>
                            <a:latin typeface="Cambria Math" panose="02040503050406030204" pitchFamily="18" charset="0"/>
                          </a:rPr>
                        </m:ctrlPr>
                      </m:fPr>
                      <m:num>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den>
                    </m:f>
                    <m:r>
                      <m:rPr>
                        <m:sty m:val="p"/>
                      </m:rPr>
                      <a:rPr lang="en-IN" sz="2400">
                        <a:solidFill>
                          <a:srgbClr val="111827"/>
                        </a:solidFill>
                        <a:latin typeface="Cambria Math" panose="02040503050406030204" pitchFamily="18" charset="0"/>
                      </a:rPr>
                      <m:t>=</m:t>
                    </m:r>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Sub>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𝐿</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sup>
                    </m:sSup>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Multiplying: </a:t>
                </a:r>
                <a:r>
                  <a:rPr lang="en-IN" sz="2400">
                    <a:solidFill>
                      <a:srgbClr val="111827"/>
                    </a:solidFill>
                    <a:latin typeface="Cambria Math" panose="02040503050406030204" pitchFamily="18" charset="0"/>
                  </a:rPr>
                  <a:t>$e^x\cos x=1+x-\frac{x^3}3+\dots$</a:t>
                </a:r>
                <a:r>
                  <a:rPr sz="2400" b="0">
                    <a:solidFill>
                      <a:srgbClr val="111827"/>
                    </a:solidFill>
                    <a:latin typeface="Arial"/>
                  </a:rPr>
                  <a:t> (the </a:t>
                </a:r>
                <a:r>
                  <a:rPr lang="en-IN" sz="2400">
                    <a:solidFill>
                      <a:srgbClr val="111827"/>
                    </a:solidFill>
                    <a:latin typeface="Cambria Math" panose="02040503050406030204" pitchFamily="18" charset="0"/>
                  </a:rPr>
                  <a:t>$x^2$</a:t>
                </a:r>
                <a:r>
                  <a:rPr sz="2400" b="0">
                    <a:solidFill>
                      <a:srgbClr val="111827"/>
                    </a:solidFill>
                    <a:latin typeface="Arial"/>
                  </a:rPr>
                  <a:t> terms cancel: </a:t>
                </a:r>
                <a:r>
                  <a:rPr lang="en-IN" sz="2400">
                    <a:solidFill>
                      <a:srgbClr val="111827"/>
                    </a:solidFill>
                    <a:latin typeface="Cambria Math" panose="02040503050406030204" pitchFamily="18" charset="0"/>
                  </a:rPr>
                  <a:t>$\frac{x^2}2-\frac{x^2}2=0$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Substituting: </a:t>
                </a:r>
                <a:r>
                  <a:rPr lang="en-IN" sz="2400">
                    <a:solidFill>
                      <a:srgbClr val="111827"/>
                    </a:solidFill>
                    <a:latin typeface="Cambria Math" panose="02040503050406030204" pitchFamily="18" charset="0"/>
                  </a:rPr>
                  <a:t>$K=\lim_{x\to0}\frac{\left(1+x-\frac{x^3}3+\dots\right)-1-x}{x^3}=\lim_{x\to0}\frac{-\frac{x^3}3+\dots}{x^3}=-\frac13$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$L=e^{-\frac13}$</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14:m>
                  <m:oMath xmlns:m="http://schemas.openxmlformats.org/officeDocument/2006/math">
                    <m:sSup>
                      <m:e>
                        <m:r>
                          <a:rPr lang="en-IN" sz="2800" i="1">
                            <a:solidFill>
                              <a:srgbClr val="15803D"/>
                            </a:solidFill>
                            <a:latin typeface="Cambria Math" panose="02040503050406030204" pitchFamily="18" charset="0"/>
                          </a:rPr>
                          <m:t>𝑒</m:t>
                        </m:r>
                      </m:e>
                      <m:sup>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m:t>
                            </m:r>
                          </m:num>
                          <m:den>
                            <m:r>
                              <a:rPr lang="en-IN" sz="2800" i="1">
                                <a:solidFill>
                                  <a:srgbClr val="15803D"/>
                                </a:solidFill>
                                <a:latin typeface="Cambria Math" panose="02040503050406030204" pitchFamily="18" charset="0"/>
                              </a:rPr>
                              <m:t>3</m:t>
                            </m:r>
                          </m:den>
                        </m:f>
                      </m:sup>
                    </m:sSup>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r>
                  <a:rPr lang="en-IN" sz="2800">
                    <a:solidFill>
                      <a:srgbClr val="15803D"/>
                    </a:solidFill>
                    <a:latin typeface="Cambria Math" panose="02040503050406030204" pitchFamily="18" charset="0"/>
                  </a:rPr>
                  <a:t>$e^{-\frac13}$</a:t>
                </a:r>
                <a:endParaRPr sz="2800">
                  <a:solidFill>
                    <a:srgbClr val="15803D"/>
                  </a:solidFill>
                </a:endParaRPr>
              </a:p>
            </p:txBody>
          </p:sp>
        </mc:Fallback>
      </mc:AlternateContent>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Write </a:t>
                </a:r>
                <a14:m>
                  <m:oMath xmlns:m="http://schemas.openxmlformats.org/officeDocument/2006/math">
                    <m:sSup>
                      <m:e>
                        <m:r>
                          <a:rPr lang="en-IN" sz="2400" i="1">
                            <a:solidFill>
                              <a:srgbClr val="78350F"/>
                            </a:solidFill>
                            <a:latin typeface="Cambria Math" panose="02040503050406030204" pitchFamily="18" charset="0"/>
                          </a:rPr>
                          <m:t>𝑒</m:t>
                        </m:r>
                      </m:e>
                      <m:sup>
                        <m:r>
                          <a:rPr lang="en-IN" sz="2400" i="1">
                            <a:solidFill>
                              <a:srgbClr val="78350F"/>
                            </a:solidFill>
                            <a:latin typeface="Cambria Math" panose="02040503050406030204" pitchFamily="18" charset="0"/>
                          </a:rPr>
                          <m:t>𝑥</m:t>
                        </m:r>
                      </m:sup>
                    </m:sSup>
                    <m:r>
                      <m:rPr>
                        <m:sty m:val="p"/>
                      </m:rPr>
                      <a:rPr lang="en-IN" sz="2400">
                        <a:solidFill>
                          <a:srgbClr val="78350F"/>
                        </a:solidFill>
                        <a:latin typeface="Cambria Math" panose="02040503050406030204" pitchFamily="18" charset="0"/>
                      </a:rPr>
                      <m:t>cos</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Re</m:t>
                    </m:r>
                    <m:r>
                      <a:rPr lang="en-IN" sz="2400" i="1">
                        <a:solidFill>
                          <a:srgbClr val="78350F"/>
                        </a:solidFill>
                        <a:latin typeface="Cambria Math" panose="02040503050406030204" pitchFamily="18" charset="0"/>
                      </a:rPr>
                      <m:t> </m:t>
                    </m:r>
                    <m:sSup>
                      <m:e>
                        <m:r>
                          <a:rPr lang="en-IN" sz="2400" i="1">
                            <a:solidFill>
                              <a:srgbClr val="78350F"/>
                            </a:solidFill>
                            <a:latin typeface="Cambria Math" panose="02040503050406030204" pitchFamily="18" charset="0"/>
                          </a:rPr>
                          <m:t>𝑒</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𝑖</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sup>
                    </m:sSup>
                  </m:oMath>
                </a14:m>
                <a:r>
                  <a:rPr sz="2400" b="0">
                    <a:solidFill>
                      <a:srgbClr val="78350F"/>
                    </a:solidFill>
                    <a:latin typeface="Arial"/>
                  </a:rPr>
                  <a:t>, so the </a:t>
                </a:r>
                <a14:m>
                  <m:oMath xmlns:m="http://schemas.openxmlformats.org/officeDocument/2006/math">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3</m:t>
                        </m:r>
                      </m:sup>
                    </m:sSup>
                  </m:oMath>
                </a14:m>
                <a:r>
                  <a:rPr sz="2400" b="0">
                    <a:solidFill>
                      <a:srgbClr val="78350F"/>
                    </a:solidFill>
                    <a:latin typeface="Arial"/>
                  </a:rPr>
                  <a:t> coefficient is </a:t>
                </a:r>
                <a14:m>
                  <m:oMath xmlns:m="http://schemas.openxmlformats.org/officeDocument/2006/math">
                    <m:r>
                      <m:rPr>
                        <m:sty m:val="p"/>
                      </m:rPr>
                      <a:rPr lang="en-IN" sz="2400">
                        <a:solidFill>
                          <a:srgbClr val="78350F"/>
                        </a:solidFill>
                        <a:latin typeface="Cambria Math" panose="02040503050406030204" pitchFamily="18" charset="0"/>
                      </a:rPr>
                      <m:t>Re</m:t>
                    </m:r>
                    <m:f>
                      <m:fPr>
                        <m:type m:val="bar"/>
                        <m:ctrlPr>
                          <a:rPr lang="en-IN" sz="2400" i="1">
                            <a:solidFill>
                              <a:srgbClr val="78350F"/>
                            </a:solidFill>
                            <a:latin typeface="Cambria Math" panose="02040503050406030204" pitchFamily="18" charset="0"/>
                          </a:rPr>
                        </m:ctrlPr>
                      </m:fPr>
                      <m:num>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𝑖</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3</m:t>
                            </m:r>
                          </m:sup>
                        </m:sSup>
                      </m:num>
                      <m:den>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den>
                    </m:f>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Write </a:t>
                </a:r>
                <a:r>
                  <a:rPr lang="en-IN" sz="2400">
                    <a:solidFill>
                      <a:srgbClr val="78350F"/>
                    </a:solidFill>
                    <a:latin typeface="Cambria Math" panose="02040503050406030204" pitchFamily="18" charset="0"/>
                  </a:rPr>
                  <a:t>$e^x\cos x=\operatorname{Re}\,e^{(1+i)x}$</a:t>
                </a:r>
                <a:r>
                  <a:rPr sz="2400" b="0">
                    <a:solidFill>
                      <a:srgbClr val="78350F"/>
                    </a:solidFill>
                    <a:latin typeface="Arial"/>
                  </a:rPr>
                  <a:t>, so the </a:t>
                </a:r>
                <a:r>
                  <a:rPr lang="en-IN" sz="2400">
                    <a:solidFill>
                      <a:srgbClr val="78350F"/>
                    </a:solidFill>
                    <a:latin typeface="Cambria Math" panose="02040503050406030204" pitchFamily="18" charset="0"/>
                  </a:rPr>
                  <a:t>$x^3$</a:t>
                </a:r>
                <a:r>
                  <a:rPr sz="2400" b="0">
                    <a:solidFill>
                      <a:srgbClr val="78350F"/>
                    </a:solidFill>
                    <a:latin typeface="Arial"/>
                  </a:rPr>
                  <a:t> coefficient is </a:t>
                </a:r>
                <a:r>
                  <a:rPr lang="en-IN" sz="2400">
                    <a:solidFill>
                      <a:srgbClr val="78350F"/>
                    </a:solidFill>
                    <a:latin typeface="Cambria Math" panose="02040503050406030204" pitchFamily="18" charset="0"/>
                  </a:rPr>
                  <a:t>$\operatorname{Re}\frac{(1+i)^3}{3!}$</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636520"/>
                <a:ext cx="10725912" cy="315163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Re</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Re</m:t>
                    </m:r>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𝑛</m:t>
                        </m:r>
                      </m:sub>
                      <m:sup>
                        <m:r>
                          <a:rPr lang="en-IN" sz="2400" i="1">
                            <a:solidFill>
                              <a:srgbClr val="111827"/>
                            </a:solidFill>
                            <a:latin typeface="Cambria Math" panose="02040503050406030204" pitchFamily="18" charset="0"/>
                          </a:rPr>
                          <m:t>​</m:t>
                        </m:r>
                      </m:sup>
                      <m:e>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𝑛</m:t>
                                </m:r>
                              </m:sup>
                            </m:sSup>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den>
                        </m:f>
                      </m:e>
                    </m:nary>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𝑖</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𝑖</m:t>
                    </m:r>
                  </m:oMath>
                </a14:m>
                <a:r>
                  <a:rPr sz="2400" b="0">
                    <a:solidFill>
                      <a:srgbClr val="111827"/>
                    </a:solidFill>
                    <a:latin typeface="Arial"/>
                  </a:rPr>
                  <a:t>. The real parts are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6</m:t>
                        </m:r>
                      </m:den>
                    </m:f>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14:m>
                  <m:oMath xmlns:m="http://schemas.openxmlformats.org/officeDocument/2006/math">
                    <m:r>
                      <a:rPr lang="en-IN" sz="2400" i="1">
                        <a:solidFill>
                          <a:srgbClr val="111827"/>
                        </a:solidFill>
                        <a:latin typeface="Cambria Math" panose="02040503050406030204" pitchFamily="18" charset="0"/>
                      </a:rPr>
                      <m:t>𝐾</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lim</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𝐿</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𝐾</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636520"/>
                <a:ext cx="10725912" cy="315163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$e^x\cos x=\operatorname{Re}\,e^{(1+i)x}=\operatorname{Re}\sum_n\frac{(1+i)^nx^n}{n!}$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$(1+i)^1=1+i$</a:t>
                </a:r>
                <a:r>
                  <a:rPr sz="2400" b="0">
                    <a:solidFill>
                      <a:srgbClr val="111827"/>
                    </a:solidFill>
                    <a:latin typeface="Arial"/>
                  </a:rPr>
                  <a:t>, </a:t>
                </a:r>
                <a:r>
                  <a:rPr lang="en-IN" sz="2400">
                    <a:solidFill>
                      <a:srgbClr val="111827"/>
                    </a:solidFill>
                    <a:latin typeface="Cambria Math" panose="02040503050406030204" pitchFamily="18" charset="0"/>
                  </a:rPr>
                  <a:t>$(1+i)^2=2i$</a:t>
                </a:r>
                <a:r>
                  <a:rPr sz="2400" b="0">
                    <a:solidFill>
                      <a:srgbClr val="111827"/>
                    </a:solidFill>
                    <a:latin typeface="Arial"/>
                  </a:rPr>
                  <a:t>, </a:t>
                </a:r>
                <a:r>
                  <a:rPr lang="en-IN" sz="2400">
                    <a:solidFill>
                      <a:srgbClr val="111827"/>
                    </a:solidFill>
                    <a:latin typeface="Cambria Math" panose="02040503050406030204" pitchFamily="18" charset="0"/>
                  </a:rPr>
                  <a:t>$(1+i)^3=-2+2i$</a:t>
                </a:r>
                <a:r>
                  <a:rPr sz="2400" b="0">
                    <a:solidFill>
                      <a:srgbClr val="111827"/>
                    </a:solidFill>
                    <a:latin typeface="Arial"/>
                  </a:rPr>
                  <a:t>. The real parts are </a:t>
                </a:r>
                <a:r>
                  <a:rPr lang="en-IN" sz="2400">
                    <a:solidFill>
                      <a:srgbClr val="111827"/>
                    </a:solidFill>
                    <a:latin typeface="Cambria Math" panose="02040503050406030204" pitchFamily="18" charset="0"/>
                  </a:rPr>
                  <a:t>$1,\,1,\,0,\,-2$</a:t>
                </a:r>
                <a:r>
                  <a:rPr sz="2400" b="0">
                    <a:solidFill>
                      <a:srgbClr val="111827"/>
                    </a:solidFill>
                    <a:latin typeface="Arial"/>
                  </a:rPr>
                  <a:t> for </a:t>
                </a:r>
                <a:r>
                  <a:rPr lang="en-IN" sz="2400">
                    <a:solidFill>
                      <a:srgbClr val="111827"/>
                    </a:solidFill>
                    <a:latin typeface="Cambria Math" panose="02040503050406030204" pitchFamily="18" charset="0"/>
                  </a:rPr>
                  <a:t>$n=0,1,2,3$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$e^x\cos x=1+x+0\cdot x^2-\frac{2}{6}x^3+\dots=1+x-\frac{x^3}3+\dots$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r>
                  <a:rPr lang="en-IN" sz="2400">
                    <a:solidFill>
                      <a:srgbClr val="111827"/>
                    </a:solidFill>
                    <a:latin typeface="Cambria Math" panose="02040503050406030204" pitchFamily="18" charset="0"/>
                  </a:rPr>
                  <a:t>$K=\lim\frac{e^x\cos x-1-x}{x^3}=-\frac13$</a:t>
                </a:r>
                <a:r>
                  <a:rPr sz="2400" b="0">
                    <a:solidFill>
                      <a:srgbClr val="111827"/>
                    </a:solidFill>
                    <a:latin typeface="Arial"/>
                  </a:rPr>
                  <a:t> and </a:t>
                </a:r>
                <a:r>
                  <a:rPr lang="en-IN" sz="2400">
                    <a:solidFill>
                      <a:srgbClr val="111827"/>
                    </a:solidFill>
                    <a:latin typeface="Cambria Math" panose="02040503050406030204" pitchFamily="18" charset="0"/>
                  </a:rPr>
                  <a:t>$L=e^K=e^{-1/3}$</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14:m>
                  <m:oMath xmlns:m="http://schemas.openxmlformats.org/officeDocument/2006/math">
                    <m:sSup>
                      <m:e>
                        <m:r>
                          <a:rPr lang="en-IN" sz="2800" i="1">
                            <a:solidFill>
                              <a:srgbClr val="15803D"/>
                            </a:solidFill>
                            <a:latin typeface="Cambria Math" panose="02040503050406030204" pitchFamily="18" charset="0"/>
                          </a:rPr>
                          <m:t>𝑒</m:t>
                        </m:r>
                      </m:e>
                      <m:sup>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m:t>
                            </m:r>
                          </m:num>
                          <m:den>
                            <m:r>
                              <a:rPr lang="en-IN" sz="2800" i="1">
                                <a:solidFill>
                                  <a:srgbClr val="15803D"/>
                                </a:solidFill>
                                <a:latin typeface="Cambria Math" panose="02040503050406030204" pitchFamily="18" charset="0"/>
                              </a:rPr>
                              <m:t>3</m:t>
                            </m:r>
                          </m:den>
                        </m:f>
                      </m:sup>
                    </m:sSup>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r>
                  <a:rPr lang="en-IN" sz="2800">
                    <a:solidFill>
                      <a:srgbClr val="15803D"/>
                    </a:solidFill>
                    <a:latin typeface="Cambria Math" panose="02040503050406030204" pitchFamily="18" charset="0"/>
                  </a:rPr>
                  <a:t>$e^{-\frac13}$</a:t>
                </a:r>
                <a:endParaRPr sz="2800">
                  <a:solidFill>
                    <a:srgbClr val="15803D"/>
                  </a:solidFill>
                </a:endParaRPr>
              </a:p>
            </p:txBody>
          </p:sp>
        </mc:Fallback>
      </mc:AlternateContent>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sub>
                    </m:sSub>
                    <m:sSup>
                      <m:e>
                        <m:r>
                          <a:rPr lang="en-IN" sz="2400" i="1">
                            <a:solidFill>
                              <a:srgbClr val="111827"/>
                            </a:solidFill>
                            <a:latin typeface="Cambria Math" panose="02040503050406030204" pitchFamily="18" charset="0"/>
                          </a:rPr>
                          <m:t>𝑓</m:t>
                        </m:r>
                      </m:e>
                      <m:sup>
                        <m:r>
                          <a:rPr lang="en-IN" sz="2400" i="1">
                            <a:solidFill>
                              <a:srgbClr val="111827"/>
                            </a:solidFill>
                            <a:latin typeface="Cambria Math" panose="02040503050406030204" pitchFamily="18" charset="0"/>
                          </a:rPr>
                          <m:t>𝑔</m:t>
                        </m:r>
                      </m:sup>
                    </m:sSup>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equals </a:t>
                </a:r>
                <a14:m>
                  <m:oMath xmlns:m="http://schemas.openxmlformats.org/officeDocument/2006/math">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lim</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Re</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likewise </a:t>
                </a:r>
                <a14:m>
                  <m:oMath xmlns:m="http://schemas.openxmlformats.org/officeDocument/2006/math">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Im</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Powers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repeat in magnitude: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𝑛</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up>
                    </m:sSup>
                  </m:oMath>
                </a14:m>
                <a:r>
                  <a:rPr sz="2400" b="0">
                    <a:solidFill>
                      <a:srgbClr val="111827"/>
                    </a:solidFill>
                    <a:latin typeface="Arial"/>
                  </a:rPr>
                  <a:t>, so the 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is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cos</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Use the </a:t>
                </a:r>
                <a14:m>
                  <m:oMath xmlns:m="http://schemas.openxmlformats.org/officeDocument/2006/math">
                    <m:sSup>
                      <m:e>
                        <m:r>
                          <a:rPr lang="en-IN" sz="2400" i="1">
                            <a:solidFill>
                              <a:srgbClr val="111827"/>
                            </a:solidFill>
                            <a:latin typeface="Cambria Math" panose="02040503050406030204" pitchFamily="18" charset="0"/>
                          </a:rPr>
                          <m:t>1</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shortcut only after checking that the base really tends to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$\lim_{x\to a}f^{g}$</a:t>
                </a:r>
                <a:r>
                  <a:rPr sz="2400" b="0">
                    <a:solidFill>
                      <a:srgbClr val="111827"/>
                    </a:solidFill>
                    <a:latin typeface="Arial"/>
                  </a:rPr>
                  <a:t> with </a:t>
                </a:r>
                <a:r>
                  <a:rPr lang="en-IN" sz="2400">
                    <a:solidFill>
                      <a:srgbClr val="111827"/>
                    </a:solidFill>
                    <a:latin typeface="Cambria Math" panose="02040503050406030204" pitchFamily="18" charset="0"/>
                  </a:rPr>
                  <a:t>$f\to1$</a:t>
                </a:r>
                <a:r>
                  <a:rPr sz="2400" b="0">
                    <a:solidFill>
                      <a:srgbClr val="111827"/>
                    </a:solidFill>
                    <a:latin typeface="Arial"/>
                  </a:rPr>
                  <a:t>, </a:t>
                </a:r>
                <a:r>
                  <a:rPr lang="en-IN" sz="2400">
                    <a:solidFill>
                      <a:srgbClr val="111827"/>
                    </a:solidFill>
                    <a:latin typeface="Cambria Math" panose="02040503050406030204" pitchFamily="18" charset="0"/>
                  </a:rPr>
                  <a:t>$g\to\infty$</a:t>
                </a:r>
                <a:r>
                  <a:rPr sz="2400" b="0">
                    <a:solidFill>
                      <a:srgbClr val="111827"/>
                    </a:solidFill>
                    <a:latin typeface="Arial"/>
                  </a:rPr>
                  <a:t> equals </a:t>
                </a:r>
                <a:r>
                  <a:rPr lang="en-IN" sz="2400">
                    <a:solidFill>
                      <a:srgbClr val="111827"/>
                    </a:solidFill>
                    <a:latin typeface="Cambria Math" panose="02040503050406030204" pitchFamily="18" charset="0"/>
                  </a:rPr>
                  <a:t>$e^{\lim g(f-1)}$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$e^x\cos x=\operatorname{Re}\,e^{(1+i)x}=1+x-\frac{x^3}3-\frac{x^4}6-\dots$</a:t>
                </a:r>
                <a:r>
                  <a:rPr sz="2400" b="0">
                    <a:solidFill>
                      <a:srgbClr val="111827"/>
                    </a:solidFill>
                    <a:latin typeface="Arial"/>
                  </a:rPr>
                  <a:t>; likewise </a:t>
                </a:r>
                <a:r>
                  <a:rPr lang="en-IN" sz="2400">
                    <a:solidFill>
                      <a:srgbClr val="111827"/>
                    </a:solidFill>
                    <a:latin typeface="Cambria Math" panose="02040503050406030204" pitchFamily="18" charset="0"/>
                  </a:rPr>
                  <a:t>$e^x\sin x=\operatorname{Im}\,e^{(1+i)x}=x+x^2+\frac{x^3}3+\dots$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Powers of </a:t>
                </a:r>
                <a:r>
                  <a:rPr lang="en-IN" sz="2400">
                    <a:solidFill>
                      <a:srgbClr val="111827"/>
                    </a:solidFill>
                    <a:latin typeface="Cambria Math" panose="02040503050406030204" pitchFamily="18" charset="0"/>
                  </a:rPr>
                  <a:t>$(1+i)$</a:t>
                </a:r>
                <a:r>
                  <a:rPr sz="2400" b="0">
                    <a:solidFill>
                      <a:srgbClr val="111827"/>
                    </a:solidFill>
                    <a:latin typeface="Arial"/>
                  </a:rPr>
                  <a:t> repeat in magnitude: </a:t>
                </a:r>
                <a:r>
                  <a:rPr lang="en-IN" sz="2400">
                    <a:solidFill>
                      <a:srgbClr val="111827"/>
                    </a:solidFill>
                    <a:latin typeface="Cambria Math" panose="02040503050406030204" pitchFamily="18" charset="0"/>
                  </a:rPr>
                  <a:t>$(1+i)^n=2^{n/2}e^{in\pi/4}$</a:t>
                </a:r>
                <a:r>
                  <a:rPr sz="2400" b="0">
                    <a:solidFill>
                      <a:srgbClr val="111827"/>
                    </a:solidFill>
                    <a:latin typeface="Arial"/>
                  </a:rPr>
                  <a:t>, so the coefficient of </a:t>
                </a:r>
                <a:r>
                  <a:rPr lang="en-IN" sz="2400">
                    <a:solidFill>
                      <a:srgbClr val="111827"/>
                    </a:solidFill>
                    <a:latin typeface="Cambria Math" panose="02040503050406030204" pitchFamily="18" charset="0"/>
                  </a:rPr>
                  <a:t>$x^n$</a:t>
                </a:r>
                <a:r>
                  <a:rPr sz="2400" b="0">
                    <a:solidFill>
                      <a:srgbClr val="111827"/>
                    </a:solidFill>
                    <a:latin typeface="Arial"/>
                  </a:rPr>
                  <a:t> is </a:t>
                </a:r>
                <a:r>
                  <a:rPr lang="en-IN" sz="2400">
                    <a:solidFill>
                      <a:srgbClr val="111827"/>
                    </a:solidFill>
                    <a:latin typeface="Cambria Math" panose="02040503050406030204" pitchFamily="18" charset="0"/>
                  </a:rPr>
                  <a:t>$\frac{2^{n/2}\cos(n\pi/4)}{n!}$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Use the </a:t>
                </a:r>
                <a:r>
                  <a:rPr lang="en-IN" sz="2400">
                    <a:solidFill>
                      <a:srgbClr val="111827"/>
                    </a:solidFill>
                    <a:latin typeface="Cambria Math" panose="02040503050406030204" pitchFamily="18" charset="0"/>
                  </a:rPr>
                  <a:t>$1^\infty$</a:t>
                </a:r>
                <a:r>
                  <a:rPr sz="2400" b="0">
                    <a:solidFill>
                      <a:srgbClr val="111827"/>
                    </a:solidFill>
                    <a:latin typeface="Arial"/>
                  </a:rPr>
                  <a:t> shortcut only after checking that the base really tends to </a:t>
                </a:r>
                <a:r>
                  <a:rPr lang="en-IN" sz="2400">
                    <a:solidFill>
                      <a:srgbClr val="111827"/>
                    </a:solidFill>
                    <a:latin typeface="Cambria Math" panose="02040503050406030204" pitchFamily="18" charset="0"/>
                  </a:rPr>
                  <a:t>$1$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93C47D"/>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0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 be a function defined by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left"/>
                                </m:mcPr>
                              </m:mc>
                              <m:mc>
                                <m:mcPr>
                                  <m:count m:val="1"/>
                                  <m:mcJc m:val="left"/>
                                </m:mcPr>
                              </m:mc>
                            </m:mcs>
                            <m:ctrlPr>
                              <a:rPr lang="en-IN" sz="2400" i="1">
                                <a:solidFill>
                                  <a:srgbClr val="111827"/>
                                </a:solidFill>
                                <a:latin typeface="Cambria Math" panose="02040503050406030204" pitchFamily="18" charset="0"/>
                              </a:rPr>
                            </m:ctrlPr>
                          </m:mPr>
                          <m:mr>
                            <m:e>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e>
                            <m:e>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mr>
                          <m:mr>
                            <m:e>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e>
                            <m:e>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m:t>
                              </m:r>
                            </m:e>
                          </m:mr>
                        </m:m>
                      </m:e>
                    </m:d>
                  </m:oMath>
                </a14:m>
                <a:r>
                  <a:rPr sz="2400" b="0">
                    <a:solidFill>
                      <a:srgbClr val="111827"/>
                    </a:solidFill>
                    <a:latin typeface="Arial"/>
                  </a:rPr>
                  <a:t>. If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differentiable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then the value of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2</m:t>
                    </m:r>
                  </m:oMath>
                </a14:m>
                <a:endParaRPr sz="2400">
                  <a:solidFill>
                    <a:srgbClr val="111827"/>
                  </a:solidFill>
                </a:endParaRPr>
              </a:p>
            </p:txBody>
          </p:sp>
        </mc:Choice>
        <mc:Fallback>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$f:\mathbb R\to\mathbb R$</a:t>
                </a:r>
                <a:r>
                  <a:rPr sz="2400" b="0">
                    <a:solidFill>
                      <a:srgbClr val="111827"/>
                    </a:solidFill>
                    <a:latin typeface="Arial"/>
                  </a:rPr>
                  <a:t> be a function defined by </a:t>
                </a:r>
                <a:r>
                  <a:rPr lang="en-IN" sz="2400">
                    <a:solidFill>
                      <a:srgbClr val="111827"/>
                    </a:solidFill>
                    <a:latin typeface="Cambria Math" panose="02040503050406030204" pitchFamily="18" charset="0"/>
                  </a:rPr>
                  <a:t>$f(x)=\begin{cases}x^2+a,&amp;x\le1\\bx+2,&amp;x&gt;1\end{cases}$</a:t>
                </a:r>
                <a:r>
                  <a:rPr sz="2400" b="0">
                    <a:solidFill>
                      <a:srgbClr val="111827"/>
                    </a:solidFill>
                    <a:latin typeface="Arial"/>
                  </a:rPr>
                  <a:t>. If </a:t>
                </a:r>
                <a:r>
                  <a:rPr lang="en-IN" sz="2400">
                    <a:solidFill>
                      <a:srgbClr val="111827"/>
                    </a:solidFill>
                    <a:latin typeface="Cambria Math" panose="02040503050406030204" pitchFamily="18" charset="0"/>
                  </a:rPr>
                  <a:t>$f(x)$</a:t>
                </a:r>
                <a:r>
                  <a:rPr sz="2400" b="0">
                    <a:solidFill>
                      <a:srgbClr val="111827"/>
                    </a:solidFill>
                    <a:latin typeface="Arial"/>
                  </a:rPr>
                  <a:t> is differentiable at </a:t>
                </a:r>
                <a:r>
                  <a:rPr lang="en-IN" sz="2400">
                    <a:solidFill>
                      <a:srgbClr val="111827"/>
                    </a:solidFill>
                    <a:latin typeface="Cambria Math" panose="02040503050406030204" pitchFamily="18" charset="0"/>
                  </a:rPr>
                  <a:t>$x=1$</a:t>
                </a:r>
                <a:r>
                  <a:rPr sz="2400" b="0">
                    <a:solidFill>
                      <a:srgbClr val="111827"/>
                    </a:solidFill>
                    <a:latin typeface="Arial"/>
                  </a:rPr>
                  <a:t>, then the value of </a:t>
                </a:r>
                <a:r>
                  <a:rPr lang="en-IN" sz="2400">
                    <a:solidFill>
                      <a:srgbClr val="111827"/>
                    </a:solidFill>
                    <a:latin typeface="Cambria Math" panose="02040503050406030204" pitchFamily="18" charset="0"/>
                  </a:rPr>
                  <a:t>$a+b$</a:t>
                </a:r>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$5$</a:t>
                </a:r>
                <a:r>
                  <a:rPr sz="2400" b="0">
                    <a:solidFill>
                      <a:srgbClr val="111827"/>
                    </a:solidFill>
                    <a:latin typeface="Arial"/>
                  </a:rPr>
                  <a:t>   (B) </a:t>
                </a:r>
                <a:r>
                  <a:rPr lang="en-IN" sz="2400">
                    <a:solidFill>
                      <a:srgbClr val="111827"/>
                    </a:solidFill>
                    <a:latin typeface="Cambria Math" panose="02040503050406030204" pitchFamily="18" charset="0"/>
                  </a:rPr>
                  <a:t>$3$</a:t>
                </a:r>
                <a:r>
                  <a:rPr sz="2400" b="0">
                    <a:solidFill>
                      <a:srgbClr val="111827"/>
                    </a:solidFill>
                    <a:latin typeface="Arial"/>
                  </a:rPr>
                  <a:t>   (C) </a:t>
                </a:r>
                <a:r>
                  <a:rPr lang="en-IN" sz="2400">
                    <a:solidFill>
                      <a:srgbClr val="111827"/>
                    </a:solidFill>
                    <a:latin typeface="Cambria Math" panose="02040503050406030204" pitchFamily="18" charset="0"/>
                  </a:rPr>
                  <a:t>$4$</a:t>
                </a:r>
                <a:r>
                  <a:rPr sz="2400" b="0">
                    <a:solidFill>
                      <a:srgbClr val="111827"/>
                    </a:solidFill>
                    <a:latin typeface="Arial"/>
                  </a:rPr>
                  <a:t>   (D) </a:t>
                </a:r>
                <a:r>
                  <a:rPr lang="en-IN" sz="2400">
                    <a:solidFill>
                      <a:srgbClr val="111827"/>
                    </a:solidFill>
                    <a:latin typeface="Cambria Math" panose="02040503050406030204" pitchFamily="18" charset="0"/>
                  </a:rPr>
                  <a:t>$2$</a:t>
                </a:r>
                <a:endParaRPr sz="2400">
                  <a:solidFill>
                    <a:srgbClr val="111827"/>
                  </a:solidFill>
                </a:endParaRPr>
              </a:p>
            </p:txBody>
          </p:sp>
        </mc:Fallback>
      </mc:AlternateContent>
      <p:sp>
        <p:nvSpPr>
          <p:cNvPr id="5" name="Rectangle 4"/>
          <p:cNvSpPr/>
          <p:nvPr/>
        </p:nvSpPr>
        <p:spPr>
          <a:xfrm>
            <a:off x="731520" y="3580383"/>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Continuity and differentiability of a piecewise function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0(Easier than JEE Main Level)</a:t>
            </a:r>
            <a:endParaRPr sz="2400">
              <a:solidFill>
                <a:srgbClr val="111827"/>
              </a:solidFill>
            </a:endParaRP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93C47D"/>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0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Differentiable at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needs equal values (continuity) and equal slopes of the two pieces at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Differentiable at </a:t>
                </a:r>
                <a:r>
                  <a:rPr lang="en-IN" sz="2400">
                    <a:solidFill>
                      <a:srgbClr val="78350F"/>
                    </a:solidFill>
                    <a:latin typeface="Cambria Math" panose="02040503050406030204" pitchFamily="18" charset="0"/>
                  </a:rPr>
                  <a:t>$x=1$</a:t>
                </a:r>
                <a:r>
                  <a:rPr sz="2400" b="0">
                    <a:solidFill>
                      <a:srgbClr val="78350F"/>
                    </a:solidFill>
                    <a:latin typeface="Arial"/>
                  </a:rPr>
                  <a:t> needs equal values (continuity) and equal slopes of the two pieces at </a:t>
                </a:r>
                <a:r>
                  <a:rPr lang="en-IN" sz="2400">
                    <a:solidFill>
                      <a:srgbClr val="78350F"/>
                    </a:solidFill>
                    <a:latin typeface="Cambria Math" panose="02040503050406030204" pitchFamily="18" charset="0"/>
                  </a:rPr>
                  <a:t>$x=1$</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differentiable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it must be continuous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m:t>
                            </m:r>
                          </m:e>
                          <m:sup>
                            <m:r>
                              <m:rPr>
                                <m:sty m:val="p"/>
                              </m:rPr>
                              <a:rPr lang="en-IN" sz="2400">
                                <a:solidFill>
                                  <a:srgbClr val="111827"/>
                                </a:solidFill>
                                <a:latin typeface="Cambria Math" panose="02040503050406030204" pitchFamily="18" charset="0"/>
                              </a:rPr>
                              <m:t>−</m:t>
                            </m:r>
                          </m:sup>
                        </m:sSup>
                      </m:sub>
                    </m:sSub>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m:t>
                            </m:r>
                          </m:e>
                          <m:sup>
                            <m:r>
                              <m:rPr>
                                <m:sty m:val="p"/>
                              </m:rPr>
                              <a:rPr lang="en-IN" sz="2400">
                                <a:solidFill>
                                  <a:srgbClr val="111827"/>
                                </a:solidFill>
                                <a:latin typeface="Cambria Math" panose="02040503050406030204" pitchFamily="18" charset="0"/>
                              </a:rPr>
                              <m:t>+</m:t>
                            </m:r>
                          </m:sup>
                        </m:sSup>
                      </m:sub>
                    </m:sSub>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Equating the left-hand and right-hand derivatives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sSub>
                      <m:e>
                        <m:r>
                          <m:rPr>
                            <m:sty m:val="p"/>
                          </m:rPr>
                          <a:rPr lang="en-IN" sz="2400">
                            <a:solidFill>
                              <a:srgbClr val="111827"/>
                            </a:solidFill>
                            <a:latin typeface="Cambria Math" panose="02040503050406030204" pitchFamily="18" charset="0"/>
                          </a:rPr>
                          <m:t>|</m:t>
                        </m:r>
                      </m:e>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b>
                      <m:e>
                        <m:r>
                          <m:rPr>
                            <m:sty m:val="p"/>
                          </m:rPr>
                          <a:rPr lang="en-IN" sz="2400">
                            <a:solidFill>
                              <a:srgbClr val="111827"/>
                            </a:solidFill>
                            <a:latin typeface="Cambria Math" panose="02040503050406030204" pitchFamily="18" charset="0"/>
                          </a:rPr>
                          <m:t>|</m:t>
                        </m:r>
                      </m:e>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$f(x)$</a:t>
                </a:r>
                <a:r>
                  <a:rPr sz="2400" b="0">
                    <a:solidFill>
                      <a:srgbClr val="111827"/>
                    </a:solidFill>
                    <a:latin typeface="Arial"/>
                  </a:rPr>
                  <a:t> is differentiable at </a:t>
                </a:r>
                <a:r>
                  <a:rPr lang="en-IN" sz="2400">
                    <a:solidFill>
                      <a:srgbClr val="111827"/>
                    </a:solidFill>
                    <a:latin typeface="Cambria Math" panose="02040503050406030204" pitchFamily="18" charset="0"/>
                  </a:rPr>
                  <a:t>$x=1$</a:t>
                </a:r>
                <a:r>
                  <a:rPr sz="2400" b="0">
                    <a:solidFill>
                      <a:srgbClr val="111827"/>
                    </a:solidFill>
                    <a:latin typeface="Arial"/>
                  </a:rPr>
                  <a:t>, it must be continuous at </a:t>
                </a:r>
                <a:r>
                  <a:rPr lang="en-IN" sz="2400">
                    <a:solidFill>
                      <a:srgbClr val="111827"/>
                    </a:solidFill>
                    <a:latin typeface="Cambria Math" panose="02040503050406030204" pitchFamily="18" charset="0"/>
                  </a:rPr>
                  <a:t>$x=1$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$\lim_{x\to1^-}f(x)=\lim_{x\to1^+}f(x)\Rightarrow1+a=b+2\Rightarrow a-b=1$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Equating the left-hand and right-hand derivatives at </a:t>
                </a:r>
                <a:r>
                  <a:rPr lang="en-IN" sz="2400">
                    <a:solidFill>
                      <a:srgbClr val="111827"/>
                    </a:solidFill>
                    <a:latin typeface="Cambria Math" panose="02040503050406030204" pitchFamily="18" charset="0"/>
                  </a:rPr>
                  <a:t>$x=1$</a:t>
                </a:r>
                <a:r>
                  <a:rPr sz="2400" b="0">
                    <a:solidFill>
                      <a:srgbClr val="111827"/>
                    </a:solidFill>
                    <a:latin typeface="Arial"/>
                  </a:rPr>
                  <a:t>: </a:t>
                </a:r>
                <a:r>
                  <a:rPr lang="en-IN" sz="2400">
                    <a:solidFill>
                      <a:srgbClr val="111827"/>
                    </a:solidFill>
                    <a:latin typeface="Cambria Math" panose="02040503050406030204" pitchFamily="18" charset="0"/>
                  </a:rPr>
                  <a:t>$\frac d{dx}(x^2+a)\Big|_{x=1}=\frac d{dx}(bx+2)\Big|_{x=1}\Rightarrow2=b$</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93C47D"/>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0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Substituting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in the continuity relation: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Therefore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Substituting </a:t>
                </a:r>
                <a:r>
                  <a:rPr lang="en-IN" sz="2400">
                    <a:solidFill>
                      <a:srgbClr val="111827"/>
                    </a:solidFill>
                    <a:latin typeface="Cambria Math" panose="02040503050406030204" pitchFamily="18" charset="0"/>
                  </a:rPr>
                  <a:t>$b=2$</a:t>
                </a:r>
                <a:r>
                  <a:rPr sz="2400" b="0">
                    <a:solidFill>
                      <a:srgbClr val="111827"/>
                    </a:solidFill>
                    <a:latin typeface="Arial"/>
                  </a:rPr>
                  <a:t> in the continuity relation: </a:t>
                </a:r>
                <a:r>
                  <a:rPr lang="en-IN" sz="2400">
                    <a:solidFill>
                      <a:srgbClr val="111827"/>
                    </a:solidFill>
                    <a:latin typeface="Cambria Math" panose="02040503050406030204" pitchFamily="18" charset="0"/>
                  </a:rPr>
                  <a:t>$a-2=1\Rightarrow a=3$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Therefore </a:t>
                </a:r>
                <a:r>
                  <a:rPr lang="en-IN" sz="2400">
                    <a:solidFill>
                      <a:srgbClr val="111827"/>
                    </a:solidFill>
                    <a:latin typeface="Cambria Math" panose="02040503050406030204" pitchFamily="18" charset="0"/>
                  </a:rPr>
                  <a:t>$a+b=3+2=5$</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5</a:t>
            </a:r>
            <a:endParaRPr sz="2800">
              <a:solidFill>
                <a:srgbClr val="15803D"/>
              </a:solidFill>
            </a:endParaRP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93C47D"/>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0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The right piece must be the tangent line of the left piece at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The right piece must be the tangent line of the left piece at </a:t>
                </a:r>
                <a:r>
                  <a:rPr lang="en-IN" sz="2400">
                    <a:solidFill>
                      <a:srgbClr val="78350F"/>
                    </a:solidFill>
                    <a:latin typeface="Cambria Math" panose="02040503050406030204" pitchFamily="18" charset="0"/>
                  </a:rPr>
                  <a:t>$x=1$</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Differentiable at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means the line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coincides with the tangent to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tangent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Comparing with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Differentiable at </a:t>
                </a:r>
                <a:r>
                  <a:rPr lang="en-IN" sz="2400">
                    <a:solidFill>
                      <a:srgbClr val="111827"/>
                    </a:solidFill>
                    <a:latin typeface="Cambria Math" panose="02040503050406030204" pitchFamily="18" charset="0"/>
                  </a:rPr>
                  <a:t>$1$</a:t>
                </a:r>
                <a:r>
                  <a:rPr sz="2400" b="0">
                    <a:solidFill>
                      <a:srgbClr val="111827"/>
                    </a:solidFill>
                    <a:latin typeface="Arial"/>
                  </a:rPr>
                  <a:t> means the line </a:t>
                </a:r>
                <a:r>
                  <a:rPr lang="en-IN" sz="2400">
                    <a:solidFill>
                      <a:srgbClr val="111827"/>
                    </a:solidFill>
                    <a:latin typeface="Cambria Math" panose="02040503050406030204" pitchFamily="18" charset="0"/>
                  </a:rPr>
                  <a:t>$y=bx+2$</a:t>
                </a:r>
                <a:r>
                  <a:rPr sz="2400" b="0">
                    <a:solidFill>
                      <a:srgbClr val="111827"/>
                    </a:solidFill>
                    <a:latin typeface="Arial"/>
                  </a:rPr>
                  <a:t> coincides with the tangent to </a:t>
                </a:r>
                <a:r>
                  <a:rPr lang="en-IN" sz="2400">
                    <a:solidFill>
                      <a:srgbClr val="111827"/>
                    </a:solidFill>
                    <a:latin typeface="Cambria Math" panose="02040503050406030204" pitchFamily="18" charset="0"/>
                  </a:rPr>
                  <a:t>$y=x^2+a$</a:t>
                </a:r>
                <a:r>
                  <a:rPr sz="2400" b="0">
                    <a:solidFill>
                      <a:srgbClr val="111827"/>
                    </a:solidFill>
                    <a:latin typeface="Arial"/>
                  </a:rPr>
                  <a:t> at </a:t>
                </a:r>
                <a:r>
                  <a:rPr lang="en-IN" sz="2400">
                    <a:solidFill>
                      <a:srgbClr val="111827"/>
                    </a:solidFill>
                    <a:latin typeface="Cambria Math" panose="02040503050406030204" pitchFamily="18" charset="0"/>
                  </a:rPr>
                  <a:t>$x=1$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tangent at </a:t>
                </a:r>
                <a:r>
                  <a:rPr lang="en-IN" sz="2400">
                    <a:solidFill>
                      <a:srgbClr val="111827"/>
                    </a:solidFill>
                    <a:latin typeface="Cambria Math" panose="02040503050406030204" pitchFamily="18" charset="0"/>
                  </a:rPr>
                  <a:t>$x=1$</a:t>
                </a:r>
                <a:r>
                  <a:rPr sz="2400" b="0">
                    <a:solidFill>
                      <a:srgbClr val="111827"/>
                    </a:solidFill>
                    <a:latin typeface="Arial"/>
                  </a:rPr>
                  <a:t> is </a:t>
                </a:r>
                <a:r>
                  <a:rPr lang="en-IN" sz="2400">
                    <a:solidFill>
                      <a:srgbClr val="111827"/>
                    </a:solidFill>
                    <a:latin typeface="Cambria Math" panose="02040503050406030204" pitchFamily="18" charset="0"/>
                  </a:rPr>
                  <a:t>$y-(1+a)=2(x-1)$</a:t>
                </a:r>
                <a:r>
                  <a:rPr sz="2400" b="0">
                    <a:solidFill>
                      <a:srgbClr val="111827"/>
                    </a:solidFill>
                    <a:latin typeface="Arial"/>
                  </a:rPr>
                  <a:t>, i.e. </a:t>
                </a:r>
                <a:r>
                  <a:rPr lang="en-IN" sz="2400">
                    <a:solidFill>
                      <a:srgbClr val="111827"/>
                    </a:solidFill>
                    <a:latin typeface="Cambria Math" panose="02040503050406030204" pitchFamily="18" charset="0"/>
                  </a:rPr>
                  <a:t>$y=2x+(a-1)$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Comparing with </a:t>
                </a:r>
                <a:r>
                  <a:rPr lang="en-IN" sz="2400">
                    <a:solidFill>
                      <a:srgbClr val="111827"/>
                    </a:solidFill>
                    <a:latin typeface="Cambria Math" panose="02040503050406030204" pitchFamily="18" charset="0"/>
                  </a:rPr>
                  <a:t>$y=bx+2$</a:t>
                </a:r>
                <a:r>
                  <a:rPr sz="2400" b="0">
                    <a:solidFill>
                      <a:srgbClr val="111827"/>
                    </a:solidFill>
                    <a:latin typeface="Arial"/>
                  </a:rPr>
                  <a:t>: </a:t>
                </a:r>
                <a:r>
                  <a:rPr lang="en-IN" sz="2400">
                    <a:solidFill>
                      <a:srgbClr val="111827"/>
                    </a:solidFill>
                    <a:latin typeface="Cambria Math" panose="02040503050406030204" pitchFamily="18" charset="0"/>
                  </a:rPr>
                  <a:t>$b=2$</a:t>
                </a:r>
                <a:r>
                  <a:rPr sz="2400" b="0">
                    <a:solidFill>
                      <a:srgbClr val="111827"/>
                    </a:solidFill>
                    <a:latin typeface="Arial"/>
                  </a:rPr>
                  <a:t> and </a:t>
                </a:r>
                <a:r>
                  <a:rPr lang="en-IN" sz="2400">
                    <a:solidFill>
                      <a:srgbClr val="111827"/>
                    </a:solidFill>
                    <a:latin typeface="Cambria Math" panose="02040503050406030204" pitchFamily="18" charset="0"/>
                  </a:rPr>
                  <a:t>$a-1=2$</a:t>
                </a:r>
                <a:r>
                  <a:rPr sz="2400" b="0">
                    <a:solidFill>
                      <a:srgbClr val="111827"/>
                    </a:solidFill>
                    <a:latin typeface="Arial"/>
                  </a:rPr>
                  <a:t>, so </a:t>
                </a:r>
                <a:r>
                  <a:rPr lang="en-IN" sz="2400">
                    <a:solidFill>
                      <a:srgbClr val="111827"/>
                    </a:solidFill>
                    <a:latin typeface="Cambria Math" panose="02040503050406030204" pitchFamily="18" charset="0"/>
                  </a:rPr>
                  <a:t>$a=3$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$a+b=5$</a:t>
                </a:r>
                <a:r>
                  <a:rPr sz="2400" b="0">
                    <a:solidFill>
                      <a:srgbClr val="111827"/>
                    </a:solidFill>
                    <a:latin typeface="Arial"/>
                  </a:rPr>
                  <a:t>.</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5</a:t>
            </a:r>
            <a:endParaRPr sz="2800">
              <a:solidFill>
                <a:srgbClr val="15803D"/>
              </a:solidFill>
            </a:endParaRP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93C47D"/>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0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Gluing two smooth pieces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so that the result is differentiable: equal values and equal derivatives (the second piece is the first one's tangent line when it is linear).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Differentiable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continuous, but not conversely (e.g.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left"/>
                                </m:mcPr>
                              </m:mc>
                              <m:mc>
                                <m:mcPr>
                                  <m:count m:val="1"/>
                                  <m:mcJc m:val="left"/>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e>
                            <m:e>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e>
                          </m:mr>
                          <m:mr>
                            <m:e>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e>
                            <m:e>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𝑐</m:t>
                              </m:r>
                            </m:e>
                          </m:mr>
                        </m:m>
                      </m:e>
                    </m:d>
                  </m:oMath>
                </a14:m>
                <a:r>
                  <a:rPr sz="2400" b="0">
                    <a:solidFill>
                      <a:srgbClr val="111827"/>
                    </a:solidFill>
                    <a:latin typeface="Arial"/>
                  </a:rPr>
                  <a:t> the conditions are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ℎ</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(given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oMath>
                </a14:m>
                <a:r>
                  <a:rPr sz="2400" b="0">
                    <a:solidFill>
                      <a:srgbClr val="111827"/>
                    </a:solidFill>
                    <a:latin typeface="Arial"/>
                  </a:rPr>
                  <a:t> are differentiable).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unknown constants equals number of conditions; here two unknowns, two equations.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Gluing two smooth pieces at </a:t>
                </a:r>
                <a:r>
                  <a:rPr lang="en-IN" sz="2400">
                    <a:solidFill>
                      <a:srgbClr val="111827"/>
                    </a:solidFill>
                    <a:latin typeface="Cambria Math" panose="02040503050406030204" pitchFamily="18" charset="0"/>
                  </a:rPr>
                  <a:t>$x=c$</a:t>
                </a:r>
                <a:r>
                  <a:rPr sz="2400" b="0">
                    <a:solidFill>
                      <a:srgbClr val="111827"/>
                    </a:solidFill>
                    <a:latin typeface="Arial"/>
                  </a:rPr>
                  <a:t> so that the result is differentiable: equal values and equal derivatives (the second piece is the first one's tangent line when it is linear).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Differentiable </a:t>
                </a:r>
                <a:r>
                  <a:rPr lang="en-IN" sz="2400">
                    <a:solidFill>
                      <a:srgbClr val="111827"/>
                    </a:solidFill>
                    <a:latin typeface="Cambria Math" panose="02040503050406030204" pitchFamily="18" charset="0"/>
                  </a:rPr>
                  <a:t>$\Rightarrow$</a:t>
                </a:r>
                <a:r>
                  <a:rPr sz="2400" b="0">
                    <a:solidFill>
                      <a:srgbClr val="111827"/>
                    </a:solidFill>
                    <a:latin typeface="Arial"/>
                  </a:rPr>
                  <a:t> continuous, but not conversely (e.g. </a:t>
                </a:r>
                <a:r>
                  <a:rPr lang="en-IN" sz="2400">
                    <a:solidFill>
                      <a:srgbClr val="111827"/>
                    </a:solidFill>
                    <a:latin typeface="Cambria Math" panose="02040503050406030204" pitchFamily="18" charset="0"/>
                  </a:rPr>
                  <a:t>$|x|$</a:t>
                </a:r>
                <a:r>
                  <a:rPr sz="2400" b="0">
                    <a:solidFill>
                      <a:srgbClr val="111827"/>
                    </a:solidFill>
                    <a:latin typeface="Arial"/>
                  </a:rPr>
                  <a:t> at </a:t>
                </a:r>
                <a:r>
                  <a:rPr lang="en-IN" sz="2400">
                    <a:solidFill>
                      <a:srgbClr val="111827"/>
                    </a:solidFill>
                    <a:latin typeface="Cambria Math" panose="02040503050406030204" pitchFamily="18" charset="0"/>
                  </a:rPr>
                  <a: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$f=\begin{cases}g,&amp;x\le c\\h,&amp;x&gt;c\end{cases}$</a:t>
                </a:r>
                <a:r>
                  <a:rPr sz="2400" b="0">
                    <a:solidFill>
                      <a:srgbClr val="111827"/>
                    </a:solidFill>
                    <a:latin typeface="Arial"/>
                  </a:rPr>
                  <a:t> the conditions are </a:t>
                </a:r>
                <a:r>
                  <a:rPr lang="en-IN" sz="2400">
                    <a:solidFill>
                      <a:srgbClr val="111827"/>
                    </a:solidFill>
                    <a:latin typeface="Cambria Math" panose="02040503050406030204" pitchFamily="18" charset="0"/>
                  </a:rPr>
                  <a:t>$g(c)=h(c)$</a:t>
                </a:r>
                <a:r>
                  <a:rPr sz="2400" b="0">
                    <a:solidFill>
                      <a:srgbClr val="111827"/>
                    </a:solidFill>
                    <a:latin typeface="Arial"/>
                  </a:rPr>
                  <a:t> and </a:t>
                </a:r>
                <a:r>
                  <a:rPr lang="en-IN" sz="2400">
                    <a:solidFill>
                      <a:srgbClr val="111827"/>
                    </a:solidFill>
                    <a:latin typeface="Cambria Math" panose="02040503050406030204" pitchFamily="18" charset="0"/>
                  </a:rPr>
                  <a:t>$g'(c)=h'(c)$</a:t>
                </a:r>
                <a:r>
                  <a:rPr sz="2400" b="0">
                    <a:solidFill>
                      <a:srgbClr val="111827"/>
                    </a:solidFill>
                    <a:latin typeface="Arial"/>
                  </a:rPr>
                  <a:t> (given </a:t>
                </a:r>
                <a:r>
                  <a:rPr lang="en-IN" sz="2400">
                    <a:solidFill>
                      <a:srgbClr val="111827"/>
                    </a:solidFill>
                    <a:latin typeface="Cambria Math" panose="02040503050406030204" pitchFamily="18" charset="0"/>
                  </a:rPr>
                  <a:t>$g,h$</a:t>
                </a:r>
                <a:r>
                  <a:rPr sz="2400" b="0">
                    <a:solidFill>
                      <a:srgbClr val="111827"/>
                    </a:solidFill>
                    <a:latin typeface="Arial"/>
                  </a:rPr>
                  <a:t> are differentiable).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unknown constants equals number of conditions; here two unknowns, two equations.</a:t>
                </a:r>
                <a:endParaRPr sz="2400">
                  <a:solidFill>
                    <a:srgbClr val="111827"/>
                  </a:solidFill>
                </a:endParaRPr>
              </a:p>
            </p:txBody>
          </p:sp>
        </mc:Fallback>
      </mc:AlternateContent>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2252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 evaluate the indefinite integral: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num>
                      <m:den>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e>
                        </m:rad>
                      </m:den>
                    </m:f>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sSup>
                      <m:e>
                        <m:r>
                          <m:rPr>
                            <m:sty m:val="p"/>
                          </m:rPr>
                          <a:rPr lang="en-IN" sz="2400">
                            <a:solidFill>
                              <a:srgbClr val="111827"/>
                            </a:solidFill>
                            <a:latin typeface="Cambria Math" panose="02040503050406030204" pitchFamily="18" charset="0"/>
                          </a:rPr>
                          <m:t>sec</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14:m>
                  <m:oMath xmlns:m="http://schemas.openxmlformats.org/officeDocument/2006/math">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sec</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14:m>
                  <m:oMath xmlns:m="http://schemas.openxmlformats.org/officeDocument/2006/math">
                    <m:sSup>
                      <m:e>
                        <m:r>
                          <m:rPr>
                            <m:sty m:val="p"/>
                          </m:rPr>
                          <a:rPr lang="en-IN" sz="2400">
                            <a:solidFill>
                              <a:srgbClr val="111827"/>
                            </a:solidFill>
                            <a:latin typeface="Cambria Math" panose="02040503050406030204" pitchFamily="18" charset="0"/>
                          </a:rPr>
                          <m:t>sec</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14:m>
                  <m:oMath xmlns:m="http://schemas.openxmlformats.org/officeDocument/2006/math">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sec</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endParaRPr sz="2400">
                  <a:solidFill>
                    <a:srgbClr val="111827"/>
                  </a:solidFill>
                </a:endParaRPr>
              </a:p>
            </p:txBody>
          </p:sp>
        </mc:Choice>
        <mc:Fallback>
          <p:sp>
            <p:nvSpPr>
              <p:cNvPr id="4" name="Rounded Rectangle 3"/>
              <p:cNvSpPr/>
              <p:nvPr/>
            </p:nvSpPr>
            <p:spPr>
              <a:xfrm>
                <a:off x="731520" y="1280160"/>
                <a:ext cx="10725912" cy="32252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$x\in\left(0,\frac\pi2\right)$</a:t>
                </a:r>
                <a:r>
                  <a:rPr sz="2400" b="0">
                    <a:solidFill>
                      <a:srgbClr val="111827"/>
                    </a:solidFill>
                    <a:latin typeface="Arial"/>
                  </a:rPr>
                  <a:t>, evaluate the indefinite integral: </a:t>
                </a:r>
                <a:r>
                  <a:rPr lang="en-IN" sz="2400">
                    <a:solidFill>
                      <a:srgbClr val="111827"/>
                    </a:solidFill>
                    <a:latin typeface="Cambria Math" panose="02040503050406030204" pitchFamily="18" charset="0"/>
                  </a:rPr>
                  <a:t>$\int\frac{\sin x-\cos x}{(\sin x+\cos x)\sqrt{\sin2x}}\,dx$</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$\sec^{-1}(\sin x+\cos x)+C$</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r>
                  <a:rPr lang="en-IN" sz="2400">
                    <a:solidFill>
                      <a:srgbClr val="111827"/>
                    </a:solidFill>
                    <a:latin typeface="Cambria Math" panose="02040503050406030204" pitchFamily="18" charset="0"/>
                  </a:rPr>
                  <a:t>$-\sec^{-1}(\sin x+\cos x)+C$</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r>
                  <a:rPr lang="en-IN" sz="2400">
                    <a:solidFill>
                      <a:srgbClr val="111827"/>
                    </a:solidFill>
                    <a:latin typeface="Cambria Math" panose="02040503050406030204" pitchFamily="18" charset="0"/>
                  </a:rPr>
                  <a:t>$\sec^{-1}(\sin x-\cos x)+C$</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r>
                  <a:rPr lang="en-IN" sz="2400">
                    <a:solidFill>
                      <a:srgbClr val="111827"/>
                    </a:solidFill>
                    <a:latin typeface="Cambria Math" panose="02040503050406030204" pitchFamily="18" charset="0"/>
                  </a:rPr>
                  <a:t>$-\sec^{-1}(\sin x-\cos x)+C$</a:t>
                </a:r>
                <a:endParaRPr sz="2400">
                  <a:solidFill>
                    <a:srgbClr val="111827"/>
                  </a:solidFill>
                </a:endParaRPr>
              </a:p>
            </p:txBody>
          </p:sp>
        </mc:Fallback>
      </mc:AlternateContent>
      <p:sp>
        <p:nvSpPr>
          <p:cNvPr id="5" name="Rectangle 4"/>
          <p:cNvSpPr/>
          <p:nvPr/>
        </p:nvSpPr>
        <p:spPr>
          <a:xfrm>
            <a:off x="731520" y="4734051"/>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Indefinite integration by substitution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Put </a:t>
                </a:r>
                <a14:m>
                  <m:oMath xmlns:m="http://schemas.openxmlformats.org/officeDocument/2006/math">
                    <m:r>
                      <a:rPr lang="en-IN" sz="2400" i="1">
                        <a:solidFill>
                          <a:srgbClr val="78350F"/>
                        </a:solidFill>
                        <a:latin typeface="Cambria Math" panose="02040503050406030204" pitchFamily="18" charset="0"/>
                      </a:rPr>
                      <m:t>𝑡</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sin</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cos</m:t>
                    </m:r>
                    <m:r>
                      <a:rPr lang="en-IN" sz="2400" i="1">
                        <a:solidFill>
                          <a:srgbClr val="78350F"/>
                        </a:solidFill>
                        <a:latin typeface="Cambria Math" panose="02040503050406030204" pitchFamily="18" charset="0"/>
                      </a:rPr>
                      <m:t>𝑥</m:t>
                    </m:r>
                  </m:oMath>
                </a14:m>
                <a:r>
                  <a:rPr sz="2400" b="0">
                    <a:solidFill>
                      <a:srgbClr val="78350F"/>
                    </a:solidFill>
                    <a:latin typeface="Arial"/>
                  </a:rPr>
                  <a:t>: then </a:t>
                </a:r>
                <a14:m>
                  <m:oMath xmlns:m="http://schemas.openxmlformats.org/officeDocument/2006/math">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𝑡</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cos</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sin</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 </m:t>
                    </m:r>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𝑥</m:t>
                    </m:r>
                  </m:oMath>
                </a14:m>
                <a:r>
                  <a:rPr sz="2400" b="0">
                    <a:solidFill>
                      <a:srgbClr val="78350F"/>
                    </a:solidFill>
                    <a:latin typeface="Arial"/>
                  </a:rPr>
                  <a:t> and </a:t>
                </a:r>
                <a14:m>
                  <m:oMath xmlns:m="http://schemas.openxmlformats.org/officeDocument/2006/math">
                    <m:r>
                      <m:rPr>
                        <m:sty m:val="p"/>
                      </m:rPr>
                      <a:rPr lang="en-IN" sz="2400">
                        <a:solidFill>
                          <a:srgbClr val="78350F"/>
                        </a:solidFill>
                        <a:latin typeface="Cambria Math" panose="02040503050406030204" pitchFamily="18" charset="0"/>
                      </a:rPr>
                      <m:t>sin</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𝑡</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Put </a:t>
                </a:r>
                <a:r>
                  <a:rPr lang="en-IN" sz="2400">
                    <a:solidFill>
                      <a:srgbClr val="78350F"/>
                    </a:solidFill>
                    <a:latin typeface="Cambria Math" panose="02040503050406030204" pitchFamily="18" charset="0"/>
                  </a:rPr>
                  <a:t>$t=\sin x+\cos x$</a:t>
                </a:r>
                <a:r>
                  <a:rPr sz="2400" b="0">
                    <a:solidFill>
                      <a:srgbClr val="78350F"/>
                    </a:solidFill>
                    <a:latin typeface="Arial"/>
                  </a:rPr>
                  <a:t>: then </a:t>
                </a:r>
                <a:r>
                  <a:rPr lang="en-IN" sz="2400">
                    <a:solidFill>
                      <a:srgbClr val="78350F"/>
                    </a:solidFill>
                    <a:latin typeface="Cambria Math" panose="02040503050406030204" pitchFamily="18" charset="0"/>
                  </a:rPr>
                  <a:t>$dt=(\cos x-\sin x)\,dx$</a:t>
                </a:r>
                <a:r>
                  <a:rPr sz="2400" b="0">
                    <a:solidFill>
                      <a:srgbClr val="78350F"/>
                    </a:solidFill>
                    <a:latin typeface="Arial"/>
                  </a:rPr>
                  <a:t> and </a:t>
                </a:r>
                <a:r>
                  <a:rPr lang="en-IN" sz="2400">
                    <a:solidFill>
                      <a:srgbClr val="78350F"/>
                    </a:solidFill>
                    <a:latin typeface="Cambria Math" panose="02040503050406030204" pitchFamily="18" charset="0"/>
                  </a:rPr>
                  <a:t>$\sin2x=t^2-1$</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integral be </a:t>
                </a:r>
                <a14:m>
                  <m:oMath xmlns:m="http://schemas.openxmlformats.org/officeDocument/2006/math">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num>
                      <m:den>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e>
                        </m:rad>
                      </m:den>
                    </m:f>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oMath>
                </a14:m>
                <a:r>
                  <a:rPr sz="2400" b="0">
                    <a:solidFill>
                      <a:srgbClr val="111827"/>
                    </a:solidFill>
                    <a:latin typeface="Arial"/>
                  </a:rPr>
                  <a:t>. Substitute </a:t>
                </a: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oMath>
                </a14:m>
                <a:r>
                  <a:rPr sz="2400" b="0">
                    <a:solidFill>
                      <a:srgbClr val="111827"/>
                    </a:solidFill>
                    <a:latin typeface="Arial"/>
                  </a:rPr>
                  <a:t>, i.e.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Squaring the substitution: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integral be </a:t>
                </a:r>
                <a:r>
                  <a:rPr lang="en-IN" sz="2400">
                    <a:solidFill>
                      <a:srgbClr val="111827"/>
                    </a:solidFill>
                    <a:latin typeface="Cambria Math" panose="02040503050406030204" pitchFamily="18" charset="0"/>
                  </a:rPr>
                  <a:t>$I=\int\frac{\sin x-\cos x}{(\sin x+\cos x)\sqrt{\sin2x}}\,dx$</a:t>
                </a:r>
                <a:r>
                  <a:rPr sz="2400" b="0">
                    <a:solidFill>
                      <a:srgbClr val="111827"/>
                    </a:solidFill>
                    <a:latin typeface="Arial"/>
                  </a:rPr>
                  <a:t>. Substitute </a:t>
                </a:r>
                <a:r>
                  <a:rPr lang="en-IN" sz="2400">
                    <a:solidFill>
                      <a:srgbClr val="111827"/>
                    </a:solidFill>
                    <a:latin typeface="Cambria Math" panose="02040503050406030204" pitchFamily="18" charset="0"/>
                  </a:rPr>
                  <a:t>$\sin x+\cos x=t$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r>
                  <a:rPr lang="en-IN" sz="2400">
                    <a:solidFill>
                      <a:srgbClr val="111827"/>
                    </a:solidFill>
                    <a:latin typeface="Cambria Math" panose="02040503050406030204" pitchFamily="18" charset="0"/>
                  </a:rPr>
                  <a:t>$(\cos x-\sin x)\,dx=dt$</a:t>
                </a:r>
                <a:r>
                  <a:rPr sz="2400" b="0">
                    <a:solidFill>
                      <a:srgbClr val="111827"/>
                    </a:solidFill>
                    <a:latin typeface="Arial"/>
                  </a:rPr>
                  <a:t>, i.e. </a:t>
                </a:r>
                <a:r>
                  <a:rPr lang="en-IN" sz="2400">
                    <a:solidFill>
                      <a:srgbClr val="111827"/>
                    </a:solidFill>
                    <a:latin typeface="Cambria Math" panose="02040503050406030204" pitchFamily="18" charset="0"/>
                  </a:rPr>
                  <a:t>$(\sin x-\cos x)\,dx=-dt$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Squaring the substitution: </a:t>
                </a:r>
                <a:r>
                  <a:rPr lang="en-IN" sz="2400">
                    <a:solidFill>
                      <a:srgbClr val="111827"/>
                    </a:solidFill>
                    <a:latin typeface="Cambria Math" panose="02040503050406030204" pitchFamily="18" charset="0"/>
                  </a:rPr>
                  <a:t>$(\sin x+\cos x)^2=t^2\Rightarrow1+\sin2x=t^2\Rightarrow\sin2x=t^2-1$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Substituting into the integral: </a:t>
                </a:r>
                <a14:m>
                  <m:oMath xmlns:m="http://schemas.openxmlformats.org/officeDocument/2006/math">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num>
                      <m:den>
                        <m:r>
                          <a:rPr lang="en-IN" sz="2400" i="1">
                            <a:solidFill>
                              <a:srgbClr val="111827"/>
                            </a:solidFill>
                            <a:latin typeface="Cambria Math" panose="02040503050406030204" pitchFamily="18" charset="0"/>
                          </a:rPr>
                          <m:t>𝑡</m:t>
                        </m:r>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rad>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m:t>
                    </m:r>
                  </m:oMath>
                </a14:m>
                <a:r>
                  <a:rPr sz="2400" b="0">
                    <a:solidFill>
                      <a:srgbClr val="111827"/>
                    </a:solidFill>
                    <a:latin typeface="Arial"/>
                  </a:rPr>
                  <a:t>, so the standard integral applies: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num>
                      <m:den>
                        <m:r>
                          <a:rPr lang="en-IN" sz="2400" i="1">
                            <a:solidFill>
                              <a:srgbClr val="111827"/>
                            </a:solidFill>
                            <a:latin typeface="Cambria Math" panose="02040503050406030204" pitchFamily="18" charset="0"/>
                          </a:rPr>
                          <m:t>𝑡</m:t>
                        </m:r>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rad>
                      </m:den>
                    </m:f>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sec</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𝑡</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Therefore </a:t>
                </a:r>
                <a14:m>
                  <m:oMath xmlns:m="http://schemas.openxmlformats.org/officeDocument/2006/math">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sec</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sec</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Substituting into the integral: </a:t>
                </a:r>
                <a:r>
                  <a:rPr lang="en-IN" sz="2400">
                    <a:solidFill>
                      <a:srgbClr val="111827"/>
                    </a:solidFill>
                    <a:latin typeface="Cambria Math" panose="02040503050406030204" pitchFamily="18" charset="0"/>
                  </a:rPr>
                  <a:t>$I=\int\frac{-dt}{t\sqrt{t^2-1}}$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$x\in\left(0,\frac\pi2\right)$</a:t>
                </a:r>
                <a:r>
                  <a:rPr sz="2400" b="0">
                    <a:solidFill>
                      <a:srgbClr val="111827"/>
                    </a:solidFill>
                    <a:latin typeface="Arial"/>
                  </a:rPr>
                  <a:t>, </a:t>
                </a:r>
                <a:r>
                  <a:rPr lang="en-IN" sz="2400">
                    <a:solidFill>
                      <a:srgbClr val="111827"/>
                    </a:solidFill>
                    <a:latin typeface="Cambria Math" panose="02040503050406030204" pitchFamily="18" charset="0"/>
                  </a:rPr>
                  <a:t>$t=\sin x+\cos x&gt;1$</a:t>
                </a:r>
                <a:r>
                  <a:rPr sz="2400" b="0">
                    <a:solidFill>
                      <a:srgbClr val="111827"/>
                    </a:solidFill>
                    <a:latin typeface="Arial"/>
                  </a:rPr>
                  <a:t>, so the standard integral applies: </a:t>
                </a:r>
                <a:r>
                  <a:rPr lang="en-IN" sz="2400">
                    <a:solidFill>
                      <a:srgbClr val="111827"/>
                    </a:solidFill>
                    <a:latin typeface="Cambria Math" panose="02040503050406030204" pitchFamily="18" charset="0"/>
                  </a:rPr>
                  <a:t>$\int\frac{dt}{t\sqrt{t^2-1}}=\sec^{-1}t$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Therefore </a:t>
                </a:r>
                <a:r>
                  <a:rPr lang="en-IN" sz="2400">
                    <a:solidFill>
                      <a:srgbClr val="111827"/>
                    </a:solidFill>
                    <a:latin typeface="Cambria Math" panose="02040503050406030204" pitchFamily="18" charset="0"/>
                  </a:rPr>
                  <a:t>$I=-\sec^{-1}(t)+C=-\sec^{-1}(\sin x+\cos x)+C$</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14:m>
                  <m:oMath xmlns:m="http://schemas.openxmlformats.org/officeDocument/2006/math">
                    <m:r>
                      <m:rPr>
                        <m:sty m:val="p"/>
                      </m:rPr>
                      <a:rPr lang="en-IN" sz="2800">
                        <a:solidFill>
                          <a:srgbClr val="15803D"/>
                        </a:solidFill>
                        <a:latin typeface="Cambria Math" panose="02040503050406030204" pitchFamily="18" charset="0"/>
                      </a:rPr>
                      <m:t>−</m:t>
                    </m:r>
                    <m:sSup>
                      <m:e>
                        <m:r>
                          <m:rPr>
                            <m:sty m:val="p"/>
                          </m:rPr>
                          <a:rPr lang="en-IN" sz="2800">
                            <a:solidFill>
                              <a:srgbClr val="15803D"/>
                            </a:solidFill>
                            <a:latin typeface="Cambria Math" panose="02040503050406030204" pitchFamily="18" charset="0"/>
                          </a:rPr>
                          <m:t>sec</m:t>
                        </m:r>
                      </m:e>
                      <m:sup>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sup>
                    </m:sSup>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sin</m:t>
                    </m:r>
                    <m:r>
                      <a:rPr lang="en-IN" sz="2800" i="1">
                        <a:solidFill>
                          <a:srgbClr val="15803D"/>
                        </a:solidFill>
                        <a:latin typeface="Cambria Math" panose="02040503050406030204" pitchFamily="18" charset="0"/>
                      </a:rPr>
                      <m:t>𝑥</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cos</m:t>
                    </m:r>
                    <m:r>
                      <a:rPr lang="en-IN" sz="2800" i="1">
                        <a:solidFill>
                          <a:srgbClr val="15803D"/>
                        </a:solidFill>
                        <a:latin typeface="Cambria Math" panose="02040503050406030204" pitchFamily="18" charset="0"/>
                      </a:rPr>
                      <m:t>𝑥</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𝐶</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r>
                  <a:rPr lang="en-IN" sz="2800">
                    <a:solidFill>
                      <a:srgbClr val="15803D"/>
                    </a:solidFill>
                    <a:latin typeface="Cambria Math" panose="02040503050406030204" pitchFamily="18" charset="0"/>
                  </a:rPr>
                  <a:t>$-\sec^{-1}(\sin x+\cos x)+C$</a:t>
                </a:r>
                <a:endParaRPr sz="2800">
                  <a:solidFill>
                    <a:srgbClr val="15803D"/>
                  </a:solidFill>
                </a:endParaRPr>
              </a:p>
            </p:txBody>
          </p:sp>
        </mc:Fallback>
      </mc:AlternateContent>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Eliminate options by domain and by the sign of the integrand, with no integration at all.</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1</m:t>
                    </m:r>
                  </m:oMath>
                </a14:m>
                <a:r>
                  <a:rPr sz="2400" b="0">
                    <a:solidFill>
                      <a:srgbClr val="111827"/>
                    </a:solidFill>
                    <a:latin typeface="Arial"/>
                  </a:rPr>
                  <a:t>. Options (C) and (D) contain </a:t>
                </a:r>
                <a14:m>
                  <m:oMath xmlns:m="http://schemas.openxmlformats.org/officeDocument/2006/math">
                    <m:sSup>
                      <m:e>
                        <m:r>
                          <m:rPr>
                            <m:sty m:val="p"/>
                          </m:rPr>
                          <a:rPr lang="en-IN" sz="2400">
                            <a:solidFill>
                              <a:srgbClr val="111827"/>
                            </a:solidFill>
                            <a:latin typeface="Cambria Math" panose="02040503050406030204" pitchFamily="18" charset="0"/>
                          </a:rPr>
                          <m:t>sec</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 of a number in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which is undefined, so they are impossible.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integrand has the sign of </a:t>
                </a: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oMath>
                </a14:m>
                <a:r>
                  <a:rPr sz="2400" b="0">
                    <a:solidFill>
                      <a:srgbClr val="111827"/>
                    </a:solidFill>
                    <a:latin typeface="Arial"/>
                  </a:rPr>
                  <a:t>: negative on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e>
                    </m:d>
                  </m:oMath>
                </a14:m>
                <a:r>
                  <a:rPr sz="2400" b="0">
                    <a:solidFill>
                      <a:srgbClr val="111827"/>
                    </a:solidFill>
                    <a:latin typeface="Arial"/>
                  </a:rPr>
                  <a:t>, so the antiderivative must be decreasing there.</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$x\in\left(0,\frac\pi2\right)$</a:t>
                </a:r>
                <a:r>
                  <a:rPr sz="2400" b="0">
                    <a:solidFill>
                      <a:srgbClr val="111827"/>
                    </a:solidFill>
                    <a:latin typeface="Arial"/>
                  </a:rPr>
                  <a:t>, </a:t>
                </a:r>
                <a:r>
                  <a:rPr lang="en-IN" sz="2400">
                    <a:solidFill>
                      <a:srgbClr val="111827"/>
                    </a:solidFill>
                    <a:latin typeface="Cambria Math" panose="02040503050406030204" pitchFamily="18" charset="0"/>
                  </a:rPr>
                  <a:t>$|\sin x-\cos x|&lt;1$</a:t>
                </a:r>
                <a:r>
                  <a:rPr sz="2400" b="0">
                    <a:solidFill>
                      <a:srgbClr val="111827"/>
                    </a:solidFill>
                    <a:latin typeface="Arial"/>
                  </a:rPr>
                  <a:t>. Options (C) and (D) contain </a:t>
                </a:r>
                <a:r>
                  <a:rPr lang="en-IN" sz="2400">
                    <a:solidFill>
                      <a:srgbClr val="111827"/>
                    </a:solidFill>
                    <a:latin typeface="Cambria Math" panose="02040503050406030204" pitchFamily="18" charset="0"/>
                  </a:rPr>
                  <a:t>$\sec^{-1}$</a:t>
                </a:r>
                <a:r>
                  <a:rPr sz="2400" b="0">
                    <a:solidFill>
                      <a:srgbClr val="111827"/>
                    </a:solidFill>
                    <a:latin typeface="Arial"/>
                  </a:rPr>
                  <a:t> of a number in </a:t>
                </a:r>
                <a:r>
                  <a:rPr lang="en-IN" sz="2400">
                    <a:solidFill>
                      <a:srgbClr val="111827"/>
                    </a:solidFill>
                    <a:latin typeface="Cambria Math" panose="02040503050406030204" pitchFamily="18" charset="0"/>
                  </a:rPr>
                  <a:t>$(-1,1)$</a:t>
                </a:r>
                <a:r>
                  <a:rPr sz="2400" b="0">
                    <a:solidFill>
                      <a:srgbClr val="111827"/>
                    </a:solidFill>
                    <a:latin typeface="Arial"/>
                  </a:rPr>
                  <a:t>, which is undefined, so they are impossible.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integrand has the sign of </a:t>
                </a:r>
                <a:r>
                  <a:rPr lang="en-IN" sz="2400">
                    <a:solidFill>
                      <a:srgbClr val="111827"/>
                    </a:solidFill>
                    <a:latin typeface="Cambria Math" panose="02040503050406030204" pitchFamily="18" charset="0"/>
                  </a:rPr>
                  <a:t>$\sin x-\cos x$</a:t>
                </a:r>
                <a:r>
                  <a:rPr sz="2400" b="0">
                    <a:solidFill>
                      <a:srgbClr val="111827"/>
                    </a:solidFill>
                    <a:latin typeface="Arial"/>
                  </a:rPr>
                  <a:t>: negative on </a:t>
                </a:r>
                <a:r>
                  <a:rPr lang="en-IN" sz="2400">
                    <a:solidFill>
                      <a:srgbClr val="111827"/>
                    </a:solidFill>
                    <a:latin typeface="Cambria Math" panose="02040503050406030204" pitchFamily="18" charset="0"/>
                  </a:rPr>
                  <a:t>$\left(0,\frac\pi4\right)$</a:t>
                </a:r>
                <a:r>
                  <a:rPr sz="2400" b="0">
                    <a:solidFill>
                      <a:srgbClr val="111827"/>
                    </a:solidFill>
                    <a:latin typeface="Arial"/>
                  </a:rPr>
                  <a:t>, so the antiderivative must be decreasing there.</a:t>
                </a:r>
                <a:endParaRPr sz="2400">
                  <a:solidFill>
                    <a:srgbClr val="111827"/>
                  </a:solidFill>
                </a:endParaRPr>
              </a:p>
            </p:txBody>
          </p:sp>
        </mc:Fallback>
      </mc:AlternateContent>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On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e>
                    </m:d>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oMath>
                </a14:m>
                <a:r>
                  <a:rPr sz="2400" b="0">
                    <a:solidFill>
                      <a:srgbClr val="111827"/>
                    </a:solidFill>
                    <a:latin typeface="Arial"/>
                  </a:rPr>
                  <a:t> increases from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to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 so </a:t>
                </a:r>
                <a14:m>
                  <m:oMath xmlns:m="http://schemas.openxmlformats.org/officeDocument/2006/math">
                    <m:sSup>
                      <m:e>
                        <m:r>
                          <m:rPr>
                            <m:sty m:val="p"/>
                          </m:rPr>
                          <a:rPr lang="en-IN" sz="2400">
                            <a:solidFill>
                              <a:srgbClr val="111827"/>
                            </a:solidFill>
                            <a:latin typeface="Cambria Math" panose="02040503050406030204" pitchFamily="18" charset="0"/>
                          </a:rPr>
                          <m:t>sec</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increases. Option (A) would be increasing, which is wrong.</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Option (B) is decreasing there. Checking by differentiation: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sec</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𝑡</m:t>
                        </m:r>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𝑡</m:t>
                            </m:r>
                          </m:e>
                          <m:sup>
                            <m:r>
                              <m:rPr>
                                <m:sty m:val="p"/>
                              </m:rPr>
                              <a:rPr lang="en-IN" sz="2400">
                                <a:solidFill>
                                  <a:srgbClr val="111827"/>
                                </a:solidFill>
                                <a:latin typeface="Cambria Math" panose="02040503050406030204" pitchFamily="18" charset="0"/>
                              </a:rPr>
                              <m:t>′</m:t>
                            </m:r>
                          </m:sup>
                        </m:sSup>
                      </m:num>
                      <m:den>
                        <m:r>
                          <a:rPr lang="en-IN" sz="2400" i="1">
                            <a:solidFill>
                              <a:srgbClr val="111827"/>
                            </a:solidFill>
                            <a:latin typeface="Cambria Math" panose="02040503050406030204" pitchFamily="18" charset="0"/>
                          </a:rPr>
                          <m:t>𝑡</m:t>
                        </m:r>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num>
                      <m:den>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e>
                        </m:rad>
                      </m:den>
                    </m:f>
                  </m:oMath>
                </a14:m>
                <a:r>
                  <a:rPr sz="2400" b="0">
                    <a:solidFill>
                      <a:srgbClr val="111827"/>
                    </a:solidFill>
                    <a:latin typeface="Arial"/>
                  </a:rPr>
                  <a:t>. So (B) is correct.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On </a:t>
                </a:r>
                <a:r>
                  <a:rPr lang="en-IN" sz="2400">
                    <a:solidFill>
                      <a:srgbClr val="111827"/>
                    </a:solidFill>
                    <a:latin typeface="Cambria Math" panose="02040503050406030204" pitchFamily="18" charset="0"/>
                  </a:rPr>
                  <a:t>$\left(0,\frac\pi4\right)$</a:t>
                </a:r>
                <a:r>
                  <a:rPr sz="2400" b="0">
                    <a:solidFill>
                      <a:srgbClr val="111827"/>
                    </a:solidFill>
                    <a:latin typeface="Arial"/>
                  </a:rPr>
                  <a:t>, </a:t>
                </a:r>
                <a:r>
                  <a:rPr lang="en-IN" sz="2400">
                    <a:solidFill>
                      <a:srgbClr val="111827"/>
                    </a:solidFill>
                    <a:latin typeface="Cambria Math" panose="02040503050406030204" pitchFamily="18" charset="0"/>
                  </a:rPr>
                  <a:t>$\sin x+\cos x$</a:t>
                </a:r>
                <a:r>
                  <a:rPr sz="2400" b="0">
                    <a:solidFill>
                      <a:srgbClr val="111827"/>
                    </a:solidFill>
                    <a:latin typeface="Arial"/>
                  </a:rPr>
                  <a:t> increases from </a:t>
                </a:r>
                <a:r>
                  <a:rPr lang="en-IN" sz="2400">
                    <a:solidFill>
                      <a:srgbClr val="111827"/>
                    </a:solidFill>
                    <a:latin typeface="Cambria Math" panose="02040503050406030204" pitchFamily="18" charset="0"/>
                  </a:rPr>
                  <a:t>$1$</a:t>
                </a:r>
                <a:r>
                  <a:rPr sz="2400" b="0">
                    <a:solidFill>
                      <a:srgbClr val="111827"/>
                    </a:solidFill>
                    <a:latin typeface="Arial"/>
                  </a:rPr>
                  <a:t> to </a:t>
                </a:r>
                <a:r>
                  <a:rPr lang="en-IN" sz="2400">
                    <a:solidFill>
                      <a:srgbClr val="111827"/>
                    </a:solidFill>
                    <a:latin typeface="Cambria Math" panose="02040503050406030204" pitchFamily="18" charset="0"/>
                  </a:rPr>
                  <a:t>$\sqrt2$</a:t>
                </a:r>
                <a:r>
                  <a:rPr sz="2400" b="0">
                    <a:solidFill>
                      <a:srgbClr val="111827"/>
                    </a:solidFill>
                    <a:latin typeface="Arial"/>
                  </a:rPr>
                  <a:t>, so </a:t>
                </a:r>
                <a:r>
                  <a:rPr lang="en-IN" sz="2400">
                    <a:solidFill>
                      <a:srgbClr val="111827"/>
                    </a:solidFill>
                    <a:latin typeface="Cambria Math" panose="02040503050406030204" pitchFamily="18" charset="0"/>
                  </a:rPr>
                  <a:t>$\sec^{-1}(\sin x+\cos x)$</a:t>
                </a:r>
                <a:r>
                  <a:rPr sz="2400" b="0">
                    <a:solidFill>
                      <a:srgbClr val="111827"/>
                    </a:solidFill>
                    <a:latin typeface="Arial"/>
                  </a:rPr>
                  <a:t> increases. Option (A) would be increasing, which is wrong.</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Option (B) is decreasing there. Checking by differentiation: </a:t>
                </a:r>
                <a:r>
                  <a:rPr lang="en-IN" sz="2400">
                    <a:solidFill>
                      <a:srgbClr val="111827"/>
                    </a:solidFill>
                    <a:latin typeface="Cambria Math" panose="02040503050406030204" pitchFamily="18" charset="0"/>
                  </a:rPr>
                  <a:t>$\frac d{dx}\left[-\sec^{-1}t\right]=-\frac{t'}{t\sqrt{t^2-1}}=\frac{\sin x-\cos x}{(\sin x+\cos x)\sqrt{\sin2x}}$</a:t>
                </a:r>
                <a:r>
                  <a:rPr sz="2400" b="0">
                    <a:solidFill>
                      <a:srgbClr val="111827"/>
                    </a:solidFill>
                    <a:latin typeface="Arial"/>
                  </a:rPr>
                  <a:t>. So (B) is correct.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14:m>
                  <m:oMath xmlns:m="http://schemas.openxmlformats.org/officeDocument/2006/math">
                    <m:r>
                      <m:rPr>
                        <m:sty m:val="p"/>
                      </m:rPr>
                      <a:rPr lang="en-IN" sz="2800">
                        <a:solidFill>
                          <a:srgbClr val="15803D"/>
                        </a:solidFill>
                        <a:latin typeface="Cambria Math" panose="02040503050406030204" pitchFamily="18" charset="0"/>
                      </a:rPr>
                      <m:t>−</m:t>
                    </m:r>
                    <m:sSup>
                      <m:e>
                        <m:r>
                          <m:rPr>
                            <m:sty m:val="p"/>
                          </m:rPr>
                          <a:rPr lang="en-IN" sz="2800">
                            <a:solidFill>
                              <a:srgbClr val="15803D"/>
                            </a:solidFill>
                            <a:latin typeface="Cambria Math" panose="02040503050406030204" pitchFamily="18" charset="0"/>
                          </a:rPr>
                          <m:t>sec</m:t>
                        </m:r>
                      </m:e>
                      <m:sup>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sup>
                    </m:sSup>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sin</m:t>
                    </m:r>
                    <m:r>
                      <a:rPr lang="en-IN" sz="2800" i="1">
                        <a:solidFill>
                          <a:srgbClr val="15803D"/>
                        </a:solidFill>
                        <a:latin typeface="Cambria Math" panose="02040503050406030204" pitchFamily="18" charset="0"/>
                      </a:rPr>
                      <m:t>𝑥</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cos</m:t>
                    </m:r>
                    <m:r>
                      <a:rPr lang="en-IN" sz="2800" i="1">
                        <a:solidFill>
                          <a:srgbClr val="15803D"/>
                        </a:solidFill>
                        <a:latin typeface="Cambria Math" panose="02040503050406030204" pitchFamily="18" charset="0"/>
                      </a:rPr>
                      <m:t>𝑥</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𝐶</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r>
                  <a:rPr lang="en-IN" sz="2800">
                    <a:solidFill>
                      <a:srgbClr val="15803D"/>
                    </a:solidFill>
                    <a:latin typeface="Cambria Math" panose="02040503050406030204" pitchFamily="18" charset="0"/>
                  </a:rPr>
                  <a:t>$-\sec^{-1}(\sin x+\cos x)+C$</a:t>
                </a:r>
                <a:endParaRPr sz="2800">
                  <a:solidFill>
                    <a:srgbClr val="15803D"/>
                  </a:solidFill>
                </a:endParaRPr>
              </a:p>
            </p:txBody>
          </p:sp>
        </mc:Fallback>
      </mc:AlternateContent>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pair </a:t>
                </a: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oMath>
                </a14:m>
                <a:r>
                  <a:rPr sz="2400" b="0">
                    <a:solidFill>
                      <a:srgbClr val="111827"/>
                    </a:solidFill>
                    <a:latin typeface="Arial"/>
                  </a:rPr>
                  <a:t>. A factor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oMath>
                </a14:m>
                <a:r>
                  <a:rPr sz="2400" b="0">
                    <a:solidFill>
                      <a:srgbClr val="111827"/>
                    </a:solidFill>
                    <a:latin typeface="Arial"/>
                  </a:rPr>
                  <a:t> in the numerator signals this substitution.</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num>
                      <m:den>
                        <m:r>
                          <a:rPr lang="en-IN" sz="2400" i="1">
                            <a:solidFill>
                              <a:srgbClr val="111827"/>
                            </a:solidFill>
                            <a:latin typeface="Cambria Math" panose="02040503050406030204" pitchFamily="18" charset="0"/>
                          </a:rPr>
                          <m:t>𝑡</m:t>
                        </m:r>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rad>
                      </m:den>
                    </m:f>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sec</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Similarly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num>
                      <m:den>
                        <m:rad>
                          <m:radPr>
                            <m:degHide m:val="on"/>
                            <m:ctrlPr>
                              <a:rPr lang="en-IN" sz="2400" i="1">
                                <a:solidFill>
                                  <a:srgbClr val="111827"/>
                                </a:solidFill>
                                <a:latin typeface="Cambria Math" panose="02040503050406030204" pitchFamily="18" charset="0"/>
                              </a:rPr>
                            </m:ctrlPr>
                          </m:radPr>
                          <m:deg/>
                          <m:e>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e>
                        </m:rad>
                      </m:den>
                    </m:f>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on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MCQs check the domain of inverse functions in the options before integrating.</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pair </a:t>
                </a:r>
                <a:r>
                  <a:rPr lang="en-IN" sz="2400">
                    <a:solidFill>
                      <a:srgbClr val="111827"/>
                    </a:solidFill>
                    <a:latin typeface="Cambria Math" panose="02040503050406030204" pitchFamily="18" charset="0"/>
                  </a:rPr>
                  <a:t>$\sin x\pm\cos x$</a:t>
                </a:r>
                <a:r>
                  <a:rPr sz="2400" b="0">
                    <a:solidFill>
                      <a:srgbClr val="111827"/>
                    </a:solidFill>
                    <a:latin typeface="Arial"/>
                  </a:rPr>
                  <a:t>: </a:t>
                </a:r>
                <a:r>
                  <a:rPr lang="en-IN" sz="2400">
                    <a:solidFill>
                      <a:srgbClr val="111827"/>
                    </a:solidFill>
                    <a:latin typeface="Cambria Math" panose="02040503050406030204" pitchFamily="18" charset="0"/>
                  </a:rPr>
                  <a:t>$d(\sin x+\cos x)=(\cos x-\sin x)dx$</a:t>
                </a:r>
                <a:r>
                  <a:rPr sz="2400" b="0">
                    <a:solidFill>
                      <a:srgbClr val="111827"/>
                    </a:solidFill>
                    <a:latin typeface="Arial"/>
                  </a:rPr>
                  <a:t> and </a:t>
                </a:r>
                <a:r>
                  <a:rPr lang="en-IN" sz="2400">
                    <a:solidFill>
                      <a:srgbClr val="111827"/>
                    </a:solidFill>
                    <a:latin typeface="Cambria Math" panose="02040503050406030204" pitchFamily="18" charset="0"/>
                  </a:rPr>
                  <a:t>$(\sin x\pm\cos x)^2=1\pm\sin2x$</a:t>
                </a:r>
                <a:r>
                  <a:rPr sz="2400" b="0">
                    <a:solidFill>
                      <a:srgbClr val="111827"/>
                    </a:solidFill>
                    <a:latin typeface="Arial"/>
                  </a:rPr>
                  <a:t>. A factor </a:t>
                </a:r>
                <a:r>
                  <a:rPr lang="en-IN" sz="2400">
                    <a:solidFill>
                      <a:srgbClr val="111827"/>
                    </a:solidFill>
                    <a:latin typeface="Cambria Math" panose="02040503050406030204" pitchFamily="18" charset="0"/>
                  </a:rPr>
                  <a:t>$(\sin x\mp\cos x)\,dx$</a:t>
                </a:r>
                <a:r>
                  <a:rPr sz="2400" b="0">
                    <a:solidFill>
                      <a:srgbClr val="111827"/>
                    </a:solidFill>
                    <a:latin typeface="Arial"/>
                  </a:rPr>
                  <a:t> in the numerator signals this substitution.</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$\int\frac{dt}{t\sqrt{t^2-1}}=\sec^{-1}t+C$</a:t>
                </a:r>
                <a:r>
                  <a:rPr sz="2400" b="0">
                    <a:solidFill>
                      <a:srgbClr val="111827"/>
                    </a:solidFill>
                    <a:latin typeface="Arial"/>
                  </a:rPr>
                  <a:t> for </a:t>
                </a:r>
                <a:r>
                  <a:rPr lang="en-IN" sz="2400">
                    <a:solidFill>
                      <a:srgbClr val="111827"/>
                    </a:solidFill>
                    <a:latin typeface="Cambria Math" panose="02040503050406030204" pitchFamily="18" charset="0"/>
                  </a:rPr>
                  <a:t>$t&gt;1$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Similarly </a:t>
                </a:r>
                <a:r>
                  <a:rPr lang="en-IN" sz="2400">
                    <a:solidFill>
                      <a:srgbClr val="111827"/>
                    </a:solidFill>
                    <a:latin typeface="Cambria Math" panose="02040503050406030204" pitchFamily="18" charset="0"/>
                  </a:rPr>
                  <a:t>$\int\frac{\cos x+\sin x}{\sqrt{\sin2x}}dx=\sin^{-1}(\sin x-\cos x)+C$</a:t>
                </a:r>
                <a:r>
                  <a:rPr sz="2400" b="0">
                    <a:solidFill>
                      <a:srgbClr val="111827"/>
                    </a:solidFill>
                    <a:latin typeface="Arial"/>
                  </a:rPr>
                  <a:t> on </a:t>
                </a:r>
                <a:r>
                  <a:rPr lang="en-IN" sz="2400">
                    <a:solidFill>
                      <a:srgbClr val="111827"/>
                    </a:solidFill>
                    <a:latin typeface="Cambria Math" panose="02040503050406030204" pitchFamily="18" charset="0"/>
                  </a:rPr>
                  <a:t>$\left(0,\frac\pi2\right)$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MCQs check the domain of inverse functions in the options before integrating.</a:t>
                </a:r>
                <a:endParaRPr sz="2400">
                  <a:solidFill>
                    <a:srgbClr val="111827"/>
                  </a:solidFill>
                </a:endParaRPr>
              </a:p>
            </p:txBody>
          </p:sp>
        </mc:Fallback>
      </mc:AlternateContent>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93C47D"/>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0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40080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 curve is given parametrically by the equations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then the value of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(B)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endParaRPr sz="2400">
                  <a:solidFill>
                    <a:srgbClr val="111827"/>
                  </a:solidFill>
                </a:endParaRPr>
              </a:p>
            </p:txBody>
          </p:sp>
        </mc:Choice>
        <mc:Fallback>
          <p:sp>
            <p:nvSpPr>
              <p:cNvPr id="4" name="Rounded Rectangle 3"/>
              <p:cNvSpPr/>
              <p:nvPr/>
            </p:nvSpPr>
            <p:spPr>
              <a:xfrm>
                <a:off x="731520" y="1280160"/>
                <a:ext cx="10725912" cy="240080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 curve is given parametrically by the equations </a:t>
                </a:r>
                <a:r>
                  <a:rPr lang="en-IN" sz="2400">
                    <a:solidFill>
                      <a:srgbClr val="111827"/>
                    </a:solidFill>
                    <a:latin typeface="Cambria Math" panose="02040503050406030204" pitchFamily="18" charset="0"/>
                  </a:rPr>
                  <a:t>$x=a(\theta+\sin\theta)$</a:t>
                </a:r>
                <a:r>
                  <a:rPr sz="2400" b="0">
                    <a:solidFill>
                      <a:srgbClr val="111827"/>
                    </a:solidFill>
                    <a:latin typeface="Arial"/>
                  </a:rPr>
                  <a:t> and </a:t>
                </a:r>
                <a:r>
                  <a:rPr lang="en-IN" sz="2400">
                    <a:solidFill>
                      <a:srgbClr val="111827"/>
                    </a:solidFill>
                    <a:latin typeface="Cambria Math" panose="02040503050406030204" pitchFamily="18" charset="0"/>
                  </a:rPr>
                  <a:t>$y=a(1-\cos\theta)$</a:t>
                </a:r>
                <a:r>
                  <a:rPr sz="2400" b="0">
                    <a:solidFill>
                      <a:srgbClr val="111827"/>
                    </a:solidFill>
                    <a:latin typeface="Arial"/>
                  </a:rPr>
                  <a:t>, where </a:t>
                </a:r>
                <a:r>
                  <a:rPr lang="en-IN" sz="2400">
                    <a:solidFill>
                      <a:srgbClr val="111827"/>
                    </a:solidFill>
                    <a:latin typeface="Cambria Math" panose="02040503050406030204" pitchFamily="18" charset="0"/>
                  </a:rPr>
                  <a:t>$a&gt;0$</a:t>
                </a:r>
                <a:r>
                  <a:rPr sz="2400" b="0">
                    <a:solidFill>
                      <a:srgbClr val="111827"/>
                    </a:solidFill>
                    <a:latin typeface="Arial"/>
                  </a:rPr>
                  <a:t>, then the value of </a:t>
                </a:r>
                <a:r>
                  <a:rPr lang="en-IN" sz="2400">
                    <a:solidFill>
                      <a:srgbClr val="111827"/>
                    </a:solidFill>
                    <a:latin typeface="Cambria Math" panose="02040503050406030204" pitchFamily="18" charset="0"/>
                  </a:rPr>
                  <a:t>$\frac{dy}{dx}$</a:t>
                </a:r>
                <a:r>
                  <a:rPr sz="2400" b="0">
                    <a:solidFill>
                      <a:srgbClr val="111827"/>
                    </a:solidFill>
                    <a:latin typeface="Arial"/>
                  </a:rPr>
                  <a:t> at </a:t>
                </a:r>
                <a:r>
                  <a:rPr lang="en-IN" sz="2400">
                    <a:solidFill>
                      <a:srgbClr val="111827"/>
                    </a:solidFill>
                    <a:latin typeface="Cambria Math" panose="02040503050406030204" pitchFamily="18" charset="0"/>
                  </a:rPr>
                  <a:t>$\theta=\frac\pi2$</a:t>
                </a:r>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$1$</a:t>
                </a:r>
                <a:r>
                  <a:rPr sz="2400" b="0">
                    <a:solidFill>
                      <a:srgbClr val="111827"/>
                    </a:solidFill>
                    <a:latin typeface="Arial"/>
                  </a:rPr>
                  <a:t>   (B) </a:t>
                </a:r>
                <a:r>
                  <a:rPr lang="en-IN" sz="2400">
                    <a:solidFill>
                      <a:srgbClr val="111827"/>
                    </a:solidFill>
                    <a:latin typeface="Cambria Math" panose="02040503050406030204" pitchFamily="18" charset="0"/>
                  </a:rPr>
                  <a:t>$-1$</a:t>
                </a:r>
                <a:r>
                  <a:rPr sz="2400" b="0">
                    <a:solidFill>
                      <a:srgbClr val="111827"/>
                    </a:solidFill>
                    <a:latin typeface="Arial"/>
                  </a:rPr>
                  <a:t>   (C) </a:t>
                </a:r>
                <a:r>
                  <a:rPr lang="en-IN" sz="2400">
                    <a:solidFill>
                      <a:srgbClr val="111827"/>
                    </a:solidFill>
                    <a:latin typeface="Cambria Math" panose="02040503050406030204" pitchFamily="18" charset="0"/>
                  </a:rPr>
                  <a:t>$0$</a:t>
                </a:r>
                <a:r>
                  <a:rPr sz="2400" b="0">
                    <a:solidFill>
                      <a:srgbClr val="111827"/>
                    </a:solidFill>
                    <a:latin typeface="Arial"/>
                  </a:rPr>
                  <a:t>   (D) </a:t>
                </a:r>
                <a:r>
                  <a:rPr lang="en-IN" sz="2400">
                    <a:solidFill>
                      <a:srgbClr val="111827"/>
                    </a:solidFill>
                    <a:latin typeface="Cambria Math" panose="02040503050406030204" pitchFamily="18" charset="0"/>
                  </a:rPr>
                  <a:t>$\frac12$</a:t>
                </a:r>
                <a:endParaRPr sz="2400">
                  <a:solidFill>
                    <a:srgbClr val="111827"/>
                  </a:solidFill>
                </a:endParaRPr>
              </a:p>
            </p:txBody>
          </p:sp>
        </mc:Fallback>
      </mc:AlternateContent>
      <p:sp>
        <p:nvSpPr>
          <p:cNvPr id="5" name="Rectangle 4"/>
          <p:cNvSpPr/>
          <p:nvPr/>
        </p:nvSpPr>
        <p:spPr>
          <a:xfrm>
            <a:off x="731520" y="3909567"/>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Differentiation of a function given in parametric form</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0(Easier than JEE Main Level)</a:t>
            </a:r>
            <a:endParaRPr sz="2400">
              <a:solidFill>
                <a:srgbClr val="111827"/>
              </a:solidFill>
            </a:endParaRP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93C47D"/>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0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𝑦</m:t>
                        </m:r>
                      </m:num>
                      <m:den>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𝑥</m:t>
                        </m:r>
                      </m:den>
                    </m:f>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θ</m:t>
                        </m:r>
                      </m:num>
                      <m:den>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θ</m:t>
                        </m:r>
                      </m:den>
                    </m:f>
                  </m:oMath>
                </a14:m>
                <a:r>
                  <a:rPr sz="2400" b="0">
                    <a:solidFill>
                      <a:srgbClr val="78350F"/>
                    </a:solidFill>
                    <a:latin typeface="Arial"/>
                  </a:rPr>
                  <a:t>, which simplifies to </a:t>
                </a:r>
                <a14:m>
                  <m:oMath xmlns:m="http://schemas.openxmlformats.org/officeDocument/2006/math">
                    <m:r>
                      <m:rPr>
                        <m:sty m:val="p"/>
                      </m:rPr>
                      <a:rPr lang="en-IN" sz="2400">
                        <a:solidFill>
                          <a:srgbClr val="78350F"/>
                        </a:solidFill>
                        <a:latin typeface="Cambria Math" panose="02040503050406030204" pitchFamily="18" charset="0"/>
                      </a:rPr>
                      <m:t>tan</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θ</m:t>
                        </m:r>
                      </m:num>
                      <m:den>
                        <m:r>
                          <a:rPr lang="en-IN" sz="2400" i="1">
                            <a:solidFill>
                              <a:srgbClr val="78350F"/>
                            </a:solidFill>
                            <a:latin typeface="Cambria Math" panose="02040503050406030204" pitchFamily="18" charset="0"/>
                          </a:rPr>
                          <m:t>2</m:t>
                        </m:r>
                      </m:den>
                    </m:f>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$\frac{dy}{dx}=\frac{dy/d\theta}{dx/d\theta}$</a:t>
                </a:r>
                <a:r>
                  <a:rPr sz="2400" b="0">
                    <a:solidFill>
                      <a:srgbClr val="78350F"/>
                    </a:solidFill>
                    <a:latin typeface="Arial"/>
                  </a:rPr>
                  <a:t>, which simplifies to </a:t>
                </a:r>
                <a:r>
                  <a:rPr lang="en-IN" sz="2400">
                    <a:solidFill>
                      <a:srgbClr val="78350F"/>
                    </a:solidFill>
                    <a:latin typeface="Cambria Math" panose="02040503050406030204" pitchFamily="18" charset="0"/>
                  </a:rPr>
                  <a:t>$\tan\frac\theta2$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746248"/>
                <a:ext cx="10725912" cy="304190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Parametric equations: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Differentiating with respect to </a:t>
                </a:r>
                <a14:m>
                  <m:oMath xmlns:m="http://schemas.openxmlformats.org/officeDocument/2006/math">
                    <m:r>
                      <a:rPr lang="en-IN" sz="2400" i="1">
                        <a:solidFill>
                          <a:srgbClr val="111827"/>
                        </a:solidFill>
                        <a:latin typeface="Cambria Math" panose="02040503050406030204" pitchFamily="18" charset="0"/>
                      </a:rPr>
                      <m:t>θ</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θ</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θ</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θ</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θ</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num>
                      <m:den>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14:m>
                  <m:oMath xmlns:m="http://schemas.openxmlformats.org/officeDocument/2006/math">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sin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746248"/>
                <a:ext cx="10725912" cy="304190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Parametric equations: </a:t>
                </a:r>
                <a:r>
                  <a:rPr lang="en-IN" sz="2400">
                    <a:solidFill>
                      <a:srgbClr val="111827"/>
                    </a:solidFill>
                    <a:latin typeface="Cambria Math" panose="02040503050406030204" pitchFamily="18" charset="0"/>
                  </a:rPr>
                  <a:t>$x=a(\theta+\sin\theta)$</a:t>
                </a:r>
                <a:r>
                  <a:rPr sz="2400" b="0">
                    <a:solidFill>
                      <a:srgbClr val="111827"/>
                    </a:solidFill>
                    <a:latin typeface="Arial"/>
                  </a:rPr>
                  <a:t>, </a:t>
                </a:r>
                <a:r>
                  <a:rPr lang="en-IN" sz="2400">
                    <a:solidFill>
                      <a:srgbClr val="111827"/>
                    </a:solidFill>
                    <a:latin typeface="Cambria Math" panose="02040503050406030204" pitchFamily="18" charset="0"/>
                  </a:rPr>
                  <a:t>$y=a(1-\cos\theta)$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Differentiating with respect to </a:t>
                </a:r>
                <a:r>
                  <a:rPr lang="en-IN" sz="2400">
                    <a:solidFill>
                      <a:srgbClr val="111827"/>
                    </a:solidFill>
                    <a:latin typeface="Cambria Math" panose="02040503050406030204" pitchFamily="18" charset="0"/>
                  </a:rPr>
                  <a:t>$\theta$</a:t>
                </a:r>
                <a:r>
                  <a:rPr sz="2400" b="0">
                    <a:solidFill>
                      <a:srgbClr val="111827"/>
                    </a:solidFill>
                    <a:latin typeface="Arial"/>
                  </a:rPr>
                  <a:t>: </a:t>
                </a:r>
                <a:r>
                  <a:rPr lang="en-IN" sz="2400">
                    <a:solidFill>
                      <a:srgbClr val="111827"/>
                    </a:solidFill>
                    <a:latin typeface="Cambria Math" panose="02040503050406030204" pitchFamily="18" charset="0"/>
                  </a:rPr>
                  <a:t>$\frac{dx}{d\theta}=a(1+\cos\theta)$</a:t>
                </a:r>
                <a:r>
                  <a:rPr sz="2400" b="0">
                    <a:solidFill>
                      <a:srgbClr val="111827"/>
                    </a:solidFill>
                    <a:latin typeface="Arial"/>
                  </a:rPr>
                  <a:t> and </a:t>
                </a:r>
                <a:r>
                  <a:rPr lang="en-IN" sz="2400">
                    <a:solidFill>
                      <a:srgbClr val="111827"/>
                    </a:solidFill>
                    <a:latin typeface="Cambria Math" panose="02040503050406030204" pitchFamily="18" charset="0"/>
                  </a:rPr>
                  <a:t>$\frac{dy}{d\theta}=a\sin\theta$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$\frac{dy}{dx}=\frac{dy/d\theta}{dx/d\theta}=\frac{a\sin\theta}{a(1+\cos\theta)}=\frac{\sin\theta}{1+\cos\theta}$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r>
                  <a:rPr lang="en-IN" sz="2400">
                    <a:solidFill>
                      <a:srgbClr val="111827"/>
                    </a:solidFill>
                    <a:latin typeface="Cambria Math" panose="02040503050406030204" pitchFamily="18" charset="0"/>
                  </a:rPr>
                  <a:t>$\theta=\frac\pi2$</a:t>
                </a:r>
                <a:r>
                  <a:rPr sz="2400" b="0">
                    <a:solidFill>
                      <a:srgbClr val="111827"/>
                    </a:solidFill>
                    <a:latin typeface="Arial"/>
                  </a:rPr>
                  <a:t>: </a:t>
                </a:r>
                <a:r>
                  <a:rPr lang="en-IN" sz="2400">
                    <a:solidFill>
                      <a:srgbClr val="111827"/>
                    </a:solidFill>
                    <a:latin typeface="Cambria Math" panose="02040503050406030204" pitchFamily="18" charset="0"/>
                  </a:rPr>
                  <a:t>$\frac{dy}{dx}=\frac{\sin(\pi/2)}{1+\cos(\pi/2)}=\frac1{1+0}=1$</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1</a:t>
            </a:r>
            <a:endParaRPr sz="2800">
              <a:solidFill>
                <a:srgbClr val="15803D"/>
              </a:solidFill>
            </a:endParaRP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93C47D"/>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0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Half-angle identities: </a:t>
                </a:r>
                <a14:m>
                  <m:oMath xmlns:m="http://schemas.openxmlformats.org/officeDocument/2006/math">
                    <m:f>
                      <m:fPr>
                        <m:type m:val="bar"/>
                        <m:ctrlPr>
                          <a:rPr lang="en-IN" sz="2400" i="1">
                            <a:solidFill>
                              <a:srgbClr val="78350F"/>
                            </a:solidFill>
                            <a:latin typeface="Cambria Math" panose="02040503050406030204" pitchFamily="18" charset="0"/>
                          </a:rPr>
                        </m:ctrlPr>
                      </m:fPr>
                      <m:num>
                        <m:r>
                          <m:rPr>
                            <m:sty m:val="p"/>
                          </m:rPr>
                          <a:rPr lang="en-IN" sz="2400">
                            <a:solidFill>
                              <a:srgbClr val="78350F"/>
                            </a:solidFill>
                            <a:latin typeface="Cambria Math" panose="02040503050406030204" pitchFamily="18" charset="0"/>
                          </a:rPr>
                          <m:t>sin</m:t>
                        </m:r>
                        <m:r>
                          <a:rPr lang="en-IN" sz="2400" i="1">
                            <a:solidFill>
                              <a:srgbClr val="78350F"/>
                            </a:solidFill>
                            <a:latin typeface="Cambria Math" panose="02040503050406030204" pitchFamily="18" charset="0"/>
                          </a:rPr>
                          <m:t>θ</m:t>
                        </m:r>
                      </m:num>
                      <m:den>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cos</m:t>
                        </m:r>
                        <m:r>
                          <a:rPr lang="en-IN" sz="2400" i="1">
                            <a:solidFill>
                              <a:srgbClr val="78350F"/>
                            </a:solidFill>
                            <a:latin typeface="Cambria Math" panose="02040503050406030204" pitchFamily="18" charset="0"/>
                          </a:rPr>
                          <m:t>θ</m:t>
                        </m:r>
                      </m:den>
                    </m:f>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tan</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θ</m:t>
                        </m:r>
                      </m:num>
                      <m:den>
                        <m:r>
                          <a:rPr lang="en-IN" sz="2400" i="1">
                            <a:solidFill>
                              <a:srgbClr val="78350F"/>
                            </a:solidFill>
                            <a:latin typeface="Cambria Math" panose="02040503050406030204" pitchFamily="18" charset="0"/>
                          </a:rPr>
                          <m:t>2</m:t>
                        </m:r>
                      </m:den>
                    </m:f>
                  </m:oMath>
                </a14:m>
                <a:r>
                  <a:rPr sz="2400" b="0">
                    <a:solidFill>
                      <a:srgbClr val="78350F"/>
                    </a:solidFill>
                    <a:latin typeface="Arial"/>
                  </a:rPr>
                  <a:t>, and the curve is an inverted cycloid.</a:t>
                </a:r>
                <a:endParaRPr sz="2400">
                  <a:solidFill>
                    <a:srgbClr val="78350F"/>
                  </a:solidFill>
                </a:endParaRPr>
              </a:p>
            </p:txBody>
          </p:sp>
        </mc:Choice>
        <mc:Fallback>
          <p:sp>
            <p:nvSpPr>
              <p:cNvPr id="5" name="Rounded Rectangle 4"/>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Half-angle identities: </a:t>
                </a:r>
                <a:r>
                  <a:rPr lang="en-IN" sz="2400">
                    <a:solidFill>
                      <a:srgbClr val="78350F"/>
                    </a:solidFill>
                    <a:latin typeface="Cambria Math" panose="02040503050406030204" pitchFamily="18" charset="0"/>
                  </a:rPr>
                  <a:t>$\frac{\sin\theta}{1+\cos\theta}=\tan\frac\theta2$</a:t>
                </a:r>
                <a:r>
                  <a:rPr sz="2400" b="0">
                    <a:solidFill>
                      <a:srgbClr val="78350F"/>
                    </a:solidFill>
                    <a:latin typeface="Arial"/>
                  </a:rPr>
                  <a:t>, and the curve is an inverted cycloid.</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746248"/>
                <a:ext cx="10725912" cy="304190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θ</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θ</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cos</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θ</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θ</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cos</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θ</m:t>
                            </m:r>
                          </m:num>
                          <m:den>
                            <m:r>
                              <a:rPr lang="en-IN" sz="2400" i="1">
                                <a:solidFill>
                                  <a:srgbClr val="111827"/>
                                </a:solidFill>
                                <a:latin typeface="Cambria Math" panose="02040503050406030204" pitchFamily="18" charset="0"/>
                              </a:rPr>
                              <m:t>2</m:t>
                            </m:r>
                          </m:den>
                        </m:f>
                      </m:num>
                      <m:den>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θ</m:t>
                            </m:r>
                          </m:num>
                          <m:den>
                            <m:r>
                              <a:rPr lang="en-IN" sz="2400" i="1">
                                <a:solidFill>
                                  <a:srgbClr val="111827"/>
                                </a:solidFill>
                                <a:latin typeface="Cambria Math" panose="02040503050406030204" pitchFamily="18" charset="0"/>
                              </a:rPr>
                              <m:t>2</m:t>
                            </m:r>
                          </m:den>
                        </m:f>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tan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θ</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14:m>
                  <m:oMath xmlns:m="http://schemas.openxmlformats.org/officeDocument/2006/math">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tan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746248"/>
                <a:ext cx="10725912" cy="304190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$1+\cos\theta=2\cos^2\frac\theta2$</a:t>
                </a:r>
                <a:r>
                  <a:rPr sz="2400" b="0">
                    <a:solidFill>
                      <a:srgbClr val="111827"/>
                    </a:solidFill>
                    <a:latin typeface="Arial"/>
                  </a:rPr>
                  <a:t> and </a:t>
                </a:r>
                <a:r>
                  <a:rPr lang="en-IN" sz="2400">
                    <a:solidFill>
                      <a:srgbClr val="111827"/>
                    </a:solidFill>
                    <a:latin typeface="Cambria Math" panose="02040503050406030204" pitchFamily="18" charset="0"/>
                  </a:rPr>
                  <a:t>$\sin\theta=2\sin\frac\theta2\cos\frac\theta2$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$\frac{dy}{dx}=\frac{2\sin\frac\theta2\cos\frac\theta2}{2\cos^2\frac\theta2}=\tan\frac\theta2$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r>
                  <a:rPr lang="en-IN" sz="2400">
                    <a:solidFill>
                      <a:srgbClr val="111827"/>
                    </a:solidFill>
                    <a:latin typeface="Cambria Math" panose="02040503050406030204" pitchFamily="18" charset="0"/>
                  </a:rPr>
                  <a:t>$\theta=\frac\pi2$</a:t>
                </a:r>
                <a:r>
                  <a:rPr sz="2400" b="0">
                    <a:solidFill>
                      <a:srgbClr val="111827"/>
                    </a:solidFill>
                    <a:latin typeface="Arial"/>
                  </a:rPr>
                  <a:t>: </a:t>
                </a:r>
                <a:r>
                  <a:rPr lang="en-IN" sz="2400">
                    <a:solidFill>
                      <a:srgbClr val="111827"/>
                    </a:solidFill>
                    <a:latin typeface="Cambria Math" panose="02040503050406030204" pitchFamily="18" charset="0"/>
                  </a:rPr>
                  <a:t>$\tan\frac\pi4=1$</a:t>
                </a:r>
                <a:r>
                  <a:rPr sz="2400" b="0">
                    <a:solidFill>
                      <a:srgbClr val="111827"/>
                    </a:solidFill>
                    <a:latin typeface="Arial"/>
                  </a:rPr>
                  <a:t>.</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1</a:t>
            </a:r>
            <a:endParaRPr sz="2800">
              <a:solidFill>
                <a:srgbClr val="15803D"/>
              </a:solidFill>
            </a:endParaRP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93C47D"/>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0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the cycloid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θ</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Here the sign of </a:t>
                </a: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oMath>
                </a14:m>
                <a:r>
                  <a:rPr sz="2400" b="0">
                    <a:solidFill>
                      <a:srgbClr val="111827"/>
                    </a:solidFill>
                    <a:latin typeface="Arial"/>
                  </a:rPr>
                  <a:t> in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is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the slope is </a:t>
                </a:r>
                <a14:m>
                  <m:oMath xmlns:m="http://schemas.openxmlformats.org/officeDocument/2006/math">
                    <m:r>
                      <m:rPr>
                        <m:sty m:val="p"/>
                      </m:rPr>
                      <a:rPr lang="en-IN" sz="2400">
                        <a:solidFill>
                          <a:srgbClr val="111827"/>
                        </a:solidFill>
                        <a:latin typeface="Cambria Math" panose="02040503050406030204" pitchFamily="18" charset="0"/>
                      </a:rPr>
                      <m:t>tan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θ</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θ</m:t>
                        </m:r>
                      </m:den>
                    </m:f>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θ</m:t>
                        </m:r>
                      </m:den>
                    </m:f>
                  </m:oMath>
                </a14:m>
                <a:r>
                  <a:rPr sz="2400" b="0">
                    <a:solidFill>
                      <a:srgbClr val="111827"/>
                    </a:solidFill>
                    <a:latin typeface="Arial"/>
                  </a:rPr>
                  <a:t>; here </a:t>
                </a:r>
                <a14:m>
                  <m:oMath xmlns:m="http://schemas.openxmlformats.org/officeDocument/2006/math">
                    <m:f>
                      <m:fPr>
                        <m:type m:val="bar"/>
                        <m:ctrlPr>
                          <a:rPr lang="en-IN" sz="2400" i="1">
                            <a:solidFill>
                              <a:srgbClr val="111827"/>
                            </a:solidFill>
                            <a:latin typeface="Cambria Math" panose="02040503050406030204" pitchFamily="18" charset="0"/>
                          </a:rPr>
                        </m:ctrlPr>
                      </m:fPr>
                      <m:num>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sSup>
                          <m:e>
                            <m:r>
                              <m:rPr>
                                <m:sty m:val="p"/>
                              </m:rPr>
                              <a:rPr lang="en-IN" sz="2400">
                                <a:solidFill>
                                  <a:srgbClr val="111827"/>
                                </a:solidFill>
                                <a:latin typeface="Cambria Math" panose="02040503050406030204" pitchFamily="18" charset="0"/>
                              </a:rPr>
                              <m:t>sec</m:t>
                            </m:r>
                          </m:e>
                          <m:sup>
                            <m:r>
                              <a:rPr lang="en-IN" sz="2400" i="1">
                                <a:solidFill>
                                  <a:srgbClr val="111827"/>
                                </a:solidFill>
                                <a:latin typeface="Cambria Math" panose="02040503050406030204" pitchFamily="18" charset="0"/>
                              </a:rPr>
                              <m:t>2</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θ</m:t>
                            </m:r>
                          </m:num>
                          <m:den>
                            <m:r>
                              <a:rPr lang="en-IN" sz="2400" i="1">
                                <a:solidFill>
                                  <a:srgbClr val="111827"/>
                                </a:solidFill>
                                <a:latin typeface="Cambria Math" panose="02040503050406030204" pitchFamily="18" charset="0"/>
                              </a:rPr>
                              <m:t>2</m:t>
                            </m:r>
                          </m:den>
                        </m:f>
                      </m:num>
                      <m:den>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𝑎</m:t>
                        </m:r>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4</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θ</m:t>
                            </m:r>
                          </m:num>
                          <m:den>
                            <m:r>
                              <a:rPr lang="en-IN" sz="2400" i="1">
                                <a:solidFill>
                                  <a:srgbClr val="111827"/>
                                </a:solidFill>
                                <a:latin typeface="Cambria Math" panose="02040503050406030204" pitchFamily="18" charset="0"/>
                              </a:rPr>
                              <m:t>2</m:t>
                            </m:r>
                          </m:den>
                        </m:f>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tan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θ</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num>
                      <m:den>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tan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θ</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are the two common half-angle forms.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14:m>
                  <m:oMath xmlns:m="http://schemas.openxmlformats.org/officeDocument/2006/math">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cancelled, the slope does not depend on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the cycloid </a:t>
                </a:r>
                <a:r>
                  <a:rPr lang="en-IN" sz="2400">
                    <a:solidFill>
                      <a:srgbClr val="111827"/>
                    </a:solidFill>
                    <a:latin typeface="Cambria Math" panose="02040503050406030204" pitchFamily="18" charset="0"/>
                  </a:rPr>
                  <a:t>$x=a(\theta-\sin\theta)$</a:t>
                </a:r>
                <a:r>
                  <a:rPr sz="2400" b="0">
                    <a:solidFill>
                      <a:srgbClr val="111827"/>
                    </a:solidFill>
                    <a:latin typeface="Arial"/>
                  </a:rPr>
                  <a:t>, </a:t>
                </a:r>
                <a:r>
                  <a:rPr lang="en-IN" sz="2400">
                    <a:solidFill>
                      <a:srgbClr val="111827"/>
                    </a:solidFill>
                    <a:latin typeface="Cambria Math" panose="02040503050406030204" pitchFamily="18" charset="0"/>
                  </a:rPr>
                  <a:t>$y=a(1-\cos\theta)$</a:t>
                </a:r>
                <a:r>
                  <a:rPr sz="2400" b="0">
                    <a:solidFill>
                      <a:srgbClr val="111827"/>
                    </a:solidFill>
                    <a:latin typeface="Arial"/>
                  </a:rPr>
                  <a:t>: </a:t>
                </a:r>
                <a:r>
                  <a:rPr lang="en-IN" sz="2400">
                    <a:solidFill>
                      <a:srgbClr val="111827"/>
                    </a:solidFill>
                    <a:latin typeface="Cambria Math" panose="02040503050406030204" pitchFamily="18" charset="0"/>
                  </a:rPr>
                  <a:t>$\frac{dy}{dx}=\cot\frac\theta2$</a:t>
                </a:r>
                <a:r>
                  <a:rPr sz="2400" b="0">
                    <a:solidFill>
                      <a:srgbClr val="111827"/>
                    </a:solidFill>
                    <a:latin typeface="Arial"/>
                  </a:rPr>
                  <a:t>. Here the sign of </a:t>
                </a:r>
                <a:r>
                  <a:rPr lang="en-IN" sz="2400">
                    <a:solidFill>
                      <a:srgbClr val="111827"/>
                    </a:solidFill>
                    <a:latin typeface="Cambria Math" panose="02040503050406030204" pitchFamily="18" charset="0"/>
                  </a:rPr>
                  <a:t>$\sin\theta$</a:t>
                </a:r>
                <a:r>
                  <a:rPr sz="2400" b="0">
                    <a:solidFill>
                      <a:srgbClr val="111827"/>
                    </a:solidFill>
                    <a:latin typeface="Arial"/>
                  </a:rPr>
                  <a:t> in </a:t>
                </a:r>
                <a:r>
                  <a:rPr lang="en-IN" sz="2400">
                    <a:solidFill>
                      <a:srgbClr val="111827"/>
                    </a:solidFill>
                    <a:latin typeface="Cambria Math" panose="02040503050406030204" pitchFamily="18" charset="0"/>
                  </a:rPr>
                  <a:t>$x$</a:t>
                </a:r>
                <a:r>
                  <a:rPr sz="2400" b="0">
                    <a:solidFill>
                      <a:srgbClr val="111827"/>
                    </a:solidFill>
                    <a:latin typeface="Arial"/>
                  </a:rPr>
                  <a:t> is </a:t>
                </a:r>
                <a:r>
                  <a:rPr lang="en-IN" sz="2400">
                    <a:solidFill>
                      <a:srgbClr val="111827"/>
                    </a:solidFill>
                    <a:latin typeface="Cambria Math" panose="02040503050406030204" pitchFamily="18" charset="0"/>
                  </a:rPr>
                  <a:t>$+$</a:t>
                </a:r>
                <a:r>
                  <a:rPr sz="2400" b="0">
                    <a:solidFill>
                      <a:srgbClr val="111827"/>
                    </a:solidFill>
                    <a:latin typeface="Arial"/>
                  </a:rPr>
                  <a:t>, so the slope is </a:t>
                </a:r>
                <a:r>
                  <a:rPr lang="en-IN" sz="2400">
                    <a:solidFill>
                      <a:srgbClr val="111827"/>
                    </a:solidFill>
                    <a:latin typeface="Cambria Math" panose="02040503050406030204" pitchFamily="18" charset="0"/>
                  </a:rPr>
                  <a:t>$\tan\frac\theta2$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$\frac{d^2y}{dx^2}=\frac{d}{d\theta}\left(\frac{dy}{dx}\right)\Big/\frac{dx}{d\theta}$</a:t>
                </a:r>
                <a:r>
                  <a:rPr sz="2400" b="0">
                    <a:solidFill>
                      <a:srgbClr val="111827"/>
                    </a:solidFill>
                    <a:latin typeface="Arial"/>
                  </a:rPr>
                  <a:t>; here </a:t>
                </a:r>
                <a:r>
                  <a:rPr lang="en-IN" sz="2400">
                    <a:solidFill>
                      <a:srgbClr val="111827"/>
                    </a:solidFill>
                    <a:latin typeface="Cambria Math" panose="02040503050406030204" pitchFamily="18" charset="0"/>
                  </a:rPr>
                  <a:t>$\frac{\frac12\sec^2\frac\theta2}{a(1+\cos\theta)}=\frac1{4a\cos^4\frac\theta2}$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$\frac{\sin\theta}{1+\cos\theta}=\tan\frac\theta2$</a:t>
                </a:r>
                <a:r>
                  <a:rPr sz="2400" b="0">
                    <a:solidFill>
                      <a:srgbClr val="111827"/>
                    </a:solidFill>
                    <a:latin typeface="Arial"/>
                  </a:rPr>
                  <a:t> and </a:t>
                </a:r>
                <a:r>
                  <a:rPr lang="en-IN" sz="2400">
                    <a:solidFill>
                      <a:srgbClr val="111827"/>
                    </a:solidFill>
                    <a:latin typeface="Cambria Math" panose="02040503050406030204" pitchFamily="18" charset="0"/>
                  </a:rPr>
                  <a:t>$\frac{1-\cos\theta}{\sin\theta}=\tan\frac\theta2$</a:t>
                </a:r>
                <a:r>
                  <a:rPr sz="2400" b="0">
                    <a:solidFill>
                      <a:srgbClr val="111827"/>
                    </a:solidFill>
                    <a:latin typeface="Arial"/>
                  </a:rPr>
                  <a:t> are the two common half-angle forms.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r>
                  <a:rPr lang="en-IN" sz="2400">
                    <a:solidFill>
                      <a:srgbClr val="111827"/>
                    </a:solidFill>
                    <a:latin typeface="Cambria Math" panose="02040503050406030204" pitchFamily="18" charset="0"/>
                  </a:rPr>
                  <a:t>$\theta=\frac\pi2$</a:t>
                </a:r>
                <a:r>
                  <a:rPr sz="2400" b="0">
                    <a:solidFill>
                      <a:srgbClr val="111827"/>
                    </a:solidFill>
                    <a:latin typeface="Arial"/>
                  </a:rPr>
                  <a:t> with </a:t>
                </a:r>
                <a:r>
                  <a:rPr lang="en-IN" sz="2400">
                    <a:solidFill>
                      <a:srgbClr val="111827"/>
                    </a:solidFill>
                    <a:latin typeface="Cambria Math" panose="02040503050406030204" pitchFamily="18" charset="0"/>
                  </a:rPr>
                  <a:t>$a$</a:t>
                </a:r>
                <a:r>
                  <a:rPr sz="2400" b="0">
                    <a:solidFill>
                      <a:srgbClr val="111827"/>
                    </a:solidFill>
                    <a:latin typeface="Arial"/>
                  </a:rPr>
                  <a:t> cancelled, the slope does not depend on </a:t>
                </a:r>
                <a:r>
                  <a:rPr lang="en-IN" sz="2400">
                    <a:solidFill>
                      <a:srgbClr val="111827"/>
                    </a:solidFill>
                    <a:latin typeface="Cambria Math" panose="02040503050406030204" pitchFamily="18" charset="0"/>
                  </a:rPr>
                  <a:t>$a$</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93C47D"/>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0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value of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at which the function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attains its local minimum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0</m:t>
                    </m:r>
                  </m:oMath>
                </a14:m>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value of </a:t>
                </a:r>
                <a:r>
                  <a:rPr lang="en-IN" sz="2400">
                    <a:solidFill>
                      <a:srgbClr val="111827"/>
                    </a:solidFill>
                    <a:latin typeface="Cambria Math" panose="02040503050406030204" pitchFamily="18" charset="0"/>
                  </a:rPr>
                  <a:t>$x$</a:t>
                </a:r>
                <a:r>
                  <a:rPr sz="2400" b="0">
                    <a:solidFill>
                      <a:srgbClr val="111827"/>
                    </a:solidFill>
                    <a:latin typeface="Arial"/>
                  </a:rPr>
                  <a:t> at which the function </a:t>
                </a:r>
                <a:r>
                  <a:rPr lang="en-IN" sz="2400">
                    <a:solidFill>
                      <a:srgbClr val="111827"/>
                    </a:solidFill>
                    <a:latin typeface="Cambria Math" panose="02040503050406030204" pitchFamily="18" charset="0"/>
                  </a:rPr>
                  <a:t>$f(x)=2x^3-9x^2+12x+1$</a:t>
                </a:r>
                <a:r>
                  <a:rPr sz="2400" b="0">
                    <a:solidFill>
                      <a:srgbClr val="111827"/>
                    </a:solidFill>
                    <a:latin typeface="Arial"/>
                  </a:rPr>
                  <a:t> attains its local minimum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$1$</a:t>
                </a:r>
                <a:r>
                  <a:rPr sz="2400" b="0">
                    <a:solidFill>
                      <a:srgbClr val="111827"/>
                    </a:solidFill>
                    <a:latin typeface="Arial"/>
                  </a:rPr>
                  <a:t>   (B) </a:t>
                </a:r>
                <a:r>
                  <a:rPr lang="en-IN" sz="2400">
                    <a:solidFill>
                      <a:srgbClr val="111827"/>
                    </a:solidFill>
                    <a:latin typeface="Cambria Math" panose="02040503050406030204" pitchFamily="18" charset="0"/>
                  </a:rPr>
                  <a:t>$2$</a:t>
                </a:r>
                <a:r>
                  <a:rPr sz="2400" b="0">
                    <a:solidFill>
                      <a:srgbClr val="111827"/>
                    </a:solidFill>
                    <a:latin typeface="Arial"/>
                  </a:rPr>
                  <a:t>   (C) </a:t>
                </a:r>
                <a:r>
                  <a:rPr lang="en-IN" sz="2400">
                    <a:solidFill>
                      <a:srgbClr val="111827"/>
                    </a:solidFill>
                    <a:latin typeface="Cambria Math" panose="02040503050406030204" pitchFamily="18" charset="0"/>
                  </a:rPr>
                  <a:t>$3$</a:t>
                </a:r>
                <a:r>
                  <a:rPr sz="2400" b="0">
                    <a:solidFill>
                      <a:srgbClr val="111827"/>
                    </a:solidFill>
                    <a:latin typeface="Arial"/>
                  </a:rPr>
                  <a:t>   (D) </a:t>
                </a:r>
                <a:r>
                  <a:rPr lang="en-IN" sz="2400">
                    <a:solidFill>
                      <a:srgbClr val="111827"/>
                    </a:solidFill>
                    <a:latin typeface="Cambria Math" panose="02040503050406030204" pitchFamily="18" charset="0"/>
                  </a:rPr>
                  <a:t>$0$</a:t>
                </a:r>
                <a:endParaRPr sz="2400">
                  <a:solidFill>
                    <a:srgbClr val="111827"/>
                  </a:solidFill>
                </a:endParaRPr>
              </a:p>
            </p:txBody>
          </p:sp>
        </mc:Fallback>
      </mc:AlternateContent>
      <p:sp>
        <p:nvSpPr>
          <p:cNvPr id="5" name="Rectangle 4"/>
          <p:cNvSpPr/>
          <p:nvPr/>
        </p:nvSpPr>
        <p:spPr>
          <a:xfrm>
            <a:off x="731520" y="324612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Local maxima and minima using the second derivative test</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0(Easier than JEE Main Level)</a:t>
            </a:r>
            <a:endParaRPr sz="2400">
              <a:solidFill>
                <a:srgbClr val="111827"/>
              </a:solidFill>
            </a:endParaRP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93C47D"/>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0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Solve </a:t>
                </a:r>
                <a14:m>
                  <m:oMath xmlns:m="http://schemas.openxmlformats.org/officeDocument/2006/math">
                    <m:sSup>
                      <m:e>
                        <m:r>
                          <a:rPr lang="en-IN" sz="2400" i="1">
                            <a:solidFill>
                              <a:srgbClr val="78350F"/>
                            </a:solidFill>
                            <a:latin typeface="Cambria Math" panose="02040503050406030204" pitchFamily="18" charset="0"/>
                          </a:rPr>
                          <m:t>𝑓</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 then use the sign of </a:t>
                </a:r>
                <a14:m>
                  <m:oMath xmlns:m="http://schemas.openxmlformats.org/officeDocument/2006/math">
                    <m:sSup>
                      <m:e>
                        <m:r>
                          <a:rPr lang="en-IN" sz="2400" i="1">
                            <a:solidFill>
                              <a:srgbClr val="78350F"/>
                            </a:solidFill>
                            <a:latin typeface="Cambria Math" panose="02040503050406030204" pitchFamily="18" charset="0"/>
                          </a:rPr>
                          <m:t>𝑓</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 at each critical point.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Solve </a:t>
                </a:r>
                <a:r>
                  <a:rPr lang="en-IN" sz="2400">
                    <a:solidFill>
                      <a:srgbClr val="78350F"/>
                    </a:solidFill>
                    <a:latin typeface="Cambria Math" panose="02040503050406030204" pitchFamily="18" charset="0"/>
                  </a:rPr>
                  <a:t>$f'(x)=0$</a:t>
                </a:r>
                <a:r>
                  <a:rPr sz="2400" b="0">
                    <a:solidFill>
                      <a:srgbClr val="78350F"/>
                    </a:solidFill>
                    <a:latin typeface="Arial"/>
                  </a:rPr>
                  <a:t>, then use the sign of </a:t>
                </a:r>
                <a:r>
                  <a:rPr lang="en-IN" sz="2400">
                    <a:solidFill>
                      <a:srgbClr val="78350F"/>
                    </a:solidFill>
                    <a:latin typeface="Cambria Math" panose="02040503050406030204" pitchFamily="18" charset="0"/>
                  </a:rPr>
                  <a:t>$f''$</a:t>
                </a:r>
                <a:r>
                  <a:rPr sz="2400" b="0">
                    <a:solidFill>
                      <a:srgbClr val="78350F"/>
                    </a:solidFill>
                    <a:latin typeface="Arial"/>
                  </a:rPr>
                  <a:t> at each critical point.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Given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Differentiating: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Setting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gives the critical points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Differentiating again: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Given </a:t>
                </a:r>
                <a:r>
                  <a:rPr lang="en-IN" sz="2400">
                    <a:solidFill>
                      <a:srgbClr val="111827"/>
                    </a:solidFill>
                    <a:latin typeface="Cambria Math" panose="02040503050406030204" pitchFamily="18" charset="0"/>
                  </a:rPr>
                  <a:t>$f(x)=2x^3-9x^2+12x+1$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Differentiating: </a:t>
                </a:r>
                <a:r>
                  <a:rPr lang="en-IN" sz="2400">
                    <a:solidFill>
                      <a:srgbClr val="111827"/>
                    </a:solidFill>
                    <a:latin typeface="Cambria Math" panose="02040503050406030204" pitchFamily="18" charset="0"/>
                  </a:rPr>
                  <a:t>$f'(x)=6x^2-18x+12=6(x-1)(x-2)$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Setting </a:t>
                </a:r>
                <a:r>
                  <a:rPr lang="en-IN" sz="2400">
                    <a:solidFill>
                      <a:srgbClr val="111827"/>
                    </a:solidFill>
                    <a:latin typeface="Cambria Math" panose="02040503050406030204" pitchFamily="18" charset="0"/>
                  </a:rPr>
                  <a:t>$f'(x)=0$</a:t>
                </a:r>
                <a:r>
                  <a:rPr sz="2400" b="0">
                    <a:solidFill>
                      <a:srgbClr val="111827"/>
                    </a:solidFill>
                    <a:latin typeface="Arial"/>
                  </a:rPr>
                  <a:t> gives the critical points </a:t>
                </a:r>
                <a:r>
                  <a:rPr lang="en-IN" sz="2400">
                    <a:solidFill>
                      <a:srgbClr val="111827"/>
                    </a:solidFill>
                    <a:latin typeface="Cambria Math" panose="02040503050406030204" pitchFamily="18" charset="0"/>
                  </a:rPr>
                  <a:t>$x=1$</a:t>
                </a:r>
                <a:r>
                  <a:rPr sz="2400" b="0">
                    <a:solidFill>
                      <a:srgbClr val="111827"/>
                    </a:solidFill>
                    <a:latin typeface="Arial"/>
                  </a:rPr>
                  <a:t> and </a:t>
                </a:r>
                <a:r>
                  <a:rPr lang="en-IN" sz="2400">
                    <a:solidFill>
                      <a:srgbClr val="111827"/>
                    </a:solidFill>
                    <a:latin typeface="Cambria Math" panose="02040503050406030204" pitchFamily="18" charset="0"/>
                  </a:rPr>
                  <a:t>$x=2$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Differentiating again: </a:t>
                </a:r>
                <a:r>
                  <a:rPr lang="en-IN" sz="2400">
                    <a:solidFill>
                      <a:srgbClr val="111827"/>
                    </a:solidFill>
                    <a:latin typeface="Cambria Math" panose="02040503050406030204" pitchFamily="18" charset="0"/>
                  </a:rPr>
                  <a:t>$f''(x)=12x-18$</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93C47D"/>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0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is a point of local maximum.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is a point of local minimum.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the local minimum is attained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At </a:t>
                </a:r>
                <a:r>
                  <a:rPr lang="en-IN" sz="2400">
                    <a:solidFill>
                      <a:srgbClr val="111827"/>
                    </a:solidFill>
                    <a:latin typeface="Cambria Math" panose="02040503050406030204" pitchFamily="18" charset="0"/>
                  </a:rPr>
                  <a:t>$x=1$</a:t>
                </a:r>
                <a:r>
                  <a:rPr sz="2400" b="0">
                    <a:solidFill>
                      <a:srgbClr val="111827"/>
                    </a:solidFill>
                    <a:latin typeface="Arial"/>
                  </a:rPr>
                  <a:t>: </a:t>
                </a:r>
                <a:r>
                  <a:rPr lang="en-IN" sz="2400">
                    <a:solidFill>
                      <a:srgbClr val="111827"/>
                    </a:solidFill>
                    <a:latin typeface="Cambria Math" panose="02040503050406030204" pitchFamily="18" charset="0"/>
                  </a:rPr>
                  <a:t>$f''(1)=-6&lt;0$</a:t>
                </a:r>
                <a:r>
                  <a:rPr sz="2400" b="0">
                    <a:solidFill>
                      <a:srgbClr val="111827"/>
                    </a:solidFill>
                    <a:latin typeface="Arial"/>
                  </a:rPr>
                  <a:t>, so </a:t>
                </a:r>
                <a:r>
                  <a:rPr lang="en-IN" sz="2400">
                    <a:solidFill>
                      <a:srgbClr val="111827"/>
                    </a:solidFill>
                    <a:latin typeface="Cambria Math" panose="02040503050406030204" pitchFamily="18" charset="0"/>
                  </a:rPr>
                  <a:t>$x=1$</a:t>
                </a:r>
                <a:r>
                  <a:rPr sz="2400" b="0">
                    <a:solidFill>
                      <a:srgbClr val="111827"/>
                    </a:solidFill>
                    <a:latin typeface="Arial"/>
                  </a:rPr>
                  <a:t> is a point of local maximum.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r>
                  <a:rPr lang="en-IN" sz="2400">
                    <a:solidFill>
                      <a:srgbClr val="111827"/>
                    </a:solidFill>
                    <a:latin typeface="Cambria Math" panose="02040503050406030204" pitchFamily="18" charset="0"/>
                  </a:rPr>
                  <a:t>$x=2$</a:t>
                </a:r>
                <a:r>
                  <a:rPr sz="2400" b="0">
                    <a:solidFill>
                      <a:srgbClr val="111827"/>
                    </a:solidFill>
                    <a:latin typeface="Arial"/>
                  </a:rPr>
                  <a:t>: </a:t>
                </a:r>
                <a:r>
                  <a:rPr lang="en-IN" sz="2400">
                    <a:solidFill>
                      <a:srgbClr val="111827"/>
                    </a:solidFill>
                    <a:latin typeface="Cambria Math" panose="02040503050406030204" pitchFamily="18" charset="0"/>
                  </a:rPr>
                  <a:t>$f''(2)=6&gt;0$</a:t>
                </a:r>
                <a:r>
                  <a:rPr sz="2400" b="0">
                    <a:solidFill>
                      <a:srgbClr val="111827"/>
                    </a:solidFill>
                    <a:latin typeface="Arial"/>
                  </a:rPr>
                  <a:t>, so </a:t>
                </a:r>
                <a:r>
                  <a:rPr lang="en-IN" sz="2400">
                    <a:solidFill>
                      <a:srgbClr val="111827"/>
                    </a:solidFill>
                    <a:latin typeface="Cambria Math" panose="02040503050406030204" pitchFamily="18" charset="0"/>
                  </a:rPr>
                  <a:t>$x=2$</a:t>
                </a:r>
                <a:r>
                  <a:rPr sz="2400" b="0">
                    <a:solidFill>
                      <a:srgbClr val="111827"/>
                    </a:solidFill>
                    <a:latin typeface="Arial"/>
                  </a:rPr>
                  <a:t> is a point of local minimum.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the local minimum is attained at </a:t>
                </a:r>
                <a:r>
                  <a:rPr lang="en-IN" sz="2400">
                    <a:solidFill>
                      <a:srgbClr val="111827"/>
                    </a:solidFill>
                    <a:latin typeface="Cambria Math" panose="02040503050406030204" pitchFamily="18" charset="0"/>
                  </a:rPr>
                  <a:t>$x=2$</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2</a:t>
            </a:r>
            <a:endParaRPr sz="2800">
              <a:solidFill>
                <a:srgbClr val="15803D"/>
              </a:solidFill>
            </a:endParaRP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93C47D"/>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0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Sign pattern of </a:t>
                </a:r>
                <a14:m>
                  <m:oMath xmlns:m="http://schemas.openxmlformats.org/officeDocument/2006/math">
                    <m:sSup>
                      <m:e>
                        <m:r>
                          <a:rPr lang="en-IN" sz="2400" i="1">
                            <a:solidFill>
                              <a:srgbClr val="78350F"/>
                            </a:solidFill>
                            <a:latin typeface="Cambria Math" panose="02040503050406030204" pitchFamily="18" charset="0"/>
                          </a:rPr>
                          <m:t>𝑓</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 for a cubic with positive leading coefficient: </a:t>
                </a:r>
                <a14:m>
                  <m:oMath xmlns:m="http://schemas.openxmlformats.org/officeDocument/2006/math">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so the larger root is the minimum.</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Sign pattern of </a:t>
                </a:r>
                <a:r>
                  <a:rPr lang="en-IN" sz="2400">
                    <a:solidFill>
                      <a:srgbClr val="78350F"/>
                    </a:solidFill>
                    <a:latin typeface="Cambria Math" panose="02040503050406030204" pitchFamily="18" charset="0"/>
                  </a:rPr>
                  <a:t>$f'$</a:t>
                </a:r>
                <a:r>
                  <a:rPr sz="2400" b="0">
                    <a:solidFill>
                      <a:srgbClr val="78350F"/>
                    </a:solidFill>
                    <a:latin typeface="Arial"/>
                  </a:rPr>
                  <a:t> for a cubic with positive leading coefficient: </a:t>
                </a:r>
                <a:r>
                  <a:rPr lang="en-IN" sz="2400">
                    <a:solidFill>
                      <a:srgbClr val="78350F"/>
                    </a:solidFill>
                    <a:latin typeface="Cambria Math" panose="02040503050406030204" pitchFamily="18" charset="0"/>
                  </a:rPr>
                  <a:t>$+,-,+$</a:t>
                </a:r>
                <a:r>
                  <a:rPr sz="2400" b="0">
                    <a:solidFill>
                      <a:srgbClr val="78350F"/>
                    </a:solidFill>
                    <a:latin typeface="Arial"/>
                  </a:rPr>
                  <a:t>, so the larger root is the minimum.</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an upward parabola with roots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changes from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to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which is therefore the local minimum (and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to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the local maximum).</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$f'(x)=6(x-1)(x-2)$</a:t>
                </a:r>
                <a:r>
                  <a:rPr sz="2400" b="0">
                    <a:solidFill>
                      <a:srgbClr val="111827"/>
                    </a:solidFill>
                    <a:latin typeface="Arial"/>
                  </a:rPr>
                  <a:t> is an upward parabola with roots </a:t>
                </a:r>
                <a:r>
                  <a:rPr lang="en-IN" sz="2400">
                    <a:solidFill>
                      <a:srgbClr val="111827"/>
                    </a:solidFill>
                    <a:latin typeface="Cambria Math" panose="02040503050406030204" pitchFamily="18" charset="0"/>
                  </a:rPr>
                  <a:t>$1&lt;2$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$f'&gt;0$</a:t>
                </a:r>
                <a:r>
                  <a:rPr sz="2400" b="0">
                    <a:solidFill>
                      <a:srgbClr val="111827"/>
                    </a:solidFill>
                    <a:latin typeface="Arial"/>
                  </a:rPr>
                  <a:t> for </a:t>
                </a:r>
                <a:r>
                  <a:rPr lang="en-IN" sz="2400">
                    <a:solidFill>
                      <a:srgbClr val="111827"/>
                    </a:solidFill>
                    <a:latin typeface="Cambria Math" panose="02040503050406030204" pitchFamily="18" charset="0"/>
                  </a:rPr>
                  <a:t>$x&lt;1$</a:t>
                </a:r>
                <a:r>
                  <a:rPr sz="2400" b="0">
                    <a:solidFill>
                      <a:srgbClr val="111827"/>
                    </a:solidFill>
                    <a:latin typeface="Arial"/>
                  </a:rPr>
                  <a:t>, </a:t>
                </a:r>
                <a:r>
                  <a:rPr lang="en-IN" sz="2400">
                    <a:solidFill>
                      <a:srgbClr val="111827"/>
                    </a:solidFill>
                    <a:latin typeface="Cambria Math" panose="02040503050406030204" pitchFamily="18" charset="0"/>
                  </a:rPr>
                  <a:t>$f'&lt;0$</a:t>
                </a:r>
                <a:r>
                  <a:rPr sz="2400" b="0">
                    <a:solidFill>
                      <a:srgbClr val="111827"/>
                    </a:solidFill>
                    <a:latin typeface="Arial"/>
                  </a:rPr>
                  <a:t> for </a:t>
                </a:r>
                <a:r>
                  <a:rPr lang="en-IN" sz="2400">
                    <a:solidFill>
                      <a:srgbClr val="111827"/>
                    </a:solidFill>
                    <a:latin typeface="Cambria Math" panose="02040503050406030204" pitchFamily="18" charset="0"/>
                  </a:rPr>
                  <a:t>$1&lt;x&lt;2$</a:t>
                </a:r>
                <a:r>
                  <a:rPr sz="2400" b="0">
                    <a:solidFill>
                      <a:srgbClr val="111827"/>
                    </a:solidFill>
                    <a:latin typeface="Arial"/>
                  </a:rPr>
                  <a:t>, </a:t>
                </a:r>
                <a:r>
                  <a:rPr lang="en-IN" sz="2400">
                    <a:solidFill>
                      <a:srgbClr val="111827"/>
                    </a:solidFill>
                    <a:latin typeface="Cambria Math" panose="02040503050406030204" pitchFamily="18" charset="0"/>
                  </a:rPr>
                  <a:t>$f'&gt;0$</a:t>
                </a:r>
                <a:r>
                  <a:rPr sz="2400" b="0">
                    <a:solidFill>
                      <a:srgbClr val="111827"/>
                    </a:solidFill>
                    <a:latin typeface="Arial"/>
                  </a:rPr>
                  <a:t> for </a:t>
                </a:r>
                <a:r>
                  <a:rPr lang="en-IN" sz="2400">
                    <a:solidFill>
                      <a:srgbClr val="111827"/>
                    </a:solidFill>
                    <a:latin typeface="Cambria Math" panose="02040503050406030204" pitchFamily="18" charset="0"/>
                  </a:rPr>
                  <a:t>$x&gt;2$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a:t>
                </a:r>
                <a:r>
                  <a:rPr sz="2400" b="0">
                    <a:solidFill>
                      <a:srgbClr val="111827"/>
                    </a:solidFill>
                    <a:latin typeface="Arial"/>
                  </a:rPr>
                  <a:t> changes from </a:t>
                </a:r>
                <a:r>
                  <a:rPr lang="en-IN" sz="2400">
                    <a:solidFill>
                      <a:srgbClr val="111827"/>
                    </a:solidFill>
                    <a:latin typeface="Cambria Math" panose="02040503050406030204" pitchFamily="18" charset="0"/>
                  </a:rPr>
                  <a:t>$-$</a:t>
                </a:r>
                <a:r>
                  <a:rPr sz="2400" b="0">
                    <a:solidFill>
                      <a:srgbClr val="111827"/>
                    </a:solidFill>
                    <a:latin typeface="Arial"/>
                  </a:rPr>
                  <a:t> to </a:t>
                </a:r>
                <a:r>
                  <a:rPr lang="en-IN" sz="2400">
                    <a:solidFill>
                      <a:srgbClr val="111827"/>
                    </a:solidFill>
                    <a:latin typeface="Cambria Math" panose="02040503050406030204" pitchFamily="18" charset="0"/>
                  </a:rPr>
                  <a:t>$+$</a:t>
                </a:r>
                <a:r>
                  <a:rPr sz="2400" b="0">
                    <a:solidFill>
                      <a:srgbClr val="111827"/>
                    </a:solidFill>
                    <a:latin typeface="Arial"/>
                  </a:rPr>
                  <a:t> at </a:t>
                </a:r>
                <a:r>
                  <a:rPr lang="en-IN" sz="2400">
                    <a:solidFill>
                      <a:srgbClr val="111827"/>
                    </a:solidFill>
                    <a:latin typeface="Cambria Math" panose="02040503050406030204" pitchFamily="18" charset="0"/>
                  </a:rPr>
                  <a:t>$x=2$</a:t>
                </a:r>
                <a:r>
                  <a:rPr sz="2400" b="0">
                    <a:solidFill>
                      <a:srgbClr val="111827"/>
                    </a:solidFill>
                    <a:latin typeface="Arial"/>
                  </a:rPr>
                  <a:t>, which is therefore the local minimum (and </a:t>
                </a:r>
                <a:r>
                  <a:rPr lang="en-IN" sz="2400">
                    <a:solidFill>
                      <a:srgbClr val="111827"/>
                    </a:solidFill>
                    <a:latin typeface="Cambria Math" panose="02040503050406030204" pitchFamily="18" charset="0"/>
                  </a:rPr>
                  <a:t>$x=1$</a:t>
                </a:r>
                <a:r>
                  <a:rPr sz="2400" b="0">
                    <a:solidFill>
                      <a:srgbClr val="111827"/>
                    </a:solidFill>
                    <a:latin typeface="Arial"/>
                  </a:rPr>
                  <a:t>, </a:t>
                </a:r>
                <a:r>
                  <a:rPr lang="en-IN" sz="2400">
                    <a:solidFill>
                      <a:srgbClr val="111827"/>
                    </a:solidFill>
                    <a:latin typeface="Cambria Math" panose="02040503050406030204" pitchFamily="18" charset="0"/>
                  </a:rPr>
                  <a:t>$+$</a:t>
                </a:r>
                <a:r>
                  <a:rPr sz="2400" b="0">
                    <a:solidFill>
                      <a:srgbClr val="111827"/>
                    </a:solidFill>
                    <a:latin typeface="Arial"/>
                  </a:rPr>
                  <a:t> to </a:t>
                </a:r>
                <a:r>
                  <a:rPr lang="en-IN" sz="2400">
                    <a:solidFill>
                      <a:srgbClr val="111827"/>
                    </a:solidFill>
                    <a:latin typeface="Cambria Math" panose="02040503050406030204" pitchFamily="18" charset="0"/>
                  </a:rPr>
                  <a:t>$-$</a:t>
                </a:r>
                <a:r>
                  <a:rPr sz="2400" b="0">
                    <a:solidFill>
                      <a:srgbClr val="111827"/>
                    </a:solidFill>
                    <a:latin typeface="Arial"/>
                  </a:rPr>
                  <a:t>, is the local maximum).</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2</a:t>
            </a:r>
            <a:endParaRPr sz="2800">
              <a:solidFill>
                <a:srgbClr val="15803D"/>
              </a:solidFill>
            </a:endParaRP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93C47D"/>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0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 cubic with positive leading coefficient and two critical points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β</m:t>
                    </m:r>
                  </m:oMath>
                </a14:m>
                <a:r>
                  <a:rPr sz="2400" b="0">
                    <a:solidFill>
                      <a:srgbClr val="111827"/>
                    </a:solidFill>
                    <a:latin typeface="Arial"/>
                  </a:rPr>
                  <a:t>: local maximum at </a:t>
                </a:r>
                <a14:m>
                  <m:oMath xmlns:m="http://schemas.openxmlformats.org/officeDocument/2006/math">
                    <m:r>
                      <a:rPr lang="en-IN" sz="2400" i="1">
                        <a:solidFill>
                          <a:srgbClr val="111827"/>
                        </a:solidFill>
                        <a:latin typeface="Cambria Math" panose="02040503050406030204" pitchFamily="18" charset="0"/>
                      </a:rPr>
                      <m:t>α</m:t>
                    </m:r>
                  </m:oMath>
                </a14:m>
                <a:r>
                  <a:rPr sz="2400" b="0">
                    <a:solidFill>
                      <a:srgbClr val="111827"/>
                    </a:solidFill>
                    <a:latin typeface="Arial"/>
                  </a:rPr>
                  <a:t>, local minimum at </a:t>
                </a:r>
                <a14:m>
                  <m:oMath xmlns:m="http://schemas.openxmlformats.org/officeDocument/2006/math">
                    <m:r>
                      <a:rPr lang="en-IN" sz="2400" i="1">
                        <a:solidFill>
                          <a:srgbClr val="111827"/>
                        </a:solidFill>
                        <a:latin typeface="Cambria Math" panose="02040503050406030204" pitchFamily="18" charset="0"/>
                      </a:rPr>
                      <m:t>β</m:t>
                    </m:r>
                  </m:oMath>
                </a14:m>
                <a:r>
                  <a:rPr sz="2400" b="0">
                    <a:solidFill>
                      <a:srgbClr val="111827"/>
                    </a:solidFill>
                    <a:latin typeface="Arial"/>
                  </a:rPr>
                  <a:t> (reverse if the leading coefficient is negative).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critical points of </a:t>
                </a:r>
                <a14:m>
                  <m:oMath xmlns:m="http://schemas.openxmlformats.org/officeDocument/2006/math">
                    <m:r>
                      <a:rPr lang="en-IN" sz="2400" i="1">
                        <a:solidFill>
                          <a:srgbClr val="111827"/>
                        </a:solidFill>
                        <a:latin typeface="Cambria Math" panose="02040503050406030204" pitchFamily="18" charset="0"/>
                      </a:rPr>
                      <m:t>𝑎</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oMath>
                </a14:m>
                <a:r>
                  <a:rPr sz="2400" b="0">
                    <a:solidFill>
                      <a:srgbClr val="111827"/>
                    </a:solidFill>
                    <a:latin typeface="Arial"/>
                  </a:rPr>
                  <a:t> are real and distinct iff </a:t>
                </a:r>
                <a14:m>
                  <m:oMath xmlns:m="http://schemas.openxmlformats.org/officeDocument/2006/math">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inflection point is at the midpoint of the critical points: here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where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Second derivative test fails if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 critical point; then use the sign change of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 cubic with positive leading coefficient and two critical points </a:t>
                </a:r>
                <a:r>
                  <a:rPr lang="en-IN" sz="2400">
                    <a:solidFill>
                      <a:srgbClr val="111827"/>
                    </a:solidFill>
                    <a:latin typeface="Cambria Math" panose="02040503050406030204" pitchFamily="18" charset="0"/>
                  </a:rPr>
                  <a:t>$\alpha&lt;\beta$</a:t>
                </a:r>
                <a:r>
                  <a:rPr sz="2400" b="0">
                    <a:solidFill>
                      <a:srgbClr val="111827"/>
                    </a:solidFill>
                    <a:latin typeface="Arial"/>
                  </a:rPr>
                  <a:t>: local maximum at </a:t>
                </a:r>
                <a:r>
                  <a:rPr lang="en-IN" sz="2400">
                    <a:solidFill>
                      <a:srgbClr val="111827"/>
                    </a:solidFill>
                    <a:latin typeface="Cambria Math" panose="02040503050406030204" pitchFamily="18" charset="0"/>
                  </a:rPr>
                  <a:t>$\alpha$</a:t>
                </a:r>
                <a:r>
                  <a:rPr sz="2400" b="0">
                    <a:solidFill>
                      <a:srgbClr val="111827"/>
                    </a:solidFill>
                    <a:latin typeface="Arial"/>
                  </a:rPr>
                  <a:t>, local minimum at </a:t>
                </a:r>
                <a:r>
                  <a:rPr lang="en-IN" sz="2400">
                    <a:solidFill>
                      <a:srgbClr val="111827"/>
                    </a:solidFill>
                    <a:latin typeface="Cambria Math" panose="02040503050406030204" pitchFamily="18" charset="0"/>
                  </a:rPr>
                  <a:t>$\beta$</a:t>
                </a:r>
                <a:r>
                  <a:rPr sz="2400" b="0">
                    <a:solidFill>
                      <a:srgbClr val="111827"/>
                    </a:solidFill>
                    <a:latin typeface="Arial"/>
                  </a:rPr>
                  <a:t> (reverse if the leading coefficient is negative).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critical points of </a:t>
                </a:r>
                <a:r>
                  <a:rPr lang="en-IN" sz="2400">
                    <a:solidFill>
                      <a:srgbClr val="111827"/>
                    </a:solidFill>
                    <a:latin typeface="Cambria Math" panose="02040503050406030204" pitchFamily="18" charset="0"/>
                  </a:rPr>
                  <a:t>$ax^3+bx^2+cx+d$</a:t>
                </a:r>
                <a:r>
                  <a:rPr sz="2400" b="0">
                    <a:solidFill>
                      <a:srgbClr val="111827"/>
                    </a:solidFill>
                    <a:latin typeface="Arial"/>
                  </a:rPr>
                  <a:t> are real and distinct iff </a:t>
                </a:r>
                <a:r>
                  <a:rPr lang="en-IN" sz="2400">
                    <a:solidFill>
                      <a:srgbClr val="111827"/>
                    </a:solidFill>
                    <a:latin typeface="Cambria Math" panose="02040503050406030204" pitchFamily="18" charset="0"/>
                  </a:rPr>
                  <a:t>$b^2&gt;3ac$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inflection point is at the midpoint of the critical points: here </a:t>
                </a:r>
                <a:r>
                  <a:rPr lang="en-IN" sz="2400">
                    <a:solidFill>
                      <a:srgbClr val="111827"/>
                    </a:solidFill>
                    <a:latin typeface="Cambria Math" panose="02040503050406030204" pitchFamily="18" charset="0"/>
                  </a:rPr>
                  <a:t>$x=\frac32$</a:t>
                </a:r>
                <a:r>
                  <a:rPr sz="2400" b="0">
                    <a:solidFill>
                      <a:srgbClr val="111827"/>
                    </a:solidFill>
                    <a:latin typeface="Arial"/>
                  </a:rPr>
                  <a:t>, where </a:t>
                </a:r>
                <a:r>
                  <a:rPr lang="en-IN" sz="2400">
                    <a:solidFill>
                      <a:srgbClr val="111827"/>
                    </a:solidFill>
                    <a:latin typeface="Cambria Math" panose="02040503050406030204" pitchFamily="18" charset="0"/>
                  </a:rPr>
                  <a:t>$f''=0$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Second derivative test fails if </a:t>
                </a:r>
                <a:r>
                  <a:rPr lang="en-IN" sz="2400">
                    <a:solidFill>
                      <a:srgbClr val="111827"/>
                    </a:solidFill>
                    <a:latin typeface="Cambria Math" panose="02040503050406030204" pitchFamily="18" charset="0"/>
                  </a:rPr>
                  <a:t>$f''=0$</a:t>
                </a:r>
                <a:r>
                  <a:rPr sz="2400" b="0">
                    <a:solidFill>
                      <a:srgbClr val="111827"/>
                    </a:solidFill>
                    <a:latin typeface="Arial"/>
                  </a:rPr>
                  <a:t> at a critical point; then use the sign change of </a:t>
                </a:r>
                <a:r>
                  <a:rPr lang="en-IN" sz="2400">
                    <a:solidFill>
                      <a:srgbClr val="111827"/>
                    </a:solidFill>
                    <a:latin typeface="Cambria Math" panose="02040503050406030204" pitchFamily="18" charset="0"/>
                  </a:rPr>
                  <a:t>$f'$</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99211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𝑥</m:t>
                        </m:r>
                      </m:den>
                    </m:f>
                  </m:oMath>
                </a14:m>
                <a:r>
                  <a:rPr sz="2400" b="0">
                    <a:solidFill>
                      <a:srgbClr val="111827"/>
                    </a:solidFill>
                    <a:latin typeface="Arial"/>
                  </a:rPr>
                  <a:t>. The complete set of real values of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for which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monotonic in the interval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e>
                    </m:d>
                  </m:oMath>
                </a14:m>
                <a:r>
                  <a:rPr sz="2400" b="0">
                    <a:solidFill>
                      <a:srgbClr val="111827"/>
                    </a:solidFill>
                    <a:latin typeface="Arial"/>
                  </a:rPr>
                  <a:t>   (C)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   (D)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endParaRPr sz="2400">
                  <a:solidFill>
                    <a:srgbClr val="111827"/>
                  </a:solidFill>
                </a:endParaRPr>
              </a:p>
            </p:txBody>
          </p:sp>
        </mc:Choice>
        <mc:Fallback>
          <p:sp>
            <p:nvSpPr>
              <p:cNvPr id="4" name="Rounded Rectangle 3"/>
              <p:cNvSpPr/>
              <p:nvPr/>
            </p:nvSpPr>
            <p:spPr>
              <a:xfrm>
                <a:off x="731520" y="1280160"/>
                <a:ext cx="10725912" cy="299211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$f(x)=\frac x2+\frac ax$</a:t>
                </a:r>
                <a:r>
                  <a:rPr sz="2400" b="0">
                    <a:solidFill>
                      <a:srgbClr val="111827"/>
                    </a:solidFill>
                    <a:latin typeface="Arial"/>
                  </a:rPr>
                  <a:t>. The complete set of real values of </a:t>
                </a:r>
                <a:r>
                  <a:rPr lang="en-IN" sz="2400">
                    <a:solidFill>
                      <a:srgbClr val="111827"/>
                    </a:solidFill>
                    <a:latin typeface="Cambria Math" panose="02040503050406030204" pitchFamily="18" charset="0"/>
                  </a:rPr>
                  <a:t>$a$</a:t>
                </a:r>
                <a:r>
                  <a:rPr sz="2400" b="0">
                    <a:solidFill>
                      <a:srgbClr val="111827"/>
                    </a:solidFill>
                    <a:latin typeface="Arial"/>
                  </a:rPr>
                  <a:t> for which </a:t>
                </a:r>
                <a:r>
                  <a:rPr lang="en-IN" sz="2400">
                    <a:solidFill>
                      <a:srgbClr val="111827"/>
                    </a:solidFill>
                    <a:latin typeface="Cambria Math" panose="02040503050406030204" pitchFamily="18" charset="0"/>
                  </a:rPr>
                  <a:t>$f(x)$</a:t>
                </a:r>
                <a:r>
                  <a:rPr sz="2400" b="0">
                    <a:solidFill>
                      <a:srgbClr val="111827"/>
                    </a:solidFill>
                    <a:latin typeface="Arial"/>
                  </a:rPr>
                  <a:t> is monotonic in the interval </a:t>
                </a:r>
                <a:r>
                  <a:rPr lang="en-IN" sz="2400">
                    <a:solidFill>
                      <a:srgbClr val="111827"/>
                    </a:solidFill>
                    <a:latin typeface="Cambria Math" panose="02040503050406030204" pitchFamily="18" charset="0"/>
                  </a:rPr>
                  <a:t>$(1,2)$</a:t>
                </a:r>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$\left(-\infty,\frac12\right]\cup[2,\infty)$</a:t>
                </a:r>
                <a:r>
                  <a:rPr sz="2400" b="0">
                    <a:solidFill>
                      <a:srgbClr val="111827"/>
                    </a:solidFill>
                    <a:latin typeface="Arial"/>
                  </a:rPr>
                  <a:t>   (B) </a:t>
                </a:r>
                <a:r>
                  <a:rPr lang="en-IN" sz="2400">
                    <a:solidFill>
                      <a:srgbClr val="111827"/>
                    </a:solidFill>
                    <a:latin typeface="Cambria Math" panose="02040503050406030204" pitchFamily="18" charset="0"/>
                  </a:rPr>
                  <a:t>$\left[\frac12,2\right]$</a:t>
                </a:r>
                <a:r>
                  <a:rPr sz="2400" b="0">
                    <a:solidFill>
                      <a:srgbClr val="111827"/>
                    </a:solidFill>
                    <a:latin typeface="Arial"/>
                  </a:rPr>
                  <a:t>   (C) </a:t>
                </a:r>
                <a:r>
                  <a:rPr lang="en-IN" sz="2400">
                    <a:solidFill>
                      <a:srgbClr val="111827"/>
                    </a:solidFill>
                    <a:latin typeface="Cambria Math" panose="02040503050406030204" pitchFamily="18" charset="0"/>
                  </a:rPr>
                  <a:t>$\left(-\infty,\frac12\right]$</a:t>
                </a:r>
                <a:r>
                  <a:rPr sz="2400" b="0">
                    <a:solidFill>
                      <a:srgbClr val="111827"/>
                    </a:solidFill>
                    <a:latin typeface="Arial"/>
                  </a:rPr>
                  <a:t>   (D) </a:t>
                </a:r>
                <a:r>
                  <a:rPr lang="en-IN" sz="2400">
                    <a:solidFill>
                      <a:srgbClr val="111827"/>
                    </a:solidFill>
                    <a:latin typeface="Cambria Math" panose="02040503050406030204" pitchFamily="18" charset="0"/>
                  </a:rPr>
                  <a:t>$[2,\infty)$</a:t>
                </a:r>
                <a:endParaRPr sz="2400">
                  <a:solidFill>
                    <a:srgbClr val="111827"/>
                  </a:solidFill>
                </a:endParaRPr>
              </a:p>
            </p:txBody>
          </p:sp>
        </mc:Fallback>
      </mc:AlternateContent>
      <p:sp>
        <p:nvSpPr>
          <p:cNvPr id="5" name="Rectangle 4"/>
          <p:cNvSpPr/>
          <p:nvPr/>
        </p:nvSpPr>
        <p:spPr>
          <a:xfrm>
            <a:off x="731520" y="4500879"/>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Monotonicity of a function on an interval</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Monotonic on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means </a:t>
                </a:r>
                <a14:m>
                  <m:oMath xmlns:m="http://schemas.openxmlformats.org/officeDocument/2006/math">
                    <m:sSup>
                      <m:e>
                        <m:r>
                          <a:rPr lang="en-IN" sz="2400" i="1">
                            <a:solidFill>
                              <a:srgbClr val="78350F"/>
                            </a:solidFill>
                            <a:latin typeface="Cambria Math" panose="02040503050406030204" pitchFamily="18" charset="0"/>
                          </a:rPr>
                          <m:t>𝑓</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 keeps one sign there, i.e. </a:t>
                </a:r>
                <a14:m>
                  <m:oMath xmlns:m="http://schemas.openxmlformats.org/officeDocument/2006/math">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𝑎</m:t>
                    </m:r>
                  </m:oMath>
                </a14:m>
                <a:r>
                  <a:rPr sz="2400" b="0">
                    <a:solidFill>
                      <a:srgbClr val="78350F"/>
                    </a:solidFill>
                    <a:latin typeface="Arial"/>
                  </a:rPr>
                  <a:t> does not change sign for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Monotonic on </a:t>
                </a:r>
                <a:r>
                  <a:rPr lang="en-IN" sz="2400">
                    <a:solidFill>
                      <a:srgbClr val="78350F"/>
                    </a:solidFill>
                    <a:latin typeface="Cambria Math" panose="02040503050406030204" pitchFamily="18" charset="0"/>
                  </a:rPr>
                  <a:t>$(1,2)$</a:t>
                </a:r>
                <a:r>
                  <a:rPr sz="2400" b="0">
                    <a:solidFill>
                      <a:srgbClr val="78350F"/>
                    </a:solidFill>
                    <a:latin typeface="Arial"/>
                  </a:rPr>
                  <a:t> means </a:t>
                </a:r>
                <a:r>
                  <a:rPr lang="en-IN" sz="2400">
                    <a:solidFill>
                      <a:srgbClr val="78350F"/>
                    </a:solidFill>
                    <a:latin typeface="Cambria Math" panose="02040503050406030204" pitchFamily="18" charset="0"/>
                  </a:rPr>
                  <a:t>$f'$</a:t>
                </a:r>
                <a:r>
                  <a:rPr sz="2400" b="0">
                    <a:solidFill>
                      <a:srgbClr val="78350F"/>
                    </a:solidFill>
                    <a:latin typeface="Arial"/>
                  </a:rPr>
                  <a:t> keeps one sign there, i.e. </a:t>
                </a:r>
                <a:r>
                  <a:rPr lang="en-IN" sz="2400">
                    <a:solidFill>
                      <a:srgbClr val="78350F"/>
                    </a:solidFill>
                    <a:latin typeface="Cambria Math" panose="02040503050406030204" pitchFamily="18" charset="0"/>
                  </a:rPr>
                  <a:t>$x^2-2a$</a:t>
                </a:r>
                <a:r>
                  <a:rPr sz="2400" b="0">
                    <a:solidFill>
                      <a:srgbClr val="78350F"/>
                    </a:solidFill>
                    <a:latin typeface="Arial"/>
                  </a:rPr>
                  <a:t> does not change sign for </a:t>
                </a:r>
                <a:r>
                  <a:rPr lang="en-IN" sz="2400">
                    <a:solidFill>
                      <a:srgbClr val="78350F"/>
                    </a:solidFill>
                    <a:latin typeface="Cambria Math" panose="02040503050406030204" pitchFamily="18" charset="0"/>
                  </a:rPr>
                  <a:t>$x\in(1,2)$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Given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𝑥</m:t>
                        </m:r>
                      </m:den>
                    </m:f>
                  </m:oMath>
                </a14:m>
                <a:r>
                  <a:rPr sz="2400" b="0">
                    <a:solidFill>
                      <a:srgbClr val="111827"/>
                    </a:solidFill>
                    <a:latin typeface="Arial"/>
                  </a:rPr>
                  <a:t>. Differentiating: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to be monotonic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must not change its sign in the interval.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denominator </a:t>
                </a:r>
                <a14:m>
                  <m:oMath xmlns:m="http://schemas.openxmlformats.org/officeDocument/2006/math">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for all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the sign of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is decided by the numerator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I,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non-decreasing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for all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Given </a:t>
                </a:r>
                <a:r>
                  <a:rPr lang="en-IN" sz="2400">
                    <a:solidFill>
                      <a:srgbClr val="111827"/>
                    </a:solidFill>
                    <a:latin typeface="Cambria Math" panose="02040503050406030204" pitchFamily="18" charset="0"/>
                  </a:rPr>
                  <a:t>$f(x)=\frac x2+\frac ax$</a:t>
                </a:r>
                <a:r>
                  <a:rPr sz="2400" b="0">
                    <a:solidFill>
                      <a:srgbClr val="111827"/>
                    </a:solidFill>
                    <a:latin typeface="Arial"/>
                  </a:rPr>
                  <a:t>. Differentiating: </a:t>
                </a:r>
                <a:r>
                  <a:rPr lang="en-IN" sz="2400">
                    <a:solidFill>
                      <a:srgbClr val="111827"/>
                    </a:solidFill>
                    <a:latin typeface="Cambria Math" panose="02040503050406030204" pitchFamily="18" charset="0"/>
                  </a:rPr>
                  <a:t>$f'(x)=\frac12-\frac a{x^2}=\frac{x^2-2a}{2x^2}$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$f$</a:t>
                </a:r>
                <a:r>
                  <a:rPr sz="2400" b="0">
                    <a:solidFill>
                      <a:srgbClr val="111827"/>
                    </a:solidFill>
                    <a:latin typeface="Arial"/>
                  </a:rPr>
                  <a:t> to be monotonic in </a:t>
                </a:r>
                <a:r>
                  <a:rPr lang="en-IN" sz="2400">
                    <a:solidFill>
                      <a:srgbClr val="111827"/>
                    </a:solidFill>
                    <a:latin typeface="Cambria Math" panose="02040503050406030204" pitchFamily="18" charset="0"/>
                  </a:rPr>
                  <a:t>$(1,2)$</a:t>
                </a:r>
                <a:r>
                  <a:rPr sz="2400" b="0">
                    <a:solidFill>
                      <a:srgbClr val="111827"/>
                    </a:solidFill>
                    <a:latin typeface="Arial"/>
                  </a:rPr>
                  <a:t>, </a:t>
                </a:r>
                <a:r>
                  <a:rPr lang="en-IN" sz="2400">
                    <a:solidFill>
                      <a:srgbClr val="111827"/>
                    </a:solidFill>
                    <a:latin typeface="Cambria Math" panose="02040503050406030204" pitchFamily="18" charset="0"/>
                  </a:rPr>
                  <a:t>$f'(x)$</a:t>
                </a:r>
                <a:r>
                  <a:rPr sz="2400" b="0">
                    <a:solidFill>
                      <a:srgbClr val="111827"/>
                    </a:solidFill>
                    <a:latin typeface="Arial"/>
                  </a:rPr>
                  <a:t> must not change its sign in the interval.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denominator </a:t>
                </a:r>
                <a:r>
                  <a:rPr lang="en-IN" sz="2400">
                    <a:solidFill>
                      <a:srgbClr val="111827"/>
                    </a:solidFill>
                    <a:latin typeface="Cambria Math" panose="02040503050406030204" pitchFamily="18" charset="0"/>
                  </a:rPr>
                  <a:t>$2x^2&gt;0$</a:t>
                </a:r>
                <a:r>
                  <a:rPr sz="2400" b="0">
                    <a:solidFill>
                      <a:srgbClr val="111827"/>
                    </a:solidFill>
                    <a:latin typeface="Arial"/>
                  </a:rPr>
                  <a:t> for all </a:t>
                </a:r>
                <a:r>
                  <a:rPr lang="en-IN" sz="2400">
                    <a:solidFill>
                      <a:srgbClr val="111827"/>
                    </a:solidFill>
                    <a:latin typeface="Cambria Math" panose="02040503050406030204" pitchFamily="18" charset="0"/>
                  </a:rPr>
                  <a:t>$x\in(1,2)$</a:t>
                </a:r>
                <a:r>
                  <a:rPr sz="2400" b="0">
                    <a:solidFill>
                      <a:srgbClr val="111827"/>
                    </a:solidFill>
                    <a:latin typeface="Arial"/>
                  </a:rPr>
                  <a:t>, so the sign of </a:t>
                </a:r>
                <a:r>
                  <a:rPr lang="en-IN" sz="2400">
                    <a:solidFill>
                      <a:srgbClr val="111827"/>
                    </a:solidFill>
                    <a:latin typeface="Cambria Math" panose="02040503050406030204" pitchFamily="18" charset="0"/>
                  </a:rPr>
                  <a:t>$f'$</a:t>
                </a:r>
                <a:r>
                  <a:rPr sz="2400" b="0">
                    <a:solidFill>
                      <a:srgbClr val="111827"/>
                    </a:solidFill>
                    <a:latin typeface="Arial"/>
                  </a:rPr>
                  <a:t> is decided by the numerator </a:t>
                </a:r>
                <a:r>
                  <a:rPr lang="en-IN" sz="2400">
                    <a:solidFill>
                      <a:srgbClr val="111827"/>
                    </a:solidFill>
                    <a:latin typeface="Cambria Math" panose="02040503050406030204" pitchFamily="18" charset="0"/>
                  </a:rPr>
                  <a:t>$x^2-2a$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I, </a:t>
                </a:r>
                <a:r>
                  <a:rPr lang="en-IN" sz="2400">
                    <a:solidFill>
                      <a:srgbClr val="111827"/>
                    </a:solidFill>
                    <a:latin typeface="Cambria Math" panose="02040503050406030204" pitchFamily="18" charset="0"/>
                  </a:rPr>
                  <a:t>$f$</a:t>
                </a:r>
                <a:r>
                  <a:rPr sz="2400" b="0">
                    <a:solidFill>
                      <a:srgbClr val="111827"/>
                    </a:solidFill>
                    <a:latin typeface="Arial"/>
                  </a:rPr>
                  <a:t> non-decreasing in </a:t>
                </a:r>
                <a:r>
                  <a:rPr lang="en-IN" sz="2400">
                    <a:solidFill>
                      <a:srgbClr val="111827"/>
                    </a:solidFill>
                    <a:latin typeface="Cambria Math" panose="02040503050406030204" pitchFamily="18" charset="0"/>
                  </a:rPr>
                  <a:t>$(1,2)$</a:t>
                </a:r>
                <a:r>
                  <a:rPr sz="2400" b="0">
                    <a:solidFill>
                      <a:srgbClr val="111827"/>
                    </a:solidFill>
                    <a:latin typeface="Arial"/>
                  </a:rPr>
                  <a:t>: </a:t>
                </a:r>
                <a:r>
                  <a:rPr lang="en-IN" sz="2400">
                    <a:solidFill>
                      <a:srgbClr val="111827"/>
                    </a:solidFill>
                    <a:latin typeface="Cambria Math" panose="02040503050406030204" pitchFamily="18" charset="0"/>
                  </a:rPr>
                  <a:t>$f'(x)\ge0\Rightarrow x^2-2a\ge0\Rightarrow2a\le x^2$</a:t>
                </a:r>
                <a:r>
                  <a:rPr sz="2400" b="0">
                    <a:solidFill>
                      <a:srgbClr val="111827"/>
                    </a:solidFill>
                    <a:latin typeface="Arial"/>
                  </a:rPr>
                  <a:t> for all </a:t>
                </a:r>
                <a:r>
                  <a:rPr lang="en-IN" sz="2400">
                    <a:solidFill>
                      <a:srgbClr val="111827"/>
                    </a:solidFill>
                    <a:latin typeface="Cambria Math" panose="02040503050406030204" pitchFamily="18" charset="0"/>
                  </a:rPr>
                  <a:t>$x\in(1,2)$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sSub>
                      <m:e>
                        <m:r>
                          <m:rPr>
                            <m:sty m:val="p"/>
                          </m:rPr>
                          <a:rPr lang="en-IN" sz="2400">
                            <a:solidFill>
                              <a:srgbClr val="111827"/>
                            </a:solidFill>
                            <a:latin typeface="Cambria Math" panose="02040503050406030204" pitchFamily="18" charset="0"/>
                          </a:rPr>
                          <m:t>min</m:t>
                        </m:r>
                      </m:e>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ub>
                    </m:sSub>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II,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non-increasing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for all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sSub>
                      <m:e>
                        <m:r>
                          <m:rPr>
                            <m:sty m:val="p"/>
                          </m:rPr>
                          <a:rPr lang="en-IN" sz="2400">
                            <a:solidFill>
                              <a:srgbClr val="111827"/>
                            </a:solidFill>
                            <a:latin typeface="Cambria Math" panose="02040503050406030204" pitchFamily="18" charset="0"/>
                          </a:rPr>
                          <m:t>max</m:t>
                        </m:r>
                      </m:e>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ub>
                    </m:sSub>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Combining both cases, the complete set of values of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is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$2a\le\min_{x\in(1,2)}x^2=1\Rightarrow a\le\frac12$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II, </a:t>
                </a:r>
                <a:r>
                  <a:rPr lang="en-IN" sz="2400">
                    <a:solidFill>
                      <a:srgbClr val="111827"/>
                    </a:solidFill>
                    <a:latin typeface="Cambria Math" panose="02040503050406030204" pitchFamily="18" charset="0"/>
                  </a:rPr>
                  <a:t>$f$</a:t>
                </a:r>
                <a:r>
                  <a:rPr sz="2400" b="0">
                    <a:solidFill>
                      <a:srgbClr val="111827"/>
                    </a:solidFill>
                    <a:latin typeface="Arial"/>
                  </a:rPr>
                  <a:t> non-increasing in </a:t>
                </a:r>
                <a:r>
                  <a:rPr lang="en-IN" sz="2400">
                    <a:solidFill>
                      <a:srgbClr val="111827"/>
                    </a:solidFill>
                    <a:latin typeface="Cambria Math" panose="02040503050406030204" pitchFamily="18" charset="0"/>
                  </a:rPr>
                  <a:t>$(1,2)$</a:t>
                </a:r>
                <a:r>
                  <a:rPr sz="2400" b="0">
                    <a:solidFill>
                      <a:srgbClr val="111827"/>
                    </a:solidFill>
                    <a:latin typeface="Arial"/>
                  </a:rPr>
                  <a:t>: </a:t>
                </a:r>
                <a:r>
                  <a:rPr lang="en-IN" sz="2400">
                    <a:solidFill>
                      <a:srgbClr val="111827"/>
                    </a:solidFill>
                    <a:latin typeface="Cambria Math" panose="02040503050406030204" pitchFamily="18" charset="0"/>
                  </a:rPr>
                  <a:t>$f'(x)\le0\Rightarrow x^2-2a\le0\Rightarrow2a\ge x^2$</a:t>
                </a:r>
                <a:r>
                  <a:rPr sz="2400" b="0">
                    <a:solidFill>
                      <a:srgbClr val="111827"/>
                    </a:solidFill>
                    <a:latin typeface="Arial"/>
                  </a:rPr>
                  <a:t> for all </a:t>
                </a:r>
                <a:r>
                  <a:rPr lang="en-IN" sz="2400">
                    <a:solidFill>
                      <a:srgbClr val="111827"/>
                    </a:solidFill>
                    <a:latin typeface="Cambria Math" panose="02040503050406030204" pitchFamily="18" charset="0"/>
                  </a:rPr>
                  <a:t>$x\in(1,2)$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$2a\ge\max_{x\in(1,2)}x^2=4\Rightarrow a\ge2$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Combining both cases, the complete set of values of </a:t>
                </a:r>
                <a:r>
                  <a:rPr lang="en-IN" sz="2400">
                    <a:solidFill>
                      <a:srgbClr val="111827"/>
                    </a:solidFill>
                    <a:latin typeface="Cambria Math" panose="02040503050406030204" pitchFamily="18" charset="0"/>
                  </a:rPr>
                  <a:t>$a$</a:t>
                </a:r>
                <a:r>
                  <a:rPr sz="2400" b="0">
                    <a:solidFill>
                      <a:srgbClr val="111827"/>
                    </a:solidFill>
                    <a:latin typeface="Arial"/>
                  </a:rPr>
                  <a:t> is </a:t>
                </a:r>
                <a:r>
                  <a:rPr lang="en-IN" sz="2400">
                    <a:solidFill>
                      <a:srgbClr val="111827"/>
                    </a:solidFill>
                    <a:latin typeface="Cambria Math" panose="02040503050406030204" pitchFamily="18" charset="0"/>
                  </a:rPr>
                  <a:t>$\left(-\infty,\frac12\right]\cup[2,\infty)$</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14:m>
                  <m:oMath xmlns:m="http://schemas.openxmlformats.org/officeDocument/2006/math">
                    <m:d>
                      <m:dPr>
                        <m:begChr m:val="("/>
                        <m:sepChr m:val=""/>
                        <m:endChr m:val="]"/>
                        <m:grow/>
                        <m:ctrlPr>
                          <a:rPr lang="en-IN" sz="2800" i="1">
                            <a:solidFill>
                              <a:srgbClr val="15803D"/>
                            </a:solidFill>
                            <a:latin typeface="Cambria Math" panose="02040503050406030204" pitchFamily="18" charset="0"/>
                          </a:rPr>
                        </m:ctrlPr>
                      </m:dPr>
                      <m:e>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m:t>
                            </m:r>
                          </m:num>
                          <m:den>
                            <m:r>
                              <a:rPr lang="en-IN" sz="2800" i="1">
                                <a:solidFill>
                                  <a:srgbClr val="15803D"/>
                                </a:solidFill>
                                <a:latin typeface="Cambria Math" panose="02040503050406030204" pitchFamily="18" charset="0"/>
                              </a:rPr>
                              <m:t>2</m:t>
                            </m:r>
                          </m:den>
                        </m:f>
                      </m:e>
                    </m:d>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2</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r>
                  <a:rPr lang="en-IN" sz="2800">
                    <a:solidFill>
                      <a:srgbClr val="15803D"/>
                    </a:solidFill>
                    <a:latin typeface="Cambria Math" panose="02040503050406030204" pitchFamily="18" charset="0"/>
                  </a:rPr>
                  <a:t>$\left(-\infty,\frac12\right]\cup[2,\infty)$</a:t>
                </a:r>
                <a:endParaRPr sz="2800">
                  <a:solidFill>
                    <a:srgbClr val="15803D"/>
                  </a:solidFill>
                </a:endParaRPr>
              </a:p>
            </p:txBody>
          </p:sp>
        </mc:Fallback>
      </mc:AlternateContent>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Locate the critical point: </a:t>
                </a:r>
                <a14:m>
                  <m:oMath xmlns:m="http://schemas.openxmlformats.org/officeDocument/2006/math">
                    <m:r>
                      <a:rPr lang="en-IN" sz="2400" i="1">
                        <a:solidFill>
                          <a:srgbClr val="78350F"/>
                        </a:solidFill>
                        <a:latin typeface="Cambria Math" panose="02040503050406030204" pitchFamily="18" charset="0"/>
                      </a:rPr>
                      <m:t>𝑓</m:t>
                    </m:r>
                  </m:oMath>
                </a14:m>
                <a:r>
                  <a:rPr sz="2400" b="0">
                    <a:solidFill>
                      <a:srgbClr val="78350F"/>
                    </a:solidFill>
                    <a:latin typeface="Arial"/>
                  </a:rPr>
                  <a:t> is monotonic iff </a:t>
                </a:r>
                <a14:m>
                  <m:oMath xmlns:m="http://schemas.openxmlformats.org/officeDocument/2006/math">
                    <m:sSup>
                      <m:e>
                        <m:r>
                          <a:rPr lang="en-IN" sz="2400" i="1">
                            <a:solidFill>
                              <a:srgbClr val="78350F"/>
                            </a:solidFill>
                            <a:latin typeface="Cambria Math" panose="02040503050406030204" pitchFamily="18" charset="0"/>
                          </a:rPr>
                          <m:t>𝑓</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 has no root inside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Locate the critical point: </a:t>
                </a:r>
                <a:r>
                  <a:rPr lang="en-IN" sz="2400">
                    <a:solidFill>
                      <a:srgbClr val="78350F"/>
                    </a:solidFill>
                    <a:latin typeface="Cambria Math" panose="02040503050406030204" pitchFamily="18" charset="0"/>
                  </a:rPr>
                  <a:t>$f$</a:t>
                </a:r>
                <a:r>
                  <a:rPr sz="2400" b="0">
                    <a:solidFill>
                      <a:srgbClr val="78350F"/>
                    </a:solidFill>
                    <a:latin typeface="Arial"/>
                  </a:rPr>
                  <a:t> is monotonic iff </a:t>
                </a:r>
                <a:r>
                  <a:rPr lang="en-IN" sz="2400">
                    <a:solidFill>
                      <a:srgbClr val="78350F"/>
                    </a:solidFill>
                    <a:latin typeface="Cambria Math" panose="02040503050406030204" pitchFamily="18" charset="0"/>
                  </a:rPr>
                  <a:t>$f'=0$</a:t>
                </a:r>
                <a:r>
                  <a:rPr sz="2400" b="0">
                    <a:solidFill>
                      <a:srgbClr val="78350F"/>
                    </a:solidFill>
                    <a:latin typeface="Arial"/>
                  </a:rPr>
                  <a:t> has no root inside </a:t>
                </a:r>
                <a:r>
                  <a:rPr lang="en-IN" sz="2400">
                    <a:solidFill>
                      <a:srgbClr val="78350F"/>
                    </a:solidFill>
                    <a:latin typeface="Cambria Math" panose="02040503050406030204" pitchFamily="18" charset="0"/>
                  </a:rPr>
                  <a:t>$(1,2)$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oMath>
                </a14:m>
                <a:r>
                  <a:rPr sz="2400" b="0">
                    <a:solidFill>
                      <a:srgbClr val="111827"/>
                    </a:solidFill>
                    <a:latin typeface="Arial"/>
                  </a:rPr>
                  <a:t>. This has a root only when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namely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continuous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changes sign inside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exactly when it has a simple root there, i.e. when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&lt;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e>
                    </m:rad>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2</m:t>
                    </m:r>
                  </m:oMath>
                </a14:m>
                <a:r>
                  <a:rPr sz="2400" b="0">
                    <a:solidFill>
                      <a:srgbClr val="111827"/>
                    </a:solidFill>
                    <a:latin typeface="Arial"/>
                  </a:rPr>
                  <a:t>, i.e.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$f'(x)=0\iff x^2=2a$</a:t>
                </a:r>
                <a:r>
                  <a:rPr sz="2400" b="0">
                    <a:solidFill>
                      <a:srgbClr val="111827"/>
                    </a:solidFill>
                    <a:latin typeface="Arial"/>
                  </a:rPr>
                  <a:t>. This has a root only when </a:t>
                </a:r>
                <a:r>
                  <a:rPr lang="en-IN" sz="2400">
                    <a:solidFill>
                      <a:srgbClr val="111827"/>
                    </a:solidFill>
                    <a:latin typeface="Cambria Math" panose="02040503050406030204" pitchFamily="18" charset="0"/>
                  </a:rPr>
                  <a:t>$a&gt;0$</a:t>
                </a:r>
                <a:r>
                  <a:rPr sz="2400" b="0">
                    <a:solidFill>
                      <a:srgbClr val="111827"/>
                    </a:solidFill>
                    <a:latin typeface="Arial"/>
                  </a:rPr>
                  <a:t>, namely </a:t>
                </a:r>
                <a:r>
                  <a:rPr lang="en-IN" sz="2400">
                    <a:solidFill>
                      <a:srgbClr val="111827"/>
                    </a:solidFill>
                    <a:latin typeface="Cambria Math" panose="02040503050406030204" pitchFamily="18" charset="0"/>
                  </a:rPr>
                  <a:t>$x=\sqrt{2a}$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continuous </a:t>
                </a:r>
                <a:r>
                  <a:rPr lang="en-IN" sz="2400">
                    <a:solidFill>
                      <a:srgbClr val="111827"/>
                    </a:solidFill>
                    <a:latin typeface="Cambria Math" panose="02040503050406030204" pitchFamily="18" charset="0"/>
                  </a:rPr>
                  <a:t>$f'$</a:t>
                </a:r>
                <a:r>
                  <a:rPr sz="2400" b="0">
                    <a:solidFill>
                      <a:srgbClr val="111827"/>
                    </a:solidFill>
                    <a:latin typeface="Arial"/>
                  </a:rPr>
                  <a:t> changes sign inside </a:t>
                </a:r>
                <a:r>
                  <a:rPr lang="en-IN" sz="2400">
                    <a:solidFill>
                      <a:srgbClr val="111827"/>
                    </a:solidFill>
                    <a:latin typeface="Cambria Math" panose="02040503050406030204" pitchFamily="18" charset="0"/>
                  </a:rPr>
                  <a:t>$(1,2)$</a:t>
                </a:r>
                <a:r>
                  <a:rPr sz="2400" b="0">
                    <a:solidFill>
                      <a:srgbClr val="111827"/>
                    </a:solidFill>
                    <a:latin typeface="Arial"/>
                  </a:rPr>
                  <a:t> exactly when it has a simple root there, i.e. when </a:t>
                </a:r>
                <a:r>
                  <a:rPr lang="en-IN" sz="2400">
                    <a:solidFill>
                      <a:srgbClr val="111827"/>
                    </a:solidFill>
                    <a:latin typeface="Cambria Math" panose="02040503050406030204" pitchFamily="18" charset="0"/>
                  </a:rPr>
                  <a:t>$1&lt;\sqrt{2a}&lt;2$</a:t>
                </a:r>
                <a:r>
                  <a:rPr sz="2400" b="0">
                    <a:solidFill>
                      <a:srgbClr val="111827"/>
                    </a:solidFill>
                    <a:latin typeface="Arial"/>
                  </a:rPr>
                  <a:t>, i.e. </a:t>
                </a:r>
                <a:r>
                  <a:rPr lang="en-IN" sz="2400">
                    <a:solidFill>
                      <a:srgbClr val="111827"/>
                    </a:solidFill>
                    <a:latin typeface="Cambria Math" panose="02040503050406030204" pitchFamily="18" charset="0"/>
                  </a:rPr>
                  <a:t>$\frac12&lt;a&lt;2$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monotonic iff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e>
                    </m:d>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(including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where there is no root) or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end values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put the root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outside the open interval, so they are included. Answer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$f$</a:t>
                </a:r>
                <a:r>
                  <a:rPr sz="2400" b="0">
                    <a:solidFill>
                      <a:srgbClr val="111827"/>
                    </a:solidFill>
                    <a:latin typeface="Arial"/>
                  </a:rPr>
                  <a:t> is monotonic iff </a:t>
                </a:r>
                <a:r>
                  <a:rPr lang="en-IN" sz="2400">
                    <a:solidFill>
                      <a:srgbClr val="111827"/>
                    </a:solidFill>
                    <a:latin typeface="Cambria Math" panose="02040503050406030204" pitchFamily="18" charset="0"/>
                  </a:rPr>
                  <a:t>$a\notin\left(\frac12,2\right)$</a:t>
                </a:r>
                <a:r>
                  <a:rPr sz="2400" b="0">
                    <a:solidFill>
                      <a:srgbClr val="111827"/>
                    </a:solidFill>
                    <a:latin typeface="Arial"/>
                  </a:rPr>
                  <a:t>: </a:t>
                </a:r>
                <a:r>
                  <a:rPr lang="en-IN" sz="2400">
                    <a:solidFill>
                      <a:srgbClr val="111827"/>
                    </a:solidFill>
                    <a:latin typeface="Cambria Math" panose="02040503050406030204" pitchFamily="18" charset="0"/>
                  </a:rPr>
                  <a:t>$a\le\frac12$</a:t>
                </a:r>
                <a:r>
                  <a:rPr sz="2400" b="0">
                    <a:solidFill>
                      <a:srgbClr val="111827"/>
                    </a:solidFill>
                    <a:latin typeface="Arial"/>
                  </a:rPr>
                  <a:t> (including </a:t>
                </a:r>
                <a:r>
                  <a:rPr lang="en-IN" sz="2400">
                    <a:solidFill>
                      <a:srgbClr val="111827"/>
                    </a:solidFill>
                    <a:latin typeface="Cambria Math" panose="02040503050406030204" pitchFamily="18" charset="0"/>
                  </a:rPr>
                  <a:t>$a\le0$</a:t>
                </a:r>
                <a:r>
                  <a:rPr sz="2400" b="0">
                    <a:solidFill>
                      <a:srgbClr val="111827"/>
                    </a:solidFill>
                    <a:latin typeface="Arial"/>
                  </a:rPr>
                  <a:t>, where there is no root) or </a:t>
                </a:r>
                <a:r>
                  <a:rPr lang="en-IN" sz="2400">
                    <a:solidFill>
                      <a:srgbClr val="111827"/>
                    </a:solidFill>
                    <a:latin typeface="Cambria Math" panose="02040503050406030204" pitchFamily="18" charset="0"/>
                  </a:rPr>
                  <a:t>$a\ge2$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end values </a:t>
                </a:r>
                <a:r>
                  <a:rPr lang="en-IN" sz="2400">
                    <a:solidFill>
                      <a:srgbClr val="111827"/>
                    </a:solidFill>
                    <a:latin typeface="Cambria Math" panose="02040503050406030204" pitchFamily="18" charset="0"/>
                  </a:rPr>
                  <a:t>$a=\frac12$</a:t>
                </a:r>
                <a:r>
                  <a:rPr sz="2400" b="0">
                    <a:solidFill>
                      <a:srgbClr val="111827"/>
                    </a:solidFill>
                    <a:latin typeface="Arial"/>
                  </a:rPr>
                  <a:t> and </a:t>
                </a:r>
                <a:r>
                  <a:rPr lang="en-IN" sz="2400">
                    <a:solidFill>
                      <a:srgbClr val="111827"/>
                    </a:solidFill>
                    <a:latin typeface="Cambria Math" panose="02040503050406030204" pitchFamily="18" charset="0"/>
                  </a:rPr>
                  <a:t>$a=2$</a:t>
                </a:r>
                <a:r>
                  <a:rPr sz="2400" b="0">
                    <a:solidFill>
                      <a:srgbClr val="111827"/>
                    </a:solidFill>
                    <a:latin typeface="Arial"/>
                  </a:rPr>
                  <a:t> put the root at </a:t>
                </a:r>
                <a:r>
                  <a:rPr lang="en-IN" sz="2400">
                    <a:solidFill>
                      <a:srgbClr val="111827"/>
                    </a:solidFill>
                    <a:latin typeface="Cambria Math" panose="02040503050406030204" pitchFamily="18" charset="0"/>
                  </a:rPr>
                  <a:t>$x=1$</a:t>
                </a:r>
                <a:r>
                  <a:rPr sz="2400" b="0">
                    <a:solidFill>
                      <a:srgbClr val="111827"/>
                    </a:solidFill>
                    <a:latin typeface="Arial"/>
                  </a:rPr>
                  <a:t> or </a:t>
                </a:r>
                <a:r>
                  <a:rPr lang="en-IN" sz="2400">
                    <a:solidFill>
                      <a:srgbClr val="111827"/>
                    </a:solidFill>
                    <a:latin typeface="Cambria Math" panose="02040503050406030204" pitchFamily="18" charset="0"/>
                  </a:rPr>
                  <a:t>$x=2$</a:t>
                </a:r>
                <a:r>
                  <a:rPr sz="2400" b="0">
                    <a:solidFill>
                      <a:srgbClr val="111827"/>
                    </a:solidFill>
                    <a:latin typeface="Arial"/>
                  </a:rPr>
                  <a:t>, outside the open interval, so they are included. Answer </a:t>
                </a:r>
                <a:r>
                  <a:rPr lang="en-IN" sz="2400">
                    <a:solidFill>
                      <a:srgbClr val="111827"/>
                    </a:solidFill>
                    <a:latin typeface="Cambria Math" panose="02040503050406030204" pitchFamily="18" charset="0"/>
                  </a:rPr>
                  <a:t>$\left(-\infty,\frac12\right]\cup[2,\infty)$</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14:m>
                  <m:oMath xmlns:m="http://schemas.openxmlformats.org/officeDocument/2006/math">
                    <m:d>
                      <m:dPr>
                        <m:begChr m:val="("/>
                        <m:sepChr m:val=""/>
                        <m:endChr m:val="]"/>
                        <m:grow/>
                        <m:ctrlPr>
                          <a:rPr lang="en-IN" sz="2800" i="1">
                            <a:solidFill>
                              <a:srgbClr val="15803D"/>
                            </a:solidFill>
                            <a:latin typeface="Cambria Math" panose="02040503050406030204" pitchFamily="18" charset="0"/>
                          </a:rPr>
                        </m:ctrlPr>
                      </m:dPr>
                      <m:e>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m:t>
                            </m:r>
                          </m:num>
                          <m:den>
                            <m:r>
                              <a:rPr lang="en-IN" sz="2800" i="1">
                                <a:solidFill>
                                  <a:srgbClr val="15803D"/>
                                </a:solidFill>
                                <a:latin typeface="Cambria Math" panose="02040503050406030204" pitchFamily="18" charset="0"/>
                              </a:rPr>
                              <m:t>2</m:t>
                            </m:r>
                          </m:den>
                        </m:f>
                      </m:e>
                    </m:d>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2</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r>
                  <a:rPr lang="en-IN" sz="2800">
                    <a:solidFill>
                      <a:srgbClr val="15803D"/>
                    </a:solidFill>
                    <a:latin typeface="Cambria Math" panose="02040503050406030204" pitchFamily="18" charset="0"/>
                  </a:rPr>
                  <a:t>$\left(-\infty,\frac12\right]\cup[2,\infty)$</a:t>
                </a:r>
                <a:endParaRPr sz="2800">
                  <a:solidFill>
                    <a:srgbClr val="15803D"/>
                  </a:solidFill>
                </a:endParaRPr>
              </a:p>
            </p:txBody>
          </p:sp>
        </mc:Fallback>
      </mc:AlternateContent>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differentiable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monotonic on an interval iff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does not change sign on it; the end points of an open interval do not matter, so boundary values of the parameter are usually included.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𝑥</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the minimum on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is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e>
                    </m:rad>
                  </m:oMath>
                </a14:m>
                <a:r>
                  <a:rPr sz="2400" b="0">
                    <a:solidFill>
                      <a:srgbClr val="111827"/>
                    </a:solidFill>
                    <a:latin typeface="Arial"/>
                  </a:rPr>
                  <a:t> (AM-GM: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min</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max</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over an open interval are not attained, but the inequalities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for all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m:t>
                    </m:r>
                  </m:oMath>
                </a14:m>
                <a:r>
                  <a:rPr sz="2400" b="0">
                    <a:solidFill>
                      <a:srgbClr val="111827"/>
                    </a:solidFill>
                    <a:latin typeface="Arial"/>
                  </a:rPr>
                  <a:t> still reduce to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(take the infimum).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General recipe: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monotonic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iff the parameter keeps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out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(when roots are simple).</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differentiable </a:t>
                </a:r>
                <a:r>
                  <a:rPr lang="en-IN" sz="2400">
                    <a:solidFill>
                      <a:srgbClr val="111827"/>
                    </a:solidFill>
                    <a:latin typeface="Cambria Math" panose="02040503050406030204" pitchFamily="18" charset="0"/>
                  </a:rPr>
                  <a:t>$f$</a:t>
                </a:r>
                <a:r>
                  <a:rPr sz="2400" b="0">
                    <a:solidFill>
                      <a:srgbClr val="111827"/>
                    </a:solidFill>
                    <a:latin typeface="Arial"/>
                  </a:rPr>
                  <a:t> is monotonic on an interval iff </a:t>
                </a:r>
                <a:r>
                  <a:rPr lang="en-IN" sz="2400">
                    <a:solidFill>
                      <a:srgbClr val="111827"/>
                    </a:solidFill>
                    <a:latin typeface="Cambria Math" panose="02040503050406030204" pitchFamily="18" charset="0"/>
                  </a:rPr>
                  <a:t>$f'$</a:t>
                </a:r>
                <a:r>
                  <a:rPr sz="2400" b="0">
                    <a:solidFill>
                      <a:srgbClr val="111827"/>
                    </a:solidFill>
                    <a:latin typeface="Arial"/>
                  </a:rPr>
                  <a:t> does not change sign on it; the end points of an open interval do not matter, so boundary values of the parameter are usually included.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$f(x)=\frac x2+\frac ax$</a:t>
                </a:r>
                <a:r>
                  <a:rPr sz="2400" b="0">
                    <a:solidFill>
                      <a:srgbClr val="111827"/>
                    </a:solidFill>
                    <a:latin typeface="Arial"/>
                  </a:rPr>
                  <a:t> (</a:t>
                </a:r>
                <a:r>
                  <a:rPr lang="en-IN" sz="2400">
                    <a:solidFill>
                      <a:srgbClr val="111827"/>
                    </a:solidFill>
                    <a:latin typeface="Cambria Math" panose="02040503050406030204" pitchFamily="18" charset="0"/>
                  </a:rPr>
                  <a:t>$a&gt;0$</a:t>
                </a:r>
                <a:r>
                  <a:rPr sz="2400" b="0">
                    <a:solidFill>
                      <a:srgbClr val="111827"/>
                    </a:solidFill>
                    <a:latin typeface="Arial"/>
                  </a:rPr>
                  <a:t>) the minimum on </a:t>
                </a:r>
                <a:r>
                  <a:rPr lang="en-IN" sz="2400">
                    <a:solidFill>
                      <a:srgbClr val="111827"/>
                    </a:solidFill>
                    <a:latin typeface="Cambria Math" panose="02040503050406030204" pitchFamily="18" charset="0"/>
                  </a:rPr>
                  <a:t>$x&gt;0$</a:t>
                </a:r>
                <a:r>
                  <a:rPr sz="2400" b="0">
                    <a:solidFill>
                      <a:srgbClr val="111827"/>
                    </a:solidFill>
                    <a:latin typeface="Arial"/>
                  </a:rPr>
                  <a:t> is at </a:t>
                </a:r>
                <a:r>
                  <a:rPr lang="en-IN" sz="2400">
                    <a:solidFill>
                      <a:srgbClr val="111827"/>
                    </a:solidFill>
                    <a:latin typeface="Cambria Math" panose="02040503050406030204" pitchFamily="18" charset="0"/>
                  </a:rPr>
                  <a:t>$x=\sqrt{2a}$</a:t>
                </a:r>
                <a:r>
                  <a:rPr sz="2400" b="0">
                    <a:solidFill>
                      <a:srgbClr val="111827"/>
                    </a:solidFill>
                    <a:latin typeface="Arial"/>
                  </a:rPr>
                  <a:t> (AM-GM: </a:t>
                </a:r>
                <a:r>
                  <a:rPr lang="en-IN" sz="2400">
                    <a:solidFill>
                      <a:srgbClr val="111827"/>
                    </a:solidFill>
                    <a:latin typeface="Cambria Math" panose="02040503050406030204" pitchFamily="18" charset="0"/>
                  </a:rPr>
                  <a:t>$\frac x2+\frac ax\ge\sqrt{2a}$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$\min x^2$</a:t>
                </a:r>
                <a:r>
                  <a:rPr sz="2400" b="0">
                    <a:solidFill>
                      <a:srgbClr val="111827"/>
                    </a:solidFill>
                    <a:latin typeface="Arial"/>
                  </a:rPr>
                  <a:t> and </a:t>
                </a:r>
                <a:r>
                  <a:rPr lang="en-IN" sz="2400">
                    <a:solidFill>
                      <a:srgbClr val="111827"/>
                    </a:solidFill>
                    <a:latin typeface="Cambria Math" panose="02040503050406030204" pitchFamily="18" charset="0"/>
                  </a:rPr>
                  <a:t>$\max x^2$</a:t>
                </a:r>
                <a:r>
                  <a:rPr sz="2400" b="0">
                    <a:solidFill>
                      <a:srgbClr val="111827"/>
                    </a:solidFill>
                    <a:latin typeface="Arial"/>
                  </a:rPr>
                  <a:t> over an open interval are not attained, but the inequalities </a:t>
                </a:r>
                <a:r>
                  <a:rPr lang="en-IN" sz="2400">
                    <a:solidFill>
                      <a:srgbClr val="111827"/>
                    </a:solidFill>
                    <a:latin typeface="Cambria Math" panose="02040503050406030204" pitchFamily="18" charset="0"/>
                  </a:rPr>
                  <a:t>$2a\le x^2$</a:t>
                </a:r>
                <a:r>
                  <a:rPr sz="2400" b="0">
                    <a:solidFill>
                      <a:srgbClr val="111827"/>
                    </a:solidFill>
                    <a:latin typeface="Arial"/>
                  </a:rPr>
                  <a:t> for all </a:t>
                </a:r>
                <a:r>
                  <a:rPr lang="en-IN" sz="2400">
                    <a:solidFill>
                      <a:srgbClr val="111827"/>
                    </a:solidFill>
                    <a:latin typeface="Cambria Math" panose="02040503050406030204" pitchFamily="18" charset="0"/>
                  </a:rPr>
                  <a:t>$x&gt;1$</a:t>
                </a:r>
                <a:r>
                  <a:rPr sz="2400" b="0">
                    <a:solidFill>
                      <a:srgbClr val="111827"/>
                    </a:solidFill>
                    <a:latin typeface="Arial"/>
                  </a:rPr>
                  <a:t> still reduce to </a:t>
                </a:r>
                <a:r>
                  <a:rPr lang="en-IN" sz="2400">
                    <a:solidFill>
                      <a:srgbClr val="111827"/>
                    </a:solidFill>
                    <a:latin typeface="Cambria Math" panose="02040503050406030204" pitchFamily="18" charset="0"/>
                  </a:rPr>
                  <a:t>$2a\le1$</a:t>
                </a:r>
                <a:r>
                  <a:rPr sz="2400" b="0">
                    <a:solidFill>
                      <a:srgbClr val="111827"/>
                    </a:solidFill>
                    <a:latin typeface="Arial"/>
                  </a:rPr>
                  <a:t> (take the infimum).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General recipe: </a:t>
                </a:r>
                <a:r>
                  <a:rPr lang="en-IN" sz="2400">
                    <a:solidFill>
                      <a:srgbClr val="111827"/>
                    </a:solidFill>
                    <a:latin typeface="Cambria Math" panose="02040503050406030204" pitchFamily="18" charset="0"/>
                  </a:rPr>
                  <a:t>$f$</a:t>
                </a:r>
                <a:r>
                  <a:rPr sz="2400" b="0">
                    <a:solidFill>
                      <a:srgbClr val="111827"/>
                    </a:solidFill>
                    <a:latin typeface="Arial"/>
                  </a:rPr>
                  <a:t> monotonic on </a:t>
                </a:r>
                <a:r>
                  <a:rPr lang="en-IN" sz="2400">
                    <a:solidFill>
                      <a:srgbClr val="111827"/>
                    </a:solidFill>
                    <a:latin typeface="Cambria Math" panose="02040503050406030204" pitchFamily="18" charset="0"/>
                  </a:rPr>
                  <a:t>$(p,q)$</a:t>
                </a:r>
                <a:r>
                  <a:rPr sz="2400" b="0">
                    <a:solidFill>
                      <a:srgbClr val="111827"/>
                    </a:solidFill>
                    <a:latin typeface="Arial"/>
                  </a:rPr>
                  <a:t> iff the parameter keeps </a:t>
                </a:r>
                <a:r>
                  <a:rPr lang="en-IN" sz="2400">
                    <a:solidFill>
                      <a:srgbClr val="111827"/>
                    </a:solidFill>
                    <a:latin typeface="Cambria Math" panose="02040503050406030204" pitchFamily="18" charset="0"/>
                  </a:rPr>
                  <a:t>$\{x:f'(x)=0\}$</a:t>
                </a:r>
                <a:r>
                  <a:rPr sz="2400" b="0">
                    <a:solidFill>
                      <a:srgbClr val="111827"/>
                    </a:solidFill>
                    <a:latin typeface="Arial"/>
                  </a:rPr>
                  <a:t> out of </a:t>
                </a:r>
                <a:r>
                  <a:rPr lang="en-IN" sz="2400">
                    <a:solidFill>
                      <a:srgbClr val="111827"/>
                    </a:solidFill>
                    <a:latin typeface="Cambria Math" panose="02040503050406030204" pitchFamily="18" charset="0"/>
                  </a:rPr>
                  <a:t>$(p,q)$</a:t>
                </a:r>
                <a:r>
                  <a:rPr sz="2400" b="0">
                    <a:solidFill>
                      <a:srgbClr val="111827"/>
                    </a:solidFill>
                    <a:latin typeface="Arial"/>
                  </a:rPr>
                  <a:t> (when roots are simple).</a:t>
                </a:r>
                <a:endParaRPr sz="2400">
                  <a:solidFill>
                    <a:srgbClr val="111827"/>
                  </a:solidFill>
                </a:endParaRPr>
              </a:p>
            </p:txBody>
          </p:sp>
        </mc:Fallback>
      </mc:AlternateContent>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2910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oMath>
                </a14:m>
                <a:r>
                  <a:rPr sz="2400" b="0">
                    <a:solidFill>
                      <a:srgbClr val="111827"/>
                    </a:solidFill>
                    <a:latin typeface="Arial"/>
                  </a:rPr>
                  <a:t>. If the derivative of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respect to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represented by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the value of </a:t>
                </a:r>
                <a14:m>
                  <m:oMath xmlns:m="http://schemas.openxmlformats.org/officeDocument/2006/math">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Sub>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   (B)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(C)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1</m:t>
                    </m:r>
                  </m:oMath>
                </a14:m>
                <a:endParaRPr sz="2400">
                  <a:solidFill>
                    <a:srgbClr val="111827"/>
                  </a:solidFill>
                </a:endParaRPr>
              </a:p>
            </p:txBody>
          </p:sp>
        </mc:Choice>
        <mc:Fallback>
          <p:sp>
            <p:nvSpPr>
              <p:cNvPr id="4" name="Rounded Rectangle 3"/>
              <p:cNvSpPr/>
              <p:nvPr/>
            </p:nvSpPr>
            <p:spPr>
              <a:xfrm>
                <a:off x="731520" y="1280160"/>
                <a:ext cx="10725912" cy="22910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$f(x)=\sin(x^2)$</a:t>
                </a:r>
                <a:r>
                  <a:rPr sz="2400" b="0">
                    <a:solidFill>
                      <a:srgbClr val="111827"/>
                    </a:solidFill>
                    <a:latin typeface="Arial"/>
                  </a:rPr>
                  <a:t> and </a:t>
                </a:r>
                <a:r>
                  <a:rPr lang="en-IN" sz="2400">
                    <a:solidFill>
                      <a:srgbClr val="111827"/>
                    </a:solidFill>
                    <a:latin typeface="Cambria Math" panose="02040503050406030204" pitchFamily="18" charset="0"/>
                  </a:rPr>
                  <a:t>$g(x)=1-\cos x$</a:t>
                </a:r>
                <a:r>
                  <a:rPr sz="2400" b="0">
                    <a:solidFill>
                      <a:srgbClr val="111827"/>
                    </a:solidFill>
                    <a:latin typeface="Arial"/>
                  </a:rPr>
                  <a:t>. If the derivative of </a:t>
                </a:r>
                <a:r>
                  <a:rPr lang="en-IN" sz="2400">
                    <a:solidFill>
                      <a:srgbClr val="111827"/>
                    </a:solidFill>
                    <a:latin typeface="Cambria Math" panose="02040503050406030204" pitchFamily="18" charset="0"/>
                  </a:rPr>
                  <a:t>$f(x)$</a:t>
                </a:r>
                <a:r>
                  <a:rPr sz="2400" b="0">
                    <a:solidFill>
                      <a:srgbClr val="111827"/>
                    </a:solidFill>
                    <a:latin typeface="Arial"/>
                  </a:rPr>
                  <a:t> with respect to </a:t>
                </a:r>
                <a:r>
                  <a:rPr lang="en-IN" sz="2400">
                    <a:solidFill>
                      <a:srgbClr val="111827"/>
                    </a:solidFill>
                    <a:latin typeface="Cambria Math" panose="02040503050406030204" pitchFamily="18" charset="0"/>
                  </a:rPr>
                  <a:t>$g(x)$</a:t>
                </a:r>
                <a:r>
                  <a:rPr sz="2400" b="0">
                    <a:solidFill>
                      <a:srgbClr val="111827"/>
                    </a:solidFill>
                    <a:latin typeface="Arial"/>
                  </a:rPr>
                  <a:t> is represented by </a:t>
                </a:r>
                <a:r>
                  <a:rPr lang="en-IN" sz="2400">
                    <a:solidFill>
                      <a:srgbClr val="111827"/>
                    </a:solidFill>
                    <a:latin typeface="Cambria Math" panose="02040503050406030204" pitchFamily="18" charset="0"/>
                  </a:rPr>
                  <a:t>$h(x)$</a:t>
                </a:r>
                <a:r>
                  <a:rPr sz="2400" b="0">
                    <a:solidFill>
                      <a:srgbClr val="111827"/>
                    </a:solidFill>
                    <a:latin typeface="Arial"/>
                  </a:rPr>
                  <a:t>, then the value of </a:t>
                </a:r>
                <a:r>
                  <a:rPr lang="en-IN" sz="2400">
                    <a:solidFill>
                      <a:srgbClr val="111827"/>
                    </a:solidFill>
                    <a:latin typeface="Cambria Math" panose="02040503050406030204" pitchFamily="18" charset="0"/>
                  </a:rPr>
                  <a:t>$\lim_{x\to0}\frac{h(x)-2}{x^2}$</a:t>
                </a:r>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$\frac16$</a:t>
                </a:r>
                <a:r>
                  <a:rPr sz="2400" b="0">
                    <a:solidFill>
                      <a:srgbClr val="111827"/>
                    </a:solidFill>
                    <a:latin typeface="Arial"/>
                  </a:rPr>
                  <a:t>   (B) </a:t>
                </a:r>
                <a:r>
                  <a:rPr lang="en-IN" sz="2400">
                    <a:solidFill>
                      <a:srgbClr val="111827"/>
                    </a:solidFill>
                    <a:latin typeface="Cambria Math" panose="02040503050406030204" pitchFamily="18" charset="0"/>
                  </a:rPr>
                  <a:t>$\frac13$</a:t>
                </a:r>
                <a:r>
                  <a:rPr sz="2400" b="0">
                    <a:solidFill>
                      <a:srgbClr val="111827"/>
                    </a:solidFill>
                    <a:latin typeface="Arial"/>
                  </a:rPr>
                  <a:t>   (C) </a:t>
                </a:r>
                <a:r>
                  <a:rPr lang="en-IN" sz="2400">
                    <a:solidFill>
                      <a:srgbClr val="111827"/>
                    </a:solidFill>
                    <a:latin typeface="Cambria Math" panose="02040503050406030204" pitchFamily="18" charset="0"/>
                  </a:rPr>
                  <a:t>$\frac23$</a:t>
                </a:r>
                <a:r>
                  <a:rPr sz="2400" b="0">
                    <a:solidFill>
                      <a:srgbClr val="111827"/>
                    </a:solidFill>
                    <a:latin typeface="Arial"/>
                  </a:rPr>
                  <a:t>   (D) </a:t>
                </a:r>
                <a:r>
                  <a:rPr lang="en-IN" sz="2400">
                    <a:solidFill>
                      <a:srgbClr val="111827"/>
                    </a:solidFill>
                    <a:latin typeface="Cambria Math" panose="02040503050406030204" pitchFamily="18" charset="0"/>
                  </a:rPr>
                  <a:t>$1$</a:t>
                </a:r>
                <a:endParaRPr sz="2400">
                  <a:solidFill>
                    <a:srgbClr val="111827"/>
                  </a:solidFill>
                </a:endParaRPr>
              </a:p>
            </p:txBody>
          </p:sp>
        </mc:Fallback>
      </mc:AlternateContent>
      <p:sp>
        <p:nvSpPr>
          <p:cNvPr id="5" name="Rectangle 4"/>
          <p:cNvSpPr/>
          <p:nvPr/>
        </p:nvSpPr>
        <p:spPr>
          <a:xfrm>
            <a:off x="731520" y="3799839"/>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Derivative of a function with respect to another function, Evaluation of limits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847344"/>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a:rPr lang="en-IN" sz="2400" i="1">
                        <a:solidFill>
                          <a:srgbClr val="78350F"/>
                        </a:solidFill>
                        <a:latin typeface="Cambria Math" panose="02040503050406030204" pitchFamily="18" charset="0"/>
                      </a:rPr>
                      <m:t>ℎ</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sSup>
                          <m:e>
                            <m:r>
                              <a:rPr lang="en-IN" sz="2400" i="1">
                                <a:solidFill>
                                  <a:srgbClr val="78350F"/>
                                </a:solidFill>
                                <a:latin typeface="Cambria Math" panose="02040503050406030204" pitchFamily="18" charset="0"/>
                              </a:rPr>
                              <m:t>𝑓</m:t>
                            </m:r>
                          </m:e>
                          <m:sup>
                            <m:r>
                              <m:rPr>
                                <m:sty m:val="p"/>
                              </m:rPr>
                              <a:rPr lang="en-IN" sz="2400">
                                <a:solidFill>
                                  <a:srgbClr val="78350F"/>
                                </a:solidFill>
                                <a:latin typeface="Cambria Math" panose="02040503050406030204" pitchFamily="18" charset="0"/>
                              </a:rPr>
                              <m:t>′</m:t>
                            </m:r>
                          </m:sup>
                        </m:sSup>
                      </m:num>
                      <m:den>
                        <m:sSup>
                          <m:e>
                            <m:r>
                              <a:rPr lang="en-IN" sz="2400" i="1">
                                <a:solidFill>
                                  <a:srgbClr val="78350F"/>
                                </a:solidFill>
                                <a:latin typeface="Cambria Math" panose="02040503050406030204" pitchFamily="18" charset="0"/>
                              </a:rPr>
                              <m:t>𝑔</m:t>
                            </m:r>
                          </m:e>
                          <m:sup>
                            <m:r>
                              <m:rPr>
                                <m:sty m:val="p"/>
                              </m:rPr>
                              <a:rPr lang="en-IN" sz="2400">
                                <a:solidFill>
                                  <a:srgbClr val="78350F"/>
                                </a:solidFill>
                                <a:latin typeface="Cambria Math" panose="02040503050406030204" pitchFamily="18" charset="0"/>
                              </a:rPr>
                              <m:t>′</m:t>
                            </m:r>
                          </m:sup>
                        </m:sSup>
                      </m:den>
                    </m:f>
                  </m:oMath>
                </a14:m>
                <a:r>
                  <a:rPr sz="2400" b="0">
                    <a:solidFill>
                      <a:srgbClr val="78350F"/>
                    </a:solidFill>
                    <a:latin typeface="Arial"/>
                  </a:rPr>
                  <a:t>; then expand: </a:t>
                </a:r>
                <a14:m>
                  <m:oMath xmlns:m="http://schemas.openxmlformats.org/officeDocument/2006/math">
                    <m:r>
                      <a:rPr lang="en-IN" sz="2400" i="1">
                        <a:solidFill>
                          <a:srgbClr val="78350F"/>
                        </a:solidFill>
                        <a:latin typeface="Cambria Math" panose="02040503050406030204" pitchFamily="18" charset="0"/>
                      </a:rPr>
                      <m:t>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num>
                      <m:den>
                        <m:r>
                          <a:rPr lang="en-IN" sz="2400" i="1">
                            <a:solidFill>
                              <a:srgbClr val="78350F"/>
                            </a:solidFill>
                            <a:latin typeface="Cambria Math" panose="02040503050406030204" pitchFamily="18" charset="0"/>
                          </a:rPr>
                          <m:t>3</m:t>
                        </m:r>
                      </m:den>
                    </m:f>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oMath>
                </a14:m>
                <a:endParaRPr sz="2400">
                  <a:solidFill>
                    <a:srgbClr val="78350F"/>
                  </a:solidFill>
                </a:endParaRPr>
              </a:p>
            </p:txBody>
          </p:sp>
        </mc:Choice>
        <mc:Fallback>
          <p:sp>
            <p:nvSpPr>
              <p:cNvPr id="4" name="Rounded Rectangle 3"/>
              <p:cNvSpPr/>
              <p:nvPr/>
            </p:nvSpPr>
            <p:spPr>
              <a:xfrm>
                <a:off x="731520" y="1280160"/>
                <a:ext cx="10725912" cy="847344"/>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$h=\frac{f'}{g'}$</a:t>
                </a:r>
                <a:r>
                  <a:rPr sz="2400" b="0">
                    <a:solidFill>
                      <a:srgbClr val="78350F"/>
                    </a:solidFill>
                    <a:latin typeface="Arial"/>
                  </a:rPr>
                  <a:t>; then expand: </a:t>
                </a:r>
                <a:r>
                  <a:rPr lang="en-IN" sz="2400">
                    <a:solidFill>
                      <a:srgbClr val="78350F"/>
                    </a:solidFill>
                    <a:latin typeface="Cambria Math" panose="02040503050406030204" pitchFamily="18" charset="0"/>
                  </a:rPr>
                  <a:t>$h(x)=2+\frac{x^2}3+\dots$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264664"/>
                <a:ext cx="10725912" cy="441045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derivative of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respect to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num>
                      <m:den>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cos</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We need </a:t>
                </a:r>
                <a14:m>
                  <m:oMath xmlns:m="http://schemas.openxmlformats.org/officeDocument/2006/math">
                    <m:r>
                      <a:rPr lang="en-IN" sz="2400" i="1">
                        <a:solidFill>
                          <a:srgbClr val="111827"/>
                        </a:solidFill>
                        <a:latin typeface="Cambria Math" panose="02040503050406030204" pitchFamily="18" charset="0"/>
                      </a:rPr>
                      <m:t>𝐿</m:t>
                    </m:r>
                    <m:r>
                      <m:rPr>
                        <m:sty m:val="p"/>
                      </m:rPr>
                      <a:rPr lang="en-IN" sz="2400">
                        <a:solidFill>
                          <a:srgbClr val="111827"/>
                        </a:solidFill>
                        <a:latin typeface="Cambria Math" panose="02040503050406030204" pitchFamily="18" charset="0"/>
                      </a:rPr>
                      <m:t>=</m:t>
                    </m:r>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Sub>
                    <m:f>
                      <m:fPr>
                        <m:type m:val="bar"/>
                        <m:ctrlPr>
                          <a:rPr lang="en-IN" sz="2400" i="1">
                            <a:solidFill>
                              <a:srgbClr val="111827"/>
                            </a:solidFill>
                            <a:latin typeface="Cambria Math" panose="02040503050406030204" pitchFamily="18" charset="0"/>
                          </a:rPr>
                        </m:ctrlPr>
                      </m:fPr>
                      <m:num>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cos</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Sub>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cos</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Sub>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rewrite: </a:t>
                </a:r>
                <a14:m>
                  <m:oMath xmlns:m="http://schemas.openxmlformats.org/officeDocument/2006/math">
                    <m:r>
                      <a:rPr lang="en-IN" sz="2400" i="1">
                        <a:solidFill>
                          <a:srgbClr val="111827"/>
                        </a:solidFill>
                        <a:latin typeface="Cambria Math" panose="02040503050406030204" pitchFamily="18" charset="0"/>
                      </a:rPr>
                      <m:t>𝐿</m:t>
                    </m:r>
                    <m:r>
                      <m:rPr>
                        <m:sty m:val="p"/>
                      </m:rPr>
                      <a:rPr lang="en-IN" sz="2400">
                        <a:solidFill>
                          <a:srgbClr val="111827"/>
                        </a:solidFill>
                        <a:latin typeface="Cambria Math" panose="02040503050406030204" pitchFamily="18" charset="0"/>
                      </a:rPr>
                      <m:t>=</m:t>
                    </m:r>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Sub>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cos</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This is 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0</m:t>
                        </m:r>
                      </m:num>
                      <m:den>
                        <m:r>
                          <a:rPr lang="en-IN" sz="2400" i="1">
                            <a:solidFill>
                              <a:srgbClr val="111827"/>
                            </a:solidFill>
                            <a:latin typeface="Cambria Math" panose="02040503050406030204" pitchFamily="18" charset="0"/>
                          </a:rPr>
                          <m:t>0</m:t>
                        </m:r>
                      </m:den>
                    </m:f>
                  </m:oMath>
                </a14:m>
                <a:r>
                  <a:rPr sz="2400" b="0">
                    <a:solidFill>
                      <a:srgbClr val="111827"/>
                    </a:solidFill>
                    <a:latin typeface="Arial"/>
                  </a:rPr>
                  <a:t> form. Applying L'Hospital's rule: </a:t>
                </a:r>
                <a14:m>
                  <m:oMath xmlns:m="http://schemas.openxmlformats.org/officeDocument/2006/math">
                    <m:r>
                      <a:rPr lang="en-IN" sz="2400" i="1">
                        <a:solidFill>
                          <a:srgbClr val="111827"/>
                        </a:solidFill>
                        <a:latin typeface="Cambria Math" panose="02040503050406030204" pitchFamily="18" charset="0"/>
                      </a:rPr>
                      <m:t>𝐿</m:t>
                    </m:r>
                    <m:r>
                      <m:rPr>
                        <m:sty m:val="p"/>
                      </m:rPr>
                      <a:rPr lang="en-IN" sz="2400">
                        <a:solidFill>
                          <a:srgbClr val="111827"/>
                        </a:solidFill>
                        <a:latin typeface="Cambria Math" panose="02040503050406030204" pitchFamily="18" charset="0"/>
                      </a:rPr>
                      <m:t>=</m:t>
                    </m:r>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Sub>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cos</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sin</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264664"/>
                <a:ext cx="10725912" cy="441045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derivative of </a:t>
                </a:r>
                <a:r>
                  <a:rPr lang="en-IN" sz="2400">
                    <a:solidFill>
                      <a:srgbClr val="111827"/>
                    </a:solidFill>
                    <a:latin typeface="Cambria Math" panose="02040503050406030204" pitchFamily="18" charset="0"/>
                  </a:rPr>
                  <a:t>$f(x)$</a:t>
                </a:r>
                <a:r>
                  <a:rPr sz="2400" b="0">
                    <a:solidFill>
                      <a:srgbClr val="111827"/>
                    </a:solidFill>
                    <a:latin typeface="Arial"/>
                  </a:rPr>
                  <a:t> with respect to </a:t>
                </a:r>
                <a:r>
                  <a:rPr lang="en-IN" sz="2400">
                    <a:solidFill>
                      <a:srgbClr val="111827"/>
                    </a:solidFill>
                    <a:latin typeface="Cambria Math" panose="02040503050406030204" pitchFamily="18" charset="0"/>
                  </a:rPr>
                  <a:t>$g(x)$</a:t>
                </a:r>
                <a:r>
                  <a:rPr sz="2400" b="0">
                    <a:solidFill>
                      <a:srgbClr val="111827"/>
                    </a:solidFill>
                    <a:latin typeface="Arial"/>
                  </a:rPr>
                  <a:t> is </a:t>
                </a:r>
                <a:r>
                  <a:rPr lang="en-IN" sz="2400">
                    <a:solidFill>
                      <a:srgbClr val="111827"/>
                    </a:solidFill>
                    <a:latin typeface="Cambria Math" panose="02040503050406030204" pitchFamily="18" charset="0"/>
                  </a:rPr>
                  <a:t>$h(x)=\frac{f'(x)}{g'(x)}=\frac{2x\cos(x^2)}{\sin 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We need </a:t>
                </a:r>
                <a:r>
                  <a:rPr lang="en-IN" sz="2400">
                    <a:solidFill>
                      <a:srgbClr val="111827"/>
                    </a:solidFill>
                    <a:latin typeface="Cambria Math" panose="02040503050406030204" pitchFamily="18" charset="0"/>
                  </a:rPr>
                  <a:t>$L=\lim_{x\to0}\frac{\frac{2x\cos(x^2)}{\sin x}-2}{x^2}=\lim_{x\to0}\frac{2x\cos(x^2)-2\sin x}{x^2\sin 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$\lim_{x\to0}\frac{\sin x}x=1$</a:t>
                </a:r>
                <a:r>
                  <a:rPr sz="2400" b="0">
                    <a:solidFill>
                      <a:srgbClr val="111827"/>
                    </a:solidFill>
                    <a:latin typeface="Arial"/>
                  </a:rPr>
                  <a:t>, rewrite: </a:t>
                </a:r>
                <a:r>
                  <a:rPr lang="en-IN" sz="2400">
                    <a:solidFill>
                      <a:srgbClr val="111827"/>
                    </a:solidFill>
                    <a:latin typeface="Cambria Math" panose="02040503050406030204" pitchFamily="18" charset="0"/>
                  </a:rPr>
                  <a:t>$L=\lim_{x\to0}\frac{2x\cos(x^2)-2\sin x}{x^3}$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This is a </a:t>
                </a:r>
                <a:r>
                  <a:rPr lang="en-IN" sz="2400">
                    <a:solidFill>
                      <a:srgbClr val="111827"/>
                    </a:solidFill>
                    <a:latin typeface="Cambria Math" panose="02040503050406030204" pitchFamily="18" charset="0"/>
                  </a:rPr>
                  <a:t>$\frac00$</a:t>
                </a:r>
                <a:r>
                  <a:rPr sz="2400" b="0">
                    <a:solidFill>
                      <a:srgbClr val="111827"/>
                    </a:solidFill>
                    <a:latin typeface="Arial"/>
                  </a:rPr>
                  <a:t> form. Applying L'Hospital's rule: </a:t>
                </a:r>
                <a:r>
                  <a:rPr lang="en-IN" sz="2400">
                    <a:solidFill>
                      <a:srgbClr val="111827"/>
                    </a:solidFill>
                    <a:latin typeface="Cambria Math" panose="02040503050406030204" pitchFamily="18" charset="0"/>
                  </a:rPr>
                  <a:t>$L=\lim_{x\to0}\frac{2\cos(x^2)-4x^2\sin(x^2)-2\cos x}{3x^2}$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This is again 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0</m:t>
                        </m:r>
                      </m:num>
                      <m:den>
                        <m:r>
                          <a:rPr lang="en-IN" sz="2400" i="1">
                            <a:solidFill>
                              <a:srgbClr val="111827"/>
                            </a:solidFill>
                            <a:latin typeface="Cambria Math" panose="02040503050406030204" pitchFamily="18" charset="0"/>
                          </a:rPr>
                          <m:t>0</m:t>
                        </m:r>
                      </m:den>
                    </m:f>
                  </m:oMath>
                </a14:m>
                <a:r>
                  <a:rPr sz="2400" b="0">
                    <a:solidFill>
                      <a:srgbClr val="111827"/>
                    </a:solidFill>
                    <a:latin typeface="Arial"/>
                  </a:rPr>
                  <a:t> form. Applying L'Hospital's rule a second time: </a:t>
                </a:r>
                <a14:m>
                  <m:oMath xmlns:m="http://schemas.openxmlformats.org/officeDocument/2006/math">
                    <m:r>
                      <a:rPr lang="en-IN" sz="2400" i="1">
                        <a:solidFill>
                          <a:srgbClr val="111827"/>
                        </a:solidFill>
                        <a:latin typeface="Cambria Math" panose="02040503050406030204" pitchFamily="18" charset="0"/>
                      </a:rPr>
                      <m:t>𝐿</m:t>
                    </m:r>
                    <m:r>
                      <m:rPr>
                        <m:sty m:val="p"/>
                      </m:rPr>
                      <a:rPr lang="en-IN" sz="2400">
                        <a:solidFill>
                          <a:srgbClr val="111827"/>
                        </a:solidFill>
                        <a:latin typeface="Cambria Math" panose="02040503050406030204" pitchFamily="18" charset="0"/>
                      </a:rPr>
                      <m:t>=</m:t>
                    </m:r>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Sub>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sin</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cos</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𝑥</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Simplifying: </a:t>
                </a:r>
                <a14:m>
                  <m:oMath xmlns:m="http://schemas.openxmlformats.org/officeDocument/2006/math">
                    <m:r>
                      <a:rPr lang="en-IN" sz="2400" i="1">
                        <a:solidFill>
                          <a:srgbClr val="111827"/>
                        </a:solidFill>
                        <a:latin typeface="Cambria Math" panose="02040503050406030204" pitchFamily="18" charset="0"/>
                      </a:rPr>
                      <m:t>𝐿</m:t>
                    </m:r>
                    <m:r>
                      <m:rPr>
                        <m:sty m:val="p"/>
                      </m:rPr>
                      <a:rPr lang="en-IN" sz="2400">
                        <a:solidFill>
                          <a:srgbClr val="111827"/>
                        </a:solidFill>
                        <a:latin typeface="Cambria Math" panose="02040503050406030204" pitchFamily="18" charset="0"/>
                      </a:rPr>
                      <m:t>=</m:t>
                    </m:r>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Sub>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sin</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cos</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𝑥</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𝐿</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This is again a </a:t>
                </a:r>
                <a:r>
                  <a:rPr lang="en-IN" sz="2400">
                    <a:solidFill>
                      <a:srgbClr val="111827"/>
                    </a:solidFill>
                    <a:latin typeface="Cambria Math" panose="02040503050406030204" pitchFamily="18" charset="0"/>
                  </a:rPr>
                  <a:t>$\frac00$</a:t>
                </a:r>
                <a:r>
                  <a:rPr sz="2400" b="0">
                    <a:solidFill>
                      <a:srgbClr val="111827"/>
                    </a:solidFill>
                    <a:latin typeface="Arial"/>
                  </a:rPr>
                  <a:t> form. Applying L'Hospital's rule a second time: </a:t>
                </a:r>
                <a:r>
                  <a:rPr lang="en-IN" sz="2400">
                    <a:solidFill>
                      <a:srgbClr val="111827"/>
                    </a:solidFill>
                    <a:latin typeface="Cambria Math" panose="02040503050406030204" pitchFamily="18" charset="0"/>
                  </a:rPr>
                  <a:t>$L=\lim_{x\to0}\frac{-12x\sin(x^2)-8x^3\cos(x^2)+2\sin x}{6x}$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Simplifying: </a:t>
                </a:r>
                <a:r>
                  <a:rPr lang="en-IN" sz="2400">
                    <a:solidFill>
                      <a:srgbClr val="111827"/>
                    </a:solidFill>
                    <a:latin typeface="Cambria Math" panose="02040503050406030204" pitchFamily="18" charset="0"/>
                  </a:rPr>
                  <a:t>$L=\lim_{x\to0}\left(-2\sin(x^2)-\frac43x^2\cos(x^2)+\frac13\cdot\frac{\sin x}x\right)$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$L=0-0+\frac13(1)=\frac13$</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m:t>
                        </m:r>
                      </m:num>
                      <m:den>
                        <m:r>
                          <a:rPr lang="en-IN" sz="2800" i="1">
                            <a:solidFill>
                              <a:srgbClr val="15803D"/>
                            </a:solidFill>
                            <a:latin typeface="Cambria Math" panose="02040503050406030204" pitchFamily="18" charset="0"/>
                          </a:rPr>
                          <m:t>3</m:t>
                        </m:r>
                      </m:den>
                    </m:f>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r>
                  <a:rPr lang="en-IN" sz="2800">
                    <a:solidFill>
                      <a:srgbClr val="15803D"/>
                    </a:solidFill>
                    <a:latin typeface="Cambria Math" panose="02040503050406030204" pitchFamily="18" charset="0"/>
                  </a:rPr>
                  <a:t>$\frac13$</a:t>
                </a:r>
                <a:endParaRPr sz="2800">
                  <a:solidFill>
                    <a:srgbClr val="15803D"/>
                  </a:solidFill>
                </a:endParaRPr>
              </a:p>
            </p:txBody>
          </p:sp>
        </mc:Fallback>
      </mc:AlternateContent>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Expand </a:t>
                </a:r>
                <a14:m>
                  <m:oMath xmlns:m="http://schemas.openxmlformats.org/officeDocument/2006/math">
                    <m:r>
                      <a:rPr lang="en-IN" sz="2400" i="1">
                        <a:solidFill>
                          <a:srgbClr val="78350F"/>
                        </a:solidFill>
                        <a:latin typeface="Cambria Math" panose="02040503050406030204" pitchFamily="18" charset="0"/>
                      </a:rPr>
                      <m:t>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cos</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num>
                      <m:den>
                        <m:r>
                          <m:rPr>
                            <m:sty m:val="p"/>
                          </m:rPr>
                          <a:rPr lang="en-IN" sz="2400">
                            <a:solidFill>
                              <a:srgbClr val="78350F"/>
                            </a:solidFill>
                            <a:latin typeface="Cambria Math" panose="02040503050406030204" pitchFamily="18" charset="0"/>
                          </a:rPr>
                          <m:t>sin</m:t>
                        </m:r>
                        <m:r>
                          <a:rPr lang="en-IN" sz="2400" i="1">
                            <a:solidFill>
                              <a:srgbClr val="78350F"/>
                            </a:solidFill>
                            <a:latin typeface="Cambria Math" panose="02040503050406030204" pitchFamily="18" charset="0"/>
                          </a:rPr>
                          <m:t>𝑥</m:t>
                        </m:r>
                      </m:den>
                    </m:f>
                  </m:oMath>
                </a14:m>
                <a:r>
                  <a:rPr sz="2400" b="0">
                    <a:solidFill>
                      <a:srgbClr val="78350F"/>
                    </a:solidFill>
                    <a:latin typeface="Arial"/>
                  </a:rPr>
                  <a:t> in a series; no differentiation is needed.</a:t>
                </a:r>
                <a:endParaRPr sz="2400">
                  <a:solidFill>
                    <a:srgbClr val="78350F"/>
                  </a:solidFill>
                </a:endParaRPr>
              </a:p>
            </p:txBody>
          </p:sp>
        </mc:Choice>
        <mc:Fallback>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Expand </a:t>
                </a:r>
                <a:r>
                  <a:rPr lang="en-IN" sz="2400">
                    <a:solidFill>
                      <a:srgbClr val="78350F"/>
                    </a:solidFill>
                    <a:latin typeface="Cambria Math" panose="02040503050406030204" pitchFamily="18" charset="0"/>
                  </a:rPr>
                  <a:t>$h(x)=\frac{2x\cos x^2}{\sin x}$</a:t>
                </a:r>
                <a:r>
                  <a:rPr sz="2400" b="0">
                    <a:solidFill>
                      <a:srgbClr val="78350F"/>
                    </a:solidFill>
                    <a:latin typeface="Arial"/>
                  </a:rPr>
                  <a:t> in a series; no differentiation is needed.</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636520"/>
                <a:ext cx="10725912" cy="315163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cos</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cos</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e>
                    </m:d>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636520"/>
                <a:ext cx="10725912" cy="315163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$\cos(x^2)=1-\frac{x^4}2+\dots$</a:t>
                </a:r>
                <a:r>
                  <a:rPr sz="2400" b="0">
                    <a:solidFill>
                      <a:srgbClr val="111827"/>
                    </a:solidFill>
                    <a:latin typeface="Arial"/>
                  </a:rPr>
                  <a:t> and </a:t>
                </a:r>
                <a:r>
                  <a:rPr lang="en-IN" sz="2400">
                    <a:solidFill>
                      <a:srgbClr val="111827"/>
                    </a:solidFill>
                    <a:latin typeface="Cambria Math" panose="02040503050406030204" pitchFamily="18" charset="0"/>
                  </a:rPr>
                  <a:t>$\frac{\sin x}x=1-\frac{x^2}6+\dots$</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$h(x)=\frac{2\cos(x^2)}{\sin x/x}=2\left(1-\frac{x^4}2+\dots\right)\left(1+\frac{x^2}6+\dots\right)=2+\frac{x^2}3+O(x^4)$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$\frac{h(x)-2}{x^2}=\frac13+O(x^2)\to\frac13$</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m:t>
                        </m:r>
                      </m:num>
                      <m:den>
                        <m:r>
                          <a:rPr lang="en-IN" sz="2800" i="1">
                            <a:solidFill>
                              <a:srgbClr val="15803D"/>
                            </a:solidFill>
                            <a:latin typeface="Cambria Math" panose="02040503050406030204" pitchFamily="18" charset="0"/>
                          </a:rPr>
                          <m:t>3</m:t>
                        </m:r>
                      </m:den>
                    </m:f>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r>
                  <a:rPr lang="en-IN" sz="2800">
                    <a:solidFill>
                      <a:srgbClr val="15803D"/>
                    </a:solidFill>
                    <a:latin typeface="Cambria Math" panose="02040503050406030204" pitchFamily="18" charset="0"/>
                  </a:rPr>
                  <a:t>$\frac13$</a:t>
                </a:r>
                <a:endParaRPr sz="2800">
                  <a:solidFill>
                    <a:srgbClr val="15803D"/>
                  </a:solidFill>
                </a:endParaRPr>
              </a:p>
            </p:txBody>
          </p:sp>
        </mc:Fallback>
      </mc:AlternateContent>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derivative of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with respect to </a:t>
                </a:r>
                <a14:m>
                  <m:oMath xmlns:m="http://schemas.openxmlformats.org/officeDocument/2006/math">
                    <m:r>
                      <a:rPr lang="en-IN" sz="2400" i="1">
                        <a:solidFill>
                          <a:srgbClr val="111827"/>
                        </a:solidFill>
                        <a:latin typeface="Cambria Math" panose="02040503050406030204" pitchFamily="18" charset="0"/>
                      </a:rPr>
                      <m:t>𝑔</m:t>
                    </m:r>
                  </m:oMath>
                </a14:m>
                <a:r>
                  <a:rPr sz="2400" b="0">
                    <a:solidFill>
                      <a:srgbClr val="111827"/>
                    </a:solidFill>
                    <a:latin typeface="Arial"/>
                  </a:rPr>
                  <a:t>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𝑓</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𝑔</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num>
                      <m:den>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wherever </a:t>
                </a: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den>
                    </m:f>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num>
                          <m:den>
                            <m:r>
                              <a:rPr lang="en-IN" sz="2400" i="1">
                                <a:solidFill>
                                  <a:srgbClr val="111827"/>
                                </a:solidFill>
                                <a:latin typeface="Cambria Math" panose="02040503050406030204" pitchFamily="18" charset="0"/>
                              </a:rPr>
                              <m:t>360</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e>
                    </m:d>
                  </m:oMath>
                </a14:m>
                <a:r>
                  <a:rPr sz="2400" b="0">
                    <a:solidFill>
                      <a:srgbClr val="111827"/>
                    </a:solidFill>
                    <a:latin typeface="Arial"/>
                  </a:rPr>
                  <a:t> is a useful expansion.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Sanity check of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near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sin</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When both numerator and denominator are </a:t>
                </a:r>
                <a14:m>
                  <m:oMath xmlns:m="http://schemas.openxmlformats.org/officeDocument/2006/math">
                    <m:r>
                      <a:rPr lang="en-IN" sz="2400" i="1">
                        <a:solidFill>
                          <a:srgbClr val="111827"/>
                        </a:solidFill>
                        <a:latin typeface="Cambria Math" panose="02040503050406030204" pitchFamily="18" charset="0"/>
                      </a:rPr>
                      <m:t>𝑂</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𝑘</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 series are faster and less error-prone than repeated L'Hospital.</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derivative of </a:t>
                </a:r>
                <a:r>
                  <a:rPr lang="en-IN" sz="2400">
                    <a:solidFill>
                      <a:srgbClr val="111827"/>
                    </a:solidFill>
                    <a:latin typeface="Cambria Math" panose="02040503050406030204" pitchFamily="18" charset="0"/>
                  </a:rPr>
                  <a:t>$f$</a:t>
                </a:r>
                <a:r>
                  <a:rPr sz="2400" b="0">
                    <a:solidFill>
                      <a:srgbClr val="111827"/>
                    </a:solidFill>
                    <a:latin typeface="Arial"/>
                  </a:rPr>
                  <a:t> with respect to </a:t>
                </a:r>
                <a:r>
                  <a:rPr lang="en-IN" sz="2400">
                    <a:solidFill>
                      <a:srgbClr val="111827"/>
                    </a:solidFill>
                    <a:latin typeface="Cambria Math" panose="02040503050406030204" pitchFamily="18" charset="0"/>
                  </a:rPr>
                  <a:t>$g$</a:t>
                </a:r>
                <a:r>
                  <a:rPr sz="2400" b="0">
                    <a:solidFill>
                      <a:srgbClr val="111827"/>
                    </a:solidFill>
                    <a:latin typeface="Arial"/>
                  </a:rPr>
                  <a:t> is </a:t>
                </a:r>
                <a:r>
                  <a:rPr lang="en-IN" sz="2400">
                    <a:solidFill>
                      <a:srgbClr val="111827"/>
                    </a:solidFill>
                    <a:latin typeface="Cambria Math" panose="02040503050406030204" pitchFamily="18" charset="0"/>
                  </a:rPr>
                  <a:t>$\frac{df}{dg}=\frac{f'(x)}{g'(x)}$</a:t>
                </a:r>
                <a:r>
                  <a:rPr sz="2400" b="0">
                    <a:solidFill>
                      <a:srgbClr val="111827"/>
                    </a:solidFill>
                    <a:latin typeface="Arial"/>
                  </a:rPr>
                  <a:t> wherever </a:t>
                </a:r>
                <a:r>
                  <a:rPr lang="en-IN" sz="2400">
                    <a:solidFill>
                      <a:srgbClr val="111827"/>
                    </a:solidFill>
                    <a:latin typeface="Cambria Math" panose="02040503050406030204" pitchFamily="18" charset="0"/>
                  </a:rPr>
                  <a:t>$g'(x)\neq0$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$\frac1{\sin x}=\frac1x\left(1+\frac{x^2}6+\frac{7x^4}{360}+\dots\right)$</a:t>
                </a:r>
                <a:r>
                  <a:rPr sz="2400" b="0">
                    <a:solidFill>
                      <a:srgbClr val="111827"/>
                    </a:solidFill>
                    <a:latin typeface="Arial"/>
                  </a:rPr>
                  <a:t> is a useful expansion.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Sanity check of </a:t>
                </a:r>
                <a:r>
                  <a:rPr lang="en-IN" sz="2400">
                    <a:solidFill>
                      <a:srgbClr val="111827"/>
                    </a:solidFill>
                    <a:latin typeface="Cambria Math" panose="02040503050406030204" pitchFamily="18" charset="0"/>
                  </a:rPr>
                  <a:t>$h(0)=2$</a:t>
                </a:r>
                <a:r>
                  <a:rPr sz="2400" b="0">
                    <a:solidFill>
                      <a:srgbClr val="111827"/>
                    </a:solidFill>
                    <a:latin typeface="Arial"/>
                  </a:rPr>
                  <a:t>: near </a:t>
                </a:r>
                <a:r>
                  <a:rPr lang="en-IN" sz="2400">
                    <a:solidFill>
                      <a:srgbClr val="111827"/>
                    </a:solidFill>
                    <a:latin typeface="Cambria Math" panose="02040503050406030204" pitchFamily="18" charset="0"/>
                  </a:rPr>
                  <a:t>$0$</a:t>
                </a:r>
                <a:r>
                  <a:rPr sz="2400" b="0">
                    <a:solidFill>
                      <a:srgbClr val="111827"/>
                    </a:solidFill>
                    <a:latin typeface="Arial"/>
                  </a:rPr>
                  <a:t>, </a:t>
                </a:r>
                <a:r>
                  <a:rPr lang="en-IN" sz="2400">
                    <a:solidFill>
                      <a:srgbClr val="111827"/>
                    </a:solidFill>
                    <a:latin typeface="Cambria Math" panose="02040503050406030204" pitchFamily="18" charset="0"/>
                  </a:rPr>
                  <a:t>$\sin x^2\approx x^2$</a:t>
                </a:r>
                <a:r>
                  <a:rPr sz="2400" b="0">
                    <a:solidFill>
                      <a:srgbClr val="111827"/>
                    </a:solidFill>
                    <a:latin typeface="Arial"/>
                  </a:rPr>
                  <a:t> and </a:t>
                </a:r>
                <a:r>
                  <a:rPr lang="en-IN" sz="2400">
                    <a:solidFill>
                      <a:srgbClr val="111827"/>
                    </a:solidFill>
                    <a:latin typeface="Cambria Math" panose="02040503050406030204" pitchFamily="18" charset="0"/>
                  </a:rPr>
                  <a:t>$1-\cos x\approx\frac{x^2}2$</a:t>
                </a:r>
                <a:r>
                  <a:rPr sz="2400" b="0">
                    <a:solidFill>
                      <a:srgbClr val="111827"/>
                    </a:solidFill>
                    <a:latin typeface="Arial"/>
                  </a:rPr>
                  <a:t>, and </a:t>
                </a:r>
                <a:r>
                  <a:rPr lang="en-IN" sz="2400">
                    <a:solidFill>
                      <a:srgbClr val="111827"/>
                    </a:solidFill>
                    <a:latin typeface="Cambria Math" panose="02040503050406030204" pitchFamily="18" charset="0"/>
                  </a:rPr>
                  <a:t>$\frac{d(x^2)}{d(x^2/2)}=2$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When both numerator and denominator are </a:t>
                </a:r>
                <a:r>
                  <a:rPr lang="en-IN" sz="2400">
                    <a:solidFill>
                      <a:srgbClr val="111827"/>
                    </a:solidFill>
                    <a:latin typeface="Cambria Math" panose="02040503050406030204" pitchFamily="18" charset="0"/>
                  </a:rPr>
                  <a:t>$O(x^k)$</a:t>
                </a:r>
                <a:r>
                  <a:rPr sz="2400" b="0">
                    <a:solidFill>
                      <a:srgbClr val="111827"/>
                    </a:solidFill>
                    <a:latin typeface="Arial"/>
                  </a:rPr>
                  <a:t>, series are faster and less error-prone than repeated L'Hospital.</a:t>
                </a:r>
                <a:endParaRPr sz="2400">
                  <a:solidFill>
                    <a:srgbClr val="111827"/>
                  </a:solidFill>
                </a:endParaRPr>
              </a:p>
            </p:txBody>
          </p:sp>
        </mc:Fallback>
      </mc:AlternateContent>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93C47D"/>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0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18135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the vertices of a triangle be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If </a:t>
                </a:r>
                <a14:m>
                  <m:oMath xmlns:m="http://schemas.openxmlformats.org/officeDocument/2006/math">
                    <m:r>
                      <a:rPr lang="en-IN" sz="2400" i="1">
                        <a:solidFill>
                          <a:srgbClr val="111827"/>
                        </a:solidFill>
                        <a:latin typeface="Cambria Math" panose="02040503050406030204" pitchFamily="18" charset="0"/>
                      </a:rPr>
                      <m:t>𝐺</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𝐻</m:t>
                    </m:r>
                  </m:oMath>
                </a14:m>
                <a:r>
                  <a:rPr sz="2400" b="0">
                    <a:solidFill>
                      <a:srgbClr val="111827"/>
                    </a:solidFill>
                    <a:latin typeface="Arial"/>
                  </a:rPr>
                  <a:t> denote the centroid and the orthocentre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respectively, then the distance </a:t>
                </a:r>
                <a14:m>
                  <m:oMath xmlns:m="http://schemas.openxmlformats.org/officeDocument/2006/math">
                    <m:r>
                      <a:rPr lang="en-IN" sz="2400" i="1">
                        <a:solidFill>
                          <a:srgbClr val="111827"/>
                        </a:solidFill>
                        <a:latin typeface="Cambria Math" panose="02040503050406030204" pitchFamily="18" charset="0"/>
                      </a:rPr>
                      <m:t>𝐺</m:t>
                    </m:r>
                    <m:r>
                      <a:rPr lang="en-IN" sz="2400" i="1">
                        <a:solidFill>
                          <a:srgbClr val="111827"/>
                        </a:solidFill>
                        <a:latin typeface="Cambria Math" panose="02040503050406030204" pitchFamily="18" charset="0"/>
                      </a:rPr>
                      <m:t>𝐻</m:t>
                    </m:r>
                  </m:oMath>
                </a14:m>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(C)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m:t>
                        </m:r>
                      </m:num>
                      <m:den>
                        <m:r>
                          <a:rPr lang="en-IN" sz="2400" i="1">
                            <a:solidFill>
                              <a:srgbClr val="111827"/>
                            </a:solidFill>
                            <a:latin typeface="Cambria Math" panose="02040503050406030204" pitchFamily="18" charset="0"/>
                          </a:rPr>
                          <m:t>3</m:t>
                        </m:r>
                      </m:den>
                    </m:f>
                  </m:oMath>
                </a14:m>
                <a:endParaRPr sz="2400">
                  <a:solidFill>
                    <a:srgbClr val="111827"/>
                  </a:solidFill>
                </a:endParaRPr>
              </a:p>
            </p:txBody>
          </p:sp>
        </mc:Choice>
        <mc:Fallback>
          <p:sp>
            <p:nvSpPr>
              <p:cNvPr id="4" name="Rounded Rectangle 3"/>
              <p:cNvSpPr/>
              <p:nvPr/>
            </p:nvSpPr>
            <p:spPr>
              <a:xfrm>
                <a:off x="731520" y="1280160"/>
                <a:ext cx="10725912" cy="218135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the vertices of a triangle be </a:t>
                </a:r>
                <a:r>
                  <a:rPr lang="en-IN" sz="2400">
                    <a:solidFill>
                      <a:srgbClr val="111827"/>
                    </a:solidFill>
                    <a:latin typeface="Cambria Math" panose="02040503050406030204" pitchFamily="18" charset="0"/>
                  </a:rPr>
                  <a:t>$A(0,0)$</a:t>
                </a:r>
                <a:r>
                  <a:rPr sz="2400" b="0">
                    <a:solidFill>
                      <a:srgbClr val="111827"/>
                    </a:solidFill>
                    <a:latin typeface="Arial"/>
                  </a:rPr>
                  <a:t>, </a:t>
                </a:r>
                <a:r>
                  <a:rPr lang="en-IN" sz="2400">
                    <a:solidFill>
                      <a:srgbClr val="111827"/>
                    </a:solidFill>
                    <a:latin typeface="Cambria Math" panose="02040503050406030204" pitchFamily="18" charset="0"/>
                  </a:rPr>
                  <a:t>$B(6,0)$</a:t>
                </a:r>
                <a:r>
                  <a:rPr sz="2400" b="0">
                    <a:solidFill>
                      <a:srgbClr val="111827"/>
                    </a:solidFill>
                    <a:latin typeface="Arial"/>
                  </a:rPr>
                  <a:t> and </a:t>
                </a:r>
                <a:r>
                  <a:rPr lang="en-IN" sz="2400">
                    <a:solidFill>
                      <a:srgbClr val="111827"/>
                    </a:solidFill>
                    <a:latin typeface="Cambria Math" panose="02040503050406030204" pitchFamily="18" charset="0"/>
                  </a:rPr>
                  <a:t>$C(0,8)$</a:t>
                </a:r>
                <a:r>
                  <a:rPr sz="2400" b="0">
                    <a:solidFill>
                      <a:srgbClr val="111827"/>
                    </a:solidFill>
                    <a:latin typeface="Arial"/>
                  </a:rPr>
                  <a:t>. If </a:t>
                </a:r>
                <a:r>
                  <a:rPr lang="en-IN" sz="2400">
                    <a:solidFill>
                      <a:srgbClr val="111827"/>
                    </a:solidFill>
                    <a:latin typeface="Cambria Math" panose="02040503050406030204" pitchFamily="18" charset="0"/>
                  </a:rPr>
                  <a:t>$G$</a:t>
                </a:r>
                <a:r>
                  <a:rPr sz="2400" b="0">
                    <a:solidFill>
                      <a:srgbClr val="111827"/>
                    </a:solidFill>
                    <a:latin typeface="Arial"/>
                  </a:rPr>
                  <a:t> and </a:t>
                </a:r>
                <a:r>
                  <a:rPr lang="en-IN" sz="2400">
                    <a:solidFill>
                      <a:srgbClr val="111827"/>
                    </a:solidFill>
                    <a:latin typeface="Cambria Math" panose="02040503050406030204" pitchFamily="18" charset="0"/>
                  </a:rPr>
                  <a:t>$H$</a:t>
                </a:r>
                <a:r>
                  <a:rPr sz="2400" b="0">
                    <a:solidFill>
                      <a:srgbClr val="111827"/>
                    </a:solidFill>
                    <a:latin typeface="Arial"/>
                  </a:rPr>
                  <a:t> denote the centroid and the orthocentre of </a:t>
                </a:r>
                <a:r>
                  <a:rPr lang="en-IN" sz="2400">
                    <a:solidFill>
                      <a:srgbClr val="111827"/>
                    </a:solidFill>
                    <a:latin typeface="Cambria Math" panose="02040503050406030204" pitchFamily="18" charset="0"/>
                  </a:rPr>
                  <a:t>$\triangle ABC$</a:t>
                </a:r>
                <a:r>
                  <a:rPr sz="2400" b="0">
                    <a:solidFill>
                      <a:srgbClr val="111827"/>
                    </a:solidFill>
                    <a:latin typeface="Arial"/>
                  </a:rPr>
                  <a:t> respectively, then the distance </a:t>
                </a:r>
                <a:r>
                  <a:rPr lang="en-IN" sz="2400">
                    <a:solidFill>
                      <a:srgbClr val="111827"/>
                    </a:solidFill>
                    <a:latin typeface="Cambria Math" panose="02040503050406030204" pitchFamily="18" charset="0"/>
                  </a:rPr>
                  <a:t>$GH$</a:t>
                </a:r>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$\frac53$</a:t>
                </a:r>
                <a:r>
                  <a:rPr sz="2400" b="0">
                    <a:solidFill>
                      <a:srgbClr val="111827"/>
                    </a:solidFill>
                    <a:latin typeface="Arial"/>
                  </a:rPr>
                  <a:t>   (B) </a:t>
                </a:r>
                <a:r>
                  <a:rPr lang="en-IN" sz="2400">
                    <a:solidFill>
                      <a:srgbClr val="111827"/>
                    </a:solidFill>
                    <a:latin typeface="Cambria Math" panose="02040503050406030204" pitchFamily="18" charset="0"/>
                  </a:rPr>
                  <a:t>$5$</a:t>
                </a:r>
                <a:r>
                  <a:rPr sz="2400" b="0">
                    <a:solidFill>
                      <a:srgbClr val="111827"/>
                    </a:solidFill>
                    <a:latin typeface="Arial"/>
                  </a:rPr>
                  <a:t>   (C) </a:t>
                </a:r>
                <a:r>
                  <a:rPr lang="en-IN" sz="2400">
                    <a:solidFill>
                      <a:srgbClr val="111827"/>
                    </a:solidFill>
                    <a:latin typeface="Cambria Math" panose="02040503050406030204" pitchFamily="18" charset="0"/>
                  </a:rPr>
                  <a:t>$\frac{10}3$</a:t>
                </a:r>
                <a:r>
                  <a:rPr sz="2400" b="0">
                    <a:solidFill>
                      <a:srgbClr val="111827"/>
                    </a:solidFill>
                    <a:latin typeface="Arial"/>
                  </a:rPr>
                  <a:t>   (D) </a:t>
                </a:r>
                <a:r>
                  <a:rPr lang="en-IN" sz="2400">
                    <a:solidFill>
                      <a:srgbClr val="111827"/>
                    </a:solidFill>
                    <a:latin typeface="Cambria Math" panose="02040503050406030204" pitchFamily="18" charset="0"/>
                  </a:rPr>
                  <a:t>$\frac{20}3$</a:t>
                </a:r>
                <a:endParaRPr sz="2400">
                  <a:solidFill>
                    <a:srgbClr val="111827"/>
                  </a:solidFill>
                </a:endParaRPr>
              </a:p>
            </p:txBody>
          </p:sp>
        </mc:Fallback>
      </mc:AlternateContent>
      <p:sp>
        <p:nvSpPr>
          <p:cNvPr id="5" name="Rectangle 4"/>
          <p:cNvSpPr/>
          <p:nvPr/>
        </p:nvSpPr>
        <p:spPr>
          <a:xfrm>
            <a:off x="731520" y="3690111"/>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Centroid and orthocentre of a triangle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0(Easier than JEE Main Level)</a:t>
            </a:r>
            <a:endParaRPr sz="2400">
              <a:solidFill>
                <a:srgbClr val="111827"/>
              </a:solidFill>
            </a:endParaRP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93C47D"/>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0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𝐵</m:t>
                    </m:r>
                  </m:oMath>
                </a14:m>
                <a:r>
                  <a:rPr sz="2400" b="0">
                    <a:solidFill>
                      <a:srgbClr val="78350F"/>
                    </a:solidFill>
                    <a:latin typeface="Arial"/>
                  </a:rPr>
                  <a:t> lies on the </a:t>
                </a:r>
                <a14:m>
                  <m:oMath xmlns:m="http://schemas.openxmlformats.org/officeDocument/2006/math">
                    <m:r>
                      <a:rPr lang="en-IN" sz="2400" i="1">
                        <a:solidFill>
                          <a:srgbClr val="78350F"/>
                        </a:solidFill>
                        <a:latin typeface="Cambria Math" panose="02040503050406030204" pitchFamily="18" charset="0"/>
                      </a:rPr>
                      <m:t>𝑥</m:t>
                    </m:r>
                  </m:oMath>
                </a14:m>
                <a:r>
                  <a:rPr sz="2400" b="0">
                    <a:solidFill>
                      <a:srgbClr val="78350F"/>
                    </a:solidFill>
                    <a:latin typeface="Arial"/>
                  </a:rPr>
                  <a:t>-axis and </a:t>
                </a:r>
                <a14:m>
                  <m:oMath xmlns:m="http://schemas.openxmlformats.org/officeDocument/2006/math">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𝐶</m:t>
                    </m:r>
                  </m:oMath>
                </a14:m>
                <a:r>
                  <a:rPr sz="2400" b="0">
                    <a:solidFill>
                      <a:srgbClr val="78350F"/>
                    </a:solidFill>
                    <a:latin typeface="Arial"/>
                  </a:rPr>
                  <a:t> on the </a:t>
                </a:r>
                <a14:m>
                  <m:oMath xmlns:m="http://schemas.openxmlformats.org/officeDocument/2006/math">
                    <m:r>
                      <a:rPr lang="en-IN" sz="2400" i="1">
                        <a:solidFill>
                          <a:srgbClr val="78350F"/>
                        </a:solidFill>
                        <a:latin typeface="Cambria Math" panose="02040503050406030204" pitchFamily="18" charset="0"/>
                      </a:rPr>
                      <m:t>𝑦</m:t>
                    </m:r>
                  </m:oMath>
                </a14:m>
                <a:r>
                  <a:rPr sz="2400" b="0">
                    <a:solidFill>
                      <a:srgbClr val="78350F"/>
                    </a:solidFill>
                    <a:latin typeface="Arial"/>
                  </a:rPr>
                  <a:t>-axis, so the triangle is right-angled at </a:t>
                </a:r>
                <a14:m>
                  <m:oMath xmlns:m="http://schemas.openxmlformats.org/officeDocument/2006/math">
                    <m:r>
                      <a:rPr lang="en-IN" sz="2400" i="1">
                        <a:solidFill>
                          <a:srgbClr val="78350F"/>
                        </a:solidFill>
                        <a:latin typeface="Cambria Math" panose="02040503050406030204" pitchFamily="18" charset="0"/>
                      </a:rPr>
                      <m:t>𝐴</m:t>
                    </m:r>
                  </m:oMath>
                </a14:m>
                <a:r>
                  <a:rPr sz="2400" b="0">
                    <a:solidFill>
                      <a:srgbClr val="78350F"/>
                    </a:solidFill>
                    <a:latin typeface="Arial"/>
                  </a:rPr>
                  <a:t> and its orthocentre is </a:t>
                </a:r>
                <a14:m>
                  <m:oMath xmlns:m="http://schemas.openxmlformats.org/officeDocument/2006/math">
                    <m:r>
                      <a:rPr lang="en-IN" sz="2400" i="1">
                        <a:solidFill>
                          <a:srgbClr val="78350F"/>
                        </a:solidFill>
                        <a:latin typeface="Cambria Math" panose="02040503050406030204" pitchFamily="18" charset="0"/>
                      </a:rPr>
                      <m:t>𝐴</m:t>
                    </m:r>
                  </m:oMath>
                </a14:m>
                <a:r>
                  <a:rPr sz="2400" b="0">
                    <a:solidFill>
                      <a:srgbClr val="78350F"/>
                    </a:solidFill>
                    <a:latin typeface="Arial"/>
                  </a:rPr>
                  <a:t> itself.</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$AB$</a:t>
                </a:r>
                <a:r>
                  <a:rPr sz="2400" b="0">
                    <a:solidFill>
                      <a:srgbClr val="78350F"/>
                    </a:solidFill>
                    <a:latin typeface="Arial"/>
                  </a:rPr>
                  <a:t> lies on the </a:t>
                </a:r>
                <a:r>
                  <a:rPr lang="en-IN" sz="2400">
                    <a:solidFill>
                      <a:srgbClr val="78350F"/>
                    </a:solidFill>
                    <a:latin typeface="Cambria Math" panose="02040503050406030204" pitchFamily="18" charset="0"/>
                  </a:rPr>
                  <a:t>$x$</a:t>
                </a:r>
                <a:r>
                  <a:rPr sz="2400" b="0">
                    <a:solidFill>
                      <a:srgbClr val="78350F"/>
                    </a:solidFill>
                    <a:latin typeface="Arial"/>
                  </a:rPr>
                  <a:t>-axis and </a:t>
                </a:r>
                <a:r>
                  <a:rPr lang="en-IN" sz="2400">
                    <a:solidFill>
                      <a:srgbClr val="78350F"/>
                    </a:solidFill>
                    <a:latin typeface="Cambria Math" panose="02040503050406030204" pitchFamily="18" charset="0"/>
                  </a:rPr>
                  <a:t>$AC$</a:t>
                </a:r>
                <a:r>
                  <a:rPr sz="2400" b="0">
                    <a:solidFill>
                      <a:srgbClr val="78350F"/>
                    </a:solidFill>
                    <a:latin typeface="Arial"/>
                  </a:rPr>
                  <a:t> on the </a:t>
                </a:r>
                <a:r>
                  <a:rPr lang="en-IN" sz="2400">
                    <a:solidFill>
                      <a:srgbClr val="78350F"/>
                    </a:solidFill>
                    <a:latin typeface="Cambria Math" panose="02040503050406030204" pitchFamily="18" charset="0"/>
                  </a:rPr>
                  <a:t>$y$</a:t>
                </a:r>
                <a:r>
                  <a:rPr sz="2400" b="0">
                    <a:solidFill>
                      <a:srgbClr val="78350F"/>
                    </a:solidFill>
                    <a:latin typeface="Arial"/>
                  </a:rPr>
                  <a:t>-axis, so the triangle is right-angled at </a:t>
                </a:r>
                <a:r>
                  <a:rPr lang="en-IN" sz="2400">
                    <a:solidFill>
                      <a:srgbClr val="78350F"/>
                    </a:solidFill>
                    <a:latin typeface="Cambria Math" panose="02040503050406030204" pitchFamily="18" charset="0"/>
                  </a:rPr>
                  <a:t>$A$</a:t>
                </a:r>
                <a:r>
                  <a:rPr sz="2400" b="0">
                    <a:solidFill>
                      <a:srgbClr val="78350F"/>
                    </a:solidFill>
                    <a:latin typeface="Arial"/>
                  </a:rPr>
                  <a:t> and its orthocentre is </a:t>
                </a:r>
                <a:r>
                  <a:rPr lang="en-IN" sz="2400">
                    <a:solidFill>
                      <a:srgbClr val="78350F"/>
                    </a:solidFill>
                    <a:latin typeface="Cambria Math" panose="02040503050406030204" pitchFamily="18" charset="0"/>
                  </a:rPr>
                  <a:t>$A$</a:t>
                </a:r>
                <a:r>
                  <a:rPr sz="2400" b="0">
                    <a:solidFill>
                      <a:srgbClr val="78350F"/>
                    </a:solidFill>
                    <a:latin typeface="Arial"/>
                  </a:rPr>
                  <a:t> itself.</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 is along the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-axis and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oMath>
                </a14:m>
                <a:r>
                  <a:rPr sz="2400" b="0">
                    <a:solidFill>
                      <a:srgbClr val="111827"/>
                    </a:solidFill>
                    <a:latin typeface="Arial"/>
                  </a:rPr>
                  <a:t> along the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-axis,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90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a right-angled triangle the orthocentre is the vertex of the right angle, so </a:t>
                </a:r>
                <a14:m>
                  <m:oMath xmlns:m="http://schemas.openxmlformats.org/officeDocument/2006/math">
                    <m:r>
                      <a:rPr lang="en-IN" sz="2400" i="1">
                        <a:solidFill>
                          <a:srgbClr val="111827"/>
                        </a:solidFill>
                        <a:latin typeface="Cambria Math" panose="02040503050406030204" pitchFamily="18" charset="0"/>
                      </a:rPr>
                      <m:t>𝐻</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centroid is </a:t>
                </a:r>
                <a14:m>
                  <m:oMath xmlns:m="http://schemas.openxmlformats.org/officeDocument/2006/math">
                    <m:r>
                      <a:rPr lang="en-IN" sz="2400" i="1">
                        <a:solidFill>
                          <a:srgbClr val="111827"/>
                        </a:solidFill>
                        <a:latin typeface="Cambria Math" panose="02040503050406030204" pitchFamily="18" charset="0"/>
                      </a:rPr>
                      <m:t>𝐺</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3</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𝐻</m:t>
                    </m:r>
                    <m:r>
                      <a:rPr lang="en-IN" sz="2400" i="1">
                        <a:solidFill>
                          <a:srgbClr val="111827"/>
                        </a:solidFill>
                        <a:latin typeface="Cambria Math" panose="02040503050406030204" pitchFamily="18" charset="0"/>
                      </a:rPr>
                      <m:t>𝐺</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3</m:t>
                                    </m:r>
                                  </m:den>
                                </m:f>
                              </m:e>
                            </m:d>
                          </m:e>
                          <m:sup>
                            <m:r>
                              <a:rPr lang="en-IN" sz="2400" i="1">
                                <a:solidFill>
                                  <a:srgbClr val="111827"/>
                                </a:solidFill>
                                <a:latin typeface="Cambria Math" panose="02040503050406030204" pitchFamily="18" charset="0"/>
                              </a:rPr>
                              <m:t>2</m:t>
                            </m:r>
                          </m:sup>
                        </m:sSup>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64</m:t>
                            </m:r>
                          </m:num>
                          <m:den>
                            <m:r>
                              <a:rPr lang="en-IN" sz="2400" i="1">
                                <a:solidFill>
                                  <a:srgbClr val="111827"/>
                                </a:solidFill>
                                <a:latin typeface="Cambria Math" panose="02040503050406030204" pitchFamily="18" charset="0"/>
                              </a:rPr>
                              <m:t>9</m:t>
                            </m:r>
                          </m:den>
                        </m:f>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100</m:t>
                            </m:r>
                          </m:num>
                          <m:den>
                            <m:r>
                              <a:rPr lang="en-IN" sz="2400" i="1">
                                <a:solidFill>
                                  <a:srgbClr val="111827"/>
                                </a:solidFill>
                                <a:latin typeface="Cambria Math" panose="02040503050406030204" pitchFamily="18" charset="0"/>
                              </a:rPr>
                              <m:t>9</m:t>
                            </m:r>
                          </m:den>
                        </m:f>
                      </m:e>
                    </m:ra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$A(0,0)$</a:t>
                </a:r>
                <a:r>
                  <a:rPr sz="2400" b="0">
                    <a:solidFill>
                      <a:srgbClr val="111827"/>
                    </a:solidFill>
                    <a:latin typeface="Arial"/>
                  </a:rPr>
                  <a:t>, </a:t>
                </a:r>
                <a:r>
                  <a:rPr lang="en-IN" sz="2400">
                    <a:solidFill>
                      <a:srgbClr val="111827"/>
                    </a:solidFill>
                    <a:latin typeface="Cambria Math" panose="02040503050406030204" pitchFamily="18" charset="0"/>
                  </a:rPr>
                  <a:t>$B(6,0)$</a:t>
                </a:r>
                <a:r>
                  <a:rPr sz="2400" b="0">
                    <a:solidFill>
                      <a:srgbClr val="111827"/>
                    </a:solidFill>
                    <a:latin typeface="Arial"/>
                  </a:rPr>
                  <a:t>, </a:t>
                </a:r>
                <a:r>
                  <a:rPr lang="en-IN" sz="2400">
                    <a:solidFill>
                      <a:srgbClr val="111827"/>
                    </a:solidFill>
                    <a:latin typeface="Cambria Math" panose="02040503050406030204" pitchFamily="18" charset="0"/>
                  </a:rPr>
                  <a:t>$C(0,8)$</a:t>
                </a:r>
                <a:r>
                  <a:rPr sz="2400" b="0">
                    <a:solidFill>
                      <a:srgbClr val="111827"/>
                    </a:solidFill>
                    <a:latin typeface="Arial"/>
                  </a:rPr>
                  <a:t>: </a:t>
                </a:r>
                <a:r>
                  <a:rPr lang="en-IN" sz="2400">
                    <a:solidFill>
                      <a:srgbClr val="111827"/>
                    </a:solidFill>
                    <a:latin typeface="Cambria Math" panose="02040503050406030204" pitchFamily="18" charset="0"/>
                  </a:rPr>
                  <a:t>$AB$</a:t>
                </a:r>
                <a:r>
                  <a:rPr sz="2400" b="0">
                    <a:solidFill>
                      <a:srgbClr val="111827"/>
                    </a:solidFill>
                    <a:latin typeface="Arial"/>
                  </a:rPr>
                  <a:t> is along the </a:t>
                </a:r>
                <a:r>
                  <a:rPr lang="en-IN" sz="2400">
                    <a:solidFill>
                      <a:srgbClr val="111827"/>
                    </a:solidFill>
                    <a:latin typeface="Cambria Math" panose="02040503050406030204" pitchFamily="18" charset="0"/>
                  </a:rPr>
                  <a:t>$x$</a:t>
                </a:r>
                <a:r>
                  <a:rPr sz="2400" b="0">
                    <a:solidFill>
                      <a:srgbClr val="111827"/>
                    </a:solidFill>
                    <a:latin typeface="Arial"/>
                  </a:rPr>
                  <a:t>-axis and </a:t>
                </a:r>
                <a:r>
                  <a:rPr lang="en-IN" sz="2400">
                    <a:solidFill>
                      <a:srgbClr val="111827"/>
                    </a:solidFill>
                    <a:latin typeface="Cambria Math" panose="02040503050406030204" pitchFamily="18" charset="0"/>
                  </a:rPr>
                  <a:t>$AC$</a:t>
                </a:r>
                <a:r>
                  <a:rPr sz="2400" b="0">
                    <a:solidFill>
                      <a:srgbClr val="111827"/>
                    </a:solidFill>
                    <a:latin typeface="Arial"/>
                  </a:rPr>
                  <a:t> along the </a:t>
                </a:r>
                <a:r>
                  <a:rPr lang="en-IN" sz="2400">
                    <a:solidFill>
                      <a:srgbClr val="111827"/>
                    </a:solidFill>
                    <a:latin typeface="Cambria Math" panose="02040503050406030204" pitchFamily="18" charset="0"/>
                  </a:rPr>
                  <a:t>$y$</a:t>
                </a:r>
                <a:r>
                  <a:rPr sz="2400" b="0">
                    <a:solidFill>
                      <a:srgbClr val="111827"/>
                    </a:solidFill>
                    <a:latin typeface="Arial"/>
                  </a:rPr>
                  <a:t>-axis, so </a:t>
                </a:r>
                <a:r>
                  <a:rPr lang="en-IN" sz="2400">
                    <a:solidFill>
                      <a:srgbClr val="111827"/>
                    </a:solidFill>
                    <a:latin typeface="Cambria Math" panose="02040503050406030204" pitchFamily="18" charset="0"/>
                  </a:rPr>
                  <a:t>$\angle A=90^\circ$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a right-angled triangle the orthocentre is the vertex of the right angle, so </a:t>
                </a:r>
                <a:r>
                  <a:rPr lang="en-IN" sz="2400">
                    <a:solidFill>
                      <a:srgbClr val="111827"/>
                    </a:solidFill>
                    <a:latin typeface="Cambria Math" panose="02040503050406030204" pitchFamily="18" charset="0"/>
                  </a:rPr>
                  <a:t>$H=(0,0)$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centroid is </a:t>
                </a:r>
                <a:r>
                  <a:rPr lang="en-IN" sz="2400">
                    <a:solidFill>
                      <a:srgbClr val="111827"/>
                    </a:solidFill>
                    <a:latin typeface="Cambria Math" panose="02040503050406030204" pitchFamily="18" charset="0"/>
                  </a:rPr>
                  <a:t>$G=\left(\frac{0+6+0}3,\frac{0+0+8}3\right)=\left(2,\frac83\right)$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$HG=\sqrt{2^2+\left(\frac83\right)^2}=\sqrt{4+\frac{64}9}=\sqrt{\frac{100}9}=\frac{10}3$</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10</m:t>
                        </m:r>
                      </m:num>
                      <m:den>
                        <m:r>
                          <a:rPr lang="en-IN" sz="2800" i="1">
                            <a:solidFill>
                              <a:srgbClr val="15803D"/>
                            </a:solidFill>
                            <a:latin typeface="Cambria Math" panose="02040503050406030204" pitchFamily="18" charset="0"/>
                          </a:rPr>
                          <m:t>3</m:t>
                        </m:r>
                      </m:den>
                    </m:f>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r>
                  <a:rPr lang="en-IN" sz="2800">
                    <a:solidFill>
                      <a:srgbClr val="15803D"/>
                    </a:solidFill>
                    <a:latin typeface="Cambria Math" panose="02040503050406030204" pitchFamily="18" charset="0"/>
                  </a:rPr>
                  <a:t>$\frac{10}3$</a:t>
                </a:r>
                <a:endParaRPr sz="2800">
                  <a:solidFill>
                    <a:srgbClr val="15803D"/>
                  </a:solidFill>
                </a:endParaRPr>
              </a:p>
            </p:txBody>
          </p:sp>
        </mc:Fallback>
      </mc:AlternateContent>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93C47D"/>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0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Euler line: </a:t>
                </a:r>
                <a14:m>
                  <m:oMath xmlns:m="http://schemas.openxmlformats.org/officeDocument/2006/math">
                    <m:r>
                      <a:rPr lang="en-IN" sz="2400" i="1">
                        <a:solidFill>
                          <a:srgbClr val="78350F"/>
                        </a:solidFill>
                        <a:latin typeface="Cambria Math" panose="02040503050406030204" pitchFamily="18" charset="0"/>
                      </a:rPr>
                      <m:t>𝑂</m:t>
                    </m:r>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𝐺</m:t>
                    </m:r>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𝐻</m:t>
                    </m:r>
                  </m:oMath>
                </a14:m>
                <a:r>
                  <a:rPr sz="2400" b="0">
                    <a:solidFill>
                      <a:srgbClr val="78350F"/>
                    </a:solidFill>
                    <a:latin typeface="Arial"/>
                  </a:rPr>
                  <a:t> are collinear with </a:t>
                </a:r>
                <a14:m>
                  <m:oMath xmlns:m="http://schemas.openxmlformats.org/officeDocument/2006/math">
                    <m:r>
                      <a:rPr lang="en-IN" sz="2400" i="1">
                        <a:solidFill>
                          <a:srgbClr val="78350F"/>
                        </a:solidFill>
                        <a:latin typeface="Cambria Math" panose="02040503050406030204" pitchFamily="18" charset="0"/>
                      </a:rPr>
                      <m:t>𝑂</m:t>
                    </m:r>
                    <m:r>
                      <a:rPr lang="en-IN" sz="2400" i="1">
                        <a:solidFill>
                          <a:srgbClr val="78350F"/>
                        </a:solidFill>
                        <a:latin typeface="Cambria Math" panose="02040503050406030204" pitchFamily="18" charset="0"/>
                      </a:rPr>
                      <m:t>𝐺</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𝐺</m:t>
                    </m:r>
                    <m:r>
                      <a:rPr lang="en-IN" sz="2400" i="1">
                        <a:solidFill>
                          <a:srgbClr val="78350F"/>
                        </a:solidFill>
                        <a:latin typeface="Cambria Math" panose="02040503050406030204" pitchFamily="18" charset="0"/>
                      </a:rPr>
                      <m:t>𝐻</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oMath>
                </a14:m>
                <a:r>
                  <a:rPr sz="2400" b="0">
                    <a:solidFill>
                      <a:srgbClr val="78350F"/>
                    </a:solidFill>
                    <a:latin typeface="Arial"/>
                  </a:rPr>
                  <a:t>, so </a:t>
                </a:r>
                <a14:m>
                  <m:oMath xmlns:m="http://schemas.openxmlformats.org/officeDocument/2006/math">
                    <m:r>
                      <a:rPr lang="en-IN" sz="2400" i="1">
                        <a:solidFill>
                          <a:srgbClr val="78350F"/>
                        </a:solidFill>
                        <a:latin typeface="Cambria Math" panose="02040503050406030204" pitchFamily="18" charset="0"/>
                      </a:rPr>
                      <m:t>𝐺</m:t>
                    </m:r>
                    <m:r>
                      <a:rPr lang="en-IN" sz="2400" i="1">
                        <a:solidFill>
                          <a:srgbClr val="78350F"/>
                        </a:solidFill>
                        <a:latin typeface="Cambria Math" panose="02040503050406030204" pitchFamily="18" charset="0"/>
                      </a:rPr>
                      <m:t>𝐻</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2</m:t>
                        </m:r>
                      </m:num>
                      <m:den>
                        <m:r>
                          <a:rPr lang="en-IN" sz="2400" i="1">
                            <a:solidFill>
                              <a:srgbClr val="78350F"/>
                            </a:solidFill>
                            <a:latin typeface="Cambria Math" panose="02040503050406030204" pitchFamily="18" charset="0"/>
                          </a:rPr>
                          <m:t>3</m:t>
                        </m:r>
                      </m:den>
                    </m:f>
                    <m:r>
                      <a:rPr lang="en-IN" sz="2400" i="1">
                        <a:solidFill>
                          <a:srgbClr val="78350F"/>
                        </a:solidFill>
                        <a:latin typeface="Cambria Math" panose="02040503050406030204" pitchFamily="18" charset="0"/>
                      </a:rPr>
                      <m:t> </m:t>
                    </m:r>
                    <m:r>
                      <a:rPr lang="en-IN" sz="2400" i="1">
                        <a:solidFill>
                          <a:srgbClr val="78350F"/>
                        </a:solidFill>
                        <a:latin typeface="Cambria Math" panose="02040503050406030204" pitchFamily="18" charset="0"/>
                      </a:rPr>
                      <m:t>𝑂</m:t>
                    </m:r>
                    <m:r>
                      <a:rPr lang="en-IN" sz="2400" i="1">
                        <a:solidFill>
                          <a:srgbClr val="78350F"/>
                        </a:solidFill>
                        <a:latin typeface="Cambria Math" panose="02040503050406030204" pitchFamily="18" charset="0"/>
                      </a:rPr>
                      <m:t>𝐻</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Euler line: </a:t>
                </a:r>
                <a:r>
                  <a:rPr lang="en-IN" sz="2400">
                    <a:solidFill>
                      <a:srgbClr val="78350F"/>
                    </a:solidFill>
                    <a:latin typeface="Cambria Math" panose="02040503050406030204" pitchFamily="18" charset="0"/>
                  </a:rPr>
                  <a:t>$O$</a:t>
                </a:r>
                <a:r>
                  <a:rPr sz="2400" b="0">
                    <a:solidFill>
                      <a:srgbClr val="78350F"/>
                    </a:solidFill>
                    <a:latin typeface="Arial"/>
                  </a:rPr>
                  <a:t>, </a:t>
                </a:r>
                <a:r>
                  <a:rPr lang="en-IN" sz="2400">
                    <a:solidFill>
                      <a:srgbClr val="78350F"/>
                    </a:solidFill>
                    <a:latin typeface="Cambria Math" panose="02040503050406030204" pitchFamily="18" charset="0"/>
                  </a:rPr>
                  <a:t>$G$</a:t>
                </a:r>
                <a:r>
                  <a:rPr sz="2400" b="0">
                    <a:solidFill>
                      <a:srgbClr val="78350F"/>
                    </a:solidFill>
                    <a:latin typeface="Arial"/>
                  </a:rPr>
                  <a:t>, </a:t>
                </a:r>
                <a:r>
                  <a:rPr lang="en-IN" sz="2400">
                    <a:solidFill>
                      <a:srgbClr val="78350F"/>
                    </a:solidFill>
                    <a:latin typeface="Cambria Math" panose="02040503050406030204" pitchFamily="18" charset="0"/>
                  </a:rPr>
                  <a:t>$H$</a:t>
                </a:r>
                <a:r>
                  <a:rPr sz="2400" b="0">
                    <a:solidFill>
                      <a:srgbClr val="78350F"/>
                    </a:solidFill>
                    <a:latin typeface="Arial"/>
                  </a:rPr>
                  <a:t> are collinear with </a:t>
                </a:r>
                <a:r>
                  <a:rPr lang="en-IN" sz="2400">
                    <a:solidFill>
                      <a:srgbClr val="78350F"/>
                    </a:solidFill>
                    <a:latin typeface="Cambria Math" panose="02040503050406030204" pitchFamily="18" charset="0"/>
                  </a:rPr>
                  <a:t>$OG:GH=1:2$</a:t>
                </a:r>
                <a:r>
                  <a:rPr sz="2400" b="0">
                    <a:solidFill>
                      <a:srgbClr val="78350F"/>
                    </a:solidFill>
                    <a:latin typeface="Arial"/>
                  </a:rPr>
                  <a:t>, so </a:t>
                </a:r>
                <a:r>
                  <a:rPr lang="en-IN" sz="2400">
                    <a:solidFill>
                      <a:srgbClr val="78350F"/>
                    </a:solidFill>
                    <a:latin typeface="Cambria Math" panose="02040503050406030204" pitchFamily="18" charset="0"/>
                  </a:rPr>
                  <a:t>$GH=\frac23\,OH$</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636520"/>
                <a:ext cx="10725912" cy="315163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circumcentre of a right triangle is the midpoint of the hypotenuse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𝑂</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circumradius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orthocentre is </a:t>
                </a:r>
                <a14:m>
                  <m:oMath xmlns:m="http://schemas.openxmlformats.org/officeDocument/2006/math">
                    <m:r>
                      <a:rPr lang="en-IN" sz="2400" i="1">
                        <a:solidFill>
                          <a:srgbClr val="111827"/>
                        </a:solidFill>
                        <a:latin typeface="Cambria Math" panose="02040503050406030204" pitchFamily="18" charset="0"/>
                      </a:rPr>
                      <m:t>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𝐻</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4</m:t>
                            </m:r>
                          </m:e>
                          <m:sup>
                            <m:r>
                              <a:rPr lang="en-IN" sz="2400" i="1">
                                <a:solidFill>
                                  <a:srgbClr val="111827"/>
                                </a:solidFill>
                                <a:latin typeface="Cambria Math" panose="02040503050406030204" pitchFamily="18" charset="0"/>
                              </a:rPr>
                              <m:t>2</m:t>
                            </m:r>
                          </m:sup>
                        </m:sSup>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𝐺</m:t>
                    </m:r>
                  </m:oMath>
                </a14:m>
                <a:r>
                  <a:rPr sz="2400" b="0">
                    <a:solidFill>
                      <a:srgbClr val="111827"/>
                    </a:solidFill>
                    <a:latin typeface="Arial"/>
                  </a:rPr>
                  <a:t> divides </a:t>
                </a:r>
                <a14:m>
                  <m:oMath xmlns:m="http://schemas.openxmlformats.org/officeDocument/2006/math">
                    <m:r>
                      <a:rPr lang="en-IN" sz="2400" i="1">
                        <a:solidFill>
                          <a:srgbClr val="111827"/>
                        </a:solidFill>
                        <a:latin typeface="Cambria Math" panose="02040503050406030204" pitchFamily="18" charset="0"/>
                      </a:rPr>
                      <m:t>𝐻</m:t>
                    </m:r>
                    <m:r>
                      <a:rPr lang="en-IN" sz="2400" i="1">
                        <a:solidFill>
                          <a:srgbClr val="111827"/>
                        </a:solidFill>
                        <a:latin typeface="Cambria Math" panose="02040503050406030204" pitchFamily="18" charset="0"/>
                      </a:rPr>
                      <m:t>𝑂</m:t>
                    </m:r>
                  </m:oMath>
                </a14:m>
                <a:r>
                  <a:rPr sz="2400" b="0">
                    <a:solidFill>
                      <a:srgbClr val="111827"/>
                    </a:solidFill>
                    <a:latin typeface="Arial"/>
                  </a:rPr>
                  <a:t> in the ratio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from </a:t>
                </a:r>
                <a14:m>
                  <m:oMath xmlns:m="http://schemas.openxmlformats.org/officeDocument/2006/math">
                    <m:r>
                      <a:rPr lang="en-IN" sz="2400" i="1">
                        <a:solidFill>
                          <a:srgbClr val="111827"/>
                        </a:solidFill>
                        <a:latin typeface="Cambria Math" panose="02040503050406030204" pitchFamily="18" charset="0"/>
                      </a:rPr>
                      <m:t>𝐻</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𝐺</m:t>
                    </m:r>
                    <m:r>
                      <a:rPr lang="en-IN" sz="2400" i="1">
                        <a:solidFill>
                          <a:srgbClr val="111827"/>
                        </a:solidFill>
                        <a:latin typeface="Cambria Math" panose="02040503050406030204" pitchFamily="18" charset="0"/>
                      </a:rPr>
                      <m:t>𝐻</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𝐻</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636520"/>
                <a:ext cx="10725912" cy="315163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circumcentre of a right triangle is the midpoint of the hypotenuse </a:t>
                </a:r>
                <a:r>
                  <a:rPr lang="en-IN" sz="2400">
                    <a:solidFill>
                      <a:srgbClr val="111827"/>
                    </a:solidFill>
                    <a:latin typeface="Cambria Math" panose="02040503050406030204" pitchFamily="18" charset="0"/>
                  </a:rPr>
                  <a:t>$BC$</a:t>
                </a:r>
                <a:r>
                  <a:rPr sz="2400" b="0">
                    <a:solidFill>
                      <a:srgbClr val="111827"/>
                    </a:solidFill>
                    <a:latin typeface="Arial"/>
                  </a:rPr>
                  <a:t>: </a:t>
                </a:r>
                <a:r>
                  <a:rPr lang="en-IN" sz="2400">
                    <a:solidFill>
                      <a:srgbClr val="111827"/>
                    </a:solidFill>
                    <a:latin typeface="Cambria Math" panose="02040503050406030204" pitchFamily="18" charset="0"/>
                  </a:rPr>
                  <a:t>$O=(3,4)$</a:t>
                </a:r>
                <a:r>
                  <a:rPr sz="2400" b="0">
                    <a:solidFill>
                      <a:srgbClr val="111827"/>
                    </a:solidFill>
                    <a:latin typeface="Arial"/>
                  </a:rPr>
                  <a:t>, with circumradius </a:t>
                </a:r>
                <a:r>
                  <a:rPr lang="en-IN" sz="2400">
                    <a:solidFill>
                      <a:srgbClr val="111827"/>
                    </a:solidFill>
                    <a:latin typeface="Cambria Math" panose="02040503050406030204" pitchFamily="18" charset="0"/>
                  </a:rPr>
                  <a:t>$5$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orthocentre is </a:t>
                </a:r>
                <a:r>
                  <a:rPr lang="en-IN" sz="2400">
                    <a:solidFill>
                      <a:srgbClr val="111827"/>
                    </a:solidFill>
                    <a:latin typeface="Cambria Math" panose="02040503050406030204" pitchFamily="18" charset="0"/>
                  </a:rPr>
                  <a:t>$H=A=(0,0)$</a:t>
                </a:r>
                <a:r>
                  <a:rPr sz="2400" b="0">
                    <a:solidFill>
                      <a:srgbClr val="111827"/>
                    </a:solidFill>
                    <a:latin typeface="Arial"/>
                  </a:rPr>
                  <a:t>, so </a:t>
                </a:r>
                <a:r>
                  <a:rPr lang="en-IN" sz="2400">
                    <a:solidFill>
                      <a:srgbClr val="111827"/>
                    </a:solidFill>
                    <a:latin typeface="Cambria Math" panose="02040503050406030204" pitchFamily="18" charset="0"/>
                  </a:rPr>
                  <a:t>$OH=\sqrt{3^2+4^2}=5$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$G$</a:t>
                </a:r>
                <a:r>
                  <a:rPr sz="2400" b="0">
                    <a:solidFill>
                      <a:srgbClr val="111827"/>
                    </a:solidFill>
                    <a:latin typeface="Arial"/>
                  </a:rPr>
                  <a:t> divides </a:t>
                </a:r>
                <a:r>
                  <a:rPr lang="en-IN" sz="2400">
                    <a:solidFill>
                      <a:srgbClr val="111827"/>
                    </a:solidFill>
                    <a:latin typeface="Cambria Math" panose="02040503050406030204" pitchFamily="18" charset="0"/>
                  </a:rPr>
                  <a:t>$HO$</a:t>
                </a:r>
                <a:r>
                  <a:rPr sz="2400" b="0">
                    <a:solidFill>
                      <a:srgbClr val="111827"/>
                    </a:solidFill>
                    <a:latin typeface="Arial"/>
                  </a:rPr>
                  <a:t> in the ratio </a:t>
                </a:r>
                <a:r>
                  <a:rPr lang="en-IN" sz="2400">
                    <a:solidFill>
                      <a:srgbClr val="111827"/>
                    </a:solidFill>
                    <a:latin typeface="Cambria Math" panose="02040503050406030204" pitchFamily="18" charset="0"/>
                  </a:rPr>
                  <a:t>$2:1$</a:t>
                </a:r>
                <a:r>
                  <a:rPr sz="2400" b="0">
                    <a:solidFill>
                      <a:srgbClr val="111827"/>
                    </a:solidFill>
                    <a:latin typeface="Arial"/>
                  </a:rPr>
                  <a:t> from </a:t>
                </a:r>
                <a:r>
                  <a:rPr lang="en-IN" sz="2400">
                    <a:solidFill>
                      <a:srgbClr val="111827"/>
                    </a:solidFill>
                    <a:latin typeface="Cambria Math" panose="02040503050406030204" pitchFamily="18" charset="0"/>
                  </a:rPr>
                  <a:t>$H$</a:t>
                </a:r>
                <a:r>
                  <a:rPr sz="2400" b="0">
                    <a:solidFill>
                      <a:srgbClr val="111827"/>
                    </a:solidFill>
                    <a:latin typeface="Arial"/>
                  </a:rPr>
                  <a:t>, so </a:t>
                </a:r>
                <a:r>
                  <a:rPr lang="en-IN" sz="2400">
                    <a:solidFill>
                      <a:srgbClr val="111827"/>
                    </a:solidFill>
                    <a:latin typeface="Cambria Math" panose="02040503050406030204" pitchFamily="18" charset="0"/>
                  </a:rPr>
                  <a:t>$GH=\frac23\cdot OH=\frac{10}3$</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10</m:t>
                        </m:r>
                      </m:num>
                      <m:den>
                        <m:r>
                          <a:rPr lang="en-IN" sz="2800" i="1">
                            <a:solidFill>
                              <a:srgbClr val="15803D"/>
                            </a:solidFill>
                            <a:latin typeface="Cambria Math" panose="02040503050406030204" pitchFamily="18" charset="0"/>
                          </a:rPr>
                          <m:t>3</m:t>
                        </m:r>
                      </m:den>
                    </m:f>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r>
                  <a:rPr lang="en-IN" sz="2800">
                    <a:solidFill>
                      <a:srgbClr val="15803D"/>
                    </a:solidFill>
                    <a:latin typeface="Cambria Math" panose="02040503050406030204" pitchFamily="18" charset="0"/>
                  </a:rPr>
                  <a:t>$\frac{10}3$</a:t>
                </a:r>
                <a:endParaRPr sz="2800">
                  <a:solidFill>
                    <a:srgbClr val="15803D"/>
                  </a:solidFill>
                </a:endParaRPr>
              </a:p>
            </p:txBody>
          </p:sp>
        </mc:Fallback>
      </mc:AlternateContent>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93C47D"/>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0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Euler line: </a:t>
                </a:r>
                <a14:m>
                  <m:oMath xmlns:m="http://schemas.openxmlformats.org/officeDocument/2006/math">
                    <m:r>
                      <a:rPr lang="en-IN" sz="2400" i="1">
                        <a:solidFill>
                          <a:srgbClr val="111827"/>
                        </a:solidFill>
                        <a:latin typeface="Cambria Math" panose="02040503050406030204" pitchFamily="18" charset="0"/>
                      </a:rPr>
                      <m:t>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𝑂</m:t>
                    </m:r>
                  </m:oMath>
                </a14:m>
                <a:r>
                  <a:rPr sz="2400" b="0">
                    <a:solidFill>
                      <a:srgbClr val="111827"/>
                    </a:solidFill>
                    <a:latin typeface="Arial"/>
                  </a:rPr>
                  <a:t>, i.e.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𝐻</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𝐺</m:t>
                        </m:r>
                      </m:e>
                    </m:acc>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𝐺</m:t>
                    </m:r>
                  </m:oMath>
                </a14:m>
                <a:r>
                  <a:rPr sz="2400" b="0">
                    <a:solidFill>
                      <a:srgbClr val="111827"/>
                    </a:solidFill>
                    <a:latin typeface="Arial"/>
                  </a:rPr>
                  <a:t> lies between </a:t>
                </a:r>
                <a14:m>
                  <m:oMath xmlns:m="http://schemas.openxmlformats.org/officeDocument/2006/math">
                    <m:r>
                      <a:rPr lang="en-IN" sz="2400" i="1">
                        <a:solidFill>
                          <a:srgbClr val="111827"/>
                        </a:solidFill>
                        <a:latin typeface="Cambria Math" panose="02040503050406030204" pitchFamily="18" charset="0"/>
                      </a:rPr>
                      <m:t>𝑂</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𝐻</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𝐻</m:t>
                    </m:r>
                    <m:r>
                      <a:rPr lang="en-IN" sz="2400" i="1">
                        <a:solidFill>
                          <a:srgbClr val="111827"/>
                        </a:solidFill>
                        <a:latin typeface="Cambria Math" panose="02040503050406030204" pitchFamily="18" charset="0"/>
                      </a:rPr>
                      <m:t>𝐺</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𝐺</m:t>
                    </m:r>
                    <m:r>
                      <a:rPr lang="en-IN" sz="2400" i="1">
                        <a:solidFill>
                          <a:srgbClr val="111827"/>
                        </a:solidFill>
                        <a:latin typeface="Cambria Math" panose="02040503050406030204" pitchFamily="18" charset="0"/>
                      </a:rPr>
                      <m:t>𝑂</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Right triangle: </a:t>
                </a:r>
                <a14:m>
                  <m:oMath xmlns:m="http://schemas.openxmlformats.org/officeDocument/2006/math">
                    <m:r>
                      <a:rPr lang="en-IN" sz="2400" i="1">
                        <a:solidFill>
                          <a:srgbClr val="111827"/>
                        </a:solidFill>
                        <a:latin typeface="Cambria Math" panose="02040503050406030204" pitchFamily="18" charset="0"/>
                      </a:rPr>
                      <m:t>𝐻</m:t>
                    </m:r>
                  </m:oMath>
                </a14:m>
                <a:r>
                  <a:rPr sz="2400" b="0">
                    <a:solidFill>
                      <a:srgbClr val="111827"/>
                    </a:solidFill>
                    <a:latin typeface="Arial"/>
                  </a:rPr>
                  <a:t> is the right-angle vertex (it lies on the circumcircle) and </a:t>
                </a:r>
                <a14:m>
                  <m:oMath xmlns:m="http://schemas.openxmlformats.org/officeDocument/2006/math">
                    <m:r>
                      <a:rPr lang="en-IN" sz="2400" i="1">
                        <a:solidFill>
                          <a:srgbClr val="111827"/>
                        </a:solidFill>
                        <a:latin typeface="Cambria Math" panose="02040503050406030204" pitchFamily="18" charset="0"/>
                      </a:rPr>
                      <m:t>𝑂</m:t>
                    </m:r>
                  </m:oMath>
                </a14:m>
                <a:r>
                  <a:rPr sz="2400" b="0">
                    <a:solidFill>
                      <a:srgbClr val="111827"/>
                    </a:solidFill>
                    <a:latin typeface="Arial"/>
                  </a:rPr>
                  <a:t> is the midpoint of the hypotenuse, so </a:t>
                </a:r>
                <a14:m>
                  <m:oMath xmlns:m="http://schemas.openxmlformats.org/officeDocument/2006/math">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here.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with this paper's numbers: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𝐺</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𝑂</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𝐻</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any triangle </a:t>
                </a:r>
                <a14:m>
                  <m:oMath xmlns:m="http://schemas.openxmlformats.org/officeDocument/2006/math">
                    <m:r>
                      <a:rPr lang="en-IN" sz="2400" i="1">
                        <a:solidFill>
                          <a:srgbClr val="111827"/>
                        </a:solidFill>
                        <a:latin typeface="Cambria Math" panose="02040503050406030204" pitchFamily="18" charset="0"/>
                      </a:rPr>
                      <m:t>𝑂</m:t>
                    </m:r>
                    <m:sSup>
                      <m:e>
                        <m:r>
                          <a:rPr lang="en-IN" sz="2400" i="1">
                            <a:solidFill>
                              <a:srgbClr val="111827"/>
                            </a:solidFill>
                            <a:latin typeface="Cambria Math" panose="02040503050406030204" pitchFamily="18" charset="0"/>
                          </a:rPr>
                          <m:t>𝐻</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sSup>
                      <m:e>
                        <m:r>
                          <a:rPr lang="en-IN" sz="2400" i="1">
                            <a:solidFill>
                              <a:srgbClr val="111827"/>
                            </a:solidFill>
                            <a:latin typeface="Cambria Math" panose="02040503050406030204" pitchFamily="18" charset="0"/>
                          </a:rPr>
                          <m:t>𝑅</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 here </a:t>
                </a:r>
                <a14:m>
                  <m:oMath xmlns:m="http://schemas.openxmlformats.org/officeDocument/2006/math">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Euler line: </a:t>
                </a:r>
                <a:r>
                  <a:rPr lang="en-IN" sz="2400">
                    <a:solidFill>
                      <a:srgbClr val="111827"/>
                    </a:solidFill>
                    <a:latin typeface="Cambria Math" panose="02040503050406030204" pitchFamily="18" charset="0"/>
                  </a:rPr>
                  <a:t>$H=A+B+C-2O$</a:t>
                </a:r>
                <a:r>
                  <a:rPr sz="2400" b="0">
                    <a:solidFill>
                      <a:srgbClr val="111827"/>
                    </a:solidFill>
                    <a:latin typeface="Arial"/>
                  </a:rPr>
                  <a:t>, i.e. </a:t>
                </a:r>
                <a:r>
                  <a:rPr lang="en-IN" sz="2400">
                    <a:solidFill>
                      <a:srgbClr val="111827"/>
                    </a:solidFill>
                    <a:latin typeface="Cambria Math" panose="02040503050406030204" pitchFamily="18" charset="0"/>
                  </a:rPr>
                  <a:t>$\vec{OH}=3\vec{OG}$</a:t>
                </a:r>
                <a:r>
                  <a:rPr sz="2400" b="0">
                    <a:solidFill>
                      <a:srgbClr val="111827"/>
                    </a:solidFill>
                    <a:latin typeface="Arial"/>
                  </a:rPr>
                  <a:t>; </a:t>
                </a:r>
                <a:r>
                  <a:rPr lang="en-IN" sz="2400">
                    <a:solidFill>
                      <a:srgbClr val="111827"/>
                    </a:solidFill>
                    <a:latin typeface="Cambria Math" panose="02040503050406030204" pitchFamily="18" charset="0"/>
                  </a:rPr>
                  <a:t>$G$</a:t>
                </a:r>
                <a:r>
                  <a:rPr sz="2400" b="0">
                    <a:solidFill>
                      <a:srgbClr val="111827"/>
                    </a:solidFill>
                    <a:latin typeface="Arial"/>
                  </a:rPr>
                  <a:t> lies between </a:t>
                </a:r>
                <a:r>
                  <a:rPr lang="en-IN" sz="2400">
                    <a:solidFill>
                      <a:srgbClr val="111827"/>
                    </a:solidFill>
                    <a:latin typeface="Cambria Math" panose="02040503050406030204" pitchFamily="18" charset="0"/>
                  </a:rPr>
                  <a:t>$O$</a:t>
                </a:r>
                <a:r>
                  <a:rPr sz="2400" b="0">
                    <a:solidFill>
                      <a:srgbClr val="111827"/>
                    </a:solidFill>
                    <a:latin typeface="Arial"/>
                  </a:rPr>
                  <a:t> and </a:t>
                </a:r>
                <a:r>
                  <a:rPr lang="en-IN" sz="2400">
                    <a:solidFill>
                      <a:srgbClr val="111827"/>
                    </a:solidFill>
                    <a:latin typeface="Cambria Math" panose="02040503050406030204" pitchFamily="18" charset="0"/>
                  </a:rPr>
                  <a:t>$H$</a:t>
                </a:r>
                <a:r>
                  <a:rPr sz="2400" b="0">
                    <a:solidFill>
                      <a:srgbClr val="111827"/>
                    </a:solidFill>
                    <a:latin typeface="Arial"/>
                  </a:rPr>
                  <a:t> with </a:t>
                </a:r>
                <a:r>
                  <a:rPr lang="en-IN" sz="2400">
                    <a:solidFill>
                      <a:srgbClr val="111827"/>
                    </a:solidFill>
                    <a:latin typeface="Cambria Math" panose="02040503050406030204" pitchFamily="18" charset="0"/>
                  </a:rPr>
                  <a:t>$HG=2\,GO$</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Right triangle: </a:t>
                </a:r>
                <a:r>
                  <a:rPr lang="en-IN" sz="2400">
                    <a:solidFill>
                      <a:srgbClr val="111827"/>
                    </a:solidFill>
                    <a:latin typeface="Cambria Math" panose="02040503050406030204" pitchFamily="18" charset="0"/>
                  </a:rPr>
                  <a:t>$H$</a:t>
                </a:r>
                <a:r>
                  <a:rPr sz="2400" b="0">
                    <a:solidFill>
                      <a:srgbClr val="111827"/>
                    </a:solidFill>
                    <a:latin typeface="Arial"/>
                  </a:rPr>
                  <a:t> is the right-angle vertex (it lies on the circumcircle) and </a:t>
                </a:r>
                <a:r>
                  <a:rPr lang="en-IN" sz="2400">
                    <a:solidFill>
                      <a:srgbClr val="111827"/>
                    </a:solidFill>
                    <a:latin typeface="Cambria Math" panose="02040503050406030204" pitchFamily="18" charset="0"/>
                  </a:rPr>
                  <a:t>$O$</a:t>
                </a:r>
                <a:r>
                  <a:rPr sz="2400" b="0">
                    <a:solidFill>
                      <a:srgbClr val="111827"/>
                    </a:solidFill>
                    <a:latin typeface="Arial"/>
                  </a:rPr>
                  <a:t> is the midpoint of the hypotenuse, so </a:t>
                </a:r>
                <a:r>
                  <a:rPr lang="en-IN" sz="2400">
                    <a:solidFill>
                      <a:srgbClr val="111827"/>
                    </a:solidFill>
                    <a:latin typeface="Cambria Math" panose="02040503050406030204" pitchFamily="18" charset="0"/>
                  </a:rPr>
                  <a:t>$OH=R=5$</a:t>
                </a:r>
                <a:r>
                  <a:rPr sz="2400" b="0">
                    <a:solidFill>
                      <a:srgbClr val="111827"/>
                    </a:solidFill>
                    <a:latin typeface="Arial"/>
                  </a:rPr>
                  <a:t> here.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with this paper's numbers: </a:t>
                </a:r>
                <a:r>
                  <a:rPr lang="en-IN" sz="2400">
                    <a:solidFill>
                      <a:srgbClr val="111827"/>
                    </a:solidFill>
                    <a:latin typeface="Cambria Math" panose="02040503050406030204" pitchFamily="18" charset="0"/>
                  </a:rPr>
                  <a:t>$3G-2O=(6,8)-(6,8)=(0,0)=H$</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any triangle </a:t>
                </a:r>
                <a:r>
                  <a:rPr lang="en-IN" sz="2400">
                    <a:solidFill>
                      <a:srgbClr val="111827"/>
                    </a:solidFill>
                    <a:latin typeface="Cambria Math" panose="02040503050406030204" pitchFamily="18" charset="0"/>
                  </a:rPr>
                  <a:t>$OH^2=9R^2-(a^2+b^2+c^2)$</a:t>
                </a:r>
                <a:r>
                  <a:rPr sz="2400" b="0">
                    <a:solidFill>
                      <a:srgbClr val="111827"/>
                    </a:solidFill>
                    <a:latin typeface="Arial"/>
                  </a:rPr>
                  <a:t>; here </a:t>
                </a:r>
                <a:r>
                  <a:rPr lang="en-IN" sz="2400">
                    <a:solidFill>
                      <a:srgbClr val="111827"/>
                    </a:solidFill>
                    <a:latin typeface="Cambria Math" panose="02040503050406030204" pitchFamily="18" charset="0"/>
                  </a:rPr>
                  <a:t>$9\cdot25-(36+64+100)=25$</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93C47D"/>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0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0347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committee of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members is to be selected at random from a group consisting of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men and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women. The probability that the selected committee contains an equal number of men and women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14</m:t>
                        </m:r>
                      </m:den>
                    </m:f>
                  </m:oMath>
                </a14:m>
                <a:r>
                  <a:rPr sz="2400" b="0">
                    <a:solidFill>
                      <a:srgbClr val="111827"/>
                    </a:solidFill>
                    <a:latin typeface="Arial"/>
                  </a:rPr>
                  <a:t>   (B)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21</m:t>
                        </m:r>
                      </m:den>
                    </m:f>
                  </m:oMath>
                </a14:m>
                <a:r>
                  <a:rPr sz="2400" b="0">
                    <a:solidFill>
                      <a:srgbClr val="111827"/>
                    </a:solidFill>
                    <a:latin typeface="Arial"/>
                  </a:rPr>
                  <a:t>   (C)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7</m:t>
                        </m:r>
                      </m:den>
                    </m:f>
                  </m:oMath>
                </a14:m>
                <a:r>
                  <a:rPr sz="2400" b="0">
                    <a:solidFill>
                      <a:srgbClr val="111827"/>
                    </a:solidFill>
                    <a:latin typeface="Arial"/>
                  </a:rPr>
                  <a:t>   (D)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9</m:t>
                        </m:r>
                      </m:den>
                    </m:f>
                  </m:oMath>
                </a14:m>
                <a:endParaRPr sz="2400">
                  <a:solidFill>
                    <a:srgbClr val="111827"/>
                  </a:solidFill>
                </a:endParaRPr>
              </a:p>
            </p:txBody>
          </p:sp>
        </mc:Choice>
        <mc:Fallback>
          <p:sp>
            <p:nvSpPr>
              <p:cNvPr id="4" name="Rounded Rectangle 3"/>
              <p:cNvSpPr/>
              <p:nvPr/>
            </p:nvSpPr>
            <p:spPr>
              <a:xfrm>
                <a:off x="731520" y="1280160"/>
                <a:ext cx="10725912" cy="30347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committee of </a:t>
                </a:r>
                <a:r>
                  <a:rPr lang="en-IN" sz="2400">
                    <a:solidFill>
                      <a:srgbClr val="111827"/>
                    </a:solidFill>
                    <a:latin typeface="Cambria Math" panose="02040503050406030204" pitchFamily="18" charset="0"/>
                  </a:rPr>
                  <a:t>$4$</a:t>
                </a:r>
                <a:r>
                  <a:rPr sz="2400" b="0">
                    <a:solidFill>
                      <a:srgbClr val="111827"/>
                    </a:solidFill>
                    <a:latin typeface="Arial"/>
                  </a:rPr>
                  <a:t> members is to be selected at random from a group consisting of </a:t>
                </a:r>
                <a:r>
                  <a:rPr lang="en-IN" sz="2400">
                    <a:solidFill>
                      <a:srgbClr val="111827"/>
                    </a:solidFill>
                    <a:latin typeface="Cambria Math" panose="02040503050406030204" pitchFamily="18" charset="0"/>
                  </a:rPr>
                  <a:t>$5$</a:t>
                </a:r>
                <a:r>
                  <a:rPr sz="2400" b="0">
                    <a:solidFill>
                      <a:srgbClr val="111827"/>
                    </a:solidFill>
                    <a:latin typeface="Arial"/>
                  </a:rPr>
                  <a:t> men and </a:t>
                </a:r>
                <a:r>
                  <a:rPr lang="en-IN" sz="2400">
                    <a:solidFill>
                      <a:srgbClr val="111827"/>
                    </a:solidFill>
                    <a:latin typeface="Cambria Math" panose="02040503050406030204" pitchFamily="18" charset="0"/>
                  </a:rPr>
                  <a:t>$4$</a:t>
                </a:r>
                <a:r>
                  <a:rPr sz="2400" b="0">
                    <a:solidFill>
                      <a:srgbClr val="111827"/>
                    </a:solidFill>
                    <a:latin typeface="Arial"/>
                  </a:rPr>
                  <a:t> women. The probability that the selected committee contains an equal number of men and women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$\frac5{14}$</a:t>
                </a:r>
                <a:r>
                  <a:rPr sz="2400" b="0">
                    <a:solidFill>
                      <a:srgbClr val="111827"/>
                    </a:solidFill>
                    <a:latin typeface="Arial"/>
                  </a:rPr>
                  <a:t>   (B) </a:t>
                </a:r>
                <a:r>
                  <a:rPr lang="en-IN" sz="2400">
                    <a:solidFill>
                      <a:srgbClr val="111827"/>
                    </a:solidFill>
                    <a:latin typeface="Cambria Math" panose="02040503050406030204" pitchFamily="18" charset="0"/>
                  </a:rPr>
                  <a:t>$\frac{10}{21}$</a:t>
                </a:r>
                <a:r>
                  <a:rPr sz="2400" b="0">
                    <a:solidFill>
                      <a:srgbClr val="111827"/>
                    </a:solidFill>
                    <a:latin typeface="Arial"/>
                  </a:rPr>
                  <a:t>   (C) </a:t>
                </a:r>
                <a:r>
                  <a:rPr lang="en-IN" sz="2400">
                    <a:solidFill>
                      <a:srgbClr val="111827"/>
                    </a:solidFill>
                    <a:latin typeface="Cambria Math" panose="02040503050406030204" pitchFamily="18" charset="0"/>
                  </a:rPr>
                  <a:t>$\frac27$</a:t>
                </a:r>
                <a:r>
                  <a:rPr sz="2400" b="0">
                    <a:solidFill>
                      <a:srgbClr val="111827"/>
                    </a:solidFill>
                    <a:latin typeface="Arial"/>
                  </a:rPr>
                  <a:t>   (D) </a:t>
                </a:r>
                <a:r>
                  <a:rPr lang="en-IN" sz="2400">
                    <a:solidFill>
                      <a:srgbClr val="111827"/>
                    </a:solidFill>
                    <a:latin typeface="Cambria Math" panose="02040503050406030204" pitchFamily="18" charset="0"/>
                  </a:rPr>
                  <a:t>$\frac49$</a:t>
                </a:r>
                <a:endParaRPr sz="2400">
                  <a:solidFill>
                    <a:srgbClr val="111827"/>
                  </a:solidFill>
                </a:endParaRPr>
              </a:p>
            </p:txBody>
          </p:sp>
        </mc:Fallback>
      </mc:AlternateContent>
      <p:sp>
        <p:nvSpPr>
          <p:cNvPr id="5" name="Rectangle 4"/>
          <p:cNvSpPr/>
          <p:nvPr/>
        </p:nvSpPr>
        <p:spPr>
          <a:xfrm>
            <a:off x="731520" y="4543552"/>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Classical probability using combinations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0(Easier than JEE Main Level)</a:t>
            </a:r>
            <a:endParaRPr sz="2400">
              <a:solidFill>
                <a:srgbClr val="111827"/>
              </a:solidFill>
            </a:endParaRP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93C47D"/>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0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Equal numbers means exactly </a:t>
                </a:r>
                <a14:m>
                  <m:oMath xmlns:m="http://schemas.openxmlformats.org/officeDocument/2006/math">
                    <m:r>
                      <a:rPr lang="en-IN" sz="2400" i="1">
                        <a:solidFill>
                          <a:srgbClr val="78350F"/>
                        </a:solidFill>
                        <a:latin typeface="Cambria Math" panose="02040503050406030204" pitchFamily="18" charset="0"/>
                      </a:rPr>
                      <m:t>2</m:t>
                    </m:r>
                  </m:oMath>
                </a14:m>
                <a:r>
                  <a:rPr sz="2400" b="0">
                    <a:solidFill>
                      <a:srgbClr val="78350F"/>
                    </a:solidFill>
                    <a:latin typeface="Arial"/>
                  </a:rPr>
                  <a:t> men and </a:t>
                </a:r>
                <a14:m>
                  <m:oMath xmlns:m="http://schemas.openxmlformats.org/officeDocument/2006/math">
                    <m:r>
                      <a:rPr lang="en-IN" sz="2400" i="1">
                        <a:solidFill>
                          <a:srgbClr val="78350F"/>
                        </a:solidFill>
                        <a:latin typeface="Cambria Math" panose="02040503050406030204" pitchFamily="18" charset="0"/>
                      </a:rPr>
                      <m:t>2</m:t>
                    </m:r>
                  </m:oMath>
                </a14:m>
                <a:r>
                  <a:rPr sz="2400" b="0">
                    <a:solidFill>
                      <a:srgbClr val="78350F"/>
                    </a:solidFill>
                    <a:latin typeface="Arial"/>
                  </a:rPr>
                  <a:t> women: </a:t>
                </a:r>
                <a14:m>
                  <m:oMath xmlns:m="http://schemas.openxmlformats.org/officeDocument/2006/math">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5</m:t>
                            </m:r>
                          </m:num>
                          <m:den>
                            <m:r>
                              <a:rPr lang="en-IN" sz="2400" i="1">
                                <a:solidFill>
                                  <a:srgbClr val="78350F"/>
                                </a:solidFill>
                                <a:latin typeface="Cambria Math" panose="02040503050406030204" pitchFamily="18" charset="0"/>
                              </a:rPr>
                              <m:t>2</m:t>
                            </m:r>
                          </m:den>
                        </m:f>
                      </m:e>
                    </m:d>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4</m:t>
                            </m:r>
                          </m:num>
                          <m:den>
                            <m:r>
                              <a:rPr lang="en-IN" sz="2400" i="1">
                                <a:solidFill>
                                  <a:srgbClr val="78350F"/>
                                </a:solidFill>
                                <a:latin typeface="Cambria Math" panose="02040503050406030204" pitchFamily="18" charset="0"/>
                              </a:rPr>
                              <m:t>2</m:t>
                            </m:r>
                          </m:den>
                        </m:f>
                      </m:e>
                    </m:d>
                  </m:oMath>
                </a14:m>
                <a:r>
                  <a:rPr sz="2400" b="0">
                    <a:solidFill>
                      <a:srgbClr val="78350F"/>
                    </a:solidFill>
                    <a:latin typeface="Arial"/>
                  </a:rPr>
                  <a:t> favourable out of </a:t>
                </a:r>
                <a14:m>
                  <m:oMath xmlns:m="http://schemas.openxmlformats.org/officeDocument/2006/math">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9</m:t>
                            </m:r>
                          </m:num>
                          <m:den>
                            <m:r>
                              <a:rPr lang="en-IN" sz="2400" i="1">
                                <a:solidFill>
                                  <a:srgbClr val="78350F"/>
                                </a:solidFill>
                                <a:latin typeface="Cambria Math" panose="02040503050406030204" pitchFamily="18" charset="0"/>
                              </a:rPr>
                              <m:t>4</m:t>
                            </m:r>
                          </m:den>
                        </m:f>
                      </m:e>
                    </m:d>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Equal numbers means exactly </a:t>
                </a:r>
                <a:r>
                  <a:rPr lang="en-IN" sz="2400">
                    <a:solidFill>
                      <a:srgbClr val="78350F"/>
                    </a:solidFill>
                    <a:latin typeface="Cambria Math" panose="02040503050406030204" pitchFamily="18" charset="0"/>
                  </a:rPr>
                  <a:t>$2$</a:t>
                </a:r>
                <a:r>
                  <a:rPr sz="2400" b="0">
                    <a:solidFill>
                      <a:srgbClr val="78350F"/>
                    </a:solidFill>
                    <a:latin typeface="Arial"/>
                  </a:rPr>
                  <a:t> men and </a:t>
                </a:r>
                <a:r>
                  <a:rPr lang="en-IN" sz="2400">
                    <a:solidFill>
                      <a:srgbClr val="78350F"/>
                    </a:solidFill>
                    <a:latin typeface="Cambria Math" panose="02040503050406030204" pitchFamily="18" charset="0"/>
                  </a:rPr>
                  <a:t>$2$</a:t>
                </a:r>
                <a:r>
                  <a:rPr sz="2400" b="0">
                    <a:solidFill>
                      <a:srgbClr val="78350F"/>
                    </a:solidFill>
                    <a:latin typeface="Arial"/>
                  </a:rPr>
                  <a:t> women: </a:t>
                </a:r>
                <a:r>
                  <a:rPr lang="en-IN" sz="2400">
                    <a:solidFill>
                      <a:srgbClr val="78350F"/>
                    </a:solidFill>
                    <a:latin typeface="Cambria Math" panose="02040503050406030204" pitchFamily="18" charset="0"/>
                  </a:rPr>
                  <a:t>$\binom52\binom42$</a:t>
                </a:r>
                <a:r>
                  <a:rPr sz="2400" b="0">
                    <a:solidFill>
                      <a:srgbClr val="78350F"/>
                    </a:solidFill>
                    <a:latin typeface="Arial"/>
                  </a:rPr>
                  <a:t> favourable out of </a:t>
                </a:r>
                <a:r>
                  <a:rPr lang="en-IN" sz="2400">
                    <a:solidFill>
                      <a:srgbClr val="78350F"/>
                    </a:solidFill>
                    <a:latin typeface="Cambria Math" panose="02040503050406030204" pitchFamily="18" charset="0"/>
                  </a:rPr>
                  <a:t>$\binom94$</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Total ways of selecting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members from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 people: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4</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favourable event </a:t>
                </a:r>
                <a14:m>
                  <m:oMath xmlns:m="http://schemas.openxmlformats.org/officeDocument/2006/math">
                    <m:r>
                      <a:rPr lang="en-IN" sz="2400" i="1">
                        <a:solidFill>
                          <a:srgbClr val="111827"/>
                        </a:solidFill>
                        <a:latin typeface="Cambria Math" panose="02040503050406030204" pitchFamily="18" charset="0"/>
                      </a:rPr>
                      <m:t>𝐸</m:t>
                    </m:r>
                  </m:oMath>
                </a14:m>
                <a:r>
                  <a:rPr sz="2400" b="0">
                    <a:solidFill>
                      <a:srgbClr val="111827"/>
                    </a:solidFill>
                    <a:latin typeface="Arial"/>
                  </a:rPr>
                  <a:t> requires exactly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men and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women.</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required probability is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60</m:t>
                        </m:r>
                      </m:num>
                      <m:den>
                        <m:r>
                          <a:rPr lang="en-IN" sz="2400" i="1">
                            <a:solidFill>
                              <a:srgbClr val="111827"/>
                            </a:solidFill>
                            <a:latin typeface="Cambria Math" panose="02040503050406030204" pitchFamily="18" charset="0"/>
                          </a:rPr>
                          <m:t>126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21</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Total ways of selecting </a:t>
                </a:r>
                <a:r>
                  <a:rPr lang="en-IN" sz="2400">
                    <a:solidFill>
                      <a:srgbClr val="111827"/>
                    </a:solidFill>
                    <a:latin typeface="Cambria Math" panose="02040503050406030204" pitchFamily="18" charset="0"/>
                  </a:rPr>
                  <a:t>$4$</a:t>
                </a:r>
                <a:r>
                  <a:rPr sz="2400" b="0">
                    <a:solidFill>
                      <a:srgbClr val="111827"/>
                    </a:solidFill>
                    <a:latin typeface="Arial"/>
                  </a:rPr>
                  <a:t> members from </a:t>
                </a:r>
                <a:r>
                  <a:rPr lang="en-IN" sz="2400">
                    <a:solidFill>
                      <a:srgbClr val="111827"/>
                    </a:solidFill>
                    <a:latin typeface="Cambria Math" panose="02040503050406030204" pitchFamily="18" charset="0"/>
                  </a:rPr>
                  <a:t>$9$</a:t>
                </a:r>
                <a:r>
                  <a:rPr sz="2400" b="0">
                    <a:solidFill>
                      <a:srgbClr val="111827"/>
                    </a:solidFill>
                    <a:latin typeface="Arial"/>
                  </a:rPr>
                  <a:t> people: </a:t>
                </a:r>
                <a:r>
                  <a:rPr lang="en-IN" sz="2400">
                    <a:solidFill>
                      <a:srgbClr val="111827"/>
                    </a:solidFill>
                    <a:latin typeface="Cambria Math" panose="02040503050406030204" pitchFamily="18" charset="0"/>
                  </a:rPr>
                  <a:t>$n(S)=\binom94=\frac{9\times8\times7\times6}{4\times3\times2\times1}=126$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favourable event </a:t>
                </a:r>
                <a:r>
                  <a:rPr lang="en-IN" sz="2400">
                    <a:solidFill>
                      <a:srgbClr val="111827"/>
                    </a:solidFill>
                    <a:latin typeface="Cambria Math" panose="02040503050406030204" pitchFamily="18" charset="0"/>
                  </a:rPr>
                  <a:t>$E$</a:t>
                </a:r>
                <a:r>
                  <a:rPr sz="2400" b="0">
                    <a:solidFill>
                      <a:srgbClr val="111827"/>
                    </a:solidFill>
                    <a:latin typeface="Arial"/>
                  </a:rPr>
                  <a:t> requires exactly </a:t>
                </a:r>
                <a:r>
                  <a:rPr lang="en-IN" sz="2400">
                    <a:solidFill>
                      <a:srgbClr val="111827"/>
                    </a:solidFill>
                    <a:latin typeface="Cambria Math" panose="02040503050406030204" pitchFamily="18" charset="0"/>
                  </a:rPr>
                  <a:t>$2$</a:t>
                </a:r>
                <a:r>
                  <a:rPr sz="2400" b="0">
                    <a:solidFill>
                      <a:srgbClr val="111827"/>
                    </a:solidFill>
                    <a:latin typeface="Arial"/>
                  </a:rPr>
                  <a:t> men and </a:t>
                </a:r>
                <a:r>
                  <a:rPr lang="en-IN" sz="2400">
                    <a:solidFill>
                      <a:srgbClr val="111827"/>
                    </a:solidFill>
                    <a:latin typeface="Cambria Math" panose="02040503050406030204" pitchFamily="18" charset="0"/>
                  </a:rPr>
                  <a:t>$2$</a:t>
                </a:r>
                <a:r>
                  <a:rPr sz="2400" b="0">
                    <a:solidFill>
                      <a:srgbClr val="111827"/>
                    </a:solidFill>
                    <a:latin typeface="Arial"/>
                  </a:rPr>
                  <a:t> women.</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$n(E)=\binom52\times\binom42=10\times6=60$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required probability is </a:t>
                </a:r>
                <a:r>
                  <a:rPr lang="en-IN" sz="2400">
                    <a:solidFill>
                      <a:srgbClr val="111827"/>
                    </a:solidFill>
                    <a:latin typeface="Cambria Math" panose="02040503050406030204" pitchFamily="18" charset="0"/>
                  </a:rPr>
                  <a:t>$P(E)=\frac{n(E)}{n(S)}=\frac{60}{126}=\frac{10}{21}$</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10</m:t>
                        </m:r>
                      </m:num>
                      <m:den>
                        <m:r>
                          <a:rPr lang="en-IN" sz="2800" i="1">
                            <a:solidFill>
                              <a:srgbClr val="15803D"/>
                            </a:solidFill>
                            <a:latin typeface="Cambria Math" panose="02040503050406030204" pitchFamily="18" charset="0"/>
                          </a:rPr>
                          <m:t>21</m:t>
                        </m:r>
                      </m:den>
                    </m:f>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r>
                  <a:rPr lang="en-IN" sz="2800">
                    <a:solidFill>
                      <a:srgbClr val="15803D"/>
                    </a:solidFill>
                    <a:latin typeface="Cambria Math" panose="02040503050406030204" pitchFamily="18" charset="0"/>
                  </a:rPr>
                  <a:t>$\frac{10}{21}$</a:t>
                </a:r>
                <a:endParaRPr sz="2800">
                  <a:solidFill>
                    <a:srgbClr val="15803D"/>
                  </a:solidFill>
                </a:endParaRPr>
              </a:p>
            </p:txBody>
          </p:sp>
        </mc:Fallback>
      </mc:AlternateContent>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93C47D"/>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0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Ordered selection: each of the </a:t>
                </a:r>
                <a14:m>
                  <m:oMath xmlns:m="http://schemas.openxmlformats.org/officeDocument/2006/math">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4</m:t>
                            </m:r>
                          </m:num>
                          <m:den>
                            <m:r>
                              <a:rPr lang="en-IN" sz="2400" i="1">
                                <a:solidFill>
                                  <a:srgbClr val="78350F"/>
                                </a:solidFill>
                                <a:latin typeface="Cambria Math" panose="02040503050406030204" pitchFamily="18" charset="0"/>
                              </a:rPr>
                              <m:t>2</m:t>
                            </m:r>
                          </m:den>
                        </m:f>
                      </m:e>
                    </m:d>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6</m:t>
                    </m:r>
                  </m:oMath>
                </a14:m>
                <a:r>
                  <a:rPr sz="2400" b="0">
                    <a:solidFill>
                      <a:srgbClr val="78350F"/>
                    </a:solidFill>
                    <a:latin typeface="Arial"/>
                  </a:rPr>
                  <a:t> patterns of </a:t>
                </a:r>
                <a14:m>
                  <m:oMath xmlns:m="http://schemas.openxmlformats.org/officeDocument/2006/math">
                    <m:r>
                      <a:rPr lang="en-IN" sz="2400" i="1">
                        <a:solidFill>
                          <a:srgbClr val="78350F"/>
                        </a:solidFill>
                        <a:latin typeface="Cambria Math" panose="02040503050406030204" pitchFamily="18" charset="0"/>
                      </a:rPr>
                      <m:t>2</m:t>
                    </m:r>
                  </m:oMath>
                </a14:m>
                <a:r>
                  <a:rPr sz="2400" b="0">
                    <a:solidFill>
                      <a:srgbClr val="78350F"/>
                    </a:solidFill>
                    <a:latin typeface="Arial"/>
                  </a:rPr>
                  <a:t> men and </a:t>
                </a:r>
                <a14:m>
                  <m:oMath xmlns:m="http://schemas.openxmlformats.org/officeDocument/2006/math">
                    <m:r>
                      <a:rPr lang="en-IN" sz="2400" i="1">
                        <a:solidFill>
                          <a:srgbClr val="78350F"/>
                        </a:solidFill>
                        <a:latin typeface="Cambria Math" panose="02040503050406030204" pitchFamily="18" charset="0"/>
                      </a:rPr>
                      <m:t>2</m:t>
                    </m:r>
                  </m:oMath>
                </a14:m>
                <a:r>
                  <a:rPr sz="2400" b="0">
                    <a:solidFill>
                      <a:srgbClr val="78350F"/>
                    </a:solidFill>
                    <a:latin typeface="Arial"/>
                  </a:rPr>
                  <a:t> women in </a:t>
                </a:r>
                <a14:m>
                  <m:oMath xmlns:m="http://schemas.openxmlformats.org/officeDocument/2006/math">
                    <m:r>
                      <a:rPr lang="en-IN" sz="2400" i="1">
                        <a:solidFill>
                          <a:srgbClr val="78350F"/>
                        </a:solidFill>
                        <a:latin typeface="Cambria Math" panose="02040503050406030204" pitchFamily="18" charset="0"/>
                      </a:rPr>
                      <m:t>4</m:t>
                    </m:r>
                  </m:oMath>
                </a14:m>
                <a:r>
                  <a:rPr sz="2400" b="0">
                    <a:solidFill>
                      <a:srgbClr val="78350F"/>
                    </a:solidFill>
                    <a:latin typeface="Arial"/>
                  </a:rPr>
                  <a:t> draws has the same probability.</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Ordered selection: each of the </a:t>
                </a:r>
                <a:r>
                  <a:rPr lang="en-IN" sz="2400">
                    <a:solidFill>
                      <a:srgbClr val="78350F"/>
                    </a:solidFill>
                    <a:latin typeface="Cambria Math" panose="02040503050406030204" pitchFamily="18" charset="0"/>
                  </a:rPr>
                  <a:t>$\binom42=6$</a:t>
                </a:r>
                <a:r>
                  <a:rPr sz="2400" b="0">
                    <a:solidFill>
                      <a:srgbClr val="78350F"/>
                    </a:solidFill>
                    <a:latin typeface="Arial"/>
                  </a:rPr>
                  <a:t> patterns of </a:t>
                </a:r>
                <a:r>
                  <a:rPr lang="en-IN" sz="2400">
                    <a:solidFill>
                      <a:srgbClr val="78350F"/>
                    </a:solidFill>
                    <a:latin typeface="Cambria Math" panose="02040503050406030204" pitchFamily="18" charset="0"/>
                  </a:rPr>
                  <a:t>$2$</a:t>
                </a:r>
                <a:r>
                  <a:rPr sz="2400" b="0">
                    <a:solidFill>
                      <a:srgbClr val="78350F"/>
                    </a:solidFill>
                    <a:latin typeface="Arial"/>
                  </a:rPr>
                  <a:t> men and </a:t>
                </a:r>
                <a:r>
                  <a:rPr lang="en-IN" sz="2400">
                    <a:solidFill>
                      <a:srgbClr val="78350F"/>
                    </a:solidFill>
                    <a:latin typeface="Cambria Math" panose="02040503050406030204" pitchFamily="18" charset="0"/>
                  </a:rPr>
                  <a:t>$2$</a:t>
                </a:r>
                <a:r>
                  <a:rPr sz="2400" b="0">
                    <a:solidFill>
                      <a:srgbClr val="78350F"/>
                    </a:solidFill>
                    <a:latin typeface="Arial"/>
                  </a:rPr>
                  <a:t> women in </a:t>
                </a:r>
                <a:r>
                  <a:rPr lang="en-IN" sz="2400">
                    <a:solidFill>
                      <a:srgbClr val="78350F"/>
                    </a:solidFill>
                    <a:latin typeface="Cambria Math" panose="02040503050406030204" pitchFamily="18" charset="0"/>
                  </a:rPr>
                  <a:t>$4$</a:t>
                </a:r>
                <a:r>
                  <a:rPr sz="2400" b="0">
                    <a:solidFill>
                      <a:srgbClr val="78350F"/>
                    </a:solidFill>
                    <a:latin typeface="Arial"/>
                  </a:rPr>
                  <a:t> draws has the same probability.</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Draw the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members one by one without replacement. For a fixed pattern such as MMWW the probability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8</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7</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240</m:t>
                        </m:r>
                      </m:num>
                      <m:den>
                        <m:r>
                          <a:rPr lang="en-IN" sz="2400" i="1">
                            <a:solidFill>
                              <a:srgbClr val="111827"/>
                            </a:solidFill>
                            <a:latin typeface="Cambria Math" panose="02040503050406030204" pitchFamily="18" charset="0"/>
                          </a:rPr>
                          <m:t>3024</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Every other pattern (MWMW, MWWM, WMMW, WMWM, WWMM) has the same numerator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and denominator </a:t>
                </a:r>
                <a14:m>
                  <m:oMath xmlns:m="http://schemas.openxmlformats.org/officeDocument/2006/math">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Draw the </a:t>
                </a:r>
                <a:r>
                  <a:rPr lang="en-IN" sz="2400">
                    <a:solidFill>
                      <a:srgbClr val="111827"/>
                    </a:solidFill>
                    <a:latin typeface="Cambria Math" panose="02040503050406030204" pitchFamily="18" charset="0"/>
                  </a:rPr>
                  <a:t>$4$</a:t>
                </a:r>
                <a:r>
                  <a:rPr sz="2400" b="0">
                    <a:solidFill>
                      <a:srgbClr val="111827"/>
                    </a:solidFill>
                    <a:latin typeface="Arial"/>
                  </a:rPr>
                  <a:t> members one by one without replacement. For a fixed pattern such as MMWW the probability is </a:t>
                </a:r>
                <a:r>
                  <a:rPr lang="en-IN" sz="2400">
                    <a:solidFill>
                      <a:srgbClr val="111827"/>
                    </a:solidFill>
                    <a:latin typeface="Cambria Math" panose="02040503050406030204" pitchFamily="18" charset="0"/>
                  </a:rPr>
                  <a:t>$\frac59\cdot\frac48\cdot\frac47\cdot\frac36=\frac{240}{3024}$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Every other pattern (MWMW, MWWM, WMMW, WMWM, WWMM) has the same numerator </a:t>
                </a:r>
                <a:r>
                  <a:rPr lang="en-IN" sz="2400">
                    <a:solidFill>
                      <a:srgbClr val="111827"/>
                    </a:solidFill>
                    <a:latin typeface="Cambria Math" panose="02040503050406030204" pitchFamily="18" charset="0"/>
                  </a:rPr>
                  <a:t>$5\cdot4\cdot4\cdot3$</a:t>
                </a:r>
                <a:r>
                  <a:rPr sz="2400" b="0">
                    <a:solidFill>
                      <a:srgbClr val="111827"/>
                    </a:solidFill>
                    <a:latin typeface="Arial"/>
                  </a:rPr>
                  <a:t> and denominator </a:t>
                </a:r>
                <a:r>
                  <a:rPr lang="en-IN" sz="2400">
                    <a:solidFill>
                      <a:srgbClr val="111827"/>
                    </a:solidFill>
                    <a:latin typeface="Cambria Math" panose="02040503050406030204" pitchFamily="18" charset="0"/>
                  </a:rPr>
                  <a:t>$9\cdot8\cdot7\cdot6$</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93C47D"/>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0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There are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patterns, so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240</m:t>
                        </m:r>
                      </m:num>
                      <m:den>
                        <m:r>
                          <a:rPr lang="en-IN" sz="2400" i="1">
                            <a:solidFill>
                              <a:srgbClr val="111827"/>
                            </a:solidFill>
                            <a:latin typeface="Cambria Math" panose="02040503050406030204" pitchFamily="18" charset="0"/>
                          </a:rPr>
                          <m:t>3024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1440</m:t>
                        </m:r>
                      </m:num>
                      <m:den>
                        <m:r>
                          <a:rPr lang="en-IN" sz="2400" i="1">
                            <a:solidFill>
                              <a:srgbClr val="111827"/>
                            </a:solidFill>
                            <a:latin typeface="Cambria Math" panose="02040503050406030204" pitchFamily="18" charset="0"/>
                          </a:rPr>
                          <m:t>3024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21</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There are </a:t>
                </a:r>
                <a:r>
                  <a:rPr lang="en-IN" sz="2400">
                    <a:solidFill>
                      <a:srgbClr val="111827"/>
                    </a:solidFill>
                    <a:latin typeface="Cambria Math" panose="02040503050406030204" pitchFamily="18" charset="0"/>
                  </a:rPr>
                  <a:t>$\binom42=6$</a:t>
                </a:r>
                <a:r>
                  <a:rPr sz="2400" b="0">
                    <a:solidFill>
                      <a:srgbClr val="111827"/>
                    </a:solidFill>
                    <a:latin typeface="Arial"/>
                  </a:rPr>
                  <a:t> patterns, so </a:t>
                </a:r>
                <a:r>
                  <a:rPr lang="en-IN" sz="2400">
                    <a:solidFill>
                      <a:srgbClr val="111827"/>
                    </a:solidFill>
                    <a:latin typeface="Cambria Math" panose="02040503050406030204" pitchFamily="18" charset="0"/>
                  </a:rPr>
                  <a:t>$P=6\cdot\frac{240}{3024}=\frac{1440}{3024}=\frac{10}{21}$</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10</m:t>
                        </m:r>
                      </m:num>
                      <m:den>
                        <m:r>
                          <a:rPr lang="en-IN" sz="2800" i="1">
                            <a:solidFill>
                              <a:srgbClr val="15803D"/>
                            </a:solidFill>
                            <a:latin typeface="Cambria Math" panose="02040503050406030204" pitchFamily="18" charset="0"/>
                          </a:rPr>
                          <m:t>21</m:t>
                        </m:r>
                      </m:den>
                    </m:f>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r>
                  <a:rPr lang="en-IN" sz="2800">
                    <a:solidFill>
                      <a:srgbClr val="15803D"/>
                    </a:solidFill>
                    <a:latin typeface="Cambria Math" panose="02040503050406030204" pitchFamily="18" charset="0"/>
                  </a:rPr>
                  <a:t>$\frac{10}{21}$</a:t>
                </a:r>
                <a:endParaRPr sz="2800">
                  <a:solidFill>
                    <a:srgbClr val="15803D"/>
                  </a:solidFill>
                </a:endParaRPr>
              </a:p>
            </p:txBody>
          </p:sp>
        </mc:Fallback>
      </mc:AlternateContent>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93C47D"/>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0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Hypergeometric probability: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nor/>
                      </m:rPr>
                      <a:rPr lang="en-IN" sz="2400" i="1">
                        <a:solidFill>
                          <a:srgbClr val="111827"/>
                        </a:solidFill>
                        <a:latin typeface="Cambria Math" panose="02040503050406030204" pitchFamily="18" charset="0"/>
                      </a:rPr>
                      <m:t> 𝑚𝑒𝑛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𝑀</m:t>
                                </m:r>
                              </m:num>
                              <m:den>
                                <m:r>
                                  <a:rPr lang="en-IN" sz="2400" i="1">
                                    <a:solidFill>
                                      <a:srgbClr val="111827"/>
                                    </a:solidFill>
                                    <a:latin typeface="Cambria Math" panose="02040503050406030204" pitchFamily="18" charset="0"/>
                                  </a:rPr>
                                  <m:t>𝑘</m:t>
                                </m:r>
                              </m:den>
                            </m:f>
                          </m:e>
                        </m:d>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𝑊</m:t>
                                </m:r>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den>
                            </m:f>
                          </m:e>
                        </m:d>
                      </m:num>
                      <m:den>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𝑊</m:t>
                                </m:r>
                              </m:num>
                              <m:den>
                                <m:r>
                                  <a:rPr lang="en-IN" sz="2400" i="1">
                                    <a:solidFill>
                                      <a:srgbClr val="111827"/>
                                    </a:solidFill>
                                    <a:latin typeface="Cambria Math" panose="02040503050406030204" pitchFamily="18" charset="0"/>
                                  </a:rPr>
                                  <m:t>𝑛</m:t>
                                </m:r>
                              </m:den>
                            </m:f>
                          </m:e>
                        </m:d>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Vandermonde check: </a:t>
                </a:r>
                <a14:m>
                  <m:oMath xmlns:m="http://schemas.openxmlformats.org/officeDocument/2006/math">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sub>
                      <m:sup>
                        <m:r>
                          <a:rPr lang="en-IN" sz="2400" i="1">
                            <a:solidFill>
                              <a:srgbClr val="111827"/>
                            </a:solidFill>
                            <a:latin typeface="Cambria Math" panose="02040503050406030204" pitchFamily="18" charset="0"/>
                          </a:rPr>
                          <m:t>​</m:t>
                        </m:r>
                      </m:sup>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𝑘</m:t>
                                </m:r>
                              </m:den>
                            </m:f>
                          </m:e>
                        </m:d>
                      </m:e>
                    </m:nary>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4</m:t>
                            </m:r>
                          </m:den>
                        </m:f>
                      </m:e>
                    </m:d>
                  </m:oMath>
                </a14:m>
                <a:r>
                  <a:rPr sz="2400" b="0">
                    <a:solidFill>
                      <a:srgbClr val="111827"/>
                    </a:solidFill>
                    <a:latin typeface="Arial"/>
                  </a:rPr>
                  <a:t>; term by term (men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Other outcomes for this committee: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𝑒𝑥𝑎𝑐𝑡𝑙𝑦 </m:t>
                    </m:r>
                    <m:r>
                      <a:rPr lang="en-IN" sz="2400" i="1">
                        <a:solidFill>
                          <a:srgbClr val="111827"/>
                        </a:solidFill>
                        <a:latin typeface="Cambria Math" panose="02040503050406030204" pitchFamily="18" charset="0"/>
                      </a:rPr>
                      <m:t>1</m:t>
                    </m:r>
                    <m:r>
                      <m:rPr>
                        <m:nor/>
                      </m:rPr>
                      <a:rPr lang="en-IN" sz="2400" i="1">
                        <a:solidFill>
                          <a:srgbClr val="111827"/>
                        </a:solidFill>
                        <a:latin typeface="Cambria Math" panose="02040503050406030204" pitchFamily="18" charset="0"/>
                      </a:rPr>
                      <m:t> 𝑚𝑎𝑛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m:t>
                        </m:r>
                      </m:num>
                      <m:den>
                        <m:r>
                          <a:rPr lang="en-IN" sz="2400" i="1">
                            <a:solidFill>
                              <a:srgbClr val="111827"/>
                            </a:solidFill>
                            <a:latin typeface="Cambria Math" panose="02040503050406030204" pitchFamily="18" charset="0"/>
                          </a:rPr>
                          <m:t>126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63</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𝑒𝑥𝑎𝑐𝑡𝑙𝑦 </m:t>
                    </m:r>
                    <m:r>
                      <a:rPr lang="en-IN" sz="2400" i="1">
                        <a:solidFill>
                          <a:srgbClr val="111827"/>
                        </a:solidFill>
                        <a:latin typeface="Cambria Math" panose="02040503050406030204" pitchFamily="18" charset="0"/>
                      </a:rPr>
                      <m:t>3</m:t>
                    </m:r>
                    <m:r>
                      <m:rPr>
                        <m:nor/>
                      </m:rPr>
                      <a:rPr lang="en-IN" sz="2400" i="1">
                        <a:solidFill>
                          <a:srgbClr val="111827"/>
                        </a:solidFill>
                        <a:latin typeface="Cambria Math" panose="02040503050406030204" pitchFamily="18" charset="0"/>
                      </a:rPr>
                      <m:t> 𝑚𝑒𝑛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40</m:t>
                        </m:r>
                      </m:num>
                      <m:den>
                        <m:r>
                          <a:rPr lang="en-IN" sz="2400" i="1">
                            <a:solidFill>
                              <a:srgbClr val="111827"/>
                            </a:solidFill>
                            <a:latin typeface="Cambria Math" panose="02040503050406030204" pitchFamily="18" charset="0"/>
                          </a:rPr>
                          <m:t>126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m:t>
                        </m:r>
                      </m:num>
                      <m:den>
                        <m:r>
                          <a:rPr lang="en-IN" sz="2400" i="1">
                            <a:solidFill>
                              <a:srgbClr val="111827"/>
                            </a:solidFill>
                            <a:latin typeface="Cambria Math" panose="02040503050406030204" pitchFamily="18" charset="0"/>
                          </a:rPr>
                          <m:t>63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Unordered counting (combinations) is usually shorter than sequential draws when the pattern order is irrelevant.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Hypergeometric probability: </a:t>
                </a:r>
                <a:r>
                  <a:rPr lang="en-IN" sz="2400">
                    <a:solidFill>
                      <a:srgbClr val="111827"/>
                    </a:solidFill>
                    <a:latin typeface="Cambria Math" panose="02040503050406030204" pitchFamily="18" charset="0"/>
                  </a:rPr>
                  <a:t>$P(k\text{ men})=\frac{\binom Mk\binom W{n-k}}{\binom{M+W}n}$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Vandermonde check: </a:t>
                </a:r>
                <a:r>
                  <a:rPr lang="en-IN" sz="2400">
                    <a:solidFill>
                      <a:srgbClr val="111827"/>
                    </a:solidFill>
                    <a:latin typeface="Cambria Math" panose="02040503050406030204" pitchFamily="18" charset="0"/>
                  </a:rPr>
                  <a:t>$\sum_k\binom5k\binom4{4-k}=\binom94$</a:t>
                </a:r>
                <a:r>
                  <a:rPr sz="2400" b="0">
                    <a:solidFill>
                      <a:srgbClr val="111827"/>
                    </a:solidFill>
                    <a:latin typeface="Arial"/>
                  </a:rPr>
                  <a:t>; term by term (men </a:t>
                </a:r>
                <a:r>
                  <a:rPr lang="en-IN" sz="2400">
                    <a:solidFill>
                      <a:srgbClr val="111827"/>
                    </a:solidFill>
                    <a:latin typeface="Cambria Math" panose="02040503050406030204" pitchFamily="18" charset="0"/>
                  </a:rPr>
                  <a:t>$=0,\dots,4$</a:t>
                </a:r>
                <a:r>
                  <a:rPr sz="2400" b="0">
                    <a:solidFill>
                      <a:srgbClr val="111827"/>
                    </a:solidFill>
                    <a:latin typeface="Arial"/>
                  </a:rPr>
                  <a:t>): </a:t>
                </a:r>
                <a:r>
                  <a:rPr lang="en-IN" sz="2400">
                    <a:solidFill>
                      <a:srgbClr val="111827"/>
                    </a:solidFill>
                    <a:latin typeface="Cambria Math" panose="02040503050406030204" pitchFamily="18" charset="0"/>
                  </a:rPr>
                  <a:t>$1+20+60+40+5=126$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Other outcomes for this committee: </a:t>
                </a:r>
                <a:r>
                  <a:rPr lang="en-IN" sz="2400">
                    <a:solidFill>
                      <a:srgbClr val="111827"/>
                    </a:solidFill>
                    <a:latin typeface="Cambria Math" panose="02040503050406030204" pitchFamily="18" charset="0"/>
                  </a:rPr>
                  <a:t>$P(\text{exactly }1\text{ man})=\frac{20}{126}=\frac{10}{63}$</a:t>
                </a:r>
                <a:r>
                  <a:rPr sz="2400" b="0">
                    <a:solidFill>
                      <a:srgbClr val="111827"/>
                    </a:solidFill>
                    <a:latin typeface="Arial"/>
                  </a:rPr>
                  <a:t>, </a:t>
                </a:r>
                <a:r>
                  <a:rPr lang="en-IN" sz="2400">
                    <a:solidFill>
                      <a:srgbClr val="111827"/>
                    </a:solidFill>
                    <a:latin typeface="Cambria Math" panose="02040503050406030204" pitchFamily="18" charset="0"/>
                  </a:rPr>
                  <a:t>$P(\text{exactly }3\text{ men})=\frac{40}{126}=\frac{20}{63}$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Unordered counting (combinations) is usually shorter than sequential draws when the pattern order is irrelevant.</a:t>
                </a:r>
                <a:endParaRPr sz="2400">
                  <a:solidFill>
                    <a:srgbClr val="111827"/>
                  </a:solidFill>
                </a:endParaRPr>
              </a:p>
            </p:txBody>
          </p:sp>
        </mc:Fallback>
      </mc:AlternateContent>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55320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An unbiased die is rolled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times. A success is defined as obtaining a prime number on a roll. If the die shows a success at least once, then the conditional probability of obtaining exactly two successes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7</m:t>
                        </m:r>
                      </m:den>
                    </m:f>
                  </m:oMath>
                </a14:m>
                <a:r>
                  <a:rPr sz="2400" b="0">
                    <a:solidFill>
                      <a:srgbClr val="111827"/>
                    </a:solidFill>
                    <a:latin typeface="Arial"/>
                  </a:rPr>
                  <a:t>   (B)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(C)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8</m:t>
                        </m:r>
                      </m:den>
                    </m:f>
                  </m:oMath>
                </a14:m>
                <a:r>
                  <a:rPr sz="2400" b="0">
                    <a:solidFill>
                      <a:srgbClr val="111827"/>
                    </a:solidFill>
                    <a:latin typeface="Arial"/>
                  </a:rPr>
                  <a:t>   (D)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endParaRPr sz="2400">
                  <a:solidFill>
                    <a:srgbClr val="111827"/>
                  </a:solidFill>
                </a:endParaRPr>
              </a:p>
            </p:txBody>
          </p:sp>
        </mc:Choice>
        <mc:Fallback>
          <p:sp>
            <p:nvSpPr>
              <p:cNvPr id="4" name="Rounded Rectangle 3"/>
              <p:cNvSpPr/>
              <p:nvPr/>
            </p:nvSpPr>
            <p:spPr>
              <a:xfrm>
                <a:off x="731520" y="1280160"/>
                <a:ext cx="10725912" cy="255320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An unbiased die is rolled </a:t>
                </a:r>
                <a:r>
                  <a:rPr lang="en-IN" sz="2400">
                    <a:solidFill>
                      <a:srgbClr val="111827"/>
                    </a:solidFill>
                    <a:latin typeface="Cambria Math" panose="02040503050406030204" pitchFamily="18" charset="0"/>
                  </a:rPr>
                  <a:t>$3$</a:t>
                </a:r>
                <a:r>
                  <a:rPr sz="2400" b="0">
                    <a:solidFill>
                      <a:srgbClr val="111827"/>
                    </a:solidFill>
                    <a:latin typeface="Arial"/>
                  </a:rPr>
                  <a:t> times. A success is defined as obtaining a prime number on a roll. If the die shows a success at least once, then the conditional probability of obtaining exactly two successes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$\frac37$</a:t>
                </a:r>
                <a:r>
                  <a:rPr sz="2400" b="0">
                    <a:solidFill>
                      <a:srgbClr val="111827"/>
                    </a:solidFill>
                    <a:latin typeface="Arial"/>
                  </a:rPr>
                  <a:t>   (B) </a:t>
                </a:r>
                <a:r>
                  <a:rPr lang="en-IN" sz="2400">
                    <a:solidFill>
                      <a:srgbClr val="111827"/>
                    </a:solidFill>
                    <a:latin typeface="Cambria Math" panose="02040503050406030204" pitchFamily="18" charset="0"/>
                  </a:rPr>
                  <a:t>$\frac13$</a:t>
                </a:r>
                <a:r>
                  <a:rPr sz="2400" b="0">
                    <a:solidFill>
                      <a:srgbClr val="111827"/>
                    </a:solidFill>
                    <a:latin typeface="Arial"/>
                  </a:rPr>
                  <a:t>   (C) </a:t>
                </a:r>
                <a:r>
                  <a:rPr lang="en-IN" sz="2400">
                    <a:solidFill>
                      <a:srgbClr val="111827"/>
                    </a:solidFill>
                    <a:latin typeface="Cambria Math" panose="02040503050406030204" pitchFamily="18" charset="0"/>
                  </a:rPr>
                  <a:t>$\frac38$</a:t>
                </a:r>
                <a:r>
                  <a:rPr sz="2400" b="0">
                    <a:solidFill>
                      <a:srgbClr val="111827"/>
                    </a:solidFill>
                    <a:latin typeface="Arial"/>
                  </a:rPr>
                  <a:t>   (D) </a:t>
                </a:r>
                <a:r>
                  <a:rPr lang="en-IN" sz="2400">
                    <a:solidFill>
                      <a:srgbClr val="111827"/>
                    </a:solidFill>
                    <a:latin typeface="Cambria Math" panose="02040503050406030204" pitchFamily="18" charset="0"/>
                  </a:rPr>
                  <a:t>$\frac12$</a:t>
                </a:r>
                <a:endParaRPr sz="2400">
                  <a:solidFill>
                    <a:srgbClr val="111827"/>
                  </a:solidFill>
                </a:endParaRPr>
              </a:p>
            </p:txBody>
          </p:sp>
        </mc:Fallback>
      </mc:AlternateContent>
      <p:sp>
        <p:nvSpPr>
          <p:cNvPr id="5" name="Rectangle 4"/>
          <p:cNvSpPr/>
          <p:nvPr/>
        </p:nvSpPr>
        <p:spPr>
          <a:xfrm>
            <a:off x="731520" y="4061968"/>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Conditional probability and binomial distribution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primes on a die are </a:t>
                </a:r>
                <a14:m>
                  <m:oMath xmlns:m="http://schemas.openxmlformats.org/officeDocument/2006/math">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5</m:t>
                    </m:r>
                  </m:oMath>
                </a14:m>
                <a:r>
                  <a:rPr sz="2400" b="0">
                    <a:solidFill>
                      <a:srgbClr val="78350F"/>
                    </a:solidFill>
                    <a:latin typeface="Arial"/>
                  </a:rPr>
                  <a:t>, so </a:t>
                </a:r>
                <a14:m>
                  <m:oMath xmlns:m="http://schemas.openxmlformats.org/officeDocument/2006/math">
                    <m:r>
                      <a:rPr lang="en-IN" sz="2400" i="1">
                        <a:solidFill>
                          <a:srgbClr val="78350F"/>
                        </a:solidFill>
                        <a:latin typeface="Cambria Math" panose="02040503050406030204" pitchFamily="18" charset="0"/>
                      </a:rPr>
                      <m:t>𝑝</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2</m:t>
                        </m:r>
                      </m:den>
                    </m:f>
                  </m:oMath>
                </a14:m>
                <a:r>
                  <a:rPr sz="2400" b="0">
                    <a:solidFill>
                      <a:srgbClr val="78350F"/>
                    </a:solidFill>
                    <a:latin typeface="Arial"/>
                  </a:rPr>
                  <a:t>; the required value is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𝑃</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𝑋</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num>
                      <m:den>
                        <m:r>
                          <a:rPr lang="en-IN" sz="2400" i="1">
                            <a:solidFill>
                              <a:srgbClr val="78350F"/>
                            </a:solidFill>
                            <a:latin typeface="Cambria Math" panose="02040503050406030204" pitchFamily="18" charset="0"/>
                          </a:rPr>
                          <m:t>𝑃</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𝑋</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den>
                    </m:f>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primes on a die are </a:t>
                </a:r>
                <a:r>
                  <a:rPr lang="en-IN" sz="2400">
                    <a:solidFill>
                      <a:srgbClr val="78350F"/>
                    </a:solidFill>
                    <a:latin typeface="Cambria Math" panose="02040503050406030204" pitchFamily="18" charset="0"/>
                  </a:rPr>
                  <a:t>$2,3,5$</a:t>
                </a:r>
                <a:r>
                  <a:rPr sz="2400" b="0">
                    <a:solidFill>
                      <a:srgbClr val="78350F"/>
                    </a:solidFill>
                    <a:latin typeface="Arial"/>
                  </a:rPr>
                  <a:t>, so </a:t>
                </a:r>
                <a:r>
                  <a:rPr lang="en-IN" sz="2400">
                    <a:solidFill>
                      <a:srgbClr val="78350F"/>
                    </a:solidFill>
                    <a:latin typeface="Cambria Math" panose="02040503050406030204" pitchFamily="18" charset="0"/>
                  </a:rPr>
                  <a:t>$p=\frac12$</a:t>
                </a:r>
                <a:r>
                  <a:rPr sz="2400" b="0">
                    <a:solidFill>
                      <a:srgbClr val="78350F"/>
                    </a:solidFill>
                    <a:latin typeface="Arial"/>
                  </a:rPr>
                  <a:t>; the required value is </a:t>
                </a:r>
                <a:r>
                  <a:rPr lang="en-IN" sz="2400">
                    <a:solidFill>
                      <a:srgbClr val="78350F"/>
                    </a:solidFill>
                    <a:latin typeface="Cambria Math" panose="02040503050406030204" pitchFamily="18" charset="0"/>
                  </a:rPr>
                  <a:t>$\frac{P(X=2)}{P(X\ge1)}$</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𝑋</m:t>
                    </m:r>
                  </m:oMath>
                </a14:m>
                <a:r>
                  <a:rPr sz="2400" b="0">
                    <a:solidFill>
                      <a:srgbClr val="111827"/>
                    </a:solidFill>
                    <a:latin typeface="Arial"/>
                  </a:rPr>
                  <a:t> be the number of successes in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trials. A prime number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appears with probability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and failure has probability </a:t>
                </a: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𝑋</m:t>
                    </m:r>
                  </m:oMath>
                </a14:m>
                <a:r>
                  <a:rPr sz="2400" b="0">
                    <a:solidFill>
                      <a:srgbClr val="111827"/>
                    </a:solidFill>
                    <a:latin typeface="Arial"/>
                  </a:rPr>
                  <a:t> follows a binomial distribution. We need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Using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den>
                        </m:f>
                      </m:e>
                    </m:d>
                    <m:sSup>
                      <m:e>
                        <m:r>
                          <a:rPr lang="en-IN" sz="2400" i="1">
                            <a:solidFill>
                              <a:srgbClr val="111827"/>
                            </a:solidFill>
                            <a:latin typeface="Cambria Math" panose="02040503050406030204" pitchFamily="18" charset="0"/>
                          </a:rPr>
                          <m:t>𝑝</m:t>
                        </m:r>
                      </m:e>
                      <m:sup>
                        <m:r>
                          <a:rPr lang="en-IN" sz="2400" i="1">
                            <a:solidFill>
                              <a:srgbClr val="111827"/>
                            </a:solidFill>
                            <a:latin typeface="Cambria Math" panose="02040503050406030204" pitchFamily="18" charset="0"/>
                          </a:rPr>
                          <m:t>𝑟</m:t>
                        </m:r>
                      </m:sup>
                    </m:sSup>
                    <m:sSup>
                      <m:e>
                        <m:r>
                          <a:rPr lang="en-IN" sz="2400" i="1">
                            <a:solidFill>
                              <a:srgbClr val="111827"/>
                            </a:solidFill>
                            <a:latin typeface="Cambria Math" panose="02040503050406030204" pitchFamily="18" charset="0"/>
                          </a:rPr>
                          <m:t>𝑞</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e>
                    </m:d>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e>
                      <m:sup>
                        <m:r>
                          <a:rPr lang="en-IN" sz="2400" i="1">
                            <a:solidFill>
                              <a:srgbClr val="111827"/>
                            </a:solidFill>
                            <a:latin typeface="Cambria Math" panose="02040503050406030204" pitchFamily="18" charset="0"/>
                          </a:rPr>
                          <m:t>2</m:t>
                        </m:r>
                      </m:sup>
                    </m:sSup>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e>
                      <m:sup>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8</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$X$</a:t>
                </a:r>
                <a:r>
                  <a:rPr sz="2400" b="0">
                    <a:solidFill>
                      <a:srgbClr val="111827"/>
                    </a:solidFill>
                    <a:latin typeface="Arial"/>
                  </a:rPr>
                  <a:t> be the number of successes in </a:t>
                </a:r>
                <a:r>
                  <a:rPr lang="en-IN" sz="2400">
                    <a:solidFill>
                      <a:srgbClr val="111827"/>
                    </a:solidFill>
                    <a:latin typeface="Cambria Math" panose="02040503050406030204" pitchFamily="18" charset="0"/>
                  </a:rPr>
                  <a:t>$n=3$</a:t>
                </a:r>
                <a:r>
                  <a:rPr sz="2400" b="0">
                    <a:solidFill>
                      <a:srgbClr val="111827"/>
                    </a:solidFill>
                    <a:latin typeface="Arial"/>
                  </a:rPr>
                  <a:t> trials. A prime number (</a:t>
                </a:r>
                <a:r>
                  <a:rPr lang="en-IN" sz="2400">
                    <a:solidFill>
                      <a:srgbClr val="111827"/>
                    </a:solidFill>
                    <a:latin typeface="Cambria Math" panose="02040503050406030204" pitchFamily="18" charset="0"/>
                  </a:rPr>
                  <a:t>$2$</a:t>
                </a:r>
                <a:r>
                  <a:rPr sz="2400" b="0">
                    <a:solidFill>
                      <a:srgbClr val="111827"/>
                    </a:solidFill>
                    <a:latin typeface="Arial"/>
                  </a:rPr>
                  <a:t>, </a:t>
                </a:r>
                <a:r>
                  <a:rPr lang="en-IN" sz="2400">
                    <a:solidFill>
                      <a:srgbClr val="111827"/>
                    </a:solidFill>
                    <a:latin typeface="Cambria Math" panose="02040503050406030204" pitchFamily="18" charset="0"/>
                  </a:rPr>
                  <a:t>$3$</a:t>
                </a:r>
                <a:r>
                  <a:rPr sz="2400" b="0">
                    <a:solidFill>
                      <a:srgbClr val="111827"/>
                    </a:solidFill>
                    <a:latin typeface="Arial"/>
                  </a:rPr>
                  <a:t> or </a:t>
                </a:r>
                <a:r>
                  <a:rPr lang="en-IN" sz="2400">
                    <a:solidFill>
                      <a:srgbClr val="111827"/>
                    </a:solidFill>
                    <a:latin typeface="Cambria Math" panose="02040503050406030204" pitchFamily="18" charset="0"/>
                  </a:rPr>
                  <a:t>$5$</a:t>
                </a:r>
                <a:r>
                  <a:rPr sz="2400" b="0">
                    <a:solidFill>
                      <a:srgbClr val="111827"/>
                    </a:solidFill>
                    <a:latin typeface="Arial"/>
                  </a:rPr>
                  <a:t>) appears with probability </a:t>
                </a:r>
                <a:r>
                  <a:rPr lang="en-IN" sz="2400">
                    <a:solidFill>
                      <a:srgbClr val="111827"/>
                    </a:solidFill>
                    <a:latin typeface="Cambria Math" panose="02040503050406030204" pitchFamily="18" charset="0"/>
                  </a:rPr>
                  <a:t>$p=\frac36=\frac12$</a:t>
                </a:r>
                <a:r>
                  <a:rPr sz="2400" b="0">
                    <a:solidFill>
                      <a:srgbClr val="111827"/>
                    </a:solidFill>
                    <a:latin typeface="Arial"/>
                  </a:rPr>
                  <a:t>, and failure has probability </a:t>
                </a:r>
                <a:r>
                  <a:rPr lang="en-IN" sz="2400">
                    <a:solidFill>
                      <a:srgbClr val="111827"/>
                    </a:solidFill>
                    <a:latin typeface="Cambria Math" panose="02040503050406030204" pitchFamily="18" charset="0"/>
                  </a:rPr>
                  <a:t>$q=\frac12$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a:t>
                </a:r>
                <a:r>
                  <a:rPr sz="2400" b="0">
                    <a:solidFill>
                      <a:srgbClr val="111827"/>
                    </a:solidFill>
                    <a:latin typeface="Arial"/>
                  </a:rPr>
                  <a:t> follows a binomial distribution. We need </a:t>
                </a:r>
                <a:r>
                  <a:rPr lang="en-IN" sz="2400">
                    <a:solidFill>
                      <a:srgbClr val="111827"/>
                    </a:solidFill>
                    <a:latin typeface="Cambria Math" panose="02040503050406030204" pitchFamily="18" charset="0"/>
                  </a:rPr>
                  <a:t>$P(X=2\mid X\ge1)=\frac{P(X=2\cap X\ge1)}{P(X\ge1)}=\frac{P(X=2)}{P(X\ge1)}$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Using </a:t>
                </a:r>
                <a:r>
                  <a:rPr lang="en-IN" sz="2400">
                    <a:solidFill>
                      <a:srgbClr val="111827"/>
                    </a:solidFill>
                    <a:latin typeface="Cambria Math" panose="02040503050406030204" pitchFamily="18" charset="0"/>
                  </a:rPr>
                  <a:t>$P(X=r)=\binom nrp^rq^{n-r}$</a:t>
                </a:r>
                <a:r>
                  <a:rPr sz="2400" b="0">
                    <a:solidFill>
                      <a:srgbClr val="111827"/>
                    </a:solidFill>
                    <a:latin typeface="Arial"/>
                  </a:rPr>
                  <a:t>: </a:t>
                </a:r>
                <a:r>
                  <a:rPr lang="en-IN" sz="2400">
                    <a:solidFill>
                      <a:srgbClr val="111827"/>
                    </a:solidFill>
                    <a:latin typeface="Cambria Math" panose="02040503050406030204" pitchFamily="18" charset="0"/>
                  </a:rPr>
                  <a:t>$P(X=2)=\binom32\left(\frac12\right)^2\left(\frac12\right)^1=\frac38$</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0</m:t>
                            </m:r>
                          </m:den>
                        </m:f>
                      </m:e>
                    </m:d>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8</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8</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7</m:t>
                        </m:r>
                      </m:den>
                    </m:f>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$P(X\ge1)=1-P(X=0)=1-\binom30\left(\frac12\right)^3=1-\frac18=\frac78$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$P(X=2\mid X\ge1)=\frac{3/8}{7/8}=\frac37$</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3</m:t>
                        </m:r>
                      </m:num>
                      <m:den>
                        <m:r>
                          <a:rPr lang="en-IN" sz="2800" i="1">
                            <a:solidFill>
                              <a:srgbClr val="15803D"/>
                            </a:solidFill>
                            <a:latin typeface="Cambria Math" panose="02040503050406030204" pitchFamily="18" charset="0"/>
                          </a:rPr>
                          <m:t>7</m:t>
                        </m:r>
                      </m:den>
                    </m:f>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r>
                  <a:rPr lang="en-IN" sz="2800">
                    <a:solidFill>
                      <a:srgbClr val="15803D"/>
                    </a:solidFill>
                    <a:latin typeface="Cambria Math" panose="02040503050406030204" pitchFamily="18" charset="0"/>
                  </a:rPr>
                  <a:t>$\frac37$</a:t>
                </a:r>
                <a:endParaRPr sz="2800">
                  <a:solidFill>
                    <a:srgbClr val="15803D"/>
                  </a:solidFill>
                </a:endParaRPr>
              </a:p>
            </p:txBody>
          </p:sp>
        </mc:Fallback>
      </mc:AlternateContent>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With </a:t>
                </a:r>
                <a14:m>
                  <m:oMath xmlns:m="http://schemas.openxmlformats.org/officeDocument/2006/math">
                    <m:r>
                      <a:rPr lang="en-IN" sz="2400" i="1">
                        <a:solidFill>
                          <a:srgbClr val="78350F"/>
                        </a:solidFill>
                        <a:latin typeface="Cambria Math" panose="02040503050406030204" pitchFamily="18" charset="0"/>
                      </a:rPr>
                      <m:t>𝑝</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2</m:t>
                        </m:r>
                      </m:den>
                    </m:f>
                  </m:oMath>
                </a14:m>
                <a:r>
                  <a:rPr sz="2400" b="0">
                    <a:solidFill>
                      <a:srgbClr val="78350F"/>
                    </a:solidFill>
                    <a:latin typeface="Arial"/>
                  </a:rPr>
                  <a:t> the eight success/failure patterns are equally likely, so just count patterns.</a:t>
                </a:r>
                <a:endParaRPr sz="2400">
                  <a:solidFill>
                    <a:srgbClr val="78350F"/>
                  </a:solidFill>
                </a:endParaRPr>
              </a:p>
            </p:txBody>
          </p:sp>
        </mc:Choice>
        <mc:Fallback>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With </a:t>
                </a:r>
                <a:r>
                  <a:rPr lang="en-IN" sz="2400">
                    <a:solidFill>
                      <a:srgbClr val="78350F"/>
                    </a:solidFill>
                    <a:latin typeface="Cambria Math" panose="02040503050406030204" pitchFamily="18" charset="0"/>
                  </a:rPr>
                  <a:t>$p=\frac12$</a:t>
                </a:r>
                <a:r>
                  <a:rPr sz="2400" b="0">
                    <a:solidFill>
                      <a:srgbClr val="78350F"/>
                    </a:solidFill>
                    <a:latin typeface="Arial"/>
                  </a:rPr>
                  <a:t> the eight success/failure patterns are equally likely, so just count patterns.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636520"/>
                <a:ext cx="10725912" cy="315163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Each roll is a success (S) or failure (F) with probability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each, so the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patterns of S/F are equally likely.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least one S: all patterns except FFF, i.e.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patterns.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Exactly two S: SSF, SFS, FSS, i.e.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patterns (all of which lie in the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the conditional probability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7</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636520"/>
                <a:ext cx="10725912" cy="315163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Each roll is a success (S) or failure (F) with probability </a:t>
                </a:r>
                <a:r>
                  <a:rPr lang="en-IN" sz="2400">
                    <a:solidFill>
                      <a:srgbClr val="111827"/>
                    </a:solidFill>
                    <a:latin typeface="Cambria Math" panose="02040503050406030204" pitchFamily="18" charset="0"/>
                  </a:rPr>
                  <a:t>$\frac12$</a:t>
                </a:r>
                <a:r>
                  <a:rPr sz="2400" b="0">
                    <a:solidFill>
                      <a:srgbClr val="111827"/>
                    </a:solidFill>
                    <a:latin typeface="Arial"/>
                  </a:rPr>
                  <a:t> each, so the </a:t>
                </a:r>
                <a:r>
                  <a:rPr lang="en-IN" sz="2400">
                    <a:solidFill>
                      <a:srgbClr val="111827"/>
                    </a:solidFill>
                    <a:latin typeface="Cambria Math" panose="02040503050406030204" pitchFamily="18" charset="0"/>
                  </a:rPr>
                  <a:t>$2^3=8$</a:t>
                </a:r>
                <a:r>
                  <a:rPr sz="2400" b="0">
                    <a:solidFill>
                      <a:srgbClr val="111827"/>
                    </a:solidFill>
                    <a:latin typeface="Arial"/>
                  </a:rPr>
                  <a:t> patterns of S/F are equally likely.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least one S: all patterns except FFF, i.e. </a:t>
                </a:r>
                <a:r>
                  <a:rPr lang="en-IN" sz="2400">
                    <a:solidFill>
                      <a:srgbClr val="111827"/>
                    </a:solidFill>
                    <a:latin typeface="Cambria Math" panose="02040503050406030204" pitchFamily="18" charset="0"/>
                  </a:rPr>
                  <a:t>$7$</a:t>
                </a:r>
                <a:r>
                  <a:rPr sz="2400" b="0">
                    <a:solidFill>
                      <a:srgbClr val="111827"/>
                    </a:solidFill>
                    <a:latin typeface="Arial"/>
                  </a:rPr>
                  <a:t> patterns.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Exactly two S: SSF, SFS, FSS, i.e. </a:t>
                </a:r>
                <a:r>
                  <a:rPr lang="en-IN" sz="2400">
                    <a:solidFill>
                      <a:srgbClr val="111827"/>
                    </a:solidFill>
                    <a:latin typeface="Cambria Math" panose="02040503050406030204" pitchFamily="18" charset="0"/>
                  </a:rPr>
                  <a:t>$3$</a:t>
                </a:r>
                <a:r>
                  <a:rPr sz="2400" b="0">
                    <a:solidFill>
                      <a:srgbClr val="111827"/>
                    </a:solidFill>
                    <a:latin typeface="Arial"/>
                  </a:rPr>
                  <a:t> patterns (all of which lie in the </a:t>
                </a:r>
                <a:r>
                  <a:rPr lang="en-IN" sz="2400">
                    <a:solidFill>
                      <a:srgbClr val="111827"/>
                    </a:solidFill>
                    <a:latin typeface="Cambria Math" panose="02040503050406030204" pitchFamily="18" charset="0"/>
                  </a:rPr>
                  <a:t>$7$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the conditional probability is </a:t>
                </a:r>
                <a:r>
                  <a:rPr lang="en-IN" sz="2400">
                    <a:solidFill>
                      <a:srgbClr val="111827"/>
                    </a:solidFill>
                    <a:latin typeface="Cambria Math" panose="02040503050406030204" pitchFamily="18" charset="0"/>
                  </a:rPr>
                  <a:t>$\frac37$</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3</m:t>
                        </m:r>
                      </m:num>
                      <m:den>
                        <m:r>
                          <a:rPr lang="en-IN" sz="2800" i="1">
                            <a:solidFill>
                              <a:srgbClr val="15803D"/>
                            </a:solidFill>
                            <a:latin typeface="Cambria Math" panose="02040503050406030204" pitchFamily="18" charset="0"/>
                          </a:rPr>
                          <m:t>7</m:t>
                        </m:r>
                      </m:den>
                    </m:f>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r>
                  <a:rPr lang="en-IN" sz="2800">
                    <a:solidFill>
                      <a:srgbClr val="15803D"/>
                    </a:solidFill>
                    <a:latin typeface="Cambria Math" panose="02040503050406030204" pitchFamily="18" charset="0"/>
                  </a:rPr>
                  <a:t>$\frac37$</a:t>
                </a:r>
                <a:endParaRPr sz="2800">
                  <a:solidFill>
                    <a:srgbClr val="15803D"/>
                  </a:solidFill>
                </a:endParaRPr>
              </a:p>
            </p:txBody>
          </p:sp>
        </mc:Fallback>
      </mc:AlternateContent>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𝑞</m:t>
                            </m:r>
                          </m:e>
                          <m:sup>
                            <m:r>
                              <a:rPr lang="en-IN" sz="2400" i="1">
                                <a:solidFill>
                                  <a:srgbClr val="111827"/>
                                </a:solidFill>
                                <a:latin typeface="Cambria Math" panose="02040503050406030204" pitchFamily="18" charset="0"/>
                              </a:rPr>
                              <m:t>𝑛</m:t>
                            </m:r>
                          </m:sup>
                        </m:sSup>
                      </m:den>
                    </m:f>
                  </m:oMath>
                </a14:m>
                <a:r>
                  <a:rPr sz="2400" b="0">
                    <a:solidFill>
                      <a:srgbClr val="111827"/>
                    </a:solidFill>
                    <a:latin typeface="Arial"/>
                  </a:rPr>
                  <a:t> for a binomial variable.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 a fair die: primes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(note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is not prime), even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squares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multiples of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When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 binomial distribution is just counting subsets: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den>
                            </m:f>
                          </m:e>
                        </m:d>
                      </m:num>
                      <m:den>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sup>
                        </m:sSup>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𝑟</m:t>
                                </m:r>
                              </m:den>
                            </m:f>
                          </m:e>
                        </m:d>
                      </m:num>
                      <m:den>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$P(X=r\mid X\ge1)=\frac{P(X=r)}{1-q^n}$</a:t>
                </a:r>
                <a:r>
                  <a:rPr sz="2400" b="0">
                    <a:solidFill>
                      <a:srgbClr val="111827"/>
                    </a:solidFill>
                    <a:latin typeface="Arial"/>
                  </a:rPr>
                  <a:t> for a binomial variable.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 a fair die: primes </a:t>
                </a:r>
                <a:r>
                  <a:rPr lang="en-IN" sz="2400">
                    <a:solidFill>
                      <a:srgbClr val="111827"/>
                    </a:solidFill>
                    <a:latin typeface="Cambria Math" panose="02040503050406030204" pitchFamily="18" charset="0"/>
                  </a:rPr>
                  <a:t>$\{2,3,5\}$</a:t>
                </a:r>
                <a:r>
                  <a:rPr sz="2400" b="0">
                    <a:solidFill>
                      <a:srgbClr val="111827"/>
                    </a:solidFill>
                    <a:latin typeface="Arial"/>
                  </a:rPr>
                  <a:t> (note </a:t>
                </a:r>
                <a:r>
                  <a:rPr lang="en-IN" sz="2400">
                    <a:solidFill>
                      <a:srgbClr val="111827"/>
                    </a:solidFill>
                    <a:latin typeface="Cambria Math" panose="02040503050406030204" pitchFamily="18" charset="0"/>
                  </a:rPr>
                  <a:t>$1$</a:t>
                </a:r>
                <a:r>
                  <a:rPr sz="2400" b="0">
                    <a:solidFill>
                      <a:srgbClr val="111827"/>
                    </a:solidFill>
                    <a:latin typeface="Arial"/>
                  </a:rPr>
                  <a:t> is not prime), even </a:t>
                </a:r>
                <a:r>
                  <a:rPr lang="en-IN" sz="2400">
                    <a:solidFill>
                      <a:srgbClr val="111827"/>
                    </a:solidFill>
                    <a:latin typeface="Cambria Math" panose="02040503050406030204" pitchFamily="18" charset="0"/>
                  </a:rPr>
                  <a:t>$\{2,4,6\}$</a:t>
                </a:r>
                <a:r>
                  <a:rPr sz="2400" b="0">
                    <a:solidFill>
                      <a:srgbClr val="111827"/>
                    </a:solidFill>
                    <a:latin typeface="Arial"/>
                  </a:rPr>
                  <a:t>, squares </a:t>
                </a:r>
                <a:r>
                  <a:rPr lang="en-IN" sz="2400">
                    <a:solidFill>
                      <a:srgbClr val="111827"/>
                    </a:solidFill>
                    <a:latin typeface="Cambria Math" panose="02040503050406030204" pitchFamily="18" charset="0"/>
                  </a:rPr>
                  <a:t>$\{1,4\}$</a:t>
                </a:r>
                <a:r>
                  <a:rPr sz="2400" b="0">
                    <a:solidFill>
                      <a:srgbClr val="111827"/>
                    </a:solidFill>
                    <a:latin typeface="Arial"/>
                  </a:rPr>
                  <a:t>, multiples of </a:t>
                </a:r>
                <a:r>
                  <a:rPr lang="en-IN" sz="2400">
                    <a:solidFill>
                      <a:srgbClr val="111827"/>
                    </a:solidFill>
                    <a:latin typeface="Cambria Math" panose="02040503050406030204" pitchFamily="18" charset="0"/>
                  </a:rPr>
                  <a:t>$3$</a:t>
                </a:r>
                <a:r>
                  <a:rPr sz="2400" b="0">
                    <a:solidFill>
                      <a:srgbClr val="111827"/>
                    </a:solidFill>
                    <a:latin typeface="Arial"/>
                  </a:rPr>
                  <a:t> </a:t>
                </a:r>
                <a:r>
                  <a:rPr lang="en-IN" sz="2400">
                    <a:solidFill>
                      <a:srgbClr val="111827"/>
                    </a:solidFill>
                    <a:latin typeface="Cambria Math" panose="02040503050406030204" pitchFamily="18" charset="0"/>
                  </a:rPr>
                  <a:t>$\{3,6\}$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When </a:t>
                </a:r>
                <a:r>
                  <a:rPr lang="en-IN" sz="2400">
                    <a:solidFill>
                      <a:srgbClr val="111827"/>
                    </a:solidFill>
                    <a:latin typeface="Cambria Math" panose="02040503050406030204" pitchFamily="18" charset="0"/>
                  </a:rPr>
                  <a:t>$p=\frac12$</a:t>
                </a:r>
                <a:r>
                  <a:rPr sz="2400" b="0">
                    <a:solidFill>
                      <a:srgbClr val="111827"/>
                    </a:solidFill>
                    <a:latin typeface="Arial"/>
                  </a:rPr>
                  <a:t>, a binomial distribution is just counting subsets: </a:t>
                </a:r>
                <a:r>
                  <a:rPr lang="en-IN" sz="2400">
                    <a:solidFill>
                      <a:srgbClr val="111827"/>
                    </a:solidFill>
                    <a:latin typeface="Cambria Math" panose="02040503050406030204" pitchFamily="18" charset="0"/>
                  </a:rPr>
                  <a:t>$P(X=r)=\frac{\binom nr}{2^n}$</a:t>
                </a:r>
                <a:r>
                  <a:rPr sz="2400" b="0">
                    <a:solidFill>
                      <a:srgbClr val="111827"/>
                    </a:solidFill>
                    <a:latin typeface="Arial"/>
                  </a:rPr>
                  <a:t>, so </a:t>
                </a:r>
                <a:r>
                  <a:rPr lang="en-IN" sz="2400">
                    <a:solidFill>
                      <a:srgbClr val="111827"/>
                    </a:solidFill>
                    <a:latin typeface="Cambria Math" panose="02040503050406030204" pitchFamily="18" charset="0"/>
                  </a:rPr>
                  <a:t>$P(X=r\mid X\ge1)=\frac{\binom nr}{2^n-1}$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$\binom31+\binom32+\binom33=7=2^3-1$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8153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 be a function defined by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is a real constant. If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strictly increasing for all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 then the set of all possible values of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(C)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endParaRPr sz="2400">
                  <a:solidFill>
                    <a:srgbClr val="111827"/>
                  </a:solidFill>
                </a:endParaRPr>
              </a:p>
            </p:txBody>
          </p:sp>
        </mc:Choice>
        <mc:Fallback>
          <p:sp>
            <p:nvSpPr>
              <p:cNvPr id="4" name="Rounded Rectangle 3"/>
              <p:cNvSpPr/>
              <p:nvPr/>
            </p:nvSpPr>
            <p:spPr>
              <a:xfrm>
                <a:off x="731520" y="1280160"/>
                <a:ext cx="10725912" cy="28153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$f:\mathbb R\to\mathbb R$</a:t>
                </a:r>
                <a:r>
                  <a:rPr sz="2400" b="0">
                    <a:solidFill>
                      <a:srgbClr val="111827"/>
                    </a:solidFill>
                    <a:latin typeface="Arial"/>
                  </a:rPr>
                  <a:t> be a function defined by </a:t>
                </a:r>
                <a:r>
                  <a:rPr lang="en-IN" sz="2400">
                    <a:solidFill>
                      <a:srgbClr val="111827"/>
                    </a:solidFill>
                    <a:latin typeface="Cambria Math" panose="02040503050406030204" pitchFamily="18" charset="0"/>
                  </a:rPr>
                  <a:t>$f(x)=x^3+3x^2+ax+7$</a:t>
                </a:r>
                <a:r>
                  <a:rPr sz="2400" b="0">
                    <a:solidFill>
                      <a:srgbClr val="111827"/>
                    </a:solidFill>
                    <a:latin typeface="Arial"/>
                  </a:rPr>
                  <a:t>, where </a:t>
                </a:r>
                <a:r>
                  <a:rPr lang="en-IN" sz="2400">
                    <a:solidFill>
                      <a:srgbClr val="111827"/>
                    </a:solidFill>
                    <a:latin typeface="Cambria Math" panose="02040503050406030204" pitchFamily="18" charset="0"/>
                  </a:rPr>
                  <a:t>$a$</a:t>
                </a:r>
                <a:r>
                  <a:rPr sz="2400" b="0">
                    <a:solidFill>
                      <a:srgbClr val="111827"/>
                    </a:solidFill>
                    <a:latin typeface="Arial"/>
                  </a:rPr>
                  <a:t> is a real constant. If </a:t>
                </a:r>
                <a:r>
                  <a:rPr lang="en-IN" sz="2400">
                    <a:solidFill>
                      <a:srgbClr val="111827"/>
                    </a:solidFill>
                    <a:latin typeface="Cambria Math" panose="02040503050406030204" pitchFamily="18" charset="0"/>
                  </a:rPr>
                  <a:t>$f(x)$</a:t>
                </a:r>
                <a:r>
                  <a:rPr sz="2400" b="0">
                    <a:solidFill>
                      <a:srgbClr val="111827"/>
                    </a:solidFill>
                    <a:latin typeface="Arial"/>
                  </a:rPr>
                  <a:t> is strictly increasing for all </a:t>
                </a:r>
                <a:r>
                  <a:rPr lang="en-IN" sz="2400">
                    <a:solidFill>
                      <a:srgbClr val="111827"/>
                    </a:solidFill>
                    <a:latin typeface="Cambria Math" panose="02040503050406030204" pitchFamily="18" charset="0"/>
                  </a:rPr>
                  <a:t>$x\in\mathbb R$</a:t>
                </a:r>
                <a:r>
                  <a:rPr sz="2400" b="0">
                    <a:solidFill>
                      <a:srgbClr val="111827"/>
                    </a:solidFill>
                    <a:latin typeface="Arial"/>
                  </a:rPr>
                  <a:t>, then the set of all possible values of </a:t>
                </a:r>
                <a:r>
                  <a:rPr lang="en-IN" sz="2400">
                    <a:solidFill>
                      <a:srgbClr val="111827"/>
                    </a:solidFill>
                    <a:latin typeface="Cambria Math" panose="02040503050406030204" pitchFamily="18" charset="0"/>
                  </a:rPr>
                  <a:t>$a$</a:t>
                </a:r>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$[3,\infty)$</a:t>
                </a:r>
                <a:r>
                  <a:rPr sz="2400" b="0">
                    <a:solidFill>
                      <a:srgbClr val="111827"/>
                    </a:solidFill>
                    <a:latin typeface="Arial"/>
                  </a:rPr>
                  <a:t>   (B) </a:t>
                </a:r>
                <a:r>
                  <a:rPr lang="en-IN" sz="2400">
                    <a:solidFill>
                      <a:srgbClr val="111827"/>
                    </a:solidFill>
                    <a:latin typeface="Cambria Math" panose="02040503050406030204" pitchFamily="18" charset="0"/>
                  </a:rPr>
                  <a:t>$(-\infty,3]$</a:t>
                </a:r>
                <a:r>
                  <a:rPr sz="2400" b="0">
                    <a:solidFill>
                      <a:srgbClr val="111827"/>
                    </a:solidFill>
                    <a:latin typeface="Arial"/>
                  </a:rPr>
                  <a:t>   (C) </a:t>
                </a:r>
                <a:r>
                  <a:rPr lang="en-IN" sz="2400">
                    <a:solidFill>
                      <a:srgbClr val="111827"/>
                    </a:solidFill>
                    <a:latin typeface="Cambria Math" panose="02040503050406030204" pitchFamily="18" charset="0"/>
                  </a:rPr>
                  <a:t>$(3,\infty)$</a:t>
                </a:r>
                <a:r>
                  <a:rPr sz="2400" b="0">
                    <a:solidFill>
                      <a:srgbClr val="111827"/>
                    </a:solidFill>
                    <a:latin typeface="Arial"/>
                  </a:rPr>
                  <a:t>   (D) </a:t>
                </a:r>
                <a:r>
                  <a:rPr lang="en-IN" sz="2400">
                    <a:solidFill>
                      <a:srgbClr val="111827"/>
                    </a:solidFill>
                    <a:latin typeface="Cambria Math" panose="02040503050406030204" pitchFamily="18" charset="0"/>
                  </a:rPr>
                  <a:t>$[9,\infty)$</a:t>
                </a:r>
                <a:endParaRPr sz="2400">
                  <a:solidFill>
                    <a:srgbClr val="111827"/>
                  </a:solidFill>
                </a:endParaRPr>
              </a:p>
            </p:txBody>
          </p:sp>
        </mc:Fallback>
      </mc:AlternateContent>
      <p:sp>
        <p:nvSpPr>
          <p:cNvPr id="5" name="Rectangle 4"/>
          <p:cNvSpPr/>
          <p:nvPr/>
        </p:nvSpPr>
        <p:spPr>
          <a:xfrm>
            <a:off x="731520" y="4324095"/>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Monotonicity of a function, Quadratic inequality (discriminant condition)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Strictly increasing on </a:t>
                </a:r>
                <a14:m>
                  <m:oMath xmlns:m="http://schemas.openxmlformats.org/officeDocument/2006/math">
                    <m:r>
                      <m:rPr>
                        <m:scr m:val="double-struck"/>
                        <m:sty m:val="p"/>
                      </m:rPr>
                      <a:rPr lang="en-IN" sz="2400">
                        <a:solidFill>
                          <a:srgbClr val="78350F"/>
                        </a:solidFill>
                        <a:latin typeface="Cambria Math" panose="02040503050406030204" pitchFamily="18" charset="0"/>
                      </a:rPr>
                      <m:t>R</m:t>
                    </m:r>
                  </m:oMath>
                </a14:m>
                <a:r>
                  <a:rPr sz="2400" b="0">
                    <a:solidFill>
                      <a:srgbClr val="78350F"/>
                    </a:solidFill>
                    <a:latin typeface="Arial"/>
                  </a:rPr>
                  <a:t> needs </a:t>
                </a:r>
                <a14:m>
                  <m:oMath xmlns:m="http://schemas.openxmlformats.org/officeDocument/2006/math">
                    <m:sSup>
                      <m:e>
                        <m:r>
                          <a:rPr lang="en-IN" sz="2400" i="1">
                            <a:solidFill>
                              <a:srgbClr val="78350F"/>
                            </a:solidFill>
                            <a:latin typeface="Cambria Math" panose="02040503050406030204" pitchFamily="18" charset="0"/>
                          </a:rPr>
                          <m:t>𝑓</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 for all </a:t>
                </a:r>
                <a14:m>
                  <m:oMath xmlns:m="http://schemas.openxmlformats.org/officeDocument/2006/math">
                    <m:r>
                      <a:rPr lang="en-IN" sz="2400" i="1">
                        <a:solidFill>
                          <a:srgbClr val="78350F"/>
                        </a:solidFill>
                        <a:latin typeface="Cambria Math" panose="02040503050406030204" pitchFamily="18" charset="0"/>
                      </a:rPr>
                      <m:t>𝑥</m:t>
                    </m:r>
                  </m:oMath>
                </a14:m>
                <a:r>
                  <a:rPr sz="2400" b="0">
                    <a:solidFill>
                      <a:srgbClr val="78350F"/>
                    </a:solidFill>
                    <a:latin typeface="Arial"/>
                  </a:rPr>
                  <a:t> (zeros allowed if isolated), i.e. the quadratic </a:t>
                </a:r>
                <a14:m>
                  <m:oMath xmlns:m="http://schemas.openxmlformats.org/officeDocument/2006/math">
                    <m:sSup>
                      <m:e>
                        <m:r>
                          <a:rPr lang="en-IN" sz="2400" i="1">
                            <a:solidFill>
                              <a:srgbClr val="78350F"/>
                            </a:solidFill>
                            <a:latin typeface="Cambria Math" panose="02040503050406030204" pitchFamily="18" charset="0"/>
                          </a:rPr>
                          <m:t>𝑓</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 has </a:t>
                </a:r>
                <a14:m>
                  <m:oMath xmlns:m="http://schemas.openxmlformats.org/officeDocument/2006/math">
                    <m:r>
                      <a:rPr lang="en-IN" sz="2400" i="1">
                        <a:solidFill>
                          <a:srgbClr val="78350F"/>
                        </a:solidFill>
                        <a:latin typeface="Cambria Math" panose="02040503050406030204" pitchFamily="18" charset="0"/>
                      </a:rPr>
                      <m:t>𝐷</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Strictly increasing on </a:t>
                </a:r>
                <a:r>
                  <a:rPr lang="en-IN" sz="2400">
                    <a:solidFill>
                      <a:srgbClr val="78350F"/>
                    </a:solidFill>
                    <a:latin typeface="Cambria Math" panose="02040503050406030204" pitchFamily="18" charset="0"/>
                  </a:rPr>
                  <a:t>$\mathbb R$</a:t>
                </a:r>
                <a:r>
                  <a:rPr sz="2400" b="0">
                    <a:solidFill>
                      <a:srgbClr val="78350F"/>
                    </a:solidFill>
                    <a:latin typeface="Arial"/>
                  </a:rPr>
                  <a:t> needs </a:t>
                </a:r>
                <a:r>
                  <a:rPr lang="en-IN" sz="2400">
                    <a:solidFill>
                      <a:srgbClr val="78350F"/>
                    </a:solidFill>
                    <a:latin typeface="Cambria Math" panose="02040503050406030204" pitchFamily="18" charset="0"/>
                  </a:rPr>
                  <a:t>$f'(x)\ge0$</a:t>
                </a:r>
                <a:r>
                  <a:rPr sz="2400" b="0">
                    <a:solidFill>
                      <a:srgbClr val="78350F"/>
                    </a:solidFill>
                    <a:latin typeface="Arial"/>
                  </a:rPr>
                  <a:t> for all </a:t>
                </a:r>
                <a:r>
                  <a:rPr lang="en-IN" sz="2400">
                    <a:solidFill>
                      <a:srgbClr val="78350F"/>
                    </a:solidFill>
                    <a:latin typeface="Cambria Math" panose="02040503050406030204" pitchFamily="18" charset="0"/>
                  </a:rPr>
                  <a:t>$x$</a:t>
                </a:r>
                <a:r>
                  <a:rPr sz="2400" b="0">
                    <a:solidFill>
                      <a:srgbClr val="78350F"/>
                    </a:solidFill>
                    <a:latin typeface="Arial"/>
                  </a:rPr>
                  <a:t> (zeros allowed if isolated), i.e. the quadratic </a:t>
                </a:r>
                <a:r>
                  <a:rPr lang="en-IN" sz="2400">
                    <a:solidFill>
                      <a:srgbClr val="78350F"/>
                    </a:solidFill>
                    <a:latin typeface="Cambria Math" panose="02040503050406030204" pitchFamily="18" charset="0"/>
                  </a:rPr>
                  <a:t>$f'$</a:t>
                </a:r>
                <a:r>
                  <a:rPr sz="2400" b="0">
                    <a:solidFill>
                      <a:srgbClr val="78350F"/>
                    </a:solidFill>
                    <a:latin typeface="Arial"/>
                  </a:rPr>
                  <a:t> has </a:t>
                </a:r>
                <a:r>
                  <a:rPr lang="en-IN" sz="2400">
                    <a:solidFill>
                      <a:srgbClr val="78350F"/>
                    </a:solidFill>
                    <a:latin typeface="Cambria Math" panose="02040503050406030204" pitchFamily="18" charset="0"/>
                  </a:rPr>
                  <a:t>$D\le0$</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Given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Differentiating: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to be strictly increasing on </a:t>
                </a:r>
                <a14:m>
                  <m:oMath xmlns:m="http://schemas.openxmlformats.org/officeDocument/2006/math">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 the derivative must be non-negative for all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 (it may vanish only at isolated points).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coefficient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for all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iff the discriminant </a:t>
                </a:r>
                <a14:m>
                  <m:oMath xmlns:m="http://schemas.openxmlformats.org/officeDocument/2006/math">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Given </a:t>
                </a:r>
                <a:r>
                  <a:rPr lang="en-IN" sz="2400">
                    <a:solidFill>
                      <a:srgbClr val="111827"/>
                    </a:solidFill>
                    <a:latin typeface="Cambria Math" panose="02040503050406030204" pitchFamily="18" charset="0"/>
                  </a:rPr>
                  <a:t>$f(x)=x^3+3x^2+ax+7$</a:t>
                </a:r>
                <a:r>
                  <a:rPr sz="2400" b="0">
                    <a:solidFill>
                      <a:srgbClr val="111827"/>
                    </a:solidFill>
                    <a:latin typeface="Arial"/>
                  </a:rPr>
                  <a:t>. Differentiating: </a:t>
                </a:r>
                <a:r>
                  <a:rPr lang="en-IN" sz="2400">
                    <a:solidFill>
                      <a:srgbClr val="111827"/>
                    </a:solidFill>
                    <a:latin typeface="Cambria Math" panose="02040503050406030204" pitchFamily="18" charset="0"/>
                  </a:rPr>
                  <a:t>$f'(x)=3x^2+6x+a$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$f$</a:t>
                </a:r>
                <a:r>
                  <a:rPr sz="2400" b="0">
                    <a:solidFill>
                      <a:srgbClr val="111827"/>
                    </a:solidFill>
                    <a:latin typeface="Arial"/>
                  </a:rPr>
                  <a:t> to be strictly increasing on </a:t>
                </a:r>
                <a:r>
                  <a:rPr lang="en-IN" sz="2400">
                    <a:solidFill>
                      <a:srgbClr val="111827"/>
                    </a:solidFill>
                    <a:latin typeface="Cambria Math" panose="02040503050406030204" pitchFamily="18" charset="0"/>
                  </a:rPr>
                  <a:t>$\mathbb R$</a:t>
                </a:r>
                <a:r>
                  <a:rPr sz="2400" b="0">
                    <a:solidFill>
                      <a:srgbClr val="111827"/>
                    </a:solidFill>
                    <a:latin typeface="Arial"/>
                  </a:rPr>
                  <a:t>, the derivative must be non-negative for all </a:t>
                </a:r>
                <a:r>
                  <a:rPr lang="en-IN" sz="2400">
                    <a:solidFill>
                      <a:srgbClr val="111827"/>
                    </a:solidFill>
                    <a:latin typeface="Cambria Math" panose="02040503050406030204" pitchFamily="18" charset="0"/>
                  </a:rPr>
                  <a:t>$x\in\mathbb R$</a:t>
                </a:r>
                <a:r>
                  <a:rPr sz="2400" b="0">
                    <a:solidFill>
                      <a:srgbClr val="111827"/>
                    </a:solidFill>
                    <a:latin typeface="Arial"/>
                  </a:rPr>
                  <a:t> (it may vanish only at isolated points).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coefficient of </a:t>
                </a:r>
                <a:r>
                  <a:rPr lang="en-IN" sz="2400">
                    <a:solidFill>
                      <a:srgbClr val="111827"/>
                    </a:solidFill>
                    <a:latin typeface="Cambria Math" panose="02040503050406030204" pitchFamily="18" charset="0"/>
                  </a:rPr>
                  <a:t>$x^2$</a:t>
                </a:r>
                <a:r>
                  <a:rPr sz="2400" b="0">
                    <a:solidFill>
                      <a:srgbClr val="111827"/>
                    </a:solidFill>
                    <a:latin typeface="Arial"/>
                  </a:rPr>
                  <a:t> is </a:t>
                </a:r>
                <a:r>
                  <a:rPr lang="en-IN" sz="2400">
                    <a:solidFill>
                      <a:srgbClr val="111827"/>
                    </a:solidFill>
                    <a:latin typeface="Cambria Math" panose="02040503050406030204" pitchFamily="18" charset="0"/>
                  </a:rPr>
                  <a:t>$3&gt;0$</a:t>
                </a:r>
                <a:r>
                  <a:rPr sz="2400" b="0">
                    <a:solidFill>
                      <a:srgbClr val="111827"/>
                    </a:solidFill>
                    <a:latin typeface="Arial"/>
                  </a:rPr>
                  <a:t>, so </a:t>
                </a:r>
                <a:r>
                  <a:rPr lang="en-IN" sz="2400">
                    <a:solidFill>
                      <a:srgbClr val="111827"/>
                    </a:solidFill>
                    <a:latin typeface="Cambria Math" panose="02040503050406030204" pitchFamily="18" charset="0"/>
                  </a:rPr>
                  <a:t>$3x^2+6x+a\ge0$</a:t>
                </a:r>
                <a:r>
                  <a:rPr sz="2400" b="0">
                    <a:solidFill>
                      <a:srgbClr val="111827"/>
                    </a:solidFill>
                    <a:latin typeface="Arial"/>
                  </a:rPr>
                  <a:t> for all </a:t>
                </a:r>
                <a:r>
                  <a:rPr lang="en-IN" sz="2400">
                    <a:solidFill>
                      <a:srgbClr val="111827"/>
                    </a:solidFill>
                    <a:latin typeface="Cambria Math" panose="02040503050406030204" pitchFamily="18" charset="0"/>
                  </a:rPr>
                  <a:t>$x$</a:t>
                </a:r>
                <a:r>
                  <a:rPr sz="2400" b="0">
                    <a:solidFill>
                      <a:srgbClr val="111827"/>
                    </a:solidFill>
                    <a:latin typeface="Arial"/>
                  </a:rPr>
                  <a:t> iff the discriminant </a:t>
                </a:r>
                <a:r>
                  <a:rPr lang="en-IN" sz="2400">
                    <a:solidFill>
                      <a:srgbClr val="111827"/>
                    </a:solidFill>
                    <a:latin typeface="Cambria Math" panose="02040503050406030204" pitchFamily="18" charset="0"/>
                  </a:rPr>
                  <a:t>$D\le0$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6</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Thus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$D=6^2-4(3)(a)\le0\Rightarrow36-12a\le0\Rightarrow12a\ge36\Rightarrow a\ge3$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Thus </a:t>
                </a:r>
                <a:r>
                  <a:rPr lang="en-IN" sz="2400">
                    <a:solidFill>
                      <a:srgbClr val="111827"/>
                    </a:solidFill>
                    <a:latin typeface="Cambria Math" panose="02040503050406030204" pitchFamily="18" charset="0"/>
                  </a:rPr>
                  <a:t>$a\in[3,\infty)$</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14:m>
                  <m:oMath xmlns:m="http://schemas.openxmlformats.org/officeDocument/2006/math">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3</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r>
                  <a:rPr lang="en-IN" sz="2800">
                    <a:solidFill>
                      <a:srgbClr val="15803D"/>
                    </a:solidFill>
                    <a:latin typeface="Cambria Math" panose="02040503050406030204" pitchFamily="18" charset="0"/>
                  </a:rPr>
                  <a:t>$[3,\infty)$</a:t>
                </a:r>
                <a:endParaRPr sz="2800">
                  <a:solidFill>
                    <a:srgbClr val="15803D"/>
                  </a:solidFill>
                </a:endParaRPr>
              </a:p>
            </p:txBody>
          </p:sp>
        </mc:Fallback>
      </mc:AlternateContent>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Complete the square: </a:t>
                </a:r>
                <a14:m>
                  <m:oMath xmlns:m="http://schemas.openxmlformats.org/officeDocument/2006/math">
                    <m:sSup>
                      <m:e>
                        <m:r>
                          <a:rPr lang="en-IN" sz="2400" i="1">
                            <a:solidFill>
                              <a:srgbClr val="78350F"/>
                            </a:solidFill>
                            <a:latin typeface="Cambria Math" panose="02040503050406030204" pitchFamily="18" charset="0"/>
                          </a:rPr>
                          <m:t>𝑓</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has minimum value </a:t>
                </a:r>
                <a14:m>
                  <m:oMath xmlns:m="http://schemas.openxmlformats.org/officeDocument/2006/math">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Complete the square: </a:t>
                </a:r>
                <a:r>
                  <a:rPr lang="en-IN" sz="2400">
                    <a:solidFill>
                      <a:srgbClr val="78350F"/>
                    </a:solidFill>
                    <a:latin typeface="Cambria Math" panose="02040503050406030204" pitchFamily="18" charset="0"/>
                  </a:rPr>
                  <a:t>$f'(x)=3(x+1)^2+(a-3)$</a:t>
                </a:r>
                <a:r>
                  <a:rPr sz="2400" b="0">
                    <a:solidFill>
                      <a:srgbClr val="78350F"/>
                    </a:solidFill>
                    <a:latin typeface="Arial"/>
                  </a:rPr>
                  <a:t> has minimum value </a:t>
                </a:r>
                <a:r>
                  <a:rPr lang="en-IN" sz="2400">
                    <a:solidFill>
                      <a:srgbClr val="78350F"/>
                    </a:solidFill>
                    <a:latin typeface="Cambria Math" panose="02040503050406030204" pitchFamily="18" charset="0"/>
                  </a:rPr>
                  <a:t>$a-3$</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Its minimum over </a:t>
                </a:r>
                <a14:m>
                  <m:oMath xmlns:m="http://schemas.openxmlformats.org/officeDocument/2006/math">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attained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for all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iff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vanishes only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still strictly increasing. Hence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$f'(x)=3x^2+6x+a=3(x+1)^2+a-3$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Its minimum over </a:t>
                </a:r>
                <a:r>
                  <a:rPr lang="en-IN" sz="2400">
                    <a:solidFill>
                      <a:srgbClr val="111827"/>
                    </a:solidFill>
                    <a:latin typeface="Cambria Math" panose="02040503050406030204" pitchFamily="18" charset="0"/>
                  </a:rPr>
                  <a:t>$\mathbb R$</a:t>
                </a:r>
                <a:r>
                  <a:rPr sz="2400" b="0">
                    <a:solidFill>
                      <a:srgbClr val="111827"/>
                    </a:solidFill>
                    <a:latin typeface="Arial"/>
                  </a:rPr>
                  <a:t> is </a:t>
                </a:r>
                <a:r>
                  <a:rPr lang="en-IN" sz="2400">
                    <a:solidFill>
                      <a:srgbClr val="111827"/>
                    </a:solidFill>
                    <a:latin typeface="Cambria Math" panose="02040503050406030204" pitchFamily="18" charset="0"/>
                  </a:rPr>
                  <a:t>$a-3$</a:t>
                </a:r>
                <a:r>
                  <a:rPr sz="2400" b="0">
                    <a:solidFill>
                      <a:srgbClr val="111827"/>
                    </a:solidFill>
                    <a:latin typeface="Arial"/>
                  </a:rPr>
                  <a:t>, attained at </a:t>
                </a:r>
                <a:r>
                  <a:rPr lang="en-IN" sz="2400">
                    <a:solidFill>
                      <a:srgbClr val="111827"/>
                    </a:solidFill>
                    <a:latin typeface="Cambria Math" panose="02040503050406030204" pitchFamily="18" charset="0"/>
                  </a:rPr>
                  <a:t>$x=-1$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$f'\ge0$</a:t>
                </a:r>
                <a:r>
                  <a:rPr sz="2400" b="0">
                    <a:solidFill>
                      <a:srgbClr val="111827"/>
                    </a:solidFill>
                    <a:latin typeface="Arial"/>
                  </a:rPr>
                  <a:t> for all </a:t>
                </a:r>
                <a:r>
                  <a:rPr lang="en-IN" sz="2400">
                    <a:solidFill>
                      <a:srgbClr val="111827"/>
                    </a:solidFill>
                    <a:latin typeface="Cambria Math" panose="02040503050406030204" pitchFamily="18" charset="0"/>
                  </a:rPr>
                  <a:t>$x$</a:t>
                </a:r>
                <a:r>
                  <a:rPr sz="2400" b="0">
                    <a:solidFill>
                      <a:srgbClr val="111827"/>
                    </a:solidFill>
                    <a:latin typeface="Arial"/>
                  </a:rPr>
                  <a:t> iff </a:t>
                </a:r>
                <a:r>
                  <a:rPr lang="en-IN" sz="2400">
                    <a:solidFill>
                      <a:srgbClr val="111827"/>
                    </a:solidFill>
                    <a:latin typeface="Cambria Math" panose="02040503050406030204" pitchFamily="18" charset="0"/>
                  </a:rPr>
                  <a:t>$a-3\ge0$</a:t>
                </a:r>
                <a:r>
                  <a:rPr sz="2400" b="0">
                    <a:solidFill>
                      <a:srgbClr val="111827"/>
                    </a:solidFill>
                    <a:latin typeface="Arial"/>
                  </a:rPr>
                  <a:t>, i.e. </a:t>
                </a:r>
                <a:r>
                  <a:rPr lang="en-IN" sz="2400">
                    <a:solidFill>
                      <a:srgbClr val="111827"/>
                    </a:solidFill>
                    <a:latin typeface="Cambria Math" panose="02040503050406030204" pitchFamily="18" charset="0"/>
                  </a:rPr>
                  <a:t>$a\ge3$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$a=3$</a:t>
                </a:r>
                <a:r>
                  <a:rPr sz="2400" b="0">
                    <a:solidFill>
                      <a:srgbClr val="111827"/>
                    </a:solidFill>
                    <a:latin typeface="Arial"/>
                  </a:rPr>
                  <a:t>, </a:t>
                </a:r>
                <a:r>
                  <a:rPr lang="en-IN" sz="2400">
                    <a:solidFill>
                      <a:srgbClr val="111827"/>
                    </a:solidFill>
                    <a:latin typeface="Cambria Math" panose="02040503050406030204" pitchFamily="18" charset="0"/>
                  </a:rPr>
                  <a:t>$f'=3(x+1)^2$</a:t>
                </a:r>
                <a:r>
                  <a:rPr sz="2400" b="0">
                    <a:solidFill>
                      <a:srgbClr val="111827"/>
                    </a:solidFill>
                    <a:latin typeface="Arial"/>
                  </a:rPr>
                  <a:t> vanishes only at </a:t>
                </a:r>
                <a:r>
                  <a:rPr lang="en-IN" sz="2400">
                    <a:solidFill>
                      <a:srgbClr val="111827"/>
                    </a:solidFill>
                    <a:latin typeface="Cambria Math" panose="02040503050406030204" pitchFamily="18" charset="0"/>
                  </a:rPr>
                  <a:t>$x=-1$</a:t>
                </a:r>
                <a:r>
                  <a:rPr sz="2400" b="0">
                    <a:solidFill>
                      <a:srgbClr val="111827"/>
                    </a:solidFill>
                    <a:latin typeface="Arial"/>
                  </a:rPr>
                  <a:t>, so </a:t>
                </a:r>
                <a:r>
                  <a:rPr lang="en-IN" sz="2400">
                    <a:solidFill>
                      <a:srgbClr val="111827"/>
                    </a:solidFill>
                    <a:latin typeface="Cambria Math" panose="02040503050406030204" pitchFamily="18" charset="0"/>
                  </a:rPr>
                  <a:t>$f$</a:t>
                </a:r>
                <a:r>
                  <a:rPr sz="2400" b="0">
                    <a:solidFill>
                      <a:srgbClr val="111827"/>
                    </a:solidFill>
                    <a:latin typeface="Arial"/>
                  </a:rPr>
                  <a:t> is still strictly increasing. Hence </a:t>
                </a:r>
                <a:r>
                  <a:rPr lang="en-IN" sz="2400">
                    <a:solidFill>
                      <a:srgbClr val="111827"/>
                    </a:solidFill>
                    <a:latin typeface="Cambria Math" panose="02040503050406030204" pitchFamily="18" charset="0"/>
                  </a:rPr>
                  <a:t>$a\in[3,\infty)$</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14:m>
                  <m:oMath xmlns:m="http://schemas.openxmlformats.org/officeDocument/2006/math">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3</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r>
                  <a:rPr lang="en-IN" sz="2800">
                    <a:solidFill>
                      <a:srgbClr val="15803D"/>
                    </a:solidFill>
                    <a:latin typeface="Cambria Math" panose="02040503050406030204" pitchFamily="18" charset="0"/>
                  </a:rPr>
                  <a:t>$[3,\infty)$</a:t>
                </a:r>
                <a:endParaRPr sz="2800">
                  <a:solidFill>
                    <a:srgbClr val="15803D"/>
                  </a:solidFill>
                </a:endParaRPr>
              </a:p>
            </p:txBody>
          </p:sp>
        </mc:Fallback>
      </mc:AlternateContent>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𝑎</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for all real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iff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differentiable function is strictly increasing iff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is not identically zero on any interval; so the equality case is included.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cubic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oMath>
                </a14:m>
                <a:r>
                  <a:rPr sz="2400" b="0">
                    <a:solidFill>
                      <a:srgbClr val="111827"/>
                    </a:solidFill>
                    <a:latin typeface="Arial"/>
                  </a:rPr>
                  <a:t> is increasing on </a:t>
                </a:r>
                <a14:m>
                  <m:oMath xmlns:m="http://schemas.openxmlformats.org/officeDocument/2006/math">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 iff </a:t>
                </a:r>
                <a14:m>
                  <m:oMath xmlns:m="http://schemas.openxmlformats.org/officeDocument/2006/math">
                    <m:sSup>
                      <m:e>
                        <m:r>
                          <a:rPr lang="en-IN" sz="2400" i="1">
                            <a:solidFill>
                              <a:srgbClr val="111827"/>
                            </a:solidFill>
                            <a:latin typeface="Cambria Math" panose="02040503050406030204" pitchFamily="18" charset="0"/>
                          </a:rPr>
                          <m:t>𝑝</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𝑞</m:t>
                    </m:r>
                  </m:oMath>
                </a14:m>
                <a:r>
                  <a:rPr sz="2400" b="0">
                    <a:solidFill>
                      <a:srgbClr val="111827"/>
                    </a:solidFill>
                    <a:latin typeface="Arial"/>
                  </a:rPr>
                  <a:t>. Here </a:t>
                </a:r>
                <a14:m>
                  <m:oMath xmlns:m="http://schemas.openxmlformats.org/officeDocument/2006/math">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𝑎</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cubic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is the cubic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it is increasing iff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(the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coefficient is non-negative).</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$ax^2+bx+c\ge0$</a:t>
                </a:r>
                <a:r>
                  <a:rPr sz="2400" b="0">
                    <a:solidFill>
                      <a:srgbClr val="111827"/>
                    </a:solidFill>
                    <a:latin typeface="Arial"/>
                  </a:rPr>
                  <a:t> for all real </a:t>
                </a:r>
                <a:r>
                  <a:rPr lang="en-IN" sz="2400">
                    <a:solidFill>
                      <a:srgbClr val="111827"/>
                    </a:solidFill>
                    <a:latin typeface="Cambria Math" panose="02040503050406030204" pitchFamily="18" charset="0"/>
                  </a:rPr>
                  <a:t>$x$</a:t>
                </a:r>
                <a:r>
                  <a:rPr sz="2400" b="0">
                    <a:solidFill>
                      <a:srgbClr val="111827"/>
                    </a:solidFill>
                    <a:latin typeface="Arial"/>
                  </a:rPr>
                  <a:t> iff </a:t>
                </a:r>
                <a:r>
                  <a:rPr lang="en-IN" sz="2400">
                    <a:solidFill>
                      <a:srgbClr val="111827"/>
                    </a:solidFill>
                    <a:latin typeface="Cambria Math" panose="02040503050406030204" pitchFamily="18" charset="0"/>
                  </a:rPr>
                  <a:t>$a&gt;0$</a:t>
                </a:r>
                <a:r>
                  <a:rPr sz="2400" b="0">
                    <a:solidFill>
                      <a:srgbClr val="111827"/>
                    </a:solidFill>
                    <a:latin typeface="Arial"/>
                  </a:rPr>
                  <a:t> and </a:t>
                </a:r>
                <a:r>
                  <a:rPr lang="en-IN" sz="2400">
                    <a:solidFill>
                      <a:srgbClr val="111827"/>
                    </a:solidFill>
                    <a:latin typeface="Cambria Math" panose="02040503050406030204" pitchFamily="18" charset="0"/>
                  </a:rPr>
                  <a:t>$b^2-4ac\le0$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differentiable function is strictly increasing iff </a:t>
                </a:r>
                <a:r>
                  <a:rPr lang="en-IN" sz="2400">
                    <a:solidFill>
                      <a:srgbClr val="111827"/>
                    </a:solidFill>
                    <a:latin typeface="Cambria Math" panose="02040503050406030204" pitchFamily="18" charset="0"/>
                  </a:rPr>
                  <a:t>$f'\ge0$</a:t>
                </a:r>
                <a:r>
                  <a:rPr sz="2400" b="0">
                    <a:solidFill>
                      <a:srgbClr val="111827"/>
                    </a:solidFill>
                    <a:latin typeface="Arial"/>
                  </a:rPr>
                  <a:t> and </a:t>
                </a:r>
                <a:r>
                  <a:rPr lang="en-IN" sz="2400">
                    <a:solidFill>
                      <a:srgbClr val="111827"/>
                    </a:solidFill>
                    <a:latin typeface="Cambria Math" panose="02040503050406030204" pitchFamily="18" charset="0"/>
                  </a:rPr>
                  <a:t>$f'$</a:t>
                </a:r>
                <a:r>
                  <a:rPr sz="2400" b="0">
                    <a:solidFill>
                      <a:srgbClr val="111827"/>
                    </a:solidFill>
                    <a:latin typeface="Arial"/>
                  </a:rPr>
                  <a:t> is not identically zero on any interval; so the equality case is included.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cubic </a:t>
                </a:r>
                <a:r>
                  <a:rPr lang="en-IN" sz="2400">
                    <a:solidFill>
                      <a:srgbClr val="111827"/>
                    </a:solidFill>
                    <a:latin typeface="Cambria Math" panose="02040503050406030204" pitchFamily="18" charset="0"/>
                  </a:rPr>
                  <a:t>$x^3+px^2+qx+r$</a:t>
                </a:r>
                <a:r>
                  <a:rPr sz="2400" b="0">
                    <a:solidFill>
                      <a:srgbClr val="111827"/>
                    </a:solidFill>
                    <a:latin typeface="Arial"/>
                  </a:rPr>
                  <a:t> is increasing on </a:t>
                </a:r>
                <a:r>
                  <a:rPr lang="en-IN" sz="2400">
                    <a:solidFill>
                      <a:srgbClr val="111827"/>
                    </a:solidFill>
                    <a:latin typeface="Cambria Math" panose="02040503050406030204" pitchFamily="18" charset="0"/>
                  </a:rPr>
                  <a:t>$\mathbb R$</a:t>
                </a:r>
                <a:r>
                  <a:rPr sz="2400" b="0">
                    <a:solidFill>
                      <a:srgbClr val="111827"/>
                    </a:solidFill>
                    <a:latin typeface="Arial"/>
                  </a:rPr>
                  <a:t> iff </a:t>
                </a:r>
                <a:r>
                  <a:rPr lang="en-IN" sz="2400">
                    <a:solidFill>
                      <a:srgbClr val="111827"/>
                    </a:solidFill>
                    <a:latin typeface="Cambria Math" panose="02040503050406030204" pitchFamily="18" charset="0"/>
                  </a:rPr>
                  <a:t>$p^2\le3q$</a:t>
                </a:r>
                <a:r>
                  <a:rPr sz="2400" b="0">
                    <a:solidFill>
                      <a:srgbClr val="111827"/>
                    </a:solidFill>
                    <a:latin typeface="Arial"/>
                  </a:rPr>
                  <a:t>. Here </a:t>
                </a:r>
                <a:r>
                  <a:rPr lang="en-IN" sz="2400">
                    <a:solidFill>
                      <a:srgbClr val="111827"/>
                    </a:solidFill>
                    <a:latin typeface="Cambria Math" panose="02040503050406030204" pitchFamily="18" charset="0"/>
                  </a:rPr>
                  <a:t>$9\le3a$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cubic </a:t>
                </a:r>
                <a:r>
                  <a:rPr lang="en-IN" sz="2400">
                    <a:solidFill>
                      <a:srgbClr val="111827"/>
                    </a:solidFill>
                    <a:latin typeface="Cambria Math" panose="02040503050406030204" pitchFamily="18" charset="0"/>
                  </a:rPr>
                  <a:t>$x^3+3x^2+ax+7$</a:t>
                </a:r>
                <a:r>
                  <a:rPr sz="2400" b="0">
                    <a:solidFill>
                      <a:srgbClr val="111827"/>
                    </a:solidFill>
                    <a:latin typeface="Arial"/>
                  </a:rPr>
                  <a:t> is the cubic </a:t>
                </a:r>
                <a:r>
                  <a:rPr lang="en-IN" sz="2400">
                    <a:solidFill>
                      <a:srgbClr val="111827"/>
                    </a:solidFill>
                    <a:latin typeface="Cambria Math" panose="02040503050406030204" pitchFamily="18" charset="0"/>
                  </a:rPr>
                  <a:t>$(x+1)^3+(a-3)(x+1)+(9-a)$</a:t>
                </a:r>
                <a:r>
                  <a:rPr sz="2400" b="0">
                    <a:solidFill>
                      <a:srgbClr val="111827"/>
                    </a:solidFill>
                    <a:latin typeface="Arial"/>
                  </a:rPr>
                  <a:t>, so it is increasing iff </a:t>
                </a:r>
                <a:r>
                  <a:rPr lang="en-IN" sz="2400">
                    <a:solidFill>
                      <a:srgbClr val="111827"/>
                    </a:solidFill>
                    <a:latin typeface="Cambria Math" panose="02040503050406030204" pitchFamily="18" charset="0"/>
                  </a:rPr>
                  <a:t>$a\ge3$</a:t>
                </a:r>
                <a:r>
                  <a:rPr sz="2400" b="0">
                    <a:solidFill>
                      <a:srgbClr val="111827"/>
                    </a:solidFill>
                    <a:latin typeface="Arial"/>
                  </a:rPr>
                  <a:t> (the </a:t>
                </a:r>
                <a:r>
                  <a:rPr lang="en-IN" sz="2400">
                    <a:solidFill>
                      <a:srgbClr val="111827"/>
                    </a:solidFill>
                    <a:latin typeface="Cambria Math" panose="02040503050406030204" pitchFamily="18" charset="0"/>
                  </a:rPr>
                  <a:t>$(x+1)$</a:t>
                </a:r>
                <a:r>
                  <a:rPr sz="2400" b="0">
                    <a:solidFill>
                      <a:srgbClr val="111827"/>
                    </a:solidFill>
                    <a:latin typeface="Arial"/>
                  </a:rPr>
                  <a:t> coefficient is non-negative).</a:t>
                </a:r>
                <a:endParaRPr sz="2400">
                  <a:solidFill>
                    <a:srgbClr val="111827"/>
                  </a:solidFill>
                </a:endParaRPr>
              </a:p>
            </p:txBody>
          </p:sp>
        </mc:Fallback>
      </mc:AlternateContent>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18135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value of the limit </a:t>
                </a:r>
                <a14:m>
                  <m:oMath xmlns:m="http://schemas.openxmlformats.org/officeDocument/2006/math">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Sub>
                    <m:sSup>
                      <m:e>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den>
                            </m:f>
                          </m:e>
                        </m:d>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where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denotes the greatest integer function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denotes the fractional part function,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(C)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(D) does not exist</a:t>
                </a:r>
                <a:endParaRPr sz="2400">
                  <a:solidFill>
                    <a:srgbClr val="111827"/>
                  </a:solidFill>
                </a:endParaRPr>
              </a:p>
            </p:txBody>
          </p:sp>
        </mc:Choice>
        <mc:Fallback>
          <p:sp>
            <p:nvSpPr>
              <p:cNvPr id="4" name="Rounded Rectangle 3"/>
              <p:cNvSpPr/>
              <p:nvPr/>
            </p:nvSpPr>
            <p:spPr>
              <a:xfrm>
                <a:off x="731520" y="1280160"/>
                <a:ext cx="10725912" cy="218135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value of the limit </a:t>
                </a:r>
                <a:r>
                  <a:rPr lang="en-IN" sz="2400">
                    <a:solidFill>
                      <a:srgbClr val="111827"/>
                    </a:solidFill>
                    <a:latin typeface="Cambria Math" panose="02040503050406030204" pitchFamily="18" charset="0"/>
                  </a:rPr>
                  <a:t>$\lim_{x\to0}\left([x]+\frac{\sin x}{\{x\}}\right)^2$</a:t>
                </a:r>
                <a:r>
                  <a:rPr sz="2400" b="0">
                    <a:solidFill>
                      <a:srgbClr val="111827"/>
                    </a:solidFill>
                    <a:latin typeface="Arial"/>
                  </a:rPr>
                  <a:t>, where </a:t>
                </a:r>
                <a:r>
                  <a:rPr lang="en-IN" sz="2400">
                    <a:solidFill>
                      <a:srgbClr val="111827"/>
                    </a:solidFill>
                    <a:latin typeface="Cambria Math" panose="02040503050406030204" pitchFamily="18" charset="0"/>
                  </a:rPr>
                  <a:t>$[x]$</a:t>
                </a:r>
                <a:r>
                  <a:rPr sz="2400" b="0">
                    <a:solidFill>
                      <a:srgbClr val="111827"/>
                    </a:solidFill>
                    <a:latin typeface="Arial"/>
                  </a:rPr>
                  <a:t> denotes the greatest integer function and </a:t>
                </a:r>
                <a:r>
                  <a:rPr lang="en-IN" sz="2400">
                    <a:solidFill>
                      <a:srgbClr val="111827"/>
                    </a:solidFill>
                    <a:latin typeface="Cambria Math" panose="02040503050406030204" pitchFamily="18" charset="0"/>
                  </a:rPr>
                  <a:t>$\{x\}$</a:t>
                </a:r>
                <a:r>
                  <a:rPr sz="2400" b="0">
                    <a:solidFill>
                      <a:srgbClr val="111827"/>
                    </a:solidFill>
                    <a:latin typeface="Arial"/>
                  </a:rPr>
                  <a:t> denotes the fractional part function,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$0$</a:t>
                </a:r>
                <a:r>
                  <a:rPr sz="2400" b="0">
                    <a:solidFill>
                      <a:srgbClr val="111827"/>
                    </a:solidFill>
                    <a:latin typeface="Arial"/>
                  </a:rPr>
                  <a:t>   (B) </a:t>
                </a:r>
                <a:r>
                  <a:rPr lang="en-IN" sz="2400">
                    <a:solidFill>
                      <a:srgbClr val="111827"/>
                    </a:solidFill>
                    <a:latin typeface="Cambria Math" panose="02040503050406030204" pitchFamily="18" charset="0"/>
                  </a:rPr>
                  <a:t>$1$</a:t>
                </a:r>
                <a:r>
                  <a:rPr sz="2400" b="0">
                    <a:solidFill>
                      <a:srgbClr val="111827"/>
                    </a:solidFill>
                    <a:latin typeface="Arial"/>
                  </a:rPr>
                  <a:t>   (C) </a:t>
                </a:r>
                <a:r>
                  <a:rPr lang="en-IN" sz="2400">
                    <a:solidFill>
                      <a:srgbClr val="111827"/>
                    </a:solidFill>
                    <a:latin typeface="Cambria Math" panose="02040503050406030204" pitchFamily="18" charset="0"/>
                  </a:rPr>
                  <a:t>$-1$</a:t>
                </a:r>
                <a:r>
                  <a:rPr sz="2400" b="0">
                    <a:solidFill>
                      <a:srgbClr val="111827"/>
                    </a:solidFill>
                    <a:latin typeface="Arial"/>
                  </a:rPr>
                  <a:t>   (D) does not exist</a:t>
                </a:r>
                <a:endParaRPr sz="2400">
                  <a:solidFill>
                    <a:srgbClr val="111827"/>
                  </a:solidFill>
                </a:endParaRPr>
              </a:p>
            </p:txBody>
          </p:sp>
        </mc:Fallback>
      </mc:AlternateContent>
      <p:sp>
        <p:nvSpPr>
          <p:cNvPr id="5" name="Rectangle 4"/>
          <p:cNvSpPr/>
          <p:nvPr/>
        </p:nvSpPr>
        <p:spPr>
          <a:xfrm>
            <a:off x="731520" y="3690111"/>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Limits involving greatest integer and fractional part functions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Evaluate the right-hand and left-hand limits separately, using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oMath>
                </a14:m>
                <a:r>
                  <a:rPr sz="2400" b="0">
                    <a:solidFill>
                      <a:srgbClr val="78350F"/>
                    </a:solidFill>
                    <a:latin typeface="Arial"/>
                  </a:rPr>
                  <a:t> for small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&gt;</m:t>
                    </m:r>
                    <m:r>
                      <a:rPr lang="en-IN" sz="2400" i="1">
                        <a:solidFill>
                          <a:srgbClr val="78350F"/>
                        </a:solidFill>
                        <a:latin typeface="Cambria Math" panose="02040503050406030204" pitchFamily="18" charset="0"/>
                      </a:rPr>
                      <m:t>0</m:t>
                    </m:r>
                  </m:oMath>
                </a14:m>
                <a:r>
                  <a:rPr sz="2400" b="0">
                    <a:solidFill>
                      <a:srgbClr val="78350F"/>
                    </a:solidFill>
                    <a:latin typeface="Arial"/>
                  </a:rPr>
                  <a:t> and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for small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&lt;</m:t>
                    </m:r>
                    <m:r>
                      <a:rPr lang="en-IN" sz="2400" i="1">
                        <a:solidFill>
                          <a:srgbClr val="78350F"/>
                        </a:solidFill>
                        <a:latin typeface="Cambria Math" panose="02040503050406030204" pitchFamily="18" charset="0"/>
                      </a:rPr>
                      <m:t>0</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Evaluate the right-hand and left-hand limits separately, using </a:t>
                </a:r>
                <a:r>
                  <a:rPr lang="en-IN" sz="2400">
                    <a:solidFill>
                      <a:srgbClr val="78350F"/>
                    </a:solidFill>
                    <a:latin typeface="Cambria Math" panose="02040503050406030204" pitchFamily="18" charset="0"/>
                  </a:rPr>
                  <a:t>$[x]=0,\{x\}=x$</a:t>
                </a:r>
                <a:r>
                  <a:rPr sz="2400" b="0">
                    <a:solidFill>
                      <a:srgbClr val="78350F"/>
                    </a:solidFill>
                    <a:latin typeface="Arial"/>
                  </a:rPr>
                  <a:t> for small </a:t>
                </a:r>
                <a:r>
                  <a:rPr lang="en-IN" sz="2400">
                    <a:solidFill>
                      <a:srgbClr val="78350F"/>
                    </a:solidFill>
                    <a:latin typeface="Cambria Math" panose="02040503050406030204" pitchFamily="18" charset="0"/>
                  </a:rPr>
                  <a:t>$x&gt;0$</a:t>
                </a:r>
                <a:r>
                  <a:rPr sz="2400" b="0">
                    <a:solidFill>
                      <a:srgbClr val="78350F"/>
                    </a:solidFill>
                    <a:latin typeface="Arial"/>
                  </a:rPr>
                  <a:t> and </a:t>
                </a:r>
                <a:r>
                  <a:rPr lang="en-IN" sz="2400">
                    <a:solidFill>
                      <a:srgbClr val="78350F"/>
                    </a:solidFill>
                    <a:latin typeface="Cambria Math" panose="02040503050406030204" pitchFamily="18" charset="0"/>
                  </a:rPr>
                  <a:t>$[x]=-1,\{x\}=x+1$</a:t>
                </a:r>
                <a:r>
                  <a:rPr sz="2400" b="0">
                    <a:solidFill>
                      <a:srgbClr val="78350F"/>
                    </a:solidFill>
                    <a:latin typeface="Arial"/>
                  </a:rPr>
                  <a:t> for small </a:t>
                </a:r>
                <a:r>
                  <a:rPr lang="en-IN" sz="2400">
                    <a:solidFill>
                      <a:srgbClr val="78350F"/>
                    </a:solidFill>
                    <a:latin typeface="Cambria Math" panose="02040503050406030204" pitchFamily="18" charset="0"/>
                  </a:rPr>
                  <a:t>$x&lt;0$</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limit has to be examined from the right and from the left of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Right-hand limit: as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So </a:t>
                </a:r>
                <a14:m>
                  <m:oMath xmlns:m="http://schemas.openxmlformats.org/officeDocument/2006/math">
                    <m:r>
                      <m:rPr>
                        <m:nor/>
                      </m:rPr>
                      <a:rPr lang="en-IN" sz="2400" i="1">
                        <a:solidFill>
                          <a:srgbClr val="111827"/>
                        </a:solidFill>
                        <a:latin typeface="Cambria Math" panose="02040503050406030204" pitchFamily="18" charset="0"/>
                      </a:rPr>
                      <m:t>𝑅𝐻𝐿</m:t>
                    </m:r>
                    <m:r>
                      <m:rPr>
                        <m:sty m:val="p"/>
                      </m:rPr>
                      <a:rPr lang="en-IN" sz="2400">
                        <a:solidFill>
                          <a:srgbClr val="111827"/>
                        </a:solidFill>
                        <a:latin typeface="Cambria Math" panose="02040503050406030204" pitchFamily="18" charset="0"/>
                      </a:rPr>
                      <m:t>=</m:t>
                    </m:r>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0</m:t>
                            </m:r>
                          </m:e>
                          <m:sup>
                            <m:r>
                              <m:rPr>
                                <m:sty m:val="p"/>
                              </m:rPr>
                              <a:rPr lang="en-IN" sz="2400">
                                <a:solidFill>
                                  <a:srgbClr val="111827"/>
                                </a:solidFill>
                                <a:latin typeface="Cambria Math" panose="02040503050406030204" pitchFamily="18" charset="0"/>
                              </a:rPr>
                              <m:t>+</m:t>
                            </m:r>
                          </m:sup>
                        </m:sSup>
                      </m:sub>
                    </m:sSub>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𝑥</m:t>
                                </m:r>
                              </m:den>
                            </m:f>
                          </m:e>
                        </m:d>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Sub>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m:rPr>
                        <m:nor/>
                      </m:rPr>
                      <a:rPr lang="en-IN" sz="2400" i="1">
                        <a:solidFill>
                          <a:srgbClr val="111827"/>
                        </a:solidFill>
                        <a:latin typeface="Cambria Math" panose="02040503050406030204" pitchFamily="18" charset="0"/>
                      </a:rPr>
                      <m:t>𝑅𝐻𝐿</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limit has to be examined from the right and from the left of </a:t>
                </a:r>
                <a:r>
                  <a:rPr lang="en-IN" sz="2400">
                    <a:solidFill>
                      <a:srgbClr val="111827"/>
                    </a:solidFill>
                    <a:latin typeface="Cambria Math" panose="02040503050406030204" pitchFamily="18" charset="0"/>
                  </a:rPr>
                  <a:t>$x=0$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Right-hand limit: as </a:t>
                </a:r>
                <a:r>
                  <a:rPr lang="en-IN" sz="2400">
                    <a:solidFill>
                      <a:srgbClr val="111827"/>
                    </a:solidFill>
                    <a:latin typeface="Cambria Math" panose="02040503050406030204" pitchFamily="18" charset="0"/>
                  </a:rPr>
                  <a:t>$x\to0^+$</a:t>
                </a:r>
                <a:r>
                  <a:rPr sz="2400" b="0">
                    <a:solidFill>
                      <a:srgbClr val="111827"/>
                    </a:solidFill>
                    <a:latin typeface="Arial"/>
                  </a:rPr>
                  <a:t>, </a:t>
                </a:r>
                <a:r>
                  <a:rPr lang="en-IN" sz="2400">
                    <a:solidFill>
                      <a:srgbClr val="111827"/>
                    </a:solidFill>
                    <a:latin typeface="Cambria Math" panose="02040503050406030204" pitchFamily="18" charset="0"/>
                  </a:rPr>
                  <a:t>$[x]=0$</a:t>
                </a:r>
                <a:r>
                  <a:rPr sz="2400" b="0">
                    <a:solidFill>
                      <a:srgbClr val="111827"/>
                    </a:solidFill>
                    <a:latin typeface="Arial"/>
                  </a:rPr>
                  <a:t> and </a:t>
                </a:r>
                <a:r>
                  <a:rPr lang="en-IN" sz="2400">
                    <a:solidFill>
                      <a:srgbClr val="111827"/>
                    </a:solidFill>
                    <a:latin typeface="Cambria Math" panose="02040503050406030204" pitchFamily="18" charset="0"/>
                  </a:rPr>
                  <a:t>$\{x\}=x-[x]=x$</a:t>
                </a:r>
                <a:r>
                  <a:rPr sz="2400" b="0">
                    <a:solidFill>
                      <a:srgbClr val="111827"/>
                    </a:solidFill>
                    <a:latin typeface="Arial"/>
                  </a:rPr>
                  <a:t>. So </a:t>
                </a:r>
                <a:r>
                  <a:rPr lang="en-IN" sz="2400">
                    <a:solidFill>
                      <a:srgbClr val="111827"/>
                    </a:solidFill>
                    <a:latin typeface="Cambria Math" panose="02040503050406030204" pitchFamily="18" charset="0"/>
                  </a:rPr>
                  <a:t>$\text{RHL}=\lim_{x\to0^+}\left(0+\frac{\sin x}x\right)^2$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$\lim_{x\to0}\frac{\sin x}x=1$</a:t>
                </a:r>
                <a:r>
                  <a:rPr sz="2400" b="0">
                    <a:solidFill>
                      <a:srgbClr val="111827"/>
                    </a:solidFill>
                    <a:latin typeface="Arial"/>
                  </a:rPr>
                  <a:t>, </a:t>
                </a:r>
                <a:r>
                  <a:rPr lang="en-IN" sz="2400">
                    <a:solidFill>
                      <a:srgbClr val="111827"/>
                    </a:solidFill>
                    <a:latin typeface="Cambria Math" panose="02040503050406030204" pitchFamily="18" charset="0"/>
                  </a:rPr>
                  <a:t>$\text{RHL}=(1)^2=1$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Left-hand limit: as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r>
                      <m:rPr>
                        <m:nor/>
                      </m:rPr>
                      <a:rPr lang="en-IN" sz="2400" i="1">
                        <a:solidFill>
                          <a:srgbClr val="111827"/>
                        </a:solidFill>
                        <a:latin typeface="Cambria Math" panose="02040503050406030204" pitchFamily="18" charset="0"/>
                      </a:rPr>
                      <m:t>𝐿𝐻𝐿</m:t>
                    </m:r>
                    <m:r>
                      <m:rPr>
                        <m:sty m:val="p"/>
                      </m:rPr>
                      <a:rPr lang="en-IN" sz="2400">
                        <a:solidFill>
                          <a:srgbClr val="111827"/>
                        </a:solidFill>
                        <a:latin typeface="Cambria Math" panose="02040503050406030204" pitchFamily="18" charset="0"/>
                      </a:rPr>
                      <m:t>=</m:t>
                    </m:r>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0</m:t>
                            </m:r>
                          </m:e>
                          <m:sup>
                            <m:r>
                              <m:rPr>
                                <m:sty m:val="p"/>
                              </m:rPr>
                              <a:rPr lang="en-IN" sz="2400">
                                <a:solidFill>
                                  <a:srgbClr val="111827"/>
                                </a:solidFill>
                                <a:latin typeface="Cambria Math" panose="02040503050406030204" pitchFamily="18" charset="0"/>
                              </a:rPr>
                              <m:t>−</m:t>
                            </m:r>
                          </m:sup>
                        </m:sSup>
                      </m:sub>
                    </m:sSub>
                    <m:sSup>
                      <m:e>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m:rPr>
                        <m:nor/>
                      </m:rPr>
                      <a:rPr lang="en-IN" sz="2400" i="1">
                        <a:solidFill>
                          <a:srgbClr val="111827"/>
                        </a:solidFill>
                        <a:latin typeface="Cambria Math" panose="02040503050406030204" pitchFamily="18" charset="0"/>
                      </a:rPr>
                      <m:t>𝐿𝐻𝐿</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r>
                      <m:rPr>
                        <m:nor/>
                      </m:rPr>
                      <a:rPr lang="en-IN" sz="2400" i="1">
                        <a:solidFill>
                          <a:srgbClr val="111827"/>
                        </a:solidFill>
                        <a:latin typeface="Cambria Math" panose="02040503050406030204" pitchFamily="18" charset="0"/>
                      </a:rPr>
                      <m:t>𝑅𝐻𝐿</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𝐿𝐻𝐿</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the limit exists and equals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Left-hand limit: as </a:t>
                </a:r>
                <a:r>
                  <a:rPr lang="en-IN" sz="2400">
                    <a:solidFill>
                      <a:srgbClr val="111827"/>
                    </a:solidFill>
                    <a:latin typeface="Cambria Math" panose="02040503050406030204" pitchFamily="18" charset="0"/>
                  </a:rPr>
                  <a:t>$x\to0^-$</a:t>
                </a:r>
                <a:r>
                  <a:rPr sz="2400" b="0">
                    <a:solidFill>
                      <a:srgbClr val="111827"/>
                    </a:solidFill>
                    <a:latin typeface="Arial"/>
                  </a:rPr>
                  <a:t>, </a:t>
                </a:r>
                <a:r>
                  <a:rPr lang="en-IN" sz="2400">
                    <a:solidFill>
                      <a:srgbClr val="111827"/>
                    </a:solidFill>
                    <a:latin typeface="Cambria Math" panose="02040503050406030204" pitchFamily="18" charset="0"/>
                  </a:rPr>
                  <a:t>$[x]=-1$</a:t>
                </a:r>
                <a:r>
                  <a:rPr sz="2400" b="0">
                    <a:solidFill>
                      <a:srgbClr val="111827"/>
                    </a:solidFill>
                    <a:latin typeface="Arial"/>
                  </a:rPr>
                  <a:t> and </a:t>
                </a:r>
                <a:r>
                  <a:rPr lang="en-IN" sz="2400">
                    <a:solidFill>
                      <a:srgbClr val="111827"/>
                    </a:solidFill>
                    <a:latin typeface="Cambria Math" panose="02040503050406030204" pitchFamily="18" charset="0"/>
                  </a:rPr>
                  <a:t>$\{x\}=x-[x]=x+1$</a:t>
                </a:r>
                <a:r>
                  <a:rPr sz="2400" b="0">
                    <a:solidFill>
                      <a:srgbClr val="111827"/>
                    </a:solidFill>
                    <a:latin typeface="Arial"/>
                  </a:rPr>
                  <a:t>. So </a:t>
                </a:r>
                <a:r>
                  <a:rPr lang="en-IN" sz="2400">
                    <a:solidFill>
                      <a:srgbClr val="111827"/>
                    </a:solidFill>
                    <a:latin typeface="Cambria Math" panose="02040503050406030204" pitchFamily="18" charset="0"/>
                  </a:rPr>
                  <a:t>$\text{LHL}=\lim_{x\to0^-}\left(-1+\frac{\sin x}{x+1}\right)^2$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As </a:t>
                </a:r>
                <a:r>
                  <a:rPr lang="en-IN" sz="2400">
                    <a:solidFill>
                      <a:srgbClr val="111827"/>
                    </a:solidFill>
                    <a:latin typeface="Cambria Math" panose="02040503050406030204" pitchFamily="18" charset="0"/>
                  </a:rPr>
                  <a:t>$x\to0^-$</a:t>
                </a:r>
                <a:r>
                  <a:rPr sz="2400" b="0">
                    <a:solidFill>
                      <a:srgbClr val="111827"/>
                    </a:solidFill>
                    <a:latin typeface="Arial"/>
                  </a:rPr>
                  <a:t>, </a:t>
                </a:r>
                <a:r>
                  <a:rPr lang="en-IN" sz="2400">
                    <a:solidFill>
                      <a:srgbClr val="111827"/>
                    </a:solidFill>
                    <a:latin typeface="Cambria Math" panose="02040503050406030204" pitchFamily="18" charset="0"/>
                  </a:rPr>
                  <a:t>$\sin x\to0$</a:t>
                </a:r>
                <a:r>
                  <a:rPr sz="2400" b="0">
                    <a:solidFill>
                      <a:srgbClr val="111827"/>
                    </a:solidFill>
                    <a:latin typeface="Arial"/>
                  </a:rPr>
                  <a:t> and </a:t>
                </a:r>
                <a:r>
                  <a:rPr lang="en-IN" sz="2400">
                    <a:solidFill>
                      <a:srgbClr val="111827"/>
                    </a:solidFill>
                    <a:latin typeface="Cambria Math" panose="02040503050406030204" pitchFamily="18" charset="0"/>
                  </a:rPr>
                  <a:t>$x+1\to1$</a:t>
                </a:r>
                <a:r>
                  <a:rPr sz="2400" b="0">
                    <a:solidFill>
                      <a:srgbClr val="111827"/>
                    </a:solidFill>
                    <a:latin typeface="Arial"/>
                  </a:rPr>
                  <a:t>, so </a:t>
                </a:r>
                <a:r>
                  <a:rPr lang="en-IN" sz="2400">
                    <a:solidFill>
                      <a:srgbClr val="111827"/>
                    </a:solidFill>
                    <a:latin typeface="Cambria Math" panose="02040503050406030204" pitchFamily="18" charset="0"/>
                  </a:rPr>
                  <a:t>$\frac{\sin x}{x+1}\to0$</a:t>
                </a:r>
                <a:r>
                  <a:rPr sz="2400" b="0">
                    <a:solidFill>
                      <a:srgbClr val="111827"/>
                    </a:solidFill>
                    <a:latin typeface="Arial"/>
                  </a:rPr>
                  <a:t> and </a:t>
                </a:r>
                <a:r>
                  <a:rPr lang="en-IN" sz="2400">
                    <a:solidFill>
                      <a:srgbClr val="111827"/>
                    </a:solidFill>
                    <a:latin typeface="Cambria Math" panose="02040503050406030204" pitchFamily="18" charset="0"/>
                  </a:rPr>
                  <a:t>$\text{LHL}=(-1+0)^2=1$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$\text{RHL}=\text{LHL}=1$</a:t>
                </a:r>
                <a:r>
                  <a:rPr sz="2400" b="0">
                    <a:solidFill>
                      <a:srgbClr val="111827"/>
                    </a:solidFill>
                    <a:latin typeface="Arial"/>
                  </a:rPr>
                  <a:t>, the limit exists and equals </a:t>
                </a:r>
                <a:r>
                  <a:rPr lang="en-IN" sz="2400">
                    <a:solidFill>
                      <a:srgbClr val="111827"/>
                    </a:solidFill>
                    <a:latin typeface="Cambria Math" panose="02040503050406030204" pitchFamily="18" charset="0"/>
                  </a:rPr>
                  <a:t>$1$</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1</a:t>
            </a:r>
            <a:endParaRPr sz="2800">
              <a:solidFill>
                <a:srgbClr val="15803D"/>
              </a:solidFill>
            </a:endParaRP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Near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for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are discontinuous at every integer; always take one-sided limits there.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Squaring (or an even function of the inner expression) can make unequal one-sided limits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agree: the inner expression here tends to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from the right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from the left, but the square is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on both sides.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Identity: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Near </a:t>
                </a:r>
                <a:r>
                  <a:rPr lang="en-IN" sz="2400">
                    <a:solidFill>
                      <a:srgbClr val="111827"/>
                    </a:solidFill>
                    <a:latin typeface="Cambria Math" panose="02040503050406030204" pitchFamily="18" charset="0"/>
                  </a:rPr>
                  <a:t>$0$</a:t>
                </a:r>
                <a:r>
                  <a:rPr sz="2400" b="0">
                    <a:solidFill>
                      <a:srgbClr val="111827"/>
                    </a:solidFill>
                    <a:latin typeface="Arial"/>
                  </a:rPr>
                  <a:t>: for </a:t>
                </a:r>
                <a:r>
                  <a:rPr lang="en-IN" sz="2400">
                    <a:solidFill>
                      <a:srgbClr val="111827"/>
                    </a:solidFill>
                    <a:latin typeface="Cambria Math" panose="02040503050406030204" pitchFamily="18" charset="0"/>
                  </a:rPr>
                  <a:t>$0&lt;x&lt;1$</a:t>
                </a:r>
                <a:r>
                  <a:rPr sz="2400" b="0">
                    <a:solidFill>
                      <a:srgbClr val="111827"/>
                    </a:solidFill>
                    <a:latin typeface="Arial"/>
                  </a:rPr>
                  <a:t>, </a:t>
                </a:r>
                <a:r>
                  <a:rPr lang="en-IN" sz="2400">
                    <a:solidFill>
                      <a:srgbClr val="111827"/>
                    </a:solidFill>
                    <a:latin typeface="Cambria Math" panose="02040503050406030204" pitchFamily="18" charset="0"/>
                  </a:rPr>
                  <a:t>$[x]=0$</a:t>
                </a:r>
                <a:r>
                  <a:rPr sz="2400" b="0">
                    <a:solidFill>
                      <a:srgbClr val="111827"/>
                    </a:solidFill>
                    <a:latin typeface="Arial"/>
                  </a:rPr>
                  <a:t> and </a:t>
                </a:r>
                <a:r>
                  <a:rPr lang="en-IN" sz="2400">
                    <a:solidFill>
                      <a:srgbClr val="111827"/>
                    </a:solidFill>
                    <a:latin typeface="Cambria Math" panose="02040503050406030204" pitchFamily="18" charset="0"/>
                  </a:rPr>
                  <a:t>$\{x\}=x$</a:t>
                </a:r>
                <a:r>
                  <a:rPr sz="2400" b="0">
                    <a:solidFill>
                      <a:srgbClr val="111827"/>
                    </a:solidFill>
                    <a:latin typeface="Arial"/>
                  </a:rPr>
                  <a:t>; for </a:t>
                </a:r>
                <a:r>
                  <a:rPr lang="en-IN" sz="2400">
                    <a:solidFill>
                      <a:srgbClr val="111827"/>
                    </a:solidFill>
                    <a:latin typeface="Cambria Math" panose="02040503050406030204" pitchFamily="18" charset="0"/>
                  </a:rPr>
                  <a:t>$-1&lt;x&lt;0$</a:t>
                </a:r>
                <a:r>
                  <a:rPr sz="2400" b="0">
                    <a:solidFill>
                      <a:srgbClr val="111827"/>
                    </a:solidFill>
                    <a:latin typeface="Arial"/>
                  </a:rPr>
                  <a:t>, </a:t>
                </a:r>
                <a:r>
                  <a:rPr lang="en-IN" sz="2400">
                    <a:solidFill>
                      <a:srgbClr val="111827"/>
                    </a:solidFill>
                    <a:latin typeface="Cambria Math" panose="02040503050406030204" pitchFamily="18" charset="0"/>
                  </a:rPr>
                  <a:t>$[x]=-1$</a:t>
                </a:r>
                <a:r>
                  <a:rPr sz="2400" b="0">
                    <a:solidFill>
                      <a:srgbClr val="111827"/>
                    </a:solidFill>
                    <a:latin typeface="Arial"/>
                  </a:rPr>
                  <a:t> and </a:t>
                </a:r>
                <a:r>
                  <a:rPr lang="en-IN" sz="2400">
                    <a:solidFill>
                      <a:srgbClr val="111827"/>
                    </a:solidFill>
                    <a:latin typeface="Cambria Math" panose="02040503050406030204" pitchFamily="18" charset="0"/>
                  </a:rPr>
                  <a:t>$\{x\}=x+1$</a:t>
                </a:r>
                <a:r>
                  <a:rPr sz="2400" b="0">
                    <a:solidFill>
                      <a:srgbClr val="111827"/>
                    </a:solidFill>
                    <a:latin typeface="Arial"/>
                  </a:rPr>
                  <a:t> (so </a:t>
                </a:r>
                <a:r>
                  <a:rPr lang="en-IN" sz="2400">
                    <a:solidFill>
                      <a:srgbClr val="111827"/>
                    </a:solidFill>
                    <a:latin typeface="Cambria Math" panose="02040503050406030204" pitchFamily="18" charset="0"/>
                  </a:rPr>
                  <a:t>$\{x\}\to1^-$</a:t>
                </a:r>
                <a:r>
                  <a:rPr sz="2400" b="0">
                    <a:solidFill>
                      <a:srgbClr val="111827"/>
                    </a:solidFill>
                    <a:latin typeface="Arial"/>
                  </a:rPr>
                  <a:t> as </a:t>
                </a:r>
                <a:r>
                  <a:rPr lang="en-IN" sz="2400">
                    <a:solidFill>
                      <a:srgbClr val="111827"/>
                    </a:solidFill>
                    <a:latin typeface="Cambria Math" panose="02040503050406030204" pitchFamily="18" charset="0"/>
                  </a:rPr>
                  <a:t>$x\to0^-$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a:t>
                </a:r>
                <a:r>
                  <a:rPr sz="2400" b="0">
                    <a:solidFill>
                      <a:srgbClr val="111827"/>
                    </a:solidFill>
                    <a:latin typeface="Arial"/>
                  </a:rPr>
                  <a:t> and </a:t>
                </a:r>
                <a:r>
                  <a:rPr lang="en-IN" sz="2400">
                    <a:solidFill>
                      <a:srgbClr val="111827"/>
                    </a:solidFill>
                    <a:latin typeface="Cambria Math" panose="02040503050406030204" pitchFamily="18" charset="0"/>
                  </a:rPr>
                  <a:t>$\{x\}$</a:t>
                </a:r>
                <a:r>
                  <a:rPr sz="2400" b="0">
                    <a:solidFill>
                      <a:srgbClr val="111827"/>
                    </a:solidFill>
                    <a:latin typeface="Arial"/>
                  </a:rPr>
                  <a:t> are discontinuous at every integer; always take one-sided limits there.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Squaring (or an even function of the inner expression) can make unequal one-sided limits </a:t>
                </a:r>
                <a:r>
                  <a:rPr lang="en-IN" sz="2400">
                    <a:solidFill>
                      <a:srgbClr val="111827"/>
                    </a:solidFill>
                    <a:latin typeface="Cambria Math" panose="02040503050406030204" pitchFamily="18" charset="0"/>
                  </a:rPr>
                  <a:t>$+1$</a:t>
                </a:r>
                <a:r>
                  <a:rPr sz="2400" b="0">
                    <a:solidFill>
                      <a:srgbClr val="111827"/>
                    </a:solidFill>
                    <a:latin typeface="Arial"/>
                  </a:rPr>
                  <a:t> and </a:t>
                </a:r>
                <a:r>
                  <a:rPr lang="en-IN" sz="2400">
                    <a:solidFill>
                      <a:srgbClr val="111827"/>
                    </a:solidFill>
                    <a:latin typeface="Cambria Math" panose="02040503050406030204" pitchFamily="18" charset="0"/>
                  </a:rPr>
                  <a:t>$-1$</a:t>
                </a:r>
                <a:r>
                  <a:rPr sz="2400" b="0">
                    <a:solidFill>
                      <a:srgbClr val="111827"/>
                    </a:solidFill>
                    <a:latin typeface="Arial"/>
                  </a:rPr>
                  <a:t> agree: the inner expression here tends to </a:t>
                </a:r>
                <a:r>
                  <a:rPr lang="en-IN" sz="2400">
                    <a:solidFill>
                      <a:srgbClr val="111827"/>
                    </a:solidFill>
                    <a:latin typeface="Cambria Math" panose="02040503050406030204" pitchFamily="18" charset="0"/>
                  </a:rPr>
                  <a:t>$+1$</a:t>
                </a:r>
                <a:r>
                  <a:rPr sz="2400" b="0">
                    <a:solidFill>
                      <a:srgbClr val="111827"/>
                    </a:solidFill>
                    <a:latin typeface="Arial"/>
                  </a:rPr>
                  <a:t> from the right and </a:t>
                </a:r>
                <a:r>
                  <a:rPr lang="en-IN" sz="2400">
                    <a:solidFill>
                      <a:srgbClr val="111827"/>
                    </a:solidFill>
                    <a:latin typeface="Cambria Math" panose="02040503050406030204" pitchFamily="18" charset="0"/>
                  </a:rPr>
                  <a:t>$-1$</a:t>
                </a:r>
                <a:r>
                  <a:rPr sz="2400" b="0">
                    <a:solidFill>
                      <a:srgbClr val="111827"/>
                    </a:solidFill>
                    <a:latin typeface="Arial"/>
                  </a:rPr>
                  <a:t> from the left, but the square is </a:t>
                </a:r>
                <a:r>
                  <a:rPr lang="en-IN" sz="2400">
                    <a:solidFill>
                      <a:srgbClr val="111827"/>
                    </a:solidFill>
                    <a:latin typeface="Cambria Math" panose="02040503050406030204" pitchFamily="18" charset="0"/>
                  </a:rPr>
                  <a:t>$1$</a:t>
                </a:r>
                <a:r>
                  <a:rPr sz="2400" b="0">
                    <a:solidFill>
                      <a:srgbClr val="111827"/>
                    </a:solidFill>
                    <a:latin typeface="Arial"/>
                  </a:rPr>
                  <a:t> on both sides.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Identity: </a:t>
                </a:r>
                <a:r>
                  <a:rPr lang="en-IN" sz="2400">
                    <a:solidFill>
                      <a:srgbClr val="111827"/>
                    </a:solidFill>
                    <a:latin typeface="Cambria Math" panose="02040503050406030204" pitchFamily="18" charset="0"/>
                  </a:rPr>
                  <a:t>$x=[x]+\{x\}$</a:t>
                </a:r>
                <a:r>
                  <a:rPr sz="2400" b="0">
                    <a:solidFill>
                      <a:srgbClr val="111827"/>
                    </a:solidFill>
                    <a:latin typeface="Arial"/>
                  </a:rPr>
                  <a:t>, with </a:t>
                </a:r>
                <a:r>
                  <a:rPr lang="en-IN" sz="2400">
                    <a:solidFill>
                      <a:srgbClr val="111827"/>
                    </a:solidFill>
                    <a:latin typeface="Cambria Math" panose="02040503050406030204" pitchFamily="18" charset="0"/>
                  </a:rPr>
                  <a:t>$0\le\{x\}&lt;1$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77850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denote the area of a rectangle inscribed in a semicircle of fixed radius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represents half the length of the rectangle's base side lying along the diameter of the semicircle. Let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be the value of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for which the area of the rectangle is maximized. If Lagrange's Mean Value Theorem is applied to the function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on the interval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the value of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that satisfies </a:t>
                </a:r>
                <a14:m>
                  <m:oMath xmlns:m="http://schemas.openxmlformats.org/officeDocument/2006/math">
                    <m:sSup>
                      <m:e>
                        <m:r>
                          <a:rPr lang="en-IN" sz="2400" i="1">
                            <a:solidFill>
                              <a:srgbClr val="111827"/>
                            </a:solidFill>
                            <a:latin typeface="Cambria Math" panose="02040503050406030204" pitchFamily="18" charset="0"/>
                          </a:rPr>
                          <m:t>𝐴</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num>
                      <m:den>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den>
                    </m:f>
                  </m:oMath>
                </a14:m>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𝑅</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(B)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𝑅</m:t>
                        </m:r>
                      </m:num>
                      <m:den>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oMath>
                </a14:m>
                <a:r>
                  <a:rPr sz="2400" b="0">
                    <a:solidFill>
                      <a:srgbClr val="111827"/>
                    </a:solidFill>
                    <a:latin typeface="Arial"/>
                  </a:rPr>
                  <a:t>   (C)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𝑅</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(D) None of these</a:t>
                </a:r>
                <a:endParaRPr sz="2400">
                  <a:solidFill>
                    <a:srgbClr val="111827"/>
                  </a:solidFill>
                </a:endParaRPr>
              </a:p>
            </p:txBody>
          </p:sp>
        </mc:Choice>
        <mc:Fallback>
          <p:sp>
            <p:nvSpPr>
              <p:cNvPr id="4" name="Rounded Rectangle 3"/>
              <p:cNvSpPr/>
              <p:nvPr/>
            </p:nvSpPr>
            <p:spPr>
              <a:xfrm>
                <a:off x="731520" y="1280160"/>
                <a:ext cx="10725912" cy="377850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$A(x)$</a:t>
                </a:r>
                <a:r>
                  <a:rPr sz="2400" b="0">
                    <a:solidFill>
                      <a:srgbClr val="111827"/>
                    </a:solidFill>
                    <a:latin typeface="Arial"/>
                  </a:rPr>
                  <a:t> denote the area of a rectangle inscribed in a semicircle of fixed radius </a:t>
                </a:r>
                <a:r>
                  <a:rPr lang="en-IN" sz="2400">
                    <a:solidFill>
                      <a:srgbClr val="111827"/>
                    </a:solidFill>
                    <a:latin typeface="Cambria Math" panose="02040503050406030204" pitchFamily="18" charset="0"/>
                  </a:rPr>
                  <a:t>$R$</a:t>
                </a:r>
                <a:r>
                  <a:rPr sz="2400" b="0">
                    <a:solidFill>
                      <a:srgbClr val="111827"/>
                    </a:solidFill>
                    <a:latin typeface="Arial"/>
                  </a:rPr>
                  <a:t>, where </a:t>
                </a:r>
                <a:r>
                  <a:rPr lang="en-IN" sz="2400">
                    <a:solidFill>
                      <a:srgbClr val="111827"/>
                    </a:solidFill>
                    <a:latin typeface="Cambria Math" panose="02040503050406030204" pitchFamily="18" charset="0"/>
                  </a:rPr>
                  <a:t>$x$</a:t>
                </a:r>
                <a:r>
                  <a:rPr sz="2400" b="0">
                    <a:solidFill>
                      <a:srgbClr val="111827"/>
                    </a:solidFill>
                    <a:latin typeface="Arial"/>
                  </a:rPr>
                  <a:t> represents half the length of the rectangle's base side lying along the diameter of the semicircle. Let </a:t>
                </a:r>
                <a:r>
                  <a:rPr lang="en-IN" sz="2400">
                    <a:solidFill>
                      <a:srgbClr val="111827"/>
                    </a:solidFill>
                    <a:latin typeface="Cambria Math" panose="02040503050406030204" pitchFamily="18" charset="0"/>
                  </a:rPr>
                  <a:t>$x_1$</a:t>
                </a:r>
                <a:r>
                  <a:rPr sz="2400" b="0">
                    <a:solidFill>
                      <a:srgbClr val="111827"/>
                    </a:solidFill>
                    <a:latin typeface="Arial"/>
                  </a:rPr>
                  <a:t> be the value of </a:t>
                </a:r>
                <a:r>
                  <a:rPr lang="en-IN" sz="2400">
                    <a:solidFill>
                      <a:srgbClr val="111827"/>
                    </a:solidFill>
                    <a:latin typeface="Cambria Math" panose="02040503050406030204" pitchFamily="18" charset="0"/>
                  </a:rPr>
                  <a:t>$x$</a:t>
                </a:r>
                <a:r>
                  <a:rPr sz="2400" b="0">
                    <a:solidFill>
                      <a:srgbClr val="111827"/>
                    </a:solidFill>
                    <a:latin typeface="Arial"/>
                  </a:rPr>
                  <a:t> for which the area of the rectangle is maximized. If Lagrange's Mean Value Theorem is applied to the function </a:t>
                </a:r>
                <a:r>
                  <a:rPr lang="en-IN" sz="2400">
                    <a:solidFill>
                      <a:srgbClr val="111827"/>
                    </a:solidFill>
                    <a:latin typeface="Cambria Math" panose="02040503050406030204" pitchFamily="18" charset="0"/>
                  </a:rPr>
                  <a:t>$A(x)$</a:t>
                </a:r>
                <a:r>
                  <a:rPr sz="2400" b="0">
                    <a:solidFill>
                      <a:srgbClr val="111827"/>
                    </a:solidFill>
                    <a:latin typeface="Arial"/>
                  </a:rPr>
                  <a:t> on the interval </a:t>
                </a:r>
                <a:r>
                  <a:rPr lang="en-IN" sz="2400">
                    <a:solidFill>
                      <a:srgbClr val="111827"/>
                    </a:solidFill>
                    <a:latin typeface="Cambria Math" panose="02040503050406030204" pitchFamily="18" charset="0"/>
                  </a:rPr>
                  <a:t>$[0,x_1]$</a:t>
                </a:r>
                <a:r>
                  <a:rPr sz="2400" b="0">
                    <a:solidFill>
                      <a:srgbClr val="111827"/>
                    </a:solidFill>
                    <a:latin typeface="Arial"/>
                  </a:rPr>
                  <a:t>, then the value of </a:t>
                </a:r>
                <a:r>
                  <a:rPr lang="en-IN" sz="2400">
                    <a:solidFill>
                      <a:srgbClr val="111827"/>
                    </a:solidFill>
                    <a:latin typeface="Cambria Math" panose="02040503050406030204" pitchFamily="18" charset="0"/>
                  </a:rPr>
                  <a:t>$c\in(0,x_1)$</a:t>
                </a:r>
                <a:r>
                  <a:rPr sz="2400" b="0">
                    <a:solidFill>
                      <a:srgbClr val="111827"/>
                    </a:solidFill>
                    <a:latin typeface="Arial"/>
                  </a:rPr>
                  <a:t> that satisfies </a:t>
                </a:r>
                <a:r>
                  <a:rPr lang="en-IN" sz="2400">
                    <a:solidFill>
                      <a:srgbClr val="111827"/>
                    </a:solidFill>
                    <a:latin typeface="Cambria Math" panose="02040503050406030204" pitchFamily="18" charset="0"/>
                  </a:rPr>
                  <a:t>$A'(c)=\frac{A(x_1)-A(0)}{x_1-0}$</a:t>
                </a:r>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$\frac R2$</a:t>
                </a:r>
                <a:r>
                  <a:rPr sz="2400" b="0">
                    <a:solidFill>
                      <a:srgbClr val="111827"/>
                    </a:solidFill>
                    <a:latin typeface="Arial"/>
                  </a:rPr>
                  <a:t>   (B) </a:t>
                </a:r>
                <a:r>
                  <a:rPr lang="en-IN" sz="2400">
                    <a:solidFill>
                      <a:srgbClr val="111827"/>
                    </a:solidFill>
                    <a:latin typeface="Cambria Math" panose="02040503050406030204" pitchFamily="18" charset="0"/>
                  </a:rPr>
                  <a:t>$\frac R{2\sqrt2}$</a:t>
                </a:r>
                <a:r>
                  <a:rPr sz="2400" b="0">
                    <a:solidFill>
                      <a:srgbClr val="111827"/>
                    </a:solidFill>
                    <a:latin typeface="Arial"/>
                  </a:rPr>
                  <a:t>   (C) </a:t>
                </a:r>
                <a:r>
                  <a:rPr lang="en-IN" sz="2400">
                    <a:solidFill>
                      <a:srgbClr val="111827"/>
                    </a:solidFill>
                    <a:latin typeface="Cambria Math" panose="02040503050406030204" pitchFamily="18" charset="0"/>
                  </a:rPr>
                  <a:t>$\frac R4$</a:t>
                </a:r>
                <a:r>
                  <a:rPr sz="2400" b="0">
                    <a:solidFill>
                      <a:srgbClr val="111827"/>
                    </a:solidFill>
                    <a:latin typeface="Arial"/>
                  </a:rPr>
                  <a:t>   (D) None of these</a:t>
                </a:r>
                <a:endParaRPr sz="2400">
                  <a:solidFill>
                    <a:srgbClr val="111827"/>
                  </a:solidFill>
                </a:endParaRPr>
              </a:p>
            </p:txBody>
          </p:sp>
        </mc:Fallback>
      </mc:AlternateContent>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ectangle 3"/>
          <p:cNvSpPr/>
          <p:nvPr/>
        </p:nvSpPr>
        <p:spPr>
          <a:xfrm>
            <a:off x="731520" y="128016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Maxima and minima: optimisation of area, Lagrange's mean value theorem</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65760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Find </a:t>
                </a:r>
                <a14:m>
                  <m:oMath xmlns:m="http://schemas.openxmlformats.org/officeDocument/2006/math">
                    <m:sSub>
                      <m:e>
                        <m:r>
                          <a:rPr lang="en-IN" sz="2400" i="1">
                            <a:solidFill>
                              <a:srgbClr val="78350F"/>
                            </a:solidFill>
                            <a:latin typeface="Cambria Math" panose="02040503050406030204" pitchFamily="18" charset="0"/>
                          </a:rPr>
                          <m:t>𝑥</m:t>
                        </m:r>
                      </m:e>
                      <m:sub>
                        <m:r>
                          <a:rPr lang="en-IN" sz="2400" i="1">
                            <a:solidFill>
                              <a:srgbClr val="78350F"/>
                            </a:solidFill>
                            <a:latin typeface="Cambria Math" panose="02040503050406030204" pitchFamily="18" charset="0"/>
                          </a:rPr>
                          <m:t>1</m:t>
                        </m:r>
                      </m:sub>
                    </m:sSub>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𝑅</m:t>
                        </m:r>
                      </m:num>
                      <m:den>
                        <m:rad>
                          <m:radPr>
                            <m:degHide m:val="on"/>
                            <m:ctrlPr>
                              <a:rPr lang="en-IN" sz="2400" i="1">
                                <a:solidFill>
                                  <a:srgbClr val="78350F"/>
                                </a:solidFill>
                                <a:latin typeface="Cambria Math" panose="02040503050406030204" pitchFamily="18" charset="0"/>
                              </a:rPr>
                            </m:ctrlPr>
                          </m:radPr>
                          <m:deg/>
                          <m:e>
                            <m:r>
                              <a:rPr lang="en-IN" sz="2400" i="1">
                                <a:solidFill>
                                  <a:srgbClr val="78350F"/>
                                </a:solidFill>
                                <a:latin typeface="Cambria Math" panose="02040503050406030204" pitchFamily="18" charset="0"/>
                              </a:rPr>
                              <m:t>2</m:t>
                            </m:r>
                          </m:e>
                        </m:rad>
                      </m:den>
                    </m:f>
                  </m:oMath>
                </a14:m>
                <a:r>
                  <a:rPr sz="2400" b="0">
                    <a:solidFill>
                      <a:srgbClr val="78350F"/>
                    </a:solidFill>
                    <a:latin typeface="Arial"/>
                  </a:rPr>
                  <a:t>, then solve </a:t>
                </a:r>
                <a14:m>
                  <m:oMath xmlns:m="http://schemas.openxmlformats.org/officeDocument/2006/math">
                    <m:sSup>
                      <m:e>
                        <m:r>
                          <a:rPr lang="en-IN" sz="2400" i="1">
                            <a:solidFill>
                              <a:srgbClr val="78350F"/>
                            </a:solidFill>
                            <a:latin typeface="Cambria Math" panose="02040503050406030204" pitchFamily="18" charset="0"/>
                          </a:rPr>
                          <m:t>𝐴</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𝑐</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ad>
                      <m:radPr>
                        <m:degHide m:val="on"/>
                        <m:ctrlPr>
                          <a:rPr lang="en-IN" sz="2400" i="1">
                            <a:solidFill>
                              <a:srgbClr val="78350F"/>
                            </a:solidFill>
                            <a:latin typeface="Cambria Math" panose="02040503050406030204" pitchFamily="18" charset="0"/>
                          </a:rPr>
                        </m:ctrlPr>
                      </m:radPr>
                      <m:deg/>
                      <m:e>
                        <m:r>
                          <a:rPr lang="en-IN" sz="2400" i="1">
                            <a:solidFill>
                              <a:srgbClr val="78350F"/>
                            </a:solidFill>
                            <a:latin typeface="Cambria Math" panose="02040503050406030204" pitchFamily="18" charset="0"/>
                          </a:rPr>
                          <m:t>2</m:t>
                        </m:r>
                      </m:e>
                    </m:rad>
                    <m:r>
                      <a:rPr lang="en-IN" sz="2400" i="1">
                        <a:solidFill>
                          <a:srgbClr val="78350F"/>
                        </a:solidFill>
                        <a:latin typeface="Cambria Math" panose="02040503050406030204" pitchFamily="18" charset="0"/>
                      </a:rPr>
                      <m:t>𝑅</m:t>
                    </m:r>
                  </m:oMath>
                </a14:m>
                <a:r>
                  <a:rPr sz="2400" b="0">
                    <a:solidFill>
                      <a:srgbClr val="78350F"/>
                    </a:solidFill>
                    <a:latin typeface="Arial"/>
                  </a:rPr>
                  <a:t> exactly: </a:t>
                </a:r>
                <a14:m>
                  <m:oMath xmlns:m="http://schemas.openxmlformats.org/officeDocument/2006/math">
                    <m:r>
                      <a:rPr lang="en-IN" sz="2400" i="1">
                        <a:solidFill>
                          <a:srgbClr val="78350F"/>
                        </a:solidFill>
                        <a:latin typeface="Cambria Math" panose="02040503050406030204" pitchFamily="18" charset="0"/>
                      </a:rPr>
                      <m:t>𝑐</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𝑅</m:t>
                        </m:r>
                      </m:num>
                      <m:den>
                        <m:r>
                          <a:rPr lang="en-IN" sz="2400" i="1">
                            <a:solidFill>
                              <a:srgbClr val="78350F"/>
                            </a:solidFill>
                            <a:latin typeface="Cambria Math" panose="02040503050406030204" pitchFamily="18" charset="0"/>
                          </a:rPr>
                          <m:t>4</m:t>
                        </m:r>
                      </m:den>
                    </m:f>
                    <m:rad>
                      <m:radPr>
                        <m:degHide m:val="on"/>
                        <m:ctrlPr>
                          <a:rPr lang="en-IN" sz="2400" i="1">
                            <a:solidFill>
                              <a:srgbClr val="78350F"/>
                            </a:solidFill>
                            <a:latin typeface="Cambria Math" panose="02040503050406030204" pitchFamily="18" charset="0"/>
                          </a:rPr>
                        </m:ctrlPr>
                      </m:radPr>
                      <m:deg/>
                      <m:e>
                        <m:r>
                          <a:rPr lang="en-IN" sz="2400" i="1">
                            <a:solidFill>
                              <a:srgbClr val="78350F"/>
                            </a:solidFill>
                            <a:latin typeface="Cambria Math" panose="02040503050406030204" pitchFamily="18" charset="0"/>
                          </a:rPr>
                          <m:t>7</m:t>
                        </m:r>
                        <m:r>
                          <m:rPr>
                            <m:sty m:val="p"/>
                          </m:rPr>
                          <a:rPr lang="en-IN" sz="2400">
                            <a:solidFill>
                              <a:srgbClr val="78350F"/>
                            </a:solidFill>
                            <a:latin typeface="Cambria Math" panose="02040503050406030204" pitchFamily="18" charset="0"/>
                          </a:rPr>
                          <m:t>−</m:t>
                        </m:r>
                        <m:rad>
                          <m:radPr>
                            <m:degHide m:val="on"/>
                            <m:ctrlPr>
                              <a:rPr lang="en-IN" sz="2400" i="1">
                                <a:solidFill>
                                  <a:srgbClr val="78350F"/>
                                </a:solidFill>
                                <a:latin typeface="Cambria Math" panose="02040503050406030204" pitchFamily="18" charset="0"/>
                              </a:rPr>
                            </m:ctrlPr>
                          </m:radPr>
                          <m:deg/>
                          <m:e>
                            <m:r>
                              <a:rPr lang="en-IN" sz="2400" i="1">
                                <a:solidFill>
                                  <a:srgbClr val="78350F"/>
                                </a:solidFill>
                                <a:latin typeface="Cambria Math" panose="02040503050406030204" pitchFamily="18" charset="0"/>
                              </a:rPr>
                              <m:t>17</m:t>
                            </m:r>
                          </m:e>
                        </m:rad>
                      </m:e>
                    </m:rad>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0.424</m:t>
                    </m:r>
                    <m:r>
                      <a:rPr lang="en-IN" sz="2400" i="1">
                        <a:solidFill>
                          <a:srgbClr val="78350F"/>
                        </a:solidFill>
                        <a:latin typeface="Cambria Math" panose="02040503050406030204" pitchFamily="18" charset="0"/>
                      </a:rPr>
                      <m:t>𝑅</m:t>
                    </m:r>
                  </m:oMath>
                </a14:m>
                <a:r>
                  <a:rPr sz="2400" b="0">
                    <a:solidFill>
                      <a:srgbClr val="78350F"/>
                    </a:solidFill>
                    <a:latin typeface="Arial"/>
                  </a:rPr>
                  <a:t>, which is none of the given options.</a:t>
                </a:r>
                <a:endParaRPr sz="2400">
                  <a:solidFill>
                    <a:srgbClr val="78350F"/>
                  </a:solidFill>
                </a:endParaRPr>
              </a:p>
            </p:txBody>
          </p:sp>
        </mc:Choice>
        <mc:Fallback>
          <p:sp>
            <p:nvSpPr>
              <p:cNvPr id="5" name="Rounded Rectangle 4"/>
              <p:cNvSpPr/>
              <p:nvPr/>
            </p:nvSpPr>
            <p:spPr>
              <a:xfrm>
                <a:off x="731520" y="365760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Find </a:t>
                </a:r>
                <a:r>
                  <a:rPr lang="en-IN" sz="2400">
                    <a:solidFill>
                      <a:srgbClr val="78350F"/>
                    </a:solidFill>
                    <a:latin typeface="Cambria Math" panose="02040503050406030204" pitchFamily="18" charset="0"/>
                  </a:rPr>
                  <a:t>$x_1=\frac R{\sqrt2}$</a:t>
                </a:r>
                <a:r>
                  <a:rPr sz="2400" b="0">
                    <a:solidFill>
                      <a:srgbClr val="78350F"/>
                    </a:solidFill>
                    <a:latin typeface="Arial"/>
                  </a:rPr>
                  <a:t>, then solve </a:t>
                </a:r>
                <a:r>
                  <a:rPr lang="en-IN" sz="2400">
                    <a:solidFill>
                      <a:srgbClr val="78350F"/>
                    </a:solidFill>
                    <a:latin typeface="Cambria Math" panose="02040503050406030204" pitchFamily="18" charset="0"/>
                  </a:rPr>
                  <a:t>$A'(c)=\sqrt2R$</a:t>
                </a:r>
                <a:r>
                  <a:rPr sz="2400" b="0">
                    <a:solidFill>
                      <a:srgbClr val="78350F"/>
                    </a:solidFill>
                    <a:latin typeface="Arial"/>
                  </a:rPr>
                  <a:t> exactly: </a:t>
                </a:r>
                <a:r>
                  <a:rPr lang="en-IN" sz="2400">
                    <a:solidFill>
                      <a:srgbClr val="78350F"/>
                    </a:solidFill>
                    <a:latin typeface="Cambria Math" panose="02040503050406030204" pitchFamily="18" charset="0"/>
                  </a:rPr>
                  <a:t>$c=\frac R4\sqrt{7-\sqrt{17}}\approx0.424R$</a:t>
                </a:r>
                <a:r>
                  <a:rPr sz="2400" b="0">
                    <a:solidFill>
                      <a:srgbClr val="78350F"/>
                    </a:solidFill>
                    <a:latin typeface="Arial"/>
                  </a:rPr>
                  <a:t>, which is none of the given options.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5123688"/>
                <a:ext cx="10725912" cy="1551431"/>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inscribed rectangle has base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oMath>
                </a14:m>
                <a:r>
                  <a:rPr sz="2400" b="0">
                    <a:solidFill>
                      <a:srgbClr val="111827"/>
                    </a:solidFill>
                    <a:latin typeface="Arial"/>
                  </a:rPr>
                  <a:t> and height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𝑅</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e>
                    </m:rad>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𝑅</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e>
                    </m:rad>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5123688"/>
                <a:ext cx="10725912" cy="1551431"/>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inscribed rectangle has base </a:t>
                </a:r>
                <a:r>
                  <a:rPr lang="en-IN" sz="2400">
                    <a:solidFill>
                      <a:srgbClr val="111827"/>
                    </a:solidFill>
                    <a:latin typeface="Cambria Math" panose="02040503050406030204" pitchFamily="18" charset="0"/>
                  </a:rPr>
                  <a:t>$2x$</a:t>
                </a:r>
                <a:r>
                  <a:rPr sz="2400" b="0">
                    <a:solidFill>
                      <a:srgbClr val="111827"/>
                    </a:solidFill>
                    <a:latin typeface="Arial"/>
                  </a:rPr>
                  <a:t> and height </a:t>
                </a:r>
                <a:r>
                  <a:rPr lang="en-IN" sz="2400">
                    <a:solidFill>
                      <a:srgbClr val="111827"/>
                    </a:solidFill>
                    <a:latin typeface="Cambria Math" panose="02040503050406030204" pitchFamily="18" charset="0"/>
                  </a:rPr>
                  <a:t>$\sqrt{R^2-x^2}$</a:t>
                </a:r>
                <a:r>
                  <a:rPr sz="2400" b="0">
                    <a:solidFill>
                      <a:srgbClr val="111827"/>
                    </a:solidFill>
                    <a:latin typeface="Arial"/>
                  </a:rPr>
                  <a:t>, so </a:t>
                </a:r>
                <a:r>
                  <a:rPr lang="en-IN" sz="2400">
                    <a:solidFill>
                      <a:srgbClr val="111827"/>
                    </a:solidFill>
                    <a:latin typeface="Cambria Math" panose="02040503050406030204" pitchFamily="18" charset="0"/>
                  </a:rPr>
                  <a:t>$A(x)=2x\sqrt{R^2-x^2}$</a:t>
                </a:r>
                <a:r>
                  <a:rPr sz="2400" b="0">
                    <a:solidFill>
                      <a:srgbClr val="111827"/>
                    </a:solidFill>
                    <a:latin typeface="Arial"/>
                  </a:rPr>
                  <a:t> for </a:t>
                </a:r>
                <a:r>
                  <a:rPr lang="en-IN" sz="2400">
                    <a:solidFill>
                      <a:srgbClr val="111827"/>
                    </a:solidFill>
                    <a:latin typeface="Cambria Math" panose="02040503050406030204" pitchFamily="18" charset="0"/>
                  </a:rPr>
                  <a:t>$x\in[0,R]$</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Differentiating: </a:t>
                </a:r>
                <a14:m>
                  <m:oMath xmlns:m="http://schemas.openxmlformats.org/officeDocument/2006/math">
                    <m:sSup>
                      <m:e>
                        <m:r>
                          <a:rPr lang="en-IN" sz="2400" i="1">
                            <a:solidFill>
                              <a:srgbClr val="111827"/>
                            </a:solidFill>
                            <a:latin typeface="Cambria Math" panose="02040503050406030204" pitchFamily="18" charset="0"/>
                          </a:rPr>
                          <m:t>𝐴</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𝑅</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e>
                    </m:ra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num>
                      <m:den>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𝑅</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𝑅</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num>
                      <m:den>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𝑅</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e>
                        </m:rad>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the maximum, set </a:t>
                </a:r>
                <a14:m>
                  <m:oMath xmlns:m="http://schemas.openxmlformats.org/officeDocument/2006/math">
                    <m:sSup>
                      <m:e>
                        <m:r>
                          <a:rPr lang="en-IN" sz="2400" i="1">
                            <a:solidFill>
                              <a:srgbClr val="111827"/>
                            </a:solidFill>
                            <a:latin typeface="Cambria Math" panose="02040503050406030204" pitchFamily="18" charset="0"/>
                          </a:rPr>
                          <m:t>𝐴</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𝑅</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𝑅</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Now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𝑅</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𝑅</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𝑅</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the chord slope is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𝑅</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num>
                      <m:den>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den>
                    </m:f>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𝑅</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LMVT requires </a:t>
                </a:r>
                <a14:m>
                  <m:oMath xmlns:m="http://schemas.openxmlformats.org/officeDocument/2006/math">
                    <m:sSup>
                      <m:e>
                        <m:r>
                          <a:rPr lang="en-IN" sz="2400" i="1">
                            <a:solidFill>
                              <a:srgbClr val="111827"/>
                            </a:solidFill>
                            <a:latin typeface="Cambria Math" panose="02040503050406030204" pitchFamily="18" charset="0"/>
                          </a:rPr>
                          <m:t>𝐴</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a:rPr lang="en-IN" sz="2400" i="1">
                        <a:solidFill>
                          <a:srgbClr val="111827"/>
                        </a:solidFill>
                        <a:latin typeface="Cambria Math" panose="02040503050406030204" pitchFamily="18" charset="0"/>
                      </a:rPr>
                      <m:t>𝑅</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𝑅</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num>
                      <m:den>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𝑅</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e>
                        </m:rad>
                      </m:den>
                    </m:f>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a:rPr lang="en-IN" sz="2400" i="1">
                        <a:solidFill>
                          <a:srgbClr val="111827"/>
                        </a:solidFill>
                        <a:latin typeface="Cambria Math" panose="02040503050406030204" pitchFamily="18" charset="0"/>
                      </a:rPr>
                      <m:t>𝑅</m:t>
                    </m:r>
                  </m:oMath>
                </a14:m>
                <a:r>
                  <a:rPr sz="2400" b="0">
                    <a:solidFill>
                      <a:srgbClr val="111827"/>
                    </a:solidFill>
                    <a:latin typeface="Arial"/>
                  </a:rPr>
                  <a:t>. Put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num>
                      <m:den>
                        <m:sSup>
                          <m:e>
                            <m:r>
                              <a:rPr lang="en-IN" sz="2400" i="1">
                                <a:solidFill>
                                  <a:srgbClr val="111827"/>
                                </a:solidFill>
                                <a:latin typeface="Cambria Math" panose="02040503050406030204" pitchFamily="18" charset="0"/>
                              </a:rPr>
                              <m:t>𝑅</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 and square: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𝑢</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sSup>
                      <m:e>
                        <m:r>
                          <a:rPr lang="en-IN" sz="2400" i="1">
                            <a:solidFill>
                              <a:srgbClr val="111827"/>
                            </a:solidFill>
                            <a:latin typeface="Cambria Math" panose="02040503050406030204" pitchFamily="18" charset="0"/>
                          </a:rPr>
                          <m:t>𝑢</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17</m:t>
                            </m:r>
                          </m:e>
                        </m:rad>
                      </m:num>
                      <m:den>
                        <m:r>
                          <a:rPr lang="en-IN" sz="2400" i="1">
                            <a:solidFill>
                              <a:srgbClr val="111827"/>
                            </a:solidFill>
                            <a:latin typeface="Cambria Math" panose="02040503050406030204" pitchFamily="18" charset="0"/>
                          </a:rPr>
                          <m:t>16</m:t>
                        </m:r>
                      </m:den>
                    </m:f>
                  </m:oMath>
                </a14:m>
                <a:r>
                  <a:rPr sz="2400" b="0">
                    <a:solidFill>
                      <a:srgbClr val="111827"/>
                    </a:solidFill>
                    <a:latin typeface="Arial"/>
                  </a:rPr>
                  <a:t>. Since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&lt;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we need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&lt;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which rejects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17</m:t>
                            </m:r>
                          </m:e>
                        </m:rad>
                      </m:num>
                      <m:den>
                        <m:r>
                          <a:rPr lang="en-IN" sz="2400" i="1">
                            <a:solidFill>
                              <a:srgbClr val="111827"/>
                            </a:solidFill>
                            <a:latin typeface="Cambria Math" panose="02040503050406030204" pitchFamily="18" charset="0"/>
                          </a:rPr>
                          <m:t>16</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0.695</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17</m:t>
                            </m:r>
                          </m:e>
                        </m:rad>
                      </m:num>
                      <m:den>
                        <m:r>
                          <a:rPr lang="en-IN" sz="2400" i="1">
                            <a:solidFill>
                              <a:srgbClr val="111827"/>
                            </a:solidFill>
                            <a:latin typeface="Cambria Math" panose="02040503050406030204" pitchFamily="18" charset="0"/>
                          </a:rPr>
                          <m:t>16</m:t>
                        </m:r>
                      </m:den>
                    </m:f>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Differentiating: </a:t>
                </a:r>
                <a:r>
                  <a:rPr lang="en-IN" sz="2400">
                    <a:solidFill>
                      <a:srgbClr val="111827"/>
                    </a:solidFill>
                    <a:latin typeface="Cambria Math" panose="02040503050406030204" pitchFamily="18" charset="0"/>
                  </a:rPr>
                  <a:t>$A'(x)=2\sqrt{R^2-x^2}-\frac{2x^2}{\sqrt{R^2-x^2}}=\frac{2(R^2-2x^2)}{\sqrt{R^2-x^2}}$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the maximum, set </a:t>
                </a:r>
                <a:r>
                  <a:rPr lang="en-IN" sz="2400">
                    <a:solidFill>
                      <a:srgbClr val="111827"/>
                    </a:solidFill>
                    <a:latin typeface="Cambria Math" panose="02040503050406030204" pitchFamily="18" charset="0"/>
                  </a:rPr>
                  <a:t>$A'(x)=0$</a:t>
                </a:r>
                <a:r>
                  <a:rPr sz="2400" b="0">
                    <a:solidFill>
                      <a:srgbClr val="111827"/>
                    </a:solidFill>
                    <a:latin typeface="Arial"/>
                  </a:rPr>
                  <a:t>: </a:t>
                </a:r>
                <a:r>
                  <a:rPr lang="en-IN" sz="2400">
                    <a:solidFill>
                      <a:srgbClr val="111827"/>
                    </a:solidFill>
                    <a:latin typeface="Cambria Math" panose="02040503050406030204" pitchFamily="18" charset="0"/>
                  </a:rPr>
                  <a:t>$R^2-2x^2=0\Rightarrow x_1=\frac R{\sqrt2}$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Now </a:t>
                </a:r>
                <a:r>
                  <a:rPr lang="en-IN" sz="2400">
                    <a:solidFill>
                      <a:srgbClr val="111827"/>
                    </a:solidFill>
                    <a:latin typeface="Cambria Math" panose="02040503050406030204" pitchFamily="18" charset="0"/>
                  </a:rPr>
                  <a:t>$A(x_1)=2\cdot\frac R{\sqrt2}\cdot\frac R{\sqrt2}=R^2$</a:t>
                </a:r>
                <a:r>
                  <a:rPr sz="2400" b="0">
                    <a:solidFill>
                      <a:srgbClr val="111827"/>
                    </a:solidFill>
                    <a:latin typeface="Arial"/>
                  </a:rPr>
                  <a:t> and </a:t>
                </a:r>
                <a:r>
                  <a:rPr lang="en-IN" sz="2400">
                    <a:solidFill>
                      <a:srgbClr val="111827"/>
                    </a:solidFill>
                    <a:latin typeface="Cambria Math" panose="02040503050406030204" pitchFamily="18" charset="0"/>
                  </a:rPr>
                  <a:t>$A(0)=0$</a:t>
                </a:r>
                <a:r>
                  <a:rPr sz="2400" b="0">
                    <a:solidFill>
                      <a:srgbClr val="111827"/>
                    </a:solidFill>
                    <a:latin typeface="Arial"/>
                  </a:rPr>
                  <a:t>, so the chord slope is </a:t>
                </a:r>
                <a:r>
                  <a:rPr lang="en-IN" sz="2400">
                    <a:solidFill>
                      <a:srgbClr val="111827"/>
                    </a:solidFill>
                    <a:latin typeface="Cambria Math" panose="02040503050406030204" pitchFamily="18" charset="0"/>
                  </a:rPr>
                  <a:t>$\frac{R^2-0}{R/\sqrt2-0}=\sqrt2\,R$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LMVT requires </a:t>
                </a:r>
                <a:r>
                  <a:rPr lang="en-IN" sz="2400">
                    <a:solidFill>
                      <a:srgbClr val="111827"/>
                    </a:solidFill>
                    <a:latin typeface="Cambria Math" panose="02040503050406030204" pitchFamily="18" charset="0"/>
                  </a:rPr>
                  <a:t>$A'(c)=\sqrt2R$</a:t>
                </a:r>
                <a:r>
                  <a:rPr sz="2400" b="0">
                    <a:solidFill>
                      <a:srgbClr val="111827"/>
                    </a:solidFill>
                    <a:latin typeface="Arial"/>
                  </a:rPr>
                  <a:t>: </a:t>
                </a:r>
                <a:r>
                  <a:rPr lang="en-IN" sz="2400">
                    <a:solidFill>
                      <a:srgbClr val="111827"/>
                    </a:solidFill>
                    <a:latin typeface="Cambria Math" panose="02040503050406030204" pitchFamily="18" charset="0"/>
                  </a:rPr>
                  <a:t>$\frac{2(R^2-2c^2)}{\sqrt{R^2-c^2}}=\sqrt2R$</a:t>
                </a:r>
                <a:r>
                  <a:rPr sz="2400" b="0">
                    <a:solidFill>
                      <a:srgbClr val="111827"/>
                    </a:solidFill>
                    <a:latin typeface="Arial"/>
                  </a:rPr>
                  <a:t>. Put </a:t>
                </a:r>
                <a:r>
                  <a:rPr lang="en-IN" sz="2400">
                    <a:solidFill>
                      <a:srgbClr val="111827"/>
                    </a:solidFill>
                    <a:latin typeface="Cambria Math" panose="02040503050406030204" pitchFamily="18" charset="0"/>
                  </a:rPr>
                  <a:t>$u=\frac{c^2}{R^2}$</a:t>
                </a:r>
                <a:r>
                  <a:rPr sz="2400" b="0">
                    <a:solidFill>
                      <a:srgbClr val="111827"/>
                    </a:solidFill>
                    <a:latin typeface="Arial"/>
                  </a:rPr>
                  <a:t> and square: </a:t>
                </a:r>
                <a:r>
                  <a:rPr lang="en-IN" sz="2400">
                    <a:solidFill>
                      <a:srgbClr val="111827"/>
                    </a:solidFill>
                    <a:latin typeface="Cambria Math" panose="02040503050406030204" pitchFamily="18" charset="0"/>
                  </a:rPr>
                  <a:t>$4(1-2u)^2=2(1-u)\Rightarrow8u^2-7u+1=0$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$u=\frac{7\pm\sqrt{17}}{16}$</a:t>
                </a:r>
                <a:r>
                  <a:rPr sz="2400" b="0">
                    <a:solidFill>
                      <a:srgbClr val="111827"/>
                    </a:solidFill>
                    <a:latin typeface="Arial"/>
                  </a:rPr>
                  <a:t>. Since </a:t>
                </a:r>
                <a:r>
                  <a:rPr lang="en-IN" sz="2400">
                    <a:solidFill>
                      <a:srgbClr val="111827"/>
                    </a:solidFill>
                    <a:latin typeface="Cambria Math" panose="02040503050406030204" pitchFamily="18" charset="0"/>
                  </a:rPr>
                  <a:t>$c&lt;x_1$</a:t>
                </a:r>
                <a:r>
                  <a:rPr sz="2400" b="0">
                    <a:solidFill>
                      <a:srgbClr val="111827"/>
                    </a:solidFill>
                    <a:latin typeface="Arial"/>
                  </a:rPr>
                  <a:t> we need </a:t>
                </a:r>
                <a:r>
                  <a:rPr lang="en-IN" sz="2400">
                    <a:solidFill>
                      <a:srgbClr val="111827"/>
                    </a:solidFill>
                    <a:latin typeface="Cambria Math" panose="02040503050406030204" pitchFamily="18" charset="0"/>
                  </a:rPr>
                  <a:t>$u&lt;\frac12$</a:t>
                </a:r>
                <a:r>
                  <a:rPr sz="2400" b="0">
                    <a:solidFill>
                      <a:srgbClr val="111827"/>
                    </a:solidFill>
                    <a:latin typeface="Arial"/>
                  </a:rPr>
                  <a:t>, which rejects </a:t>
                </a:r>
                <a:r>
                  <a:rPr lang="en-IN" sz="2400">
                    <a:solidFill>
                      <a:srgbClr val="111827"/>
                    </a:solidFill>
                    <a:latin typeface="Cambria Math" panose="02040503050406030204" pitchFamily="18" charset="0"/>
                  </a:rPr>
                  <a:t>$\frac{7+\sqrt{17}}{16}\approx0.695$</a:t>
                </a:r>
                <a:r>
                  <a:rPr sz="2400" b="0">
                    <a:solidFill>
                      <a:srgbClr val="111827"/>
                    </a:solidFill>
                    <a:latin typeface="Arial"/>
                  </a:rPr>
                  <a:t>; so </a:t>
                </a:r>
                <a:r>
                  <a:rPr lang="en-IN" sz="2400">
                    <a:solidFill>
                      <a:srgbClr val="111827"/>
                    </a:solidFill>
                    <a:latin typeface="Cambria Math" panose="02040503050406030204" pitchFamily="18" charset="0"/>
                  </a:rPr>
                  <a:t>$u=\frac{7-\sqrt{17}}{16}$</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Therefore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𝑅</m:t>
                        </m:r>
                      </m:num>
                      <m:den>
                        <m:r>
                          <a:rPr lang="en-IN" sz="2400" i="1">
                            <a:solidFill>
                              <a:srgbClr val="111827"/>
                            </a:solidFill>
                            <a:latin typeface="Cambria Math" panose="02040503050406030204" pitchFamily="18" charset="0"/>
                          </a:rPr>
                          <m:t>4</m:t>
                        </m:r>
                      </m:den>
                    </m:f>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17</m:t>
                            </m:r>
                          </m:e>
                        </m:rad>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0.424</m:t>
                    </m:r>
                    <m:r>
                      <a:rPr lang="en-IN" sz="2400" i="1">
                        <a:solidFill>
                          <a:srgbClr val="111827"/>
                        </a:solidFill>
                        <a:latin typeface="Cambria Math" panose="02040503050406030204" pitchFamily="18" charset="0"/>
                      </a:rPr>
                      <m:t>𝑅</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options give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𝑅</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0.5</m:t>
                    </m:r>
                    <m:r>
                      <a:rPr lang="en-IN" sz="2400" i="1">
                        <a:solidFill>
                          <a:srgbClr val="111827"/>
                        </a:solidFill>
                        <a:latin typeface="Cambria Math" panose="02040503050406030204" pitchFamily="18" charset="0"/>
                      </a:rPr>
                      <m:t>𝑅</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𝑅</m:t>
                        </m:r>
                      </m:num>
                      <m:den>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0.354</m:t>
                    </m:r>
                    <m:r>
                      <a:rPr lang="en-IN" sz="2400" i="1">
                        <a:solidFill>
                          <a:srgbClr val="111827"/>
                        </a:solidFill>
                        <a:latin typeface="Cambria Math" panose="02040503050406030204" pitchFamily="18" charset="0"/>
                      </a:rPr>
                      <m:t>𝑅</m:t>
                    </m:r>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𝑅</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0.25</m:t>
                    </m:r>
                    <m:r>
                      <a:rPr lang="en-IN" sz="2400" i="1">
                        <a:solidFill>
                          <a:srgbClr val="111827"/>
                        </a:solidFill>
                        <a:latin typeface="Cambria Math" panose="02040503050406030204" pitchFamily="18" charset="0"/>
                      </a:rPr>
                      <m:t>𝑅</m:t>
                    </m:r>
                  </m:oMath>
                </a14:m>
                <a:r>
                  <a:rPr sz="2400" b="0">
                    <a:solidFill>
                      <a:srgbClr val="111827"/>
                    </a:solidFill>
                    <a:latin typeface="Arial"/>
                  </a:rPr>
                  <a:t>; none equals </a:t>
                </a:r>
                <a14:m>
                  <m:oMath xmlns:m="http://schemas.openxmlformats.org/officeDocument/2006/math">
                    <m:r>
                      <a:rPr lang="en-IN" sz="2400" i="1">
                        <a:solidFill>
                          <a:srgbClr val="111827"/>
                        </a:solidFill>
                        <a:latin typeface="Cambria Math" panose="02040503050406030204" pitchFamily="18" charset="0"/>
                      </a:rPr>
                      <m:t>0.424</m:t>
                    </m:r>
                    <m:r>
                      <a:rPr lang="en-IN" sz="2400" i="1">
                        <a:solidFill>
                          <a:srgbClr val="111827"/>
                        </a:solidFill>
                        <a:latin typeface="Cambria Math" panose="02040503050406030204" pitchFamily="18" charset="0"/>
                      </a:rPr>
                      <m:t>𝑅</m:t>
                    </m:r>
                  </m:oMath>
                </a14:m>
                <a:r>
                  <a:rPr sz="2400" b="0">
                    <a:solidFill>
                      <a:srgbClr val="111827"/>
                    </a:solidFill>
                    <a:latin typeface="Arial"/>
                  </a:rPr>
                  <a:t>, so the answer is (D) None of these.</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Therefore </a:t>
                </a:r>
                <a:r>
                  <a:rPr lang="en-IN" sz="2400">
                    <a:solidFill>
                      <a:srgbClr val="111827"/>
                    </a:solidFill>
                    <a:latin typeface="Cambria Math" panose="02040503050406030204" pitchFamily="18" charset="0"/>
                  </a:rPr>
                  <a:t>$c=\frac R4\sqrt{7-\sqrt{17}}\approx0.424R$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options give </a:t>
                </a:r>
                <a:r>
                  <a:rPr lang="en-IN" sz="2400">
                    <a:solidFill>
                      <a:srgbClr val="111827"/>
                    </a:solidFill>
                    <a:latin typeface="Cambria Math" panose="02040503050406030204" pitchFamily="18" charset="0"/>
                  </a:rPr>
                  <a:t>$\frac R2=0.5R$</a:t>
                </a:r>
                <a:r>
                  <a:rPr sz="2400" b="0">
                    <a:solidFill>
                      <a:srgbClr val="111827"/>
                    </a:solidFill>
                    <a:latin typeface="Arial"/>
                  </a:rPr>
                  <a:t>, </a:t>
                </a:r>
                <a:r>
                  <a:rPr lang="en-IN" sz="2400">
                    <a:solidFill>
                      <a:srgbClr val="111827"/>
                    </a:solidFill>
                    <a:latin typeface="Cambria Math" panose="02040503050406030204" pitchFamily="18" charset="0"/>
                  </a:rPr>
                  <a:t>$\frac R{2\sqrt2}\approx0.354R$</a:t>
                </a:r>
                <a:r>
                  <a:rPr sz="2400" b="0">
                    <a:solidFill>
                      <a:srgbClr val="111827"/>
                    </a:solidFill>
                    <a:latin typeface="Arial"/>
                  </a:rPr>
                  <a:t> and </a:t>
                </a:r>
                <a:r>
                  <a:rPr lang="en-IN" sz="2400">
                    <a:solidFill>
                      <a:srgbClr val="111827"/>
                    </a:solidFill>
                    <a:latin typeface="Cambria Math" panose="02040503050406030204" pitchFamily="18" charset="0"/>
                  </a:rPr>
                  <a:t>$\frac R4=0.25R$</a:t>
                </a:r>
                <a:r>
                  <a:rPr sz="2400" b="0">
                    <a:solidFill>
                      <a:srgbClr val="111827"/>
                    </a:solidFill>
                    <a:latin typeface="Arial"/>
                  </a:rPr>
                  <a:t>; none equals </a:t>
                </a:r>
                <a:r>
                  <a:rPr lang="en-IN" sz="2400">
                    <a:solidFill>
                      <a:srgbClr val="111827"/>
                    </a:solidFill>
                    <a:latin typeface="Cambria Math" panose="02040503050406030204" pitchFamily="18" charset="0"/>
                  </a:rPr>
                  <a:t>$0.424R$</a:t>
                </a:r>
                <a:r>
                  <a:rPr sz="2400" b="0">
                    <a:solidFill>
                      <a:srgbClr val="111827"/>
                    </a:solidFill>
                    <a:latin typeface="Arial"/>
                  </a:rPr>
                  <a:t>, so the answer is (D) None of these.</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None of these</a:t>
            </a:r>
            <a:endParaRPr sz="2800">
              <a:solidFill>
                <a:srgbClr val="15803D"/>
              </a:solidFill>
            </a:endParaRP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Do not solve for </a:t>
                </a:r>
                <a14:m>
                  <m:oMath xmlns:m="http://schemas.openxmlformats.org/officeDocument/2006/math">
                    <m:r>
                      <a:rPr lang="en-IN" sz="2400" i="1">
                        <a:solidFill>
                          <a:srgbClr val="78350F"/>
                        </a:solidFill>
                        <a:latin typeface="Cambria Math" panose="02040503050406030204" pitchFamily="18" charset="0"/>
                      </a:rPr>
                      <m:t>𝑐</m:t>
                    </m:r>
                  </m:oMath>
                </a14:m>
                <a:r>
                  <a:rPr sz="2400" b="0">
                    <a:solidFill>
                      <a:srgbClr val="78350F"/>
                    </a:solidFill>
                    <a:latin typeface="Arial"/>
                  </a:rPr>
                  <a:t>: </a:t>
                </a:r>
                <a14:m>
                  <m:oMath xmlns:m="http://schemas.openxmlformats.org/officeDocument/2006/math">
                    <m:sSup>
                      <m:e>
                        <m:r>
                          <a:rPr lang="en-IN" sz="2400" i="1">
                            <a:solidFill>
                              <a:srgbClr val="78350F"/>
                            </a:solidFill>
                            <a:latin typeface="Cambria Math" panose="02040503050406030204" pitchFamily="18" charset="0"/>
                          </a:rPr>
                          <m:t>𝐴</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 is strictly decreasing on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𝑥</m:t>
                        </m:r>
                      </m:e>
                      <m:sub>
                        <m:r>
                          <a:rPr lang="en-IN" sz="2400" i="1">
                            <a:solidFill>
                              <a:srgbClr val="78350F"/>
                            </a:solidFill>
                            <a:latin typeface="Cambria Math" panose="02040503050406030204" pitchFamily="18" charset="0"/>
                          </a:rPr>
                          <m:t>1</m:t>
                        </m:r>
                      </m:sub>
                    </m:sSub>
                    <m:r>
                      <m:rPr>
                        <m:sty m:val="p"/>
                      </m:rPr>
                      <a:rPr lang="en-IN" sz="2400">
                        <a:solidFill>
                          <a:srgbClr val="78350F"/>
                        </a:solidFill>
                        <a:latin typeface="Cambria Math" panose="02040503050406030204" pitchFamily="18" charset="0"/>
                      </a:rPr>
                      <m:t>)</m:t>
                    </m:r>
                  </m:oMath>
                </a14:m>
                <a:r>
                  <a:rPr sz="2400" b="0">
                    <a:solidFill>
                      <a:srgbClr val="78350F"/>
                    </a:solidFill>
                    <a:latin typeface="Arial"/>
                  </a:rPr>
                  <a:t>, so </a:t>
                </a:r>
                <a14:m>
                  <m:oMath xmlns:m="http://schemas.openxmlformats.org/officeDocument/2006/math">
                    <m:r>
                      <a:rPr lang="en-IN" sz="2400" i="1">
                        <a:solidFill>
                          <a:srgbClr val="78350F"/>
                        </a:solidFill>
                        <a:latin typeface="Cambria Math" panose="02040503050406030204" pitchFamily="18" charset="0"/>
                      </a:rPr>
                      <m:t>𝑐</m:t>
                    </m:r>
                  </m:oMath>
                </a14:m>
                <a:r>
                  <a:rPr sz="2400" b="0">
                    <a:solidFill>
                      <a:srgbClr val="78350F"/>
                    </a:solidFill>
                    <a:latin typeface="Arial"/>
                  </a:rPr>
                  <a:t> is unique, and testing the options shows none gives slope </a:t>
                </a:r>
                <a14:m>
                  <m:oMath xmlns:m="http://schemas.openxmlformats.org/officeDocument/2006/math">
                    <m:rad>
                      <m:radPr>
                        <m:degHide m:val="on"/>
                        <m:ctrlPr>
                          <a:rPr lang="en-IN" sz="2400" i="1">
                            <a:solidFill>
                              <a:srgbClr val="78350F"/>
                            </a:solidFill>
                            <a:latin typeface="Cambria Math" panose="02040503050406030204" pitchFamily="18" charset="0"/>
                          </a:rPr>
                        </m:ctrlPr>
                      </m:radPr>
                      <m:deg/>
                      <m:e>
                        <m:r>
                          <a:rPr lang="en-IN" sz="2400" i="1">
                            <a:solidFill>
                              <a:srgbClr val="78350F"/>
                            </a:solidFill>
                            <a:latin typeface="Cambria Math" panose="02040503050406030204" pitchFamily="18" charset="0"/>
                          </a:rPr>
                          <m:t>2</m:t>
                        </m:r>
                      </m:e>
                    </m:rad>
                    <m:r>
                      <a:rPr lang="en-IN" sz="2400" i="1">
                        <a:solidFill>
                          <a:srgbClr val="78350F"/>
                        </a:solidFill>
                        <a:latin typeface="Cambria Math" panose="02040503050406030204" pitchFamily="18" charset="0"/>
                      </a:rPr>
                      <m:t>𝑅</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Do not solve for </a:t>
                </a:r>
                <a:r>
                  <a:rPr lang="en-IN" sz="2400">
                    <a:solidFill>
                      <a:srgbClr val="78350F"/>
                    </a:solidFill>
                    <a:latin typeface="Cambria Math" panose="02040503050406030204" pitchFamily="18" charset="0"/>
                  </a:rPr>
                  <a:t>$c$</a:t>
                </a:r>
                <a:r>
                  <a:rPr sz="2400" b="0">
                    <a:solidFill>
                      <a:srgbClr val="78350F"/>
                    </a:solidFill>
                    <a:latin typeface="Arial"/>
                  </a:rPr>
                  <a:t>: </a:t>
                </a:r>
                <a:r>
                  <a:rPr lang="en-IN" sz="2400">
                    <a:solidFill>
                      <a:srgbClr val="78350F"/>
                    </a:solidFill>
                    <a:latin typeface="Cambria Math" panose="02040503050406030204" pitchFamily="18" charset="0"/>
                  </a:rPr>
                  <a:t>$A'$</a:t>
                </a:r>
                <a:r>
                  <a:rPr sz="2400" b="0">
                    <a:solidFill>
                      <a:srgbClr val="78350F"/>
                    </a:solidFill>
                    <a:latin typeface="Arial"/>
                  </a:rPr>
                  <a:t> is strictly decreasing on </a:t>
                </a:r>
                <a:r>
                  <a:rPr lang="en-IN" sz="2400">
                    <a:solidFill>
                      <a:srgbClr val="78350F"/>
                    </a:solidFill>
                    <a:latin typeface="Cambria Math" panose="02040503050406030204" pitchFamily="18" charset="0"/>
                  </a:rPr>
                  <a:t>$(0,x_1)$</a:t>
                </a:r>
                <a:r>
                  <a:rPr sz="2400" b="0">
                    <a:solidFill>
                      <a:srgbClr val="78350F"/>
                    </a:solidFill>
                    <a:latin typeface="Arial"/>
                  </a:rPr>
                  <a:t>, so </a:t>
                </a:r>
                <a:r>
                  <a:rPr lang="en-IN" sz="2400">
                    <a:solidFill>
                      <a:srgbClr val="78350F"/>
                    </a:solidFill>
                    <a:latin typeface="Cambria Math" panose="02040503050406030204" pitchFamily="18" charset="0"/>
                  </a:rPr>
                  <a:t>$c$</a:t>
                </a:r>
                <a:r>
                  <a:rPr sz="2400" b="0">
                    <a:solidFill>
                      <a:srgbClr val="78350F"/>
                    </a:solidFill>
                    <a:latin typeface="Arial"/>
                  </a:rPr>
                  <a:t> is unique, and testing the options shows none gives slope </a:t>
                </a:r>
                <a:r>
                  <a:rPr lang="en-IN" sz="2400">
                    <a:solidFill>
                      <a:srgbClr val="78350F"/>
                    </a:solidFill>
                    <a:latin typeface="Cambria Math" panose="02040503050406030204" pitchFamily="18" charset="0"/>
                  </a:rPr>
                  <a:t>$\sqrt2R$</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𝐴</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𝑅</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num>
                      <m:den>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𝑅</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e>
                        </m:rad>
                      </m:den>
                    </m:f>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𝐴</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𝑅</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𝑅</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𝐴</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is strictly decreasing from </a:t>
                </a:r>
                <a14:m>
                  <m:oMath xmlns:m="http://schemas.openxmlformats.org/officeDocument/2006/math">
                    <m:sSup>
                      <m:e>
                        <m:r>
                          <a:rPr lang="en-IN" sz="2400" i="1">
                            <a:solidFill>
                              <a:srgbClr val="111827"/>
                            </a:solidFill>
                            <a:latin typeface="Cambria Math" panose="02040503050406030204" pitchFamily="18" charset="0"/>
                          </a:rPr>
                          <m:t>𝐴</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𝑅</m:t>
                    </m:r>
                  </m:oMath>
                </a14:m>
                <a:r>
                  <a:rPr sz="2400" b="0">
                    <a:solidFill>
                      <a:srgbClr val="111827"/>
                    </a:solidFill>
                    <a:latin typeface="Arial"/>
                  </a:rPr>
                  <a:t> to </a:t>
                </a:r>
                <a14:m>
                  <m:oMath xmlns:m="http://schemas.openxmlformats.org/officeDocument/2006/math">
                    <m:sSup>
                      <m:e>
                        <m:r>
                          <a:rPr lang="en-IN" sz="2400" i="1">
                            <a:solidFill>
                              <a:srgbClr val="111827"/>
                            </a:solidFill>
                            <a:latin typeface="Cambria Math" panose="02040503050406030204" pitchFamily="18" charset="0"/>
                          </a:rPr>
                          <m:t>𝐴</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sSup>
                      <m:e>
                        <m:r>
                          <a:rPr lang="en-IN" sz="2400" i="1">
                            <a:solidFill>
                              <a:srgbClr val="111827"/>
                            </a:solidFill>
                            <a:latin typeface="Cambria Math" panose="02040503050406030204" pitchFamily="18" charset="0"/>
                          </a:rPr>
                          <m:t>𝐴</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a:rPr lang="en-IN" sz="2400" i="1">
                        <a:solidFill>
                          <a:srgbClr val="111827"/>
                        </a:solidFill>
                        <a:latin typeface="Cambria Math" panose="02040503050406030204" pitchFamily="18" charset="0"/>
                      </a:rPr>
                      <m:t>𝑅</m:t>
                    </m:r>
                  </m:oMath>
                </a14:m>
                <a:r>
                  <a:rPr sz="2400" b="0">
                    <a:solidFill>
                      <a:srgbClr val="111827"/>
                    </a:solidFill>
                    <a:latin typeface="Arial"/>
                  </a:rPr>
                  <a:t> has exactly one root </a:t>
                </a:r>
                <a14:m>
                  <m:oMath xmlns:m="http://schemas.openxmlformats.org/officeDocument/2006/math">
                    <m:r>
                      <a:rPr lang="en-IN" sz="2400" i="1">
                        <a:solidFill>
                          <a:srgbClr val="111827"/>
                        </a:solidFill>
                        <a:latin typeface="Cambria Math" panose="02040503050406030204" pitchFamily="18" charset="0"/>
                      </a:rPr>
                      <m:t>𝑐</m:t>
                    </m:r>
                  </m:oMath>
                </a14:m>
                <a:r>
                  <a:rPr sz="2400" b="0">
                    <a:solidFill>
                      <a:srgbClr val="111827"/>
                    </a:solidFill>
                    <a:latin typeface="Arial"/>
                  </a:rPr>
                  <a:t>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&lt;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𝑅</m:t>
                    </m:r>
                  </m:oMath>
                </a14:m>
                <a:r>
                  <a:rPr sz="2400" b="0">
                    <a:solidFill>
                      <a:srgbClr val="111827"/>
                    </a:solidFill>
                    <a:latin typeface="Arial"/>
                  </a:rPr>
                  <a:t> guarantees it exists).</a:t>
                </a:r>
                <a:endParaRPr sz="2400">
                  <a:solidFill>
                    <a:srgbClr val="111827"/>
                  </a:solidFill>
                </a:endParaRPr>
              </a:p>
            </p:txBody>
          </p:sp>
        </mc:Choice>
        <mc:Fallback>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$A'(x)=\frac{2(R^2-2x^2)}{\sqrt{R^2-x^2}}$</a:t>
                </a:r>
                <a:r>
                  <a:rPr sz="2400" b="0">
                    <a:solidFill>
                      <a:srgbClr val="111827"/>
                    </a:solidFill>
                    <a:latin typeface="Arial"/>
                  </a:rPr>
                  <a:t> and </a:t>
                </a:r>
                <a:r>
                  <a:rPr lang="en-IN" sz="2400">
                    <a:solidFill>
                      <a:srgbClr val="111827"/>
                    </a:solidFill>
                    <a:latin typeface="Cambria Math" panose="02040503050406030204" pitchFamily="18" charset="0"/>
                  </a:rPr>
                  <a:t>$A''(x)=\frac{2x(2x^2-3R^2)}{(R^2-x^2)^{3/2}}&lt;0$</a:t>
                </a:r>
                <a:r>
                  <a:rPr sz="2400" b="0">
                    <a:solidFill>
                      <a:srgbClr val="111827"/>
                    </a:solidFill>
                    <a:latin typeface="Arial"/>
                  </a:rPr>
                  <a:t> on </a:t>
                </a:r>
                <a:r>
                  <a:rPr lang="en-IN" sz="2400">
                    <a:solidFill>
                      <a:srgbClr val="111827"/>
                    </a:solidFill>
                    <a:latin typeface="Cambria Math" panose="02040503050406030204" pitchFamily="18" charset="0"/>
                  </a:rPr>
                  <a:t>$(0,x_1)$</a:t>
                </a:r>
                <a:r>
                  <a:rPr sz="2400" b="0">
                    <a:solidFill>
                      <a:srgbClr val="111827"/>
                    </a:solidFill>
                    <a:latin typeface="Arial"/>
                  </a:rPr>
                  <a:t>, so </a:t>
                </a:r>
                <a:r>
                  <a:rPr lang="en-IN" sz="2400">
                    <a:solidFill>
                      <a:srgbClr val="111827"/>
                    </a:solidFill>
                    <a:latin typeface="Cambria Math" panose="02040503050406030204" pitchFamily="18" charset="0"/>
                  </a:rPr>
                  <a:t>$A'$</a:t>
                </a:r>
                <a:r>
                  <a:rPr sz="2400" b="0">
                    <a:solidFill>
                      <a:srgbClr val="111827"/>
                    </a:solidFill>
                    <a:latin typeface="Arial"/>
                  </a:rPr>
                  <a:t> is strictly decreasing from </a:t>
                </a:r>
                <a:r>
                  <a:rPr lang="en-IN" sz="2400">
                    <a:solidFill>
                      <a:srgbClr val="111827"/>
                    </a:solidFill>
                    <a:latin typeface="Cambria Math" panose="02040503050406030204" pitchFamily="18" charset="0"/>
                  </a:rPr>
                  <a:t>$A'(0)=2R$</a:t>
                </a:r>
                <a:r>
                  <a:rPr sz="2400" b="0">
                    <a:solidFill>
                      <a:srgbClr val="111827"/>
                    </a:solidFill>
                    <a:latin typeface="Arial"/>
                  </a:rPr>
                  <a:t> to </a:t>
                </a:r>
                <a:r>
                  <a:rPr lang="en-IN" sz="2400">
                    <a:solidFill>
                      <a:srgbClr val="111827"/>
                    </a:solidFill>
                    <a:latin typeface="Cambria Math" panose="02040503050406030204" pitchFamily="18" charset="0"/>
                  </a:rPr>
                  <a:t>$A'(x_1)=0$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$A'(c)=\sqrt2R$</a:t>
                </a:r>
                <a:r>
                  <a:rPr sz="2400" b="0">
                    <a:solidFill>
                      <a:srgbClr val="111827"/>
                    </a:solidFill>
                    <a:latin typeface="Arial"/>
                  </a:rPr>
                  <a:t> has exactly one root </a:t>
                </a:r>
                <a:r>
                  <a:rPr lang="en-IN" sz="2400">
                    <a:solidFill>
                      <a:srgbClr val="111827"/>
                    </a:solidFill>
                    <a:latin typeface="Cambria Math" panose="02040503050406030204" pitchFamily="18" charset="0"/>
                  </a:rPr>
                  <a:t>$c$</a:t>
                </a:r>
                <a:r>
                  <a:rPr sz="2400" b="0">
                    <a:solidFill>
                      <a:srgbClr val="111827"/>
                    </a:solidFill>
                    <a:latin typeface="Arial"/>
                  </a:rPr>
                  <a:t> in </a:t>
                </a:r>
                <a:r>
                  <a:rPr lang="en-IN" sz="2400">
                    <a:solidFill>
                      <a:srgbClr val="111827"/>
                    </a:solidFill>
                    <a:latin typeface="Cambria Math" panose="02040503050406030204" pitchFamily="18" charset="0"/>
                  </a:rPr>
                  <a:t>$(0,x_1)$</a:t>
                </a:r>
                <a:r>
                  <a:rPr sz="2400" b="0">
                    <a:solidFill>
                      <a:srgbClr val="111827"/>
                    </a:solidFill>
                    <a:latin typeface="Arial"/>
                  </a:rPr>
                  <a:t> (and </a:t>
                </a:r>
                <a:r>
                  <a:rPr lang="en-IN" sz="2400">
                    <a:solidFill>
                      <a:srgbClr val="111827"/>
                    </a:solidFill>
                    <a:latin typeface="Cambria Math" panose="02040503050406030204" pitchFamily="18" charset="0"/>
                  </a:rPr>
                  <a:t>$0&lt;\sqrt2R&lt;2R$</a:t>
                </a:r>
                <a:r>
                  <a:rPr sz="2400" b="0">
                    <a:solidFill>
                      <a:srgbClr val="111827"/>
                    </a:solidFill>
                    <a:latin typeface="Arial"/>
                  </a:rPr>
                  <a:t> guarantees it exists).</a:t>
                </a:r>
                <a:endParaRPr sz="2400">
                  <a:solidFill>
                    <a:srgbClr val="111827"/>
                  </a:solidFill>
                </a:endParaRPr>
              </a:p>
            </p:txBody>
          </p:sp>
        </mc:Fallback>
      </mc:AlternateContent>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Test the options (in units of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𝐴</m:t>
                        </m:r>
                      </m:e>
                      <m:sup>
                        <m:r>
                          <m:rPr>
                            <m:sty m:val="p"/>
                          </m:rPr>
                          <a:rPr lang="en-IN" sz="2400">
                            <a:solidFill>
                              <a:srgbClr val="111827"/>
                            </a:solidFill>
                            <a:latin typeface="Cambria Math" panose="02040503050406030204" pitchFamily="18" charset="0"/>
                          </a:rPr>
                          <m:t>′</m:t>
                        </m:r>
                      </m:sup>
                    </m:sSup>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𝑅</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e>
                        </m:rad>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1.155</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𝐴</m:t>
                        </m:r>
                      </m:e>
                      <m:sup>
                        <m:r>
                          <m:rPr>
                            <m:sty m:val="p"/>
                          </m:rPr>
                          <a:rPr lang="en-IN" sz="2400">
                            <a:solidFill>
                              <a:srgbClr val="111827"/>
                            </a:solidFill>
                            <a:latin typeface="Cambria Math" panose="02040503050406030204" pitchFamily="18" charset="0"/>
                          </a:rPr>
                          <m:t>′</m:t>
                        </m:r>
                      </m:sup>
                    </m:sSup>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𝑅</m:t>
                            </m:r>
                          </m:num>
                          <m:den>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e>
                        </m:rad>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1.604</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𝐴</m:t>
                        </m:r>
                      </m:e>
                      <m:sup>
                        <m:r>
                          <m:rPr>
                            <m:sty m:val="p"/>
                          </m:rPr>
                          <a:rPr lang="en-IN" sz="2400">
                            <a:solidFill>
                              <a:srgbClr val="111827"/>
                            </a:solidFill>
                            <a:latin typeface="Cambria Math" panose="02040503050406030204" pitchFamily="18" charset="0"/>
                          </a:rPr>
                          <m:t>′</m:t>
                        </m:r>
                      </m:sup>
                    </m:sSup>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𝑅</m:t>
                            </m:r>
                          </m:num>
                          <m:den>
                            <m:r>
                              <a:rPr lang="en-IN" sz="2400" i="1">
                                <a:solidFill>
                                  <a:srgbClr val="111827"/>
                                </a:solidFill>
                                <a:latin typeface="Cambria Math" panose="02040503050406030204" pitchFamily="18" charset="0"/>
                              </a:rPr>
                              <m:t>4</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8</m:t>
                            </m:r>
                          </m:den>
                        </m:f>
                        <m:r>
                          <m:rPr>
                            <m:sty m:val="p"/>
                          </m:rPr>
                          <a:rPr lang="en-IN" sz="2400">
                            <a:solidFill>
                              <a:srgbClr val="111827"/>
                            </a:solidFill>
                            <a:latin typeface="Cambria Math" panose="02040503050406030204" pitchFamily="18" charset="0"/>
                          </a:rPr>
                          <m:t>)</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e>
                        </m:rad>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1.807</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target is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1.414</m:t>
                    </m:r>
                  </m:oMath>
                </a14:m>
                <a:r>
                  <a:rPr sz="2400" b="0">
                    <a:solidFill>
                      <a:srgbClr val="111827"/>
                    </a:solidFill>
                    <a:latin typeface="Arial"/>
                  </a:rPr>
                  <a:t>, and none of the three values equals it. By uniqueness, </a:t>
                </a:r>
                <a14:m>
                  <m:oMath xmlns:m="http://schemas.openxmlformats.org/officeDocument/2006/math">
                    <m:r>
                      <a:rPr lang="en-IN" sz="2400" i="1">
                        <a:solidFill>
                          <a:srgbClr val="111827"/>
                        </a:solidFill>
                        <a:latin typeface="Cambria Math" panose="02040503050406030204" pitchFamily="18" charset="0"/>
                      </a:rPr>
                      <m:t>𝑐</m:t>
                    </m:r>
                  </m:oMath>
                </a14:m>
                <a:r>
                  <a:rPr sz="2400" b="0">
                    <a:solidFill>
                      <a:srgbClr val="111827"/>
                    </a:solidFill>
                    <a:latin typeface="Arial"/>
                  </a:rPr>
                  <a:t> is none of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𝑅</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𝑅</m:t>
                        </m:r>
                      </m:num>
                      <m:den>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𝑅</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answer (D).</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Test the options (in units of </a:t>
                </a:r>
                <a:r>
                  <a:rPr lang="en-IN" sz="2400">
                    <a:solidFill>
                      <a:srgbClr val="111827"/>
                    </a:solidFill>
                    <a:latin typeface="Cambria Math" panose="02040503050406030204" pitchFamily="18" charset="0"/>
                  </a:rPr>
                  <a:t>$R$</a:t>
                </a:r>
                <a:r>
                  <a:rPr sz="2400" b="0">
                    <a:solidFill>
                      <a:srgbClr val="111827"/>
                    </a:solidFill>
                    <a:latin typeface="Arial"/>
                  </a:rPr>
                  <a:t>): </a:t>
                </a:r>
                <a:r>
                  <a:rPr lang="en-IN" sz="2400">
                    <a:solidFill>
                      <a:srgbClr val="111827"/>
                    </a:solidFill>
                    <a:latin typeface="Cambria Math" panose="02040503050406030204" pitchFamily="18" charset="0"/>
                  </a:rPr>
                  <a:t>$A'\left(\frac R2\right)=\frac{2(1-\frac12)}{\sqrt{3/4}}\approx1.155$</a:t>
                </a:r>
                <a:r>
                  <a:rPr sz="2400" b="0">
                    <a:solidFill>
                      <a:srgbClr val="111827"/>
                    </a:solidFill>
                    <a:latin typeface="Arial"/>
                  </a:rPr>
                  <a:t>; </a:t>
                </a:r>
                <a:r>
                  <a:rPr lang="en-IN" sz="2400">
                    <a:solidFill>
                      <a:srgbClr val="111827"/>
                    </a:solidFill>
                    <a:latin typeface="Cambria Math" panose="02040503050406030204" pitchFamily="18" charset="0"/>
                  </a:rPr>
                  <a:t>$A'\left(\frac R{2\sqrt2}\right)=\frac{2(1-\frac14)}{\sqrt{7/8}}\approx1.604$</a:t>
                </a:r>
                <a:r>
                  <a:rPr sz="2400" b="0">
                    <a:solidFill>
                      <a:srgbClr val="111827"/>
                    </a:solidFill>
                    <a:latin typeface="Arial"/>
                  </a:rPr>
                  <a:t>; </a:t>
                </a:r>
                <a:r>
                  <a:rPr lang="en-IN" sz="2400">
                    <a:solidFill>
                      <a:srgbClr val="111827"/>
                    </a:solidFill>
                    <a:latin typeface="Cambria Math" panose="02040503050406030204" pitchFamily="18" charset="0"/>
                  </a:rPr>
                  <a:t>$A'\left(\frac R4\right)=\frac{2(1-\frac18)}{\sqrt{15/16}}\approx1.807$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target is </a:t>
                </a:r>
                <a:r>
                  <a:rPr lang="en-IN" sz="2400">
                    <a:solidFill>
                      <a:srgbClr val="111827"/>
                    </a:solidFill>
                    <a:latin typeface="Cambria Math" panose="02040503050406030204" pitchFamily="18" charset="0"/>
                  </a:rPr>
                  <a:t>$\sqrt2\approx1.414$</a:t>
                </a:r>
                <a:r>
                  <a:rPr sz="2400" b="0">
                    <a:solidFill>
                      <a:srgbClr val="111827"/>
                    </a:solidFill>
                    <a:latin typeface="Arial"/>
                  </a:rPr>
                  <a:t>, and none of the three values equals it. By uniqueness, </a:t>
                </a:r>
                <a:r>
                  <a:rPr lang="en-IN" sz="2400">
                    <a:solidFill>
                      <a:srgbClr val="111827"/>
                    </a:solidFill>
                    <a:latin typeface="Cambria Math" panose="02040503050406030204" pitchFamily="18" charset="0"/>
                  </a:rPr>
                  <a:t>$c$</a:t>
                </a:r>
                <a:r>
                  <a:rPr sz="2400" b="0">
                    <a:solidFill>
                      <a:srgbClr val="111827"/>
                    </a:solidFill>
                    <a:latin typeface="Arial"/>
                  </a:rPr>
                  <a:t> is none of </a:t>
                </a:r>
                <a:r>
                  <a:rPr lang="en-IN" sz="2400">
                    <a:solidFill>
                      <a:srgbClr val="111827"/>
                    </a:solidFill>
                    <a:latin typeface="Cambria Math" panose="02040503050406030204" pitchFamily="18" charset="0"/>
                  </a:rPr>
                  <a:t>$\frac R2,\frac R{2\sqrt2},\frac R4$</a:t>
                </a:r>
                <a:r>
                  <a:rPr sz="2400" b="0">
                    <a:solidFill>
                      <a:srgbClr val="111827"/>
                    </a:solidFill>
                    <a:latin typeface="Arial"/>
                  </a:rPr>
                  <a:t>: answer (D).</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None of these</a:t>
            </a:r>
            <a:endParaRPr sz="2800">
              <a:solidFill>
                <a:srgbClr val="15803D"/>
              </a:solidFill>
            </a:endParaRP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rectangle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𝑅</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e>
                    </m:rad>
                  </m:oMath>
                </a14:m>
                <a:r>
                  <a:rPr sz="2400" b="0">
                    <a:solidFill>
                      <a:srgbClr val="111827"/>
                    </a:solidFill>
                    <a:latin typeface="Arial"/>
                  </a:rPr>
                  <a:t> inscribed in a semicircle has area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𝑅</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e>
                    </m:rad>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𝑅</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𝑅</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(AM-GM), with equality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𝑅</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oMath>
                </a14:m>
                <a:r>
                  <a:rPr sz="2400" b="0">
                    <a:solidFill>
                      <a:srgbClr val="111827"/>
                    </a:solidFill>
                    <a:latin typeface="Arial"/>
                  </a:rPr>
                  <a:t>: the maximum rectangle has base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a:rPr lang="en-IN" sz="2400" i="1">
                        <a:solidFill>
                          <a:srgbClr val="111827"/>
                        </a:solidFill>
                        <a:latin typeface="Cambria Math" panose="02040503050406030204" pitchFamily="18" charset="0"/>
                      </a:rPr>
                      <m:t>𝑅</m:t>
                    </m:r>
                  </m:oMath>
                </a14:m>
                <a:r>
                  <a:rPr sz="2400" b="0">
                    <a:solidFill>
                      <a:srgbClr val="111827"/>
                    </a:solidFill>
                    <a:latin typeface="Arial"/>
                  </a:rPr>
                  <a:t> and height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𝑅</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LMVT: for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continuous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differentiable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there is </a:t>
                </a:r>
                <a14:m>
                  <m:oMath xmlns:m="http://schemas.openxmlformats.org/officeDocument/2006/math">
                    <m:r>
                      <a:rPr lang="en-IN" sz="2400" i="1">
                        <a:solidFill>
                          <a:srgbClr val="111827"/>
                        </a:solidFill>
                        <a:latin typeface="Cambria Math" panose="02040503050406030204" pitchFamily="18" charset="0"/>
                      </a:rPr>
                      <m:t>𝑐</m:t>
                    </m:r>
                  </m:oMath>
                </a14:m>
                <a:r>
                  <a:rPr sz="2400" b="0">
                    <a:solidFill>
                      <a:srgbClr val="111827"/>
                    </a:solidFill>
                    <a:latin typeface="Arial"/>
                  </a:rPr>
                  <a:t> with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𝑐</m:t>
                    </m:r>
                  </m:oMath>
                </a14:m>
                <a:r>
                  <a:rPr sz="2400" b="0">
                    <a:solidFill>
                      <a:srgbClr val="111827"/>
                    </a:solidFill>
                    <a:latin typeface="Arial"/>
                  </a:rPr>
                  <a:t> is generally not a 'nice' point (not the midpoint).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is strictly monotone, the LMVT point </a:t>
                </a:r>
                <a14:m>
                  <m:oMath xmlns:m="http://schemas.openxmlformats.org/officeDocument/2006/math">
                    <m:r>
                      <a:rPr lang="en-IN" sz="2400" i="1">
                        <a:solidFill>
                          <a:srgbClr val="111827"/>
                        </a:solidFill>
                        <a:latin typeface="Cambria Math" panose="02040503050406030204" pitchFamily="18" charset="0"/>
                      </a:rPr>
                      <m:t>𝑐</m:t>
                    </m:r>
                  </m:oMath>
                </a14:m>
                <a:r>
                  <a:rPr sz="2400" b="0">
                    <a:solidFill>
                      <a:srgbClr val="111827"/>
                    </a:solidFill>
                    <a:latin typeface="Arial"/>
                  </a:rPr>
                  <a:t> is unique, which lets you test candidate values.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Rolle's theorem is the case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(chord slope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rectangle </a:t>
                </a:r>
                <a:r>
                  <a:rPr lang="en-IN" sz="2400">
                    <a:solidFill>
                      <a:srgbClr val="111827"/>
                    </a:solidFill>
                    <a:latin typeface="Cambria Math" panose="02040503050406030204" pitchFamily="18" charset="0"/>
                  </a:rPr>
                  <a:t>$2x\times\sqrt{R^2-x^2}$</a:t>
                </a:r>
                <a:r>
                  <a:rPr sz="2400" b="0">
                    <a:solidFill>
                      <a:srgbClr val="111827"/>
                    </a:solidFill>
                    <a:latin typeface="Arial"/>
                  </a:rPr>
                  <a:t> inscribed in a semicircle has area </a:t>
                </a:r>
                <a:r>
                  <a:rPr lang="en-IN" sz="2400">
                    <a:solidFill>
                      <a:srgbClr val="111827"/>
                    </a:solidFill>
                    <a:latin typeface="Cambria Math" panose="02040503050406030204" pitchFamily="18" charset="0"/>
                  </a:rPr>
                  <a:t>$2x\sqrt{R^2-x^2}\le x^2+(R^2-x^2)=R^2$</a:t>
                </a:r>
                <a:r>
                  <a:rPr sz="2400" b="0">
                    <a:solidFill>
                      <a:srgbClr val="111827"/>
                    </a:solidFill>
                    <a:latin typeface="Arial"/>
                  </a:rPr>
                  <a:t> (AM-GM), with equality at </a:t>
                </a:r>
                <a:r>
                  <a:rPr lang="en-IN" sz="2400">
                    <a:solidFill>
                      <a:srgbClr val="111827"/>
                    </a:solidFill>
                    <a:latin typeface="Cambria Math" panose="02040503050406030204" pitchFamily="18" charset="0"/>
                  </a:rPr>
                  <a:t>$x=\frac R{\sqrt2}$</a:t>
                </a:r>
                <a:r>
                  <a:rPr sz="2400" b="0">
                    <a:solidFill>
                      <a:srgbClr val="111827"/>
                    </a:solidFill>
                    <a:latin typeface="Arial"/>
                  </a:rPr>
                  <a:t>: the maximum rectangle has base </a:t>
                </a:r>
                <a:r>
                  <a:rPr lang="en-IN" sz="2400">
                    <a:solidFill>
                      <a:srgbClr val="111827"/>
                    </a:solidFill>
                    <a:latin typeface="Cambria Math" panose="02040503050406030204" pitchFamily="18" charset="0"/>
                  </a:rPr>
                  <a:t>$\sqrt2R$</a:t>
                </a:r>
                <a:r>
                  <a:rPr sz="2400" b="0">
                    <a:solidFill>
                      <a:srgbClr val="111827"/>
                    </a:solidFill>
                    <a:latin typeface="Arial"/>
                  </a:rPr>
                  <a:t> and height </a:t>
                </a:r>
                <a:r>
                  <a:rPr lang="en-IN" sz="2400">
                    <a:solidFill>
                      <a:srgbClr val="111827"/>
                    </a:solidFill>
                    <a:latin typeface="Cambria Math" panose="02040503050406030204" pitchFamily="18" charset="0"/>
                  </a:rPr>
                  <a:t>$\frac R{\sqrt2}$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LMVT: for </a:t>
                </a:r>
                <a:r>
                  <a:rPr lang="en-IN" sz="2400">
                    <a:solidFill>
                      <a:srgbClr val="111827"/>
                    </a:solidFill>
                    <a:latin typeface="Cambria Math" panose="02040503050406030204" pitchFamily="18" charset="0"/>
                  </a:rPr>
                  <a:t>$f$</a:t>
                </a:r>
                <a:r>
                  <a:rPr sz="2400" b="0">
                    <a:solidFill>
                      <a:srgbClr val="111827"/>
                    </a:solidFill>
                    <a:latin typeface="Arial"/>
                  </a:rPr>
                  <a:t> continuous on </a:t>
                </a:r>
                <a:r>
                  <a:rPr lang="en-IN" sz="2400">
                    <a:solidFill>
                      <a:srgbClr val="111827"/>
                    </a:solidFill>
                    <a:latin typeface="Cambria Math" panose="02040503050406030204" pitchFamily="18" charset="0"/>
                  </a:rPr>
                  <a:t>$[a,b]$</a:t>
                </a:r>
                <a:r>
                  <a:rPr sz="2400" b="0">
                    <a:solidFill>
                      <a:srgbClr val="111827"/>
                    </a:solidFill>
                    <a:latin typeface="Arial"/>
                  </a:rPr>
                  <a:t> and differentiable on </a:t>
                </a:r>
                <a:r>
                  <a:rPr lang="en-IN" sz="2400">
                    <a:solidFill>
                      <a:srgbClr val="111827"/>
                    </a:solidFill>
                    <a:latin typeface="Cambria Math" panose="02040503050406030204" pitchFamily="18" charset="0"/>
                  </a:rPr>
                  <a:t>$(a,b)$</a:t>
                </a:r>
                <a:r>
                  <a:rPr sz="2400" b="0">
                    <a:solidFill>
                      <a:srgbClr val="111827"/>
                    </a:solidFill>
                    <a:latin typeface="Arial"/>
                  </a:rPr>
                  <a:t> there is </a:t>
                </a:r>
                <a:r>
                  <a:rPr lang="en-IN" sz="2400">
                    <a:solidFill>
                      <a:srgbClr val="111827"/>
                    </a:solidFill>
                    <a:latin typeface="Cambria Math" panose="02040503050406030204" pitchFamily="18" charset="0"/>
                  </a:rPr>
                  <a:t>$c$</a:t>
                </a:r>
                <a:r>
                  <a:rPr sz="2400" b="0">
                    <a:solidFill>
                      <a:srgbClr val="111827"/>
                    </a:solidFill>
                    <a:latin typeface="Arial"/>
                  </a:rPr>
                  <a:t> with </a:t>
                </a:r>
                <a:r>
                  <a:rPr lang="en-IN" sz="2400">
                    <a:solidFill>
                      <a:srgbClr val="111827"/>
                    </a:solidFill>
                    <a:latin typeface="Cambria Math" panose="02040503050406030204" pitchFamily="18" charset="0"/>
                  </a:rPr>
                  <a:t>$f'(c)=\frac{f(b)-f(a)}{b-a}$</a:t>
                </a:r>
                <a:r>
                  <a:rPr sz="2400" b="0">
                    <a:solidFill>
                      <a:srgbClr val="111827"/>
                    </a:solidFill>
                    <a:latin typeface="Arial"/>
                  </a:rPr>
                  <a:t>; </a:t>
                </a:r>
                <a:r>
                  <a:rPr lang="en-IN" sz="2400">
                    <a:solidFill>
                      <a:srgbClr val="111827"/>
                    </a:solidFill>
                    <a:latin typeface="Cambria Math" panose="02040503050406030204" pitchFamily="18" charset="0"/>
                  </a:rPr>
                  <a:t>$c$</a:t>
                </a:r>
                <a:r>
                  <a:rPr sz="2400" b="0">
                    <a:solidFill>
                      <a:srgbClr val="111827"/>
                    </a:solidFill>
                    <a:latin typeface="Arial"/>
                  </a:rPr>
                  <a:t> is generally not a 'nice' point (not the midpoint).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$f'$</a:t>
                </a:r>
                <a:r>
                  <a:rPr sz="2400" b="0">
                    <a:solidFill>
                      <a:srgbClr val="111827"/>
                    </a:solidFill>
                    <a:latin typeface="Arial"/>
                  </a:rPr>
                  <a:t> is strictly monotone, the LMVT point </a:t>
                </a:r>
                <a:r>
                  <a:rPr lang="en-IN" sz="2400">
                    <a:solidFill>
                      <a:srgbClr val="111827"/>
                    </a:solidFill>
                    <a:latin typeface="Cambria Math" panose="02040503050406030204" pitchFamily="18" charset="0"/>
                  </a:rPr>
                  <a:t>$c$</a:t>
                </a:r>
                <a:r>
                  <a:rPr sz="2400" b="0">
                    <a:solidFill>
                      <a:srgbClr val="111827"/>
                    </a:solidFill>
                    <a:latin typeface="Arial"/>
                  </a:rPr>
                  <a:t> is unique, which lets you test candidate values.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Rolle's theorem is the case </a:t>
                </a:r>
                <a:r>
                  <a:rPr lang="en-IN" sz="2400">
                    <a:solidFill>
                      <a:srgbClr val="111827"/>
                    </a:solidFill>
                    <a:latin typeface="Cambria Math" panose="02040503050406030204" pitchFamily="18" charset="0"/>
                  </a:rPr>
                  <a:t>$f(a)=f(b)$</a:t>
                </a:r>
                <a:r>
                  <a:rPr sz="2400" b="0">
                    <a:solidFill>
                      <a:srgbClr val="111827"/>
                    </a:solidFill>
                    <a:latin typeface="Arial"/>
                  </a:rPr>
                  <a:t> (chord slope </a:t>
                </a:r>
                <a:r>
                  <a:rPr lang="en-IN" sz="2400">
                    <a:solidFill>
                      <a:srgbClr val="111827"/>
                    </a:solidFill>
                    <a:latin typeface="Cambria Math" panose="02040503050406030204" pitchFamily="18" charset="0"/>
                  </a:rPr>
                  <a:t>$0$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55447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indefinite integral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e>
                        </m:rad>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den>
                    </m:f>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oMath>
                </a14:m>
                <a:r>
                  <a:rPr sz="2400" b="0">
                    <a:solidFill>
                      <a:srgbClr val="111827"/>
                    </a:solidFill>
                    <a:latin typeface="Arial"/>
                  </a:rPr>
                  <a:t> is equal to (where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is the constant of integration):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e>
                        </m:rad>
                      </m:num>
                      <m:den>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endParaRPr sz="2400">
                  <a:solidFill>
                    <a:srgbClr val="111827"/>
                  </a:solidFill>
                </a:endParaRPr>
              </a:p>
            </p:txBody>
          </p:sp>
        </mc:Choice>
        <mc:Fallback>
          <p:sp>
            <p:nvSpPr>
              <p:cNvPr id="4" name="Rounded Rectangle 3"/>
              <p:cNvSpPr/>
              <p:nvPr/>
            </p:nvSpPr>
            <p:spPr>
              <a:xfrm>
                <a:off x="731520" y="1280160"/>
                <a:ext cx="10725912" cy="355447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indefinite integral </a:t>
                </a:r>
                <a:r>
                  <a:rPr lang="en-IN" sz="2400">
                    <a:solidFill>
                      <a:srgbClr val="111827"/>
                    </a:solidFill>
                    <a:latin typeface="Cambria Math" panose="02040503050406030204" pitchFamily="18" charset="0"/>
                  </a:rPr>
                  <a:t>$\int\frac{\sqrt{1-x^2}}{x^4}\,dx$</a:t>
                </a:r>
                <a:r>
                  <a:rPr sz="2400" b="0">
                    <a:solidFill>
                      <a:srgbClr val="111827"/>
                    </a:solidFill>
                    <a:latin typeface="Arial"/>
                  </a:rPr>
                  <a:t> is equal to (where </a:t>
                </a:r>
                <a:r>
                  <a:rPr lang="en-IN" sz="2400">
                    <a:solidFill>
                      <a:srgbClr val="111827"/>
                    </a:solidFill>
                    <a:latin typeface="Cambria Math" panose="02040503050406030204" pitchFamily="18" charset="0"/>
                  </a:rPr>
                  <a:t>$C$</a:t>
                </a:r>
                <a:r>
                  <a:rPr sz="2400" b="0">
                    <a:solidFill>
                      <a:srgbClr val="111827"/>
                    </a:solidFill>
                    <a:latin typeface="Arial"/>
                  </a:rPr>
                  <a:t> is the constant of integration):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$-\frac{(1-x^2)^{3/2}}{3x^3}+C$</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r>
                  <a:rPr lang="en-IN" sz="2400">
                    <a:solidFill>
                      <a:srgbClr val="111827"/>
                    </a:solidFill>
                    <a:latin typeface="Cambria Math" panose="02040503050406030204" pitchFamily="18" charset="0"/>
                  </a:rPr>
                  <a:t>$-\frac{(1-x^2)^{3/2}}{3x^2}+C$</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r>
                  <a:rPr lang="en-IN" sz="2400">
                    <a:solidFill>
                      <a:srgbClr val="111827"/>
                    </a:solidFill>
                    <a:latin typeface="Cambria Math" panose="02040503050406030204" pitchFamily="18" charset="0"/>
                  </a:rPr>
                  <a:t>$\frac{(1-x^2)^{3/2}}{3x^3}+C$</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r>
                  <a:rPr lang="en-IN" sz="2400">
                    <a:solidFill>
                      <a:srgbClr val="111827"/>
                    </a:solidFill>
                    <a:latin typeface="Cambria Math" panose="02040503050406030204" pitchFamily="18" charset="0"/>
                  </a:rPr>
                  <a:t>$-\frac{\sqrt{1-x^2}}{3x^3}+C$</a:t>
                </a:r>
                <a:endParaRPr sz="2400">
                  <a:solidFill>
                    <a:srgbClr val="111827"/>
                  </a:solidFill>
                </a:endParaRPr>
              </a:p>
            </p:txBody>
          </p:sp>
        </mc:Fallback>
      </mc:AlternateContent>
      <p:sp>
        <p:nvSpPr>
          <p:cNvPr id="5" name="Rectangle 4"/>
          <p:cNvSpPr/>
          <p:nvPr/>
        </p:nvSpPr>
        <p:spPr>
          <a:xfrm>
            <a:off x="731520" y="5063235"/>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Integration by trigonometric substitution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Put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sin</m:t>
                    </m:r>
                    <m:r>
                      <a:rPr lang="en-IN" sz="2400" i="1">
                        <a:solidFill>
                          <a:srgbClr val="78350F"/>
                        </a:solidFill>
                        <a:latin typeface="Cambria Math" panose="02040503050406030204" pitchFamily="18" charset="0"/>
                      </a:rPr>
                      <m:t>θ</m:t>
                    </m:r>
                  </m:oMath>
                </a14:m>
                <a:r>
                  <a:rPr sz="2400" b="0">
                    <a:solidFill>
                      <a:srgbClr val="78350F"/>
                    </a:solidFill>
                    <a:latin typeface="Arial"/>
                  </a:rPr>
                  <a:t>: the integrand becomes </a:t>
                </a:r>
                <a14:m>
                  <m:oMath xmlns:m="http://schemas.openxmlformats.org/officeDocument/2006/math">
                    <m:sSup>
                      <m:e>
                        <m:r>
                          <m:rPr>
                            <m:sty m:val="p"/>
                          </m:rPr>
                          <a:rPr lang="en-IN" sz="2400">
                            <a:solidFill>
                              <a:srgbClr val="78350F"/>
                            </a:solidFill>
                            <a:latin typeface="Cambria Math" panose="02040503050406030204" pitchFamily="18" charset="0"/>
                          </a:rPr>
                          <m:t>cot</m:t>
                        </m:r>
                      </m:e>
                      <m:sup>
                        <m:r>
                          <a:rPr lang="en-IN" sz="2400" i="1">
                            <a:solidFill>
                              <a:srgbClr val="78350F"/>
                            </a:solidFill>
                            <a:latin typeface="Cambria Math" panose="02040503050406030204" pitchFamily="18" charset="0"/>
                          </a:rPr>
                          <m:t>2</m:t>
                        </m:r>
                      </m:sup>
                    </m:sSup>
                    <m:r>
                      <a:rPr lang="en-IN" sz="2400" i="1">
                        <a:solidFill>
                          <a:srgbClr val="78350F"/>
                        </a:solidFill>
                        <a:latin typeface="Cambria Math" panose="02040503050406030204" pitchFamily="18" charset="0"/>
                      </a:rPr>
                      <m:t>θ</m:t>
                    </m:r>
                    <m:sSup>
                      <m:e>
                        <m:r>
                          <m:rPr>
                            <m:sty m:val="p"/>
                          </m:rPr>
                          <a:rPr lang="en-IN" sz="2400">
                            <a:solidFill>
                              <a:srgbClr val="78350F"/>
                            </a:solidFill>
                            <a:latin typeface="Cambria Math" panose="02040503050406030204" pitchFamily="18" charset="0"/>
                          </a:rPr>
                          <m:t>csc</m:t>
                        </m:r>
                      </m:e>
                      <m:sup>
                        <m:r>
                          <a:rPr lang="en-IN" sz="2400" i="1">
                            <a:solidFill>
                              <a:srgbClr val="78350F"/>
                            </a:solidFill>
                            <a:latin typeface="Cambria Math" panose="02040503050406030204" pitchFamily="18" charset="0"/>
                          </a:rPr>
                          <m:t>2</m:t>
                        </m:r>
                      </m:sup>
                    </m:sSup>
                    <m:r>
                      <a:rPr lang="en-IN" sz="2400" i="1">
                        <a:solidFill>
                          <a:srgbClr val="78350F"/>
                        </a:solidFill>
                        <a:latin typeface="Cambria Math" panose="02040503050406030204" pitchFamily="18" charset="0"/>
                      </a:rPr>
                      <m:t>θ</m:t>
                    </m:r>
                    <m:r>
                      <a:rPr lang="en-IN" sz="2400" i="1">
                        <a:solidFill>
                          <a:srgbClr val="78350F"/>
                        </a:solidFill>
                        <a:latin typeface="Cambria Math" panose="02040503050406030204" pitchFamily="18" charset="0"/>
                      </a:rPr>
                      <m:t> </m:t>
                    </m:r>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θ</m:t>
                    </m:r>
                  </m:oMath>
                </a14:m>
                <a:r>
                  <a:rPr sz="2400" b="0">
                    <a:solidFill>
                      <a:srgbClr val="78350F"/>
                    </a:solidFill>
                    <a:latin typeface="Arial"/>
                  </a:rPr>
                  <a:t>, which is </a:t>
                </a:r>
                <a14:m>
                  <m:oMath xmlns:m="http://schemas.openxmlformats.org/officeDocument/2006/math">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𝑡</m:t>
                        </m:r>
                      </m:e>
                      <m:sup>
                        <m:r>
                          <a:rPr lang="en-IN" sz="2400" i="1">
                            <a:solidFill>
                              <a:srgbClr val="78350F"/>
                            </a:solidFill>
                            <a:latin typeface="Cambria Math" panose="02040503050406030204" pitchFamily="18" charset="0"/>
                          </a:rPr>
                          <m:t>2</m:t>
                        </m:r>
                      </m:sup>
                    </m:sSup>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𝑡</m:t>
                    </m:r>
                  </m:oMath>
                </a14:m>
                <a:r>
                  <a:rPr sz="2400" b="0">
                    <a:solidFill>
                      <a:srgbClr val="78350F"/>
                    </a:solidFill>
                    <a:latin typeface="Arial"/>
                  </a:rPr>
                  <a:t> for </a:t>
                </a:r>
                <a14:m>
                  <m:oMath xmlns:m="http://schemas.openxmlformats.org/officeDocument/2006/math">
                    <m:r>
                      <a:rPr lang="en-IN" sz="2400" i="1">
                        <a:solidFill>
                          <a:srgbClr val="78350F"/>
                        </a:solidFill>
                        <a:latin typeface="Cambria Math" panose="02040503050406030204" pitchFamily="18" charset="0"/>
                      </a:rPr>
                      <m:t>𝑡</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cot</m:t>
                    </m:r>
                    <m:r>
                      <a:rPr lang="en-IN" sz="2400" i="1">
                        <a:solidFill>
                          <a:srgbClr val="78350F"/>
                        </a:solidFill>
                        <a:latin typeface="Cambria Math" panose="02040503050406030204" pitchFamily="18" charset="0"/>
                      </a:rPr>
                      <m:t>θ</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Put </a:t>
                </a:r>
                <a:r>
                  <a:rPr lang="en-IN" sz="2400">
                    <a:solidFill>
                      <a:srgbClr val="78350F"/>
                    </a:solidFill>
                    <a:latin typeface="Cambria Math" panose="02040503050406030204" pitchFamily="18" charset="0"/>
                  </a:rPr>
                  <a:t>$x=\sin\theta$</a:t>
                </a:r>
                <a:r>
                  <a:rPr sz="2400" b="0">
                    <a:solidFill>
                      <a:srgbClr val="78350F"/>
                    </a:solidFill>
                    <a:latin typeface="Arial"/>
                  </a:rPr>
                  <a:t>: the integrand becomes </a:t>
                </a:r>
                <a:r>
                  <a:rPr lang="en-IN" sz="2400">
                    <a:solidFill>
                      <a:srgbClr val="78350F"/>
                    </a:solidFill>
                    <a:latin typeface="Cambria Math" panose="02040503050406030204" pitchFamily="18" charset="0"/>
                  </a:rPr>
                  <a:t>$\cot^2\theta\csc^2\theta\,d\theta$</a:t>
                </a:r>
                <a:r>
                  <a:rPr sz="2400" b="0">
                    <a:solidFill>
                      <a:srgbClr val="78350F"/>
                    </a:solidFill>
                    <a:latin typeface="Arial"/>
                  </a:rPr>
                  <a:t>, which is </a:t>
                </a:r>
                <a:r>
                  <a:rPr lang="en-IN" sz="2400">
                    <a:solidFill>
                      <a:srgbClr val="78350F"/>
                    </a:solidFill>
                    <a:latin typeface="Cambria Math" panose="02040503050406030204" pitchFamily="18" charset="0"/>
                  </a:rPr>
                  <a:t>$-t^2dt$</a:t>
                </a:r>
                <a:r>
                  <a:rPr sz="2400" b="0">
                    <a:solidFill>
                      <a:srgbClr val="78350F"/>
                    </a:solidFill>
                    <a:latin typeface="Arial"/>
                  </a:rPr>
                  <a:t> for </a:t>
                </a:r>
                <a:r>
                  <a:rPr lang="en-IN" sz="2400">
                    <a:solidFill>
                      <a:srgbClr val="78350F"/>
                    </a:solidFill>
                    <a:latin typeface="Cambria Math" panose="02040503050406030204" pitchFamily="18" charset="0"/>
                  </a:rPr>
                  <a:t>$t=\cot\theta$</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e>
                        </m:rad>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den>
                    </m:f>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oMath>
                </a14:m>
                <a:r>
                  <a:rPr sz="2400" b="0">
                    <a:solidFill>
                      <a:srgbClr val="111827"/>
                    </a:solidFill>
                    <a:latin typeface="Arial"/>
                  </a:rPr>
                  <a:t>. Substitute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θ</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θ</m:t>
                            </m:r>
                          </m:e>
                        </m:rad>
                      </m:num>
                      <m:den>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4</m:t>
                            </m:r>
                          </m:sup>
                        </m:sSup>
                        <m:r>
                          <a:rPr lang="en-IN" sz="2400" i="1">
                            <a:solidFill>
                              <a:srgbClr val="111827"/>
                            </a:solidFill>
                            <a:latin typeface="Cambria Math" panose="02040503050406030204" pitchFamily="18" charset="0"/>
                          </a:rPr>
                          <m:t>θ</m:t>
                        </m:r>
                      </m:den>
                    </m:f>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θ</m:t>
                        </m:r>
                      </m:num>
                      <m:den>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4</m:t>
                            </m:r>
                          </m:sup>
                        </m:sSup>
                        <m:r>
                          <a:rPr lang="en-IN" sz="2400" i="1">
                            <a:solidFill>
                              <a:srgbClr val="111827"/>
                            </a:solidFill>
                            <a:latin typeface="Cambria Math" panose="02040503050406030204" pitchFamily="18" charset="0"/>
                          </a:rPr>
                          <m:t>θ</m:t>
                        </m:r>
                      </m:den>
                    </m:f>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cot</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θ</m:t>
                    </m:r>
                    <m:sSup>
                      <m:e>
                        <m:r>
                          <m:rPr>
                            <m:sty m:val="p"/>
                          </m:rPr>
                          <a:rPr lang="en-IN" sz="2400">
                            <a:solidFill>
                              <a:srgbClr val="111827"/>
                            </a:solidFill>
                            <a:latin typeface="Cambria Math" panose="02040503050406030204" pitchFamily="18" charset="0"/>
                          </a:rPr>
                          <m:t>csc</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θ</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θ</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Now put </a:t>
                </a:r>
                <a14:m>
                  <m:oMath xmlns:m="http://schemas.openxmlformats.org/officeDocument/2006/math">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oMath>
                </a14:m>
                <a:r>
                  <a:rPr sz="2400" b="0">
                    <a:solidFill>
                      <a:srgbClr val="111827"/>
                    </a:solidFill>
                    <a:latin typeface="Arial"/>
                  </a:rPr>
                  <a:t>, so </a:t>
                </a:r>
                <a14:m>
                  <m:oMath xmlns:m="http://schemas.openxmlformats.org/officeDocument/2006/math">
                    <m:sSup>
                      <m:e>
                        <m:r>
                          <m:rPr>
                            <m:sty m:val="p"/>
                          </m:rPr>
                          <a:rPr lang="en-IN" sz="2400">
                            <a:solidFill>
                              <a:srgbClr val="111827"/>
                            </a:solidFill>
                            <a:latin typeface="Cambria Math" panose="02040503050406030204" pitchFamily="18" charset="0"/>
                          </a:rPr>
                          <m:t>csc</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θ</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$I=\int\frac{\sqrt{1-x^2}}{x^4}\,dx$</a:t>
                </a:r>
                <a:r>
                  <a:rPr sz="2400" b="0">
                    <a:solidFill>
                      <a:srgbClr val="111827"/>
                    </a:solidFill>
                    <a:latin typeface="Arial"/>
                  </a:rPr>
                  <a:t>. Substitute </a:t>
                </a:r>
                <a:r>
                  <a:rPr lang="en-IN" sz="2400">
                    <a:solidFill>
                      <a:srgbClr val="111827"/>
                    </a:solidFill>
                    <a:latin typeface="Cambria Math" panose="02040503050406030204" pitchFamily="18" charset="0"/>
                  </a:rPr>
                  <a:t>$x=\sin\theta$</a:t>
                </a:r>
                <a:r>
                  <a:rPr sz="2400" b="0">
                    <a:solidFill>
                      <a:srgbClr val="111827"/>
                    </a:solidFill>
                    <a:latin typeface="Arial"/>
                  </a:rPr>
                  <a:t>, so </a:t>
                </a:r>
                <a:r>
                  <a:rPr lang="en-IN" sz="2400">
                    <a:solidFill>
                      <a:srgbClr val="111827"/>
                    </a:solidFill>
                    <a:latin typeface="Cambria Math" panose="02040503050406030204" pitchFamily="18" charset="0"/>
                  </a:rPr>
                  <a:t>$dx=\cos\theta\,d\theta$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$I=\int\frac{\sqrt{1-\sin^2\theta}}{\sin^4\theta}\cos\theta\,d\theta=\int\frac{\cos^2\theta}{\sin^4\theta}\,d\theta=\int\cot^2\theta\csc^2\theta\,d\theta$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Now put </a:t>
                </a:r>
                <a:r>
                  <a:rPr lang="en-IN" sz="2400">
                    <a:solidFill>
                      <a:srgbClr val="111827"/>
                    </a:solidFill>
                    <a:latin typeface="Cambria Math" panose="02040503050406030204" pitchFamily="18" charset="0"/>
                  </a:rPr>
                  <a:t>$\cot\theta=t$</a:t>
                </a:r>
                <a:r>
                  <a:rPr sz="2400" b="0">
                    <a:solidFill>
                      <a:srgbClr val="111827"/>
                    </a:solidFill>
                    <a:latin typeface="Arial"/>
                  </a:rPr>
                  <a:t>, so </a:t>
                </a:r>
                <a:r>
                  <a:rPr lang="en-IN" sz="2400">
                    <a:solidFill>
                      <a:srgbClr val="111827"/>
                    </a:solidFill>
                    <a:latin typeface="Cambria Math" panose="02040503050406030204" pitchFamily="18" charset="0"/>
                  </a:rPr>
                  <a:t>$\csc^2\theta\,d\theta=-dt$</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3</m:t>
                            </m:r>
                          </m:sup>
                        </m:sSup>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m:rPr>
                                <m:sty m:val="p"/>
                              </m:rPr>
                              <a:rPr lang="en-IN" sz="2400">
                                <a:solidFill>
                                  <a:srgbClr val="111827"/>
                                </a:solidFill>
                                <a:latin typeface="Cambria Math" panose="02040503050406030204" pitchFamily="18" charset="0"/>
                              </a:rPr>
                              <m:t>cot</m:t>
                            </m:r>
                          </m:e>
                          <m:sup>
                            <m:r>
                              <a:rPr lang="en-IN" sz="2400" i="1">
                                <a:solidFill>
                                  <a:srgbClr val="111827"/>
                                </a:solidFill>
                                <a:latin typeface="Cambria Math" panose="02040503050406030204" pitchFamily="18" charset="0"/>
                              </a:rPr>
                              <m:t>3</m:t>
                            </m:r>
                          </m:sup>
                        </m:sSup>
                        <m:r>
                          <a:rPr lang="en-IN" sz="2400" i="1">
                            <a:solidFill>
                              <a:srgbClr val="111827"/>
                            </a:solidFill>
                            <a:latin typeface="Cambria Math" panose="02040503050406030204" pitchFamily="18" charset="0"/>
                          </a:rPr>
                          <m:t>θ</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e>
                        </m:rad>
                      </m:num>
                      <m:den>
                        <m:r>
                          <a:rPr lang="en-IN" sz="2400" i="1">
                            <a:solidFill>
                              <a:srgbClr val="111827"/>
                            </a:solidFill>
                            <a:latin typeface="Cambria Math" panose="02040503050406030204" pitchFamily="18" charset="0"/>
                          </a:rPr>
                          <m:t>𝑥</m:t>
                        </m:r>
                      </m:den>
                    </m:f>
                  </m:oMath>
                </a14:m>
                <a:r>
                  <a:rPr sz="2400" b="0">
                    <a:solidFill>
                      <a:srgbClr val="111827"/>
                    </a:solidFill>
                    <a:latin typeface="Arial"/>
                  </a:rPr>
                  <a:t>, we get </a:t>
                </a:r>
                <a14:m>
                  <m:oMath xmlns:m="http://schemas.openxmlformats.org/officeDocument/2006/math">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$I=-\int t^2\,dt=-\frac{t^3}3+C=-\frac{\cot^3\theta}3+C$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$\cot\theta=\frac{\sqrt{1-x^2}}x$</a:t>
                </a:r>
                <a:r>
                  <a:rPr sz="2400" b="0">
                    <a:solidFill>
                      <a:srgbClr val="111827"/>
                    </a:solidFill>
                    <a:latin typeface="Arial"/>
                  </a:rPr>
                  <a:t>, we get </a:t>
                </a:r>
                <a:r>
                  <a:rPr lang="en-IN" sz="2400">
                    <a:solidFill>
                      <a:srgbClr val="111827"/>
                    </a:solidFill>
                    <a:latin typeface="Cambria Math" panose="02040503050406030204" pitchFamily="18" charset="0"/>
                  </a:rPr>
                  <a:t>$I=-\frac{(1-x^2)^{3/2}}{3x^3}+C$</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14:m>
                  <m:oMath xmlns:m="http://schemas.openxmlformats.org/officeDocument/2006/math">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r>
                          <m:rPr>
                            <m:sty m:val="p"/>
                          </m:rPr>
                          <a:rPr lang="en-IN" sz="2800">
                            <a:solidFill>
                              <a:srgbClr val="15803D"/>
                            </a:solidFill>
                            <a:latin typeface="Cambria Math" panose="02040503050406030204" pitchFamily="18" charset="0"/>
                          </a:rPr>
                          <m:t>−</m:t>
                        </m:r>
                        <m:sSup>
                          <m:e>
                            <m:r>
                              <a:rPr lang="en-IN" sz="2800" i="1">
                                <a:solidFill>
                                  <a:srgbClr val="15803D"/>
                                </a:solidFill>
                                <a:latin typeface="Cambria Math" panose="02040503050406030204" pitchFamily="18" charset="0"/>
                              </a:rPr>
                              <m:t>𝑥</m:t>
                            </m:r>
                          </m:e>
                          <m:sup>
                            <m:r>
                              <a:rPr lang="en-IN" sz="2800" i="1">
                                <a:solidFill>
                                  <a:srgbClr val="15803D"/>
                                </a:solidFill>
                                <a:latin typeface="Cambria Math" panose="02040503050406030204" pitchFamily="18" charset="0"/>
                              </a:rPr>
                              <m:t>2</m:t>
                            </m:r>
                          </m:sup>
                        </m:sSup>
                        <m:sSup>
                          <m:e>
                            <m:r>
                              <m:rPr>
                                <m:sty m:val="p"/>
                              </m:rPr>
                              <a:rPr lang="en-IN" sz="2800">
                                <a:solidFill>
                                  <a:srgbClr val="15803D"/>
                                </a:solidFill>
                                <a:latin typeface="Cambria Math" panose="02040503050406030204" pitchFamily="18" charset="0"/>
                              </a:rPr>
                              <m:t>)</m:t>
                            </m:r>
                          </m:e>
                          <m:sup>
                            <m:r>
                              <a:rPr lang="en-IN" sz="2800" i="1">
                                <a:solidFill>
                                  <a:srgbClr val="15803D"/>
                                </a:solidFill>
                                <a:latin typeface="Cambria Math" panose="02040503050406030204" pitchFamily="18" charset="0"/>
                              </a:rPr>
                              <m:t>3</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2</m:t>
                            </m:r>
                          </m:sup>
                        </m:sSup>
                      </m:num>
                      <m:den>
                        <m:r>
                          <a:rPr lang="en-IN" sz="2800" i="1">
                            <a:solidFill>
                              <a:srgbClr val="15803D"/>
                            </a:solidFill>
                            <a:latin typeface="Cambria Math" panose="02040503050406030204" pitchFamily="18" charset="0"/>
                          </a:rPr>
                          <m:t>3</m:t>
                        </m:r>
                        <m:sSup>
                          <m:e>
                            <m:r>
                              <a:rPr lang="en-IN" sz="2800" i="1">
                                <a:solidFill>
                                  <a:srgbClr val="15803D"/>
                                </a:solidFill>
                                <a:latin typeface="Cambria Math" panose="02040503050406030204" pitchFamily="18" charset="0"/>
                              </a:rPr>
                              <m:t>𝑥</m:t>
                            </m:r>
                          </m:e>
                          <m:sup>
                            <m:r>
                              <a:rPr lang="en-IN" sz="2800" i="1">
                                <a:solidFill>
                                  <a:srgbClr val="15803D"/>
                                </a:solidFill>
                                <a:latin typeface="Cambria Math" panose="02040503050406030204" pitchFamily="18" charset="0"/>
                              </a:rPr>
                              <m:t>3</m:t>
                            </m:r>
                          </m:sup>
                        </m:sSup>
                      </m:den>
                    </m:f>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𝐶</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r>
                  <a:rPr lang="en-IN" sz="2800">
                    <a:solidFill>
                      <a:srgbClr val="15803D"/>
                    </a:solidFill>
                    <a:latin typeface="Cambria Math" panose="02040503050406030204" pitchFamily="18" charset="0"/>
                  </a:rPr>
                  <a:t>$-\frac{(1-x^2)^{3/2}}{3x^3}+C$</a:t>
                </a:r>
                <a:endParaRPr sz="2800">
                  <a:solidFill>
                    <a:srgbClr val="15803D"/>
                  </a:solidFill>
                </a:endParaRPr>
              </a:p>
            </p:txBody>
          </p:sp>
        </mc:Fallback>
      </mc:AlternateContent>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Reciprocal substitution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𝑡</m:t>
                        </m:r>
                      </m:den>
                    </m:f>
                  </m:oMath>
                </a14:m>
                <a:r>
                  <a:rPr sz="2400" b="0">
                    <a:solidFill>
                      <a:srgbClr val="78350F"/>
                    </a:solidFill>
                    <a:latin typeface="Arial"/>
                  </a:rPr>
                  <a:t> turns the integrand into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𝑡</m:t>
                    </m:r>
                    <m:rad>
                      <m:radPr>
                        <m:degHide m:val="on"/>
                        <m:ctrlPr>
                          <a:rPr lang="en-IN" sz="2400" i="1">
                            <a:solidFill>
                              <a:srgbClr val="78350F"/>
                            </a:solidFill>
                            <a:latin typeface="Cambria Math" panose="02040503050406030204" pitchFamily="18" charset="0"/>
                          </a:rPr>
                        </m:ctrlPr>
                      </m:radPr>
                      <m:deg/>
                      <m:e>
                        <m:sSup>
                          <m:e>
                            <m:r>
                              <a:rPr lang="en-IN" sz="2400" i="1">
                                <a:solidFill>
                                  <a:srgbClr val="78350F"/>
                                </a:solidFill>
                                <a:latin typeface="Cambria Math" panose="02040503050406030204" pitchFamily="18" charset="0"/>
                              </a:rPr>
                              <m:t>𝑡</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e>
                    </m:rad>
                  </m:oMath>
                </a14:m>
                <a:r>
                  <a:rPr sz="2400" b="0">
                    <a:solidFill>
                      <a:srgbClr val="78350F"/>
                    </a:solidFill>
                    <a:latin typeface="Arial"/>
                  </a:rPr>
                  <a:t>, a direct power integral.</a:t>
                </a:r>
                <a:endParaRPr sz="2400">
                  <a:solidFill>
                    <a:srgbClr val="78350F"/>
                  </a:solidFill>
                </a:endParaRPr>
              </a:p>
            </p:txBody>
          </p:sp>
        </mc:Choice>
        <mc:Fallback>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Reciprocal substitution </a:t>
                </a:r>
                <a:r>
                  <a:rPr lang="en-IN" sz="2400">
                    <a:solidFill>
                      <a:srgbClr val="78350F"/>
                    </a:solidFill>
                    <a:latin typeface="Cambria Math" panose="02040503050406030204" pitchFamily="18" charset="0"/>
                  </a:rPr>
                  <a:t>$x=\frac1t$</a:t>
                </a:r>
                <a:r>
                  <a:rPr sz="2400" b="0">
                    <a:solidFill>
                      <a:srgbClr val="78350F"/>
                    </a:solidFill>
                    <a:latin typeface="Arial"/>
                  </a:rPr>
                  <a:t> turns the integrand into </a:t>
                </a:r>
                <a:r>
                  <a:rPr lang="en-IN" sz="2400">
                    <a:solidFill>
                      <a:srgbClr val="78350F"/>
                    </a:solidFill>
                    <a:latin typeface="Cambria Math" panose="02040503050406030204" pitchFamily="18" charset="0"/>
                  </a:rPr>
                  <a:t>$-t\sqrt{t^2-1}$</a:t>
                </a:r>
                <a:r>
                  <a:rPr sz="2400" b="0">
                    <a:solidFill>
                      <a:srgbClr val="78350F"/>
                    </a:solidFill>
                    <a:latin typeface="Arial"/>
                  </a:rPr>
                  <a:t>, a direct power integral.</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636520"/>
                <a:ext cx="10725912" cy="315163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𝑡</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num>
                      <m:den>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 and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e>
                    </m:ra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rad>
                      </m:num>
                      <m:den>
                        <m:r>
                          <a:rPr lang="en-IN" sz="2400" i="1">
                            <a:solidFill>
                              <a:srgbClr val="111827"/>
                            </a:solidFill>
                            <a:latin typeface="Cambria Math" panose="02040503050406030204" pitchFamily="18" charset="0"/>
                          </a:rPr>
                          <m:t>𝑡</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e>
                        </m:rad>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den>
                    </m:f>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rad>
                      </m:num>
                      <m:den>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num>
                          <m:den>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den>
                        </m:f>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rad>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rad>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Back-substitute </a:t>
                </a:r>
                <a14:m>
                  <m:oMath xmlns:m="http://schemas.openxmlformats.org/officeDocument/2006/math">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636520"/>
                <a:ext cx="10725912" cy="315163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$x=\frac1t$</a:t>
                </a:r>
                <a:r>
                  <a:rPr sz="2400" b="0">
                    <a:solidFill>
                      <a:srgbClr val="111827"/>
                    </a:solidFill>
                    <a:latin typeface="Arial"/>
                  </a:rPr>
                  <a:t> (</a:t>
                </a:r>
                <a:r>
                  <a:rPr lang="en-IN" sz="2400">
                    <a:solidFill>
                      <a:srgbClr val="111827"/>
                    </a:solidFill>
                    <a:latin typeface="Cambria Math" panose="02040503050406030204" pitchFamily="18" charset="0"/>
                  </a:rPr>
                  <a:t>$t&gt;1$</a:t>
                </a:r>
                <a:r>
                  <a:rPr sz="2400" b="0">
                    <a:solidFill>
                      <a:srgbClr val="111827"/>
                    </a:solidFill>
                    <a:latin typeface="Arial"/>
                  </a:rPr>
                  <a:t> for </a:t>
                </a:r>
                <a:r>
                  <a:rPr lang="en-IN" sz="2400">
                    <a:solidFill>
                      <a:srgbClr val="111827"/>
                    </a:solidFill>
                    <a:latin typeface="Cambria Math" panose="02040503050406030204" pitchFamily="18" charset="0"/>
                  </a:rPr>
                  <a:t>$0&lt;x&lt;1$</a:t>
                </a:r>
                <a:r>
                  <a:rPr sz="2400" b="0">
                    <a:solidFill>
                      <a:srgbClr val="111827"/>
                    </a:solidFill>
                    <a:latin typeface="Arial"/>
                  </a:rPr>
                  <a:t>), so </a:t>
                </a:r>
                <a:r>
                  <a:rPr lang="en-IN" sz="2400">
                    <a:solidFill>
                      <a:srgbClr val="111827"/>
                    </a:solidFill>
                    <a:latin typeface="Cambria Math" panose="02040503050406030204" pitchFamily="18" charset="0"/>
                  </a:rPr>
                  <a:t>$dx=-\frac{dt}{t^2}$</a:t>
                </a:r>
                <a:r>
                  <a:rPr sz="2400" b="0">
                    <a:solidFill>
                      <a:srgbClr val="111827"/>
                    </a:solidFill>
                    <a:latin typeface="Arial"/>
                  </a:rPr>
                  <a:t> and </a:t>
                </a:r>
                <a:r>
                  <a:rPr lang="en-IN" sz="2400">
                    <a:solidFill>
                      <a:srgbClr val="111827"/>
                    </a:solidFill>
                    <a:latin typeface="Cambria Math" panose="02040503050406030204" pitchFamily="18" charset="0"/>
                  </a:rPr>
                  <a:t>$\sqrt{1-x^2}=\frac{\sqrt{t^2-1}}t$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$\frac{\sqrt{1-x^2}}{x^4}dx=\frac{\sqrt{t^2-1}}t\cdot t^4\cdot\left(-\frac{dt}{t^2}\right)=-t\sqrt{t^2-1}\,dt$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$\int-t\sqrt{t^2-1}\,dt=-\frac13(t^2-1)^{3/2}+C$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Back-substitute </a:t>
                </a:r>
                <a:r>
                  <a:rPr lang="en-IN" sz="2400">
                    <a:solidFill>
                      <a:srgbClr val="111827"/>
                    </a:solidFill>
                    <a:latin typeface="Cambria Math" panose="02040503050406030204" pitchFamily="18" charset="0"/>
                  </a:rPr>
                  <a:t>$t^2-1=\frac{1-x^2}{x^2}$</a:t>
                </a:r>
                <a:r>
                  <a:rPr sz="2400" b="0">
                    <a:solidFill>
                      <a:srgbClr val="111827"/>
                    </a:solidFill>
                    <a:latin typeface="Arial"/>
                  </a:rPr>
                  <a:t>: </a:t>
                </a:r>
                <a:r>
                  <a:rPr lang="en-IN" sz="2400">
                    <a:solidFill>
                      <a:srgbClr val="111827"/>
                    </a:solidFill>
                    <a:latin typeface="Cambria Math" panose="02040503050406030204" pitchFamily="18" charset="0"/>
                  </a:rPr>
                  <a:t>$-\frac13\cdot\frac{(1-x^2)^{3/2}}{x^3}+C$</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14:m>
                  <m:oMath xmlns:m="http://schemas.openxmlformats.org/officeDocument/2006/math">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r>
                          <m:rPr>
                            <m:sty m:val="p"/>
                          </m:rPr>
                          <a:rPr lang="en-IN" sz="2800">
                            <a:solidFill>
                              <a:srgbClr val="15803D"/>
                            </a:solidFill>
                            <a:latin typeface="Cambria Math" panose="02040503050406030204" pitchFamily="18" charset="0"/>
                          </a:rPr>
                          <m:t>−</m:t>
                        </m:r>
                        <m:sSup>
                          <m:e>
                            <m:r>
                              <a:rPr lang="en-IN" sz="2800" i="1">
                                <a:solidFill>
                                  <a:srgbClr val="15803D"/>
                                </a:solidFill>
                                <a:latin typeface="Cambria Math" panose="02040503050406030204" pitchFamily="18" charset="0"/>
                              </a:rPr>
                              <m:t>𝑥</m:t>
                            </m:r>
                          </m:e>
                          <m:sup>
                            <m:r>
                              <a:rPr lang="en-IN" sz="2800" i="1">
                                <a:solidFill>
                                  <a:srgbClr val="15803D"/>
                                </a:solidFill>
                                <a:latin typeface="Cambria Math" panose="02040503050406030204" pitchFamily="18" charset="0"/>
                              </a:rPr>
                              <m:t>2</m:t>
                            </m:r>
                          </m:sup>
                        </m:sSup>
                        <m:sSup>
                          <m:e>
                            <m:r>
                              <m:rPr>
                                <m:sty m:val="p"/>
                              </m:rPr>
                              <a:rPr lang="en-IN" sz="2800">
                                <a:solidFill>
                                  <a:srgbClr val="15803D"/>
                                </a:solidFill>
                                <a:latin typeface="Cambria Math" panose="02040503050406030204" pitchFamily="18" charset="0"/>
                              </a:rPr>
                              <m:t>)</m:t>
                            </m:r>
                          </m:e>
                          <m:sup>
                            <m:r>
                              <a:rPr lang="en-IN" sz="2800" i="1">
                                <a:solidFill>
                                  <a:srgbClr val="15803D"/>
                                </a:solidFill>
                                <a:latin typeface="Cambria Math" panose="02040503050406030204" pitchFamily="18" charset="0"/>
                              </a:rPr>
                              <m:t>3</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2</m:t>
                            </m:r>
                          </m:sup>
                        </m:sSup>
                      </m:num>
                      <m:den>
                        <m:r>
                          <a:rPr lang="en-IN" sz="2800" i="1">
                            <a:solidFill>
                              <a:srgbClr val="15803D"/>
                            </a:solidFill>
                            <a:latin typeface="Cambria Math" panose="02040503050406030204" pitchFamily="18" charset="0"/>
                          </a:rPr>
                          <m:t>3</m:t>
                        </m:r>
                        <m:sSup>
                          <m:e>
                            <m:r>
                              <a:rPr lang="en-IN" sz="2800" i="1">
                                <a:solidFill>
                                  <a:srgbClr val="15803D"/>
                                </a:solidFill>
                                <a:latin typeface="Cambria Math" panose="02040503050406030204" pitchFamily="18" charset="0"/>
                              </a:rPr>
                              <m:t>𝑥</m:t>
                            </m:r>
                          </m:e>
                          <m:sup>
                            <m:r>
                              <a:rPr lang="en-IN" sz="2800" i="1">
                                <a:solidFill>
                                  <a:srgbClr val="15803D"/>
                                </a:solidFill>
                                <a:latin typeface="Cambria Math" panose="02040503050406030204" pitchFamily="18" charset="0"/>
                              </a:rPr>
                              <m:t>3</m:t>
                            </m:r>
                          </m:sup>
                        </m:sSup>
                      </m:den>
                    </m:f>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𝐶</m:t>
                    </m:r>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r>
                  <a:rPr lang="en-IN" sz="2800">
                    <a:solidFill>
                      <a:srgbClr val="15803D"/>
                    </a:solidFill>
                    <a:latin typeface="Cambria Math" panose="02040503050406030204" pitchFamily="18" charset="0"/>
                  </a:rPr>
                  <a:t>$-\frac{(1-x^2)^{3/2}}{3x^3}+C$</a:t>
                </a:r>
                <a:endParaRPr sz="2800">
                  <a:solidFill>
                    <a:srgbClr val="15803D"/>
                  </a:solidFill>
                </a:endParaRPr>
              </a:p>
            </p:txBody>
          </p:sp>
        </mc:Fallback>
      </mc:AlternateContent>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e>
                        </m:rad>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den>
                    </m:f>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(check by differentiating;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here).</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e>
                        </m:rad>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e>
                        </m:rad>
                      </m:num>
                      <m:den>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𝑎</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is the neighbouring standard form.</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e>
                    </m:rad>
                  </m:oMath>
                </a14:m>
                <a:r>
                  <a:rPr sz="2400" b="0">
                    <a:solidFill>
                      <a:srgbClr val="111827"/>
                    </a:solidFill>
                    <a:latin typeface="Arial"/>
                  </a:rPr>
                  <a:t> with powers of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in the denominator: try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oMath>
                </a14:m>
                <a:r>
                  <a:rPr sz="2400" b="0">
                    <a:solidFill>
                      <a:srgbClr val="111827"/>
                    </a:solidFill>
                    <a:latin typeface="Arial"/>
                  </a:rPr>
                  <a:t> then </a:t>
                </a:r>
                <a14:m>
                  <m:oMath xmlns:m="http://schemas.openxmlformats.org/officeDocument/2006/math">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θ</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𝑡</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quick check among options: differentiate the candidate; for 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e>
                            </m:d>
                          </m:e>
                          <m:sup>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e>
                        </m:rad>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$\int\frac{\sqrt{a^2-x^2}}{x^4}dx=-\frac{(a^2-x^2)^{3/2}}{3a^2x^3}+C$</a:t>
                </a:r>
                <a:r>
                  <a:rPr sz="2400" b="0">
                    <a:solidFill>
                      <a:srgbClr val="111827"/>
                    </a:solidFill>
                    <a:latin typeface="Arial"/>
                  </a:rPr>
                  <a:t> (check by differentiating; </a:t>
                </a:r>
                <a:r>
                  <a:rPr lang="en-IN" sz="2400">
                    <a:solidFill>
                      <a:srgbClr val="111827"/>
                    </a:solidFill>
                    <a:latin typeface="Cambria Math" panose="02040503050406030204" pitchFamily="18" charset="0"/>
                  </a:rPr>
                  <a:t>$a=1$</a:t>
                </a:r>
                <a:r>
                  <a:rPr sz="2400" b="0">
                    <a:solidFill>
                      <a:srgbClr val="111827"/>
                    </a:solidFill>
                    <a:latin typeface="Arial"/>
                  </a:rPr>
                  <a:t> here).</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$\int\frac{\sqrt{a^2-x^2}}{x^2}dx=-\frac{\sqrt{a^2-x^2}}x-\sin^{-1}\frac xa+C$</a:t>
                </a:r>
                <a:r>
                  <a:rPr sz="2400" b="0">
                    <a:solidFill>
                      <a:srgbClr val="111827"/>
                    </a:solidFill>
                    <a:latin typeface="Arial"/>
                  </a:rPr>
                  <a:t> is the neighbouring standard form.</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$\sqrt{1-x^2}$</a:t>
                </a:r>
                <a:r>
                  <a:rPr sz="2400" b="0">
                    <a:solidFill>
                      <a:srgbClr val="111827"/>
                    </a:solidFill>
                    <a:latin typeface="Arial"/>
                  </a:rPr>
                  <a:t> with powers of </a:t>
                </a:r>
                <a:r>
                  <a:rPr lang="en-IN" sz="2400">
                    <a:solidFill>
                      <a:srgbClr val="111827"/>
                    </a:solidFill>
                    <a:latin typeface="Cambria Math" panose="02040503050406030204" pitchFamily="18" charset="0"/>
                  </a:rPr>
                  <a:t>$x$</a:t>
                </a:r>
                <a:r>
                  <a:rPr sz="2400" b="0">
                    <a:solidFill>
                      <a:srgbClr val="111827"/>
                    </a:solidFill>
                    <a:latin typeface="Arial"/>
                  </a:rPr>
                  <a:t> in the denominator: try </a:t>
                </a:r>
                <a:r>
                  <a:rPr lang="en-IN" sz="2400">
                    <a:solidFill>
                      <a:srgbClr val="111827"/>
                    </a:solidFill>
                    <a:latin typeface="Cambria Math" panose="02040503050406030204" pitchFamily="18" charset="0"/>
                  </a:rPr>
                  <a:t>$x=\sin\theta$</a:t>
                </a:r>
                <a:r>
                  <a:rPr sz="2400" b="0">
                    <a:solidFill>
                      <a:srgbClr val="111827"/>
                    </a:solidFill>
                    <a:latin typeface="Arial"/>
                  </a:rPr>
                  <a:t> then </a:t>
                </a:r>
                <a:r>
                  <a:rPr lang="en-IN" sz="2400">
                    <a:solidFill>
                      <a:srgbClr val="111827"/>
                    </a:solidFill>
                    <a:latin typeface="Cambria Math" panose="02040503050406030204" pitchFamily="18" charset="0"/>
                  </a:rPr>
                  <a:t>$\cot\theta$</a:t>
                </a:r>
                <a:r>
                  <a:rPr sz="2400" b="0">
                    <a:solidFill>
                      <a:srgbClr val="111827"/>
                    </a:solidFill>
                    <a:latin typeface="Arial"/>
                  </a:rPr>
                  <a:t>, or </a:t>
                </a:r>
                <a:r>
                  <a:rPr lang="en-IN" sz="2400">
                    <a:solidFill>
                      <a:srgbClr val="111827"/>
                    </a:solidFill>
                    <a:latin typeface="Cambria Math" panose="02040503050406030204" pitchFamily="18" charset="0"/>
                  </a:rPr>
                  <a:t>$x=\frac1t$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quick check among options: differentiate the candidate; for A, </a:t>
                </a:r>
                <a:r>
                  <a:rPr lang="en-IN" sz="2400">
                    <a:solidFill>
                      <a:srgbClr val="111827"/>
                    </a:solidFill>
                    <a:latin typeface="Cambria Math" panose="02040503050406030204" pitchFamily="18" charset="0"/>
                  </a:rPr>
                  <a:t>$\frac{d}{dx}\left[-\frac13\left(\frac{1-x^2}{x^2}\right)^{3/2}\right]=\frac{\sqrt{1-x^2}}{x^4}$</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80949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curves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intersect orthogonally at their points of intersection, then the value of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(B)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endParaRPr sz="2400">
                  <a:solidFill>
                    <a:srgbClr val="111827"/>
                  </a:solidFill>
                </a:endParaRPr>
              </a:p>
            </p:txBody>
          </p:sp>
        </mc:Choice>
        <mc:Fallback>
          <p:sp>
            <p:nvSpPr>
              <p:cNvPr id="4" name="Rounded Rectangle 3"/>
              <p:cNvSpPr/>
              <p:nvPr/>
            </p:nvSpPr>
            <p:spPr>
              <a:xfrm>
                <a:off x="731520" y="1280160"/>
                <a:ext cx="10725912" cy="180949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curves </a:t>
                </a:r>
                <a:r>
                  <a:rPr lang="en-IN" sz="2400">
                    <a:solidFill>
                      <a:srgbClr val="111827"/>
                    </a:solidFill>
                    <a:latin typeface="Cambria Math" panose="02040503050406030204" pitchFamily="18" charset="0"/>
                  </a:rPr>
                  <a:t>$y=x^2+k$</a:t>
                </a:r>
                <a:r>
                  <a:rPr sz="2400" b="0">
                    <a:solidFill>
                      <a:srgbClr val="111827"/>
                    </a:solidFill>
                    <a:latin typeface="Arial"/>
                  </a:rPr>
                  <a:t> and </a:t>
                </a:r>
                <a:r>
                  <a:rPr lang="en-IN" sz="2400">
                    <a:solidFill>
                      <a:srgbClr val="111827"/>
                    </a:solidFill>
                    <a:latin typeface="Cambria Math" panose="02040503050406030204" pitchFamily="18" charset="0"/>
                  </a:rPr>
                  <a:t>$y=2-x^2$</a:t>
                </a:r>
                <a:r>
                  <a:rPr sz="2400" b="0">
                    <a:solidFill>
                      <a:srgbClr val="111827"/>
                    </a:solidFill>
                    <a:latin typeface="Arial"/>
                  </a:rPr>
                  <a:t> intersect orthogonally at their points of intersection, then the value of </a:t>
                </a:r>
                <a:r>
                  <a:rPr lang="en-IN" sz="2400">
                    <a:solidFill>
                      <a:srgbClr val="111827"/>
                    </a:solidFill>
                    <a:latin typeface="Cambria Math" panose="02040503050406030204" pitchFamily="18" charset="0"/>
                  </a:rPr>
                  <a:t>$k$</a:t>
                </a:r>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$1$</a:t>
                </a:r>
                <a:r>
                  <a:rPr sz="2400" b="0">
                    <a:solidFill>
                      <a:srgbClr val="111827"/>
                    </a:solidFill>
                    <a:latin typeface="Arial"/>
                  </a:rPr>
                  <a:t>   (B) </a:t>
                </a:r>
                <a:r>
                  <a:rPr lang="en-IN" sz="2400">
                    <a:solidFill>
                      <a:srgbClr val="111827"/>
                    </a:solidFill>
                    <a:latin typeface="Cambria Math" panose="02040503050406030204" pitchFamily="18" charset="0"/>
                  </a:rPr>
                  <a:t>$\frac32$</a:t>
                </a:r>
                <a:r>
                  <a:rPr sz="2400" b="0">
                    <a:solidFill>
                      <a:srgbClr val="111827"/>
                    </a:solidFill>
                    <a:latin typeface="Arial"/>
                  </a:rPr>
                  <a:t>   (C) </a:t>
                </a:r>
                <a:r>
                  <a:rPr lang="en-IN" sz="2400">
                    <a:solidFill>
                      <a:srgbClr val="111827"/>
                    </a:solidFill>
                    <a:latin typeface="Cambria Math" panose="02040503050406030204" pitchFamily="18" charset="0"/>
                  </a:rPr>
                  <a:t>$2$</a:t>
                </a:r>
                <a:r>
                  <a:rPr sz="2400" b="0">
                    <a:solidFill>
                      <a:srgbClr val="111827"/>
                    </a:solidFill>
                    <a:latin typeface="Arial"/>
                  </a:rPr>
                  <a:t>   (D) </a:t>
                </a:r>
                <a:r>
                  <a:rPr lang="en-IN" sz="2400">
                    <a:solidFill>
                      <a:srgbClr val="111827"/>
                    </a:solidFill>
                    <a:latin typeface="Cambria Math" panose="02040503050406030204" pitchFamily="18" charset="0"/>
                  </a:rPr>
                  <a:t>$\frac12$</a:t>
                </a:r>
                <a:endParaRPr sz="2400">
                  <a:solidFill>
                    <a:srgbClr val="111827"/>
                  </a:solidFill>
                </a:endParaRPr>
              </a:p>
            </p:txBody>
          </p:sp>
        </mc:Fallback>
      </mc:AlternateContent>
      <p:sp>
        <p:nvSpPr>
          <p:cNvPr id="5" name="Rectangle 4"/>
          <p:cNvSpPr/>
          <p:nvPr/>
        </p:nvSpPr>
        <p:spPr>
          <a:xfrm>
            <a:off x="731520" y="3318255"/>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Angle of intersection of two curves (orthogonal curves)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59105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At an intersection point the tangent slopes </a:t>
                </a:r>
                <a14:m>
                  <m:oMath xmlns:m="http://schemas.openxmlformats.org/officeDocument/2006/math">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𝑥</m:t>
                    </m:r>
                  </m:oMath>
                </a14:m>
                <a:r>
                  <a:rPr sz="2400" b="0">
                    <a:solidFill>
                      <a:srgbClr val="78350F"/>
                    </a:solidFill>
                    <a:latin typeface="Arial"/>
                  </a:rPr>
                  <a:t> and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𝑥</m:t>
                    </m:r>
                  </m:oMath>
                </a14:m>
                <a:r>
                  <a:rPr sz="2400" b="0">
                    <a:solidFill>
                      <a:srgbClr val="78350F"/>
                    </a:solidFill>
                    <a:latin typeface="Arial"/>
                  </a:rPr>
                  <a:t> must multiply to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giving </a:t>
                </a:r>
                <a14:m>
                  <m:oMath xmlns:m="http://schemas.openxmlformats.org/officeDocument/2006/math">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4</m:t>
                        </m:r>
                      </m:den>
                    </m:f>
                  </m:oMath>
                </a14:m>
                <a:r>
                  <a:rPr sz="2400" b="0">
                    <a:solidFill>
                      <a:srgbClr val="78350F"/>
                    </a:solidFill>
                    <a:latin typeface="Arial"/>
                  </a:rPr>
                  <a:t>; then equate the two </a:t>
                </a:r>
                <a14:m>
                  <m:oMath xmlns:m="http://schemas.openxmlformats.org/officeDocument/2006/math">
                    <m:r>
                      <a:rPr lang="en-IN" sz="2400" i="1">
                        <a:solidFill>
                          <a:srgbClr val="78350F"/>
                        </a:solidFill>
                        <a:latin typeface="Cambria Math" panose="02040503050406030204" pitchFamily="18" charset="0"/>
                      </a:rPr>
                      <m:t>𝑦</m:t>
                    </m:r>
                  </m:oMath>
                </a14:m>
                <a:r>
                  <a:rPr sz="2400" b="0">
                    <a:solidFill>
                      <a:srgbClr val="78350F"/>
                    </a:solidFill>
                    <a:latin typeface="Arial"/>
                  </a:rPr>
                  <a:t> values.</a:t>
                </a:r>
                <a:endParaRPr sz="2400">
                  <a:solidFill>
                    <a:srgbClr val="78350F"/>
                  </a:solidFill>
                </a:endParaRPr>
              </a:p>
            </p:txBody>
          </p:sp>
        </mc:Choice>
        <mc:Fallback>
          <p:sp>
            <p:nvSpPr>
              <p:cNvPr id="4" name="Rounded Rectangle 3"/>
              <p:cNvSpPr/>
              <p:nvPr/>
            </p:nvSpPr>
            <p:spPr>
              <a:xfrm>
                <a:off x="731520" y="1280160"/>
                <a:ext cx="10725912" cy="159105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At an intersection point the tangent slopes </a:t>
                </a:r>
                <a:r>
                  <a:rPr lang="en-IN" sz="2400">
                    <a:solidFill>
                      <a:srgbClr val="78350F"/>
                    </a:solidFill>
                    <a:latin typeface="Cambria Math" panose="02040503050406030204" pitchFamily="18" charset="0"/>
                  </a:rPr>
                  <a:t>$2x$</a:t>
                </a:r>
                <a:r>
                  <a:rPr sz="2400" b="0">
                    <a:solidFill>
                      <a:srgbClr val="78350F"/>
                    </a:solidFill>
                    <a:latin typeface="Arial"/>
                  </a:rPr>
                  <a:t> and </a:t>
                </a:r>
                <a:r>
                  <a:rPr lang="en-IN" sz="2400">
                    <a:solidFill>
                      <a:srgbClr val="78350F"/>
                    </a:solidFill>
                    <a:latin typeface="Cambria Math" panose="02040503050406030204" pitchFamily="18" charset="0"/>
                  </a:rPr>
                  <a:t>$-2x$</a:t>
                </a:r>
                <a:r>
                  <a:rPr sz="2400" b="0">
                    <a:solidFill>
                      <a:srgbClr val="78350F"/>
                    </a:solidFill>
                    <a:latin typeface="Arial"/>
                  </a:rPr>
                  <a:t> must multiply to </a:t>
                </a:r>
                <a:r>
                  <a:rPr lang="en-IN" sz="2400">
                    <a:solidFill>
                      <a:srgbClr val="78350F"/>
                    </a:solidFill>
                    <a:latin typeface="Cambria Math" panose="02040503050406030204" pitchFamily="18" charset="0"/>
                  </a:rPr>
                  <a:t>$-1$</a:t>
                </a:r>
                <a:r>
                  <a:rPr sz="2400" b="0">
                    <a:solidFill>
                      <a:srgbClr val="78350F"/>
                    </a:solidFill>
                    <a:latin typeface="Arial"/>
                  </a:rPr>
                  <a:t>, giving </a:t>
                </a:r>
                <a:r>
                  <a:rPr lang="en-IN" sz="2400">
                    <a:solidFill>
                      <a:srgbClr val="78350F"/>
                    </a:solidFill>
                    <a:latin typeface="Cambria Math" panose="02040503050406030204" pitchFamily="18" charset="0"/>
                  </a:rPr>
                  <a:t>$x^2=\frac14$</a:t>
                </a:r>
                <a:r>
                  <a:rPr sz="2400" b="0">
                    <a:solidFill>
                      <a:srgbClr val="78350F"/>
                    </a:solidFill>
                    <a:latin typeface="Arial"/>
                  </a:rPr>
                  <a:t>; then equate the two </a:t>
                </a:r>
                <a:r>
                  <a:rPr lang="en-IN" sz="2400">
                    <a:solidFill>
                      <a:srgbClr val="78350F"/>
                    </a:solidFill>
                    <a:latin typeface="Cambria Math" panose="02040503050406030204" pitchFamily="18" charset="0"/>
                  </a:rPr>
                  <a:t>$y$</a:t>
                </a:r>
                <a:r>
                  <a:rPr sz="2400" b="0">
                    <a:solidFill>
                      <a:srgbClr val="78350F"/>
                    </a:solidFill>
                    <a:latin typeface="Arial"/>
                  </a:rPr>
                  <a:t> values.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3008375"/>
                <a:ext cx="10725912" cy="36667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be a point of intersection. Equating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Slope of the first curve: </a:t>
                </a:r>
                <a14:m>
                  <m:oMath xmlns:m="http://schemas.openxmlformats.org/officeDocument/2006/math">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oMath>
                </a14:m>
                <a:r>
                  <a:rPr sz="2400" b="0">
                    <a:solidFill>
                      <a:srgbClr val="111827"/>
                    </a:solidFill>
                    <a:latin typeface="Arial"/>
                  </a:rPr>
                  <a:t>. Slope of the second curve: </a:t>
                </a:r>
                <a14:m>
                  <m:oMath xmlns:m="http://schemas.openxmlformats.org/officeDocument/2006/math">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Orthogonal intersection means </a:t>
                </a:r>
                <a14:m>
                  <m:oMath xmlns:m="http://schemas.openxmlformats.org/officeDocument/2006/math">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3008375"/>
                <a:ext cx="10725912" cy="36667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$(x,y)$</a:t>
                </a:r>
                <a:r>
                  <a:rPr sz="2400" b="0">
                    <a:solidFill>
                      <a:srgbClr val="111827"/>
                    </a:solidFill>
                    <a:latin typeface="Arial"/>
                  </a:rPr>
                  <a:t> be a point of intersection. Equating </a:t>
                </a:r>
                <a:r>
                  <a:rPr lang="en-IN" sz="2400">
                    <a:solidFill>
                      <a:srgbClr val="111827"/>
                    </a:solidFill>
                    <a:latin typeface="Cambria Math" panose="02040503050406030204" pitchFamily="18" charset="0"/>
                  </a:rPr>
                  <a:t>$y$</a:t>
                </a:r>
                <a:r>
                  <a:rPr sz="2400" b="0">
                    <a:solidFill>
                      <a:srgbClr val="111827"/>
                    </a:solidFill>
                    <a:latin typeface="Arial"/>
                  </a:rPr>
                  <a:t>: </a:t>
                </a:r>
                <a:r>
                  <a:rPr lang="en-IN" sz="2400">
                    <a:solidFill>
                      <a:srgbClr val="111827"/>
                    </a:solidFill>
                    <a:latin typeface="Cambria Math" panose="02040503050406030204" pitchFamily="18" charset="0"/>
                  </a:rPr>
                  <a:t>$x^2+k=2-x^2\Rightarrow2x^2=2-k\Rightarrow x^2=\frac{2-k}2$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Slope of the first curve: </a:t>
                </a:r>
                <a:r>
                  <a:rPr lang="en-IN" sz="2400">
                    <a:solidFill>
                      <a:srgbClr val="111827"/>
                    </a:solidFill>
                    <a:latin typeface="Cambria Math" panose="02040503050406030204" pitchFamily="18" charset="0"/>
                  </a:rPr>
                  <a:t>$m_1=\frac{dy}{dx}=2x$</a:t>
                </a:r>
                <a:r>
                  <a:rPr sz="2400" b="0">
                    <a:solidFill>
                      <a:srgbClr val="111827"/>
                    </a:solidFill>
                    <a:latin typeface="Arial"/>
                  </a:rPr>
                  <a:t>. Slope of the second curve: </a:t>
                </a:r>
                <a:r>
                  <a:rPr lang="en-IN" sz="2400">
                    <a:solidFill>
                      <a:srgbClr val="111827"/>
                    </a:solidFill>
                    <a:latin typeface="Cambria Math" panose="02040503050406030204" pitchFamily="18" charset="0"/>
                  </a:rPr>
                  <a:t>$m_2=\frac{dy}{dx}=-2x$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Orthogonal intersection means </a:t>
                </a:r>
                <a:r>
                  <a:rPr lang="en-IN" sz="2400">
                    <a:solidFill>
                      <a:srgbClr val="111827"/>
                    </a:solidFill>
                    <a:latin typeface="Cambria Math" panose="02040503050406030204" pitchFamily="18" charset="0"/>
                  </a:rPr>
                  <a:t>$m_1m_2=-1$</a:t>
                </a:r>
                <a:r>
                  <a:rPr sz="2400" b="0">
                    <a:solidFill>
                      <a:srgbClr val="111827"/>
                    </a:solidFill>
                    <a:latin typeface="Arial"/>
                  </a:rPr>
                  <a:t>: </a:t>
                </a:r>
                <a:r>
                  <a:rPr lang="en-IN" sz="2400">
                    <a:solidFill>
                      <a:srgbClr val="111827"/>
                    </a:solidFill>
                    <a:latin typeface="Cambria Math" panose="02040503050406030204" pitchFamily="18" charset="0"/>
                  </a:rPr>
                  <a:t>$(2x)(-2x)=-1\Rightarrow-4x^2=-1\Rightarrow x^2=\frac14$</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Equating the two expressions for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Equating the two expressions for </a:t>
                </a:r>
                <a:r>
                  <a:rPr lang="en-IN" sz="2400">
                    <a:solidFill>
                      <a:srgbClr val="111827"/>
                    </a:solidFill>
                    <a:latin typeface="Cambria Math" panose="02040503050406030204" pitchFamily="18" charset="0"/>
                  </a:rPr>
                  <a:t>$x^2$</a:t>
                </a:r>
                <a:r>
                  <a:rPr sz="2400" b="0">
                    <a:solidFill>
                      <a:srgbClr val="111827"/>
                    </a:solidFill>
                    <a:latin typeface="Arial"/>
                  </a:rPr>
                  <a:t>: </a:t>
                </a:r>
                <a:r>
                  <a:rPr lang="en-IN" sz="2400">
                    <a:solidFill>
                      <a:srgbClr val="111827"/>
                    </a:solidFill>
                    <a:latin typeface="Cambria Math" panose="02040503050406030204" pitchFamily="18" charset="0"/>
                  </a:rPr>
                  <a:t>$\frac{2-k}2=\frac14\Rightarrow2-k=\frac12$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$k=2-\frac12=\frac32$</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3</m:t>
                        </m:r>
                      </m:num>
                      <m:den>
                        <m:r>
                          <a:rPr lang="en-IN" sz="2800" i="1">
                            <a:solidFill>
                              <a:srgbClr val="15803D"/>
                            </a:solidFill>
                            <a:latin typeface="Cambria Math" panose="02040503050406030204" pitchFamily="18" charset="0"/>
                          </a:rPr>
                          <m:t>2</m:t>
                        </m:r>
                      </m:den>
                    </m:f>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r>
                  <a:rPr lang="en-IN" sz="2800">
                    <a:solidFill>
                      <a:srgbClr val="15803D"/>
                    </a:solidFill>
                    <a:latin typeface="Cambria Math" panose="02040503050406030204" pitchFamily="18" charset="0"/>
                  </a:rPr>
                  <a:t>$\frac32$</a:t>
                </a:r>
                <a:endParaRPr sz="2800">
                  <a:solidFill>
                    <a:srgbClr val="15803D"/>
                  </a:solidFill>
                </a:endParaRPr>
              </a:p>
            </p:txBody>
          </p:sp>
        </mc:Fallback>
      </mc:AlternateContent>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gradient (normal) vectors: the curves are orthogonal iff their normals are perpendicular.</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Write the curves as </a:t>
                </a:r>
                <a14:m>
                  <m:oMath xmlns:m="http://schemas.openxmlformats.org/officeDocument/2006/math">
                    <m:r>
                      <a:rPr lang="en-IN" sz="2400" i="1">
                        <a:solidFill>
                          <a:srgbClr val="111827"/>
                        </a:solidFill>
                        <a:latin typeface="Cambria Math" panose="02040503050406030204" pitchFamily="18" charset="0"/>
                      </a:rPr>
                      <m:t>𝐹</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𝐺</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Normals: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𝐹</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𝐺</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Orthogonal curves have perpendicular normals: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𝐹</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𝐺</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the intersection </a:t>
                </a:r>
                <a14:m>
                  <m:oMath xmlns:m="http://schemas.openxmlformats.org/officeDocument/2006/math">
                    <m:r>
                      <a:rPr lang="en-IN" sz="2400" i="1">
                        <a:solidFill>
                          <a:srgbClr val="111827"/>
                        </a:solidFill>
                        <a:latin typeface="Cambria Math" panose="02040503050406030204" pitchFamily="18" charset="0"/>
                      </a:rPr>
                      <m:t>𝐹</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𝐺</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Write the curves as </a:t>
                </a:r>
                <a:r>
                  <a:rPr lang="en-IN" sz="2400">
                    <a:solidFill>
                      <a:srgbClr val="111827"/>
                    </a:solidFill>
                    <a:latin typeface="Cambria Math" panose="02040503050406030204" pitchFamily="18" charset="0"/>
                  </a:rPr>
                  <a:t>$F=y-x^2-k=0$</a:t>
                </a:r>
                <a:r>
                  <a:rPr sz="2400" b="0">
                    <a:solidFill>
                      <a:srgbClr val="111827"/>
                    </a:solidFill>
                    <a:latin typeface="Arial"/>
                  </a:rPr>
                  <a:t> and </a:t>
                </a:r>
                <a:r>
                  <a:rPr lang="en-IN" sz="2400">
                    <a:solidFill>
                      <a:srgbClr val="111827"/>
                    </a:solidFill>
                    <a:latin typeface="Cambria Math" panose="02040503050406030204" pitchFamily="18" charset="0"/>
                  </a:rPr>
                  <a:t>$G=y-2+x^2=0$</a:t>
                </a:r>
                <a:r>
                  <a:rPr sz="2400" b="0">
                    <a:solidFill>
                      <a:srgbClr val="111827"/>
                    </a:solidFill>
                    <a:latin typeface="Arial"/>
                  </a:rPr>
                  <a:t>. Normals: </a:t>
                </a:r>
                <a:r>
                  <a:rPr lang="en-IN" sz="2400">
                    <a:solidFill>
                      <a:srgbClr val="111827"/>
                    </a:solidFill>
                    <a:latin typeface="Cambria Math" panose="02040503050406030204" pitchFamily="18" charset="0"/>
                  </a:rPr>
                  <a:t>$\nabla F=(-2x,1)$</a:t>
                </a:r>
                <a:r>
                  <a:rPr sz="2400" b="0">
                    <a:solidFill>
                      <a:srgbClr val="111827"/>
                    </a:solidFill>
                    <a:latin typeface="Arial"/>
                  </a:rPr>
                  <a:t> and </a:t>
                </a:r>
                <a:r>
                  <a:rPr lang="en-IN" sz="2400">
                    <a:solidFill>
                      <a:srgbClr val="111827"/>
                    </a:solidFill>
                    <a:latin typeface="Cambria Math" panose="02040503050406030204" pitchFamily="18" charset="0"/>
                  </a:rPr>
                  <a:t>$\nabla G=(2x,1)$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Orthogonal curves have perpendicular normals: </a:t>
                </a:r>
                <a:r>
                  <a:rPr lang="en-IN" sz="2400">
                    <a:solidFill>
                      <a:srgbClr val="111827"/>
                    </a:solidFill>
                    <a:latin typeface="Cambria Math" panose="02040503050406030204" pitchFamily="18" charset="0"/>
                  </a:rPr>
                  <a:t>$\nabla F\cdot\nabla G=-4x^2+1=0\Rightarrow x^2=\frac14$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the intersection </a:t>
                </a:r>
                <a:r>
                  <a:rPr lang="en-IN" sz="2400">
                    <a:solidFill>
                      <a:srgbClr val="111827"/>
                    </a:solidFill>
                    <a:latin typeface="Cambria Math" panose="02040503050406030204" pitchFamily="18" charset="0"/>
                  </a:rPr>
                  <a:t>$F=G$</a:t>
                </a:r>
                <a:r>
                  <a:rPr sz="2400" b="0">
                    <a:solidFill>
                      <a:srgbClr val="111827"/>
                    </a:solidFill>
                    <a:latin typeface="Arial"/>
                  </a:rPr>
                  <a:t>: </a:t>
                </a:r>
                <a:r>
                  <a:rPr lang="en-IN" sz="2400">
                    <a:solidFill>
                      <a:srgbClr val="111827"/>
                    </a:solidFill>
                    <a:latin typeface="Cambria Math" panose="02040503050406030204" pitchFamily="18" charset="0"/>
                  </a:rPr>
                  <a:t>$2x^2=2-k\Rightarrow\frac12=2-k$</a:t>
                </a:r>
                <a:r>
                  <a:rPr sz="2400" b="0">
                    <a:solidFill>
                      <a:srgbClr val="111827"/>
                    </a:solidFill>
                    <a:latin typeface="Arial"/>
                  </a:rPr>
                  <a:t>, so </a:t>
                </a:r>
                <a:r>
                  <a:rPr lang="en-IN" sz="2400">
                    <a:solidFill>
                      <a:srgbClr val="111827"/>
                    </a:solidFill>
                    <a:latin typeface="Cambria Math" panose="02040503050406030204" pitchFamily="18" charset="0"/>
                  </a:rPr>
                  <a:t>$k=\frac32$</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3</m:t>
                        </m:r>
                      </m:num>
                      <m:den>
                        <m:r>
                          <a:rPr lang="en-IN" sz="2800" i="1">
                            <a:solidFill>
                              <a:srgbClr val="15803D"/>
                            </a:solidFill>
                            <a:latin typeface="Cambria Math" panose="02040503050406030204" pitchFamily="18" charset="0"/>
                          </a:rPr>
                          <m:t>2</m:t>
                        </m:r>
                      </m:den>
                    </m:f>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r>
                  <a:rPr lang="en-IN" sz="2800">
                    <a:solidFill>
                      <a:srgbClr val="15803D"/>
                    </a:solidFill>
                    <a:latin typeface="Cambria Math" panose="02040503050406030204" pitchFamily="18" charset="0"/>
                  </a:rPr>
                  <a:t>$\frac32$</a:t>
                </a:r>
                <a:endParaRPr sz="2800">
                  <a:solidFill>
                    <a:srgbClr val="15803D"/>
                  </a:solidFill>
                </a:endParaRPr>
              </a:p>
            </p:txBody>
          </p:sp>
        </mc:Fallback>
      </mc:AlternateContent>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Curves are orthogonal at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iff </a:t>
                </a:r>
                <a14:m>
                  <m:oMath xmlns:m="http://schemas.openxmlformats.org/officeDocument/2006/math">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(or one tangent is vertical and the other horizontal).</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intersect orthogonally iff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(since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must equal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Here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Two circles are orthogonal iff </a:t>
                </a:r>
                <a14:m>
                  <m:oMath xmlns:m="http://schemas.openxmlformats.org/officeDocument/2006/math">
                    <m:r>
                      <a:rPr lang="en-IN" sz="2400" i="1">
                        <a:solidFill>
                          <a:srgbClr val="111827"/>
                        </a:solidFill>
                        <a:latin typeface="Cambria Math" panose="02040503050406030204" pitchFamily="18" charset="0"/>
                      </a:rPr>
                      <m:t>2</m:t>
                    </m:r>
                    <m:sSub>
                      <m:e>
                        <m:r>
                          <a:rPr lang="en-IN" sz="2400" i="1">
                            <a:solidFill>
                              <a:srgbClr val="111827"/>
                            </a:solidFill>
                            <a:latin typeface="Cambria Math" panose="02040503050406030204" pitchFamily="18" charset="0"/>
                          </a:rPr>
                          <m:t>𝑔</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𝑔</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b>
                      <m:e>
                        <m:r>
                          <a:rPr lang="en-IN" sz="2400" i="1">
                            <a:solidFill>
                              <a:srgbClr val="111827"/>
                            </a:solidFill>
                            <a:latin typeface="Cambria Math" panose="02040503050406030204" pitchFamily="18" charset="0"/>
                          </a:rPr>
                          <m:t>𝑓</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𝑓</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confocal ellipse and hyperbola are orthogonal at every intersection.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the intersection condition has to hold at all intersection points, both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work by symmetry.</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Curves are orthogonal at </a:t>
                </a:r>
                <a:r>
                  <a:rPr lang="en-IN" sz="2400">
                    <a:solidFill>
                      <a:srgbClr val="111827"/>
                    </a:solidFill>
                    <a:latin typeface="Cambria Math" panose="02040503050406030204" pitchFamily="18" charset="0"/>
                  </a:rPr>
                  <a:t>$P$</a:t>
                </a:r>
                <a:r>
                  <a:rPr sz="2400" b="0">
                    <a:solidFill>
                      <a:srgbClr val="111827"/>
                    </a:solidFill>
                    <a:latin typeface="Arial"/>
                  </a:rPr>
                  <a:t> iff </a:t>
                </a:r>
                <a:r>
                  <a:rPr lang="en-IN" sz="2400">
                    <a:solidFill>
                      <a:srgbClr val="111827"/>
                    </a:solidFill>
                    <a:latin typeface="Cambria Math" panose="02040503050406030204" pitchFamily="18" charset="0"/>
                  </a:rPr>
                  <a:t>$m_1m_2=-1$</a:t>
                </a:r>
                <a:r>
                  <a:rPr sz="2400" b="0">
                    <a:solidFill>
                      <a:srgbClr val="111827"/>
                    </a:solidFill>
                    <a:latin typeface="Arial"/>
                  </a:rPr>
                  <a:t> (or one tangent is vertical and the other horizontal).</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$y=x^2+k$</a:t>
                </a:r>
                <a:r>
                  <a:rPr sz="2400" b="0">
                    <a:solidFill>
                      <a:srgbClr val="111827"/>
                    </a:solidFill>
                    <a:latin typeface="Arial"/>
                  </a:rPr>
                  <a:t> and </a:t>
                </a:r>
                <a:r>
                  <a:rPr lang="en-IN" sz="2400">
                    <a:solidFill>
                      <a:srgbClr val="111827"/>
                    </a:solidFill>
                    <a:latin typeface="Cambria Math" panose="02040503050406030204" pitchFamily="18" charset="0"/>
                  </a:rPr>
                  <a:t>$y=c-x^2$</a:t>
                </a:r>
                <a:r>
                  <a:rPr sz="2400" b="0">
                    <a:solidFill>
                      <a:srgbClr val="111827"/>
                    </a:solidFill>
                    <a:latin typeface="Arial"/>
                  </a:rPr>
                  <a:t> intersect orthogonally iff </a:t>
                </a:r>
                <a:r>
                  <a:rPr lang="en-IN" sz="2400">
                    <a:solidFill>
                      <a:srgbClr val="111827"/>
                    </a:solidFill>
                    <a:latin typeface="Cambria Math" panose="02040503050406030204" pitchFamily="18" charset="0"/>
                  </a:rPr>
                  <a:t>$c-k=\frac12$</a:t>
                </a:r>
                <a:r>
                  <a:rPr sz="2400" b="0">
                    <a:solidFill>
                      <a:srgbClr val="111827"/>
                    </a:solidFill>
                    <a:latin typeface="Arial"/>
                  </a:rPr>
                  <a:t> (since </a:t>
                </a:r>
                <a:r>
                  <a:rPr lang="en-IN" sz="2400">
                    <a:solidFill>
                      <a:srgbClr val="111827"/>
                    </a:solidFill>
                    <a:latin typeface="Cambria Math" panose="02040503050406030204" pitchFamily="18" charset="0"/>
                  </a:rPr>
                  <a:t>$x^2=\frac{c-k}2$</a:t>
                </a:r>
                <a:r>
                  <a:rPr sz="2400" b="0">
                    <a:solidFill>
                      <a:srgbClr val="111827"/>
                    </a:solidFill>
                    <a:latin typeface="Arial"/>
                  </a:rPr>
                  <a:t> must equal </a:t>
                </a:r>
                <a:r>
                  <a:rPr lang="en-IN" sz="2400">
                    <a:solidFill>
                      <a:srgbClr val="111827"/>
                    </a:solidFill>
                    <a:latin typeface="Cambria Math" panose="02040503050406030204" pitchFamily="18" charset="0"/>
                  </a:rPr>
                  <a:t>$\frac14$</a:t>
                </a:r>
                <a:r>
                  <a:rPr sz="2400" b="0">
                    <a:solidFill>
                      <a:srgbClr val="111827"/>
                    </a:solidFill>
                    <a:latin typeface="Arial"/>
                  </a:rPr>
                  <a:t>). Here </a:t>
                </a:r>
                <a:r>
                  <a:rPr lang="en-IN" sz="2400">
                    <a:solidFill>
                      <a:srgbClr val="111827"/>
                    </a:solidFill>
                    <a:latin typeface="Cambria Math" panose="02040503050406030204" pitchFamily="18" charset="0"/>
                  </a:rPr>
                  <a:t>$c=2$</a:t>
                </a:r>
                <a:r>
                  <a:rPr sz="2400" b="0">
                    <a:solidFill>
                      <a:srgbClr val="111827"/>
                    </a:solidFill>
                    <a:latin typeface="Arial"/>
                  </a:rPr>
                  <a:t>, </a:t>
                </a:r>
                <a:r>
                  <a:rPr lang="en-IN" sz="2400">
                    <a:solidFill>
                      <a:srgbClr val="111827"/>
                    </a:solidFill>
                    <a:latin typeface="Cambria Math" panose="02040503050406030204" pitchFamily="18" charset="0"/>
                  </a:rPr>
                  <a:t>$k=\frac32$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Two circles are orthogonal iff </a:t>
                </a:r>
                <a:r>
                  <a:rPr lang="en-IN" sz="2400">
                    <a:solidFill>
                      <a:srgbClr val="111827"/>
                    </a:solidFill>
                    <a:latin typeface="Cambria Math" panose="02040503050406030204" pitchFamily="18" charset="0"/>
                  </a:rPr>
                  <a:t>$2g_1g_2+2f_1f_2=c_1+c_2$</a:t>
                </a:r>
                <a:r>
                  <a:rPr sz="2400" b="0">
                    <a:solidFill>
                      <a:srgbClr val="111827"/>
                    </a:solidFill>
                    <a:latin typeface="Arial"/>
                  </a:rPr>
                  <a:t>; confocal ellipse and hyperbola are orthogonal at every intersection.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the intersection condition has to hold at all intersection points, both </a:t>
                </a:r>
                <a:r>
                  <a:rPr lang="en-IN" sz="2400">
                    <a:solidFill>
                      <a:srgbClr val="111827"/>
                    </a:solidFill>
                    <a:latin typeface="Cambria Math" panose="02040503050406030204" pitchFamily="18" charset="0"/>
                  </a:rPr>
                  <a:t>$x=\pm\frac12$</a:t>
                </a:r>
                <a:r>
                  <a:rPr sz="2400" b="0">
                    <a:solidFill>
                      <a:srgbClr val="111827"/>
                    </a:solidFill>
                    <a:latin typeface="Arial"/>
                  </a:rPr>
                  <a:t> work by symmetry.</a:t>
                </a:r>
                <a:endParaRPr sz="2400">
                  <a:solidFill>
                    <a:srgbClr val="111827"/>
                  </a:solidFill>
                </a:endParaRPr>
              </a:p>
            </p:txBody>
          </p:sp>
        </mc:Fallback>
      </mc:AlternateContent>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2</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Numerical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Q21 – Q25</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Marks not printed in the paper: JEE Advanced default of 4 per question assumed</a:t>
            </a:r>
            <a:endParaRPr sz="2800">
              <a:solidFill>
                <a:srgbClr val="FFFFFF"/>
              </a:solidFill>
            </a:endParaRP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 be a continuous function satisfying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Let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Find the minimum number of distinct real roots of the equation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in the interval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$f:[-1,1]\to\mathbb R$</a:t>
                </a:r>
                <a:r>
                  <a:rPr sz="2400" b="0">
                    <a:solidFill>
                      <a:srgbClr val="111827"/>
                    </a:solidFill>
                    <a:latin typeface="Arial"/>
                  </a:rPr>
                  <a:t> be a continuous function satisfying </a:t>
                </a:r>
                <a:r>
                  <a:rPr lang="en-IN" sz="2400">
                    <a:solidFill>
                      <a:srgbClr val="111827"/>
                    </a:solidFill>
                    <a:latin typeface="Cambria Math" panose="02040503050406030204" pitchFamily="18" charset="0"/>
                  </a:rPr>
                  <a:t>$f(-1)=4$</a:t>
                </a:r>
                <a:r>
                  <a:rPr sz="2400" b="0">
                    <a:solidFill>
                      <a:srgbClr val="111827"/>
                    </a:solidFill>
                    <a:latin typeface="Arial"/>
                  </a:rPr>
                  <a:t> and </a:t>
                </a:r>
                <a:r>
                  <a:rPr lang="en-IN" sz="2400">
                    <a:solidFill>
                      <a:srgbClr val="111827"/>
                    </a:solidFill>
                    <a:latin typeface="Cambria Math" panose="02040503050406030204" pitchFamily="18" charset="0"/>
                  </a:rPr>
                  <a:t>$f(1)=-2$</a:t>
                </a:r>
                <a:r>
                  <a:rPr sz="2400" b="0">
                    <a:solidFill>
                      <a:srgbClr val="111827"/>
                    </a:solidFill>
                    <a:latin typeface="Arial"/>
                  </a:rPr>
                  <a:t>. Let </a:t>
                </a:r>
                <a:r>
                  <a:rPr lang="en-IN" sz="2400">
                    <a:solidFill>
                      <a:srgbClr val="111827"/>
                    </a:solidFill>
                    <a:latin typeface="Cambria Math" panose="02040503050406030204" pitchFamily="18" charset="0"/>
                  </a:rPr>
                  <a:t>$g(x)=f(x)-x^4-2$</a:t>
                </a:r>
                <a:r>
                  <a:rPr sz="2400" b="0">
                    <a:solidFill>
                      <a:srgbClr val="111827"/>
                    </a:solidFill>
                    <a:latin typeface="Arial"/>
                  </a:rPr>
                  <a:t>. Find the minimum number of distinct real roots of the equation </a:t>
                </a:r>
                <a:r>
                  <a:rPr lang="en-IN" sz="2400">
                    <a:solidFill>
                      <a:srgbClr val="111827"/>
                    </a:solidFill>
                    <a:latin typeface="Cambria Math" panose="02040503050406030204" pitchFamily="18" charset="0"/>
                  </a:rPr>
                  <a:t>$f(x)g(x)=0$</a:t>
                </a:r>
                <a:r>
                  <a:rPr sz="2400" b="0">
                    <a:solidFill>
                      <a:srgbClr val="111827"/>
                    </a:solidFill>
                    <a:latin typeface="Arial"/>
                  </a:rPr>
                  <a:t> in the interval </a:t>
                </a:r>
                <a:r>
                  <a:rPr lang="en-IN" sz="2400">
                    <a:solidFill>
                      <a:srgbClr val="111827"/>
                    </a:solidFill>
                    <a:latin typeface="Cambria Math" panose="02040503050406030204" pitchFamily="18" charset="0"/>
                  </a:rPr>
                  <a:t>$[-1,1]$</a:t>
                </a:r>
                <a:r>
                  <a:rPr sz="2400" b="0">
                    <a:solidFill>
                      <a:srgbClr val="111827"/>
                    </a:solidFill>
                    <a:latin typeface="Arial"/>
                  </a:rPr>
                  <a:t>.</a:t>
                </a:r>
                <a:endParaRPr sz="2400">
                  <a:solidFill>
                    <a:srgbClr val="111827"/>
                  </a:solidFill>
                </a:endParaRPr>
              </a:p>
            </p:txBody>
          </p:sp>
        </mc:Fallback>
      </mc:AlternateContent>
      <p:sp>
        <p:nvSpPr>
          <p:cNvPr id="5" name="Rectangle 4"/>
          <p:cNvSpPr/>
          <p:nvPr/>
        </p:nvSpPr>
        <p:spPr>
          <a:xfrm>
            <a:off x="731520" y="3516884"/>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Intermediate value theorem for continuous functions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If </a:t>
                </a:r>
                <a14:m>
                  <m:oMath xmlns:m="http://schemas.openxmlformats.org/officeDocument/2006/math">
                    <m:r>
                      <a:rPr lang="en-IN" sz="2400" i="1">
                        <a:solidFill>
                          <a:srgbClr val="78350F"/>
                        </a:solidFill>
                        <a:latin typeface="Cambria Math" panose="02040503050406030204" pitchFamily="18" charset="0"/>
                      </a:rPr>
                      <m:t>𝑓</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𝑐</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 then </a:t>
                </a:r>
                <a14:m>
                  <m:oMath xmlns:m="http://schemas.openxmlformats.org/officeDocument/2006/math">
                    <m:r>
                      <a:rPr lang="en-IN" sz="2400" i="1">
                        <a:solidFill>
                          <a:srgbClr val="78350F"/>
                        </a:solidFill>
                        <a:latin typeface="Cambria Math" panose="02040503050406030204" pitchFamily="18" charset="0"/>
                      </a:rPr>
                      <m:t>𝑔</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𝑐</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𝑐</m:t>
                        </m:r>
                      </m:e>
                      <m:sup>
                        <m:r>
                          <a:rPr lang="en-IN" sz="2400" i="1">
                            <a:solidFill>
                              <a:srgbClr val="78350F"/>
                            </a:solidFill>
                            <a:latin typeface="Cambria Math" panose="02040503050406030204" pitchFamily="18" charset="0"/>
                          </a:rPr>
                          <m:t>4</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&lt;</m:t>
                    </m:r>
                    <m:r>
                      <a:rPr lang="en-IN" sz="2400" i="1">
                        <a:solidFill>
                          <a:srgbClr val="78350F"/>
                        </a:solidFill>
                        <a:latin typeface="Cambria Math" panose="02040503050406030204" pitchFamily="18" charset="0"/>
                      </a:rPr>
                      <m:t>0</m:t>
                    </m:r>
                  </m:oMath>
                </a14:m>
                <a:r>
                  <a:rPr sz="2400" b="0">
                    <a:solidFill>
                      <a:srgbClr val="78350F"/>
                    </a:solidFill>
                    <a:latin typeface="Arial"/>
                  </a:rPr>
                  <a:t>, so </a:t>
                </a:r>
                <a14:m>
                  <m:oMath xmlns:m="http://schemas.openxmlformats.org/officeDocument/2006/math">
                    <m:r>
                      <a:rPr lang="en-IN" sz="2400" i="1">
                        <a:solidFill>
                          <a:srgbClr val="78350F"/>
                        </a:solidFill>
                        <a:latin typeface="Cambria Math" panose="02040503050406030204" pitchFamily="18" charset="0"/>
                      </a:rPr>
                      <m:t>𝑓</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𝑔</m:t>
                    </m:r>
                  </m:oMath>
                </a14:m>
                <a:r>
                  <a:rPr sz="2400" b="0">
                    <a:solidFill>
                      <a:srgbClr val="78350F"/>
                    </a:solidFill>
                    <a:latin typeface="Arial"/>
                  </a:rPr>
                  <a:t> can never share a root; each has at least one by the IVT.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If </a:t>
                </a:r>
                <a:r>
                  <a:rPr lang="en-IN" sz="2400">
                    <a:solidFill>
                      <a:srgbClr val="78350F"/>
                    </a:solidFill>
                    <a:latin typeface="Cambria Math" panose="02040503050406030204" pitchFamily="18" charset="0"/>
                  </a:rPr>
                  <a:t>$f(c)=0$</a:t>
                </a:r>
                <a:r>
                  <a:rPr sz="2400" b="0">
                    <a:solidFill>
                      <a:srgbClr val="78350F"/>
                    </a:solidFill>
                    <a:latin typeface="Arial"/>
                  </a:rPr>
                  <a:t> then </a:t>
                </a:r>
                <a:r>
                  <a:rPr lang="en-IN" sz="2400">
                    <a:solidFill>
                      <a:srgbClr val="78350F"/>
                    </a:solidFill>
                    <a:latin typeface="Cambria Math" panose="02040503050406030204" pitchFamily="18" charset="0"/>
                  </a:rPr>
                  <a:t>$g(c)=-c^4-2&lt;0$</a:t>
                </a:r>
                <a:r>
                  <a:rPr sz="2400" b="0">
                    <a:solidFill>
                      <a:srgbClr val="78350F"/>
                    </a:solidFill>
                    <a:latin typeface="Arial"/>
                  </a:rPr>
                  <a:t>, so </a:t>
                </a:r>
                <a:r>
                  <a:rPr lang="en-IN" sz="2400">
                    <a:solidFill>
                      <a:srgbClr val="78350F"/>
                    </a:solidFill>
                    <a:latin typeface="Cambria Math" panose="02040503050406030204" pitchFamily="18" charset="0"/>
                  </a:rPr>
                  <a:t>$f$</a:t>
                </a:r>
                <a:r>
                  <a:rPr sz="2400" b="0">
                    <a:solidFill>
                      <a:srgbClr val="78350F"/>
                    </a:solidFill>
                    <a:latin typeface="Arial"/>
                  </a:rPr>
                  <a:t> and </a:t>
                </a:r>
                <a:r>
                  <a:rPr lang="en-IN" sz="2400">
                    <a:solidFill>
                      <a:srgbClr val="78350F"/>
                    </a:solidFill>
                    <a:latin typeface="Cambria Math" panose="02040503050406030204" pitchFamily="18" charset="0"/>
                  </a:rPr>
                  <a:t>$g$</a:t>
                </a:r>
                <a:r>
                  <a:rPr sz="2400" b="0">
                    <a:solidFill>
                      <a:srgbClr val="78350F"/>
                    </a:solidFill>
                    <a:latin typeface="Arial"/>
                  </a:rPr>
                  <a:t> can never share a root; each has at least one by the IVT.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continuous on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By the Intermediate Value Theorem there is </a:t>
                </a:r>
                <a14:m>
                  <m:oMath xmlns:m="http://schemas.openxmlformats.org/officeDocument/2006/math">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is continuous on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being a difference of continuous functions.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the end points: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a:t>
                </a:r>
                <a:r>
                  <a:rPr sz="2400" b="0">
                    <a:solidFill>
                      <a:srgbClr val="111827"/>
                    </a:solidFill>
                    <a:latin typeface="Arial"/>
                  </a:rPr>
                  <a:t> is continuous on </a:t>
                </a:r>
                <a:r>
                  <a:rPr lang="en-IN" sz="2400">
                    <a:solidFill>
                      <a:srgbClr val="111827"/>
                    </a:solidFill>
                    <a:latin typeface="Cambria Math" panose="02040503050406030204" pitchFamily="18" charset="0"/>
                  </a:rPr>
                  <a:t>$[-1,1]$</a:t>
                </a:r>
                <a:r>
                  <a:rPr sz="2400" b="0">
                    <a:solidFill>
                      <a:srgbClr val="111827"/>
                    </a:solidFill>
                    <a:latin typeface="Arial"/>
                  </a:rPr>
                  <a:t> with </a:t>
                </a:r>
                <a:r>
                  <a:rPr lang="en-IN" sz="2400">
                    <a:solidFill>
                      <a:srgbClr val="111827"/>
                    </a:solidFill>
                    <a:latin typeface="Cambria Math" panose="02040503050406030204" pitchFamily="18" charset="0"/>
                  </a:rPr>
                  <a:t>$f(-1)=4&gt;0$</a:t>
                </a:r>
                <a:r>
                  <a:rPr sz="2400" b="0">
                    <a:solidFill>
                      <a:srgbClr val="111827"/>
                    </a:solidFill>
                    <a:latin typeface="Arial"/>
                  </a:rPr>
                  <a:t> and </a:t>
                </a:r>
                <a:r>
                  <a:rPr lang="en-IN" sz="2400">
                    <a:solidFill>
                      <a:srgbClr val="111827"/>
                    </a:solidFill>
                    <a:latin typeface="Cambria Math" panose="02040503050406030204" pitchFamily="18" charset="0"/>
                  </a:rPr>
                  <a:t>$f(1)=-2&lt;0$</a:t>
                </a:r>
                <a:r>
                  <a:rPr sz="2400" b="0">
                    <a:solidFill>
                      <a:srgbClr val="111827"/>
                    </a:solidFill>
                    <a:latin typeface="Arial"/>
                  </a:rPr>
                  <a:t>. By the Intermediate Value Theorem there is </a:t>
                </a:r>
                <a:r>
                  <a:rPr lang="en-IN" sz="2400">
                    <a:solidFill>
                      <a:srgbClr val="111827"/>
                    </a:solidFill>
                    <a:latin typeface="Cambria Math" panose="02040503050406030204" pitchFamily="18" charset="0"/>
                  </a:rPr>
                  <a:t>$c_1\in(-1,1)$</a:t>
                </a:r>
                <a:r>
                  <a:rPr sz="2400" b="0">
                    <a:solidFill>
                      <a:srgbClr val="111827"/>
                    </a:solidFill>
                    <a:latin typeface="Arial"/>
                  </a:rPr>
                  <a:t> with </a:t>
                </a:r>
                <a:r>
                  <a:rPr lang="en-IN" sz="2400">
                    <a:solidFill>
                      <a:srgbClr val="111827"/>
                    </a:solidFill>
                    <a:latin typeface="Cambria Math" panose="02040503050406030204" pitchFamily="18" charset="0"/>
                  </a:rPr>
                  <a:t>$f(c_1)=0$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$g(x)=f(x)-x^4-2$</a:t>
                </a:r>
                <a:r>
                  <a:rPr sz="2400" b="0">
                    <a:solidFill>
                      <a:srgbClr val="111827"/>
                    </a:solidFill>
                    <a:latin typeface="Arial"/>
                  </a:rPr>
                  <a:t> is continuous on </a:t>
                </a:r>
                <a:r>
                  <a:rPr lang="en-IN" sz="2400">
                    <a:solidFill>
                      <a:srgbClr val="111827"/>
                    </a:solidFill>
                    <a:latin typeface="Cambria Math" panose="02040503050406030204" pitchFamily="18" charset="0"/>
                  </a:rPr>
                  <a:t>$[-1,1]$</a:t>
                </a:r>
                <a:r>
                  <a:rPr sz="2400" b="0">
                    <a:solidFill>
                      <a:srgbClr val="111827"/>
                    </a:solidFill>
                    <a:latin typeface="Arial"/>
                  </a:rPr>
                  <a:t>, being a difference of continuous functions.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the end points: </a:t>
                </a:r>
                <a:r>
                  <a:rPr lang="en-IN" sz="2400">
                    <a:solidFill>
                      <a:srgbClr val="111827"/>
                    </a:solidFill>
                    <a:latin typeface="Cambria Math" panose="02040503050406030204" pitchFamily="18" charset="0"/>
                  </a:rPr>
                  <a:t>$g(-1)=f(-1)-(-1)^4-2=4-1-2=1&gt;0$</a:t>
                </a:r>
                <a:r>
                  <a:rPr sz="2400" b="0">
                    <a:solidFill>
                      <a:srgbClr val="111827"/>
                    </a:solidFill>
                    <a:latin typeface="Arial"/>
                  </a:rPr>
                  <a:t> and </a:t>
                </a:r>
                <a:r>
                  <a:rPr lang="en-IN" sz="2400">
                    <a:solidFill>
                      <a:srgbClr val="111827"/>
                    </a:solidFill>
                    <a:latin typeface="Cambria Math" panose="02040503050406030204" pitchFamily="18" charset="0"/>
                  </a:rPr>
                  <a:t>$g(1)=f(1)-1^4-2=-2-1-2=-5&lt;0$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By the IVT there is </a:t>
                </a:r>
                <a14:m>
                  <m:oMath xmlns:m="http://schemas.openxmlformats.org/officeDocument/2006/math">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Suppose </a:t>
                </a:r>
                <a14:m>
                  <m:oMath xmlns:m="http://schemas.openxmlformats.org/officeDocument/2006/math">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but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any real </a:t>
                </a:r>
                <a14:m>
                  <m:oMath xmlns:m="http://schemas.openxmlformats.org/officeDocument/2006/math">
                    <m:r>
                      <a:rPr lang="en-IN" sz="2400" i="1">
                        <a:solidFill>
                          <a:srgbClr val="111827"/>
                        </a:solidFill>
                        <a:latin typeface="Cambria Math" panose="02040503050406030204" pitchFamily="18" charset="0"/>
                      </a:rPr>
                      <m:t>𝑐</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contradicting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Hence </a:t>
                </a:r>
                <a14:m>
                  <m:oMath xmlns:m="http://schemas.openxmlformats.org/officeDocument/2006/math">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𝑔</m:t>
                    </m:r>
                  </m:oMath>
                </a14:m>
                <a:r>
                  <a:rPr sz="2400" b="0">
                    <a:solidFill>
                      <a:srgbClr val="111827"/>
                    </a:solidFill>
                    <a:latin typeface="Arial"/>
                  </a:rPr>
                  <a:t> have no common root.</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By the IVT there is </a:t>
                </a:r>
                <a:r>
                  <a:rPr lang="en-IN" sz="2400">
                    <a:solidFill>
                      <a:srgbClr val="111827"/>
                    </a:solidFill>
                    <a:latin typeface="Cambria Math" panose="02040503050406030204" pitchFamily="18" charset="0"/>
                  </a:rPr>
                  <a:t>$c_2\in(-1,1)$</a:t>
                </a:r>
                <a:r>
                  <a:rPr sz="2400" b="0">
                    <a:solidFill>
                      <a:srgbClr val="111827"/>
                    </a:solidFill>
                    <a:latin typeface="Arial"/>
                  </a:rPr>
                  <a:t> with </a:t>
                </a:r>
                <a:r>
                  <a:rPr lang="en-IN" sz="2400">
                    <a:solidFill>
                      <a:srgbClr val="111827"/>
                    </a:solidFill>
                    <a:latin typeface="Cambria Math" panose="02040503050406030204" pitchFamily="18" charset="0"/>
                  </a:rPr>
                  <a:t>$g(c_2)=0$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Suppose </a:t>
                </a:r>
                <a:r>
                  <a:rPr lang="en-IN" sz="2400">
                    <a:solidFill>
                      <a:srgbClr val="111827"/>
                    </a:solidFill>
                    <a:latin typeface="Cambria Math" panose="02040503050406030204" pitchFamily="18" charset="0"/>
                  </a:rPr>
                  <a:t>$c_1=c_2=c$</a:t>
                </a:r>
                <a:r>
                  <a:rPr sz="2400" b="0">
                    <a:solidFill>
                      <a:srgbClr val="111827"/>
                    </a:solidFill>
                    <a:latin typeface="Arial"/>
                  </a:rPr>
                  <a:t>. Then </a:t>
                </a:r>
                <a:r>
                  <a:rPr lang="en-IN" sz="2400">
                    <a:solidFill>
                      <a:srgbClr val="111827"/>
                    </a:solidFill>
                    <a:latin typeface="Cambria Math" panose="02040503050406030204" pitchFamily="18" charset="0"/>
                  </a:rPr>
                  <a:t>$f(c)=0$</a:t>
                </a:r>
                <a:r>
                  <a:rPr sz="2400" b="0">
                    <a:solidFill>
                      <a:srgbClr val="111827"/>
                    </a:solidFill>
                    <a:latin typeface="Arial"/>
                  </a:rPr>
                  <a:t> and </a:t>
                </a:r>
                <a:r>
                  <a:rPr lang="en-IN" sz="2400">
                    <a:solidFill>
                      <a:srgbClr val="111827"/>
                    </a:solidFill>
                    <a:latin typeface="Cambria Math" panose="02040503050406030204" pitchFamily="18" charset="0"/>
                  </a:rPr>
                  <a:t>$g(c)=0$</a:t>
                </a:r>
                <a:r>
                  <a:rPr sz="2400" b="0">
                    <a:solidFill>
                      <a:srgbClr val="111827"/>
                    </a:solidFill>
                    <a:latin typeface="Arial"/>
                  </a:rPr>
                  <a:t>, but </a:t>
                </a:r>
                <a:r>
                  <a:rPr lang="en-IN" sz="2400">
                    <a:solidFill>
                      <a:srgbClr val="111827"/>
                    </a:solidFill>
                    <a:latin typeface="Cambria Math" panose="02040503050406030204" pitchFamily="18" charset="0"/>
                  </a:rPr>
                  <a:t>$g(c)=0-c^4-2=-(c^4+2)$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any real </a:t>
                </a:r>
                <a:r>
                  <a:rPr lang="en-IN" sz="2400">
                    <a:solidFill>
                      <a:srgbClr val="111827"/>
                    </a:solidFill>
                    <a:latin typeface="Cambria Math" panose="02040503050406030204" pitchFamily="18" charset="0"/>
                  </a:rPr>
                  <a:t>$c$</a:t>
                </a:r>
                <a:r>
                  <a:rPr sz="2400" b="0">
                    <a:solidFill>
                      <a:srgbClr val="111827"/>
                    </a:solidFill>
                    <a:latin typeface="Arial"/>
                  </a:rPr>
                  <a:t>, </a:t>
                </a:r>
                <a:r>
                  <a:rPr lang="en-IN" sz="2400">
                    <a:solidFill>
                      <a:srgbClr val="111827"/>
                    </a:solidFill>
                    <a:latin typeface="Cambria Math" panose="02040503050406030204" pitchFamily="18" charset="0"/>
                  </a:rPr>
                  <a:t>$c^4+2\ge2$</a:t>
                </a:r>
                <a:r>
                  <a:rPr sz="2400" b="0">
                    <a:solidFill>
                      <a:srgbClr val="111827"/>
                    </a:solidFill>
                    <a:latin typeface="Arial"/>
                  </a:rPr>
                  <a:t>, so </a:t>
                </a:r>
                <a:r>
                  <a:rPr lang="en-IN" sz="2400">
                    <a:solidFill>
                      <a:srgbClr val="111827"/>
                    </a:solidFill>
                    <a:latin typeface="Cambria Math" panose="02040503050406030204" pitchFamily="18" charset="0"/>
                  </a:rPr>
                  <a:t>$g(c)\le-2&lt;0$</a:t>
                </a:r>
                <a:r>
                  <a:rPr sz="2400" b="0">
                    <a:solidFill>
                      <a:srgbClr val="111827"/>
                    </a:solidFill>
                    <a:latin typeface="Arial"/>
                  </a:rPr>
                  <a:t>, contradicting </a:t>
                </a:r>
                <a:r>
                  <a:rPr lang="en-IN" sz="2400">
                    <a:solidFill>
                      <a:srgbClr val="111827"/>
                    </a:solidFill>
                    <a:latin typeface="Cambria Math" panose="02040503050406030204" pitchFamily="18" charset="0"/>
                  </a:rPr>
                  <a:t>$g(c)=0$</a:t>
                </a:r>
                <a:r>
                  <a:rPr sz="2400" b="0">
                    <a:solidFill>
                      <a:srgbClr val="111827"/>
                    </a:solidFill>
                    <a:latin typeface="Arial"/>
                  </a:rPr>
                  <a:t>. Hence </a:t>
                </a:r>
                <a:r>
                  <a:rPr lang="en-IN" sz="2400">
                    <a:solidFill>
                      <a:srgbClr val="111827"/>
                    </a:solidFill>
                    <a:latin typeface="Cambria Math" panose="02040503050406030204" pitchFamily="18" charset="0"/>
                  </a:rPr>
                  <a:t>$c_1\neq c_2$</a:t>
                </a:r>
                <a:r>
                  <a:rPr sz="2400" b="0">
                    <a:solidFill>
                      <a:srgbClr val="111827"/>
                    </a:solidFill>
                    <a:latin typeface="Arial"/>
                  </a:rPr>
                  <a:t>: </a:t>
                </a:r>
                <a:r>
                  <a:rPr lang="en-IN" sz="2400">
                    <a:solidFill>
                      <a:srgbClr val="111827"/>
                    </a:solidFill>
                    <a:latin typeface="Cambria Math" panose="02040503050406030204" pitchFamily="18" charset="0"/>
                  </a:rPr>
                  <a:t>$f$</a:t>
                </a:r>
                <a:r>
                  <a:rPr sz="2400" b="0">
                    <a:solidFill>
                      <a:srgbClr val="111827"/>
                    </a:solidFill>
                    <a:latin typeface="Arial"/>
                  </a:rPr>
                  <a:t> and </a:t>
                </a:r>
                <a:r>
                  <a:rPr lang="en-IN" sz="2400">
                    <a:solidFill>
                      <a:srgbClr val="111827"/>
                    </a:solidFill>
                    <a:latin typeface="Cambria Math" panose="02040503050406030204" pitchFamily="18" charset="0"/>
                  </a:rPr>
                  <a:t>$g$</a:t>
                </a:r>
                <a:r>
                  <a:rPr sz="2400" b="0">
                    <a:solidFill>
                      <a:srgbClr val="111827"/>
                    </a:solidFill>
                    <a:latin typeface="Arial"/>
                  </a:rPr>
                  <a:t> have no common root.</a:t>
                </a:r>
                <a:endParaRPr sz="2400">
                  <a:solidFill>
                    <a:srgbClr val="111827"/>
                  </a:solidFill>
                </a:endParaRPr>
              </a:p>
            </p:txBody>
          </p:sp>
        </mc:Fallback>
      </mc:AlternateContent>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Therefore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has at least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distinct real roots in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bound is attained: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oMath>
                </a14:m>
                <a:r>
                  <a:rPr sz="2400" b="0">
                    <a:solidFill>
                      <a:srgbClr val="111827"/>
                    </a:solidFill>
                    <a:latin typeface="Arial"/>
                  </a:rPr>
                  <a:t> has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and a single root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oMath>
                </a14:m>
                <a:r>
                  <a:rPr sz="2400" b="0">
                    <a:solidFill>
                      <a:srgbClr val="111827"/>
                    </a:solidFill>
                    <a:latin typeface="Arial"/>
                  </a:rPr>
                  <a:t> has </a:t>
                </a: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 which vanishes only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0.909</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rises to about </a:t>
                </a:r>
                <a14:m>
                  <m:oMath xmlns:m="http://schemas.openxmlformats.org/officeDocument/2006/math">
                    <m:r>
                      <a:rPr lang="en-IN" sz="2400" i="1">
                        <a:solidFill>
                          <a:srgbClr val="111827"/>
                        </a:solidFill>
                        <a:latin typeface="Cambria Math" panose="02040503050406030204" pitchFamily="18" charset="0"/>
                      </a:rPr>
                      <m:t>1.04</m:t>
                    </m:r>
                  </m:oMath>
                </a14:m>
                <a:r>
                  <a:rPr sz="2400" b="0">
                    <a:solidFill>
                      <a:srgbClr val="111827"/>
                    </a:solidFill>
                    <a:latin typeface="Arial"/>
                  </a:rPr>
                  <a:t> there and then falls to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𝑔</m:t>
                    </m:r>
                  </m:oMath>
                </a14:m>
                <a:r>
                  <a:rPr sz="2400" b="0">
                    <a:solidFill>
                      <a:srgbClr val="111827"/>
                    </a:solidFill>
                    <a:latin typeface="Arial"/>
                  </a:rPr>
                  <a:t> has exactly one root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0.338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this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gives exactly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roots and the minimum number of distinct roots is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Therefore </a:t>
                </a:r>
                <a:r>
                  <a:rPr lang="en-IN" sz="2400">
                    <a:solidFill>
                      <a:srgbClr val="111827"/>
                    </a:solidFill>
                    <a:latin typeface="Cambria Math" panose="02040503050406030204" pitchFamily="18" charset="0"/>
                  </a:rPr>
                  <a:t>$f(x)g(x)=0$</a:t>
                </a:r>
                <a:r>
                  <a:rPr sz="2400" b="0">
                    <a:solidFill>
                      <a:srgbClr val="111827"/>
                    </a:solidFill>
                    <a:latin typeface="Arial"/>
                  </a:rPr>
                  <a:t> has at least </a:t>
                </a:r>
                <a:r>
                  <a:rPr lang="en-IN" sz="2400">
                    <a:solidFill>
                      <a:srgbClr val="111827"/>
                    </a:solidFill>
                    <a:latin typeface="Cambria Math" panose="02040503050406030204" pitchFamily="18" charset="0"/>
                  </a:rPr>
                  <a:t>$1+1=2$</a:t>
                </a:r>
                <a:r>
                  <a:rPr sz="2400" b="0">
                    <a:solidFill>
                      <a:srgbClr val="111827"/>
                    </a:solidFill>
                    <a:latin typeface="Arial"/>
                  </a:rPr>
                  <a:t> distinct real roots in </a:t>
                </a:r>
                <a:r>
                  <a:rPr lang="en-IN" sz="2400">
                    <a:solidFill>
                      <a:srgbClr val="111827"/>
                    </a:solidFill>
                    <a:latin typeface="Cambria Math" panose="02040503050406030204" pitchFamily="18" charset="0"/>
                  </a:rPr>
                  <a:t>$[-1,1]$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bound is attained: </a:t>
                </a:r>
                <a:r>
                  <a:rPr lang="en-IN" sz="2400">
                    <a:solidFill>
                      <a:srgbClr val="111827"/>
                    </a:solidFill>
                    <a:latin typeface="Cambria Math" panose="02040503050406030204" pitchFamily="18" charset="0"/>
                  </a:rPr>
                  <a:t>$f(x)=1-3x$</a:t>
                </a:r>
                <a:r>
                  <a:rPr sz="2400" b="0">
                    <a:solidFill>
                      <a:srgbClr val="111827"/>
                    </a:solidFill>
                    <a:latin typeface="Arial"/>
                  </a:rPr>
                  <a:t> has </a:t>
                </a:r>
                <a:r>
                  <a:rPr lang="en-IN" sz="2400">
                    <a:solidFill>
                      <a:srgbClr val="111827"/>
                    </a:solidFill>
                    <a:latin typeface="Cambria Math" panose="02040503050406030204" pitchFamily="18" charset="0"/>
                  </a:rPr>
                  <a:t>$f(-1)=4$</a:t>
                </a:r>
                <a:r>
                  <a:rPr sz="2400" b="0">
                    <a:solidFill>
                      <a:srgbClr val="111827"/>
                    </a:solidFill>
                    <a:latin typeface="Arial"/>
                  </a:rPr>
                  <a:t>, </a:t>
                </a:r>
                <a:r>
                  <a:rPr lang="en-IN" sz="2400">
                    <a:solidFill>
                      <a:srgbClr val="111827"/>
                    </a:solidFill>
                    <a:latin typeface="Cambria Math" panose="02040503050406030204" pitchFamily="18" charset="0"/>
                  </a:rPr>
                  <a:t>$f(1)=-2$</a:t>
                </a:r>
                <a:r>
                  <a:rPr sz="2400" b="0">
                    <a:solidFill>
                      <a:srgbClr val="111827"/>
                    </a:solidFill>
                    <a:latin typeface="Arial"/>
                  </a:rPr>
                  <a:t> and a single root </a:t>
                </a:r>
                <a:r>
                  <a:rPr lang="en-IN" sz="2400">
                    <a:solidFill>
                      <a:srgbClr val="111827"/>
                    </a:solidFill>
                    <a:latin typeface="Cambria Math" panose="02040503050406030204" pitchFamily="18" charset="0"/>
                  </a:rPr>
                  <a:t>$x=\frac13$</a:t>
                </a:r>
                <a:r>
                  <a:rPr sz="2400" b="0">
                    <a:solidFill>
                      <a:srgbClr val="111827"/>
                    </a:solidFill>
                    <a:latin typeface="Arial"/>
                  </a:rPr>
                  <a:t>. Then </a:t>
                </a:r>
                <a:r>
                  <a:rPr lang="en-IN" sz="2400">
                    <a:solidFill>
                      <a:srgbClr val="111827"/>
                    </a:solidFill>
                    <a:latin typeface="Cambria Math" panose="02040503050406030204" pitchFamily="18" charset="0"/>
                  </a:rPr>
                  <a:t>$g(x)=-1-3x-x^4$</a:t>
                </a:r>
                <a:r>
                  <a:rPr sz="2400" b="0">
                    <a:solidFill>
                      <a:srgbClr val="111827"/>
                    </a:solidFill>
                    <a:latin typeface="Arial"/>
                  </a:rPr>
                  <a:t> has </a:t>
                </a:r>
                <a:r>
                  <a:rPr lang="en-IN" sz="2400">
                    <a:solidFill>
                      <a:srgbClr val="111827"/>
                    </a:solidFill>
                    <a:latin typeface="Cambria Math" panose="02040503050406030204" pitchFamily="18" charset="0"/>
                  </a:rPr>
                  <a:t>$g'(x)=-3-4x^3$</a:t>
                </a:r>
                <a:r>
                  <a:rPr sz="2400" b="0">
                    <a:solidFill>
                      <a:srgbClr val="111827"/>
                    </a:solidFill>
                    <a:latin typeface="Arial"/>
                  </a:rPr>
                  <a:t>, which vanishes only at </a:t>
                </a:r>
                <a:r>
                  <a:rPr lang="en-IN" sz="2400">
                    <a:solidFill>
                      <a:srgbClr val="111827"/>
                    </a:solidFill>
                    <a:latin typeface="Cambria Math" panose="02040503050406030204" pitchFamily="18" charset="0"/>
                  </a:rPr>
                  <a:t>$x\approx-0.909$</a:t>
                </a:r>
                <a:r>
                  <a:rPr sz="2400" b="0">
                    <a:solidFill>
                      <a:srgbClr val="111827"/>
                    </a:solidFill>
                    <a:latin typeface="Arial"/>
                  </a:rPr>
                  <a:t>; </a:t>
                </a:r>
                <a:r>
                  <a:rPr lang="en-IN" sz="2400">
                    <a:solidFill>
                      <a:srgbClr val="111827"/>
                    </a:solidFill>
                    <a:latin typeface="Cambria Math" panose="02040503050406030204" pitchFamily="18" charset="0"/>
                  </a:rPr>
                  <a:t>$g(-1)=1$</a:t>
                </a:r>
                <a:r>
                  <a:rPr sz="2400" b="0">
                    <a:solidFill>
                      <a:srgbClr val="111827"/>
                    </a:solidFill>
                    <a:latin typeface="Arial"/>
                  </a:rPr>
                  <a:t> rises to about </a:t>
                </a:r>
                <a:r>
                  <a:rPr lang="en-IN" sz="2400">
                    <a:solidFill>
                      <a:srgbClr val="111827"/>
                    </a:solidFill>
                    <a:latin typeface="Cambria Math" panose="02040503050406030204" pitchFamily="18" charset="0"/>
                  </a:rPr>
                  <a:t>$1.04$</a:t>
                </a:r>
                <a:r>
                  <a:rPr sz="2400" b="0">
                    <a:solidFill>
                      <a:srgbClr val="111827"/>
                    </a:solidFill>
                    <a:latin typeface="Arial"/>
                  </a:rPr>
                  <a:t> there and then falls to </a:t>
                </a:r>
                <a:r>
                  <a:rPr lang="en-IN" sz="2400">
                    <a:solidFill>
                      <a:srgbClr val="111827"/>
                    </a:solidFill>
                    <a:latin typeface="Cambria Math" panose="02040503050406030204" pitchFamily="18" charset="0"/>
                  </a:rPr>
                  <a:t>$g(1)=-5$</a:t>
                </a:r>
                <a:r>
                  <a:rPr sz="2400" b="0">
                    <a:solidFill>
                      <a:srgbClr val="111827"/>
                    </a:solidFill>
                    <a:latin typeface="Arial"/>
                  </a:rPr>
                  <a:t>, so </a:t>
                </a:r>
                <a:r>
                  <a:rPr lang="en-IN" sz="2400">
                    <a:solidFill>
                      <a:srgbClr val="111827"/>
                    </a:solidFill>
                    <a:latin typeface="Cambria Math" panose="02040503050406030204" pitchFamily="18" charset="0"/>
                  </a:rPr>
                  <a:t>$g$</a:t>
                </a:r>
                <a:r>
                  <a:rPr sz="2400" b="0">
                    <a:solidFill>
                      <a:srgbClr val="111827"/>
                    </a:solidFill>
                    <a:latin typeface="Arial"/>
                  </a:rPr>
                  <a:t> has exactly one root (</a:t>
                </a:r>
                <a:r>
                  <a:rPr lang="en-IN" sz="2400">
                    <a:solidFill>
                      <a:srgbClr val="111827"/>
                    </a:solidFill>
                    <a:latin typeface="Cambria Math" panose="02040503050406030204" pitchFamily="18" charset="0"/>
                  </a:rPr>
                  <a:t>$x\approx-0.338$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this </a:t>
                </a:r>
                <a:r>
                  <a:rPr lang="en-IN" sz="2400">
                    <a:solidFill>
                      <a:srgbClr val="111827"/>
                    </a:solidFill>
                    <a:latin typeface="Cambria Math" panose="02040503050406030204" pitchFamily="18" charset="0"/>
                  </a:rPr>
                  <a:t>$f$</a:t>
                </a:r>
                <a:r>
                  <a:rPr sz="2400" b="0">
                    <a:solidFill>
                      <a:srgbClr val="111827"/>
                    </a:solidFill>
                    <a:latin typeface="Arial"/>
                  </a:rPr>
                  <a:t> gives exactly </a:t>
                </a:r>
                <a:r>
                  <a:rPr lang="en-IN" sz="2400">
                    <a:solidFill>
                      <a:srgbClr val="111827"/>
                    </a:solidFill>
                    <a:latin typeface="Cambria Math" panose="02040503050406030204" pitchFamily="18" charset="0"/>
                  </a:rPr>
                  <a:t>$2$</a:t>
                </a:r>
                <a:r>
                  <a:rPr sz="2400" b="0">
                    <a:solidFill>
                      <a:srgbClr val="111827"/>
                    </a:solidFill>
                    <a:latin typeface="Arial"/>
                  </a:rPr>
                  <a:t> roots and the minimum number of distinct roots is </a:t>
                </a:r>
                <a:r>
                  <a:rPr lang="en-IN" sz="2400">
                    <a:solidFill>
                      <a:srgbClr val="111827"/>
                    </a:solidFill>
                    <a:latin typeface="Cambria Math" panose="02040503050406030204" pitchFamily="18" charset="0"/>
                  </a:rPr>
                  <a:t>$2$</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2</a:t>
            </a:r>
            <a:endParaRPr sz="2800">
              <a:solidFill>
                <a:srgbClr val="15803D"/>
              </a:solidFill>
            </a:endParaRP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Ordering argument: at every root </a:t>
                </a:r>
                <a14:m>
                  <m:oMath xmlns:m="http://schemas.openxmlformats.org/officeDocument/2006/math">
                    <m:sSub>
                      <m:e>
                        <m:r>
                          <a:rPr lang="en-IN" sz="2400" i="1">
                            <a:solidFill>
                              <a:srgbClr val="78350F"/>
                            </a:solidFill>
                            <a:latin typeface="Cambria Math" panose="02040503050406030204" pitchFamily="18" charset="0"/>
                          </a:rPr>
                          <m:t>𝑐</m:t>
                        </m:r>
                      </m:e>
                      <m:sub>
                        <m:r>
                          <a:rPr lang="en-IN" sz="2400" i="1">
                            <a:solidFill>
                              <a:srgbClr val="78350F"/>
                            </a:solidFill>
                            <a:latin typeface="Cambria Math" panose="02040503050406030204" pitchFamily="18" charset="0"/>
                          </a:rPr>
                          <m:t>1</m:t>
                        </m:r>
                      </m:sub>
                    </m:sSub>
                  </m:oMath>
                </a14:m>
                <a:r>
                  <a:rPr sz="2400" b="0">
                    <a:solidFill>
                      <a:srgbClr val="78350F"/>
                    </a:solidFill>
                    <a:latin typeface="Arial"/>
                  </a:rPr>
                  <a:t> of </a:t>
                </a:r>
                <a14:m>
                  <m:oMath xmlns:m="http://schemas.openxmlformats.org/officeDocument/2006/math">
                    <m:r>
                      <a:rPr lang="en-IN" sz="2400" i="1">
                        <a:solidFill>
                          <a:srgbClr val="78350F"/>
                        </a:solidFill>
                        <a:latin typeface="Cambria Math" panose="02040503050406030204" pitchFamily="18" charset="0"/>
                      </a:rPr>
                      <m:t>𝑓</m:t>
                    </m:r>
                  </m:oMath>
                </a14:m>
                <a:r>
                  <a:rPr sz="2400" b="0">
                    <a:solidFill>
                      <a:srgbClr val="78350F"/>
                    </a:solidFill>
                    <a:latin typeface="Arial"/>
                  </a:rPr>
                  <a:t> we have </a:t>
                </a:r>
                <a14:m>
                  <m:oMath xmlns:m="http://schemas.openxmlformats.org/officeDocument/2006/math">
                    <m:r>
                      <a:rPr lang="en-IN" sz="2400" i="1">
                        <a:solidFill>
                          <a:srgbClr val="78350F"/>
                        </a:solidFill>
                        <a:latin typeface="Cambria Math" panose="02040503050406030204" pitchFamily="18" charset="0"/>
                      </a:rPr>
                      <m:t>𝑔</m:t>
                    </m:r>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𝑐</m:t>
                        </m:r>
                      </m:e>
                      <m:sub>
                        <m:r>
                          <a:rPr lang="en-IN" sz="2400" i="1">
                            <a:solidFill>
                              <a:srgbClr val="78350F"/>
                            </a:solidFill>
                            <a:latin typeface="Cambria Math" panose="02040503050406030204" pitchFamily="18" charset="0"/>
                          </a:rPr>
                          <m:t>1</m:t>
                        </m:r>
                      </m:sub>
                    </m:sSub>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&lt;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&lt;</m:t>
                    </m:r>
                    <m:r>
                      <a:rPr lang="en-IN" sz="2400" i="1">
                        <a:solidFill>
                          <a:srgbClr val="78350F"/>
                        </a:solidFill>
                        <a:latin typeface="Cambria Math" panose="02040503050406030204" pitchFamily="18" charset="0"/>
                      </a:rPr>
                      <m:t>𝑔</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so </a:t>
                </a:r>
                <a14:m>
                  <m:oMath xmlns:m="http://schemas.openxmlformats.org/officeDocument/2006/math">
                    <m:r>
                      <a:rPr lang="en-IN" sz="2400" i="1">
                        <a:solidFill>
                          <a:srgbClr val="78350F"/>
                        </a:solidFill>
                        <a:latin typeface="Cambria Math" panose="02040503050406030204" pitchFamily="18" charset="0"/>
                      </a:rPr>
                      <m:t>𝑔</m:t>
                    </m:r>
                  </m:oMath>
                </a14:m>
                <a:r>
                  <a:rPr sz="2400" b="0">
                    <a:solidFill>
                      <a:srgbClr val="78350F"/>
                    </a:solidFill>
                    <a:latin typeface="Arial"/>
                  </a:rPr>
                  <a:t> has a root strictly to the left of </a:t>
                </a:r>
                <a14:m>
                  <m:oMath xmlns:m="http://schemas.openxmlformats.org/officeDocument/2006/math">
                    <m:sSub>
                      <m:e>
                        <m:r>
                          <a:rPr lang="en-IN" sz="2400" i="1">
                            <a:solidFill>
                              <a:srgbClr val="78350F"/>
                            </a:solidFill>
                            <a:latin typeface="Cambria Math" panose="02040503050406030204" pitchFamily="18" charset="0"/>
                          </a:rPr>
                          <m:t>𝑐</m:t>
                        </m:r>
                      </m:e>
                      <m:sub>
                        <m:r>
                          <a:rPr lang="en-IN" sz="2400" i="1">
                            <a:solidFill>
                              <a:srgbClr val="78350F"/>
                            </a:solidFill>
                            <a:latin typeface="Cambria Math" panose="02040503050406030204" pitchFamily="18" charset="0"/>
                          </a:rPr>
                          <m:t>1</m:t>
                        </m:r>
                      </m:sub>
                    </m:sSub>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Ordering argument: at every root </a:t>
                </a:r>
                <a:r>
                  <a:rPr lang="en-IN" sz="2400">
                    <a:solidFill>
                      <a:srgbClr val="78350F"/>
                    </a:solidFill>
                    <a:latin typeface="Cambria Math" panose="02040503050406030204" pitchFamily="18" charset="0"/>
                  </a:rPr>
                  <a:t>$c_1$</a:t>
                </a:r>
                <a:r>
                  <a:rPr sz="2400" b="0">
                    <a:solidFill>
                      <a:srgbClr val="78350F"/>
                    </a:solidFill>
                    <a:latin typeface="Arial"/>
                  </a:rPr>
                  <a:t> of </a:t>
                </a:r>
                <a:r>
                  <a:rPr lang="en-IN" sz="2400">
                    <a:solidFill>
                      <a:srgbClr val="78350F"/>
                    </a:solidFill>
                    <a:latin typeface="Cambria Math" panose="02040503050406030204" pitchFamily="18" charset="0"/>
                  </a:rPr>
                  <a:t>$f$</a:t>
                </a:r>
                <a:r>
                  <a:rPr sz="2400" b="0">
                    <a:solidFill>
                      <a:srgbClr val="78350F"/>
                    </a:solidFill>
                    <a:latin typeface="Arial"/>
                  </a:rPr>
                  <a:t> we have </a:t>
                </a:r>
                <a:r>
                  <a:rPr lang="en-IN" sz="2400">
                    <a:solidFill>
                      <a:srgbClr val="78350F"/>
                    </a:solidFill>
                    <a:latin typeface="Cambria Math" panose="02040503050406030204" pitchFamily="18" charset="0"/>
                  </a:rPr>
                  <a:t>$g(c_1)&lt;0&lt;g(-1)$</a:t>
                </a:r>
                <a:r>
                  <a:rPr sz="2400" b="0">
                    <a:solidFill>
                      <a:srgbClr val="78350F"/>
                    </a:solidFill>
                    <a:latin typeface="Arial"/>
                  </a:rPr>
                  <a:t>, so </a:t>
                </a:r>
                <a:r>
                  <a:rPr lang="en-IN" sz="2400">
                    <a:solidFill>
                      <a:srgbClr val="78350F"/>
                    </a:solidFill>
                    <a:latin typeface="Cambria Math" panose="02040503050406030204" pitchFamily="18" charset="0"/>
                  </a:rPr>
                  <a:t>$g$</a:t>
                </a:r>
                <a:r>
                  <a:rPr sz="2400" b="0">
                    <a:solidFill>
                      <a:srgbClr val="78350F"/>
                    </a:solidFill>
                    <a:latin typeface="Arial"/>
                  </a:rPr>
                  <a:t> has a root strictly to the left of </a:t>
                </a:r>
                <a:r>
                  <a:rPr lang="en-IN" sz="2400">
                    <a:solidFill>
                      <a:srgbClr val="78350F"/>
                    </a:solidFill>
                    <a:latin typeface="Cambria Math" panose="02040503050406030204" pitchFamily="18" charset="0"/>
                  </a:rPr>
                  <a:t>$c_1$</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By the IVT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has a root </a:t>
                </a:r>
                <a14:m>
                  <m:oMath xmlns:m="http://schemas.openxmlformats.org/officeDocument/2006/math">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that root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4</m:t>
                        </m:r>
                      </m:sup>
                    </m:sSub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4</m:t>
                        </m:r>
                      </m:sup>
                    </m:sSub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while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By the IVT </a:t>
                </a:r>
                <a:r>
                  <a:rPr lang="en-IN" sz="2400">
                    <a:solidFill>
                      <a:srgbClr val="111827"/>
                    </a:solidFill>
                    <a:latin typeface="Cambria Math" panose="02040503050406030204" pitchFamily="18" charset="0"/>
                  </a:rPr>
                  <a:t>$f$</a:t>
                </a:r>
                <a:r>
                  <a:rPr sz="2400" b="0">
                    <a:solidFill>
                      <a:srgbClr val="111827"/>
                    </a:solidFill>
                    <a:latin typeface="Arial"/>
                  </a:rPr>
                  <a:t> has a root </a:t>
                </a:r>
                <a:r>
                  <a:rPr lang="en-IN" sz="2400">
                    <a:solidFill>
                      <a:srgbClr val="111827"/>
                    </a:solidFill>
                    <a:latin typeface="Cambria Math" panose="02040503050406030204" pitchFamily="18" charset="0"/>
                  </a:rPr>
                  <a:t>$c_1\in(-1,1)$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that root </a:t>
                </a:r>
                <a:r>
                  <a:rPr lang="en-IN" sz="2400">
                    <a:solidFill>
                      <a:srgbClr val="111827"/>
                    </a:solidFill>
                    <a:latin typeface="Cambria Math" panose="02040503050406030204" pitchFamily="18" charset="0"/>
                  </a:rPr>
                  <a:t>$g(c_1)=f(c_1)-c_1^4-2=-(c_1^4+2)&lt;0$</a:t>
                </a:r>
                <a:r>
                  <a:rPr sz="2400" b="0">
                    <a:solidFill>
                      <a:srgbClr val="111827"/>
                    </a:solidFill>
                    <a:latin typeface="Arial"/>
                  </a:rPr>
                  <a:t>, while </a:t>
                </a:r>
                <a:r>
                  <a:rPr lang="en-IN" sz="2400">
                    <a:solidFill>
                      <a:srgbClr val="111827"/>
                    </a:solidFill>
                    <a:latin typeface="Cambria Math" panose="02040503050406030204" pitchFamily="18" charset="0"/>
                  </a:rPr>
                  <a:t>$g(-1)=1&gt;0$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𝑔</m:t>
                    </m:r>
                  </m:oMath>
                </a14:m>
                <a:r>
                  <a:rPr sz="2400" b="0">
                    <a:solidFill>
                      <a:srgbClr val="111827"/>
                    </a:solidFill>
                    <a:latin typeface="Arial"/>
                  </a:rPr>
                  <a:t> is continuous on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it has a root </a:t>
                </a:r>
                <a14:m>
                  <m:oMath xmlns:m="http://schemas.openxmlformats.org/officeDocument/2006/math">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with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&lt;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&lt;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The roots are therefore distinct: </a:t>
                </a:r>
                <a14:m>
                  <m:oMath xmlns:m="http://schemas.openxmlformats.org/officeDocument/2006/math">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&lt;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𝑓</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has at least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distinct roots. Equality occurs for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oMath>
                </a14:m>
                <a:r>
                  <a:rPr sz="2400" b="0">
                    <a:solidFill>
                      <a:srgbClr val="111827"/>
                    </a:solidFill>
                    <a:latin typeface="Arial"/>
                  </a:rPr>
                  <a:t>: roots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(of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0.338</m:t>
                    </m:r>
                  </m:oMath>
                </a14:m>
                <a:r>
                  <a:rPr sz="2400" b="0">
                    <a:solidFill>
                      <a:srgbClr val="111827"/>
                    </a:solidFill>
                    <a:latin typeface="Arial"/>
                  </a:rPr>
                  <a:t> (of </a:t>
                </a:r>
                <a14:m>
                  <m:oMath xmlns:m="http://schemas.openxmlformats.org/officeDocument/2006/math">
                    <m:r>
                      <a:rPr lang="en-IN" sz="2400" i="1">
                        <a:solidFill>
                          <a:srgbClr val="111827"/>
                        </a:solidFill>
                        <a:latin typeface="Cambria Math" panose="02040503050406030204" pitchFamily="18" charset="0"/>
                      </a:rPr>
                      <m:t>𝑔</m:t>
                    </m:r>
                  </m:oMath>
                </a14:m>
                <a:r>
                  <a:rPr sz="2400" b="0">
                    <a:solidFill>
                      <a:srgbClr val="111827"/>
                    </a:solidFill>
                    <a:latin typeface="Arial"/>
                  </a:rPr>
                  <a:t>) only, so the minimum is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$g$</a:t>
                </a:r>
                <a:r>
                  <a:rPr sz="2400" b="0">
                    <a:solidFill>
                      <a:srgbClr val="111827"/>
                    </a:solidFill>
                    <a:latin typeface="Arial"/>
                  </a:rPr>
                  <a:t> is continuous on </a:t>
                </a:r>
                <a:r>
                  <a:rPr lang="en-IN" sz="2400">
                    <a:solidFill>
                      <a:srgbClr val="111827"/>
                    </a:solidFill>
                    <a:latin typeface="Cambria Math" panose="02040503050406030204" pitchFamily="18" charset="0"/>
                  </a:rPr>
                  <a:t>$[-1,c_1]$</a:t>
                </a:r>
                <a:r>
                  <a:rPr sz="2400" b="0">
                    <a:solidFill>
                      <a:srgbClr val="111827"/>
                    </a:solidFill>
                    <a:latin typeface="Arial"/>
                  </a:rPr>
                  <a:t>, so it has a root </a:t>
                </a:r>
                <a:r>
                  <a:rPr lang="en-IN" sz="2400">
                    <a:solidFill>
                      <a:srgbClr val="111827"/>
                    </a:solidFill>
                    <a:latin typeface="Cambria Math" panose="02040503050406030204" pitchFamily="18" charset="0"/>
                  </a:rPr>
                  <a:t>$c_2$</a:t>
                </a:r>
                <a:r>
                  <a:rPr sz="2400" b="0">
                    <a:solidFill>
                      <a:srgbClr val="111827"/>
                    </a:solidFill>
                    <a:latin typeface="Arial"/>
                  </a:rPr>
                  <a:t> with </a:t>
                </a:r>
                <a:r>
                  <a:rPr lang="en-IN" sz="2400">
                    <a:solidFill>
                      <a:srgbClr val="111827"/>
                    </a:solidFill>
                    <a:latin typeface="Cambria Math" panose="02040503050406030204" pitchFamily="18" charset="0"/>
                  </a:rPr>
                  <a:t>$-1&lt;c_2&lt;c_1$</a:t>
                </a:r>
                <a:r>
                  <a:rPr sz="2400" b="0">
                    <a:solidFill>
                      <a:srgbClr val="111827"/>
                    </a:solidFill>
                    <a:latin typeface="Arial"/>
                  </a:rPr>
                  <a:t>. The roots are therefore distinct: </a:t>
                </a:r>
                <a:r>
                  <a:rPr lang="en-IN" sz="2400">
                    <a:solidFill>
                      <a:srgbClr val="111827"/>
                    </a:solidFill>
                    <a:latin typeface="Cambria Math" panose="02040503050406030204" pitchFamily="18" charset="0"/>
                  </a:rPr>
                  <a:t>$c_2&lt;c_1$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$fg=0$</a:t>
                </a:r>
                <a:r>
                  <a:rPr sz="2400" b="0">
                    <a:solidFill>
                      <a:srgbClr val="111827"/>
                    </a:solidFill>
                    <a:latin typeface="Arial"/>
                  </a:rPr>
                  <a:t> has at least </a:t>
                </a:r>
                <a:r>
                  <a:rPr lang="en-IN" sz="2400">
                    <a:solidFill>
                      <a:srgbClr val="111827"/>
                    </a:solidFill>
                    <a:latin typeface="Cambria Math" panose="02040503050406030204" pitchFamily="18" charset="0"/>
                  </a:rPr>
                  <a:t>$2$</a:t>
                </a:r>
                <a:r>
                  <a:rPr sz="2400" b="0">
                    <a:solidFill>
                      <a:srgbClr val="111827"/>
                    </a:solidFill>
                    <a:latin typeface="Arial"/>
                  </a:rPr>
                  <a:t> distinct roots. Equality occurs for </a:t>
                </a:r>
                <a:r>
                  <a:rPr lang="en-IN" sz="2400">
                    <a:solidFill>
                      <a:srgbClr val="111827"/>
                    </a:solidFill>
                    <a:latin typeface="Cambria Math" panose="02040503050406030204" pitchFamily="18" charset="0"/>
                  </a:rPr>
                  <a:t>$f(x)=1-3x$</a:t>
                </a:r>
                <a:r>
                  <a:rPr sz="2400" b="0">
                    <a:solidFill>
                      <a:srgbClr val="111827"/>
                    </a:solidFill>
                    <a:latin typeface="Arial"/>
                  </a:rPr>
                  <a:t>: roots </a:t>
                </a:r>
                <a:r>
                  <a:rPr lang="en-IN" sz="2400">
                    <a:solidFill>
                      <a:srgbClr val="111827"/>
                    </a:solidFill>
                    <a:latin typeface="Cambria Math" panose="02040503050406030204" pitchFamily="18" charset="0"/>
                  </a:rPr>
                  <a:t>$\frac13$</a:t>
                </a:r>
                <a:r>
                  <a:rPr sz="2400" b="0">
                    <a:solidFill>
                      <a:srgbClr val="111827"/>
                    </a:solidFill>
                    <a:latin typeface="Arial"/>
                  </a:rPr>
                  <a:t> (of </a:t>
                </a:r>
                <a:r>
                  <a:rPr lang="en-IN" sz="2400">
                    <a:solidFill>
                      <a:srgbClr val="111827"/>
                    </a:solidFill>
                    <a:latin typeface="Cambria Math" panose="02040503050406030204" pitchFamily="18" charset="0"/>
                  </a:rPr>
                  <a:t>$f$</a:t>
                </a:r>
                <a:r>
                  <a:rPr sz="2400" b="0">
                    <a:solidFill>
                      <a:srgbClr val="111827"/>
                    </a:solidFill>
                    <a:latin typeface="Arial"/>
                  </a:rPr>
                  <a:t>) and </a:t>
                </a:r>
                <a:r>
                  <a:rPr lang="en-IN" sz="2400">
                    <a:solidFill>
                      <a:srgbClr val="111827"/>
                    </a:solidFill>
                    <a:latin typeface="Cambria Math" panose="02040503050406030204" pitchFamily="18" charset="0"/>
                  </a:rPr>
                  <a:t>$\approx-0.338$</a:t>
                </a:r>
                <a:r>
                  <a:rPr sz="2400" b="0">
                    <a:solidFill>
                      <a:srgbClr val="111827"/>
                    </a:solidFill>
                    <a:latin typeface="Arial"/>
                  </a:rPr>
                  <a:t> (of </a:t>
                </a:r>
                <a:r>
                  <a:rPr lang="en-IN" sz="2400">
                    <a:solidFill>
                      <a:srgbClr val="111827"/>
                    </a:solidFill>
                    <a:latin typeface="Cambria Math" panose="02040503050406030204" pitchFamily="18" charset="0"/>
                  </a:rPr>
                  <a:t>$g$</a:t>
                </a:r>
                <a:r>
                  <a:rPr sz="2400" b="0">
                    <a:solidFill>
                      <a:srgbClr val="111827"/>
                    </a:solidFill>
                    <a:latin typeface="Arial"/>
                  </a:rPr>
                  <a:t>) only, so the minimum is </a:t>
                </a:r>
                <a:r>
                  <a:rPr lang="en-IN" sz="2400">
                    <a:solidFill>
                      <a:srgbClr val="111827"/>
                    </a:solidFill>
                    <a:latin typeface="Cambria Math" panose="02040503050406030204" pitchFamily="18" charset="0"/>
                  </a:rPr>
                  <a:t>$2$</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2</a:t>
            </a:r>
            <a:endParaRPr sz="2800">
              <a:solidFill>
                <a:srgbClr val="15803D"/>
              </a:solidFill>
            </a:endParaRP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everywhere, then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𝑔</m:t>
                    </m:r>
                  </m:oMath>
                </a14:m>
                <a:r>
                  <a:rPr sz="2400" b="0">
                    <a:solidFill>
                      <a:srgbClr val="111827"/>
                    </a:solidFill>
                    <a:latin typeface="Arial"/>
                  </a:rPr>
                  <a:t> have no common root (a common root forces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IVT: continuous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has at least one root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 prove a minimum equals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you need two parts: a proof that at least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always exist, and an example with exactly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Counting roots of a product </a:t>
                </a:r>
                <a14:m>
                  <m:oMath xmlns:m="http://schemas.openxmlformats.org/officeDocument/2006/math">
                    <m:r>
                      <a:rPr lang="en-IN" sz="2400" i="1">
                        <a:solidFill>
                          <a:srgbClr val="111827"/>
                        </a:solidFill>
                        <a:latin typeface="Cambria Math" panose="02040503050406030204" pitchFamily="18" charset="0"/>
                      </a:rPr>
                      <m:t>𝑓</m:t>
                    </m:r>
                    <m:r>
                      <a:rPr lang="en-IN" sz="2400" i="1">
                        <a:solidFill>
                          <a:srgbClr val="111827"/>
                        </a:solidFill>
                        <a:latin typeface="Cambria Math" panose="02040503050406030204" pitchFamily="18" charset="0"/>
                      </a:rPr>
                      <m:t>𝑔</m:t>
                    </m:r>
                  </m:oMath>
                </a14:m>
                <a:r>
                  <a:rPr sz="2400" b="0">
                    <a:solidFill>
                      <a:srgbClr val="111827"/>
                    </a:solidFill>
                    <a:latin typeface="Arial"/>
                  </a:rPr>
                  <a:t> is the union of roots of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and of </a:t>
                </a:r>
                <a14:m>
                  <m:oMath xmlns:m="http://schemas.openxmlformats.org/officeDocument/2006/math">
                    <m:r>
                      <a:rPr lang="en-IN" sz="2400" i="1">
                        <a:solidFill>
                          <a:srgbClr val="111827"/>
                        </a:solidFill>
                        <a:latin typeface="Cambria Math" panose="02040503050406030204" pitchFamily="18" charset="0"/>
                      </a:rPr>
                      <m:t>𝑔</m:t>
                    </m:r>
                  </m:oMath>
                </a14:m>
                <a:r>
                  <a:rPr sz="2400" b="0">
                    <a:solidFill>
                      <a:srgbClr val="111827"/>
                    </a:solidFill>
                    <a:latin typeface="Arial"/>
                  </a:rPr>
                  <a:t>; distinctness matters when they can coincide.</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$g=f-h$</a:t>
                </a:r>
                <a:r>
                  <a:rPr sz="2400" b="0">
                    <a:solidFill>
                      <a:srgbClr val="111827"/>
                    </a:solidFill>
                    <a:latin typeface="Arial"/>
                  </a:rPr>
                  <a:t> with </a:t>
                </a:r>
                <a:r>
                  <a:rPr lang="en-IN" sz="2400">
                    <a:solidFill>
                      <a:srgbClr val="111827"/>
                    </a:solidFill>
                    <a:latin typeface="Cambria Math" panose="02040503050406030204" pitchFamily="18" charset="0"/>
                  </a:rPr>
                  <a:t>$h&gt;0$</a:t>
                </a:r>
                <a:r>
                  <a:rPr sz="2400" b="0">
                    <a:solidFill>
                      <a:srgbClr val="111827"/>
                    </a:solidFill>
                    <a:latin typeface="Arial"/>
                  </a:rPr>
                  <a:t> everywhere, then </a:t>
                </a:r>
                <a:r>
                  <a:rPr lang="en-IN" sz="2400">
                    <a:solidFill>
                      <a:srgbClr val="111827"/>
                    </a:solidFill>
                    <a:latin typeface="Cambria Math" panose="02040503050406030204" pitchFamily="18" charset="0"/>
                  </a:rPr>
                  <a:t>$f$</a:t>
                </a:r>
                <a:r>
                  <a:rPr sz="2400" b="0">
                    <a:solidFill>
                      <a:srgbClr val="111827"/>
                    </a:solidFill>
                    <a:latin typeface="Arial"/>
                  </a:rPr>
                  <a:t> and </a:t>
                </a:r>
                <a:r>
                  <a:rPr lang="en-IN" sz="2400">
                    <a:solidFill>
                      <a:srgbClr val="111827"/>
                    </a:solidFill>
                    <a:latin typeface="Cambria Math" panose="02040503050406030204" pitchFamily="18" charset="0"/>
                  </a:rPr>
                  <a:t>$g$</a:t>
                </a:r>
                <a:r>
                  <a:rPr sz="2400" b="0">
                    <a:solidFill>
                      <a:srgbClr val="111827"/>
                    </a:solidFill>
                    <a:latin typeface="Arial"/>
                  </a:rPr>
                  <a:t> have no common root (a common root forces </a:t>
                </a:r>
                <a:r>
                  <a:rPr lang="en-IN" sz="2400">
                    <a:solidFill>
                      <a:srgbClr val="111827"/>
                    </a:solidFill>
                    <a:latin typeface="Cambria Math" panose="02040503050406030204" pitchFamily="18" charset="0"/>
                  </a:rPr>
                  <a:t>$h=0$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IVT: continuous </a:t>
                </a:r>
                <a:r>
                  <a:rPr lang="en-IN" sz="2400">
                    <a:solidFill>
                      <a:srgbClr val="111827"/>
                    </a:solidFill>
                    <a:latin typeface="Cambria Math" panose="02040503050406030204" pitchFamily="18" charset="0"/>
                  </a:rPr>
                  <a:t>$f$</a:t>
                </a:r>
                <a:r>
                  <a:rPr sz="2400" b="0">
                    <a:solidFill>
                      <a:srgbClr val="111827"/>
                    </a:solidFill>
                    <a:latin typeface="Arial"/>
                  </a:rPr>
                  <a:t> on </a:t>
                </a:r>
                <a:r>
                  <a:rPr lang="en-IN" sz="2400">
                    <a:solidFill>
                      <a:srgbClr val="111827"/>
                    </a:solidFill>
                    <a:latin typeface="Cambria Math" panose="02040503050406030204" pitchFamily="18" charset="0"/>
                  </a:rPr>
                  <a:t>$[a,b]$</a:t>
                </a:r>
                <a:r>
                  <a:rPr sz="2400" b="0">
                    <a:solidFill>
                      <a:srgbClr val="111827"/>
                    </a:solidFill>
                    <a:latin typeface="Arial"/>
                  </a:rPr>
                  <a:t> with </a:t>
                </a:r>
                <a:r>
                  <a:rPr lang="en-IN" sz="2400">
                    <a:solidFill>
                      <a:srgbClr val="111827"/>
                    </a:solidFill>
                    <a:latin typeface="Cambria Math" panose="02040503050406030204" pitchFamily="18" charset="0"/>
                  </a:rPr>
                  <a:t>$f(a)f(b)&lt;0$</a:t>
                </a:r>
                <a:r>
                  <a:rPr sz="2400" b="0">
                    <a:solidFill>
                      <a:srgbClr val="111827"/>
                    </a:solidFill>
                    <a:latin typeface="Arial"/>
                  </a:rPr>
                  <a:t> has at least one root in </a:t>
                </a:r>
                <a:r>
                  <a:rPr lang="en-IN" sz="2400">
                    <a:solidFill>
                      <a:srgbClr val="111827"/>
                    </a:solidFill>
                    <a:latin typeface="Cambria Math" panose="02040503050406030204" pitchFamily="18" charset="0"/>
                  </a:rPr>
                  <a:t>$(a,b)$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 prove a minimum equals </a:t>
                </a:r>
                <a:r>
                  <a:rPr lang="en-IN" sz="2400">
                    <a:solidFill>
                      <a:srgbClr val="111827"/>
                    </a:solidFill>
                    <a:latin typeface="Cambria Math" panose="02040503050406030204" pitchFamily="18" charset="0"/>
                  </a:rPr>
                  <a:t>$m$</a:t>
                </a:r>
                <a:r>
                  <a:rPr sz="2400" b="0">
                    <a:solidFill>
                      <a:srgbClr val="111827"/>
                    </a:solidFill>
                    <a:latin typeface="Arial"/>
                  </a:rPr>
                  <a:t> you need two parts: a proof that at least </a:t>
                </a:r>
                <a:r>
                  <a:rPr lang="en-IN" sz="2400">
                    <a:solidFill>
                      <a:srgbClr val="111827"/>
                    </a:solidFill>
                    <a:latin typeface="Cambria Math" panose="02040503050406030204" pitchFamily="18" charset="0"/>
                  </a:rPr>
                  <a:t>$m$</a:t>
                </a:r>
                <a:r>
                  <a:rPr sz="2400" b="0">
                    <a:solidFill>
                      <a:srgbClr val="111827"/>
                    </a:solidFill>
                    <a:latin typeface="Arial"/>
                  </a:rPr>
                  <a:t> always exist, and an example with exactly </a:t>
                </a:r>
                <a:r>
                  <a:rPr lang="en-IN" sz="2400">
                    <a:solidFill>
                      <a:srgbClr val="111827"/>
                    </a:solidFill>
                    <a:latin typeface="Cambria Math" panose="02040503050406030204" pitchFamily="18" charset="0"/>
                  </a:rPr>
                  <a:t>$m$</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Counting roots of a product </a:t>
                </a:r>
                <a:r>
                  <a:rPr lang="en-IN" sz="2400">
                    <a:solidFill>
                      <a:srgbClr val="111827"/>
                    </a:solidFill>
                    <a:latin typeface="Cambria Math" panose="02040503050406030204" pitchFamily="18" charset="0"/>
                  </a:rPr>
                  <a:t>$fg$</a:t>
                </a:r>
                <a:r>
                  <a:rPr sz="2400" b="0">
                    <a:solidFill>
                      <a:srgbClr val="111827"/>
                    </a:solidFill>
                    <a:latin typeface="Arial"/>
                  </a:rPr>
                  <a:t> is the union of roots of </a:t>
                </a:r>
                <a:r>
                  <a:rPr lang="en-IN" sz="2400">
                    <a:solidFill>
                      <a:srgbClr val="111827"/>
                    </a:solidFill>
                    <a:latin typeface="Cambria Math" panose="02040503050406030204" pitchFamily="18" charset="0"/>
                  </a:rPr>
                  <a:t>$f$</a:t>
                </a:r>
                <a:r>
                  <a:rPr sz="2400" b="0">
                    <a:solidFill>
                      <a:srgbClr val="111827"/>
                    </a:solidFill>
                    <a:latin typeface="Arial"/>
                  </a:rPr>
                  <a:t> and of </a:t>
                </a:r>
                <a:r>
                  <a:rPr lang="en-IN" sz="2400">
                    <a:solidFill>
                      <a:srgbClr val="111827"/>
                    </a:solidFill>
                    <a:latin typeface="Cambria Math" panose="02040503050406030204" pitchFamily="18" charset="0"/>
                  </a:rPr>
                  <a:t>$g$</a:t>
                </a:r>
                <a:r>
                  <a:rPr sz="2400" b="0">
                    <a:solidFill>
                      <a:srgbClr val="111827"/>
                    </a:solidFill>
                    <a:latin typeface="Arial"/>
                  </a:rPr>
                  <a:t>; distinctness matters when they can coincide.</a:t>
                </a:r>
                <a:endParaRPr sz="2400">
                  <a:solidFill>
                    <a:srgbClr val="111827"/>
                  </a:solidFill>
                </a:endParaRPr>
              </a:p>
            </p:txBody>
          </p:sp>
        </mc:Fallback>
      </mc:AlternateContent>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123692"/>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origin of a rectangular coordinate system is shifted to the point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then the coordinate axes are rotated through an angle of </a:t>
                </a:r>
                <a14:m>
                  <m:oMath xmlns:m="http://schemas.openxmlformats.org/officeDocument/2006/math">
                    <m:sSup>
                      <m:e>
                        <m:r>
                          <a:rPr lang="en-IN" sz="2400" i="1">
                            <a:solidFill>
                              <a:srgbClr val="111827"/>
                            </a:solidFill>
                            <a:latin typeface="Cambria Math" panose="02040503050406030204" pitchFamily="18" charset="0"/>
                          </a:rPr>
                          <m:t>45</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in the anticlockwise direction. If the points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have coordinates in the original coordinate system, and they lie on opposite sides of the line </a:t>
                </a:r>
                <a14:m>
                  <m:oMath xmlns:m="http://schemas.openxmlformats.org/officeDocument/2006/math">
                    <m:r>
                      <a:rPr lang="en-IN" sz="2400" i="1">
                        <a:solidFill>
                          <a:srgbClr val="111827"/>
                        </a:solidFill>
                        <a:latin typeface="Cambria Math" panose="02040503050406030204" pitchFamily="18" charset="0"/>
                      </a:rPr>
                      <m:t>λ</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𝑋</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𝑌</m:t>
                    </m:r>
                  </m:oMath>
                </a14:m>
                <a:r>
                  <a:rPr sz="2400" b="0">
                    <a:solidFill>
                      <a:srgbClr val="111827"/>
                    </a:solidFill>
                    <a:latin typeface="Arial"/>
                  </a:rPr>
                  <a:t> are the coordinates in the new system), then the number of integral values of </a:t>
                </a:r>
                <a14:m>
                  <m:oMath xmlns:m="http://schemas.openxmlformats.org/officeDocument/2006/math">
                    <m:r>
                      <a:rPr lang="en-IN" sz="2400" i="1">
                        <a:solidFill>
                          <a:srgbClr val="111827"/>
                        </a:solidFill>
                        <a:latin typeface="Cambria Math" panose="02040503050406030204" pitchFamily="18" charset="0"/>
                      </a:rPr>
                      <m:t>λ</m:t>
                    </m:r>
                  </m:oMath>
                </a14:m>
                <a:r>
                  <a:rPr sz="2400" b="0">
                    <a:solidFill>
                      <a:srgbClr val="111827"/>
                    </a:solidFill>
                    <a:latin typeface="Arial"/>
                  </a:rPr>
                  <a:t> is equal to ____.</a:t>
                </a:r>
                <a:endParaRPr sz="2400">
                  <a:solidFill>
                    <a:srgbClr val="111827"/>
                  </a:solidFill>
                </a:endParaRPr>
              </a:p>
            </p:txBody>
          </p:sp>
        </mc:Choice>
        <mc:Fallback>
          <p:sp>
            <p:nvSpPr>
              <p:cNvPr id="4" name="Rounded Rectangle 3"/>
              <p:cNvSpPr/>
              <p:nvPr/>
            </p:nvSpPr>
            <p:spPr>
              <a:xfrm>
                <a:off x="731520" y="1280160"/>
                <a:ext cx="10725912" cy="3123692"/>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origin of a rectangular coordinate system is shifted to the point </a:t>
                </a:r>
                <a:r>
                  <a:rPr lang="en-IN" sz="2400">
                    <a:solidFill>
                      <a:srgbClr val="111827"/>
                    </a:solidFill>
                    <a:latin typeface="Cambria Math" panose="02040503050406030204" pitchFamily="18" charset="0"/>
                  </a:rPr>
                  <a:t>$(1,2)$</a:t>
                </a:r>
                <a:r>
                  <a:rPr sz="2400" b="0">
                    <a:solidFill>
                      <a:srgbClr val="111827"/>
                    </a:solidFill>
                    <a:latin typeface="Arial"/>
                  </a:rPr>
                  <a:t> and then the coordinate axes are rotated through an angle of </a:t>
                </a:r>
                <a:r>
                  <a:rPr lang="en-IN" sz="2400">
                    <a:solidFill>
                      <a:srgbClr val="111827"/>
                    </a:solidFill>
                    <a:latin typeface="Cambria Math" panose="02040503050406030204" pitchFamily="18" charset="0"/>
                  </a:rPr>
                  <a:t>$45^\circ$</a:t>
                </a:r>
                <a:r>
                  <a:rPr sz="2400" b="0">
                    <a:solidFill>
                      <a:srgbClr val="111827"/>
                    </a:solidFill>
                    <a:latin typeface="Arial"/>
                  </a:rPr>
                  <a:t> in the anticlockwise direction. If the points </a:t>
                </a:r>
                <a:r>
                  <a:rPr lang="en-IN" sz="2400">
                    <a:solidFill>
                      <a:srgbClr val="111827"/>
                    </a:solidFill>
                    <a:latin typeface="Cambria Math" panose="02040503050406030204" pitchFamily="18" charset="0"/>
                  </a:rPr>
                  <a:t>$A(2,5)$</a:t>
                </a:r>
                <a:r>
                  <a:rPr sz="2400" b="0">
                    <a:solidFill>
                      <a:srgbClr val="111827"/>
                    </a:solidFill>
                    <a:latin typeface="Arial"/>
                  </a:rPr>
                  <a:t> and </a:t>
                </a:r>
                <a:r>
                  <a:rPr lang="en-IN" sz="2400">
                    <a:solidFill>
                      <a:srgbClr val="111827"/>
                    </a:solidFill>
                    <a:latin typeface="Cambria Math" panose="02040503050406030204" pitchFamily="18" charset="0"/>
                  </a:rPr>
                  <a:t>$B(-1,6)$</a:t>
                </a:r>
                <a:r>
                  <a:rPr sz="2400" b="0">
                    <a:solidFill>
                      <a:srgbClr val="111827"/>
                    </a:solidFill>
                    <a:latin typeface="Arial"/>
                  </a:rPr>
                  <a:t> have coordinates in the original coordinate system, and they lie on opposite sides of the line </a:t>
                </a:r>
                <a:r>
                  <a:rPr lang="en-IN" sz="2400">
                    <a:solidFill>
                      <a:srgbClr val="111827"/>
                    </a:solidFill>
                    <a:latin typeface="Cambria Math" panose="02040503050406030204" pitchFamily="18" charset="0"/>
                  </a:rPr>
                  <a:t>$\lambda X-Y+\sqrt2=0$</a:t>
                </a:r>
                <a:r>
                  <a:rPr sz="2400" b="0">
                    <a:solidFill>
                      <a:srgbClr val="111827"/>
                    </a:solidFill>
                    <a:latin typeface="Arial"/>
                  </a:rPr>
                  <a:t> (where </a:t>
                </a:r>
                <a:r>
                  <a:rPr lang="en-IN" sz="2400">
                    <a:solidFill>
                      <a:srgbClr val="111827"/>
                    </a:solidFill>
                    <a:latin typeface="Cambria Math" panose="02040503050406030204" pitchFamily="18" charset="0"/>
                  </a:rPr>
                  <a:t>$X$</a:t>
                </a:r>
                <a:r>
                  <a:rPr sz="2400" b="0">
                    <a:solidFill>
                      <a:srgbClr val="111827"/>
                    </a:solidFill>
                    <a:latin typeface="Arial"/>
                  </a:rPr>
                  <a:t> and </a:t>
                </a:r>
                <a:r>
                  <a:rPr lang="en-IN" sz="2400">
                    <a:solidFill>
                      <a:srgbClr val="111827"/>
                    </a:solidFill>
                    <a:latin typeface="Cambria Math" panose="02040503050406030204" pitchFamily="18" charset="0"/>
                  </a:rPr>
                  <a:t>$Y$</a:t>
                </a:r>
                <a:r>
                  <a:rPr sz="2400" b="0">
                    <a:solidFill>
                      <a:srgbClr val="111827"/>
                    </a:solidFill>
                    <a:latin typeface="Arial"/>
                  </a:rPr>
                  <a:t> are the coordinates in the new system), then the number of integral values of </a:t>
                </a:r>
                <a:r>
                  <a:rPr lang="en-IN" sz="2400">
                    <a:solidFill>
                      <a:srgbClr val="111827"/>
                    </a:solidFill>
                    <a:latin typeface="Cambria Math" panose="02040503050406030204" pitchFamily="18" charset="0"/>
                  </a:rPr>
                  <a:t>$\lambda$</a:t>
                </a:r>
                <a:r>
                  <a:rPr sz="2400" b="0">
                    <a:solidFill>
                      <a:srgbClr val="111827"/>
                    </a:solidFill>
                    <a:latin typeface="Arial"/>
                  </a:rPr>
                  <a:t> is equal to ____.</a:t>
                </a:r>
                <a:endParaRPr sz="2400">
                  <a:solidFill>
                    <a:srgbClr val="111827"/>
                  </a:solidFill>
                </a:endParaRPr>
              </a:p>
            </p:txBody>
          </p:sp>
        </mc:Fallback>
      </mc:AlternateContent>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ectangle 3"/>
          <p:cNvSpPr/>
          <p:nvPr/>
        </p:nvSpPr>
        <p:spPr>
          <a:xfrm>
            <a:off x="731520" y="128016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Shifting and rotation of axes and position of points relative to a line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65760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Transform </a:t>
                </a:r>
                <a14:m>
                  <m:oMath xmlns:m="http://schemas.openxmlformats.org/officeDocument/2006/math">
                    <m:r>
                      <a:rPr lang="en-IN" sz="2400" i="1">
                        <a:solidFill>
                          <a:srgbClr val="78350F"/>
                        </a:solidFill>
                        <a:latin typeface="Cambria Math" panose="02040503050406030204" pitchFamily="18" charset="0"/>
                      </a:rPr>
                      <m:t>𝐴</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𝐵</m:t>
                    </m:r>
                  </m:oMath>
                </a14:m>
                <a:r>
                  <a:rPr sz="2400" b="0">
                    <a:solidFill>
                      <a:srgbClr val="78350F"/>
                    </a:solidFill>
                    <a:latin typeface="Arial"/>
                  </a:rPr>
                  <a:t> to the new system and apply the opposite-sides test </a:t>
                </a:r>
                <a14:m>
                  <m:oMath xmlns:m="http://schemas.openxmlformats.org/officeDocument/2006/math">
                    <m:r>
                      <a:rPr lang="en-IN" sz="2400" i="1">
                        <a:solidFill>
                          <a:srgbClr val="78350F"/>
                        </a:solidFill>
                        <a:latin typeface="Cambria Math" panose="02040503050406030204" pitchFamily="18" charset="0"/>
                      </a:rPr>
                      <m:t>𝐿</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𝐿</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&lt;</m:t>
                    </m:r>
                    <m:r>
                      <a:rPr lang="en-IN" sz="2400" i="1">
                        <a:solidFill>
                          <a:srgbClr val="78350F"/>
                        </a:solidFill>
                        <a:latin typeface="Cambria Math" panose="02040503050406030204" pitchFamily="18" charset="0"/>
                      </a:rPr>
                      <m:t>0</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365760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Transform </a:t>
                </a:r>
                <a:r>
                  <a:rPr lang="en-IN" sz="2400">
                    <a:solidFill>
                      <a:srgbClr val="78350F"/>
                    </a:solidFill>
                    <a:latin typeface="Cambria Math" panose="02040503050406030204" pitchFamily="18" charset="0"/>
                  </a:rPr>
                  <a:t>$A$</a:t>
                </a:r>
                <a:r>
                  <a:rPr sz="2400" b="0">
                    <a:solidFill>
                      <a:srgbClr val="78350F"/>
                    </a:solidFill>
                    <a:latin typeface="Arial"/>
                  </a:rPr>
                  <a:t> and </a:t>
                </a:r>
                <a:r>
                  <a:rPr lang="en-IN" sz="2400">
                    <a:solidFill>
                      <a:srgbClr val="78350F"/>
                    </a:solidFill>
                    <a:latin typeface="Cambria Math" panose="02040503050406030204" pitchFamily="18" charset="0"/>
                  </a:rPr>
                  <a:t>$B$</a:t>
                </a:r>
                <a:r>
                  <a:rPr sz="2400" b="0">
                    <a:solidFill>
                      <a:srgbClr val="78350F"/>
                    </a:solidFill>
                    <a:latin typeface="Arial"/>
                  </a:rPr>
                  <a:t> to the new system and apply the opposite-sides test </a:t>
                </a:r>
                <a:r>
                  <a:rPr lang="en-IN" sz="2400">
                    <a:solidFill>
                      <a:srgbClr val="78350F"/>
                    </a:solidFill>
                    <a:latin typeface="Cambria Math" panose="02040503050406030204" pitchFamily="18" charset="0"/>
                  </a:rPr>
                  <a:t>$L(A)L(B)&lt;0$</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4904232"/>
                <a:ext cx="10725912" cy="1770887"/>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be the coordinates in the original system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in the new one. For the origin shifted to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axes rotated by </a:t>
                </a:r>
                <a14:m>
                  <m:oMath xmlns:m="http://schemas.openxmlformats.org/officeDocument/2006/math">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45</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𝑌</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4904232"/>
                <a:ext cx="10725912" cy="1770887"/>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$(x,y)$</a:t>
                </a:r>
                <a:r>
                  <a:rPr sz="2400" b="0">
                    <a:solidFill>
                      <a:srgbClr val="111827"/>
                    </a:solidFill>
                    <a:latin typeface="Arial"/>
                  </a:rPr>
                  <a:t> be the coordinates in the original system and </a:t>
                </a:r>
                <a:r>
                  <a:rPr lang="en-IN" sz="2400">
                    <a:solidFill>
                      <a:srgbClr val="111827"/>
                    </a:solidFill>
                    <a:latin typeface="Cambria Math" panose="02040503050406030204" pitchFamily="18" charset="0"/>
                  </a:rPr>
                  <a:t>$(X,Y)$</a:t>
                </a:r>
                <a:r>
                  <a:rPr sz="2400" b="0">
                    <a:solidFill>
                      <a:srgbClr val="111827"/>
                    </a:solidFill>
                    <a:latin typeface="Arial"/>
                  </a:rPr>
                  <a:t> in the new one. For the origin shifted to </a:t>
                </a:r>
                <a:r>
                  <a:rPr lang="en-IN" sz="2400">
                    <a:solidFill>
                      <a:srgbClr val="111827"/>
                    </a:solidFill>
                    <a:latin typeface="Cambria Math" panose="02040503050406030204" pitchFamily="18" charset="0"/>
                  </a:rPr>
                  <a:t>$(h,k)=(1,2)$</a:t>
                </a:r>
                <a:r>
                  <a:rPr sz="2400" b="0">
                    <a:solidFill>
                      <a:srgbClr val="111827"/>
                    </a:solidFill>
                    <a:latin typeface="Arial"/>
                  </a:rPr>
                  <a:t> and axes rotated by </a:t>
                </a:r>
                <a:r>
                  <a:rPr lang="en-IN" sz="2400">
                    <a:solidFill>
                      <a:srgbClr val="111827"/>
                    </a:solidFill>
                    <a:latin typeface="Cambria Math" panose="02040503050406030204" pitchFamily="18" charset="0"/>
                  </a:rPr>
                  <a:t>$\theta=45^\circ$</a:t>
                </a:r>
                <a:r>
                  <a:rPr sz="2400" b="0">
                    <a:solidFill>
                      <a:srgbClr val="111827"/>
                    </a:solidFill>
                    <a:latin typeface="Arial"/>
                  </a:rPr>
                  <a:t>: </a:t>
                </a:r>
                <a:r>
                  <a:rPr lang="en-IN" sz="2400">
                    <a:solidFill>
                      <a:srgbClr val="111827"/>
                    </a:solidFill>
                    <a:latin typeface="Cambria Math" panose="02040503050406030204" pitchFamily="18" charset="0"/>
                  </a:rPr>
                  <a:t>$x=h+X\cos\theta-Y\sin\theta=1+\frac{X-Y}{\sqrt2}$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Similarly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𝑌</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 so the new coordinates of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are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 so the new coordinates of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are </a:t>
                </a:r>
                <a14:m>
                  <m:oMath xmlns:m="http://schemas.openxmlformats.org/officeDocument/2006/math">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𝐿</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 Since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lie on opposite sides, </a:t>
                </a:r>
                <a14:m>
                  <m:oMath xmlns:m="http://schemas.openxmlformats.org/officeDocument/2006/math">
                    <m:r>
                      <a:rPr lang="en-IN" sz="2400" i="1">
                        <a:solidFill>
                          <a:srgbClr val="111827"/>
                        </a:solidFill>
                        <a:latin typeface="Cambria Math" panose="02040503050406030204" pitchFamily="18" charset="0"/>
                      </a:rPr>
                      <m:t>𝐿</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𝐿</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𝐿</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a:rPr lang="en-IN" sz="2400" i="1">
                        <a:solidFill>
                          <a:srgbClr val="111827"/>
                        </a:solidFill>
                        <a:latin typeface="Cambria Math" panose="02040503050406030204" pitchFamily="18" charset="0"/>
                      </a:rPr>
                      <m:t>λ</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𝐿</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Thus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Similarly </a:t>
                </a:r>
                <a:r>
                  <a:rPr lang="en-IN" sz="2400">
                    <a:solidFill>
                      <a:srgbClr val="111827"/>
                    </a:solidFill>
                    <a:latin typeface="Cambria Math" panose="02040503050406030204" pitchFamily="18" charset="0"/>
                  </a:rPr>
                  <a:t>$y=k+X\sin\theta+Y\cos\theta=2+\frac{X+Y}{\sqrt2}$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$A(2,5)$</a:t>
                </a:r>
                <a:r>
                  <a:rPr sz="2400" b="0">
                    <a:solidFill>
                      <a:srgbClr val="111827"/>
                    </a:solidFill>
                    <a:latin typeface="Arial"/>
                  </a:rPr>
                  <a:t>: </a:t>
                </a:r>
                <a:r>
                  <a:rPr lang="en-IN" sz="2400">
                    <a:solidFill>
                      <a:srgbClr val="111827"/>
                    </a:solidFill>
                    <a:latin typeface="Cambria Math" panose="02040503050406030204" pitchFamily="18" charset="0"/>
                  </a:rPr>
                  <a:t>$X-Y=\sqrt2$</a:t>
                </a:r>
                <a:r>
                  <a:rPr sz="2400" b="0">
                    <a:solidFill>
                      <a:srgbClr val="111827"/>
                    </a:solidFill>
                    <a:latin typeface="Arial"/>
                  </a:rPr>
                  <a:t> and </a:t>
                </a:r>
                <a:r>
                  <a:rPr lang="en-IN" sz="2400">
                    <a:solidFill>
                      <a:srgbClr val="111827"/>
                    </a:solidFill>
                    <a:latin typeface="Cambria Math" panose="02040503050406030204" pitchFamily="18" charset="0"/>
                  </a:rPr>
                  <a:t>$X+Y=3\sqrt2$</a:t>
                </a:r>
                <a:r>
                  <a:rPr sz="2400" b="0">
                    <a:solidFill>
                      <a:srgbClr val="111827"/>
                    </a:solidFill>
                    <a:latin typeface="Arial"/>
                  </a:rPr>
                  <a:t>, so the new coordinates of </a:t>
                </a:r>
                <a:r>
                  <a:rPr lang="en-IN" sz="2400">
                    <a:solidFill>
                      <a:srgbClr val="111827"/>
                    </a:solidFill>
                    <a:latin typeface="Cambria Math" panose="02040503050406030204" pitchFamily="18" charset="0"/>
                  </a:rPr>
                  <a:t>$A$</a:t>
                </a:r>
                <a:r>
                  <a:rPr sz="2400" b="0">
                    <a:solidFill>
                      <a:srgbClr val="111827"/>
                    </a:solidFill>
                    <a:latin typeface="Arial"/>
                  </a:rPr>
                  <a:t> are </a:t>
                </a:r>
                <a:r>
                  <a:rPr lang="en-IN" sz="2400">
                    <a:solidFill>
                      <a:srgbClr val="111827"/>
                    </a:solidFill>
                    <a:latin typeface="Cambria Math" panose="02040503050406030204" pitchFamily="18" charset="0"/>
                  </a:rPr>
                  <a:t>$(2\sqrt2,\sqrt2)$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$B(-1,6)$</a:t>
                </a:r>
                <a:r>
                  <a:rPr sz="2400" b="0">
                    <a:solidFill>
                      <a:srgbClr val="111827"/>
                    </a:solidFill>
                    <a:latin typeface="Arial"/>
                  </a:rPr>
                  <a:t>: </a:t>
                </a:r>
                <a:r>
                  <a:rPr lang="en-IN" sz="2400">
                    <a:solidFill>
                      <a:srgbClr val="111827"/>
                    </a:solidFill>
                    <a:latin typeface="Cambria Math" panose="02040503050406030204" pitchFamily="18" charset="0"/>
                  </a:rPr>
                  <a:t>$X-Y=-2\sqrt2$</a:t>
                </a:r>
                <a:r>
                  <a:rPr sz="2400" b="0">
                    <a:solidFill>
                      <a:srgbClr val="111827"/>
                    </a:solidFill>
                    <a:latin typeface="Arial"/>
                  </a:rPr>
                  <a:t> and </a:t>
                </a:r>
                <a:r>
                  <a:rPr lang="en-IN" sz="2400">
                    <a:solidFill>
                      <a:srgbClr val="111827"/>
                    </a:solidFill>
                    <a:latin typeface="Cambria Math" panose="02040503050406030204" pitchFamily="18" charset="0"/>
                  </a:rPr>
                  <a:t>$X+Y=4\sqrt2$</a:t>
                </a:r>
                <a:r>
                  <a:rPr sz="2400" b="0">
                    <a:solidFill>
                      <a:srgbClr val="111827"/>
                    </a:solidFill>
                    <a:latin typeface="Arial"/>
                  </a:rPr>
                  <a:t>, so the new coordinates of </a:t>
                </a:r>
                <a:r>
                  <a:rPr lang="en-IN" sz="2400">
                    <a:solidFill>
                      <a:srgbClr val="111827"/>
                    </a:solidFill>
                    <a:latin typeface="Cambria Math" panose="02040503050406030204" pitchFamily="18" charset="0"/>
                  </a:rPr>
                  <a:t>$B$</a:t>
                </a:r>
                <a:r>
                  <a:rPr sz="2400" b="0">
                    <a:solidFill>
                      <a:srgbClr val="111827"/>
                    </a:solidFill>
                    <a:latin typeface="Arial"/>
                  </a:rPr>
                  <a:t> are </a:t>
                </a:r>
                <a:r>
                  <a:rPr lang="en-IN" sz="2400">
                    <a:solidFill>
                      <a:srgbClr val="111827"/>
                    </a:solidFill>
                    <a:latin typeface="Cambria Math" panose="02040503050406030204" pitchFamily="18" charset="0"/>
                  </a:rPr>
                  <a:t>$(\sqrt2,3\sqrt2)$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$L(X,Y)=\lambda X-Y+\sqrt2$</a:t>
                </a:r>
                <a:r>
                  <a:rPr sz="2400" b="0">
                    <a:solidFill>
                      <a:srgbClr val="111827"/>
                    </a:solidFill>
                    <a:latin typeface="Arial"/>
                  </a:rPr>
                  <a:t>. Since </a:t>
                </a:r>
                <a:r>
                  <a:rPr lang="en-IN" sz="2400">
                    <a:solidFill>
                      <a:srgbClr val="111827"/>
                    </a:solidFill>
                    <a:latin typeface="Cambria Math" panose="02040503050406030204" pitchFamily="18" charset="0"/>
                  </a:rPr>
                  <a:t>$A$</a:t>
                </a:r>
                <a:r>
                  <a:rPr sz="2400" b="0">
                    <a:solidFill>
                      <a:srgbClr val="111827"/>
                    </a:solidFill>
                    <a:latin typeface="Arial"/>
                  </a:rPr>
                  <a:t> and </a:t>
                </a:r>
                <a:r>
                  <a:rPr lang="en-IN" sz="2400">
                    <a:solidFill>
                      <a:srgbClr val="111827"/>
                    </a:solidFill>
                    <a:latin typeface="Cambria Math" panose="02040503050406030204" pitchFamily="18" charset="0"/>
                  </a:rPr>
                  <a:t>$B$</a:t>
                </a:r>
                <a:r>
                  <a:rPr sz="2400" b="0">
                    <a:solidFill>
                      <a:srgbClr val="111827"/>
                    </a:solidFill>
                    <a:latin typeface="Arial"/>
                  </a:rPr>
                  <a:t> lie on opposite sides, </a:t>
                </a:r>
                <a:r>
                  <a:rPr lang="en-IN" sz="2400">
                    <a:solidFill>
                      <a:srgbClr val="111827"/>
                    </a:solidFill>
                    <a:latin typeface="Cambria Math" panose="02040503050406030204" pitchFamily="18" charset="0"/>
                  </a:rPr>
                  <a:t>$L(2\sqrt2,\sqrt2)\cdot L(\sqrt2,3\sqrt2)&lt;0$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$L(2\sqrt2,\sqrt2)=2\sqrt2\lambda-\sqrt2+\sqrt2=2\sqrt2\lambda$</a:t>
                </a:r>
                <a:r>
                  <a:rPr sz="2400" b="0">
                    <a:solidFill>
                      <a:srgbClr val="111827"/>
                    </a:solidFill>
                    <a:latin typeface="Arial"/>
                  </a:rPr>
                  <a:t> and </a:t>
                </a:r>
                <a:r>
                  <a:rPr lang="en-IN" sz="2400">
                    <a:solidFill>
                      <a:srgbClr val="111827"/>
                    </a:solidFill>
                    <a:latin typeface="Cambria Math" panose="02040503050406030204" pitchFamily="18" charset="0"/>
                  </a:rPr>
                  <a:t>$L(\sqrt2,3\sqrt2)=\sqrt2\lambda-3\sqrt2+\sqrt2=\sqrt2(\lambda-2)$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Thus </a:t>
                </a:r>
                <a:r>
                  <a:rPr lang="en-IN" sz="2400">
                    <a:solidFill>
                      <a:srgbClr val="111827"/>
                    </a:solidFill>
                    <a:latin typeface="Cambria Math" panose="02040503050406030204" pitchFamily="18" charset="0"/>
                  </a:rPr>
                  <a:t>$(2\sqrt2\lambda)\cdot\sqrt2(\lambda-2)&lt;0\Rightarrow4\lambda(\lambda-2)&lt;0\Rightarrow0&lt;\lambda&lt;2$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only integral value of </a:t>
                </a:r>
                <a14:m>
                  <m:oMath xmlns:m="http://schemas.openxmlformats.org/officeDocument/2006/math">
                    <m:r>
                      <a:rPr lang="en-IN" sz="2400" i="1">
                        <a:solidFill>
                          <a:srgbClr val="111827"/>
                        </a:solidFill>
                        <a:latin typeface="Cambria Math" panose="02040503050406030204" pitchFamily="18" charset="0"/>
                      </a:rPr>
                      <m:t>λ</m:t>
                    </m:r>
                  </m:oMath>
                </a14:m>
                <a:r>
                  <a:rPr sz="2400" b="0">
                    <a:solidFill>
                      <a:srgbClr val="111827"/>
                    </a:solidFill>
                    <a:latin typeface="Arial"/>
                  </a:rPr>
                  <a:t>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the answer is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only integral value of </a:t>
                </a:r>
                <a:r>
                  <a:rPr lang="en-IN" sz="2400">
                    <a:solidFill>
                      <a:srgbClr val="111827"/>
                    </a:solidFill>
                    <a:latin typeface="Cambria Math" panose="02040503050406030204" pitchFamily="18" charset="0"/>
                  </a:rPr>
                  <a:t>$\lambda$</a:t>
                </a:r>
                <a:r>
                  <a:rPr sz="2400" b="0">
                    <a:solidFill>
                      <a:srgbClr val="111827"/>
                    </a:solidFill>
                    <a:latin typeface="Arial"/>
                  </a:rPr>
                  <a:t> in </a:t>
                </a:r>
                <a:r>
                  <a:rPr lang="en-IN" sz="2400">
                    <a:solidFill>
                      <a:srgbClr val="111827"/>
                    </a:solidFill>
                    <a:latin typeface="Cambria Math" panose="02040503050406030204" pitchFamily="18" charset="0"/>
                  </a:rPr>
                  <a:t>$(0,2)$</a:t>
                </a:r>
                <a:r>
                  <a:rPr sz="2400" b="0">
                    <a:solidFill>
                      <a:srgbClr val="111827"/>
                    </a:solidFill>
                    <a:latin typeface="Arial"/>
                  </a:rPr>
                  <a:t> is </a:t>
                </a:r>
                <a:r>
                  <a:rPr lang="en-IN" sz="2400">
                    <a:solidFill>
                      <a:srgbClr val="111827"/>
                    </a:solidFill>
                    <a:latin typeface="Cambria Math" panose="02040503050406030204" pitchFamily="18" charset="0"/>
                  </a:rPr>
                  <a:t>$\lambda=1$</a:t>
                </a:r>
                <a:r>
                  <a:rPr sz="2400" b="0">
                    <a:solidFill>
                      <a:srgbClr val="111827"/>
                    </a:solidFill>
                    <a:latin typeface="Arial"/>
                  </a:rPr>
                  <a:t>, so the answer is </a:t>
                </a:r>
                <a:r>
                  <a:rPr lang="en-IN" sz="2400">
                    <a:solidFill>
                      <a:srgbClr val="111827"/>
                    </a:solidFill>
                    <a:latin typeface="Cambria Math" panose="02040503050406030204" pitchFamily="18" charset="0"/>
                  </a:rPr>
                  <a:t>$1$</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1</a:t>
            </a:r>
            <a:endParaRPr sz="2800">
              <a:solidFill>
                <a:srgbClr val="15803D"/>
              </a:solidFill>
            </a:endParaRP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Transform the line instead of the points: express </a:t>
                </a:r>
                <a14:m>
                  <m:oMath xmlns:m="http://schemas.openxmlformats.org/officeDocument/2006/math">
                    <m:r>
                      <a:rPr lang="en-IN" sz="2400" i="1">
                        <a:solidFill>
                          <a:srgbClr val="78350F"/>
                        </a:solidFill>
                        <a:latin typeface="Cambria Math" panose="02040503050406030204" pitchFamily="18" charset="0"/>
                      </a:rPr>
                      <m:t>𝑋</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𝑌</m:t>
                    </m:r>
                  </m:oMath>
                </a14:m>
                <a:r>
                  <a:rPr sz="2400" b="0">
                    <a:solidFill>
                      <a:srgbClr val="78350F"/>
                    </a:solidFill>
                    <a:latin typeface="Arial"/>
                  </a:rPr>
                  <a:t> through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oMath>
                </a14:m>
                <a:r>
                  <a:rPr sz="2400" b="0">
                    <a:solidFill>
                      <a:srgbClr val="78350F"/>
                    </a:solidFill>
                    <a:latin typeface="Arial"/>
                  </a:rPr>
                  <a:t> and test the original points.</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Transform the line instead of the points: express </a:t>
                </a:r>
                <a:r>
                  <a:rPr lang="en-IN" sz="2400">
                    <a:solidFill>
                      <a:srgbClr val="78350F"/>
                    </a:solidFill>
                    <a:latin typeface="Cambria Math" panose="02040503050406030204" pitchFamily="18" charset="0"/>
                  </a:rPr>
                  <a:t>$X,Y$</a:t>
                </a:r>
                <a:r>
                  <a:rPr sz="2400" b="0">
                    <a:solidFill>
                      <a:srgbClr val="78350F"/>
                    </a:solidFill>
                    <a:latin typeface="Arial"/>
                  </a:rPr>
                  <a:t> through </a:t>
                </a:r>
                <a:r>
                  <a:rPr lang="en-IN" sz="2400">
                    <a:solidFill>
                      <a:srgbClr val="78350F"/>
                    </a:solidFill>
                    <a:latin typeface="Cambria Math" panose="02040503050406030204" pitchFamily="18" charset="0"/>
                  </a:rPr>
                  <a:t>$x,y$</a:t>
                </a:r>
                <a:r>
                  <a:rPr sz="2400" b="0">
                    <a:solidFill>
                      <a:srgbClr val="78350F"/>
                    </a:solidFill>
                    <a:latin typeface="Arial"/>
                  </a:rPr>
                  <a:t> and test the original points.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Inverse transformation: </a:t>
                </a:r>
                <a14:m>
                  <m:oMath xmlns:m="http://schemas.openxmlformats.org/officeDocument/2006/math">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line </a:t>
                </a:r>
                <a14:m>
                  <m:oMath xmlns:m="http://schemas.openxmlformats.org/officeDocument/2006/math">
                    <m:r>
                      <a:rPr lang="en-IN" sz="2400" i="1">
                        <a:solidFill>
                          <a:srgbClr val="111827"/>
                        </a:solidFill>
                        <a:latin typeface="Cambria Math" panose="02040503050406030204" pitchFamily="18" charset="0"/>
                      </a:rPr>
                      <m:t>λ</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becomes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Inverse transformation: </a:t>
                </a:r>
                <a:r>
                  <a:rPr lang="en-IN" sz="2400">
                    <a:solidFill>
                      <a:srgbClr val="111827"/>
                    </a:solidFill>
                    <a:latin typeface="Cambria Math" panose="02040503050406030204" pitchFamily="18" charset="0"/>
                  </a:rPr>
                  <a:t>$X=\frac{(x-1)+(y-2)}{\sqrt2}=\frac{x+y-3}{\sqrt2}$</a:t>
                </a:r>
                <a:r>
                  <a:rPr sz="2400" b="0">
                    <a:solidFill>
                      <a:srgbClr val="111827"/>
                    </a:solidFill>
                    <a:latin typeface="Arial"/>
                  </a:rPr>
                  <a:t> and </a:t>
                </a:r>
                <a:r>
                  <a:rPr lang="en-IN" sz="2400">
                    <a:solidFill>
                      <a:srgbClr val="111827"/>
                    </a:solidFill>
                    <a:latin typeface="Cambria Math" panose="02040503050406030204" pitchFamily="18" charset="0"/>
                  </a:rPr>
                  <a:t>$Y=\frac{-(x-1)+(y-2)}{\sqrt2}=\frac{y-x-1}{\sqrt2}$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line </a:t>
                </a:r>
                <a:r>
                  <a:rPr lang="en-IN" sz="2400">
                    <a:solidFill>
                      <a:srgbClr val="111827"/>
                    </a:solidFill>
                    <a:latin typeface="Cambria Math" panose="02040503050406030204" pitchFamily="18" charset="0"/>
                  </a:rPr>
                  <a:t>$\lambda X-Y+\sqrt2=0$</a:t>
                </a:r>
                <a:r>
                  <a:rPr sz="2400" b="0">
                    <a:solidFill>
                      <a:srgbClr val="111827"/>
                    </a:solidFill>
                    <a:latin typeface="Arial"/>
                  </a:rPr>
                  <a:t> becomes </a:t>
                </a:r>
                <a:r>
                  <a:rPr lang="en-IN" sz="2400">
                    <a:solidFill>
                      <a:srgbClr val="111827"/>
                    </a:solidFill>
                    <a:latin typeface="Cambria Math" panose="02040503050406030204" pitchFamily="18" charset="0"/>
                  </a:rPr>
                  <a:t>$\frac{\lambda(x+y-3)-(y-x-1)}{\sqrt2}+\sqrt2=0$</a:t>
                </a:r>
                <a:r>
                  <a:rPr sz="2400" b="0">
                    <a:solidFill>
                      <a:srgbClr val="111827"/>
                    </a:solidFill>
                    <a:latin typeface="Arial"/>
                  </a:rPr>
                  <a:t>, i.e. </a:t>
                </a:r>
                <a:r>
                  <a:rPr lang="en-IN" sz="2400">
                    <a:solidFill>
                      <a:srgbClr val="111827"/>
                    </a:solidFill>
                    <a:latin typeface="Cambria Math" panose="02040503050406030204" pitchFamily="18" charset="0"/>
                  </a:rPr>
                  <a:t>$\lambda(x+y-3)+x-y+3=0$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left side is </a:t>
                </a:r>
                <a14:m>
                  <m:oMath xmlns:m="http://schemas.openxmlformats.org/officeDocument/2006/math">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λ</m:t>
                    </m:r>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it is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Opposite sides: </a:t>
                </a:r>
                <a14:m>
                  <m:oMath xmlns:m="http://schemas.openxmlformats.org/officeDocument/2006/math">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2</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At </a:t>
                </a:r>
                <a:r>
                  <a:rPr lang="en-IN" sz="2400">
                    <a:solidFill>
                      <a:srgbClr val="111827"/>
                    </a:solidFill>
                    <a:latin typeface="Cambria Math" panose="02040503050406030204" pitchFamily="18" charset="0"/>
                  </a:rPr>
                  <a:t>$A(2,5)$</a:t>
                </a:r>
                <a:r>
                  <a:rPr sz="2400" b="0">
                    <a:solidFill>
                      <a:srgbClr val="111827"/>
                    </a:solidFill>
                    <a:latin typeface="Arial"/>
                  </a:rPr>
                  <a:t> the left side is </a:t>
                </a:r>
                <a:r>
                  <a:rPr lang="en-IN" sz="2400">
                    <a:solidFill>
                      <a:srgbClr val="111827"/>
                    </a:solidFill>
                    <a:latin typeface="Cambria Math" panose="02040503050406030204" pitchFamily="18" charset="0"/>
                  </a:rPr>
                  <a:t>$4\lambda+0=4\lambda$</a:t>
                </a:r>
                <a:r>
                  <a:rPr sz="2400" b="0">
                    <a:solidFill>
                      <a:srgbClr val="111827"/>
                    </a:solidFill>
                    <a:latin typeface="Arial"/>
                  </a:rPr>
                  <a:t>; at </a:t>
                </a:r>
                <a:r>
                  <a:rPr lang="en-IN" sz="2400">
                    <a:solidFill>
                      <a:srgbClr val="111827"/>
                    </a:solidFill>
                    <a:latin typeface="Cambria Math" panose="02040503050406030204" pitchFamily="18" charset="0"/>
                  </a:rPr>
                  <a:t>$B(-1,6)$</a:t>
                </a:r>
                <a:r>
                  <a:rPr sz="2400" b="0">
                    <a:solidFill>
                      <a:srgbClr val="111827"/>
                    </a:solidFill>
                    <a:latin typeface="Arial"/>
                  </a:rPr>
                  <a:t> it is </a:t>
                </a:r>
                <a:r>
                  <a:rPr lang="en-IN" sz="2400">
                    <a:solidFill>
                      <a:srgbClr val="111827"/>
                    </a:solidFill>
                    <a:latin typeface="Cambria Math" panose="02040503050406030204" pitchFamily="18" charset="0"/>
                  </a:rPr>
                  <a:t>$2\lambda-4$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Opposite sides: </a:t>
                </a:r>
                <a:r>
                  <a:rPr lang="en-IN" sz="2400">
                    <a:solidFill>
                      <a:srgbClr val="111827"/>
                    </a:solidFill>
                    <a:latin typeface="Cambria Math" panose="02040503050406030204" pitchFamily="18" charset="0"/>
                  </a:rPr>
                  <a:t>$4\lambda(2\lambda-4)&lt;0\Rightarrow0&lt;\lambda&lt;2$</a:t>
                </a:r>
                <a:r>
                  <a:rPr sz="2400" b="0">
                    <a:solidFill>
                      <a:srgbClr val="111827"/>
                    </a:solidFill>
                    <a:latin typeface="Arial"/>
                  </a:rPr>
                  <a:t>, so </a:t>
                </a:r>
                <a:r>
                  <a:rPr lang="en-IN" sz="2400">
                    <a:solidFill>
                      <a:srgbClr val="111827"/>
                    </a:solidFill>
                    <a:latin typeface="Cambria Math" panose="02040503050406030204" pitchFamily="18" charset="0"/>
                  </a:rPr>
                  <a:t>$\lambda=1$</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1</a:t>
            </a:r>
            <a:endParaRPr sz="2800">
              <a:solidFill>
                <a:srgbClr val="15803D"/>
              </a:solidFill>
            </a:endParaRP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Shift to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rotate by </a:t>
                </a:r>
                <a14:m>
                  <m:oMath xmlns:m="http://schemas.openxmlformats.org/officeDocument/2006/math">
                    <m:r>
                      <a:rPr lang="en-IN" sz="2400" i="1">
                        <a:solidFill>
                          <a:srgbClr val="111827"/>
                        </a:solidFill>
                        <a:latin typeface="Cambria Math" panose="02040503050406030204" pitchFamily="18" charset="0"/>
                      </a:rPr>
                      <m:t>θ</m:t>
                    </m:r>
                  </m:oMath>
                </a14:m>
                <a:r>
                  <a:rPr sz="2400" b="0">
                    <a:solidFill>
                      <a:srgbClr val="111827"/>
                    </a:solidFill>
                    <a:latin typeface="Arial"/>
                  </a:rPr>
                  <a:t> (anticlockwise):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oMath>
                </a14:m>
                <a:r>
                  <a:rPr sz="2400" b="0">
                    <a:solidFill>
                      <a:srgbClr val="111827"/>
                    </a:solidFill>
                    <a:latin typeface="Arial"/>
                  </a:rPr>
                  <a:t>; inversely </a:t>
                </a:r>
                <a14:m>
                  <m:oMath xmlns:m="http://schemas.openxmlformats.org/officeDocument/2006/math">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Points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lie on opposite sides of a line </a:t>
                </a:r>
                <a14:m>
                  <m:oMath xmlns:m="http://schemas.openxmlformats.org/officeDocument/2006/math">
                    <m:r>
                      <a:rPr lang="en-IN" sz="2400" i="1">
                        <a:solidFill>
                          <a:srgbClr val="111827"/>
                        </a:solidFill>
                        <a:latin typeface="Cambria Math" panose="02040503050406030204" pitchFamily="18" charset="0"/>
                      </a:rPr>
                      <m:t>𝐿</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iff </a:t>
                </a:r>
                <a14:m>
                  <m:oMath xmlns:m="http://schemas.openxmlformats.org/officeDocument/2006/math">
                    <m:r>
                      <a:rPr lang="en-IN" sz="2400" i="1">
                        <a:solidFill>
                          <a:srgbClr val="111827"/>
                        </a:solidFill>
                        <a:latin typeface="Cambria Math" panose="02040503050406030204" pitchFamily="18" charset="0"/>
                      </a:rPr>
                      <m:t>𝐿</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𝐿</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(on the line iff </a:t>
                </a:r>
                <a14:m>
                  <m:oMath xmlns:m="http://schemas.openxmlformats.org/officeDocument/2006/math">
                    <m:r>
                      <a:rPr lang="en-IN" sz="2400" i="1">
                        <a:solidFill>
                          <a:srgbClr val="111827"/>
                        </a:solidFill>
                        <a:latin typeface="Cambria Math" panose="02040503050406030204" pitchFamily="18" charset="0"/>
                      </a:rPr>
                      <m:t>𝐿</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this works in either coordinate system provided the same line is used.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Distances are invariant: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10</m:t>
                        </m:r>
                      </m:e>
                    </m:rad>
                  </m:oMath>
                </a14:m>
                <a:r>
                  <a:rPr sz="2400" b="0">
                    <a:solidFill>
                      <a:srgbClr val="111827"/>
                    </a:solidFill>
                    <a:latin typeface="Arial"/>
                  </a:rPr>
                  <a:t> in both systems (old: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rad>
                  </m:oMath>
                </a14:m>
                <a:r>
                  <a:rPr sz="2400" b="0">
                    <a:solidFill>
                      <a:srgbClr val="111827"/>
                    </a:solidFill>
                    <a:latin typeface="Arial"/>
                  </a:rPr>
                  <a:t>; new: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10</m:t>
                        </m:r>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Strict inequalities exclude the end values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would lie on the line).</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Shift to </a:t>
                </a:r>
                <a:r>
                  <a:rPr lang="en-IN" sz="2400">
                    <a:solidFill>
                      <a:srgbClr val="111827"/>
                    </a:solidFill>
                    <a:latin typeface="Cambria Math" panose="02040503050406030204" pitchFamily="18" charset="0"/>
                  </a:rPr>
                  <a:t>$(h,k)$</a:t>
                </a:r>
                <a:r>
                  <a:rPr sz="2400" b="0">
                    <a:solidFill>
                      <a:srgbClr val="111827"/>
                    </a:solidFill>
                    <a:latin typeface="Arial"/>
                  </a:rPr>
                  <a:t> then rotate by </a:t>
                </a:r>
                <a:r>
                  <a:rPr lang="en-IN" sz="2400">
                    <a:solidFill>
                      <a:srgbClr val="111827"/>
                    </a:solidFill>
                    <a:latin typeface="Cambria Math" panose="02040503050406030204" pitchFamily="18" charset="0"/>
                  </a:rPr>
                  <a:t>$\theta$</a:t>
                </a:r>
                <a:r>
                  <a:rPr sz="2400" b="0">
                    <a:solidFill>
                      <a:srgbClr val="111827"/>
                    </a:solidFill>
                    <a:latin typeface="Arial"/>
                  </a:rPr>
                  <a:t> (anticlockwise): </a:t>
                </a:r>
                <a:r>
                  <a:rPr lang="en-IN" sz="2400">
                    <a:solidFill>
                      <a:srgbClr val="111827"/>
                    </a:solidFill>
                    <a:latin typeface="Cambria Math" panose="02040503050406030204" pitchFamily="18" charset="0"/>
                  </a:rPr>
                  <a:t>$x=h+X\cos\theta-Y\sin\theta$</a:t>
                </a:r>
                <a:r>
                  <a:rPr sz="2400" b="0">
                    <a:solidFill>
                      <a:srgbClr val="111827"/>
                    </a:solidFill>
                    <a:latin typeface="Arial"/>
                  </a:rPr>
                  <a:t>, </a:t>
                </a:r>
                <a:r>
                  <a:rPr lang="en-IN" sz="2400">
                    <a:solidFill>
                      <a:srgbClr val="111827"/>
                    </a:solidFill>
                    <a:latin typeface="Cambria Math" panose="02040503050406030204" pitchFamily="18" charset="0"/>
                  </a:rPr>
                  <a:t>$y=k+X\sin\theta+Y\cos\theta$</a:t>
                </a:r>
                <a:r>
                  <a:rPr sz="2400" b="0">
                    <a:solidFill>
                      <a:srgbClr val="111827"/>
                    </a:solidFill>
                    <a:latin typeface="Arial"/>
                  </a:rPr>
                  <a:t>; inversely </a:t>
                </a:r>
                <a:r>
                  <a:rPr lang="en-IN" sz="2400">
                    <a:solidFill>
                      <a:srgbClr val="111827"/>
                    </a:solidFill>
                    <a:latin typeface="Cambria Math" panose="02040503050406030204" pitchFamily="18" charset="0"/>
                  </a:rPr>
                  <a:t>$X=(x-h)\cos\theta+(y-k)\sin\theta$</a:t>
                </a:r>
                <a:r>
                  <a:rPr sz="2400" b="0">
                    <a:solidFill>
                      <a:srgbClr val="111827"/>
                    </a:solidFill>
                    <a:latin typeface="Arial"/>
                  </a:rPr>
                  <a:t>, </a:t>
                </a:r>
                <a:r>
                  <a:rPr lang="en-IN" sz="2400">
                    <a:solidFill>
                      <a:srgbClr val="111827"/>
                    </a:solidFill>
                    <a:latin typeface="Cambria Math" panose="02040503050406030204" pitchFamily="18" charset="0"/>
                  </a:rPr>
                  <a:t>$Y=-(x-h)\sin\theta+(y-k)\cos\theta$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Points </a:t>
                </a:r>
                <a:r>
                  <a:rPr lang="en-IN" sz="2400">
                    <a:solidFill>
                      <a:srgbClr val="111827"/>
                    </a:solidFill>
                    <a:latin typeface="Cambria Math" panose="02040503050406030204" pitchFamily="18" charset="0"/>
                  </a:rPr>
                  <a:t>$A,B$</a:t>
                </a:r>
                <a:r>
                  <a:rPr sz="2400" b="0">
                    <a:solidFill>
                      <a:srgbClr val="111827"/>
                    </a:solidFill>
                    <a:latin typeface="Arial"/>
                  </a:rPr>
                  <a:t> lie on opposite sides of a line </a:t>
                </a:r>
                <a:r>
                  <a:rPr lang="en-IN" sz="2400">
                    <a:solidFill>
                      <a:srgbClr val="111827"/>
                    </a:solidFill>
                    <a:latin typeface="Cambria Math" panose="02040503050406030204" pitchFamily="18" charset="0"/>
                  </a:rPr>
                  <a:t>$L=0$</a:t>
                </a:r>
                <a:r>
                  <a:rPr sz="2400" b="0">
                    <a:solidFill>
                      <a:srgbClr val="111827"/>
                    </a:solidFill>
                    <a:latin typeface="Arial"/>
                  </a:rPr>
                  <a:t> iff </a:t>
                </a:r>
                <a:r>
                  <a:rPr lang="en-IN" sz="2400">
                    <a:solidFill>
                      <a:srgbClr val="111827"/>
                    </a:solidFill>
                    <a:latin typeface="Cambria Math" panose="02040503050406030204" pitchFamily="18" charset="0"/>
                  </a:rPr>
                  <a:t>$L(A)L(B)&lt;0$</a:t>
                </a:r>
                <a:r>
                  <a:rPr sz="2400" b="0">
                    <a:solidFill>
                      <a:srgbClr val="111827"/>
                    </a:solidFill>
                    <a:latin typeface="Arial"/>
                  </a:rPr>
                  <a:t> (on the line iff </a:t>
                </a:r>
                <a:r>
                  <a:rPr lang="en-IN" sz="2400">
                    <a:solidFill>
                      <a:srgbClr val="111827"/>
                    </a:solidFill>
                    <a:latin typeface="Cambria Math" panose="02040503050406030204" pitchFamily="18" charset="0"/>
                  </a:rPr>
                  <a:t>$L=0$</a:t>
                </a:r>
                <a:r>
                  <a:rPr sz="2400" b="0">
                    <a:solidFill>
                      <a:srgbClr val="111827"/>
                    </a:solidFill>
                    <a:latin typeface="Arial"/>
                  </a:rPr>
                  <a:t>); this works in either coordinate system provided the same line is used.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Distances are invariant: </a:t>
                </a:r>
                <a:r>
                  <a:rPr lang="en-IN" sz="2400">
                    <a:solidFill>
                      <a:srgbClr val="111827"/>
                    </a:solidFill>
                    <a:latin typeface="Cambria Math" panose="02040503050406030204" pitchFamily="18" charset="0"/>
                  </a:rPr>
                  <a:t>$AB=\sqrt{10}$</a:t>
                </a:r>
                <a:r>
                  <a:rPr sz="2400" b="0">
                    <a:solidFill>
                      <a:srgbClr val="111827"/>
                    </a:solidFill>
                    <a:latin typeface="Arial"/>
                  </a:rPr>
                  <a:t> in both systems (old: </a:t>
                </a:r>
                <a:r>
                  <a:rPr lang="en-IN" sz="2400">
                    <a:solidFill>
                      <a:srgbClr val="111827"/>
                    </a:solidFill>
                    <a:latin typeface="Cambria Math" panose="02040503050406030204" pitchFamily="18" charset="0"/>
                  </a:rPr>
                  <a:t>$\sqrt{9+1}$</a:t>
                </a:r>
                <a:r>
                  <a:rPr sz="2400" b="0">
                    <a:solidFill>
                      <a:srgbClr val="111827"/>
                    </a:solidFill>
                    <a:latin typeface="Arial"/>
                  </a:rPr>
                  <a:t>; new: </a:t>
                </a:r>
                <a:r>
                  <a:rPr lang="en-IN" sz="2400">
                    <a:solidFill>
                      <a:srgbClr val="111827"/>
                    </a:solidFill>
                    <a:latin typeface="Cambria Math" panose="02040503050406030204" pitchFamily="18" charset="0"/>
                  </a:rPr>
                  <a:t>$\sqrt{(\sqrt2)^2+(2\sqrt2)^2}=\sqrt{10}$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Strict inequalities exclude the end values </a:t>
                </a:r>
                <a:r>
                  <a:rPr lang="en-IN" sz="2400">
                    <a:solidFill>
                      <a:srgbClr val="111827"/>
                    </a:solidFill>
                    <a:latin typeface="Cambria Math" panose="02040503050406030204" pitchFamily="18" charset="0"/>
                  </a:rPr>
                  <a:t>$\lambda=0$</a:t>
                </a:r>
                <a:r>
                  <a:rPr sz="2400" b="0">
                    <a:solidFill>
                      <a:srgbClr val="111827"/>
                    </a:solidFill>
                    <a:latin typeface="Arial"/>
                  </a:rPr>
                  <a:t> and </a:t>
                </a:r>
                <a:r>
                  <a:rPr lang="en-IN" sz="2400">
                    <a:solidFill>
                      <a:srgbClr val="111827"/>
                    </a:solidFill>
                    <a:latin typeface="Cambria Math" panose="02040503050406030204" pitchFamily="18" charset="0"/>
                  </a:rPr>
                  <a:t>$\lambda=2$</a:t>
                </a:r>
                <a:r>
                  <a:rPr sz="2400" b="0">
                    <a:solidFill>
                      <a:srgbClr val="111827"/>
                    </a:solidFill>
                    <a:latin typeface="Arial"/>
                  </a:rPr>
                  <a:t> (where </a:t>
                </a:r>
                <a:r>
                  <a:rPr lang="en-IN" sz="2400">
                    <a:solidFill>
                      <a:srgbClr val="111827"/>
                    </a:solidFill>
                    <a:latin typeface="Cambria Math" panose="02040503050406030204" pitchFamily="18" charset="0"/>
                  </a:rPr>
                  <a:t>$A$</a:t>
                </a:r>
                <a:r>
                  <a:rPr sz="2400" b="0">
                    <a:solidFill>
                      <a:srgbClr val="111827"/>
                    </a:solidFill>
                    <a:latin typeface="Arial"/>
                  </a:rPr>
                  <a:t> or </a:t>
                </a:r>
                <a:r>
                  <a:rPr lang="en-IN" sz="2400">
                    <a:solidFill>
                      <a:srgbClr val="111827"/>
                    </a:solidFill>
                    <a:latin typeface="Cambria Math" panose="02040503050406030204" pitchFamily="18" charset="0"/>
                  </a:rPr>
                  <a:t>$B$</a:t>
                </a:r>
                <a:r>
                  <a:rPr sz="2400" b="0">
                    <a:solidFill>
                      <a:srgbClr val="111827"/>
                    </a:solidFill>
                    <a:latin typeface="Arial"/>
                  </a:rPr>
                  <a:t> would lie on the line).</a:t>
                </a:r>
                <a:endParaRPr sz="2400">
                  <a:solidFill>
                    <a:srgbClr val="111827"/>
                  </a:solidFill>
                </a:endParaRPr>
              </a:p>
            </p:txBody>
          </p:sp>
        </mc:Fallback>
      </mc:AlternateContent>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image of the line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with respect to the line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is the line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then find the value of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image of the line </a:t>
                </a:r>
                <a:r>
                  <a:rPr lang="en-IN" sz="2400">
                    <a:solidFill>
                      <a:srgbClr val="111827"/>
                    </a:solidFill>
                    <a:latin typeface="Cambria Math" panose="02040503050406030204" pitchFamily="18" charset="0"/>
                  </a:rPr>
                  <a:t>$3x-y+1=0$</a:t>
                </a:r>
                <a:r>
                  <a:rPr sz="2400" b="0">
                    <a:solidFill>
                      <a:srgbClr val="111827"/>
                    </a:solidFill>
                    <a:latin typeface="Arial"/>
                  </a:rPr>
                  <a:t> with respect to the line </a:t>
                </a:r>
                <a:r>
                  <a:rPr lang="en-IN" sz="2400">
                    <a:solidFill>
                      <a:srgbClr val="111827"/>
                    </a:solidFill>
                    <a:latin typeface="Cambria Math" panose="02040503050406030204" pitchFamily="18" charset="0"/>
                  </a:rPr>
                  <a:t>$x+y-2=0$</a:t>
                </a:r>
                <a:r>
                  <a:rPr sz="2400" b="0">
                    <a:solidFill>
                      <a:srgbClr val="111827"/>
                    </a:solidFill>
                    <a:latin typeface="Arial"/>
                  </a:rPr>
                  <a:t> is the line </a:t>
                </a:r>
                <a:r>
                  <a:rPr lang="en-IN" sz="2400">
                    <a:solidFill>
                      <a:srgbClr val="111827"/>
                    </a:solidFill>
                    <a:latin typeface="Cambria Math" panose="02040503050406030204" pitchFamily="18" charset="0"/>
                  </a:rPr>
                  <a:t>$ax+by+5=0$</a:t>
                </a:r>
                <a:r>
                  <a:rPr sz="2400" b="0">
                    <a:solidFill>
                      <a:srgbClr val="111827"/>
                    </a:solidFill>
                    <a:latin typeface="Arial"/>
                  </a:rPr>
                  <a:t>, then find the value of </a:t>
                </a:r>
                <a:r>
                  <a:rPr lang="en-IN" sz="2400">
                    <a:solidFill>
                      <a:srgbClr val="111827"/>
                    </a:solidFill>
                    <a:latin typeface="Cambria Math" panose="02040503050406030204" pitchFamily="18" charset="0"/>
                  </a:rPr>
                  <a:t>$a^2+b^2$</a:t>
                </a:r>
                <a:r>
                  <a:rPr sz="2400" b="0">
                    <a:solidFill>
                      <a:srgbClr val="111827"/>
                    </a:solidFill>
                    <a:latin typeface="Arial"/>
                  </a:rPr>
                  <a:t>.</a:t>
                </a:r>
                <a:endParaRPr sz="2400">
                  <a:solidFill>
                    <a:srgbClr val="111827"/>
                  </a:solidFill>
                </a:endParaRPr>
              </a:p>
            </p:txBody>
          </p:sp>
        </mc:Fallback>
      </mc:AlternateContent>
      <p:sp>
        <p:nvSpPr>
          <p:cNvPr id="5" name="Rectangle 4"/>
          <p:cNvSpPr/>
          <p:nvPr/>
        </p:nvSpPr>
        <p:spPr>
          <a:xfrm>
            <a:off x="731520" y="324612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Reflection of a line in a line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image line passes through the intersection of the two lines and through the image of any one point of the given line.</a:t>
            </a:r>
            <a:endParaRPr sz="24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sSub>
                      <m:e>
                        <m:r>
                          <a:rPr lang="en-IN" sz="2400" i="1">
                            <a:solidFill>
                              <a:srgbClr val="111827"/>
                            </a:solidFill>
                            <a:latin typeface="Cambria Math" panose="02040503050406030204" pitchFamily="18" charset="0"/>
                          </a:rPr>
                          <m:t>𝐿</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the mirror </a:t>
                </a:r>
                <a14:m>
                  <m:oMath xmlns:m="http://schemas.openxmlformats.org/officeDocument/2006/math">
                    <m:sSub>
                      <m:e>
                        <m:r>
                          <a:rPr lang="en-IN" sz="2400" i="1">
                            <a:solidFill>
                              <a:srgbClr val="111827"/>
                            </a:solidFill>
                            <a:latin typeface="Cambria Math" panose="02040503050406030204" pitchFamily="18" charset="0"/>
                          </a:rPr>
                          <m:t>𝐿</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First find their point of intersection </a:t>
                </a:r>
                <a14:m>
                  <m:oMath xmlns:m="http://schemas.openxmlformats.org/officeDocument/2006/math">
                    <m:r>
                      <a:rPr lang="en-IN" sz="2400" i="1">
                        <a:solidFill>
                          <a:srgbClr val="111827"/>
                        </a:solidFill>
                        <a:latin typeface="Cambria Math" panose="02040503050406030204" pitchFamily="18" charset="0"/>
                      </a:rPr>
                      <m:t>𝐼</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Substituting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into </a:t>
                </a:r>
                <a14:m>
                  <m:oMath xmlns:m="http://schemas.openxmlformats.org/officeDocument/2006/math">
                    <m:sSub>
                      <m:e>
                        <m:r>
                          <a:rPr lang="en-IN" sz="2400" i="1">
                            <a:solidFill>
                              <a:srgbClr val="111827"/>
                            </a:solidFill>
                            <a:latin typeface="Cambria Math" panose="02040503050406030204" pitchFamily="18" charset="0"/>
                          </a:rPr>
                          <m:t>𝐿</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𝐼</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4</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Choose a convenient point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on </a:t>
                </a:r>
                <a14:m>
                  <m:oMath xmlns:m="http://schemas.openxmlformats.org/officeDocument/2006/math">
                    <m:sSub>
                      <m:e>
                        <m:r>
                          <a:rPr lang="en-IN" sz="2400" i="1">
                            <a:solidFill>
                              <a:srgbClr val="111827"/>
                            </a:solidFill>
                            <a:latin typeface="Cambria Math" panose="02040503050406030204" pitchFamily="18" charset="0"/>
                          </a:rPr>
                          <m:t>𝐿</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and let its image in </a:t>
                </a:r>
                <a14:m>
                  <m:oMath xmlns:m="http://schemas.openxmlformats.org/officeDocument/2006/math">
                    <m:sSub>
                      <m:e>
                        <m:r>
                          <a:rPr lang="en-IN" sz="2400" i="1">
                            <a:solidFill>
                              <a:srgbClr val="111827"/>
                            </a:solidFill>
                            <a:latin typeface="Cambria Math" panose="02040503050406030204" pitchFamily="18" charset="0"/>
                          </a:rPr>
                          <m:t>𝐿</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be </a:t>
                </a:r>
                <a14:m>
                  <m:oMath xmlns:m="http://schemas.openxmlformats.org/officeDocument/2006/math">
                    <m:sSup>
                      <m:e>
                        <m:r>
                          <a:rPr lang="en-IN" sz="2400" i="1">
                            <a:solidFill>
                              <a:srgbClr val="111827"/>
                            </a:solidFill>
                            <a:latin typeface="Cambria Math" panose="02040503050406030204" pitchFamily="18" charset="0"/>
                          </a:rPr>
                          <m:t>𝐴</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$L_1:3x-y+1=0$</a:t>
                </a:r>
                <a:r>
                  <a:rPr sz="2400" b="0">
                    <a:solidFill>
                      <a:srgbClr val="111827"/>
                    </a:solidFill>
                    <a:latin typeface="Arial"/>
                  </a:rPr>
                  <a:t> and the mirror </a:t>
                </a:r>
                <a:r>
                  <a:rPr lang="en-IN" sz="2400">
                    <a:solidFill>
                      <a:srgbClr val="111827"/>
                    </a:solidFill>
                    <a:latin typeface="Cambria Math" panose="02040503050406030204" pitchFamily="18" charset="0"/>
                  </a:rPr>
                  <a:t>$L_2:x+y-2=0$</a:t>
                </a:r>
                <a:r>
                  <a:rPr sz="2400" b="0">
                    <a:solidFill>
                      <a:srgbClr val="111827"/>
                    </a:solidFill>
                    <a:latin typeface="Arial"/>
                  </a:rPr>
                  <a:t>. First find their point of intersection </a:t>
                </a:r>
                <a:r>
                  <a:rPr lang="en-IN" sz="2400">
                    <a:solidFill>
                      <a:srgbClr val="111827"/>
                    </a:solidFill>
                    <a:latin typeface="Cambria Math" panose="02040503050406030204" pitchFamily="18" charset="0"/>
                  </a:rPr>
                  <a:t>$I$</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Substituting </a:t>
                </a:r>
                <a:r>
                  <a:rPr lang="en-IN" sz="2400">
                    <a:solidFill>
                      <a:srgbClr val="111827"/>
                    </a:solidFill>
                    <a:latin typeface="Cambria Math" panose="02040503050406030204" pitchFamily="18" charset="0"/>
                  </a:rPr>
                  <a:t>$y=3x+1$</a:t>
                </a:r>
                <a:r>
                  <a:rPr sz="2400" b="0">
                    <a:solidFill>
                      <a:srgbClr val="111827"/>
                    </a:solidFill>
                    <a:latin typeface="Arial"/>
                  </a:rPr>
                  <a:t> into </a:t>
                </a:r>
                <a:r>
                  <a:rPr lang="en-IN" sz="2400">
                    <a:solidFill>
                      <a:srgbClr val="111827"/>
                    </a:solidFill>
                    <a:latin typeface="Cambria Math" panose="02040503050406030204" pitchFamily="18" charset="0"/>
                  </a:rPr>
                  <a:t>$L_2$</a:t>
                </a:r>
                <a:r>
                  <a:rPr sz="2400" b="0">
                    <a:solidFill>
                      <a:srgbClr val="111827"/>
                    </a:solidFill>
                    <a:latin typeface="Arial"/>
                  </a:rPr>
                  <a:t>: </a:t>
                </a:r>
                <a:r>
                  <a:rPr lang="en-IN" sz="2400">
                    <a:solidFill>
                      <a:srgbClr val="111827"/>
                    </a:solidFill>
                    <a:latin typeface="Cambria Math" panose="02040503050406030204" pitchFamily="18" charset="0"/>
                  </a:rPr>
                  <a:t>$x+(3x+1)-2=0\Rightarrow4x=1\Rightarrow x=\frac14$</a:t>
                </a:r>
                <a:r>
                  <a:rPr sz="2400" b="0">
                    <a:solidFill>
                      <a:srgbClr val="111827"/>
                    </a:solidFill>
                    <a:latin typeface="Arial"/>
                  </a:rPr>
                  <a:t>, and </a:t>
                </a:r>
                <a:r>
                  <a:rPr lang="en-IN" sz="2400">
                    <a:solidFill>
                      <a:srgbClr val="111827"/>
                    </a:solidFill>
                    <a:latin typeface="Cambria Math" panose="02040503050406030204" pitchFamily="18" charset="0"/>
                  </a:rPr>
                  <a:t>$y=2-\frac14=\frac74$</a:t>
                </a:r>
                <a:r>
                  <a:rPr sz="2400" b="0">
                    <a:solidFill>
                      <a:srgbClr val="111827"/>
                    </a:solidFill>
                    <a:latin typeface="Arial"/>
                  </a:rPr>
                  <a:t>. So </a:t>
                </a:r>
                <a:r>
                  <a:rPr lang="en-IN" sz="2400">
                    <a:solidFill>
                      <a:srgbClr val="111827"/>
                    </a:solidFill>
                    <a:latin typeface="Cambria Math" panose="02040503050406030204" pitchFamily="18" charset="0"/>
                  </a:rPr>
                  <a:t>$I\left(\frac14,\frac74\right)$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Choose a convenient point </a:t>
                </a:r>
                <a:r>
                  <a:rPr lang="en-IN" sz="2400">
                    <a:solidFill>
                      <a:srgbClr val="111827"/>
                    </a:solidFill>
                    <a:latin typeface="Cambria Math" panose="02040503050406030204" pitchFamily="18" charset="0"/>
                  </a:rPr>
                  <a:t>$A(0,1)$</a:t>
                </a:r>
                <a:r>
                  <a:rPr sz="2400" b="0">
                    <a:solidFill>
                      <a:srgbClr val="111827"/>
                    </a:solidFill>
                    <a:latin typeface="Arial"/>
                  </a:rPr>
                  <a:t> on </a:t>
                </a:r>
                <a:r>
                  <a:rPr lang="en-IN" sz="2400">
                    <a:solidFill>
                      <a:srgbClr val="111827"/>
                    </a:solidFill>
                    <a:latin typeface="Cambria Math" panose="02040503050406030204" pitchFamily="18" charset="0"/>
                  </a:rPr>
                  <a:t>$L_1$</a:t>
                </a:r>
                <a:r>
                  <a:rPr sz="2400" b="0">
                    <a:solidFill>
                      <a:srgbClr val="111827"/>
                    </a:solidFill>
                    <a:latin typeface="Arial"/>
                  </a:rPr>
                  <a:t> and let its image in </a:t>
                </a:r>
                <a:r>
                  <a:rPr lang="en-IN" sz="2400">
                    <a:solidFill>
                      <a:srgbClr val="111827"/>
                    </a:solidFill>
                    <a:latin typeface="Cambria Math" panose="02040503050406030204" pitchFamily="18" charset="0"/>
                  </a:rPr>
                  <a:t>$L_2$</a:t>
                </a:r>
                <a:r>
                  <a:rPr sz="2400" b="0">
                    <a:solidFill>
                      <a:srgbClr val="111827"/>
                    </a:solidFill>
                    <a:latin typeface="Arial"/>
                  </a:rPr>
                  <a:t> be </a:t>
                </a:r>
                <a:r>
                  <a:rPr lang="en-IN" sz="2400">
                    <a:solidFill>
                      <a:srgbClr val="111827"/>
                    </a:solidFill>
                    <a:latin typeface="Cambria Math" panose="02040503050406030204" pitchFamily="18" charset="0"/>
                  </a:rPr>
                  <a:t>$A'(x',y')$</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By the image formula,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num>
                      <m:den>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sSup>
                          <m:e>
                            <m:r>
                              <a:rPr lang="en-IN" sz="2400" i="1">
                                <a:solidFill>
                                  <a:srgbClr val="111827"/>
                                </a:solidFill>
                                <a:latin typeface="Cambria Math" panose="02040503050406030204" pitchFamily="18" charset="0"/>
                              </a:rPr>
                              <m:t>1</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𝐴</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image line </a:t>
                </a:r>
                <a14:m>
                  <m:oMath xmlns:m="http://schemas.openxmlformats.org/officeDocument/2006/math">
                    <m:sSub>
                      <m:e>
                        <m:r>
                          <a:rPr lang="en-IN" sz="2400" i="1">
                            <a:solidFill>
                              <a:srgbClr val="111827"/>
                            </a:solidFill>
                            <a:latin typeface="Cambria Math" panose="02040503050406030204" pitchFamily="18" charset="0"/>
                          </a:rPr>
                          <m:t>𝐿</m:t>
                        </m:r>
                      </m:e>
                      <m:sub>
                        <m:r>
                          <a:rPr lang="en-IN" sz="2400" i="1">
                            <a:solidFill>
                              <a:srgbClr val="111827"/>
                            </a:solidFill>
                            <a:latin typeface="Cambria Math" panose="02040503050406030204" pitchFamily="18" charset="0"/>
                          </a:rPr>
                          <m:t>3</m:t>
                        </m:r>
                      </m:sub>
                    </m:sSub>
                  </m:oMath>
                </a14:m>
                <a:r>
                  <a:rPr sz="2400" b="0">
                    <a:solidFill>
                      <a:srgbClr val="111827"/>
                    </a:solidFill>
                    <a:latin typeface="Arial"/>
                  </a:rPr>
                  <a:t> passes through </a:t>
                </a:r>
                <a14:m>
                  <m:oMath xmlns:m="http://schemas.openxmlformats.org/officeDocument/2006/math">
                    <m:r>
                      <a:rPr lang="en-IN" sz="2400" i="1">
                        <a:solidFill>
                          <a:srgbClr val="111827"/>
                        </a:solidFill>
                        <a:latin typeface="Cambria Math" panose="02040503050406030204" pitchFamily="18" charset="0"/>
                      </a:rPr>
                      <m:t>𝐼</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4</m:t>
                            </m:r>
                          </m:den>
                        </m:f>
                      </m:e>
                    </m:d>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𝐴</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Its slope is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4</m:t>
                            </m:r>
                          </m:den>
                        </m:f>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Equation of </a:t>
                </a:r>
                <a14:m>
                  <m:oMath xmlns:m="http://schemas.openxmlformats.org/officeDocument/2006/math">
                    <m:sSub>
                      <m:e>
                        <m:r>
                          <a:rPr lang="en-IN" sz="2400" i="1">
                            <a:solidFill>
                              <a:srgbClr val="111827"/>
                            </a:solidFill>
                            <a:latin typeface="Cambria Math" panose="02040503050406030204" pitchFamily="18" charset="0"/>
                          </a:rPr>
                          <m:t>𝐿</m:t>
                        </m:r>
                      </m:e>
                      <m:sub>
                        <m:r>
                          <a:rPr lang="en-IN" sz="2400" i="1">
                            <a:solidFill>
                              <a:srgbClr val="111827"/>
                            </a:solidFill>
                            <a:latin typeface="Cambria Math" panose="02040503050406030204" pitchFamily="18" charset="0"/>
                          </a:rPr>
                          <m:t>3</m:t>
                        </m:r>
                      </m:sub>
                    </m:sSub>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Comparing with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Therefore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By the image formula, </a:t>
                </a:r>
                <a:r>
                  <a:rPr lang="en-IN" sz="2400">
                    <a:solidFill>
                      <a:srgbClr val="111827"/>
                    </a:solidFill>
                    <a:latin typeface="Cambria Math" panose="02040503050406030204" pitchFamily="18" charset="0"/>
                  </a:rPr>
                  <a:t>$\frac{x'-0}1=\frac{y'-1}1=-2\cdot\frac{0+1-2}{1^2+1^2}=1$</a:t>
                </a:r>
                <a:r>
                  <a:rPr sz="2400" b="0">
                    <a:solidFill>
                      <a:srgbClr val="111827"/>
                    </a:solidFill>
                    <a:latin typeface="Arial"/>
                  </a:rPr>
                  <a:t>. So </a:t>
                </a:r>
                <a:r>
                  <a:rPr lang="en-IN" sz="2400">
                    <a:solidFill>
                      <a:srgbClr val="111827"/>
                    </a:solidFill>
                    <a:latin typeface="Cambria Math" panose="02040503050406030204" pitchFamily="18" charset="0"/>
                  </a:rPr>
                  <a:t>$x'=1$</a:t>
                </a:r>
                <a:r>
                  <a:rPr sz="2400" b="0">
                    <a:solidFill>
                      <a:srgbClr val="111827"/>
                    </a:solidFill>
                    <a:latin typeface="Arial"/>
                  </a:rPr>
                  <a:t>, </a:t>
                </a:r>
                <a:r>
                  <a:rPr lang="en-IN" sz="2400">
                    <a:solidFill>
                      <a:srgbClr val="111827"/>
                    </a:solidFill>
                    <a:latin typeface="Cambria Math" panose="02040503050406030204" pitchFamily="18" charset="0"/>
                  </a:rPr>
                  <a:t>$y'=2$</a:t>
                </a:r>
                <a:r>
                  <a:rPr sz="2400" b="0">
                    <a:solidFill>
                      <a:srgbClr val="111827"/>
                    </a:solidFill>
                    <a:latin typeface="Arial"/>
                  </a:rPr>
                  <a:t> and </a:t>
                </a:r>
                <a:r>
                  <a:rPr lang="en-IN" sz="2400">
                    <a:solidFill>
                      <a:srgbClr val="111827"/>
                    </a:solidFill>
                    <a:latin typeface="Cambria Math" panose="02040503050406030204" pitchFamily="18" charset="0"/>
                  </a:rPr>
                  <a:t>$A'=(1,2)$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image line </a:t>
                </a:r>
                <a:r>
                  <a:rPr lang="en-IN" sz="2400">
                    <a:solidFill>
                      <a:srgbClr val="111827"/>
                    </a:solidFill>
                    <a:latin typeface="Cambria Math" panose="02040503050406030204" pitchFamily="18" charset="0"/>
                  </a:rPr>
                  <a:t>$L_3$</a:t>
                </a:r>
                <a:r>
                  <a:rPr sz="2400" b="0">
                    <a:solidFill>
                      <a:srgbClr val="111827"/>
                    </a:solidFill>
                    <a:latin typeface="Arial"/>
                  </a:rPr>
                  <a:t> passes through </a:t>
                </a:r>
                <a:r>
                  <a:rPr lang="en-IN" sz="2400">
                    <a:solidFill>
                      <a:srgbClr val="111827"/>
                    </a:solidFill>
                    <a:latin typeface="Cambria Math" panose="02040503050406030204" pitchFamily="18" charset="0"/>
                  </a:rPr>
                  <a:t>$I\left(\frac14,\frac74\right)$</a:t>
                </a:r>
                <a:r>
                  <a:rPr sz="2400" b="0">
                    <a:solidFill>
                      <a:srgbClr val="111827"/>
                    </a:solidFill>
                    <a:latin typeface="Arial"/>
                  </a:rPr>
                  <a:t> and </a:t>
                </a:r>
                <a:r>
                  <a:rPr lang="en-IN" sz="2400">
                    <a:solidFill>
                      <a:srgbClr val="111827"/>
                    </a:solidFill>
                    <a:latin typeface="Cambria Math" panose="02040503050406030204" pitchFamily="18" charset="0"/>
                  </a:rPr>
                  <a:t>$A'(1,2)$</a:t>
                </a:r>
                <a:r>
                  <a:rPr sz="2400" b="0">
                    <a:solidFill>
                      <a:srgbClr val="111827"/>
                    </a:solidFill>
                    <a:latin typeface="Arial"/>
                  </a:rPr>
                  <a:t>. Its slope is </a:t>
                </a:r>
                <a:r>
                  <a:rPr lang="en-IN" sz="2400">
                    <a:solidFill>
                      <a:srgbClr val="111827"/>
                    </a:solidFill>
                    <a:latin typeface="Cambria Math" panose="02040503050406030204" pitchFamily="18" charset="0"/>
                  </a:rPr>
                  <a:t>$m=\frac{2-\frac74}{1-\frac14}=\frac{1/4}{3/4}=\frac13$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Equation of </a:t>
                </a:r>
                <a:r>
                  <a:rPr lang="en-IN" sz="2400">
                    <a:solidFill>
                      <a:srgbClr val="111827"/>
                    </a:solidFill>
                    <a:latin typeface="Cambria Math" panose="02040503050406030204" pitchFamily="18" charset="0"/>
                  </a:rPr>
                  <a:t>$L_3$</a:t>
                </a:r>
                <a:r>
                  <a:rPr sz="2400" b="0">
                    <a:solidFill>
                      <a:srgbClr val="111827"/>
                    </a:solidFill>
                    <a:latin typeface="Arial"/>
                  </a:rPr>
                  <a:t>: </a:t>
                </a:r>
                <a:r>
                  <a:rPr lang="en-IN" sz="2400">
                    <a:solidFill>
                      <a:srgbClr val="111827"/>
                    </a:solidFill>
                    <a:latin typeface="Cambria Math" panose="02040503050406030204" pitchFamily="18" charset="0"/>
                  </a:rPr>
                  <a:t>$y-2=\frac13(x-1)\Rightarrow x-3y+5=0$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Comparing with </a:t>
                </a:r>
                <a:r>
                  <a:rPr lang="en-IN" sz="2400">
                    <a:solidFill>
                      <a:srgbClr val="111827"/>
                    </a:solidFill>
                    <a:latin typeface="Cambria Math" panose="02040503050406030204" pitchFamily="18" charset="0"/>
                  </a:rPr>
                  <a:t>$ax+by+5=0$</a:t>
                </a:r>
                <a:r>
                  <a:rPr sz="2400" b="0">
                    <a:solidFill>
                      <a:srgbClr val="111827"/>
                    </a:solidFill>
                    <a:latin typeface="Arial"/>
                  </a:rPr>
                  <a:t>: </a:t>
                </a:r>
                <a:r>
                  <a:rPr lang="en-IN" sz="2400">
                    <a:solidFill>
                      <a:srgbClr val="111827"/>
                    </a:solidFill>
                    <a:latin typeface="Cambria Math" panose="02040503050406030204" pitchFamily="18" charset="0"/>
                  </a:rPr>
                  <a:t>$a=1$</a:t>
                </a:r>
                <a:r>
                  <a:rPr sz="2400" b="0">
                    <a:solidFill>
                      <a:srgbClr val="111827"/>
                    </a:solidFill>
                    <a:latin typeface="Arial"/>
                  </a:rPr>
                  <a:t>, </a:t>
                </a:r>
                <a:r>
                  <a:rPr lang="en-IN" sz="2400">
                    <a:solidFill>
                      <a:srgbClr val="111827"/>
                    </a:solidFill>
                    <a:latin typeface="Cambria Math" panose="02040503050406030204" pitchFamily="18" charset="0"/>
                  </a:rPr>
                  <a:t>$b=-3$</a:t>
                </a:r>
                <a:r>
                  <a:rPr sz="2400" b="0">
                    <a:solidFill>
                      <a:srgbClr val="111827"/>
                    </a:solidFill>
                    <a:latin typeface="Arial"/>
                  </a:rPr>
                  <a:t>. Therefore </a:t>
                </a:r>
                <a:r>
                  <a:rPr lang="en-IN" sz="2400">
                    <a:solidFill>
                      <a:srgbClr val="111827"/>
                    </a:solidFill>
                    <a:latin typeface="Cambria Math" panose="02040503050406030204" pitchFamily="18" charset="0"/>
                  </a:rPr>
                  <a:t>$a^2+b^2=1+9=10$</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10</a:t>
            </a:r>
            <a:endParaRPr sz="2800">
              <a:solidFill>
                <a:srgbClr val="15803D"/>
              </a:solidFill>
            </a:endParaRP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Reflection in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oMath>
                </a14:m>
                <a:r>
                  <a:rPr sz="2400" b="0">
                    <a:solidFill>
                      <a:srgbClr val="78350F"/>
                    </a:solidFill>
                    <a:latin typeface="Arial"/>
                  </a:rPr>
                  <a:t> is the map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 </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substitute it directly into the equation of the line.</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Reflection in </a:t>
                </a:r>
                <a:r>
                  <a:rPr lang="en-IN" sz="2400">
                    <a:solidFill>
                      <a:srgbClr val="78350F"/>
                    </a:solidFill>
                    <a:latin typeface="Cambria Math" panose="02040503050406030204" pitchFamily="18" charset="0"/>
                  </a:rPr>
                  <a:t>$x+y=2$</a:t>
                </a:r>
                <a:r>
                  <a:rPr sz="2400" b="0">
                    <a:solidFill>
                      <a:srgbClr val="78350F"/>
                    </a:solidFill>
                    <a:latin typeface="Arial"/>
                  </a:rPr>
                  <a:t> is the map </a:t>
                </a:r>
                <a:r>
                  <a:rPr lang="en-IN" sz="2400">
                    <a:solidFill>
                      <a:srgbClr val="78350F"/>
                    </a:solidFill>
                    <a:latin typeface="Cambria Math" panose="02040503050406030204" pitchFamily="18" charset="0"/>
                  </a:rPr>
                  <a:t>$(x,y)\mapsto(2-y,\,2-x)$</a:t>
                </a:r>
                <a:r>
                  <a:rPr sz="2400" b="0">
                    <a:solidFill>
                      <a:srgbClr val="78350F"/>
                    </a:solidFill>
                    <a:latin typeface="Arial"/>
                  </a:rPr>
                  <a:t>; substitute it directly into the equation of the line.</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 point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image in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is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midpoint lies on the mirror and the join is perpendicular to it).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If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lies on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This matches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 point </a:t>
                </a:r>
                <a:r>
                  <a:rPr lang="en-IN" sz="2400">
                    <a:solidFill>
                      <a:srgbClr val="111827"/>
                    </a:solidFill>
                    <a:latin typeface="Cambria Math" panose="02040503050406030204" pitchFamily="18" charset="0"/>
                  </a:rPr>
                  <a:t>$(x,y)$</a:t>
                </a:r>
                <a:r>
                  <a:rPr sz="2400" b="0">
                    <a:solidFill>
                      <a:srgbClr val="111827"/>
                    </a:solidFill>
                    <a:latin typeface="Arial"/>
                  </a:rPr>
                  <a:t> the image in </a:t>
                </a:r>
                <a:r>
                  <a:rPr lang="en-IN" sz="2400">
                    <a:solidFill>
                      <a:srgbClr val="111827"/>
                    </a:solidFill>
                    <a:latin typeface="Cambria Math" panose="02040503050406030204" pitchFamily="18" charset="0"/>
                  </a:rPr>
                  <a:t>$x+y=2$</a:t>
                </a:r>
                <a:r>
                  <a:rPr sz="2400" b="0">
                    <a:solidFill>
                      <a:srgbClr val="111827"/>
                    </a:solidFill>
                    <a:latin typeface="Arial"/>
                  </a:rPr>
                  <a:t> is </a:t>
                </a:r>
                <a:r>
                  <a:rPr lang="en-IN" sz="2400">
                    <a:solidFill>
                      <a:srgbClr val="111827"/>
                    </a:solidFill>
                    <a:latin typeface="Cambria Math" panose="02040503050406030204" pitchFamily="18" charset="0"/>
                  </a:rPr>
                  <a:t>$(x',y')=(2-y,\,2-x)$</a:t>
                </a:r>
                <a:r>
                  <a:rPr sz="2400" b="0">
                    <a:solidFill>
                      <a:srgbClr val="111827"/>
                    </a:solidFill>
                    <a:latin typeface="Arial"/>
                  </a:rPr>
                  <a:t> (the midpoint lies on the mirror and the join is perpendicular to it).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$x=2-y'$</a:t>
                </a:r>
                <a:r>
                  <a:rPr sz="2400" b="0">
                    <a:solidFill>
                      <a:srgbClr val="111827"/>
                    </a:solidFill>
                    <a:latin typeface="Arial"/>
                  </a:rPr>
                  <a:t> and </a:t>
                </a:r>
                <a:r>
                  <a:rPr lang="en-IN" sz="2400">
                    <a:solidFill>
                      <a:srgbClr val="111827"/>
                    </a:solidFill>
                    <a:latin typeface="Cambria Math" panose="02040503050406030204" pitchFamily="18" charset="0"/>
                  </a:rPr>
                  <a:t>$y=2-x'$</a:t>
                </a:r>
                <a:r>
                  <a:rPr sz="2400" b="0">
                    <a:solidFill>
                      <a:srgbClr val="111827"/>
                    </a:solidFill>
                    <a:latin typeface="Arial"/>
                  </a:rPr>
                  <a:t>. If </a:t>
                </a:r>
                <a:r>
                  <a:rPr lang="en-IN" sz="2400">
                    <a:solidFill>
                      <a:srgbClr val="111827"/>
                    </a:solidFill>
                    <a:latin typeface="Cambria Math" panose="02040503050406030204" pitchFamily="18" charset="0"/>
                  </a:rPr>
                  <a:t>$(x,y)$</a:t>
                </a:r>
                <a:r>
                  <a:rPr sz="2400" b="0">
                    <a:solidFill>
                      <a:srgbClr val="111827"/>
                    </a:solidFill>
                    <a:latin typeface="Arial"/>
                  </a:rPr>
                  <a:t> lies on </a:t>
                </a:r>
                <a:r>
                  <a:rPr lang="en-IN" sz="2400">
                    <a:solidFill>
                      <a:srgbClr val="111827"/>
                    </a:solidFill>
                    <a:latin typeface="Cambria Math" panose="02040503050406030204" pitchFamily="18" charset="0"/>
                  </a:rPr>
                  <a:t>$3x-y+1=0$</a:t>
                </a:r>
                <a:r>
                  <a:rPr sz="2400" b="0">
                    <a:solidFill>
                      <a:srgbClr val="111827"/>
                    </a:solidFill>
                    <a:latin typeface="Arial"/>
                  </a:rPr>
                  <a:t> then </a:t>
                </a:r>
                <a:r>
                  <a:rPr lang="en-IN" sz="2400">
                    <a:solidFill>
                      <a:srgbClr val="111827"/>
                    </a:solidFill>
                    <a:latin typeface="Cambria Math" panose="02040503050406030204" pitchFamily="18" charset="0"/>
                  </a:rPr>
                  <a:t>$3(2-y')-(2-x')+1=0$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$6-3y'-2+x'+1=0\Rightarrow x'-3y'+5=0$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This matches </a:t>
                </a:r>
                <a:r>
                  <a:rPr lang="en-IN" sz="2400">
                    <a:solidFill>
                      <a:srgbClr val="111827"/>
                    </a:solidFill>
                    <a:latin typeface="Cambria Math" panose="02040503050406030204" pitchFamily="18" charset="0"/>
                  </a:rPr>
                  <a:t>$ax+by+5=0$</a:t>
                </a:r>
                <a:r>
                  <a:rPr sz="2400" b="0">
                    <a:solidFill>
                      <a:srgbClr val="111827"/>
                    </a:solidFill>
                    <a:latin typeface="Arial"/>
                  </a:rPr>
                  <a:t> with </a:t>
                </a:r>
                <a:r>
                  <a:rPr lang="en-IN" sz="2400">
                    <a:solidFill>
                      <a:srgbClr val="111827"/>
                    </a:solidFill>
                    <a:latin typeface="Cambria Math" panose="02040503050406030204" pitchFamily="18" charset="0"/>
                  </a:rPr>
                  <a:t>$a=1$</a:t>
                </a:r>
                <a:r>
                  <a:rPr sz="2400" b="0">
                    <a:solidFill>
                      <a:srgbClr val="111827"/>
                    </a:solidFill>
                    <a:latin typeface="Arial"/>
                  </a:rPr>
                  <a:t>, </a:t>
                </a:r>
                <a:r>
                  <a:rPr lang="en-IN" sz="2400">
                    <a:solidFill>
                      <a:srgbClr val="111827"/>
                    </a:solidFill>
                    <a:latin typeface="Cambria Math" panose="02040503050406030204" pitchFamily="18" charset="0"/>
                  </a:rPr>
                  <a:t>$b=-3$</a:t>
                </a:r>
                <a:r>
                  <a:rPr sz="2400" b="0">
                    <a:solidFill>
                      <a:srgbClr val="111827"/>
                    </a:solidFill>
                    <a:latin typeface="Arial"/>
                  </a:rPr>
                  <a:t>, so </a:t>
                </a:r>
                <a:r>
                  <a:rPr lang="en-IN" sz="2400">
                    <a:solidFill>
                      <a:srgbClr val="111827"/>
                    </a:solidFill>
                    <a:latin typeface="Cambria Math" panose="02040503050406030204" pitchFamily="18" charset="0"/>
                  </a:rPr>
                  <a:t>$a^2+b^2=10$</a:t>
                </a:r>
                <a:r>
                  <a:rPr sz="2400" b="0">
                    <a:solidFill>
                      <a:srgbClr val="111827"/>
                    </a:solidFill>
                    <a:latin typeface="Arial"/>
                  </a:rPr>
                  <a:t>.</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10</a:t>
            </a:r>
            <a:endParaRPr sz="2800">
              <a:solidFill>
                <a:srgbClr val="15803D"/>
              </a:solidFill>
            </a:endParaRP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Reflection in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in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in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image of a line </a:t>
                </a:r>
                <a14:m>
                  <m:oMath xmlns:m="http://schemas.openxmlformats.org/officeDocument/2006/math">
                    <m:r>
                      <a:rPr lang="en-IN" sz="2400" i="1">
                        <a:solidFill>
                          <a:srgbClr val="111827"/>
                        </a:solidFill>
                        <a:latin typeface="Cambria Math" panose="02040503050406030204" pitchFamily="18" charset="0"/>
                      </a:rPr>
                      <m:t>𝐿</m:t>
                    </m:r>
                  </m:oMath>
                </a14:m>
                <a:r>
                  <a:rPr sz="2400" b="0">
                    <a:solidFill>
                      <a:srgbClr val="111827"/>
                    </a:solidFill>
                    <a:latin typeface="Arial"/>
                  </a:rPr>
                  <a:t> in a mirror </a:t>
                </a:r>
                <a14:m>
                  <m:oMath xmlns:m="http://schemas.openxmlformats.org/officeDocument/2006/math">
                    <m:r>
                      <a:rPr lang="en-IN" sz="2400" i="1">
                        <a:solidFill>
                          <a:srgbClr val="111827"/>
                        </a:solidFill>
                        <a:latin typeface="Cambria Math" panose="02040503050406030204" pitchFamily="18" charset="0"/>
                      </a:rPr>
                      <m:t>𝑀</m:t>
                    </m:r>
                  </m:oMath>
                </a14:m>
                <a:r>
                  <a:rPr sz="2400" b="0">
                    <a:solidFill>
                      <a:srgbClr val="111827"/>
                    </a:solidFill>
                    <a:latin typeface="Arial"/>
                  </a:rPr>
                  <a:t> passes through </a:t>
                </a:r>
                <a14:m>
                  <m:oMath xmlns:m="http://schemas.openxmlformats.org/officeDocument/2006/math">
                    <m:r>
                      <a:rPr lang="en-IN" sz="2400" i="1">
                        <a:solidFill>
                          <a:srgbClr val="111827"/>
                        </a:solidFill>
                        <a:latin typeface="Cambria Math" panose="02040503050406030204" pitchFamily="18" charset="0"/>
                      </a:rPr>
                      <m:t>𝐿</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𝑀</m:t>
                    </m:r>
                  </m:oMath>
                </a14:m>
                <a:r>
                  <a:rPr sz="2400" b="0">
                    <a:solidFill>
                      <a:srgbClr val="111827"/>
                    </a:solidFill>
                    <a:latin typeface="Arial"/>
                  </a:rPr>
                  <a:t> (a point on the mirror is its own image).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Reflection in a line of slope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takes slope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to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𝑚</m:t>
                        </m:r>
                      </m:den>
                    </m:f>
                  </m:oMath>
                </a14:m>
                <a:r>
                  <a:rPr sz="2400" b="0">
                    <a:solidFill>
                      <a:srgbClr val="111827"/>
                    </a:solidFill>
                    <a:latin typeface="Arial"/>
                  </a:rPr>
                  <a:t> (here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Image of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in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num>
                      <m:den>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Reflection in </a:t>
                </a:r>
                <a:r>
                  <a:rPr lang="en-IN" sz="2400">
                    <a:solidFill>
                      <a:srgbClr val="111827"/>
                    </a:solidFill>
                    <a:latin typeface="Cambria Math" panose="02040503050406030204" pitchFamily="18" charset="0"/>
                  </a:rPr>
                  <a:t>$x+y=c$</a:t>
                </a:r>
                <a:r>
                  <a:rPr sz="2400" b="0">
                    <a:solidFill>
                      <a:srgbClr val="111827"/>
                    </a:solidFill>
                    <a:latin typeface="Arial"/>
                  </a:rPr>
                  <a:t>: </a:t>
                </a:r>
                <a:r>
                  <a:rPr lang="en-IN" sz="2400">
                    <a:solidFill>
                      <a:srgbClr val="111827"/>
                    </a:solidFill>
                    <a:latin typeface="Cambria Math" panose="02040503050406030204" pitchFamily="18" charset="0"/>
                  </a:rPr>
                  <a:t>$(x,y)\mapsto(c-y,\,c-x)$</a:t>
                </a:r>
                <a:r>
                  <a:rPr sz="2400" b="0">
                    <a:solidFill>
                      <a:srgbClr val="111827"/>
                    </a:solidFill>
                    <a:latin typeface="Arial"/>
                  </a:rPr>
                  <a:t>; in </a:t>
                </a:r>
                <a:r>
                  <a:rPr lang="en-IN" sz="2400">
                    <a:solidFill>
                      <a:srgbClr val="111827"/>
                    </a:solidFill>
                    <a:latin typeface="Cambria Math" panose="02040503050406030204" pitchFamily="18" charset="0"/>
                  </a:rPr>
                  <a:t>$x-y=c$</a:t>
                </a:r>
                <a:r>
                  <a:rPr sz="2400" b="0">
                    <a:solidFill>
                      <a:srgbClr val="111827"/>
                    </a:solidFill>
                    <a:latin typeface="Arial"/>
                  </a:rPr>
                  <a:t>: </a:t>
                </a:r>
                <a:r>
                  <a:rPr lang="en-IN" sz="2400">
                    <a:solidFill>
                      <a:srgbClr val="111827"/>
                    </a:solidFill>
                    <a:latin typeface="Cambria Math" panose="02040503050406030204" pitchFamily="18" charset="0"/>
                  </a:rPr>
                  <a:t>$(x,y)\mapsto(y+c,\,x-c)$</a:t>
                </a:r>
                <a:r>
                  <a:rPr sz="2400" b="0">
                    <a:solidFill>
                      <a:srgbClr val="111827"/>
                    </a:solidFill>
                    <a:latin typeface="Arial"/>
                  </a:rPr>
                  <a:t>; in </a:t>
                </a:r>
                <a:r>
                  <a:rPr lang="en-IN" sz="2400">
                    <a:solidFill>
                      <a:srgbClr val="111827"/>
                    </a:solidFill>
                    <a:latin typeface="Cambria Math" panose="02040503050406030204" pitchFamily="18" charset="0"/>
                  </a:rPr>
                  <a:t>$y=x$</a:t>
                </a:r>
                <a:r>
                  <a:rPr sz="2400" b="0">
                    <a:solidFill>
                      <a:srgbClr val="111827"/>
                    </a:solidFill>
                    <a:latin typeface="Arial"/>
                  </a:rPr>
                  <a:t>: </a:t>
                </a:r>
                <a:r>
                  <a:rPr lang="en-IN" sz="2400">
                    <a:solidFill>
                      <a:srgbClr val="111827"/>
                    </a:solidFill>
                    <a:latin typeface="Cambria Math" panose="02040503050406030204" pitchFamily="18" charset="0"/>
                  </a:rPr>
                  <a:t>$(x,y)\mapsto(y,x)$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image of a line </a:t>
                </a:r>
                <a:r>
                  <a:rPr lang="en-IN" sz="2400">
                    <a:solidFill>
                      <a:srgbClr val="111827"/>
                    </a:solidFill>
                    <a:latin typeface="Cambria Math" panose="02040503050406030204" pitchFamily="18" charset="0"/>
                  </a:rPr>
                  <a:t>$L$</a:t>
                </a:r>
                <a:r>
                  <a:rPr sz="2400" b="0">
                    <a:solidFill>
                      <a:srgbClr val="111827"/>
                    </a:solidFill>
                    <a:latin typeface="Arial"/>
                  </a:rPr>
                  <a:t> in a mirror </a:t>
                </a:r>
                <a:r>
                  <a:rPr lang="en-IN" sz="2400">
                    <a:solidFill>
                      <a:srgbClr val="111827"/>
                    </a:solidFill>
                    <a:latin typeface="Cambria Math" panose="02040503050406030204" pitchFamily="18" charset="0"/>
                  </a:rPr>
                  <a:t>$M$</a:t>
                </a:r>
                <a:r>
                  <a:rPr sz="2400" b="0">
                    <a:solidFill>
                      <a:srgbClr val="111827"/>
                    </a:solidFill>
                    <a:latin typeface="Arial"/>
                  </a:rPr>
                  <a:t> passes through </a:t>
                </a:r>
                <a:r>
                  <a:rPr lang="en-IN" sz="2400">
                    <a:solidFill>
                      <a:srgbClr val="111827"/>
                    </a:solidFill>
                    <a:latin typeface="Cambria Math" panose="02040503050406030204" pitchFamily="18" charset="0"/>
                  </a:rPr>
                  <a:t>$L\cap M$</a:t>
                </a:r>
                <a:r>
                  <a:rPr sz="2400" b="0">
                    <a:solidFill>
                      <a:srgbClr val="111827"/>
                    </a:solidFill>
                    <a:latin typeface="Arial"/>
                  </a:rPr>
                  <a:t> (a point on the mirror is its own image).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Reflection in a line of slope </a:t>
                </a:r>
                <a:r>
                  <a:rPr lang="en-IN" sz="2400">
                    <a:solidFill>
                      <a:srgbClr val="111827"/>
                    </a:solidFill>
                    <a:latin typeface="Cambria Math" panose="02040503050406030204" pitchFamily="18" charset="0"/>
                  </a:rPr>
                  <a:t>$-1$</a:t>
                </a:r>
                <a:r>
                  <a:rPr sz="2400" b="0">
                    <a:solidFill>
                      <a:srgbClr val="111827"/>
                    </a:solidFill>
                    <a:latin typeface="Arial"/>
                  </a:rPr>
                  <a:t> takes slope </a:t>
                </a:r>
                <a:r>
                  <a:rPr lang="en-IN" sz="2400">
                    <a:solidFill>
                      <a:srgbClr val="111827"/>
                    </a:solidFill>
                    <a:latin typeface="Cambria Math" panose="02040503050406030204" pitchFamily="18" charset="0"/>
                  </a:rPr>
                  <a:t>$m$</a:t>
                </a:r>
                <a:r>
                  <a:rPr sz="2400" b="0">
                    <a:solidFill>
                      <a:srgbClr val="111827"/>
                    </a:solidFill>
                    <a:latin typeface="Arial"/>
                  </a:rPr>
                  <a:t> to </a:t>
                </a:r>
                <a:r>
                  <a:rPr lang="en-IN" sz="2400">
                    <a:solidFill>
                      <a:srgbClr val="111827"/>
                    </a:solidFill>
                    <a:latin typeface="Cambria Math" panose="02040503050406030204" pitchFamily="18" charset="0"/>
                  </a:rPr>
                  <a:t>$\frac1m$</a:t>
                </a:r>
                <a:r>
                  <a:rPr sz="2400" b="0">
                    <a:solidFill>
                      <a:srgbClr val="111827"/>
                    </a:solidFill>
                    <a:latin typeface="Arial"/>
                  </a:rPr>
                  <a:t> (here </a:t>
                </a:r>
                <a:r>
                  <a:rPr lang="en-IN" sz="2400">
                    <a:solidFill>
                      <a:srgbClr val="111827"/>
                    </a:solidFill>
                    <a:latin typeface="Cambria Math" panose="02040503050406030204" pitchFamily="18" charset="0"/>
                  </a:rPr>
                  <a:t>$3\to\frac13$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Image of </a:t>
                </a:r>
                <a:r>
                  <a:rPr lang="en-IN" sz="2400">
                    <a:solidFill>
                      <a:srgbClr val="111827"/>
                    </a:solidFill>
                    <a:latin typeface="Cambria Math" panose="02040503050406030204" pitchFamily="18" charset="0"/>
                  </a:rPr>
                  <a:t>$(x_1,y_1)$</a:t>
                </a:r>
                <a:r>
                  <a:rPr sz="2400" b="0">
                    <a:solidFill>
                      <a:srgbClr val="111827"/>
                    </a:solidFill>
                    <a:latin typeface="Arial"/>
                  </a:rPr>
                  <a:t> in </a:t>
                </a:r>
                <a:r>
                  <a:rPr lang="en-IN" sz="2400">
                    <a:solidFill>
                      <a:srgbClr val="111827"/>
                    </a:solidFill>
                    <a:latin typeface="Cambria Math" panose="02040503050406030204" pitchFamily="18" charset="0"/>
                  </a:rPr>
                  <a:t>$ax+by+c=0$</a:t>
                </a:r>
                <a:r>
                  <a:rPr sz="2400" b="0">
                    <a:solidFill>
                      <a:srgbClr val="111827"/>
                    </a:solidFill>
                    <a:latin typeface="Arial"/>
                  </a:rPr>
                  <a:t>: </a:t>
                </a:r>
                <a:r>
                  <a:rPr lang="en-IN" sz="2400">
                    <a:solidFill>
                      <a:srgbClr val="111827"/>
                    </a:solidFill>
                    <a:latin typeface="Cambria Math" panose="02040503050406030204" pitchFamily="18" charset="0"/>
                  </a:rPr>
                  <a:t>$(x_1,y_1)-\frac{2(ax_1+by_1+c)}{a^2+b^2}(a,b)$</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straight line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 intersects the curve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two distinct points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If the lines joining the origin to the points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are perpendicular to each other, then the sum of all possible values of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is equal to ____.</a:t>
                </a:r>
                <a:endParaRPr sz="2400">
                  <a:solidFill>
                    <a:srgbClr val="111827"/>
                  </a:solidFill>
                </a:endParaRPr>
              </a:p>
            </p:txBody>
          </p:sp>
        </mc:Choice>
        <mc:Fallback>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straight line </a:t>
                </a:r>
                <a:r>
                  <a:rPr lang="en-IN" sz="2400">
                    <a:solidFill>
                      <a:srgbClr val="111827"/>
                    </a:solidFill>
                    <a:latin typeface="Cambria Math" panose="02040503050406030204" pitchFamily="18" charset="0"/>
                  </a:rPr>
                  <a:t>$x+y=k$</a:t>
                </a:r>
                <a:r>
                  <a:rPr sz="2400" b="0">
                    <a:solidFill>
                      <a:srgbClr val="111827"/>
                    </a:solidFill>
                    <a:latin typeface="Arial"/>
                  </a:rPr>
                  <a:t> intersects the curve </a:t>
                </a:r>
                <a:r>
                  <a:rPr lang="en-IN" sz="2400">
                    <a:solidFill>
                      <a:srgbClr val="111827"/>
                    </a:solidFill>
                    <a:latin typeface="Cambria Math" panose="02040503050406030204" pitchFamily="18" charset="0"/>
                  </a:rPr>
                  <a:t>$x^2+y^2-4x-6y+6=0$</a:t>
                </a:r>
                <a:r>
                  <a:rPr sz="2400" b="0">
                    <a:solidFill>
                      <a:srgbClr val="111827"/>
                    </a:solidFill>
                    <a:latin typeface="Arial"/>
                  </a:rPr>
                  <a:t> at two distinct points </a:t>
                </a:r>
                <a:r>
                  <a:rPr lang="en-IN" sz="2400">
                    <a:solidFill>
                      <a:srgbClr val="111827"/>
                    </a:solidFill>
                    <a:latin typeface="Cambria Math" panose="02040503050406030204" pitchFamily="18" charset="0"/>
                  </a:rPr>
                  <a:t>$A$</a:t>
                </a:r>
                <a:r>
                  <a:rPr sz="2400" b="0">
                    <a:solidFill>
                      <a:srgbClr val="111827"/>
                    </a:solidFill>
                    <a:latin typeface="Arial"/>
                  </a:rPr>
                  <a:t> and </a:t>
                </a:r>
                <a:r>
                  <a:rPr lang="en-IN" sz="2400">
                    <a:solidFill>
                      <a:srgbClr val="111827"/>
                    </a:solidFill>
                    <a:latin typeface="Cambria Math" panose="02040503050406030204" pitchFamily="18" charset="0"/>
                  </a:rPr>
                  <a:t>$B$</a:t>
                </a:r>
                <a:r>
                  <a:rPr sz="2400" b="0">
                    <a:solidFill>
                      <a:srgbClr val="111827"/>
                    </a:solidFill>
                    <a:latin typeface="Arial"/>
                  </a:rPr>
                  <a:t>. If the lines joining the origin to the points </a:t>
                </a:r>
                <a:r>
                  <a:rPr lang="en-IN" sz="2400">
                    <a:solidFill>
                      <a:srgbClr val="111827"/>
                    </a:solidFill>
                    <a:latin typeface="Cambria Math" panose="02040503050406030204" pitchFamily="18" charset="0"/>
                  </a:rPr>
                  <a:t>$A$</a:t>
                </a:r>
                <a:r>
                  <a:rPr sz="2400" b="0">
                    <a:solidFill>
                      <a:srgbClr val="111827"/>
                    </a:solidFill>
                    <a:latin typeface="Arial"/>
                  </a:rPr>
                  <a:t> and </a:t>
                </a:r>
                <a:r>
                  <a:rPr lang="en-IN" sz="2400">
                    <a:solidFill>
                      <a:srgbClr val="111827"/>
                    </a:solidFill>
                    <a:latin typeface="Cambria Math" panose="02040503050406030204" pitchFamily="18" charset="0"/>
                  </a:rPr>
                  <a:t>$B$</a:t>
                </a:r>
                <a:r>
                  <a:rPr sz="2400" b="0">
                    <a:solidFill>
                      <a:srgbClr val="111827"/>
                    </a:solidFill>
                    <a:latin typeface="Arial"/>
                  </a:rPr>
                  <a:t> are perpendicular to each other, then the sum of all possible values of </a:t>
                </a:r>
                <a:r>
                  <a:rPr lang="en-IN" sz="2400">
                    <a:solidFill>
                      <a:srgbClr val="111827"/>
                    </a:solidFill>
                    <a:latin typeface="Cambria Math" panose="02040503050406030204" pitchFamily="18" charset="0"/>
                  </a:rPr>
                  <a:t>$k$</a:t>
                </a:r>
                <a:r>
                  <a:rPr sz="2400" b="0">
                    <a:solidFill>
                      <a:srgbClr val="111827"/>
                    </a:solidFill>
                    <a:latin typeface="Arial"/>
                  </a:rPr>
                  <a:t> is equal to ____.</a:t>
                </a:r>
                <a:endParaRPr sz="2400">
                  <a:solidFill>
                    <a:srgbClr val="111827"/>
                  </a:solidFill>
                </a:endParaRPr>
              </a:p>
            </p:txBody>
          </p:sp>
        </mc:Fallback>
      </mc:AlternateContent>
      <p:sp>
        <p:nvSpPr>
          <p:cNvPr id="5" name="Rectangle 4"/>
          <p:cNvSpPr/>
          <p:nvPr/>
        </p:nvSpPr>
        <p:spPr>
          <a:xfrm>
            <a:off x="731520" y="3516884"/>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Pair of straight lines by homogenisation, Intersection of a line and a circle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Homogenise the curve with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num>
                      <m:den>
                        <m:r>
                          <a:rPr lang="en-IN" sz="2400" i="1">
                            <a:solidFill>
                              <a:srgbClr val="78350F"/>
                            </a:solidFill>
                            <a:latin typeface="Cambria Math" panose="02040503050406030204" pitchFamily="18" charset="0"/>
                          </a:rPr>
                          <m:t>𝑘</m:t>
                        </m:r>
                      </m:den>
                    </m:f>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the lines </a:t>
                </a:r>
                <a14:m>
                  <m:oMath xmlns:m="http://schemas.openxmlformats.org/officeDocument/2006/math">
                    <m:r>
                      <a:rPr lang="en-IN" sz="2400" i="1">
                        <a:solidFill>
                          <a:srgbClr val="78350F"/>
                        </a:solidFill>
                        <a:latin typeface="Cambria Math" panose="02040503050406030204" pitchFamily="18" charset="0"/>
                      </a:rPr>
                      <m:t>𝑂</m:t>
                    </m:r>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𝑂</m:t>
                    </m:r>
                    <m:r>
                      <a:rPr lang="en-IN" sz="2400" i="1">
                        <a:solidFill>
                          <a:srgbClr val="78350F"/>
                        </a:solidFill>
                        <a:latin typeface="Cambria Math" panose="02040503050406030204" pitchFamily="18" charset="0"/>
                      </a:rPr>
                      <m:t>𝐵</m:t>
                    </m:r>
                  </m:oMath>
                </a14:m>
                <a:r>
                  <a:rPr sz="2400" b="0">
                    <a:solidFill>
                      <a:srgbClr val="78350F"/>
                    </a:solidFill>
                    <a:latin typeface="Arial"/>
                  </a:rPr>
                  <a:t> iff the coefficients of </a:t>
                </a:r>
                <a14:m>
                  <m:oMath xmlns:m="http://schemas.openxmlformats.org/officeDocument/2006/math">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and </a:t>
                </a:r>
                <a14:m>
                  <m:oMath xmlns:m="http://schemas.openxmlformats.org/officeDocument/2006/math">
                    <m:sSup>
                      <m:e>
                        <m:r>
                          <a:rPr lang="en-IN" sz="2400" i="1">
                            <a:solidFill>
                              <a:srgbClr val="78350F"/>
                            </a:solidFill>
                            <a:latin typeface="Cambria Math" panose="02040503050406030204" pitchFamily="18" charset="0"/>
                          </a:rPr>
                          <m:t>𝑦</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add up to </a:t>
                </a:r>
                <a14:m>
                  <m:oMath xmlns:m="http://schemas.openxmlformats.org/officeDocument/2006/math">
                    <m:r>
                      <a:rPr lang="en-IN" sz="2400" i="1">
                        <a:solidFill>
                          <a:srgbClr val="78350F"/>
                        </a:solidFill>
                        <a:latin typeface="Cambria Math" panose="02040503050406030204" pitchFamily="18" charset="0"/>
                      </a:rPr>
                      <m:t>0</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Homogenise the curve with </a:t>
                </a:r>
                <a:r>
                  <a:rPr lang="en-IN" sz="2400">
                    <a:solidFill>
                      <a:srgbClr val="78350F"/>
                    </a:solidFill>
                    <a:latin typeface="Cambria Math" panose="02040503050406030204" pitchFamily="18" charset="0"/>
                  </a:rPr>
                  <a:t>$\frac{x+y}k=1$</a:t>
                </a:r>
                <a:r>
                  <a:rPr sz="2400" b="0">
                    <a:solidFill>
                      <a:srgbClr val="78350F"/>
                    </a:solidFill>
                    <a:latin typeface="Arial"/>
                  </a:rPr>
                  <a:t>; the lines </a:t>
                </a:r>
                <a:r>
                  <a:rPr lang="en-IN" sz="2400">
                    <a:solidFill>
                      <a:srgbClr val="78350F"/>
                    </a:solidFill>
                    <a:latin typeface="Cambria Math" panose="02040503050406030204" pitchFamily="18" charset="0"/>
                  </a:rPr>
                  <a:t>$OA\perp OB$</a:t>
                </a:r>
                <a:r>
                  <a:rPr sz="2400" b="0">
                    <a:solidFill>
                      <a:srgbClr val="78350F"/>
                    </a:solidFill>
                    <a:latin typeface="Arial"/>
                  </a:rPr>
                  <a:t> iff the coefficients of </a:t>
                </a:r>
                <a:r>
                  <a:rPr lang="en-IN" sz="2400">
                    <a:solidFill>
                      <a:srgbClr val="78350F"/>
                    </a:solidFill>
                    <a:latin typeface="Cambria Math" panose="02040503050406030204" pitchFamily="18" charset="0"/>
                  </a:rPr>
                  <a:t>$x^2$</a:t>
                </a:r>
                <a:r>
                  <a:rPr sz="2400" b="0">
                    <a:solidFill>
                      <a:srgbClr val="78350F"/>
                    </a:solidFill>
                    <a:latin typeface="Arial"/>
                  </a:rPr>
                  <a:t> and </a:t>
                </a:r>
                <a:r>
                  <a:rPr lang="en-IN" sz="2400">
                    <a:solidFill>
                      <a:srgbClr val="78350F"/>
                    </a:solidFill>
                    <a:latin typeface="Cambria Math" panose="02040503050406030204" pitchFamily="18" charset="0"/>
                  </a:rPr>
                  <a:t>$y^2$</a:t>
                </a:r>
                <a:r>
                  <a:rPr sz="2400" b="0">
                    <a:solidFill>
                      <a:srgbClr val="78350F"/>
                    </a:solidFill>
                    <a:latin typeface="Arial"/>
                  </a:rPr>
                  <a:t> add up to </a:t>
                </a:r>
                <a:r>
                  <a:rPr lang="en-IN" sz="2400">
                    <a:solidFill>
                      <a:srgbClr val="78350F"/>
                    </a:solidFill>
                    <a:latin typeface="Cambria Math" panose="02040503050406030204" pitchFamily="18" charset="0"/>
                  </a:rPr>
                  <a:t>$0$</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curve is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the line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 can be written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𝑘</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Homogenise the curve using this: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𝑘</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𝑦</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𝑘</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𝑘</m:t>
                                </m:r>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This is the pair of lines </a:t>
                </a:r>
                <a14:m>
                  <m:oMath xmlns:m="http://schemas.openxmlformats.org/officeDocument/2006/math">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𝐴</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𝐵</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Multiply by </a:t>
                </a:r>
                <a14:m>
                  <m:oMath xmlns:m="http://schemas.openxmlformats.org/officeDocument/2006/math">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Collect terms: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curve is </a:t>
                </a:r>
                <a:r>
                  <a:rPr lang="en-IN" sz="2400">
                    <a:solidFill>
                      <a:srgbClr val="111827"/>
                    </a:solidFill>
                    <a:latin typeface="Cambria Math" panose="02040503050406030204" pitchFamily="18" charset="0"/>
                  </a:rPr>
                  <a:t>$x^2+y^2-4x-6y+6=0$</a:t>
                </a:r>
                <a:r>
                  <a:rPr sz="2400" b="0">
                    <a:solidFill>
                      <a:srgbClr val="111827"/>
                    </a:solidFill>
                    <a:latin typeface="Arial"/>
                  </a:rPr>
                  <a:t>; the line </a:t>
                </a:r>
                <a:r>
                  <a:rPr lang="en-IN" sz="2400">
                    <a:solidFill>
                      <a:srgbClr val="111827"/>
                    </a:solidFill>
                    <a:latin typeface="Cambria Math" panose="02040503050406030204" pitchFamily="18" charset="0"/>
                  </a:rPr>
                  <a:t>$x+y=k$</a:t>
                </a:r>
                <a:r>
                  <a:rPr sz="2400" b="0">
                    <a:solidFill>
                      <a:srgbClr val="111827"/>
                    </a:solidFill>
                    <a:latin typeface="Arial"/>
                  </a:rPr>
                  <a:t> can be written </a:t>
                </a:r>
                <a:r>
                  <a:rPr lang="en-IN" sz="2400">
                    <a:solidFill>
                      <a:srgbClr val="111827"/>
                    </a:solidFill>
                    <a:latin typeface="Cambria Math" panose="02040503050406030204" pitchFamily="18" charset="0"/>
                  </a:rPr>
                  <a:t>$\frac{x+y}k=1$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Homogenise the curve using this: </a:t>
                </a:r>
                <a:r>
                  <a:rPr lang="en-IN" sz="2400">
                    <a:solidFill>
                      <a:srgbClr val="111827"/>
                    </a:solidFill>
                    <a:latin typeface="Cambria Math" panose="02040503050406030204" pitchFamily="18" charset="0"/>
                  </a:rPr>
                  <a:t>$x^2+y^2-4x\left(\frac{x+y}k\right)-6y\left(\frac{x+y}k\right)+6\left(\frac{x+y}k\right)^2=0$</a:t>
                </a:r>
                <a:r>
                  <a:rPr sz="2400" b="0">
                    <a:solidFill>
                      <a:srgbClr val="111827"/>
                    </a:solidFill>
                    <a:latin typeface="Arial"/>
                  </a:rPr>
                  <a:t>. This is the pair of lines </a:t>
                </a:r>
                <a:r>
                  <a:rPr lang="en-IN" sz="2400">
                    <a:solidFill>
                      <a:srgbClr val="111827"/>
                    </a:solidFill>
                    <a:latin typeface="Cambria Math" panose="02040503050406030204" pitchFamily="18" charset="0"/>
                  </a:rPr>
                  <a:t>$OA$</a:t>
                </a:r>
                <a:r>
                  <a:rPr sz="2400" b="0">
                    <a:solidFill>
                      <a:srgbClr val="111827"/>
                    </a:solidFill>
                    <a:latin typeface="Arial"/>
                  </a:rPr>
                  <a:t>, </a:t>
                </a:r>
                <a:r>
                  <a:rPr lang="en-IN" sz="2400">
                    <a:solidFill>
                      <a:srgbClr val="111827"/>
                    </a:solidFill>
                    <a:latin typeface="Cambria Math" panose="02040503050406030204" pitchFamily="18" charset="0"/>
                  </a:rPr>
                  <a:t>$OB$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Multiply by </a:t>
                </a:r>
                <a:r>
                  <a:rPr lang="en-IN" sz="2400">
                    <a:solidFill>
                      <a:srgbClr val="111827"/>
                    </a:solidFill>
                    <a:latin typeface="Cambria Math" panose="02040503050406030204" pitchFamily="18" charset="0"/>
                  </a:rPr>
                  <a:t>$k^2$</a:t>
                </a:r>
                <a:r>
                  <a:rPr sz="2400" b="0">
                    <a:solidFill>
                      <a:srgbClr val="111827"/>
                    </a:solidFill>
                    <a:latin typeface="Arial"/>
                  </a:rPr>
                  <a:t>: </a:t>
                </a:r>
                <a:r>
                  <a:rPr lang="en-IN" sz="2400">
                    <a:solidFill>
                      <a:srgbClr val="111827"/>
                    </a:solidFill>
                    <a:latin typeface="Cambria Math" panose="02040503050406030204" pitchFamily="18" charset="0"/>
                  </a:rPr>
                  <a:t>$k^2(x^2+y^2)-4kx(x+y)-6ky(x+y)+6(x+y)^2=0$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Collect terms: </a:t>
                </a:r>
                <a:r>
                  <a:rPr lang="en-IN" sz="2400">
                    <a:solidFill>
                      <a:srgbClr val="111827"/>
                    </a:solidFill>
                    <a:latin typeface="Cambria Math" panose="02040503050406030204" pitchFamily="18" charset="0"/>
                  </a:rPr>
                  <a:t>$(k^2-4k+6)x^2+(12-10k)xy+(k^2-6k+6)y^2=0$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lines are perpendicular iff the sum of the coefficients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is zero: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Solving,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Both values give two distinct points: the centre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radius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oMath>
                </a14:m>
                <a:r>
                  <a:rPr sz="2400" b="0">
                    <a:solidFill>
                      <a:srgbClr val="111827"/>
                    </a:solidFill>
                    <a:latin typeface="Arial"/>
                  </a:rPr>
                  <a:t>, and the distance from the centre to the line is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oMath>
                </a14:m>
                <a:r>
                  <a:rPr sz="2400" b="0">
                    <a:solidFill>
                      <a:srgbClr val="111827"/>
                    </a:solidFill>
                    <a:latin typeface="Arial"/>
                  </a:rPr>
                  <a:t>, which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oMath>
                </a14:m>
                <a:r>
                  <a:rPr sz="2400" b="0">
                    <a:solidFill>
                      <a:srgbClr val="111827"/>
                    </a:solidFill>
                    <a:latin typeface="Arial"/>
                  </a:rPr>
                  <a:t> or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oMath>
                </a14:m>
                <a:r>
                  <a:rPr sz="2400" b="0">
                    <a:solidFill>
                      <a:srgbClr val="111827"/>
                    </a:solidFill>
                    <a:latin typeface="Arial"/>
                  </a:rPr>
                  <a:t>, both less than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sum of all possible values of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lines are perpendicular iff the sum of the coefficients of </a:t>
                </a:r>
                <a:r>
                  <a:rPr lang="en-IN" sz="2400">
                    <a:solidFill>
                      <a:srgbClr val="111827"/>
                    </a:solidFill>
                    <a:latin typeface="Cambria Math" panose="02040503050406030204" pitchFamily="18" charset="0"/>
                  </a:rPr>
                  <a:t>$x^2$</a:t>
                </a:r>
                <a:r>
                  <a:rPr sz="2400" b="0">
                    <a:solidFill>
                      <a:srgbClr val="111827"/>
                    </a:solidFill>
                    <a:latin typeface="Arial"/>
                  </a:rPr>
                  <a:t> and </a:t>
                </a:r>
                <a:r>
                  <a:rPr lang="en-IN" sz="2400">
                    <a:solidFill>
                      <a:srgbClr val="111827"/>
                    </a:solidFill>
                    <a:latin typeface="Cambria Math" panose="02040503050406030204" pitchFamily="18" charset="0"/>
                  </a:rPr>
                  <a:t>$y^2$</a:t>
                </a:r>
                <a:r>
                  <a:rPr sz="2400" b="0">
                    <a:solidFill>
                      <a:srgbClr val="111827"/>
                    </a:solidFill>
                    <a:latin typeface="Arial"/>
                  </a:rPr>
                  <a:t> is zero: </a:t>
                </a:r>
                <a:r>
                  <a:rPr lang="en-IN" sz="2400">
                    <a:solidFill>
                      <a:srgbClr val="111827"/>
                    </a:solidFill>
                    <a:latin typeface="Cambria Math" panose="02040503050406030204" pitchFamily="18" charset="0"/>
                  </a:rPr>
                  <a:t>$(k^2-4k+6)+(k^2-6k+6)=0\Rightarrow2k^2-10k+12=0\Rightarrow k^2-5k+6=0$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Solving, </a:t>
                </a:r>
                <a:r>
                  <a:rPr lang="en-IN" sz="2400">
                    <a:solidFill>
                      <a:srgbClr val="111827"/>
                    </a:solidFill>
                    <a:latin typeface="Cambria Math" panose="02040503050406030204" pitchFamily="18" charset="0"/>
                  </a:rPr>
                  <a:t>$k=2$</a:t>
                </a:r>
                <a:r>
                  <a:rPr sz="2400" b="0">
                    <a:solidFill>
                      <a:srgbClr val="111827"/>
                    </a:solidFill>
                    <a:latin typeface="Arial"/>
                  </a:rPr>
                  <a:t> or </a:t>
                </a:r>
                <a:r>
                  <a:rPr lang="en-IN" sz="2400">
                    <a:solidFill>
                      <a:srgbClr val="111827"/>
                    </a:solidFill>
                    <a:latin typeface="Cambria Math" panose="02040503050406030204" pitchFamily="18" charset="0"/>
                  </a:rPr>
                  <a:t>$k=3$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Both values give two distinct points: the centre is </a:t>
                </a:r>
                <a:r>
                  <a:rPr lang="en-IN" sz="2400">
                    <a:solidFill>
                      <a:srgbClr val="111827"/>
                    </a:solidFill>
                    <a:latin typeface="Cambria Math" panose="02040503050406030204" pitchFamily="18" charset="0"/>
                  </a:rPr>
                  <a:t>$(2,3)$</a:t>
                </a:r>
                <a:r>
                  <a:rPr sz="2400" b="0">
                    <a:solidFill>
                      <a:srgbClr val="111827"/>
                    </a:solidFill>
                    <a:latin typeface="Arial"/>
                  </a:rPr>
                  <a:t>, radius </a:t>
                </a:r>
                <a:r>
                  <a:rPr lang="en-IN" sz="2400">
                    <a:solidFill>
                      <a:srgbClr val="111827"/>
                    </a:solidFill>
                    <a:latin typeface="Cambria Math" panose="02040503050406030204" pitchFamily="18" charset="0"/>
                  </a:rPr>
                  <a:t>$\sqrt7$</a:t>
                </a:r>
                <a:r>
                  <a:rPr sz="2400" b="0">
                    <a:solidFill>
                      <a:srgbClr val="111827"/>
                    </a:solidFill>
                    <a:latin typeface="Arial"/>
                  </a:rPr>
                  <a:t>, and the distance from the centre to the line is </a:t>
                </a:r>
                <a:r>
                  <a:rPr lang="en-IN" sz="2400">
                    <a:solidFill>
                      <a:srgbClr val="111827"/>
                    </a:solidFill>
                    <a:latin typeface="Cambria Math" panose="02040503050406030204" pitchFamily="18" charset="0"/>
                  </a:rPr>
                  <a:t>$\frac{|5-k|}{\sqrt2}$</a:t>
                </a:r>
                <a:r>
                  <a:rPr sz="2400" b="0">
                    <a:solidFill>
                      <a:srgbClr val="111827"/>
                    </a:solidFill>
                    <a:latin typeface="Arial"/>
                  </a:rPr>
                  <a:t>, which is </a:t>
                </a:r>
                <a:r>
                  <a:rPr lang="en-IN" sz="2400">
                    <a:solidFill>
                      <a:srgbClr val="111827"/>
                    </a:solidFill>
                    <a:latin typeface="Cambria Math" panose="02040503050406030204" pitchFamily="18" charset="0"/>
                  </a:rPr>
                  <a:t>$\frac3{\sqrt2}$</a:t>
                </a:r>
                <a:r>
                  <a:rPr sz="2400" b="0">
                    <a:solidFill>
                      <a:srgbClr val="111827"/>
                    </a:solidFill>
                    <a:latin typeface="Arial"/>
                  </a:rPr>
                  <a:t> or </a:t>
                </a:r>
                <a:r>
                  <a:rPr lang="en-IN" sz="2400">
                    <a:solidFill>
                      <a:srgbClr val="111827"/>
                    </a:solidFill>
                    <a:latin typeface="Cambria Math" panose="02040503050406030204" pitchFamily="18" charset="0"/>
                  </a:rPr>
                  <a:t>$\frac2{\sqrt2}$</a:t>
                </a:r>
                <a:r>
                  <a:rPr sz="2400" b="0">
                    <a:solidFill>
                      <a:srgbClr val="111827"/>
                    </a:solidFill>
                    <a:latin typeface="Arial"/>
                  </a:rPr>
                  <a:t>, both less than </a:t>
                </a:r>
                <a:r>
                  <a:rPr lang="en-IN" sz="2400">
                    <a:solidFill>
                      <a:srgbClr val="111827"/>
                    </a:solidFill>
                    <a:latin typeface="Cambria Math" panose="02040503050406030204" pitchFamily="18" charset="0"/>
                  </a:rPr>
                  <a:t>$\sqrt7$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sum of all possible values of </a:t>
                </a:r>
                <a:r>
                  <a:rPr lang="en-IN" sz="2400">
                    <a:solidFill>
                      <a:srgbClr val="111827"/>
                    </a:solidFill>
                    <a:latin typeface="Cambria Math" panose="02040503050406030204" pitchFamily="18" charset="0"/>
                  </a:rPr>
                  <a:t>$k$</a:t>
                </a:r>
                <a:r>
                  <a:rPr sz="2400" b="0">
                    <a:solidFill>
                      <a:srgbClr val="111827"/>
                    </a:solidFill>
                    <a:latin typeface="Arial"/>
                  </a:rPr>
                  <a:t> is </a:t>
                </a:r>
                <a:r>
                  <a:rPr lang="en-IN" sz="2400">
                    <a:solidFill>
                      <a:srgbClr val="111827"/>
                    </a:solidFill>
                    <a:latin typeface="Cambria Math" panose="02040503050406030204" pitchFamily="18" charset="0"/>
                  </a:rPr>
                  <a:t>$2+3=5$</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5</a:t>
            </a:r>
            <a:endParaRPr sz="2800">
              <a:solidFill>
                <a:srgbClr val="15803D"/>
              </a:solidFill>
            </a:endParaRP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𝑂</m:t>
                    </m:r>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90</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 means </a:t>
                </a:r>
                <a14:m>
                  <m:oMath xmlns:m="http://schemas.openxmlformats.org/officeDocument/2006/math">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𝐵</m:t>
                    </m:r>
                  </m:oMath>
                </a14:m>
                <a:r>
                  <a:rPr sz="2400" b="0">
                    <a:solidFill>
                      <a:srgbClr val="78350F"/>
                    </a:solidFill>
                    <a:latin typeface="Arial"/>
                  </a:rPr>
                  <a:t> is a diameter of a circle through </a:t>
                </a:r>
                <a14:m>
                  <m:oMath xmlns:m="http://schemas.openxmlformats.org/officeDocument/2006/math">
                    <m:r>
                      <a:rPr lang="en-IN" sz="2400" i="1">
                        <a:solidFill>
                          <a:srgbClr val="78350F"/>
                        </a:solidFill>
                        <a:latin typeface="Cambria Math" panose="02040503050406030204" pitchFamily="18" charset="0"/>
                      </a:rPr>
                      <m:t>𝑂</m:t>
                    </m:r>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𝐴</m:t>
                    </m:r>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𝐵</m:t>
                    </m:r>
                  </m:oMath>
                </a14:m>
                <a:r>
                  <a:rPr sz="2400" b="0">
                    <a:solidFill>
                      <a:srgbClr val="78350F"/>
                    </a:solidFill>
                    <a:latin typeface="Arial"/>
                  </a:rPr>
                  <a:t>: take the member of the family </a:t>
                </a:r>
                <a14:m>
                  <m:oMath xmlns:m="http://schemas.openxmlformats.org/officeDocument/2006/math">
                    <m:r>
                      <a:rPr lang="en-IN" sz="2400" i="1">
                        <a:solidFill>
                          <a:srgbClr val="78350F"/>
                        </a:solidFill>
                        <a:latin typeface="Cambria Math" panose="02040503050406030204" pitchFamily="18" charset="0"/>
                      </a:rPr>
                      <m:t>𝑆</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λ</m:t>
                    </m:r>
                    <m:r>
                      <a:rPr lang="en-IN" sz="2400" i="1">
                        <a:solidFill>
                          <a:srgbClr val="78350F"/>
                        </a:solidFill>
                        <a:latin typeface="Cambria Math" panose="02040503050406030204" pitchFamily="18" charset="0"/>
                      </a:rPr>
                      <m:t>𝐿</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 through the origin and demand its centre lie on </a:t>
                </a:r>
                <a14:m>
                  <m:oMath xmlns:m="http://schemas.openxmlformats.org/officeDocument/2006/math">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𝐵</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lang="en-IN" sz="2400">
                    <a:solidFill>
                      <a:srgbClr val="78350F"/>
                    </a:solidFill>
                    <a:latin typeface="Cambria Math" panose="02040503050406030204" pitchFamily="18" charset="0"/>
                  </a:rPr>
                  <a:t>$\angle AOB=90^\circ$</a:t>
                </a:r>
                <a:r>
                  <a:rPr sz="2400" b="0">
                    <a:solidFill>
                      <a:srgbClr val="78350F"/>
                    </a:solidFill>
                    <a:latin typeface="Arial"/>
                  </a:rPr>
                  <a:t> means </a:t>
                </a:r>
                <a:r>
                  <a:rPr lang="en-IN" sz="2400">
                    <a:solidFill>
                      <a:srgbClr val="78350F"/>
                    </a:solidFill>
                    <a:latin typeface="Cambria Math" panose="02040503050406030204" pitchFamily="18" charset="0"/>
                  </a:rPr>
                  <a:t>$AB$</a:t>
                </a:r>
                <a:r>
                  <a:rPr sz="2400" b="0">
                    <a:solidFill>
                      <a:srgbClr val="78350F"/>
                    </a:solidFill>
                    <a:latin typeface="Arial"/>
                  </a:rPr>
                  <a:t> is a diameter of a circle through </a:t>
                </a:r>
                <a:r>
                  <a:rPr lang="en-IN" sz="2400">
                    <a:solidFill>
                      <a:srgbClr val="78350F"/>
                    </a:solidFill>
                    <a:latin typeface="Cambria Math" panose="02040503050406030204" pitchFamily="18" charset="0"/>
                  </a:rPr>
                  <a:t>$O$</a:t>
                </a:r>
                <a:r>
                  <a:rPr sz="2400" b="0">
                    <a:solidFill>
                      <a:srgbClr val="78350F"/>
                    </a:solidFill>
                    <a:latin typeface="Arial"/>
                  </a:rPr>
                  <a:t>, </a:t>
                </a:r>
                <a:r>
                  <a:rPr lang="en-IN" sz="2400">
                    <a:solidFill>
                      <a:srgbClr val="78350F"/>
                    </a:solidFill>
                    <a:latin typeface="Cambria Math" panose="02040503050406030204" pitchFamily="18" charset="0"/>
                  </a:rPr>
                  <a:t>$A$</a:t>
                </a:r>
                <a:r>
                  <a:rPr sz="2400" b="0">
                    <a:solidFill>
                      <a:srgbClr val="78350F"/>
                    </a:solidFill>
                    <a:latin typeface="Arial"/>
                  </a:rPr>
                  <a:t>, </a:t>
                </a:r>
                <a:r>
                  <a:rPr lang="en-IN" sz="2400">
                    <a:solidFill>
                      <a:srgbClr val="78350F"/>
                    </a:solidFill>
                    <a:latin typeface="Cambria Math" panose="02040503050406030204" pitchFamily="18" charset="0"/>
                  </a:rPr>
                  <a:t>$B$</a:t>
                </a:r>
                <a:r>
                  <a:rPr sz="2400" b="0">
                    <a:solidFill>
                      <a:srgbClr val="78350F"/>
                    </a:solidFill>
                    <a:latin typeface="Arial"/>
                  </a:rPr>
                  <a:t>: take the member of the family </a:t>
                </a:r>
                <a:r>
                  <a:rPr lang="en-IN" sz="2400">
                    <a:solidFill>
                      <a:srgbClr val="78350F"/>
                    </a:solidFill>
                    <a:latin typeface="Cambria Math" panose="02040503050406030204" pitchFamily="18" charset="0"/>
                  </a:rPr>
                  <a:t>$S+\lambda L=0$</a:t>
                </a:r>
                <a:r>
                  <a:rPr sz="2400" b="0">
                    <a:solidFill>
                      <a:srgbClr val="78350F"/>
                    </a:solidFill>
                    <a:latin typeface="Arial"/>
                  </a:rPr>
                  <a:t> through the origin and demand its centre lie on </a:t>
                </a:r>
                <a:r>
                  <a:rPr lang="en-IN" sz="2400">
                    <a:solidFill>
                      <a:srgbClr val="78350F"/>
                    </a:solidFill>
                    <a:latin typeface="Cambria Math" panose="02040503050406030204" pitchFamily="18" charset="0"/>
                  </a:rPr>
                  <a:t>$AB$</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circles through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form the family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i.e.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It passes through the origin </a:t>
                </a:r>
                <a14:m>
                  <m:oMath xmlns:m="http://schemas.openxmlformats.org/officeDocument/2006/math">
                    <m:r>
                      <a:rPr lang="en-IN" sz="2400" i="1">
                        <a:solidFill>
                          <a:srgbClr val="111827"/>
                        </a:solidFill>
                        <a:latin typeface="Cambria Math" panose="02040503050406030204" pitchFamily="18" charset="0"/>
                      </a:rPr>
                      <m:t>𝑂</m:t>
                    </m:r>
                  </m:oMath>
                </a14:m>
                <a:r>
                  <a:rPr sz="2400" b="0">
                    <a:solidFill>
                      <a:srgbClr val="111827"/>
                    </a:solidFill>
                    <a:latin typeface="Arial"/>
                  </a:rPr>
                  <a:t> iff </a:t>
                </a:r>
                <a14:m>
                  <m:oMath xmlns:m="http://schemas.openxmlformats.org/officeDocument/2006/math">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𝑘</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circles through </a:t>
                </a:r>
                <a:r>
                  <a:rPr lang="en-IN" sz="2400">
                    <a:solidFill>
                      <a:srgbClr val="111827"/>
                    </a:solidFill>
                    <a:latin typeface="Cambria Math" panose="02040503050406030204" pitchFamily="18" charset="0"/>
                  </a:rPr>
                  <a:t>$A$</a:t>
                </a:r>
                <a:r>
                  <a:rPr sz="2400" b="0">
                    <a:solidFill>
                      <a:srgbClr val="111827"/>
                    </a:solidFill>
                    <a:latin typeface="Arial"/>
                  </a:rPr>
                  <a:t> and </a:t>
                </a:r>
                <a:r>
                  <a:rPr lang="en-IN" sz="2400">
                    <a:solidFill>
                      <a:srgbClr val="111827"/>
                    </a:solidFill>
                    <a:latin typeface="Cambria Math" panose="02040503050406030204" pitchFamily="18" charset="0"/>
                  </a:rPr>
                  <a:t>$B$</a:t>
                </a:r>
                <a:r>
                  <a:rPr sz="2400" b="0">
                    <a:solidFill>
                      <a:srgbClr val="111827"/>
                    </a:solidFill>
                    <a:latin typeface="Arial"/>
                  </a:rPr>
                  <a:t> form the family </a:t>
                </a:r>
                <a:r>
                  <a:rPr lang="en-IN" sz="2400">
                    <a:solidFill>
                      <a:srgbClr val="111827"/>
                    </a:solidFill>
                    <a:latin typeface="Cambria Math" panose="02040503050406030204" pitchFamily="18" charset="0"/>
                  </a:rPr>
                  <a:t>$x^2+y^2-4x-6y+6+\lambda(x+y-k)=0$</a:t>
                </a:r>
                <a:r>
                  <a:rPr sz="2400" b="0">
                    <a:solidFill>
                      <a:srgbClr val="111827"/>
                    </a:solidFill>
                    <a:latin typeface="Arial"/>
                  </a:rPr>
                  <a:t>, i.e. </a:t>
                </a:r>
                <a:r>
                  <a:rPr lang="en-IN" sz="2400">
                    <a:solidFill>
                      <a:srgbClr val="111827"/>
                    </a:solidFill>
                    <a:latin typeface="Cambria Math" panose="02040503050406030204" pitchFamily="18" charset="0"/>
                  </a:rPr>
                  <a:t>$x^2+y^2+(\lambda-4)x+(\lambda-6)y+6-\lambda k=0$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It passes through the origin </a:t>
                </a:r>
                <a:r>
                  <a:rPr lang="en-IN" sz="2400">
                    <a:solidFill>
                      <a:srgbClr val="111827"/>
                    </a:solidFill>
                    <a:latin typeface="Cambria Math" panose="02040503050406030204" pitchFamily="18" charset="0"/>
                  </a:rPr>
                  <a:t>$O$</a:t>
                </a:r>
                <a:r>
                  <a:rPr sz="2400" b="0">
                    <a:solidFill>
                      <a:srgbClr val="111827"/>
                    </a:solidFill>
                    <a:latin typeface="Arial"/>
                  </a:rPr>
                  <a:t> iff </a:t>
                </a:r>
                <a:r>
                  <a:rPr lang="en-IN" sz="2400">
                    <a:solidFill>
                      <a:srgbClr val="111827"/>
                    </a:solidFill>
                    <a:latin typeface="Cambria Math" panose="02040503050406030204" pitchFamily="18" charset="0"/>
                  </a:rPr>
                  <a:t>$6-\lambda k=0$</a:t>
                </a:r>
                <a:r>
                  <a:rPr sz="2400" b="0">
                    <a:solidFill>
                      <a:srgbClr val="111827"/>
                    </a:solidFill>
                    <a:latin typeface="Arial"/>
                  </a:rPr>
                  <a:t>, i.e. </a:t>
                </a:r>
                <a:r>
                  <a:rPr lang="en-IN" sz="2400">
                    <a:solidFill>
                      <a:srgbClr val="111827"/>
                    </a:solidFill>
                    <a:latin typeface="Cambria Math" panose="02040503050406030204" pitchFamily="18" charset="0"/>
                  </a:rPr>
                  <a:t>$\lambda=\frac6k$</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90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iff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 is a diameter of this circle, i.e. its centre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 lies on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Substituting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𝑘</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𝑘</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By Vieta the sum of the values is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(the line cuts the circle in two points for both).</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$\angle AOB=90^\circ$</a:t>
                </a:r>
                <a:r>
                  <a:rPr sz="2400" b="0">
                    <a:solidFill>
                      <a:srgbClr val="111827"/>
                    </a:solidFill>
                    <a:latin typeface="Arial"/>
                  </a:rPr>
                  <a:t> iff </a:t>
                </a:r>
                <a:r>
                  <a:rPr lang="en-IN" sz="2400">
                    <a:solidFill>
                      <a:srgbClr val="111827"/>
                    </a:solidFill>
                    <a:latin typeface="Cambria Math" panose="02040503050406030204" pitchFamily="18" charset="0"/>
                  </a:rPr>
                  <a:t>$AB$</a:t>
                </a:r>
                <a:r>
                  <a:rPr sz="2400" b="0">
                    <a:solidFill>
                      <a:srgbClr val="111827"/>
                    </a:solidFill>
                    <a:latin typeface="Arial"/>
                  </a:rPr>
                  <a:t> is a diameter of this circle, i.e. its centre </a:t>
                </a:r>
                <a:r>
                  <a:rPr lang="en-IN" sz="2400">
                    <a:solidFill>
                      <a:srgbClr val="111827"/>
                    </a:solidFill>
                    <a:latin typeface="Cambria Math" panose="02040503050406030204" pitchFamily="18" charset="0"/>
                  </a:rPr>
                  <a:t>$\left(\frac{4-\lambda}2,\frac{6-\lambda}2\right)$</a:t>
                </a:r>
                <a:r>
                  <a:rPr sz="2400" b="0">
                    <a:solidFill>
                      <a:srgbClr val="111827"/>
                    </a:solidFill>
                    <a:latin typeface="Arial"/>
                  </a:rPr>
                  <a:t> lies on </a:t>
                </a:r>
                <a:r>
                  <a:rPr lang="en-IN" sz="2400">
                    <a:solidFill>
                      <a:srgbClr val="111827"/>
                    </a:solidFill>
                    <a:latin typeface="Cambria Math" panose="02040503050406030204" pitchFamily="18" charset="0"/>
                  </a:rPr>
                  <a:t>$x+y=k$</a:t>
                </a:r>
                <a:r>
                  <a:rPr sz="2400" b="0">
                    <a:solidFill>
                      <a:srgbClr val="111827"/>
                    </a:solidFill>
                    <a:latin typeface="Arial"/>
                  </a:rPr>
                  <a:t>: </a:t>
                </a:r>
                <a:r>
                  <a:rPr lang="en-IN" sz="2400">
                    <a:solidFill>
                      <a:srgbClr val="111827"/>
                    </a:solidFill>
                    <a:latin typeface="Cambria Math" panose="02040503050406030204" pitchFamily="18" charset="0"/>
                  </a:rPr>
                  <a:t>$5-\lambda=k$</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Substituting </a:t>
                </a:r>
                <a:r>
                  <a:rPr lang="en-IN" sz="2400">
                    <a:solidFill>
                      <a:srgbClr val="111827"/>
                    </a:solidFill>
                    <a:latin typeface="Cambria Math" panose="02040503050406030204" pitchFamily="18" charset="0"/>
                  </a:rPr>
                  <a:t>$\lambda=\frac6k$</a:t>
                </a:r>
                <a:r>
                  <a:rPr sz="2400" b="0">
                    <a:solidFill>
                      <a:srgbClr val="111827"/>
                    </a:solidFill>
                    <a:latin typeface="Arial"/>
                  </a:rPr>
                  <a:t>: </a:t>
                </a:r>
                <a:r>
                  <a:rPr lang="en-IN" sz="2400">
                    <a:solidFill>
                      <a:srgbClr val="111827"/>
                    </a:solidFill>
                    <a:latin typeface="Cambria Math" panose="02040503050406030204" pitchFamily="18" charset="0"/>
                  </a:rPr>
                  <a:t>$5-\frac6k=k\Rightarrow k^2-5k+6=0$</a:t>
                </a:r>
                <a:r>
                  <a:rPr sz="2400" b="0">
                    <a:solidFill>
                      <a:srgbClr val="111827"/>
                    </a:solidFill>
                    <a:latin typeface="Arial"/>
                  </a:rPr>
                  <a:t>, so </a:t>
                </a:r>
                <a:r>
                  <a:rPr lang="en-IN" sz="2400">
                    <a:solidFill>
                      <a:srgbClr val="111827"/>
                    </a:solidFill>
                    <a:latin typeface="Cambria Math" panose="02040503050406030204" pitchFamily="18" charset="0"/>
                  </a:rPr>
                  <a:t>$k=2$</a:t>
                </a:r>
                <a:r>
                  <a:rPr sz="2400" b="0">
                    <a:solidFill>
                      <a:srgbClr val="111827"/>
                    </a:solidFill>
                    <a:latin typeface="Arial"/>
                  </a:rPr>
                  <a:t> or </a:t>
                </a:r>
                <a:r>
                  <a:rPr lang="en-IN" sz="2400">
                    <a:solidFill>
                      <a:srgbClr val="111827"/>
                    </a:solidFill>
                    <a:latin typeface="Cambria Math" panose="02040503050406030204" pitchFamily="18" charset="0"/>
                  </a:rPr>
                  <a:t>$3$</a:t>
                </a:r>
                <a:r>
                  <a:rPr sz="2400" b="0">
                    <a:solidFill>
                      <a:srgbClr val="111827"/>
                    </a:solidFill>
                    <a:latin typeface="Arial"/>
                  </a:rPr>
                  <a:t>. By Vieta the sum of the values is </a:t>
                </a:r>
                <a:r>
                  <a:rPr lang="en-IN" sz="2400">
                    <a:solidFill>
                      <a:srgbClr val="111827"/>
                    </a:solidFill>
                    <a:latin typeface="Cambria Math" panose="02040503050406030204" pitchFamily="18" charset="0"/>
                  </a:rPr>
                  <a:t>$5$</a:t>
                </a:r>
                <a:r>
                  <a:rPr sz="2400" b="0">
                    <a:solidFill>
                      <a:srgbClr val="111827"/>
                    </a:solidFill>
                    <a:latin typeface="Arial"/>
                  </a:rPr>
                  <a:t> (the line cuts the circle in two points for both).</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5</a:t>
            </a:r>
            <a:endParaRPr sz="2800">
              <a:solidFill>
                <a:srgbClr val="15803D"/>
              </a:solidFill>
            </a:endParaRP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joint equation of lines joining the origin to the intersections of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𝑙</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homogenised with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𝑙</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𝑛</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pair </a:t>
                </a:r>
                <a14:m>
                  <m:oMath xmlns:m="http://schemas.openxmlformats.org/officeDocument/2006/math">
                    <m:r>
                      <a:rPr lang="en-IN" sz="2400" i="1">
                        <a:solidFill>
                          <a:srgbClr val="111827"/>
                        </a:solidFill>
                        <a:latin typeface="Cambria Math" panose="02040503050406030204" pitchFamily="18" charset="0"/>
                      </a:rPr>
                      <m:t>𝑎</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ℎ</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has perpendicular lines iff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Right angle at the origin: the circle with diameter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 passes through </a:t>
                </a:r>
                <a14:m>
                  <m:oMath xmlns:m="http://schemas.openxmlformats.org/officeDocument/2006/math">
                    <m:r>
                      <a:rPr lang="en-IN" sz="2400" i="1">
                        <a:solidFill>
                          <a:srgbClr val="111827"/>
                        </a:solidFill>
                        <a:latin typeface="Cambria Math" panose="02040503050406030204" pitchFamily="18" charset="0"/>
                      </a:rPr>
                      <m:t>𝑂</m:t>
                    </m:r>
                  </m:oMath>
                </a14:m>
                <a:r>
                  <a:rPr sz="2400" b="0">
                    <a:solidFill>
                      <a:srgbClr val="111827"/>
                    </a:solidFill>
                    <a:latin typeface="Arial"/>
                  </a:rPr>
                  <a:t>; equivalently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line meets a circle in two distinct points iff its distance from the centre is less than the radius; check this for each root.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joint equation of lines joining the origin to the intersections of </a:t>
                </a:r>
                <a:r>
                  <a:rPr lang="en-IN" sz="2400">
                    <a:solidFill>
                      <a:srgbClr val="111827"/>
                    </a:solidFill>
                    <a:latin typeface="Cambria Math" panose="02040503050406030204" pitchFamily="18" charset="0"/>
                  </a:rPr>
                  <a:t>$S=0$</a:t>
                </a:r>
                <a:r>
                  <a:rPr sz="2400" b="0">
                    <a:solidFill>
                      <a:srgbClr val="111827"/>
                    </a:solidFill>
                    <a:latin typeface="Arial"/>
                  </a:rPr>
                  <a:t> and </a:t>
                </a:r>
                <a:r>
                  <a:rPr lang="en-IN" sz="2400">
                    <a:solidFill>
                      <a:srgbClr val="111827"/>
                    </a:solidFill>
                    <a:latin typeface="Cambria Math" panose="02040503050406030204" pitchFamily="18" charset="0"/>
                  </a:rPr>
                  <a:t>$lx+my=n$</a:t>
                </a:r>
                <a:r>
                  <a:rPr sz="2400" b="0">
                    <a:solidFill>
                      <a:srgbClr val="111827"/>
                    </a:solidFill>
                    <a:latin typeface="Arial"/>
                  </a:rPr>
                  <a:t> is </a:t>
                </a:r>
                <a:r>
                  <a:rPr lang="en-IN" sz="2400">
                    <a:solidFill>
                      <a:srgbClr val="111827"/>
                    </a:solidFill>
                    <a:latin typeface="Cambria Math" panose="02040503050406030204" pitchFamily="18" charset="0"/>
                  </a:rPr>
                  <a:t>$S$</a:t>
                </a:r>
                <a:r>
                  <a:rPr sz="2400" b="0">
                    <a:solidFill>
                      <a:srgbClr val="111827"/>
                    </a:solidFill>
                    <a:latin typeface="Arial"/>
                  </a:rPr>
                  <a:t> homogenised with </a:t>
                </a:r>
                <a:r>
                  <a:rPr lang="en-IN" sz="2400">
                    <a:solidFill>
                      <a:srgbClr val="111827"/>
                    </a:solidFill>
                    <a:latin typeface="Cambria Math" panose="02040503050406030204" pitchFamily="18" charset="0"/>
                  </a:rPr>
                  <a:t>$\frac{lx+my}n=1$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pair </a:t>
                </a:r>
                <a:r>
                  <a:rPr lang="en-IN" sz="2400">
                    <a:solidFill>
                      <a:srgbClr val="111827"/>
                    </a:solidFill>
                    <a:latin typeface="Cambria Math" panose="02040503050406030204" pitchFamily="18" charset="0"/>
                  </a:rPr>
                  <a:t>$ax^2+2hxy+by^2=0$</a:t>
                </a:r>
                <a:r>
                  <a:rPr sz="2400" b="0">
                    <a:solidFill>
                      <a:srgbClr val="111827"/>
                    </a:solidFill>
                    <a:latin typeface="Arial"/>
                  </a:rPr>
                  <a:t> has perpendicular lines iff </a:t>
                </a:r>
                <a:r>
                  <a:rPr lang="en-IN" sz="2400">
                    <a:solidFill>
                      <a:srgbClr val="111827"/>
                    </a:solidFill>
                    <a:latin typeface="Cambria Math" panose="02040503050406030204" pitchFamily="18" charset="0"/>
                  </a:rPr>
                  <a:t>$a+b=0$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Right angle at the origin: the circle with diameter </a:t>
                </a:r>
                <a:r>
                  <a:rPr lang="en-IN" sz="2400">
                    <a:solidFill>
                      <a:srgbClr val="111827"/>
                    </a:solidFill>
                    <a:latin typeface="Cambria Math" panose="02040503050406030204" pitchFamily="18" charset="0"/>
                  </a:rPr>
                  <a:t>$AB$</a:t>
                </a:r>
                <a:r>
                  <a:rPr sz="2400" b="0">
                    <a:solidFill>
                      <a:srgbClr val="111827"/>
                    </a:solidFill>
                    <a:latin typeface="Arial"/>
                  </a:rPr>
                  <a:t> passes through </a:t>
                </a:r>
                <a:r>
                  <a:rPr lang="en-IN" sz="2400">
                    <a:solidFill>
                      <a:srgbClr val="111827"/>
                    </a:solidFill>
                    <a:latin typeface="Cambria Math" panose="02040503050406030204" pitchFamily="18" charset="0"/>
                  </a:rPr>
                  <a:t>$O$</a:t>
                </a:r>
                <a:r>
                  <a:rPr sz="2400" b="0">
                    <a:solidFill>
                      <a:srgbClr val="111827"/>
                    </a:solidFill>
                    <a:latin typeface="Arial"/>
                  </a:rPr>
                  <a:t>; equivalently </a:t>
                </a:r>
                <a:r>
                  <a:rPr lang="en-IN" sz="2400">
                    <a:solidFill>
                      <a:srgbClr val="111827"/>
                    </a:solidFill>
                    <a:latin typeface="Cambria Math" panose="02040503050406030204" pitchFamily="18" charset="0"/>
                  </a:rPr>
                  <a:t>$x_1x_2+y_1y_2=0$</a:t>
                </a:r>
                <a:r>
                  <a:rPr sz="2400" b="0">
                    <a:solidFill>
                      <a:srgbClr val="111827"/>
                    </a:solidFill>
                    <a:latin typeface="Arial"/>
                  </a:rPr>
                  <a:t> for </a:t>
                </a:r>
                <a:r>
                  <a:rPr lang="en-IN" sz="2400">
                    <a:solidFill>
                      <a:srgbClr val="111827"/>
                    </a:solidFill>
                    <a:latin typeface="Cambria Math" panose="02040503050406030204" pitchFamily="18" charset="0"/>
                  </a:rPr>
                  <a:t>$A(x_1,y_1)$</a:t>
                </a:r>
                <a:r>
                  <a:rPr sz="2400" b="0">
                    <a:solidFill>
                      <a:srgbClr val="111827"/>
                    </a:solidFill>
                    <a:latin typeface="Arial"/>
                  </a:rPr>
                  <a:t>, </a:t>
                </a:r>
                <a:r>
                  <a:rPr lang="en-IN" sz="2400">
                    <a:solidFill>
                      <a:srgbClr val="111827"/>
                    </a:solidFill>
                    <a:latin typeface="Cambria Math" panose="02040503050406030204" pitchFamily="18" charset="0"/>
                  </a:rPr>
                  <a:t>$B(x_2,y_2)$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line meets a circle in two distinct points iff its distance from the centre is less than the radius; check this for each root.</a:t>
                </a:r>
                <a:endParaRPr sz="2400">
                  <a:solidFill>
                    <a:srgbClr val="111827"/>
                  </a:solidFill>
                </a:endParaRPr>
              </a:p>
            </p:txBody>
          </p:sp>
        </mc:Fallback>
      </mc:AlternateContent>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123692"/>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Three urns </a:t>
                </a:r>
                <a14:m>
                  <m:oMath xmlns:m="http://schemas.openxmlformats.org/officeDocument/2006/math">
                    <m:sSub>
                      <m:e>
                        <m:r>
                          <a:rPr lang="en-IN" sz="2400" i="1">
                            <a:solidFill>
                              <a:srgbClr val="111827"/>
                            </a:solidFill>
                            <a:latin typeface="Cambria Math" panose="02040503050406030204" pitchFamily="18" charset="0"/>
                          </a:rPr>
                          <m:t>𝑈</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𝑈</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𝑈</m:t>
                        </m:r>
                      </m:e>
                      <m:sub>
                        <m:r>
                          <a:rPr lang="en-IN" sz="2400" i="1">
                            <a:solidFill>
                              <a:srgbClr val="111827"/>
                            </a:solidFill>
                            <a:latin typeface="Cambria Math" panose="02040503050406030204" pitchFamily="18" charset="0"/>
                          </a:rPr>
                          <m:t>3</m:t>
                        </m:r>
                      </m:sub>
                    </m:sSub>
                  </m:oMath>
                </a14:m>
                <a:r>
                  <a:rPr sz="2400" b="0">
                    <a:solidFill>
                      <a:srgbClr val="111827"/>
                    </a:solidFill>
                    <a:latin typeface="Arial"/>
                  </a:rPr>
                  <a:t> contain balls as follows: Urn </a:t>
                </a:r>
                <a14:m>
                  <m:oMath xmlns:m="http://schemas.openxmlformats.org/officeDocument/2006/math">
                    <m:sSub>
                      <m:e>
                        <m:r>
                          <a:rPr lang="en-IN" sz="2400" i="1">
                            <a:solidFill>
                              <a:srgbClr val="111827"/>
                            </a:solidFill>
                            <a:latin typeface="Cambria Math" panose="02040503050406030204" pitchFamily="18" charset="0"/>
                          </a:rPr>
                          <m:t>𝑈</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contains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white and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black balls, Urn </a:t>
                </a:r>
                <a14:m>
                  <m:oMath xmlns:m="http://schemas.openxmlformats.org/officeDocument/2006/math">
                    <m:sSub>
                      <m:e>
                        <m:r>
                          <a:rPr lang="en-IN" sz="2400" i="1">
                            <a:solidFill>
                              <a:srgbClr val="111827"/>
                            </a:solidFill>
                            <a:latin typeface="Cambria Math" panose="02040503050406030204" pitchFamily="18" charset="0"/>
                          </a:rPr>
                          <m:t>𝑈</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contains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white and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black balls, and Urn </a:t>
                </a:r>
                <a14:m>
                  <m:oMath xmlns:m="http://schemas.openxmlformats.org/officeDocument/2006/math">
                    <m:sSub>
                      <m:e>
                        <m:r>
                          <a:rPr lang="en-IN" sz="2400" i="1">
                            <a:solidFill>
                              <a:srgbClr val="111827"/>
                            </a:solidFill>
                            <a:latin typeface="Cambria Math" panose="02040503050406030204" pitchFamily="18" charset="0"/>
                          </a:rPr>
                          <m:t>𝑈</m:t>
                        </m:r>
                      </m:e>
                      <m:sub>
                        <m:r>
                          <a:rPr lang="en-IN" sz="2400" i="1">
                            <a:solidFill>
                              <a:srgbClr val="111827"/>
                            </a:solidFill>
                            <a:latin typeface="Cambria Math" panose="02040503050406030204" pitchFamily="18" charset="0"/>
                          </a:rPr>
                          <m:t>3</m:t>
                        </m:r>
                      </m:sub>
                    </m:sSub>
                  </m:oMath>
                </a14:m>
                <a:r>
                  <a:rPr sz="2400" b="0">
                    <a:solidFill>
                      <a:srgbClr val="111827"/>
                    </a:solidFill>
                    <a:latin typeface="Arial"/>
                  </a:rPr>
                  <a:t> contains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white and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black ball. One urn is chosen at random and two balls are drawn from it at random without replacement. If both the drawn balls are found to be white, then the probability that they were drawn from Urn </a:t>
                </a:r>
                <a14:m>
                  <m:oMath xmlns:m="http://schemas.openxmlformats.org/officeDocument/2006/math">
                    <m:sSub>
                      <m:e>
                        <m:r>
                          <a:rPr lang="en-IN" sz="2400" i="1">
                            <a:solidFill>
                              <a:srgbClr val="111827"/>
                            </a:solidFill>
                            <a:latin typeface="Cambria Math" panose="02040503050406030204" pitchFamily="18" charset="0"/>
                          </a:rPr>
                          <m:t>𝑈</m:t>
                        </m:r>
                      </m:e>
                      <m:sub>
                        <m:r>
                          <a:rPr lang="en-IN" sz="2400" i="1">
                            <a:solidFill>
                              <a:srgbClr val="111827"/>
                            </a:solidFill>
                            <a:latin typeface="Cambria Math" panose="02040503050406030204" pitchFamily="18" charset="0"/>
                          </a:rPr>
                          <m:t>3</m:t>
                        </m:r>
                      </m:sub>
                    </m:sSub>
                  </m:oMath>
                </a14:m>
                <a:r>
                  <a:rPr sz="2400" b="0">
                    <a:solidFill>
                      <a:srgbClr val="111827"/>
                    </a:solidFill>
                    <a:latin typeface="Arial"/>
                  </a:rPr>
                  <a:t> is</a:t>
                </a:r>
                <a:endParaRPr sz="2400">
                  <a:solidFill>
                    <a:srgbClr val="111827"/>
                  </a:solidFill>
                </a:endParaRPr>
              </a:p>
            </p:txBody>
          </p:sp>
        </mc:Choice>
        <mc:Fallback>
          <p:sp>
            <p:nvSpPr>
              <p:cNvPr id="4" name="Rounded Rectangle 3"/>
              <p:cNvSpPr/>
              <p:nvPr/>
            </p:nvSpPr>
            <p:spPr>
              <a:xfrm>
                <a:off x="731520" y="1280160"/>
                <a:ext cx="10725912" cy="3123692"/>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Three urns </a:t>
                </a:r>
                <a:r>
                  <a:rPr lang="en-IN" sz="2400">
                    <a:solidFill>
                      <a:srgbClr val="111827"/>
                    </a:solidFill>
                    <a:latin typeface="Cambria Math" panose="02040503050406030204" pitchFamily="18" charset="0"/>
                  </a:rPr>
                  <a:t>$U_1$</a:t>
                </a:r>
                <a:r>
                  <a:rPr sz="2400" b="0">
                    <a:solidFill>
                      <a:srgbClr val="111827"/>
                    </a:solidFill>
                    <a:latin typeface="Arial"/>
                  </a:rPr>
                  <a:t>, </a:t>
                </a:r>
                <a:r>
                  <a:rPr lang="en-IN" sz="2400">
                    <a:solidFill>
                      <a:srgbClr val="111827"/>
                    </a:solidFill>
                    <a:latin typeface="Cambria Math" panose="02040503050406030204" pitchFamily="18" charset="0"/>
                  </a:rPr>
                  <a:t>$U_2$</a:t>
                </a:r>
                <a:r>
                  <a:rPr sz="2400" b="0">
                    <a:solidFill>
                      <a:srgbClr val="111827"/>
                    </a:solidFill>
                    <a:latin typeface="Arial"/>
                  </a:rPr>
                  <a:t> and </a:t>
                </a:r>
                <a:r>
                  <a:rPr lang="en-IN" sz="2400">
                    <a:solidFill>
                      <a:srgbClr val="111827"/>
                    </a:solidFill>
                    <a:latin typeface="Cambria Math" panose="02040503050406030204" pitchFamily="18" charset="0"/>
                  </a:rPr>
                  <a:t>$U_3$</a:t>
                </a:r>
                <a:r>
                  <a:rPr sz="2400" b="0">
                    <a:solidFill>
                      <a:srgbClr val="111827"/>
                    </a:solidFill>
                    <a:latin typeface="Arial"/>
                  </a:rPr>
                  <a:t> contain balls as follows: Urn </a:t>
                </a:r>
                <a:r>
                  <a:rPr lang="en-IN" sz="2400">
                    <a:solidFill>
                      <a:srgbClr val="111827"/>
                    </a:solidFill>
                    <a:latin typeface="Cambria Math" panose="02040503050406030204" pitchFamily="18" charset="0"/>
                  </a:rPr>
                  <a:t>$U_1$</a:t>
                </a:r>
                <a:r>
                  <a:rPr sz="2400" b="0">
                    <a:solidFill>
                      <a:srgbClr val="111827"/>
                    </a:solidFill>
                    <a:latin typeface="Arial"/>
                  </a:rPr>
                  <a:t> contains </a:t>
                </a:r>
                <a:r>
                  <a:rPr lang="en-IN" sz="2400">
                    <a:solidFill>
                      <a:srgbClr val="111827"/>
                    </a:solidFill>
                    <a:latin typeface="Cambria Math" panose="02040503050406030204" pitchFamily="18" charset="0"/>
                  </a:rPr>
                  <a:t>$2$</a:t>
                </a:r>
                <a:r>
                  <a:rPr sz="2400" b="0">
                    <a:solidFill>
                      <a:srgbClr val="111827"/>
                    </a:solidFill>
                    <a:latin typeface="Arial"/>
                  </a:rPr>
                  <a:t> white and </a:t>
                </a:r>
                <a:r>
                  <a:rPr lang="en-IN" sz="2400">
                    <a:solidFill>
                      <a:srgbClr val="111827"/>
                    </a:solidFill>
                    <a:latin typeface="Cambria Math" panose="02040503050406030204" pitchFamily="18" charset="0"/>
                  </a:rPr>
                  <a:t>$3$</a:t>
                </a:r>
                <a:r>
                  <a:rPr sz="2400" b="0">
                    <a:solidFill>
                      <a:srgbClr val="111827"/>
                    </a:solidFill>
                    <a:latin typeface="Arial"/>
                  </a:rPr>
                  <a:t> black balls, Urn </a:t>
                </a:r>
                <a:r>
                  <a:rPr lang="en-IN" sz="2400">
                    <a:solidFill>
                      <a:srgbClr val="111827"/>
                    </a:solidFill>
                    <a:latin typeface="Cambria Math" panose="02040503050406030204" pitchFamily="18" charset="0"/>
                  </a:rPr>
                  <a:t>$U_2$</a:t>
                </a:r>
                <a:r>
                  <a:rPr sz="2400" b="0">
                    <a:solidFill>
                      <a:srgbClr val="111827"/>
                    </a:solidFill>
                    <a:latin typeface="Arial"/>
                  </a:rPr>
                  <a:t> contains </a:t>
                </a:r>
                <a:r>
                  <a:rPr lang="en-IN" sz="2400">
                    <a:solidFill>
                      <a:srgbClr val="111827"/>
                    </a:solidFill>
                    <a:latin typeface="Cambria Math" panose="02040503050406030204" pitchFamily="18" charset="0"/>
                  </a:rPr>
                  <a:t>$3$</a:t>
                </a:r>
                <a:r>
                  <a:rPr sz="2400" b="0">
                    <a:solidFill>
                      <a:srgbClr val="111827"/>
                    </a:solidFill>
                    <a:latin typeface="Arial"/>
                  </a:rPr>
                  <a:t> white and </a:t>
                </a:r>
                <a:r>
                  <a:rPr lang="en-IN" sz="2400">
                    <a:solidFill>
                      <a:srgbClr val="111827"/>
                    </a:solidFill>
                    <a:latin typeface="Cambria Math" panose="02040503050406030204" pitchFamily="18" charset="0"/>
                  </a:rPr>
                  <a:t>$2$</a:t>
                </a:r>
                <a:r>
                  <a:rPr sz="2400" b="0">
                    <a:solidFill>
                      <a:srgbClr val="111827"/>
                    </a:solidFill>
                    <a:latin typeface="Arial"/>
                  </a:rPr>
                  <a:t> black balls, and Urn </a:t>
                </a:r>
                <a:r>
                  <a:rPr lang="en-IN" sz="2400">
                    <a:solidFill>
                      <a:srgbClr val="111827"/>
                    </a:solidFill>
                    <a:latin typeface="Cambria Math" panose="02040503050406030204" pitchFamily="18" charset="0"/>
                  </a:rPr>
                  <a:t>$U_3$</a:t>
                </a:r>
                <a:r>
                  <a:rPr sz="2400" b="0">
                    <a:solidFill>
                      <a:srgbClr val="111827"/>
                    </a:solidFill>
                    <a:latin typeface="Arial"/>
                  </a:rPr>
                  <a:t> contains </a:t>
                </a:r>
                <a:r>
                  <a:rPr lang="en-IN" sz="2400">
                    <a:solidFill>
                      <a:srgbClr val="111827"/>
                    </a:solidFill>
                    <a:latin typeface="Cambria Math" panose="02040503050406030204" pitchFamily="18" charset="0"/>
                  </a:rPr>
                  <a:t>$4$</a:t>
                </a:r>
                <a:r>
                  <a:rPr sz="2400" b="0">
                    <a:solidFill>
                      <a:srgbClr val="111827"/>
                    </a:solidFill>
                    <a:latin typeface="Arial"/>
                  </a:rPr>
                  <a:t> white and </a:t>
                </a:r>
                <a:r>
                  <a:rPr lang="en-IN" sz="2400">
                    <a:solidFill>
                      <a:srgbClr val="111827"/>
                    </a:solidFill>
                    <a:latin typeface="Cambria Math" panose="02040503050406030204" pitchFamily="18" charset="0"/>
                  </a:rPr>
                  <a:t>$1$</a:t>
                </a:r>
                <a:r>
                  <a:rPr sz="2400" b="0">
                    <a:solidFill>
                      <a:srgbClr val="111827"/>
                    </a:solidFill>
                    <a:latin typeface="Arial"/>
                  </a:rPr>
                  <a:t> black ball. One urn is chosen at random and two balls are drawn from it at random without replacement. If both the drawn balls are found to be white, then the probability that they were drawn from Urn </a:t>
                </a:r>
                <a:r>
                  <a:rPr lang="en-IN" sz="2400">
                    <a:solidFill>
                      <a:srgbClr val="111827"/>
                    </a:solidFill>
                    <a:latin typeface="Cambria Math" panose="02040503050406030204" pitchFamily="18" charset="0"/>
                  </a:rPr>
                  <a:t>$U_3$</a:t>
                </a:r>
                <a:r>
                  <a:rPr sz="2400" b="0">
                    <a:solidFill>
                      <a:srgbClr val="111827"/>
                    </a:solidFill>
                    <a:latin typeface="Arial"/>
                  </a:rPr>
                  <a:t> is</a:t>
                </a:r>
                <a:endParaRPr sz="2400">
                  <a:solidFill>
                    <a:srgbClr val="111827"/>
                  </a:solidFill>
                </a:endParaRPr>
              </a:p>
            </p:txBody>
          </p:sp>
        </mc:Fallback>
      </mc:AlternateContent>
      <p:sp>
        <p:nvSpPr>
          <p:cNvPr id="5" name="Rectangle 4"/>
          <p:cNvSpPr/>
          <p:nvPr/>
        </p:nvSpPr>
        <p:spPr>
          <a:xfrm>
            <a:off x="731520" y="4632452"/>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Bayes' theorem</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Equal priors and equal urn sizes make the posterior proportional to </a:t>
                </a:r>
                <a14:m>
                  <m:oMath xmlns:m="http://schemas.openxmlformats.org/officeDocument/2006/math">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𝑤</m:t>
                            </m:r>
                          </m:num>
                          <m:den>
                            <m:r>
                              <a:rPr lang="en-IN" sz="2400" i="1">
                                <a:solidFill>
                                  <a:srgbClr val="78350F"/>
                                </a:solidFill>
                                <a:latin typeface="Cambria Math" panose="02040503050406030204" pitchFamily="18" charset="0"/>
                              </a:rPr>
                              <m:t>2</m:t>
                            </m:r>
                          </m:den>
                        </m:f>
                      </m:e>
                    </m:d>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6</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Equal priors and equal urn sizes make the posterior proportional to </a:t>
                </a:r>
                <a:r>
                  <a:rPr lang="en-IN" sz="2400">
                    <a:solidFill>
                      <a:srgbClr val="78350F"/>
                    </a:solidFill>
                    <a:latin typeface="Cambria Math" panose="02040503050406030204" pitchFamily="18" charset="0"/>
                  </a:rPr>
                  <a:t>$\binom{w}2$</a:t>
                </a:r>
                <a:r>
                  <a:rPr sz="2400" b="0">
                    <a:solidFill>
                      <a:srgbClr val="78350F"/>
                    </a:solidFill>
                    <a:latin typeface="Arial"/>
                  </a:rPr>
                  <a:t>: </a:t>
                </a:r>
                <a:r>
                  <a:rPr lang="en-IN" sz="2400">
                    <a:solidFill>
                      <a:srgbClr val="78350F"/>
                    </a:solidFill>
                    <a:latin typeface="Cambria Math" panose="02040503050406030204" pitchFamily="18" charset="0"/>
                  </a:rPr>
                  <a:t>$1:3:6$</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sSub>
                      <m:e>
                        <m:r>
                          <a:rPr lang="en-IN" sz="2400" i="1">
                            <a:solidFill>
                              <a:srgbClr val="111827"/>
                            </a:solidFill>
                            <a:latin typeface="Cambria Math" panose="02040503050406030204" pitchFamily="18" charset="0"/>
                          </a:rPr>
                          <m:t>𝐸</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𝐸</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𝐸</m:t>
                        </m:r>
                      </m:e>
                      <m:sub>
                        <m:r>
                          <a:rPr lang="en-IN" sz="2400" i="1">
                            <a:solidFill>
                              <a:srgbClr val="111827"/>
                            </a:solidFill>
                            <a:latin typeface="Cambria Math" panose="02040503050406030204" pitchFamily="18" charset="0"/>
                          </a:rPr>
                          <m:t>3</m:t>
                        </m:r>
                      </m:sub>
                    </m:sSub>
                  </m:oMath>
                </a14:m>
                <a:r>
                  <a:rPr sz="2400" b="0">
                    <a:solidFill>
                      <a:srgbClr val="111827"/>
                    </a:solidFill>
                    <a:latin typeface="Arial"/>
                  </a:rPr>
                  <a:t> be the events of selecting urns </a:t>
                </a:r>
                <a14:m>
                  <m:oMath xmlns:m="http://schemas.openxmlformats.org/officeDocument/2006/math">
                    <m:sSub>
                      <m:e>
                        <m:r>
                          <a:rPr lang="en-IN" sz="2400" i="1">
                            <a:solidFill>
                              <a:srgbClr val="111827"/>
                            </a:solidFill>
                            <a:latin typeface="Cambria Math" panose="02040503050406030204" pitchFamily="18" charset="0"/>
                          </a:rPr>
                          <m:t>𝑈</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𝑈</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𝑈</m:t>
                        </m:r>
                      </m:e>
                      <m:sub>
                        <m:r>
                          <a:rPr lang="en-IN" sz="2400" i="1">
                            <a:solidFill>
                              <a:srgbClr val="111827"/>
                            </a:solidFill>
                            <a:latin typeface="Cambria Math" panose="02040503050406030204" pitchFamily="18" charset="0"/>
                          </a:rPr>
                          <m:t>3</m:t>
                        </m:r>
                      </m:sub>
                    </m:sSub>
                  </m:oMath>
                </a14:m>
                <a:r>
                  <a:rPr sz="2400" b="0">
                    <a:solidFill>
                      <a:srgbClr val="111827"/>
                    </a:solidFill>
                    <a:latin typeface="Arial"/>
                  </a:rPr>
                  <a:t>. Since the urn is chosen at random,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𝐸</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𝐸</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𝐸</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𝑊</m:t>
                    </m:r>
                  </m:oMath>
                </a14:m>
                <a:r>
                  <a:rPr sz="2400" b="0">
                    <a:solidFill>
                      <a:srgbClr val="111827"/>
                    </a:solidFill>
                    <a:latin typeface="Arial"/>
                  </a:rPr>
                  <a:t> be the event of drawing two white balls. From </a:t>
                </a:r>
                <a14:m>
                  <m:oMath xmlns:m="http://schemas.openxmlformats.org/officeDocument/2006/math">
                    <m:sSub>
                      <m:e>
                        <m:r>
                          <a:rPr lang="en-IN" sz="2400" i="1">
                            <a:solidFill>
                              <a:srgbClr val="111827"/>
                            </a:solidFill>
                            <a:latin typeface="Cambria Math" panose="02040503050406030204" pitchFamily="18" charset="0"/>
                          </a:rPr>
                          <m:t>𝑈</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𝑊</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𝐸</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2</m:t>
                                </m:r>
                              </m:den>
                            </m:f>
                          </m:e>
                        </m:d>
                      </m:num>
                      <m:den>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2</m:t>
                                </m:r>
                              </m:den>
                            </m:f>
                          </m:e>
                        </m: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10</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From </a:t>
                </a:r>
                <a14:m>
                  <m:oMath xmlns:m="http://schemas.openxmlformats.org/officeDocument/2006/math">
                    <m:sSub>
                      <m:e>
                        <m:r>
                          <a:rPr lang="en-IN" sz="2400" i="1">
                            <a:solidFill>
                              <a:srgbClr val="111827"/>
                            </a:solidFill>
                            <a:latin typeface="Cambria Math" panose="02040503050406030204" pitchFamily="18" charset="0"/>
                          </a:rPr>
                          <m:t>𝑈</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𝑊</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𝐸</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e>
                        </m:d>
                      </m:num>
                      <m:den>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2</m:t>
                                </m:r>
                              </m:den>
                            </m:f>
                          </m:e>
                        </m: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10</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From </a:t>
                </a:r>
                <a14:m>
                  <m:oMath xmlns:m="http://schemas.openxmlformats.org/officeDocument/2006/math">
                    <m:sSub>
                      <m:e>
                        <m:r>
                          <a:rPr lang="en-IN" sz="2400" i="1">
                            <a:solidFill>
                              <a:srgbClr val="111827"/>
                            </a:solidFill>
                            <a:latin typeface="Cambria Math" panose="02040503050406030204" pitchFamily="18" charset="0"/>
                          </a:rPr>
                          <m:t>𝑈</m:t>
                        </m:r>
                      </m:e>
                      <m:sub>
                        <m:r>
                          <a:rPr lang="en-IN" sz="2400" i="1">
                            <a:solidFill>
                              <a:srgbClr val="111827"/>
                            </a:solidFill>
                            <a:latin typeface="Cambria Math" panose="02040503050406030204" pitchFamily="18" charset="0"/>
                          </a:rPr>
                          <m:t>3</m:t>
                        </m:r>
                      </m:sub>
                    </m:sSub>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𝑊</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𝐸</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2</m:t>
                                </m:r>
                              </m:den>
                            </m:f>
                          </m:e>
                        </m:d>
                      </m:num>
                      <m:den>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2</m:t>
                                </m:r>
                              </m:den>
                            </m:f>
                          </m:e>
                        </m: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10</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$E_1,E_2,E_3$</a:t>
                </a:r>
                <a:r>
                  <a:rPr sz="2400" b="0">
                    <a:solidFill>
                      <a:srgbClr val="111827"/>
                    </a:solidFill>
                    <a:latin typeface="Arial"/>
                  </a:rPr>
                  <a:t> be the events of selecting urns </a:t>
                </a:r>
                <a:r>
                  <a:rPr lang="en-IN" sz="2400">
                    <a:solidFill>
                      <a:srgbClr val="111827"/>
                    </a:solidFill>
                    <a:latin typeface="Cambria Math" panose="02040503050406030204" pitchFamily="18" charset="0"/>
                  </a:rPr>
                  <a:t>$U_1,U_2,U_3$</a:t>
                </a:r>
                <a:r>
                  <a:rPr sz="2400" b="0">
                    <a:solidFill>
                      <a:srgbClr val="111827"/>
                    </a:solidFill>
                    <a:latin typeface="Arial"/>
                  </a:rPr>
                  <a:t>. Since the urn is chosen at random, </a:t>
                </a:r>
                <a:r>
                  <a:rPr lang="en-IN" sz="2400">
                    <a:solidFill>
                      <a:srgbClr val="111827"/>
                    </a:solidFill>
                    <a:latin typeface="Cambria Math" panose="02040503050406030204" pitchFamily="18" charset="0"/>
                  </a:rPr>
                  <a:t>$P(E_1)=P(E_2)=P(E_3)=\frac13$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$W$</a:t>
                </a:r>
                <a:r>
                  <a:rPr sz="2400" b="0">
                    <a:solidFill>
                      <a:srgbClr val="111827"/>
                    </a:solidFill>
                    <a:latin typeface="Arial"/>
                  </a:rPr>
                  <a:t> be the event of drawing two white balls. From </a:t>
                </a:r>
                <a:r>
                  <a:rPr lang="en-IN" sz="2400">
                    <a:solidFill>
                      <a:srgbClr val="111827"/>
                    </a:solidFill>
                    <a:latin typeface="Cambria Math" panose="02040503050406030204" pitchFamily="18" charset="0"/>
                  </a:rPr>
                  <a:t>$U_1$</a:t>
                </a:r>
                <a:r>
                  <a:rPr sz="2400" b="0">
                    <a:solidFill>
                      <a:srgbClr val="111827"/>
                    </a:solidFill>
                    <a:latin typeface="Arial"/>
                  </a:rPr>
                  <a:t>: </a:t>
                </a:r>
                <a:r>
                  <a:rPr lang="en-IN" sz="2400">
                    <a:solidFill>
                      <a:srgbClr val="111827"/>
                    </a:solidFill>
                    <a:latin typeface="Cambria Math" panose="02040503050406030204" pitchFamily="18" charset="0"/>
                  </a:rPr>
                  <a:t>$P(W|E_1)=\frac{\binom22}{\binom52}=\frac1{10}$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From </a:t>
                </a:r>
                <a:r>
                  <a:rPr lang="en-IN" sz="2400">
                    <a:solidFill>
                      <a:srgbClr val="111827"/>
                    </a:solidFill>
                    <a:latin typeface="Cambria Math" panose="02040503050406030204" pitchFamily="18" charset="0"/>
                  </a:rPr>
                  <a:t>$U_2$</a:t>
                </a:r>
                <a:r>
                  <a:rPr sz="2400" b="0">
                    <a:solidFill>
                      <a:srgbClr val="111827"/>
                    </a:solidFill>
                    <a:latin typeface="Arial"/>
                  </a:rPr>
                  <a:t>: </a:t>
                </a:r>
                <a:r>
                  <a:rPr lang="en-IN" sz="2400">
                    <a:solidFill>
                      <a:srgbClr val="111827"/>
                    </a:solidFill>
                    <a:latin typeface="Cambria Math" panose="02040503050406030204" pitchFamily="18" charset="0"/>
                  </a:rPr>
                  <a:t>$P(W|E_2)=\frac{\binom32}{\binom52}=\frac3{10}$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From </a:t>
                </a:r>
                <a:r>
                  <a:rPr lang="en-IN" sz="2400">
                    <a:solidFill>
                      <a:srgbClr val="111827"/>
                    </a:solidFill>
                    <a:latin typeface="Cambria Math" panose="02040503050406030204" pitchFamily="18" charset="0"/>
                  </a:rPr>
                  <a:t>$U_3$</a:t>
                </a:r>
                <a:r>
                  <a:rPr sz="2400" b="0">
                    <a:solidFill>
                      <a:srgbClr val="111827"/>
                    </a:solidFill>
                    <a:latin typeface="Arial"/>
                  </a:rPr>
                  <a:t>: </a:t>
                </a:r>
                <a:r>
                  <a:rPr lang="en-IN" sz="2400">
                    <a:solidFill>
                      <a:srgbClr val="111827"/>
                    </a:solidFill>
                    <a:latin typeface="Cambria Math" panose="02040503050406030204" pitchFamily="18" charset="0"/>
                  </a:rPr>
                  <a:t>$P(W|E_3)=\frac{\binom42}{\binom52}=\frac6{10}$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By Bayes' theorem,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𝐸</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𝑊</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𝐸</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𝑊</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𝐸</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𝐸</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𝑊</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𝐸</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𝐸</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𝑊</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𝐸</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𝐸</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𝑊</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𝐸</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𝐸</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𝑊</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10</m:t>
                            </m:r>
                          </m:den>
                        </m:f>
                      </m:num>
                      <m:den>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10</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10</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10</m:t>
                            </m:r>
                          </m:den>
                        </m:f>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𝐸</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𝑊</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10</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0.6</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By Bayes' theorem, </a:t>
                </a:r>
                <a:r>
                  <a:rPr lang="en-IN" sz="2400">
                    <a:solidFill>
                      <a:srgbClr val="111827"/>
                    </a:solidFill>
                    <a:latin typeface="Cambria Math" panose="02040503050406030204" pitchFamily="18" charset="0"/>
                  </a:rPr>
                  <a:t>$P(E_3|W)=\frac{P(E_3)P(W|E_3)}{P(E_1)P(W|E_1)+P(E_2)P(W|E_2)+P(E_3)P(W|E_3)}$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$P(E_3|W)=\frac{\frac13\times\frac6{10}}{\frac13\times\frac1{10}+\frac13\times\frac3{10}+\frac13\times\frac6{10}}$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$P(E_3|W)=\frac{6}{1+3+6}=\frac6{10}=0.6$</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0.6</a:t>
            </a:r>
            <a:endParaRPr sz="2800">
              <a:solidFill>
                <a:srgbClr val="15803D"/>
              </a:solidFill>
            </a:endParaRP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Equally likely outcomes: choose (urn, pair of balls); all </a:t>
                </a:r>
                <a14:m>
                  <m:oMath xmlns:m="http://schemas.openxmlformats.org/officeDocument/2006/math">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10</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30</m:t>
                    </m:r>
                  </m:oMath>
                </a14:m>
                <a:r>
                  <a:rPr sz="2400" b="0">
                    <a:solidFill>
                      <a:srgbClr val="78350F"/>
                    </a:solidFill>
                    <a:latin typeface="Arial"/>
                  </a:rPr>
                  <a:t> choices are equally likely, so just count the white pairs.</a:t>
                </a:r>
                <a:endParaRPr sz="2400">
                  <a:solidFill>
                    <a:srgbClr val="78350F"/>
                  </a:solidFill>
                </a:endParaRPr>
              </a:p>
            </p:txBody>
          </p:sp>
        </mc:Choice>
        <mc:Fallback>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Equally likely outcomes: choose (urn, pair of balls); all </a:t>
                </a:r>
                <a:r>
                  <a:rPr lang="en-IN" sz="2400">
                    <a:solidFill>
                      <a:srgbClr val="78350F"/>
                    </a:solidFill>
                    <a:latin typeface="Cambria Math" panose="02040503050406030204" pitchFamily="18" charset="0"/>
                  </a:rPr>
                  <a:t>$3\times10=30$</a:t>
                </a:r>
                <a:r>
                  <a:rPr sz="2400" b="0">
                    <a:solidFill>
                      <a:srgbClr val="78350F"/>
                    </a:solidFill>
                    <a:latin typeface="Arial"/>
                  </a:rPr>
                  <a:t> choices are equally likely, so just count the white pairs.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Each urn holds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balls, so each urn offers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equally likely pairs; with a random urn, the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oMath>
                </a14:m>
                <a:r>
                  <a:rPr sz="2400" b="0">
                    <a:solidFill>
                      <a:srgbClr val="111827"/>
                    </a:solidFill>
                    <a:latin typeface="Arial"/>
                  </a:rPr>
                  <a:t> (urn, pair) outcomes are equally likely.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White pairs: </a:t>
                </a:r>
                <a14:m>
                  <m:oMath xmlns:m="http://schemas.openxmlformats.org/officeDocument/2006/math">
                    <m:sSub>
                      <m:e>
                        <m:r>
                          <a:rPr lang="en-IN" sz="2400" i="1">
                            <a:solidFill>
                              <a:srgbClr val="111827"/>
                            </a:solidFill>
                            <a:latin typeface="Cambria Math" panose="02040503050406030204" pitchFamily="18" charset="0"/>
                          </a:rPr>
                          <m:t>𝑈</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has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𝑈</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has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𝑈</m:t>
                        </m:r>
                      </m:e>
                      <m:sub>
                        <m:r>
                          <a:rPr lang="en-IN" sz="2400" i="1">
                            <a:solidFill>
                              <a:srgbClr val="111827"/>
                            </a:solidFill>
                            <a:latin typeface="Cambria Math" panose="02040503050406030204" pitchFamily="18" charset="0"/>
                          </a:rPr>
                          <m:t>3</m:t>
                        </m:r>
                      </m:sub>
                    </m:sSub>
                  </m:oMath>
                </a14:m>
                <a:r>
                  <a:rPr sz="2400" b="0">
                    <a:solidFill>
                      <a:srgbClr val="111827"/>
                    </a:solidFill>
                    <a:latin typeface="Arial"/>
                  </a:rPr>
                  <a:t> has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total </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Each urn holds </a:t>
                </a:r>
                <a:r>
                  <a:rPr lang="en-IN" sz="2400">
                    <a:solidFill>
                      <a:srgbClr val="111827"/>
                    </a:solidFill>
                    <a:latin typeface="Cambria Math" panose="02040503050406030204" pitchFamily="18" charset="0"/>
                  </a:rPr>
                  <a:t>$5$</a:t>
                </a:r>
                <a:r>
                  <a:rPr sz="2400" b="0">
                    <a:solidFill>
                      <a:srgbClr val="111827"/>
                    </a:solidFill>
                    <a:latin typeface="Arial"/>
                  </a:rPr>
                  <a:t> balls, so each urn offers </a:t>
                </a:r>
                <a:r>
                  <a:rPr lang="en-IN" sz="2400">
                    <a:solidFill>
                      <a:srgbClr val="111827"/>
                    </a:solidFill>
                    <a:latin typeface="Cambria Math" panose="02040503050406030204" pitchFamily="18" charset="0"/>
                  </a:rPr>
                  <a:t>$\binom52=10$</a:t>
                </a:r>
                <a:r>
                  <a:rPr sz="2400" b="0">
                    <a:solidFill>
                      <a:srgbClr val="111827"/>
                    </a:solidFill>
                    <a:latin typeface="Arial"/>
                  </a:rPr>
                  <a:t> equally likely pairs; with a random urn, the </a:t>
                </a:r>
                <a:r>
                  <a:rPr lang="en-IN" sz="2400">
                    <a:solidFill>
                      <a:srgbClr val="111827"/>
                    </a:solidFill>
                    <a:latin typeface="Cambria Math" panose="02040503050406030204" pitchFamily="18" charset="0"/>
                  </a:rPr>
                  <a:t>$3\times10=30$</a:t>
                </a:r>
                <a:r>
                  <a:rPr sz="2400" b="0">
                    <a:solidFill>
                      <a:srgbClr val="111827"/>
                    </a:solidFill>
                    <a:latin typeface="Arial"/>
                  </a:rPr>
                  <a:t> (urn, pair) outcomes are equally likely.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White pairs: </a:t>
                </a:r>
                <a:r>
                  <a:rPr lang="en-IN" sz="2400">
                    <a:solidFill>
                      <a:srgbClr val="111827"/>
                    </a:solidFill>
                    <a:latin typeface="Cambria Math" panose="02040503050406030204" pitchFamily="18" charset="0"/>
                  </a:rPr>
                  <a:t>$U_1$</a:t>
                </a:r>
                <a:r>
                  <a:rPr sz="2400" b="0">
                    <a:solidFill>
                      <a:srgbClr val="111827"/>
                    </a:solidFill>
                    <a:latin typeface="Arial"/>
                  </a:rPr>
                  <a:t> has </a:t>
                </a:r>
                <a:r>
                  <a:rPr lang="en-IN" sz="2400">
                    <a:solidFill>
                      <a:srgbClr val="111827"/>
                    </a:solidFill>
                    <a:latin typeface="Cambria Math" panose="02040503050406030204" pitchFamily="18" charset="0"/>
                  </a:rPr>
                  <a:t>$\binom22=1$</a:t>
                </a:r>
                <a:r>
                  <a:rPr sz="2400" b="0">
                    <a:solidFill>
                      <a:srgbClr val="111827"/>
                    </a:solidFill>
                    <a:latin typeface="Arial"/>
                  </a:rPr>
                  <a:t>, </a:t>
                </a:r>
                <a:r>
                  <a:rPr lang="en-IN" sz="2400">
                    <a:solidFill>
                      <a:srgbClr val="111827"/>
                    </a:solidFill>
                    <a:latin typeface="Cambria Math" panose="02040503050406030204" pitchFamily="18" charset="0"/>
                  </a:rPr>
                  <a:t>$U_2$</a:t>
                </a:r>
                <a:r>
                  <a:rPr sz="2400" b="0">
                    <a:solidFill>
                      <a:srgbClr val="111827"/>
                    </a:solidFill>
                    <a:latin typeface="Arial"/>
                  </a:rPr>
                  <a:t> has </a:t>
                </a:r>
                <a:r>
                  <a:rPr lang="en-IN" sz="2400">
                    <a:solidFill>
                      <a:srgbClr val="111827"/>
                    </a:solidFill>
                    <a:latin typeface="Cambria Math" panose="02040503050406030204" pitchFamily="18" charset="0"/>
                  </a:rPr>
                  <a:t>$\binom32=3$</a:t>
                </a:r>
                <a:r>
                  <a:rPr sz="2400" b="0">
                    <a:solidFill>
                      <a:srgbClr val="111827"/>
                    </a:solidFill>
                    <a:latin typeface="Arial"/>
                  </a:rPr>
                  <a:t>, </a:t>
                </a:r>
                <a:r>
                  <a:rPr lang="en-IN" sz="2400">
                    <a:solidFill>
                      <a:srgbClr val="111827"/>
                    </a:solidFill>
                    <a:latin typeface="Cambria Math" panose="02040503050406030204" pitchFamily="18" charset="0"/>
                  </a:rPr>
                  <a:t>$U_3$</a:t>
                </a:r>
                <a:r>
                  <a:rPr sz="2400" b="0">
                    <a:solidFill>
                      <a:srgbClr val="111827"/>
                    </a:solidFill>
                    <a:latin typeface="Arial"/>
                  </a:rPr>
                  <a:t> has </a:t>
                </a:r>
                <a:r>
                  <a:rPr lang="en-IN" sz="2400">
                    <a:solidFill>
                      <a:srgbClr val="111827"/>
                    </a:solidFill>
                    <a:latin typeface="Cambria Math" panose="02040503050406030204" pitchFamily="18" charset="0"/>
                  </a:rPr>
                  <a:t>$\binom42=6$</a:t>
                </a:r>
                <a:r>
                  <a:rPr sz="2400" b="0">
                    <a:solidFill>
                      <a:srgbClr val="111827"/>
                    </a:solidFill>
                    <a:latin typeface="Arial"/>
                  </a:rPr>
                  <a:t>, total </a:t>
                </a:r>
                <a:r>
                  <a:rPr lang="en-IN" sz="2400">
                    <a:solidFill>
                      <a:srgbClr val="111827"/>
                    </a:solidFill>
                    <a:latin typeface="Cambria Math" panose="02040503050406030204" pitchFamily="18" charset="0"/>
                  </a:rPr>
                  <a:t>$10$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Given both balls are white, we are in one of these </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 outcomes,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of which are from </a:t>
                </a:r>
                <a14:m>
                  <m:oMath xmlns:m="http://schemas.openxmlformats.org/officeDocument/2006/math">
                    <m:sSub>
                      <m:e>
                        <m:r>
                          <a:rPr lang="en-IN" sz="2400" i="1">
                            <a:solidFill>
                              <a:srgbClr val="111827"/>
                            </a:solidFill>
                            <a:latin typeface="Cambria Math" panose="02040503050406030204" pitchFamily="18" charset="0"/>
                          </a:rPr>
                          <m:t>𝑈</m:t>
                        </m:r>
                      </m:e>
                      <m:sub>
                        <m:r>
                          <a:rPr lang="en-IN" sz="2400" i="1">
                            <a:solidFill>
                              <a:srgbClr val="111827"/>
                            </a:solidFill>
                            <a:latin typeface="Cambria Math" panose="02040503050406030204" pitchFamily="18" charset="0"/>
                          </a:rPr>
                          <m:t>3</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the probability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10</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0.6</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Given both balls are white, we are in one of these </a:t>
                </a:r>
                <a:r>
                  <a:rPr lang="en-IN" sz="2400">
                    <a:solidFill>
                      <a:srgbClr val="111827"/>
                    </a:solidFill>
                    <a:latin typeface="Cambria Math" panose="02040503050406030204" pitchFamily="18" charset="0"/>
                  </a:rPr>
                  <a:t>$10$</a:t>
                </a:r>
                <a:r>
                  <a:rPr sz="2400" b="0">
                    <a:solidFill>
                      <a:srgbClr val="111827"/>
                    </a:solidFill>
                    <a:latin typeface="Arial"/>
                  </a:rPr>
                  <a:t> outcomes, </a:t>
                </a:r>
                <a:r>
                  <a:rPr lang="en-IN" sz="2400">
                    <a:solidFill>
                      <a:srgbClr val="111827"/>
                    </a:solidFill>
                    <a:latin typeface="Cambria Math" panose="02040503050406030204" pitchFamily="18" charset="0"/>
                  </a:rPr>
                  <a:t>$6$</a:t>
                </a:r>
                <a:r>
                  <a:rPr sz="2400" b="0">
                    <a:solidFill>
                      <a:srgbClr val="111827"/>
                    </a:solidFill>
                    <a:latin typeface="Arial"/>
                  </a:rPr>
                  <a:t> of which are from </a:t>
                </a:r>
                <a:r>
                  <a:rPr lang="en-IN" sz="2400">
                    <a:solidFill>
                      <a:srgbClr val="111827"/>
                    </a:solidFill>
                    <a:latin typeface="Cambria Math" panose="02040503050406030204" pitchFamily="18" charset="0"/>
                  </a:rPr>
                  <a:t>$U_3$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the probability is </a:t>
                </a:r>
                <a:r>
                  <a:rPr lang="en-IN" sz="2400">
                    <a:solidFill>
                      <a:srgbClr val="111827"/>
                    </a:solidFill>
                    <a:latin typeface="Cambria Math" panose="02040503050406030204" pitchFamily="18" charset="0"/>
                  </a:rPr>
                  <a:t>$\frac6{10}=0.6$</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0.6</a:t>
            </a:r>
            <a:endParaRPr sz="2800">
              <a:solidFill>
                <a:srgbClr val="15803D"/>
              </a:solidFill>
            </a:endParaRP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Bayes: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𝐸</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𝑊</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𝐸</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𝑊</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𝐸</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num>
                      <m:den>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𝑗</m:t>
                            </m:r>
                          </m:sub>
                          <m:sup>
                            <m:r>
                              <a:rPr lang="en-IN" sz="2400" i="1">
                                <a:solidFill>
                                  <a:srgbClr val="111827"/>
                                </a:solidFill>
                                <a:latin typeface="Cambria Math" panose="02040503050406030204" pitchFamily="18" charset="0"/>
                              </a:rPr>
                              <m:t>​</m:t>
                            </m:r>
                          </m:sup>
                          <m:e>
                            <m:r>
                              <a:rPr lang="en-IN" sz="2400" i="1">
                                <a:solidFill>
                                  <a:srgbClr val="111827"/>
                                </a:solidFill>
                                <a:latin typeface="Cambria Math" panose="02040503050406030204" pitchFamily="18" charset="0"/>
                              </a:rPr>
                              <m:t>𝑃</m:t>
                            </m:r>
                          </m:e>
                        </m:nary>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𝐸</m:t>
                            </m:r>
                          </m:e>
                          <m:sub>
                            <m:r>
                              <a:rPr lang="en-IN" sz="2400" i="1">
                                <a:solidFill>
                                  <a:srgbClr val="111827"/>
                                </a:solidFill>
                                <a:latin typeface="Cambria Math" panose="02040503050406030204" pitchFamily="18" charset="0"/>
                              </a:rPr>
                              <m:t>𝑗</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𝑊</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𝐸</m:t>
                            </m:r>
                          </m:e>
                          <m:sub>
                            <m:r>
                              <a:rPr lang="en-IN" sz="2400" i="1">
                                <a:solidFill>
                                  <a:srgbClr val="111827"/>
                                </a:solidFill>
                                <a:latin typeface="Cambria Math" panose="02040503050406030204" pitchFamily="18" charset="0"/>
                              </a:rPr>
                              <m:t>𝑗</m:t>
                            </m:r>
                          </m:sub>
                        </m:sSub>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with equal priors the posterior is proportional to the likelihoods alone.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the urns have the same number of balls, the denominators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 cancel as well, leaving the ratio of favourable counts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𝑤</m:t>
                                </m:r>
                              </m:e>
                              <m:sub>
                                <m:r>
                                  <a:rPr lang="en-IN" sz="2400" i="1">
                                    <a:solidFill>
                                      <a:srgbClr val="111827"/>
                                    </a:solidFill>
                                    <a:latin typeface="Cambria Math" panose="02040503050406030204" pitchFamily="18" charset="0"/>
                                  </a:rPr>
                                  <m:t>𝑖</m:t>
                                </m:r>
                              </m:sub>
                            </m:sSub>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here).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the posteriors for </a:t>
                </a:r>
                <a14:m>
                  <m:oMath xmlns:m="http://schemas.openxmlformats.org/officeDocument/2006/math">
                    <m:sSub>
                      <m:e>
                        <m:r>
                          <a:rPr lang="en-IN" sz="2400" i="1">
                            <a:solidFill>
                              <a:srgbClr val="111827"/>
                            </a:solidFill>
                            <a:latin typeface="Cambria Math" panose="02040503050406030204" pitchFamily="18" charset="0"/>
                          </a:rPr>
                          <m:t>𝑈</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𝑈</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𝑈</m:t>
                        </m:r>
                      </m:e>
                      <m:sub>
                        <m:r>
                          <a:rPr lang="en-IN" sz="2400" i="1">
                            <a:solidFill>
                              <a:srgbClr val="111827"/>
                            </a:solidFill>
                            <a:latin typeface="Cambria Math" panose="02040503050406030204" pitchFamily="18" charset="0"/>
                          </a:rPr>
                          <m:t>3</m:t>
                        </m:r>
                      </m:sub>
                    </m:sSub>
                  </m:oMath>
                </a14:m>
                <a:r>
                  <a:rPr sz="2400" b="0">
                    <a:solidFill>
                      <a:srgbClr val="111827"/>
                    </a:solidFill>
                    <a:latin typeface="Arial"/>
                  </a:rPr>
                  <a:t> are </a:t>
                </a:r>
                <a14:m>
                  <m:oMath xmlns:m="http://schemas.openxmlformats.org/officeDocument/2006/math">
                    <m:r>
                      <a:rPr lang="en-IN" sz="2400" i="1">
                        <a:solidFill>
                          <a:srgbClr val="111827"/>
                        </a:solidFill>
                        <a:latin typeface="Cambria Math" panose="02040503050406030204" pitchFamily="18" charset="0"/>
                      </a:rPr>
                      <m:t>0.1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0.3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0.6</m:t>
                    </m:r>
                  </m:oMath>
                </a14:m>
                <a:r>
                  <a:rPr sz="2400" b="0">
                    <a:solidFill>
                      <a:srgbClr val="111827"/>
                    </a:solidFill>
                    <a:latin typeface="Arial"/>
                  </a:rPr>
                  <a:t> and add up to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Counting equally likely (cause, outcome) pairs often replaces Bayes' formula entirely.</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Bayes: </a:t>
                </a:r>
                <a:r>
                  <a:rPr lang="en-IN" sz="2400">
                    <a:solidFill>
                      <a:srgbClr val="111827"/>
                    </a:solidFill>
                    <a:latin typeface="Cambria Math" panose="02040503050406030204" pitchFamily="18" charset="0"/>
                  </a:rPr>
                  <a:t>$P(E_i|W)=\frac{P(E_i)P(W|E_i)}{\sum_jP(E_j)P(W|E_j)}$</a:t>
                </a:r>
                <a:r>
                  <a:rPr sz="2400" b="0">
                    <a:solidFill>
                      <a:srgbClr val="111827"/>
                    </a:solidFill>
                    <a:latin typeface="Arial"/>
                  </a:rPr>
                  <a:t>; with equal priors the posterior is proportional to the likelihoods alone.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the urns have the same number of balls, the denominators </a:t>
                </a:r>
                <a:r>
                  <a:rPr lang="en-IN" sz="2400">
                    <a:solidFill>
                      <a:srgbClr val="111827"/>
                    </a:solidFill>
                    <a:latin typeface="Cambria Math" panose="02040503050406030204" pitchFamily="18" charset="0"/>
                  </a:rPr>
                  <a:t>$\binom n2$</a:t>
                </a:r>
                <a:r>
                  <a:rPr sz="2400" b="0">
                    <a:solidFill>
                      <a:srgbClr val="111827"/>
                    </a:solidFill>
                    <a:latin typeface="Arial"/>
                  </a:rPr>
                  <a:t> cancel as well, leaving the ratio of favourable counts </a:t>
                </a:r>
                <a:r>
                  <a:rPr lang="en-IN" sz="2400">
                    <a:solidFill>
                      <a:srgbClr val="111827"/>
                    </a:solidFill>
                    <a:latin typeface="Cambria Math" panose="02040503050406030204" pitchFamily="18" charset="0"/>
                  </a:rPr>
                  <a:t>$\binom{w_i}2$</a:t>
                </a:r>
                <a:r>
                  <a:rPr sz="2400" b="0">
                    <a:solidFill>
                      <a:srgbClr val="111827"/>
                    </a:solidFill>
                    <a:latin typeface="Arial"/>
                  </a:rPr>
                  <a:t> (</a:t>
                </a:r>
                <a:r>
                  <a:rPr lang="en-IN" sz="2400">
                    <a:solidFill>
                      <a:srgbClr val="111827"/>
                    </a:solidFill>
                    <a:latin typeface="Cambria Math" panose="02040503050406030204" pitchFamily="18" charset="0"/>
                  </a:rPr>
                  <a:t>$1:3:6$</a:t>
                </a:r>
                <a:r>
                  <a:rPr sz="2400" b="0">
                    <a:solidFill>
                      <a:srgbClr val="111827"/>
                    </a:solidFill>
                    <a:latin typeface="Arial"/>
                  </a:rPr>
                  <a:t> here).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the posteriors for </a:t>
                </a:r>
                <a:r>
                  <a:rPr lang="en-IN" sz="2400">
                    <a:solidFill>
                      <a:srgbClr val="111827"/>
                    </a:solidFill>
                    <a:latin typeface="Cambria Math" panose="02040503050406030204" pitchFamily="18" charset="0"/>
                  </a:rPr>
                  <a:t>$U_1,U_2,U_3$</a:t>
                </a:r>
                <a:r>
                  <a:rPr sz="2400" b="0">
                    <a:solidFill>
                      <a:srgbClr val="111827"/>
                    </a:solidFill>
                    <a:latin typeface="Arial"/>
                  </a:rPr>
                  <a:t> are </a:t>
                </a:r>
                <a:r>
                  <a:rPr lang="en-IN" sz="2400">
                    <a:solidFill>
                      <a:srgbClr val="111827"/>
                    </a:solidFill>
                    <a:latin typeface="Cambria Math" panose="02040503050406030204" pitchFamily="18" charset="0"/>
                  </a:rPr>
                  <a:t>$0.1$</a:t>
                </a:r>
                <a:r>
                  <a:rPr sz="2400" b="0">
                    <a:solidFill>
                      <a:srgbClr val="111827"/>
                    </a:solidFill>
                    <a:latin typeface="Arial"/>
                  </a:rPr>
                  <a:t>, </a:t>
                </a:r>
                <a:r>
                  <a:rPr lang="en-IN" sz="2400">
                    <a:solidFill>
                      <a:srgbClr val="111827"/>
                    </a:solidFill>
                    <a:latin typeface="Cambria Math" panose="02040503050406030204" pitchFamily="18" charset="0"/>
                  </a:rPr>
                  <a:t>$0.3$</a:t>
                </a:r>
                <a:r>
                  <a:rPr sz="2400" b="0">
                    <a:solidFill>
                      <a:srgbClr val="111827"/>
                    </a:solidFill>
                    <a:latin typeface="Arial"/>
                  </a:rPr>
                  <a:t>, </a:t>
                </a:r>
                <a:r>
                  <a:rPr lang="en-IN" sz="2400">
                    <a:solidFill>
                      <a:srgbClr val="111827"/>
                    </a:solidFill>
                    <a:latin typeface="Cambria Math" panose="02040503050406030204" pitchFamily="18" charset="0"/>
                  </a:rPr>
                  <a:t>$0.6$</a:t>
                </a:r>
                <a:r>
                  <a:rPr sz="2400" b="0">
                    <a:solidFill>
                      <a:srgbClr val="111827"/>
                    </a:solidFill>
                    <a:latin typeface="Arial"/>
                  </a:rPr>
                  <a:t> and add up to </a:t>
                </a:r>
                <a:r>
                  <a:rPr lang="en-IN" sz="2400">
                    <a:solidFill>
                      <a:srgbClr val="111827"/>
                    </a:solidFill>
                    <a:latin typeface="Cambria Math" panose="02040503050406030204" pitchFamily="18" charset="0"/>
                  </a:rPr>
                  <a:t>$1$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Counting equally likely (cause, outcome) pairs often replaces Bayes' formula entirely.</a:t>
                </a:r>
                <a:endParaRPr sz="2400">
                  <a:solidFill>
                    <a:srgbClr val="111827"/>
                  </a:solidFill>
                </a:endParaRPr>
              </a:p>
            </p:txBody>
          </p:sp>
        </mc:Fallback>
      </mc:AlternateContent>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(1/5)</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01</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02</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0</a:t>
                      </a:r>
                    </a:p>
                  </a:txBody>
                  <a:tcPr anchor="ctr" marL="91440" marR="91440">
                    <a:solidFill>
                      <a:srgbClr val="93C47D"/>
                    </a:solidFill>
                  </a:tcPr>
                </a:tc>
                <a:tc>
                  <a:txBody>
                    <a:bodyPr/>
                    <a:lstStyle/>
                    <a:p>
                      <a:pPr algn="l"/>
                      <a:r>
                        <a:rPr sz="2400" b="0">
                          <a:solidFill>
                            <a:srgbClr val="111827"/>
                          </a:solidFill>
                          <a:latin typeface="Arial"/>
                        </a:rPr>
                        <a:t>Easier than JEE Main Level</a:t>
                      </a:r>
                    </a:p>
                  </a:txBody>
                  <a:tcPr anchor="ctr" marL="91440" marR="91440">
                    <a:solidFill>
                      <a:srgbClr val="93C47D"/>
                    </a:solidFill>
                  </a:tcPr>
                </a:tc>
              </a:tr>
              <a:tr h="868680">
                <a:tc>
                  <a:txBody>
                    <a:bodyPr/>
                    <a:lstStyle/>
                    <a:p>
                      <a:pPr algn="ctr"/>
                      <a:r>
                        <a:rPr sz="2400" b="1">
                          <a:solidFill>
                            <a:srgbClr val="111827"/>
                          </a:solidFill>
                          <a:latin typeface="Arial"/>
                        </a:rPr>
                        <a:t>03</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04</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05</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bl>
          </a:graphicData>
        </a:graphic>
      </p:graphicFrame>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(2/5)</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06</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07</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0</a:t>
                      </a:r>
                    </a:p>
                  </a:txBody>
                  <a:tcPr anchor="ctr" marL="91440" marR="91440">
                    <a:solidFill>
                      <a:srgbClr val="93C47D"/>
                    </a:solidFill>
                  </a:tcPr>
                </a:tc>
                <a:tc>
                  <a:txBody>
                    <a:bodyPr/>
                    <a:lstStyle/>
                    <a:p>
                      <a:pPr algn="l"/>
                      <a:r>
                        <a:rPr sz="2400" b="0">
                          <a:solidFill>
                            <a:srgbClr val="111827"/>
                          </a:solidFill>
                          <a:latin typeface="Arial"/>
                        </a:rPr>
                        <a:t>Easier than JEE Main Level</a:t>
                      </a:r>
                    </a:p>
                  </a:txBody>
                  <a:tcPr anchor="ctr" marL="91440" marR="91440">
                    <a:solidFill>
                      <a:srgbClr val="93C47D"/>
                    </a:solidFill>
                  </a:tcPr>
                </a:tc>
              </a:tr>
              <a:tr h="868680">
                <a:tc>
                  <a:txBody>
                    <a:bodyPr/>
                    <a:lstStyle/>
                    <a:p>
                      <a:pPr algn="ctr"/>
                      <a:r>
                        <a:rPr sz="2400" b="1">
                          <a:solidFill>
                            <a:srgbClr val="111827"/>
                          </a:solidFill>
                          <a:latin typeface="Arial"/>
                        </a:rPr>
                        <a:t>08</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09</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0</a:t>
                      </a:r>
                    </a:p>
                  </a:txBody>
                  <a:tcPr anchor="ctr" marL="91440" marR="91440">
                    <a:solidFill>
                      <a:srgbClr val="93C47D"/>
                    </a:solidFill>
                  </a:tcPr>
                </a:tc>
                <a:tc>
                  <a:txBody>
                    <a:bodyPr/>
                    <a:lstStyle/>
                    <a:p>
                      <a:pPr algn="l"/>
                      <a:r>
                        <a:rPr sz="2400" b="0">
                          <a:solidFill>
                            <a:srgbClr val="111827"/>
                          </a:solidFill>
                          <a:latin typeface="Arial"/>
                        </a:rPr>
                        <a:t>Easier than JEE Main Level</a:t>
                      </a:r>
                    </a:p>
                  </a:txBody>
                  <a:tcPr anchor="ctr" marL="91440" marR="91440">
                    <a:solidFill>
                      <a:srgbClr val="93C47D"/>
                    </a:solidFill>
                  </a:tcPr>
                </a:tc>
              </a:tr>
              <a:tr h="868680">
                <a:tc>
                  <a:txBody>
                    <a:bodyPr/>
                    <a:lstStyle/>
                    <a:p>
                      <a:pPr algn="ctr"/>
                      <a:r>
                        <a:rPr sz="2400" b="1">
                          <a:solidFill>
                            <a:srgbClr val="111827"/>
                          </a:solidFill>
                          <a:latin typeface="Arial"/>
                        </a:rPr>
                        <a:t>10</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0</a:t>
                      </a:r>
                    </a:p>
                  </a:txBody>
                  <a:tcPr anchor="ctr" marL="91440" marR="91440">
                    <a:solidFill>
                      <a:srgbClr val="93C47D"/>
                    </a:solidFill>
                  </a:tcPr>
                </a:tc>
                <a:tc>
                  <a:txBody>
                    <a:bodyPr/>
                    <a:lstStyle/>
                    <a:p>
                      <a:pPr algn="l"/>
                      <a:r>
                        <a:rPr sz="2400" b="0">
                          <a:solidFill>
                            <a:srgbClr val="111827"/>
                          </a:solidFill>
                          <a:latin typeface="Arial"/>
                        </a:rPr>
                        <a:t>Easier than JEE Main Level</a:t>
                      </a:r>
                    </a:p>
                  </a:txBody>
                  <a:tcPr anchor="ctr" marL="91440" marR="91440">
                    <a:solidFill>
                      <a:srgbClr val="93C47D"/>
                    </a:solidFill>
                  </a:tcPr>
                </a:tc>
              </a:tr>
            </a:tbl>
          </a:graphicData>
        </a:graphic>
      </p:graphicFrame>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(3/5)</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11</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12</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13</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0</a:t>
                      </a:r>
                    </a:p>
                  </a:txBody>
                  <a:tcPr anchor="ctr" marL="91440" marR="91440">
                    <a:solidFill>
                      <a:srgbClr val="93C47D"/>
                    </a:solidFill>
                  </a:tcPr>
                </a:tc>
                <a:tc>
                  <a:txBody>
                    <a:bodyPr/>
                    <a:lstStyle/>
                    <a:p>
                      <a:pPr algn="l"/>
                      <a:r>
                        <a:rPr sz="2400" b="0">
                          <a:solidFill>
                            <a:srgbClr val="111827"/>
                          </a:solidFill>
                          <a:latin typeface="Arial"/>
                        </a:rPr>
                        <a:t>Easier than JEE Main Level</a:t>
                      </a:r>
                    </a:p>
                  </a:txBody>
                  <a:tcPr anchor="ctr" marL="91440" marR="91440">
                    <a:solidFill>
                      <a:srgbClr val="93C47D"/>
                    </a:solidFill>
                  </a:tcPr>
                </a:tc>
              </a:tr>
              <a:tr h="868680">
                <a:tc>
                  <a:txBody>
                    <a:bodyPr/>
                    <a:lstStyle/>
                    <a:p>
                      <a:pPr algn="ctr"/>
                      <a:r>
                        <a:rPr sz="2400" b="1">
                          <a:solidFill>
                            <a:srgbClr val="111827"/>
                          </a:solidFill>
                          <a:latin typeface="Arial"/>
                        </a:rPr>
                        <a:t>14</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0</a:t>
                      </a:r>
                    </a:p>
                  </a:txBody>
                  <a:tcPr anchor="ctr" marL="91440" marR="91440">
                    <a:solidFill>
                      <a:srgbClr val="93C47D"/>
                    </a:solidFill>
                  </a:tcPr>
                </a:tc>
                <a:tc>
                  <a:txBody>
                    <a:bodyPr/>
                    <a:lstStyle/>
                    <a:p>
                      <a:pPr algn="l"/>
                      <a:r>
                        <a:rPr sz="2400" b="0">
                          <a:solidFill>
                            <a:srgbClr val="111827"/>
                          </a:solidFill>
                          <a:latin typeface="Arial"/>
                        </a:rPr>
                        <a:t>Easier than JEE Main Level</a:t>
                      </a:r>
                    </a:p>
                  </a:txBody>
                  <a:tcPr anchor="ctr" marL="91440" marR="91440">
                    <a:solidFill>
                      <a:srgbClr val="93C47D"/>
                    </a:solidFill>
                  </a:tcPr>
                </a:tc>
              </a:tr>
              <a:tr h="868680">
                <a:tc>
                  <a:txBody>
                    <a:bodyPr/>
                    <a:lstStyle/>
                    <a:p>
                      <a:pPr algn="ctr"/>
                      <a:r>
                        <a:rPr sz="2400" b="1">
                          <a:solidFill>
                            <a:srgbClr val="111827"/>
                          </a:solidFill>
                          <a:latin typeface="Arial"/>
                        </a:rPr>
                        <a:t>15</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bl>
          </a:graphicData>
        </a:graphic>
      </p:graphicFrame>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(4/5)</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16</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17</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18</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19</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20</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bl>
          </a:graphicData>
        </a:graphic>
      </p:graphicFrame>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(5/5)</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21</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22</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23</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24</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25</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bl>
          </a:graphicData>
        </a:graphic>
      </p:graphicFrame>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a:t>
            </a:r>
            <a:endParaRPr sz="3200">
              <a:solidFill>
                <a:srgbClr val="FFFFFF"/>
              </a:solidFill>
            </a:endParaRPr>
          </a:p>
        </p:txBody>
      </p:sp>
      <p:sp>
        <p:nvSpPr>
          <p:cNvPr id="3" name="Rounded Rectangle 2"/>
          <p:cNvSpPr/>
          <p:nvPr/>
        </p:nvSpPr>
        <p:spPr>
          <a:xfrm>
            <a:off x="731520" y="1417320"/>
            <a:ext cx="4754880" cy="329184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37160" bIns="73152"/>
          <a:lstStyle>
            <a:lvl1pPr>
              <a:defRPr sz="3000">
                <a:solidFill>
                  <a:srgbClr val="0B1F3A"/>
                </a:solidFill>
              </a:defRPr>
            </a:lvl1pPr>
          </a:lstStyle>
          <a:p>
            <a:pPr algn="ctr">
              <a:defRPr sz="3000">
                <a:solidFill>
                  <a:srgbClr val="0B1F3A"/>
                </a:solidFill>
              </a:defRPr>
            </a:pPr>
            <a:r>
              <a:rPr sz="3000" b="1">
                <a:solidFill>
                  <a:srgbClr val="0B1F3A"/>
                </a:solidFill>
                <a:latin typeface="Arial"/>
              </a:rPr>
              <a:t>Difficulty Index</a:t>
            </a:r>
            <a:endParaRPr sz="3000">
              <a:solidFill>
                <a:srgbClr val="0B1F3A"/>
              </a:solidFill>
            </a:endParaRPr>
          </a:p>
          <a:p>
            <a:pPr algn="ctr">
              <a:defRPr sz="3000">
                <a:solidFill>
                  <a:srgbClr val="0B1F3A"/>
                </a:solidFill>
              </a:defRPr>
            </a:pPr>
            <a:r>
              <a:rPr sz="8800" b="1">
                <a:solidFill>
                  <a:srgbClr val="0B1F3A"/>
                </a:solidFill>
                <a:latin typeface="Arial"/>
              </a:rPr>
              <a:t>1.16</a:t>
            </a:r>
            <a:endParaRPr sz="3000">
              <a:solidFill>
                <a:srgbClr val="0B1F3A"/>
              </a:solidFill>
            </a:endParaRPr>
          </a:p>
          <a:p>
            <a:pPr algn="ctr">
              <a:defRPr sz="3000">
                <a:solidFill>
                  <a:srgbClr val="0B1F3A"/>
                </a:solidFill>
              </a:defRPr>
            </a:pPr>
            <a:r>
              <a:rPr sz="2400" b="0">
                <a:solidFill>
                  <a:srgbClr val="0B1F3A"/>
                </a:solidFill>
                <a:latin typeface="Arial"/>
              </a:rPr>
              <a:t>out of 5</a:t>
            </a:r>
            <a:endParaRPr sz="3000">
              <a:solidFill>
                <a:srgbClr val="0B1F3A"/>
              </a:solidFill>
            </a:endParaRPr>
          </a:p>
        </p:txBody>
      </p:sp>
      <p:sp>
        <p:nvSpPr>
          <p:cNvPr id="4" name="Rectangle 3"/>
          <p:cNvSpPr/>
          <p:nvPr/>
        </p:nvSpPr>
        <p:spPr>
          <a:xfrm>
            <a:off x="5852160" y="1417320"/>
            <a:ext cx="5605272" cy="603504"/>
          </a:xfrm>
          <a:prstGeom prst="rect">
            <a:avLst/>
          </a:prstGeom>
          <a:solidFill>
            <a:srgbClr val="93C47D"/>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JEE Main or easier:  16 questions</a:t>
            </a:r>
            <a:endParaRPr sz="2400">
              <a:solidFill>
                <a:srgbClr val="111827"/>
              </a:solidFill>
            </a:endParaRPr>
          </a:p>
        </p:txBody>
      </p:sp>
      <p:sp>
        <p:nvSpPr>
          <p:cNvPr id="5" name="Rectangle 4"/>
          <p:cNvSpPr/>
          <p:nvPr/>
        </p:nvSpPr>
        <p:spPr>
          <a:xfrm>
            <a:off x="5852160" y="2093976"/>
            <a:ext cx="5605272" cy="603504"/>
          </a:xfrm>
          <a:prstGeom prst="rect">
            <a:avLst/>
          </a:prstGeom>
          <a:solidFill>
            <a:srgbClr val="FFD966"/>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Below average:  8 questions</a:t>
            </a:r>
            <a:endParaRPr sz="2400">
              <a:solidFill>
                <a:srgbClr val="111827"/>
              </a:solidFill>
            </a:endParaRPr>
          </a:p>
        </p:txBody>
      </p:sp>
      <p:sp>
        <p:nvSpPr>
          <p:cNvPr id="6" name="Rectangle 5"/>
          <p:cNvSpPr/>
          <p:nvPr/>
        </p:nvSpPr>
        <p:spPr>
          <a:xfrm>
            <a:off x="5852160" y="2770632"/>
            <a:ext cx="5605272" cy="603504"/>
          </a:xfrm>
          <a:prstGeom prst="rect">
            <a:avLst/>
          </a:prstGeom>
          <a:solidFill>
            <a:srgbClr val="F6B26B"/>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Average Advanced:  1 question</a:t>
            </a:r>
            <a:endParaRPr sz="2400">
              <a:solidFill>
                <a:srgbClr val="111827"/>
              </a:solidFill>
            </a:endParaRPr>
          </a:p>
        </p:txBody>
      </p:sp>
      <p:sp>
        <p:nvSpPr>
          <p:cNvPr id="7" name="Rectangle 6"/>
          <p:cNvSpPr/>
          <p:nvPr/>
        </p:nvSpPr>
        <p:spPr>
          <a:xfrm>
            <a:off x="5852160" y="3447288"/>
            <a:ext cx="5605272" cy="603504"/>
          </a:xfrm>
          <a:prstGeom prst="rect">
            <a:avLst/>
          </a:prstGeom>
          <a:solidFill>
            <a:srgbClr val="E88080"/>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Above average:  0 questions</a:t>
            </a:r>
            <a:endParaRPr sz="2400">
              <a:solidFill>
                <a:srgbClr val="111827"/>
              </a:solidFill>
            </a:endParaRPr>
          </a:p>
        </p:txBody>
      </p:sp>
      <p:sp>
        <p:nvSpPr>
          <p:cNvPr id="8" name="Rectangle 7"/>
          <p:cNvSpPr/>
          <p:nvPr/>
        </p:nvSpPr>
        <p:spPr>
          <a:xfrm>
            <a:off x="5852160" y="4123944"/>
            <a:ext cx="5605272" cy="603504"/>
          </a:xfrm>
          <a:prstGeom prst="rect">
            <a:avLst/>
          </a:prstGeom>
          <a:solidFill>
            <a:srgbClr val="CC4125"/>
          </a:solidFill>
          <a:ln w="19050">
            <a:solidFill>
              <a:srgbClr val="6B7280"/>
            </a:solidFill>
          </a:ln>
          <a:effectLst/>
        </p:spPr>
        <p:style>
          <a:lnRef idx="1">
            <a:schemeClr val="accent1"/>
          </a:lnRef>
          <a:fillRef idx="3">
            <a:schemeClr val="accent1"/>
          </a:fillRef>
          <a:effectRef idx="2">
            <a:schemeClr val="accent1"/>
          </a:effectRef>
          <a:fontRef idx="minor">
            <a:srgbClr val="FFFFFF"/>
          </a:fontRef>
        </p:style>
        <p:txBody>
          <a:bodyPr rtlCol="0" anchor="ctr" wrap="square" lIns="228600" rIns="228600" tIns="18288" bIns="73152"/>
          <a:lstStyle>
            <a:lvl1pPr>
              <a:defRPr sz="2400">
                <a:solidFill>
                  <a:srgbClr val="FFFFFF"/>
                </a:solidFill>
              </a:defRPr>
            </a:lvl1pPr>
          </a:lstStyle>
          <a:p>
            <a:pPr algn="l">
              <a:defRPr sz="2400">
                <a:solidFill>
                  <a:srgbClr val="FFFFFF"/>
                </a:solidFill>
              </a:defRPr>
            </a:pPr>
            <a:r>
              <a:rPr sz="2400" b="1">
                <a:solidFill>
                  <a:srgbClr val="FFFFFF"/>
                </a:solidFill>
                <a:latin typeface="Arial"/>
              </a:rPr>
              <a:t>Very difficult:  0 questions</a:t>
            </a:r>
            <a:endParaRPr sz="2400">
              <a:solidFill>
                <a:srgbClr val="FFFFFF"/>
              </a:solidFill>
            </a:endParaRPr>
          </a:p>
        </p:txBody>
      </p:sp>
      <p:sp>
        <p:nvSpPr>
          <p:cNvPr id="9" name="Rectangle 8"/>
          <p:cNvSpPr/>
          <p:nvPr/>
        </p:nvSpPr>
        <p:spPr>
          <a:xfrm>
            <a:off x="731520" y="5029200"/>
            <a:ext cx="10725912" cy="1097280"/>
          </a:xfrm>
          <a:prstGeom prst="rect">
            <a:avLst/>
          </a:prstGeom>
          <a:solidFill>
            <a:srgbClr val="FFFFFF"/>
          </a:solidFill>
          <a:ln w="19050">
            <a:no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ctr">
              <a:defRPr sz="2400">
                <a:solidFill>
                  <a:srgbClr val="111827"/>
                </a:solidFill>
              </a:defRPr>
            </a:pPr>
            <a:r>
              <a:rPr sz="2400" b="0">
                <a:solidFill>
                  <a:srgbClr val="111827"/>
                </a:solidFill>
                <a:latin typeface="Arial"/>
              </a:rPr>
              <a:t>Total: 25 questions, 100 marks.  Index = Σ(marks × level) ÷ Σ marks, on the 0-5 scale.</a:t>
            </a:r>
            <a:endParaRPr sz="2400">
              <a:solidFill>
                <a:srgbClr val="111827"/>
              </a:solidFill>
            </a:endParaRP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Difficulty Profile of the Paper</a:t>
            </a:r>
            <a:endParaRPr sz="3200">
              <a:solidFill>
                <a:srgbClr val="FFFFFF"/>
              </a:solidFill>
            </a:endParaRPr>
          </a:p>
        </p:txBody>
      </p:sp>
      <p:graphicFrame>
        <p:nvGraphicFramePr>
          <p:cNvPr id="3" name="Chart 2"/>
          <p:cNvGraphicFramePr>
            <a:graphicFrameLocks noGrp="1"/>
          </p:cNvGraphicFramePr>
          <p:nvPr/>
        </p:nvGraphicFramePr>
        <p:xfrm>
          <a:off x="457200" y="1280160"/>
          <a:ext cx="11274552" cy="5349240"/>
        </p:xfrm>
        <a:graphic>
          <a:graphicData uri="http://schemas.openxmlformats.org/drawingml/2006/chart">
            <c:chart xmlns:c="http://schemas.openxmlformats.org/drawingml/2006/chart" r:id="rId2"/>
          </a:graphicData>
        </a:graphic>
      </p:graphicFrame>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Comparison with JEE Advanced Papers</a:t>
            </a:r>
            <a:endParaRPr sz="3200">
              <a:solidFill>
                <a:srgbClr val="FFFFFF"/>
              </a:solidFill>
            </a:endParaRPr>
          </a:p>
        </p:txBody>
      </p:sp>
      <p:graphicFrame>
        <p:nvGraphicFramePr>
          <p:cNvPr id="3" name="Table 2"/>
          <p:cNvGraphicFramePr>
            <a:graphicFrameLocks noGrp="1"/>
          </p:cNvGraphicFramePr>
          <p:nvPr/>
        </p:nvGraphicFramePr>
        <p:xfrm>
          <a:off x="1661007" y="1371600"/>
          <a:ext cx="8869680" cy="4526280"/>
        </p:xfrm>
        <a:graphic>
          <a:graphicData uri="http://schemas.openxmlformats.org/drawingml/2006/table">
            <a:tbl>
              <a:tblPr firstRow="1" bandRow="1">
                <a:tableStyleId>{5C22544A-7EE6-4342-B048-85BDC9FD1C3A}</a:tableStyleId>
              </a:tblPr>
              <a:tblGrid>
                <a:gridCol w="5760720"/>
                <a:gridCol w="3108960"/>
              </a:tblGrid>
              <a:tr h="685800">
                <a:tc>
                  <a:txBody>
                    <a:bodyPr/>
                    <a:lstStyle/>
                    <a:p>
                      <a:pPr algn="ctr"/>
                      <a:r>
                        <a:rPr sz="2600" b="1">
                          <a:solidFill>
                            <a:srgbClr val="FFFFFF"/>
                          </a:solidFill>
                          <a:latin typeface="Arial"/>
                        </a:rPr>
                        <a:t>Paper</a:t>
                      </a:r>
                    </a:p>
                  </a:txBody>
                  <a:tcPr anchor="ctr" marL="137160" marR="137160">
                    <a:solidFill>
                      <a:srgbClr val="0B1F3A"/>
                    </a:solidFill>
                  </a:tcPr>
                </a:tc>
                <a:tc>
                  <a:txBody>
                    <a:bodyPr/>
                    <a:lstStyle/>
                    <a:p>
                      <a:pPr algn="ctr"/>
                      <a:r>
                        <a:rPr sz="2600" b="1">
                          <a:solidFill>
                            <a:srgbClr val="FFFFFF"/>
                          </a:solidFill>
                          <a:latin typeface="Arial"/>
                        </a:rPr>
                        <a:t>Difficulty Index</a:t>
                      </a:r>
                    </a:p>
                  </a:txBody>
                  <a:tcPr anchor="ctr" marL="137160" marR="137160">
                    <a:solidFill>
                      <a:srgbClr val="0B1F3A"/>
                    </a:solidFill>
                  </a:tcPr>
                </a:tc>
              </a:tr>
              <a:tr h="640080">
                <a:tc>
                  <a:txBody>
                    <a:bodyPr/>
                    <a:lstStyle/>
                    <a:p>
                      <a:pPr algn="l"/>
                      <a:r>
                        <a:rPr sz="2600" b="0">
                          <a:solidFill>
                            <a:srgbClr val="111827"/>
                          </a:solidFill>
                          <a:latin typeface="Arial"/>
                        </a:rPr>
                        <a:t>JEE Advanced 2021</a:t>
                      </a:r>
                    </a:p>
                  </a:txBody>
                  <a:tcPr anchor="ctr" marL="137160" marR="137160">
                    <a:solidFill>
                      <a:srgbClr val="FFFFFF"/>
                    </a:solidFill>
                  </a:tcPr>
                </a:tc>
                <a:tc>
                  <a:txBody>
                    <a:bodyPr/>
                    <a:lstStyle/>
                    <a:p>
                      <a:pPr algn="ctr"/>
                      <a:r>
                        <a:rPr sz="2600" b="1">
                          <a:solidFill>
                            <a:srgbClr val="111827"/>
                          </a:solidFill>
                          <a:latin typeface="Arial"/>
                        </a:rPr>
                        <a:t>2.76</a:t>
                      </a:r>
                    </a:p>
                  </a:txBody>
                  <a:tcPr anchor="ctr" marL="137160" marR="137160">
                    <a:solidFill>
                      <a:srgbClr val="FFFFFF"/>
                    </a:solidFill>
                  </a:tcPr>
                </a:tc>
              </a:tr>
              <a:tr h="640080">
                <a:tc>
                  <a:txBody>
                    <a:bodyPr/>
                    <a:lstStyle/>
                    <a:p>
                      <a:pPr algn="l"/>
                      <a:r>
                        <a:rPr sz="2600" b="0">
                          <a:solidFill>
                            <a:srgbClr val="111827"/>
                          </a:solidFill>
                          <a:latin typeface="Arial"/>
                        </a:rPr>
                        <a:t>JEE Advanced 2023</a:t>
                      </a:r>
                    </a:p>
                  </a:txBody>
                  <a:tcPr anchor="ctr" marL="137160" marR="137160">
                    <a:solidFill>
                      <a:srgbClr val="FFFFFF"/>
                    </a:solidFill>
                  </a:tcPr>
                </a:tc>
                <a:tc>
                  <a:txBody>
                    <a:bodyPr/>
                    <a:lstStyle/>
                    <a:p>
                      <a:pPr algn="ctr"/>
                      <a:r>
                        <a:rPr sz="2600" b="1">
                          <a:solidFill>
                            <a:srgbClr val="111827"/>
                          </a:solidFill>
                          <a:latin typeface="Arial"/>
                        </a:rPr>
                        <a:t>3.19</a:t>
                      </a:r>
                    </a:p>
                  </a:txBody>
                  <a:tcPr anchor="ctr" marL="137160" marR="137160">
                    <a:solidFill>
                      <a:srgbClr val="FFFFFF"/>
                    </a:solidFill>
                  </a:tcPr>
                </a:tc>
              </a:tr>
              <a:tr h="640080">
                <a:tc>
                  <a:txBody>
                    <a:bodyPr/>
                    <a:lstStyle/>
                    <a:p>
                      <a:pPr algn="l"/>
                      <a:r>
                        <a:rPr sz="2600" b="0">
                          <a:solidFill>
                            <a:srgbClr val="111827"/>
                          </a:solidFill>
                          <a:latin typeface="Arial"/>
                        </a:rPr>
                        <a:t>JEE Advanced 2024</a:t>
                      </a:r>
                    </a:p>
                  </a:txBody>
                  <a:tcPr anchor="ctr" marL="137160" marR="137160">
                    <a:solidFill>
                      <a:srgbClr val="FFFFFF"/>
                    </a:solidFill>
                  </a:tcPr>
                </a:tc>
                <a:tc>
                  <a:txBody>
                    <a:bodyPr/>
                    <a:lstStyle/>
                    <a:p>
                      <a:pPr algn="ctr"/>
                      <a:r>
                        <a:rPr sz="2600" b="1">
                          <a:solidFill>
                            <a:srgbClr val="111827"/>
                          </a:solidFill>
                          <a:latin typeface="Arial"/>
                        </a:rPr>
                        <a:t>2.59</a:t>
                      </a:r>
                    </a:p>
                  </a:txBody>
                  <a:tcPr anchor="ctr" marL="137160" marR="137160">
                    <a:solidFill>
                      <a:srgbClr val="FFFFFF"/>
                    </a:solidFill>
                  </a:tcPr>
                </a:tc>
              </a:tr>
              <a:tr h="640080">
                <a:tc>
                  <a:txBody>
                    <a:bodyPr/>
                    <a:lstStyle/>
                    <a:p>
                      <a:pPr algn="l"/>
                      <a:r>
                        <a:rPr sz="2600" b="0">
                          <a:solidFill>
                            <a:srgbClr val="111827"/>
                          </a:solidFill>
                          <a:latin typeface="Arial"/>
                        </a:rPr>
                        <a:t>JEE Advanced 2025</a:t>
                      </a:r>
                    </a:p>
                  </a:txBody>
                  <a:tcPr anchor="ctr" marL="137160" marR="137160">
                    <a:solidFill>
                      <a:srgbClr val="FFFFFF"/>
                    </a:solidFill>
                  </a:tcPr>
                </a:tc>
                <a:tc>
                  <a:txBody>
                    <a:bodyPr/>
                    <a:lstStyle/>
                    <a:p>
                      <a:pPr algn="ctr"/>
                      <a:r>
                        <a:rPr sz="2600" b="1">
                          <a:solidFill>
                            <a:srgbClr val="111827"/>
                          </a:solidFill>
                          <a:latin typeface="Arial"/>
                        </a:rPr>
                        <a:t>3.21</a:t>
                      </a:r>
                    </a:p>
                  </a:txBody>
                  <a:tcPr anchor="ctr" marL="137160" marR="137160">
                    <a:solidFill>
                      <a:srgbClr val="FFFFFF"/>
                    </a:solidFill>
                  </a:tcPr>
                </a:tc>
              </a:tr>
              <a:tr h="640080">
                <a:tc>
                  <a:txBody>
                    <a:bodyPr/>
                    <a:lstStyle/>
                    <a:p>
                      <a:pPr algn="l"/>
                      <a:r>
                        <a:rPr sz="2600" b="0">
                          <a:solidFill>
                            <a:srgbClr val="111827"/>
                          </a:solidFill>
                          <a:latin typeface="Arial"/>
                        </a:rPr>
                        <a:t>JEE Advanced 2026</a:t>
                      </a:r>
                    </a:p>
                  </a:txBody>
                  <a:tcPr anchor="ctr" marL="137160" marR="137160">
                    <a:solidFill>
                      <a:srgbClr val="FFFFFF"/>
                    </a:solidFill>
                  </a:tcPr>
                </a:tc>
                <a:tc>
                  <a:txBody>
                    <a:bodyPr/>
                    <a:lstStyle/>
                    <a:p>
                      <a:pPr algn="ctr"/>
                      <a:r>
                        <a:rPr sz="2600" b="1">
                          <a:solidFill>
                            <a:srgbClr val="111827"/>
                          </a:solidFill>
                          <a:latin typeface="Arial"/>
                        </a:rPr>
                        <a:t>3.02</a:t>
                      </a:r>
                    </a:p>
                  </a:txBody>
                  <a:tcPr anchor="ctr" marL="137160" marR="137160">
                    <a:solidFill>
                      <a:srgbClr val="FFFFFF"/>
                    </a:solidFill>
                  </a:tcPr>
                </a:tc>
              </a:tr>
              <a:tr h="640080">
                <a:tc>
                  <a:txBody>
                    <a:bodyPr/>
                    <a:lstStyle/>
                    <a:p>
                      <a:pPr algn="l"/>
                      <a:r>
                        <a:rPr sz="2600" b="1">
                          <a:solidFill>
                            <a:srgbClr val="0B1F3A"/>
                          </a:solidFill>
                          <a:latin typeface="Arial"/>
                        </a:rPr>
                        <a:t>PRT 07 Paper 01</a:t>
                      </a:r>
                    </a:p>
                  </a:txBody>
                  <a:tcPr anchor="ctr" marL="137160" marR="137160">
                    <a:solidFill>
                      <a:srgbClr val="E0ECFF"/>
                    </a:solidFill>
                  </a:tcPr>
                </a:tc>
                <a:tc>
                  <a:txBody>
                    <a:bodyPr/>
                    <a:lstStyle/>
                    <a:p>
                      <a:pPr algn="ctr"/>
                      <a:r>
                        <a:rPr sz="2600" b="1">
                          <a:solidFill>
                            <a:srgbClr val="0B1F3A"/>
                          </a:solidFill>
                          <a:latin typeface="Arial"/>
                        </a:rPr>
                        <a:t>1.16</a:t>
                      </a:r>
                    </a:p>
                  </a:txBody>
                  <a:tcPr anchor="ctr" marL="137160" marR="137160">
                    <a:solidFill>
                      <a:srgbClr val="E0ECFF"/>
                    </a:solidFill>
                  </a:tcPr>
                </a:tc>
              </a:tr>
            </a:tbl>
          </a:graphicData>
        </a:graphic>
      </p:graphicFrame>
      <p:sp>
        <p:nvSpPr>
          <p:cNvPr id="4" name="TextBox 3"/>
          <p:cNvSpPr txBox="1"/>
          <p:nvPr/>
        </p:nvSpPr>
        <p:spPr>
          <a:xfrm>
            <a:off x="731520" y="6080759"/>
            <a:ext cx="10725912" cy="457200"/>
          </a:xfrm>
          <a:prstGeom prst="rect">
            <a:avLst/>
          </a:prstGeom>
          <a:noFill/>
        </p:spPr>
        <p:txBody>
          <a:bodyPr wrap="none">
            <a:spAutoFit/>
          </a:bodyPr>
          <a:lstStyle>
            <a:lvl1pPr>
              <a:defRPr sz="2000">
                <a:solidFill>
                  <a:srgbClr val="111827"/>
                </a:solidFill>
              </a:defRPr>
            </a:lvl1pPr>
          </a:lstStyle>
          <a:p>
            <a:pPr algn="ctr">
              <a:defRPr sz="2000">
                <a:solidFill>
                  <a:srgbClr val="111827"/>
                </a:solidFill>
              </a:defRPr>
            </a:pPr>
            <a:r>
              <a:rPr sz="2000" b="0">
                <a:solidFill>
                  <a:srgbClr val="111827"/>
                </a:solidFill>
                <a:latin typeface="Arial"/>
              </a:rPr>
              <a:t>Marks-weighted difficulty index on the 0-5 scale</a:t>
            </a:r>
            <a:endParaRPr sz="2000">
              <a:solidFill>
                <a:srgbClr val="111827"/>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