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FFD966"/>
              </a:solidFill>
              <a:ln w="9525">
                <a:solidFill>
                  <a:srgbClr val="111827"/>
                </a:solidFill>
              </a:ln>
            </c:spPr>
          </c:dPt>
          <c:dPt>
            <c:idx val="2"/>
            <c:spPr>
              <a:solidFill>
                <a:srgbClr val="F6B26B"/>
              </a:solidFill>
              <a:ln w="9525">
                <a:solidFill>
                  <a:srgbClr val="111827"/>
                </a:solidFill>
              </a:ln>
            </c:spPr>
          </c:dPt>
          <c:dPt>
            <c:idx val="3"/>
            <c:spPr>
              <a:solidFill>
                <a:srgbClr val="F6B26B"/>
              </a:solidFill>
              <a:ln w="9525">
                <a:solidFill>
                  <a:srgbClr val="111827"/>
                </a:solidFill>
              </a:ln>
            </c:spPr>
          </c:dPt>
          <c:dPt>
            <c:idx val="4"/>
            <c:spPr>
              <a:solidFill>
                <a:srgbClr val="F6B26B"/>
              </a:solidFill>
              <a:ln w="9525">
                <a:solidFill>
                  <a:srgbClr val="111827"/>
                </a:solidFill>
              </a:ln>
            </c:spPr>
          </c:dPt>
          <c:dPt>
            <c:idx val="5"/>
            <c:spPr>
              <a:solidFill>
                <a:srgbClr val="B6D7A8"/>
              </a:solidFill>
              <a:ln w="9525">
                <a:solidFill>
                  <a:srgbClr val="111827"/>
                </a:solidFill>
              </a:ln>
            </c:spPr>
          </c:dPt>
          <c:dPt>
            <c:idx val="6"/>
            <c:spPr>
              <a:solidFill>
                <a:srgbClr val="E88080"/>
              </a:solidFill>
              <a:ln w="9525">
                <a:solidFill>
                  <a:srgbClr val="111827"/>
                </a:solidFill>
              </a:ln>
            </c:spPr>
          </c:dPt>
          <c:dPt>
            <c:idx val="7"/>
            <c:spPr>
              <a:solidFill>
                <a:srgbClr val="FFD966"/>
              </a:solidFill>
              <a:ln w="9525">
                <a:solidFill>
                  <a:srgbClr val="111827"/>
                </a:solidFill>
              </a:ln>
            </c:spPr>
          </c:dPt>
          <c:dPt>
            <c:idx val="8"/>
            <c:spPr>
              <a:solidFill>
                <a:srgbClr val="B6D7A8"/>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F6B26B"/>
              </a:solidFill>
              <a:ln w="9525">
                <a:solidFill>
                  <a:srgbClr val="111827"/>
                </a:solidFill>
              </a:ln>
            </c:spPr>
          </c:dPt>
          <c:dPt>
            <c:idx val="12"/>
            <c:spPr>
              <a:solidFill>
                <a:srgbClr val="F6B26B"/>
              </a:solidFill>
              <a:ln w="9525">
                <a:solidFill>
                  <a:srgbClr val="111827"/>
                </a:solidFill>
              </a:ln>
            </c:spPr>
          </c:dPt>
          <c:dPt>
            <c:idx val="13"/>
            <c:spPr>
              <a:solidFill>
                <a:srgbClr val="FFD966"/>
              </a:solidFill>
              <a:ln w="9525">
                <a:solidFill>
                  <a:srgbClr val="111827"/>
                </a:solidFill>
              </a:ln>
            </c:spPr>
          </c:dPt>
          <c:dPt>
            <c:idx val="14"/>
            <c:spPr>
              <a:solidFill>
                <a:srgbClr val="FFD966"/>
              </a:solidFill>
              <a:ln w="9525">
                <a:solidFill>
                  <a:srgbClr val="111827"/>
                </a:solidFill>
              </a:ln>
            </c:spPr>
          </c:dPt>
          <c:dPt>
            <c:idx val="15"/>
            <c:spPr>
              <a:solidFill>
                <a:srgbClr val="FFD966"/>
              </a:solidFill>
              <a:ln w="9525">
                <a:solidFill>
                  <a:srgbClr val="111827"/>
                </a:solidFill>
              </a:ln>
            </c:spPr>
          </c:dPt>
          <c:dPt>
            <c:idx val="16"/>
            <c:spPr>
              <a:solidFill>
                <a:srgbClr val="F6B26B"/>
              </a:solidFill>
              <a:ln w="9525">
                <a:solidFill>
                  <a:srgbClr val="111827"/>
                </a:solidFill>
              </a:ln>
            </c:spPr>
          </c:dPt>
          <c:dPt>
            <c:idx val="17"/>
            <c:spPr>
              <a:solidFill>
                <a:srgbClr val="E88080"/>
              </a:solidFill>
              <a:ln w="9525">
                <a:solidFill>
                  <a:srgbClr val="111827"/>
                </a:solidFill>
              </a:ln>
            </c:spPr>
          </c:dPt>
          <c:dPt>
            <c:idx val="18"/>
            <c:spPr>
              <a:solidFill>
                <a:srgbClr val="E88080"/>
              </a:solidFill>
              <a:ln w="9525">
                <a:solidFill>
                  <a:srgbClr val="111827"/>
                </a:solidFill>
              </a:ln>
            </c:spPr>
          </c:dPt>
          <c:dPt>
            <c:idx val="19"/>
            <c:spPr>
              <a:solidFill>
                <a:srgbClr val="CC4125"/>
              </a:solidFill>
              <a:ln w="9525">
                <a:solidFill>
                  <a:srgbClr val="111827"/>
                </a:solidFill>
              </a:ln>
            </c:spPr>
          </c:dPt>
          <c:dPt>
            <c:idx val="20"/>
            <c:spPr>
              <a:solidFill>
                <a:srgbClr val="F6B26B"/>
              </a:solidFill>
              <a:ln w="9525">
                <a:solidFill>
                  <a:srgbClr val="111827"/>
                </a:solidFill>
              </a:ln>
            </c:spPr>
          </c:dPt>
          <c:cat>
            <c:strRef>
              <c:f>Sheet1!$A$2:$A$22</c:f>
              <c:strCache>
                <c:ptCount val="21"/>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strCache>
            </c:strRef>
          </c:cat>
          <c:val>
            <c:numRef>
              <c:f>Sheet1!$B$2:$B$22</c:f>
              <c:numCache>
                <c:formatCode>General</c:formatCode>
                <c:ptCount val="21"/>
                <c:pt idx="0">
                  <c:v>2.0</c:v>
                </c:pt>
                <c:pt idx="1">
                  <c:v>2.0</c:v>
                </c:pt>
                <c:pt idx="2">
                  <c:v>3.0</c:v>
                </c:pt>
                <c:pt idx="3">
                  <c:v>3.0</c:v>
                </c:pt>
                <c:pt idx="4">
                  <c:v>3.0</c:v>
                </c:pt>
                <c:pt idx="5">
                  <c:v>1.0</c:v>
                </c:pt>
                <c:pt idx="6">
                  <c:v>4.0</c:v>
                </c:pt>
                <c:pt idx="7">
                  <c:v>2.0</c:v>
                </c:pt>
                <c:pt idx="8">
                  <c:v>1.0</c:v>
                </c:pt>
                <c:pt idx="9">
                  <c:v>2.0</c:v>
                </c:pt>
                <c:pt idx="10">
                  <c:v>2.0</c:v>
                </c:pt>
                <c:pt idx="11">
                  <c:v>3.0</c:v>
                </c:pt>
                <c:pt idx="12">
                  <c:v>3.0</c:v>
                </c:pt>
                <c:pt idx="13">
                  <c:v>2.0</c:v>
                </c:pt>
                <c:pt idx="14">
                  <c:v>2.0</c:v>
                </c:pt>
                <c:pt idx="15">
                  <c:v>2.0</c:v>
                </c:pt>
                <c:pt idx="16">
                  <c:v>3.0</c:v>
                </c:pt>
                <c:pt idx="17">
                  <c:v>4.0</c:v>
                </c:pt>
                <c:pt idx="18">
                  <c:v>4.0</c:v>
                </c:pt>
                <c:pt idx="19">
                  <c:v>5.0</c:v>
                </c:pt>
                <c:pt idx="20">
                  <c:v>3.0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'Alternative' table listing the 7 tuples has three wrong rows (1,2,4,5,7 sums to 19; 1,2,4,6,8 sums to 21; 1,3,4,6,7 sums to 21). The correct list is (1,2,3,4,10),(1,2,3,5,9),(1,2,3,6,8),(1,2,4,5,8),(1,2,4,6,7),(1,3,4,5,7),(2,3,4,5,6). The main method and the answer 7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for S3 and S4 is wrong: it writes n3 = 8C4 = 70 and n4 = 10C4 = 210 and marks (D) with a cross, although its own answer key (ABD) says (D) is true. Correct values: n3 = C(10,4) = 210 (so (C) n3 = 220 is false) and n4 = 10*9*8*7 = 5040 = 4! x 210, so n4/12 = 420 (true). The PDF's n1 = 1000 and n2 = 44 are correct, but its table for n2 is garbled; it is rewritten as the sum 2+3+...+9. Answer key ABD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Permutations &amp; Combinations (Exercise J-A) — Paper Analysis</a:t>
            </a:r>
            <a:endParaRPr sz="4000">
              <a:solidFill>
                <a:srgbClr val="FFFFFF"/>
              </a:solidFill>
            </a:endParaRPr>
          </a:p>
          <a:p>
            <a:pPr algn="ctr"/>
            <a:r>
              <a:rPr sz="2200">
                <a:solidFill>
                  <a:srgbClr val="FFFFFF"/>
                </a:solidFill>
                <a:latin typeface="Arial"/>
              </a:rPr>
              <a:t>JEE Advanced previous-year questions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ways in which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balls of different colours can be distributed among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persons so that each person gets at least one ball is: [JEE 2012]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150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210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243</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total number of ways in which </a:t>
                </a:r>
                <a:r>
                  <a:rPr lang="en-IN" sz="2400">
                    <a:solidFill>
                      <a:srgbClr val="111827"/>
                    </a:solidFill>
                    <a:latin typeface="Cambria Math" panose="02040503050406030204" pitchFamily="18" charset="0"/>
                  </a:rPr>
                  <a:t>$5$</a:t>
                </a:r>
                <a:r>
                  <a:rPr sz="2400" b="0">
                    <a:solidFill>
                      <a:srgbClr val="111827"/>
                    </a:solidFill>
                    <a:latin typeface="Arial"/>
                  </a:rPr>
                  <a:t> balls of different colours can be distributed among </a:t>
                </a:r>
                <a:r>
                  <a:rPr lang="en-IN" sz="2400">
                    <a:solidFill>
                      <a:srgbClr val="111827"/>
                    </a:solidFill>
                    <a:latin typeface="Cambria Math" panose="02040503050406030204" pitchFamily="18" charset="0"/>
                  </a:rPr>
                  <a:t>$3$</a:t>
                </a:r>
                <a:r>
                  <a:rPr sz="2400" b="0">
                    <a:solidFill>
                      <a:srgbClr val="111827"/>
                    </a:solidFill>
                    <a:latin typeface="Arial"/>
                  </a:rPr>
                  <a:t> persons so that each person gets at least one ball is: [JEE 2012]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$75$</a:t>
                </a:r>
                <a:r>
                  <a:rPr sz="2400" b="0">
                    <a:solidFill>
                      <a:srgbClr val="111827"/>
                    </a:solidFill>
                    <a:latin typeface="Arial"/>
                  </a:rPr>
                  <a:t>   (B) </a:t>
                </a:r>
                <a:r>
                  <a:rPr lang="en-IN" sz="2400">
                    <a:solidFill>
                      <a:srgbClr val="111827"/>
                    </a:solidFill>
                    <a:latin typeface="Cambria Math" panose="02040503050406030204" pitchFamily="18" charset="0"/>
                  </a:rPr>
                  <a:t>$150$</a:t>
                </a:r>
                <a:r>
                  <a:rPr sz="2400" b="0">
                    <a:solidFill>
                      <a:srgbClr val="111827"/>
                    </a:solidFill>
                    <a:latin typeface="Arial"/>
                  </a:rPr>
                  <a:t>   (C) </a:t>
                </a:r>
                <a:r>
                  <a:rPr lang="en-IN" sz="2400">
                    <a:solidFill>
                      <a:srgbClr val="111827"/>
                    </a:solidFill>
                    <a:latin typeface="Cambria Math" panose="02040503050406030204" pitchFamily="18" charset="0"/>
                  </a:rPr>
                  <a:t>$210$</a:t>
                </a:r>
                <a:r>
                  <a:rPr sz="2400" b="0">
                    <a:solidFill>
                      <a:srgbClr val="111827"/>
                    </a:solidFill>
                    <a:latin typeface="Arial"/>
                  </a:rPr>
                  <a:t>   (D) </a:t>
                </a:r>
                <a:r>
                  <a:rPr lang="en-IN" sz="2400">
                    <a:solidFill>
                      <a:srgbClr val="111827"/>
                    </a:solidFill>
                    <a:latin typeface="Cambria Math" panose="02040503050406030204" pitchFamily="18" charset="0"/>
                  </a:rPr>
                  <a:t>$243$</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distinct objects into groups with no group empty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into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group the balls, then assign the groups to the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persons.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r>
                  <a:rPr lang="en-IN" sz="2400">
                    <a:solidFill>
                      <a:srgbClr val="78350F"/>
                    </a:solidFill>
                    <a:latin typeface="Cambria Math" panose="02040503050406030204" pitchFamily="18" charset="0"/>
                  </a:rPr>
                  <a:t>$5$</a:t>
                </a:r>
                <a:r>
                  <a:rPr sz="2400" b="0">
                    <a:solidFill>
                      <a:srgbClr val="78350F"/>
                    </a:solidFill>
                    <a:latin typeface="Arial"/>
                  </a:rPr>
                  <a:t> into </a:t>
                </a:r>
                <a:r>
                  <a:rPr lang="en-IN" sz="2400">
                    <a:solidFill>
                      <a:srgbClr val="78350F"/>
                    </a:solidFill>
                    <a:latin typeface="Cambria Math" panose="02040503050406030204" pitchFamily="18" charset="0"/>
                  </a:rPr>
                  <a:t>$1,1,3$</a:t>
                </a:r>
                <a:r>
                  <a:rPr sz="2400" b="0">
                    <a:solidFill>
                      <a:srgbClr val="78350F"/>
                    </a:solidFill>
                    <a:latin typeface="Arial"/>
                  </a:rPr>
                  <a:t> or </a:t>
                </a:r>
                <a:r>
                  <a:rPr lang="en-IN" sz="2400">
                    <a:solidFill>
                      <a:srgbClr val="78350F"/>
                    </a:solidFill>
                    <a:latin typeface="Cambria Math" panose="02040503050406030204" pitchFamily="18" charset="0"/>
                  </a:rPr>
                  <a:t>$1,2,2$</a:t>
                </a:r>
                <a:r>
                  <a:rPr sz="2400" b="0">
                    <a:solidFill>
                      <a:srgbClr val="78350F"/>
                    </a:solidFill>
                    <a:latin typeface="Arial"/>
                  </a:rPr>
                  <a:t>, group the balls, then assign the groups to the </a:t>
                </a:r>
                <a:r>
                  <a:rPr lang="en-IN" sz="2400">
                    <a:solidFill>
                      <a:srgbClr val="78350F"/>
                    </a:solidFill>
                    <a:latin typeface="Cambria Math" panose="02040503050406030204" pitchFamily="18" charset="0"/>
                  </a:rPr>
                  <a:t>$3$</a:t>
                </a:r>
                <a:r>
                  <a:rPr sz="2400" b="0">
                    <a:solidFill>
                      <a:srgbClr val="78350F"/>
                    </a:solidFill>
                    <a:latin typeface="Arial"/>
                  </a:rPr>
                  <a:t> persons.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person gets at least one ball, so the numbers of balls received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 some order).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ways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(the factor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because the two groups of size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are identical in size;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assigns the groups to persons).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person gets at least one ball, so the numbers of balls received are </a:t>
                </a:r>
                <a:r>
                  <a:rPr lang="en-IN" sz="2400">
                    <a:solidFill>
                      <a:srgbClr val="111827"/>
                    </a:solidFill>
                    <a:latin typeface="Cambria Math" panose="02040503050406030204" pitchFamily="18" charset="0"/>
                  </a:rPr>
                  <a:t>$1,1,3$</a:t>
                </a:r>
                <a:r>
                  <a:rPr sz="2400" b="0">
                    <a:solidFill>
                      <a:srgbClr val="111827"/>
                    </a:solidFill>
                    <a:latin typeface="Arial"/>
                  </a:rPr>
                  <a:t> or </a:t>
                </a:r>
                <a:r>
                  <a:rPr lang="en-IN" sz="2400">
                    <a:solidFill>
                      <a:srgbClr val="111827"/>
                    </a:solidFill>
                    <a:latin typeface="Cambria Math" panose="02040503050406030204" pitchFamily="18" charset="0"/>
                  </a:rPr>
                  <a:t>$1,2,2$</a:t>
                </a:r>
                <a:r>
                  <a:rPr sz="2400" b="0">
                    <a:solidFill>
                      <a:srgbClr val="111827"/>
                    </a:solidFill>
                    <a:latin typeface="Arial"/>
                  </a:rPr>
                  <a:t> (in some order).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$1,1,3$</a:t>
                </a:r>
                <a:r>
                  <a:rPr sz="2400" b="0">
                    <a:solidFill>
                      <a:srgbClr val="111827"/>
                    </a:solidFill>
                    <a:latin typeface="Arial"/>
                  </a:rPr>
                  <a:t>: ways </a:t>
                </a:r>
                <a:r>
                  <a:rPr lang="en-IN" sz="2400">
                    <a:solidFill>
                      <a:srgbClr val="111827"/>
                    </a:solidFill>
                    <a:latin typeface="Cambria Math" panose="02040503050406030204" pitchFamily="18" charset="0"/>
                  </a:rPr>
                  <a:t>$=\frac{5!}{1!\,1!\,3!}\cdot\frac{1}{2!}\cdot 3! = 60$</a:t>
                </a:r>
                <a:r>
                  <a:rPr sz="2400" b="0">
                    <a:solidFill>
                      <a:srgbClr val="111827"/>
                    </a:solidFill>
                    <a:latin typeface="Arial"/>
                  </a:rPr>
                  <a:t> (the factor </a:t>
                </a:r>
                <a:r>
                  <a:rPr lang="en-IN" sz="2400">
                    <a:solidFill>
                      <a:srgbClr val="111827"/>
                    </a:solidFill>
                    <a:latin typeface="Cambria Math" panose="02040503050406030204" pitchFamily="18" charset="0"/>
                  </a:rPr>
                  <a:t>$\frac{1}{2!}$</a:t>
                </a:r>
                <a:r>
                  <a:rPr sz="2400" b="0">
                    <a:solidFill>
                      <a:srgbClr val="111827"/>
                    </a:solidFill>
                    <a:latin typeface="Arial"/>
                  </a:rPr>
                  <a:t> because the two groups of size </a:t>
                </a:r>
                <a:r>
                  <a:rPr lang="en-IN" sz="2400">
                    <a:solidFill>
                      <a:srgbClr val="111827"/>
                    </a:solidFill>
                    <a:latin typeface="Cambria Math" panose="02040503050406030204" pitchFamily="18" charset="0"/>
                  </a:rPr>
                  <a:t>$1$</a:t>
                </a:r>
                <a:r>
                  <a:rPr sz="2400" b="0">
                    <a:solidFill>
                      <a:srgbClr val="111827"/>
                    </a:solidFill>
                    <a:latin typeface="Arial"/>
                  </a:rPr>
                  <a:t> are identical in size; </a:t>
                </a:r>
                <a:r>
                  <a:rPr lang="en-IN" sz="2400">
                    <a:solidFill>
                      <a:srgbClr val="111827"/>
                    </a:solidFill>
                    <a:latin typeface="Cambria Math" panose="02040503050406030204" pitchFamily="18" charset="0"/>
                  </a:rPr>
                  <a:t>$3!$</a:t>
                </a:r>
                <a:r>
                  <a:rPr sz="2400" b="0">
                    <a:solidFill>
                      <a:srgbClr val="111827"/>
                    </a:solidFill>
                    <a:latin typeface="Arial"/>
                  </a:rPr>
                  <a:t> assigns the groups to persons).</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ways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 (the factor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because the two groups of size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are identical in size).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$1,2,2$</a:t>
                </a:r>
                <a:r>
                  <a:rPr sz="2400" b="0">
                    <a:solidFill>
                      <a:srgbClr val="111827"/>
                    </a:solidFill>
                    <a:latin typeface="Arial"/>
                  </a:rPr>
                  <a:t>: ways </a:t>
                </a:r>
                <a:r>
                  <a:rPr lang="en-IN" sz="2400">
                    <a:solidFill>
                      <a:srgbClr val="111827"/>
                    </a:solidFill>
                    <a:latin typeface="Cambria Math" panose="02040503050406030204" pitchFamily="18" charset="0"/>
                  </a:rPr>
                  <a:t>$=\frac{5!}{1!\,2!\,2!}\cdot\frac{1}{2!}\cdot 3! = 90$</a:t>
                </a:r>
                <a:r>
                  <a:rPr sz="2400" b="0">
                    <a:solidFill>
                      <a:srgbClr val="111827"/>
                    </a:solidFill>
                    <a:latin typeface="Arial"/>
                  </a:rPr>
                  <a:t> (the factor </a:t>
                </a:r>
                <a:r>
                  <a:rPr lang="en-IN" sz="2400">
                    <a:solidFill>
                      <a:srgbClr val="111827"/>
                    </a:solidFill>
                    <a:latin typeface="Cambria Math" panose="02040503050406030204" pitchFamily="18" charset="0"/>
                  </a:rPr>
                  <a:t>$\frac{1}{2!}$</a:t>
                </a:r>
                <a:r>
                  <a:rPr sz="2400" b="0">
                    <a:solidFill>
                      <a:srgbClr val="111827"/>
                    </a:solidFill>
                    <a:latin typeface="Arial"/>
                  </a:rPr>
                  <a:t> because the two groups of size </a:t>
                </a:r>
                <a:r>
                  <a:rPr lang="en-IN" sz="2400">
                    <a:solidFill>
                      <a:srgbClr val="111827"/>
                    </a:solidFill>
                    <a:latin typeface="Cambria Math" panose="02040503050406030204" pitchFamily="18" charset="0"/>
                  </a:rPr>
                  <a:t>$2$</a:t>
                </a:r>
                <a:r>
                  <a:rPr sz="2400" b="0">
                    <a:solidFill>
                      <a:srgbClr val="111827"/>
                    </a:solidFill>
                    <a:latin typeface="Arial"/>
                  </a:rPr>
                  <a:t> are identical in size).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number of ways </a:t>
                </a:r>
                <a:r>
                  <a:rPr lang="en-IN" sz="2400">
                    <a:solidFill>
                      <a:srgbClr val="111827"/>
                    </a:solidFill>
                    <a:latin typeface="Cambria Math" panose="02040503050406030204" pitchFamily="18" charset="0"/>
                  </a:rPr>
                  <a:t>$=60+90=150$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150</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Each person gets at least one ball means the map from balls to persons is onto, so use inclusion–exclusion on surjections.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 each of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balls to one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persons: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 ways in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the ways in which a chosen person gets nothing: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 each of the </a:t>
                </a:r>
                <a:r>
                  <a:rPr lang="en-IN" sz="2400">
                    <a:solidFill>
                      <a:srgbClr val="111827"/>
                    </a:solidFill>
                    <a:latin typeface="Cambria Math" panose="02040503050406030204" pitchFamily="18" charset="0"/>
                  </a:rPr>
                  <a:t>$5$</a:t>
                </a:r>
                <a:r>
                  <a:rPr sz="2400" b="0">
                    <a:solidFill>
                      <a:srgbClr val="111827"/>
                    </a:solidFill>
                    <a:latin typeface="Arial"/>
                  </a:rPr>
                  <a:t> balls to one of </a:t>
                </a:r>
                <a:r>
                  <a:rPr lang="en-IN" sz="2400">
                    <a:solidFill>
                      <a:srgbClr val="111827"/>
                    </a:solidFill>
                    <a:latin typeface="Cambria Math" panose="02040503050406030204" pitchFamily="18" charset="0"/>
                  </a:rPr>
                  <a:t>$3$</a:t>
                </a:r>
                <a:r>
                  <a:rPr sz="2400" b="0">
                    <a:solidFill>
                      <a:srgbClr val="111827"/>
                    </a:solidFill>
                    <a:latin typeface="Arial"/>
                  </a:rPr>
                  <a:t> persons: </a:t>
                </a:r>
                <a:r>
                  <a:rPr lang="en-IN" sz="2400">
                    <a:solidFill>
                      <a:srgbClr val="111827"/>
                    </a:solidFill>
                    <a:latin typeface="Cambria Math" panose="02040503050406030204" pitchFamily="18" charset="0"/>
                  </a:rPr>
                  <a:t>$3^5=243$</a:t>
                </a:r>
                <a:r>
                  <a:rPr sz="2400" b="0">
                    <a:solidFill>
                      <a:srgbClr val="111827"/>
                    </a:solidFill>
                    <a:latin typeface="Arial"/>
                  </a:rPr>
                  <a:t> ways in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the ways in which a chosen person gets nothing: </a:t>
                </a:r>
                <a:r>
                  <a:rPr lang="en-IN" sz="2400">
                    <a:solidFill>
                      <a:srgbClr val="111827"/>
                    </a:solidFill>
                    <a:latin typeface="Cambria Math" panose="02040503050406030204" pitchFamily="18" charset="0"/>
                  </a:rPr>
                  <a:t>$\binom{3}{1}2^5=96$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 back the ways in which two chosen persons get nothing (all balls go to one person):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onto maps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 back the ways in which two chosen persons get nothing (all balls go to one person): </a:t>
                </a:r>
                <a:r>
                  <a:rPr lang="en-IN" sz="2400">
                    <a:solidFill>
                      <a:srgbClr val="111827"/>
                    </a:solidFill>
                    <a:latin typeface="Cambria Math" panose="02040503050406030204" pitchFamily="18" charset="0"/>
                  </a:rPr>
                  <a:t>$\binom{3}{2}1^5=3$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onto maps </a:t>
                </a:r>
                <a:r>
                  <a:rPr lang="en-IN" sz="2400">
                    <a:solidFill>
                      <a:srgbClr val="111827"/>
                    </a:solidFill>
                    <a:latin typeface="Cambria Math" panose="02040503050406030204" pitchFamily="18" charset="0"/>
                  </a:rPr>
                  <a:t>$=243-96+3=150$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150</a:t>
            </a:r>
            <a:endParaRPr sz="2800">
              <a:solidFill>
                <a:srgbClr val="15803D"/>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onto functions from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to an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-set: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𝑚</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Distinct objects into distinct boxes, none empty: first find the group sizes, then divide by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groups of equal size, then multiply by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name the boxes.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onto functions from an </a:t>
                </a:r>
                <a:r>
                  <a:rPr lang="en-IN" sz="2400">
                    <a:solidFill>
                      <a:srgbClr val="111827"/>
                    </a:solidFill>
                    <a:latin typeface="Cambria Math" panose="02040503050406030204" pitchFamily="18" charset="0"/>
                  </a:rPr>
                  <a:t>$n$</a:t>
                </a:r>
                <a:r>
                  <a:rPr sz="2400" b="0">
                    <a:solidFill>
                      <a:srgbClr val="111827"/>
                    </a:solidFill>
                    <a:latin typeface="Arial"/>
                  </a:rPr>
                  <a:t>-set to an </a:t>
                </a:r>
                <a:r>
                  <a:rPr lang="en-IN" sz="2400">
                    <a:solidFill>
                      <a:srgbClr val="111827"/>
                    </a:solidFill>
                    <a:latin typeface="Cambria Math" panose="02040503050406030204" pitchFamily="18" charset="0"/>
                  </a:rPr>
                  <a:t>$m$</a:t>
                </a:r>
                <a:r>
                  <a:rPr sz="2400" b="0">
                    <a:solidFill>
                      <a:srgbClr val="111827"/>
                    </a:solidFill>
                    <a:latin typeface="Arial"/>
                  </a:rPr>
                  <a:t>-set: </a:t>
                </a:r>
                <a:r>
                  <a:rPr lang="en-IN" sz="2400">
                    <a:solidFill>
                      <a:srgbClr val="111827"/>
                    </a:solidFill>
                    <a:latin typeface="Cambria Math" panose="02040503050406030204" pitchFamily="18" charset="0"/>
                  </a:rPr>
                  <a:t>$\sum_{k=0}^{m}(-1)^k\binom{m}{k}(m-k)^n=m!\,S(n,m)$</a:t>
                </a:r>
                <a:r>
                  <a:rPr sz="2400" b="0">
                    <a:solidFill>
                      <a:srgbClr val="111827"/>
                    </a:solidFill>
                    <a:latin typeface="Arial"/>
                  </a:rPr>
                  <a:t>; here </a:t>
                </a:r>
                <a:r>
                  <a:rPr lang="en-IN" sz="2400">
                    <a:solidFill>
                      <a:srgbClr val="111827"/>
                    </a:solidFill>
                    <a:latin typeface="Cambria Math" panose="02040503050406030204" pitchFamily="18" charset="0"/>
                  </a:rPr>
                  <a:t>$3!\,S(5,3)=6\cdot25=150$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Distinct objects into distinct boxes, none empty: first find the group sizes, then divide by </a:t>
                </a:r>
                <a:r>
                  <a:rPr lang="en-IN" sz="2400">
                    <a:solidFill>
                      <a:srgbClr val="111827"/>
                    </a:solidFill>
                    <a:latin typeface="Cambria Math" panose="02040503050406030204" pitchFamily="18" charset="0"/>
                  </a:rPr>
                  <a:t>$r!$</a:t>
                </a:r>
                <a:r>
                  <a:rPr sz="2400" b="0">
                    <a:solidFill>
                      <a:srgbClr val="111827"/>
                    </a:solidFill>
                    <a:latin typeface="Arial"/>
                  </a:rPr>
                  <a:t> for every </a:t>
                </a:r>
                <a:r>
                  <a:rPr lang="en-IN" sz="2400">
                    <a:solidFill>
                      <a:srgbClr val="111827"/>
                    </a:solidFill>
                    <a:latin typeface="Cambria Math" panose="02040503050406030204" pitchFamily="18" charset="0"/>
                  </a:rPr>
                  <a:t>$r$</a:t>
                </a:r>
                <a:r>
                  <a:rPr sz="2400" b="0">
                    <a:solidFill>
                      <a:srgbClr val="111827"/>
                    </a:solidFill>
                    <a:latin typeface="Arial"/>
                  </a:rPr>
                  <a:t> groups of equal size, then multiply by </a:t>
                </a:r>
                <a:r>
                  <a:rPr lang="en-IN" sz="2400">
                    <a:solidFill>
                      <a:srgbClr val="111827"/>
                    </a:solidFill>
                    <a:latin typeface="Cambria Math" panose="02040503050406030204" pitchFamily="18" charset="0"/>
                  </a:rPr>
                  <a:t>$m!$</a:t>
                </a:r>
                <a:r>
                  <a:rPr sz="2400" b="0">
                    <a:solidFill>
                      <a:srgbClr val="111827"/>
                    </a:solidFill>
                    <a:latin typeface="Arial"/>
                  </a:rPr>
                  <a:t> to name the boxes.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a:t>
                </a:r>
                <a:r>
                  <a:rPr lang="en-IN" sz="2400">
                    <a:solidFill>
                      <a:srgbClr val="111827"/>
                    </a:solidFill>
                    <a:latin typeface="Cambria Math" panose="02040503050406030204" pitchFamily="18" charset="0"/>
                  </a:rPr>
                  <a:t>$S(5,3)=25$</a:t>
                </a:r>
                <a:r>
                  <a:rPr sz="2400" b="0">
                    <a:solidFill>
                      <a:srgbClr val="111827"/>
                    </a:solidFill>
                    <a:latin typeface="Arial"/>
                  </a:rPr>
                  <a:t> equals </a:t>
                </a:r>
                <a:r>
                  <a:rPr lang="en-IN" sz="2400">
                    <a:solidFill>
                      <a:srgbClr val="111827"/>
                    </a:solidFill>
                    <a:latin typeface="Cambria Math" panose="02040503050406030204" pitchFamily="18" charset="0"/>
                  </a:rPr>
                  <a:t>$\frac{5!}{1!1!3!\,2!}+\frac{5!}{1!2!2!\,2!}=10+15$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Paragraph Based 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Q02 – Q03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0 if unanswered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50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denote the number of all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positive integers formed by the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both such that no consecutive digits in them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such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integers ending with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such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integers ending with digit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11</m:t>
                    </m:r>
                  </m:oMath>
                </a14:m>
                <a:endParaRPr sz="2400">
                  <a:solidFill>
                    <a:srgbClr val="111827"/>
                  </a:solidFill>
                </a:endParaRPr>
              </a:p>
            </p:txBody>
          </p:sp>
        </mc:Choice>
        <mc:Fallback>
          <p:sp>
            <p:nvSpPr>
              <p:cNvPr id="4" name="Rounded Rectangle 3"/>
              <p:cNvSpPr/>
              <p:nvPr/>
            </p:nvSpPr>
            <p:spPr>
              <a:xfrm>
                <a:off x="731520" y="1280160"/>
                <a:ext cx="10725912" cy="3250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$a_n$</a:t>
                </a:r>
                <a:r>
                  <a:rPr sz="2400" b="0">
                    <a:solidFill>
                      <a:srgbClr val="111827"/>
                    </a:solidFill>
                    <a:latin typeface="Arial"/>
                  </a:rPr>
                  <a:t> denote the number of all </a:t>
                </a:r>
                <a:r>
                  <a:rPr lang="en-IN" sz="2400">
                    <a:solidFill>
                      <a:srgbClr val="111827"/>
                    </a:solidFill>
                    <a:latin typeface="Cambria Math" panose="02040503050406030204" pitchFamily="18" charset="0"/>
                  </a:rPr>
                  <a:t>$n$</a:t>
                </a:r>
                <a:r>
                  <a:rPr sz="2400" b="0">
                    <a:solidFill>
                      <a:srgbClr val="111827"/>
                    </a:solidFill>
                    <a:latin typeface="Arial"/>
                  </a:rPr>
                  <a:t>-digit positive integers formed by the digits </a:t>
                </a:r>
                <a:r>
                  <a:rPr lang="en-IN" sz="2400">
                    <a:solidFill>
                      <a:srgbClr val="111827"/>
                    </a:solidFill>
                    <a:latin typeface="Cambria Math" panose="02040503050406030204" pitchFamily="18" charset="0"/>
                  </a:rPr>
                  <a:t>$0,1$</a:t>
                </a:r>
                <a:r>
                  <a:rPr sz="2400" b="0">
                    <a:solidFill>
                      <a:srgbClr val="111827"/>
                    </a:solidFill>
                    <a:latin typeface="Arial"/>
                  </a:rPr>
                  <a:t> or both such that no consecutive digits in them are </a:t>
                </a:r>
                <a:r>
                  <a:rPr lang="en-IN" sz="2400">
                    <a:solidFill>
                      <a:srgbClr val="111827"/>
                    </a:solidFill>
                    <a:latin typeface="Cambria Math" panose="02040503050406030204" pitchFamily="18" charset="0"/>
                  </a:rPr>
                  <a:t>$0$</a:t>
                </a:r>
                <a:r>
                  <a:rPr sz="2400" b="0">
                    <a:solidFill>
                      <a:srgbClr val="111827"/>
                    </a:solidFill>
                    <a:latin typeface="Arial"/>
                  </a:rPr>
                  <a:t>. Let </a:t>
                </a:r>
                <a:r>
                  <a:rPr lang="en-IN" sz="2400">
                    <a:solidFill>
                      <a:srgbClr val="111827"/>
                    </a:solidFill>
                    <a:latin typeface="Cambria Math" panose="02040503050406030204" pitchFamily="18" charset="0"/>
                  </a:rPr>
                  <a:t>$b_n=$</a:t>
                </a:r>
                <a:r>
                  <a:rPr sz="2400" b="0">
                    <a:solidFill>
                      <a:srgbClr val="111827"/>
                    </a:solidFill>
                    <a:latin typeface="Arial"/>
                  </a:rPr>
                  <a:t> the number of such </a:t>
                </a:r>
                <a:r>
                  <a:rPr lang="en-IN" sz="2400">
                    <a:solidFill>
                      <a:srgbClr val="111827"/>
                    </a:solidFill>
                    <a:latin typeface="Cambria Math" panose="02040503050406030204" pitchFamily="18" charset="0"/>
                  </a:rPr>
                  <a:t>$n$</a:t>
                </a:r>
                <a:r>
                  <a:rPr sz="2400" b="0">
                    <a:solidFill>
                      <a:srgbClr val="111827"/>
                    </a:solidFill>
                    <a:latin typeface="Arial"/>
                  </a:rPr>
                  <a:t>-digit integers ending with digit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$c_n=$</a:t>
                </a:r>
                <a:r>
                  <a:rPr sz="2400" b="0">
                    <a:solidFill>
                      <a:srgbClr val="111827"/>
                    </a:solidFill>
                    <a:latin typeface="Arial"/>
                  </a:rPr>
                  <a:t> the number of such </a:t>
                </a:r>
                <a:r>
                  <a:rPr lang="en-IN" sz="2400">
                    <a:solidFill>
                      <a:srgbClr val="111827"/>
                    </a:solidFill>
                    <a:latin typeface="Cambria Math" panose="02040503050406030204" pitchFamily="18" charset="0"/>
                  </a:rPr>
                  <a:t>$n$</a:t>
                </a:r>
                <a:r>
                  <a:rPr sz="2400" b="0">
                    <a:solidFill>
                      <a:srgbClr val="111827"/>
                    </a:solidFill>
                    <a:latin typeface="Arial"/>
                  </a:rPr>
                  <a:t>-digit integers ending with digit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$b_6$</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a:t>
                </a:r>
                <a:r>
                  <a:rPr sz="2400" b="0">
                    <a:solidFill>
                      <a:srgbClr val="111827"/>
                    </a:solidFill>
                    <a:latin typeface="Arial"/>
                  </a:rPr>
                  <a:t>   (B) </a:t>
                </a:r>
                <a:r>
                  <a:rPr lang="en-IN" sz="2400">
                    <a:solidFill>
                      <a:srgbClr val="111827"/>
                    </a:solidFill>
                    <a:latin typeface="Cambria Math" panose="02040503050406030204" pitchFamily="18" charset="0"/>
                  </a:rPr>
                  <a:t>$8$</a:t>
                </a:r>
                <a:r>
                  <a:rPr sz="2400" b="0">
                    <a:solidFill>
                      <a:srgbClr val="111827"/>
                    </a:solidFill>
                    <a:latin typeface="Arial"/>
                  </a:rPr>
                  <a:t>   (C) </a:t>
                </a:r>
                <a:r>
                  <a:rPr lang="en-IN" sz="2400">
                    <a:solidFill>
                      <a:srgbClr val="111827"/>
                    </a:solidFill>
                    <a:latin typeface="Cambria Math" panose="02040503050406030204" pitchFamily="18" charset="0"/>
                  </a:rPr>
                  <a:t>$9$</a:t>
                </a:r>
                <a:r>
                  <a:rPr sz="2400" b="0">
                    <a:solidFill>
                      <a:srgbClr val="111827"/>
                    </a:solidFill>
                    <a:latin typeface="Arial"/>
                  </a:rPr>
                  <a:t>   (D) </a:t>
                </a:r>
                <a:r>
                  <a:rPr lang="en-IN" sz="2400">
                    <a:solidFill>
                      <a:srgbClr val="111827"/>
                    </a:solidFill>
                    <a:latin typeface="Cambria Math" panose="02040503050406030204" pitchFamily="18" charset="0"/>
                  </a:rPr>
                  <a:t>$11$</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digit strings with a forbidden pattern (Fibonacci recurrence)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Splitting by the last digit gives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b>
                    </m:sSub>
                  </m:oMath>
                </a14:m>
                <a:r>
                  <a:rPr sz="2400" b="0">
                    <a:solidFill>
                      <a:srgbClr val="78350F"/>
                    </a:solidFill>
                    <a:latin typeface="Arial"/>
                  </a:rPr>
                  <a:t>, a Fibonacci-type recurrence.</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Splitting by the last digit gives </a:t>
                </a:r>
                <a:r>
                  <a:rPr lang="en-IN" sz="2400">
                    <a:solidFill>
                      <a:srgbClr val="78350F"/>
                    </a:solidFill>
                    <a:latin typeface="Cambria Math" panose="02040503050406030204" pitchFamily="18" charset="0"/>
                  </a:rPr>
                  <a:t>$a_n=a_{n-1}+a_{n-2}$</a:t>
                </a:r>
                <a:r>
                  <a:rPr sz="2400" b="0">
                    <a:solidFill>
                      <a:srgbClr val="78350F"/>
                    </a:solidFill>
                    <a:latin typeface="Arial"/>
                  </a:rPr>
                  <a:t>, a Fibonacci-type recurrence.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digit of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number must be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(it cannot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digit of an </a:t>
                </a:r>
                <a:r>
                  <a:rPr lang="en-IN" sz="2400">
                    <a:solidFill>
                      <a:srgbClr val="111827"/>
                    </a:solidFill>
                    <a:latin typeface="Cambria Math" panose="02040503050406030204" pitchFamily="18" charset="0"/>
                  </a:rPr>
                  <a:t>$n$</a:t>
                </a:r>
                <a:r>
                  <a:rPr sz="2400" b="0">
                    <a:solidFill>
                      <a:srgbClr val="111827"/>
                    </a:solidFill>
                    <a:latin typeface="Arial"/>
                  </a:rPr>
                  <a:t>-digit number must be </a:t>
                </a:r>
                <a:r>
                  <a:rPr lang="en-IN" sz="2400">
                    <a:solidFill>
                      <a:srgbClr val="111827"/>
                    </a:solidFill>
                    <a:latin typeface="Cambria Math" panose="02040503050406030204" pitchFamily="18" charset="0"/>
                  </a:rPr>
                  <a:t>$1$</a:t>
                </a:r>
                <a:r>
                  <a:rPr sz="2400" b="0">
                    <a:solidFill>
                      <a:srgbClr val="111827"/>
                    </a:solidFill>
                    <a:latin typeface="Arial"/>
                  </a:rPr>
                  <a:t> (it cannot be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the last digit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remaining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places form any valid string, 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the last digit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the second last digit must be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remaining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places are free, so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valid number ends in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Initial values: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number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numbers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$b_n$</a:t>
                </a:r>
                <a:r>
                  <a:rPr sz="2400" b="0">
                    <a:solidFill>
                      <a:srgbClr val="111827"/>
                    </a:solidFill>
                    <a:latin typeface="Arial"/>
                  </a:rPr>
                  <a:t> the last digit is </a:t>
                </a:r>
                <a:r>
                  <a:rPr lang="en-IN" sz="2400">
                    <a:solidFill>
                      <a:srgbClr val="111827"/>
                    </a:solidFill>
                    <a:latin typeface="Cambria Math" panose="02040503050406030204" pitchFamily="18" charset="0"/>
                  </a:rPr>
                  <a:t>$1$</a:t>
                </a:r>
                <a:r>
                  <a:rPr sz="2400" b="0">
                    <a:solidFill>
                      <a:srgbClr val="111827"/>
                    </a:solidFill>
                    <a:latin typeface="Arial"/>
                  </a:rPr>
                  <a:t>; the remaining </a:t>
                </a:r>
                <a:r>
                  <a:rPr lang="en-IN" sz="2400">
                    <a:solidFill>
                      <a:srgbClr val="111827"/>
                    </a:solidFill>
                    <a:latin typeface="Cambria Math" panose="02040503050406030204" pitchFamily="18" charset="0"/>
                  </a:rPr>
                  <a:t>$n-1$</a:t>
                </a:r>
                <a:r>
                  <a:rPr sz="2400" b="0">
                    <a:solidFill>
                      <a:srgbClr val="111827"/>
                    </a:solidFill>
                    <a:latin typeface="Arial"/>
                  </a:rPr>
                  <a:t> places form any valid string, so </a:t>
                </a:r>
                <a:r>
                  <a:rPr lang="en-IN" sz="2400">
                    <a:solidFill>
                      <a:srgbClr val="111827"/>
                    </a:solidFill>
                    <a:latin typeface="Cambria Math" panose="02040503050406030204" pitchFamily="18" charset="0"/>
                  </a:rPr>
                  <a:t>$b_n=a_{n-1}$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$c_n$</a:t>
                </a:r>
                <a:r>
                  <a:rPr sz="2400" b="0">
                    <a:solidFill>
                      <a:srgbClr val="111827"/>
                    </a:solidFill>
                    <a:latin typeface="Arial"/>
                  </a:rPr>
                  <a:t> the last digit is </a:t>
                </a:r>
                <a:r>
                  <a:rPr lang="en-IN" sz="2400">
                    <a:solidFill>
                      <a:srgbClr val="111827"/>
                    </a:solidFill>
                    <a:latin typeface="Cambria Math" panose="02040503050406030204" pitchFamily="18" charset="0"/>
                  </a:rPr>
                  <a:t>$0$</a:t>
                </a:r>
                <a:r>
                  <a:rPr sz="2400" b="0">
                    <a:solidFill>
                      <a:srgbClr val="111827"/>
                    </a:solidFill>
                    <a:latin typeface="Arial"/>
                  </a:rPr>
                  <a:t>, so the second last digit must be </a:t>
                </a:r>
                <a:r>
                  <a:rPr lang="en-IN" sz="2400">
                    <a:solidFill>
                      <a:srgbClr val="111827"/>
                    </a:solidFill>
                    <a:latin typeface="Cambria Math" panose="02040503050406030204" pitchFamily="18" charset="0"/>
                  </a:rPr>
                  <a:t>$1$</a:t>
                </a:r>
                <a:r>
                  <a:rPr sz="2400" b="0">
                    <a:solidFill>
                      <a:srgbClr val="111827"/>
                    </a:solidFill>
                    <a:latin typeface="Arial"/>
                  </a:rPr>
                  <a:t>; the remaining </a:t>
                </a:r>
                <a:r>
                  <a:rPr lang="en-IN" sz="2400">
                    <a:solidFill>
                      <a:srgbClr val="111827"/>
                    </a:solidFill>
                    <a:latin typeface="Cambria Math" panose="02040503050406030204" pitchFamily="18" charset="0"/>
                  </a:rPr>
                  <a:t>$n-2$</a:t>
                </a:r>
                <a:r>
                  <a:rPr sz="2400" b="0">
                    <a:solidFill>
                      <a:srgbClr val="111827"/>
                    </a:solidFill>
                    <a:latin typeface="Arial"/>
                  </a:rPr>
                  <a:t> places are free, so </a:t>
                </a:r>
                <a:r>
                  <a:rPr lang="en-IN" sz="2400">
                    <a:solidFill>
                      <a:srgbClr val="111827"/>
                    </a:solidFill>
                    <a:latin typeface="Cambria Math" panose="02040503050406030204" pitchFamily="18" charset="0"/>
                  </a:rPr>
                  <a:t>$c_n=a_{n-2}$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valid number ends in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$b_n+c_n=a_n$</a:t>
                </a:r>
                <a:r>
                  <a:rPr sz="2400" b="0">
                    <a:solidFill>
                      <a:srgbClr val="111827"/>
                    </a:solidFill>
                    <a:latin typeface="Arial"/>
                  </a:rPr>
                  <a:t>, so </a:t>
                </a:r>
                <a:r>
                  <a:rPr lang="en-IN" sz="2400">
                    <a:solidFill>
                      <a:srgbClr val="111827"/>
                    </a:solidFill>
                    <a:latin typeface="Cambria Math" panose="02040503050406030204" pitchFamily="18" charset="0"/>
                  </a:rPr>
                  <a:t>$a_n=a_{n-1}+a_{n-2}$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$b_n=b_{n-1}+b_{n-2}$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Initial values: </a:t>
                </a:r>
                <a:r>
                  <a:rPr lang="en-IN" sz="2400">
                    <a:solidFill>
                      <a:srgbClr val="111827"/>
                    </a:solidFill>
                    <a:latin typeface="Cambria Math" panose="02040503050406030204" pitchFamily="18" charset="0"/>
                  </a:rPr>
                  <a:t>$a_1=1$</a:t>
                </a:r>
                <a:r>
                  <a:rPr sz="2400" b="0">
                    <a:solidFill>
                      <a:srgbClr val="111827"/>
                    </a:solidFill>
                    <a:latin typeface="Arial"/>
                  </a:rPr>
                  <a:t> (the number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$a_2=2$</a:t>
                </a:r>
                <a:r>
                  <a:rPr sz="2400" b="0">
                    <a:solidFill>
                      <a:srgbClr val="111827"/>
                    </a:solidFill>
                    <a:latin typeface="Arial"/>
                  </a:rPr>
                  <a:t> (the numbers </a:t>
                </a:r>
                <a:r>
                  <a:rPr lang="en-IN" sz="2400">
                    <a:solidFill>
                      <a:srgbClr val="111827"/>
                    </a:solidFill>
                    <a:latin typeface="Cambria Math" panose="02040503050406030204" pitchFamily="18" charset="0"/>
                  </a:rPr>
                  <a:t>$10,11$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$a_3=3,\ a_4=5,\ a_5=8$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$b_6=a_5=8$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8</a:t>
            </a:r>
            <a:endParaRPr sz="2800">
              <a:solidFill>
                <a:srgbClr val="15803D"/>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strings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_</m:t>
                    </m:r>
                    <m:r>
                      <m:rPr>
                        <m:sty m:val="p"/>
                      </m:rPr>
                      <a:rPr lang="en-IN" sz="2400">
                        <a:solidFill>
                          <a:srgbClr val="78350F"/>
                        </a:solidFill>
                        <a:latin typeface="Cambria Math" panose="02040503050406030204" pitchFamily="18" charset="0"/>
                      </a:rPr>
                      <m:t>_</m:t>
                    </m:r>
                    <m:r>
                      <m:rPr>
                        <m:sty m:val="p"/>
                      </m:rPr>
                      <a:rPr lang="en-IN" sz="2400">
                        <a:solidFill>
                          <a:srgbClr val="78350F"/>
                        </a:solidFill>
                        <a:latin typeface="Cambria Math" panose="02040503050406030204" pitchFamily="18" charset="0"/>
                      </a:rPr>
                      <m:t>_</m:t>
                    </m:r>
                    <m:r>
                      <m:rPr>
                        <m:sty m:val="p"/>
                      </m:rPr>
                      <a:rPr lang="en-IN" sz="2400">
                        <a:solidFill>
                          <a:srgbClr val="78350F"/>
                        </a:solidFill>
                        <a:latin typeface="Cambria Math" panose="02040503050406030204" pitchFamily="18" charset="0"/>
                      </a:rPr>
                      <m:t>_</m:t>
                    </m:r>
                    <m:r>
                      <a:rPr lang="en-IN" sz="2400" i="1">
                        <a:solidFill>
                          <a:srgbClr val="78350F"/>
                        </a:solidFill>
                        <a:latin typeface="Cambria Math" panose="02040503050406030204" pitchFamily="18" charset="0"/>
                      </a:rPr>
                      <m:t>1</m:t>
                    </m:r>
                  </m:oMath>
                </a14:m>
                <a:r>
                  <a:rPr sz="2400" b="0">
                    <a:solidFill>
                      <a:srgbClr val="78350F"/>
                    </a:solidFill>
                    <a:latin typeface="Arial"/>
                  </a:rPr>
                  <a:t> directly by the number of zeros placed in the four middle positions.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strings </a:t>
                </a:r>
                <a:r>
                  <a:rPr lang="en-IN" sz="2400">
                    <a:solidFill>
                      <a:srgbClr val="78350F"/>
                    </a:solidFill>
                    <a:latin typeface="Cambria Math" panose="02040503050406030204" pitchFamily="18" charset="0"/>
                  </a:rPr>
                  <a:t>$1\_\_\_\_1$</a:t>
                </a:r>
                <a:r>
                  <a:rPr sz="2400" b="0">
                    <a:solidFill>
                      <a:srgbClr val="78350F"/>
                    </a:solidFill>
                    <a:latin typeface="Arial"/>
                  </a:rPr>
                  <a:t> directly by the number of zeros placed in the four middle positions.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counts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-digit strings </a:t>
                </a:r>
                <a14:m>
                  <m:oMath xmlns:m="http://schemas.openxmlformats.org/officeDocument/2006/math">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4</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5</m:t>
                        </m:r>
                      </m:sub>
                    </m:sSub>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oMath>
                </a14:m>
                <a:r>
                  <a:rPr sz="2400" b="0">
                    <a:solidFill>
                      <a:srgbClr val="111827"/>
                    </a:solidFill>
                    <a:latin typeface="Arial"/>
                  </a:rPr>
                  <a:t> with no two adjacent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end digits are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 only the four middle places matter; zeros there must be non-adjacent.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ways to place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non-adjacent zeros in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places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$b_6$</a:t>
                </a:r>
                <a:r>
                  <a:rPr sz="2400" b="0">
                    <a:solidFill>
                      <a:srgbClr val="111827"/>
                    </a:solidFill>
                    <a:latin typeface="Arial"/>
                  </a:rPr>
                  <a:t> counts </a:t>
                </a:r>
                <a:r>
                  <a:rPr lang="en-IN" sz="2400">
                    <a:solidFill>
                      <a:srgbClr val="111827"/>
                    </a:solidFill>
                    <a:latin typeface="Cambria Math" panose="02040503050406030204" pitchFamily="18" charset="0"/>
                  </a:rPr>
                  <a:t>$6$</a:t>
                </a:r>
                <a:r>
                  <a:rPr sz="2400" b="0">
                    <a:solidFill>
                      <a:srgbClr val="111827"/>
                    </a:solidFill>
                    <a:latin typeface="Arial"/>
                  </a:rPr>
                  <a:t>-digit strings </a:t>
                </a:r>
                <a:r>
                  <a:rPr lang="en-IN" sz="2400">
                    <a:solidFill>
                      <a:srgbClr val="111827"/>
                    </a:solidFill>
                    <a:latin typeface="Cambria Math" panose="02040503050406030204" pitchFamily="18" charset="0"/>
                  </a:rPr>
                  <a:t>$1\,x_2x_3x_4x_5\,1$</a:t>
                </a:r>
                <a:r>
                  <a:rPr sz="2400" b="0">
                    <a:solidFill>
                      <a:srgbClr val="111827"/>
                    </a:solidFill>
                    <a:latin typeface="Arial"/>
                  </a:rPr>
                  <a:t> with no two adjacent </a:t>
                </a:r>
                <a:r>
                  <a:rPr lang="en-IN" sz="2400">
                    <a:solidFill>
                      <a:srgbClr val="111827"/>
                    </a:solidFill>
                    <a:latin typeface="Cambria Math" panose="02040503050406030204" pitchFamily="18" charset="0"/>
                  </a:rPr>
                  <a:t>$0$</a:t>
                </a:r>
                <a:r>
                  <a:rPr sz="2400" b="0">
                    <a:solidFill>
                      <a:srgbClr val="111827"/>
                    </a:solidFill>
                    <a:latin typeface="Arial"/>
                  </a:rPr>
                  <a: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end digits are </a:t>
                </a:r>
                <a:r>
                  <a:rPr lang="en-IN" sz="2400">
                    <a:solidFill>
                      <a:srgbClr val="111827"/>
                    </a:solidFill>
                    <a:latin typeface="Cambria Math" panose="02040503050406030204" pitchFamily="18" charset="0"/>
                  </a:rPr>
                  <a:t>$1$</a:t>
                </a:r>
                <a:r>
                  <a:rPr sz="2400" b="0">
                    <a:solidFill>
                      <a:srgbClr val="111827"/>
                    </a:solidFill>
                    <a:latin typeface="Arial"/>
                  </a:rPr>
                  <a:t>, so only the four middle places matter; zeros there must be non-adjacent.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ways to place </a:t>
                </a:r>
                <a:r>
                  <a:rPr lang="en-IN" sz="2400">
                    <a:solidFill>
                      <a:srgbClr val="111827"/>
                    </a:solidFill>
                    <a:latin typeface="Cambria Math" panose="02040503050406030204" pitchFamily="18" charset="0"/>
                  </a:rPr>
                  <a:t>$k$</a:t>
                </a:r>
                <a:r>
                  <a:rPr sz="2400" b="0">
                    <a:solidFill>
                      <a:srgbClr val="111827"/>
                    </a:solidFill>
                    <a:latin typeface="Arial"/>
                  </a:rPr>
                  <a:t> non-adjacent zeros in </a:t>
                </a:r>
                <a:r>
                  <a:rPr lang="en-IN" sz="2400">
                    <a:solidFill>
                      <a:srgbClr val="111827"/>
                    </a:solidFill>
                    <a:latin typeface="Cambria Math" panose="02040503050406030204" pitchFamily="18" charset="0"/>
                  </a:rPr>
                  <a:t>$4$</a:t>
                </a:r>
                <a:r>
                  <a:rPr sz="2400" b="0">
                    <a:solidFill>
                      <a:srgbClr val="111827"/>
                    </a:solidFill>
                    <a:latin typeface="Arial"/>
                  </a:rPr>
                  <a:t> places is </a:t>
                </a:r>
                <a:r>
                  <a:rPr lang="en-IN" sz="2400">
                    <a:solidFill>
                      <a:srgbClr val="111827"/>
                    </a:solidFill>
                    <a:latin typeface="Cambria Math" panose="02040503050406030204" pitchFamily="18" charset="0"/>
                  </a:rPr>
                  <a:t>$\binom{5-k}{k}$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$k=0$</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$k=1$</a:t>
                </a:r>
                <a:r>
                  <a:rPr sz="2400" b="0">
                    <a:solidFill>
                      <a:srgbClr val="111827"/>
                    </a:solidFill>
                    <a:latin typeface="Arial"/>
                  </a:rPr>
                  <a:t>: </a:t>
                </a:r>
                <a:r>
                  <a:rPr lang="en-IN" sz="2400">
                    <a:solidFill>
                      <a:srgbClr val="111827"/>
                    </a:solidFill>
                    <a:latin typeface="Cambria Math" panose="02040503050406030204" pitchFamily="18" charset="0"/>
                  </a:rPr>
                  <a:t>$\binom{4}{1}=4$</a:t>
                </a:r>
                <a:r>
                  <a:rPr sz="2400" b="0">
                    <a:solidFill>
                      <a:srgbClr val="111827"/>
                    </a:solidFill>
                    <a:latin typeface="Arial"/>
                  </a:rPr>
                  <a:t>; </a:t>
                </a:r>
                <a:r>
                  <a:rPr lang="en-IN" sz="2400">
                    <a:solidFill>
                      <a:srgbClr val="111827"/>
                    </a:solidFill>
                    <a:latin typeface="Cambria Math" panose="02040503050406030204" pitchFamily="18" charset="0"/>
                  </a:rPr>
                  <a:t>$k=2$</a:t>
                </a:r>
                <a:r>
                  <a:rPr sz="2400" b="0">
                    <a:solidFill>
                      <a:srgbClr val="111827"/>
                    </a:solidFill>
                    <a:latin typeface="Arial"/>
                  </a:rPr>
                  <a:t>: </a:t>
                </a:r>
                <a:r>
                  <a:rPr lang="en-IN" sz="2400">
                    <a:solidFill>
                      <a:srgbClr val="111827"/>
                    </a:solidFill>
                    <a:latin typeface="Cambria Math" panose="02040503050406030204" pitchFamily="18" charset="0"/>
                  </a:rPr>
                  <a:t>$\binom{3}{2}=3$</a:t>
                </a:r>
                <a:r>
                  <a:rPr sz="2400" b="0">
                    <a:solidFill>
                      <a:srgbClr val="111827"/>
                    </a:solidFill>
                    <a:latin typeface="Arial"/>
                  </a:rPr>
                  <a:t>; </a:t>
                </a:r>
                <a:r>
                  <a:rPr lang="en-IN" sz="2400">
                    <a:solidFill>
                      <a:srgbClr val="111827"/>
                    </a:solidFill>
                    <a:latin typeface="Cambria Math" panose="02040503050406030204" pitchFamily="18" charset="0"/>
                  </a:rPr>
                  <a:t>$k\ge3$</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$=1+4+3=8$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8</a:t>
            </a:r>
            <a:endParaRPr sz="2800">
              <a:solidFill>
                <a:srgbClr val="15803D"/>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Binary strings of length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no two adjacent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s number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(Fibonacci,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the first digit forced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they number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Choosing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pairwise non-adjacent places out of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in a row: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Summing over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gives Fibonacci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check: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Binary strings of length </a:t>
                </a:r>
                <a:r>
                  <a:rPr lang="en-IN" sz="2400">
                    <a:solidFill>
                      <a:srgbClr val="111827"/>
                    </a:solidFill>
                    <a:latin typeface="Cambria Math" panose="02040503050406030204" pitchFamily="18" charset="0"/>
                  </a:rPr>
                  <a:t>$n$</a:t>
                </a:r>
                <a:r>
                  <a:rPr sz="2400" b="0">
                    <a:solidFill>
                      <a:srgbClr val="111827"/>
                    </a:solidFill>
                    <a:latin typeface="Arial"/>
                  </a:rPr>
                  <a:t> with no two adjacent </a:t>
                </a:r>
                <a:r>
                  <a:rPr lang="en-IN" sz="2400">
                    <a:solidFill>
                      <a:srgbClr val="111827"/>
                    </a:solidFill>
                    <a:latin typeface="Cambria Math" panose="02040503050406030204" pitchFamily="18" charset="0"/>
                  </a:rPr>
                  <a:t>$0$</a:t>
                </a:r>
                <a:r>
                  <a:rPr sz="2400" b="0">
                    <a:solidFill>
                      <a:srgbClr val="111827"/>
                    </a:solidFill>
                    <a:latin typeface="Arial"/>
                  </a:rPr>
                  <a:t>s number </a:t>
                </a:r>
                <a:r>
                  <a:rPr lang="en-IN" sz="2400">
                    <a:solidFill>
                      <a:srgbClr val="111827"/>
                    </a:solidFill>
                    <a:latin typeface="Cambria Math" panose="02040503050406030204" pitchFamily="18" charset="0"/>
                  </a:rPr>
                  <a:t>$F_{n+2}$</a:t>
                </a:r>
                <a:r>
                  <a:rPr sz="2400" b="0">
                    <a:solidFill>
                      <a:srgbClr val="111827"/>
                    </a:solidFill>
                    <a:latin typeface="Arial"/>
                  </a:rPr>
                  <a:t> (Fibonacci, </a:t>
                </a:r>
                <a:r>
                  <a:rPr lang="en-IN" sz="2400">
                    <a:solidFill>
                      <a:srgbClr val="111827"/>
                    </a:solidFill>
                    <a:latin typeface="Cambria Math" panose="02040503050406030204" pitchFamily="18" charset="0"/>
                  </a:rPr>
                  <a:t>$F_1=F_2=1$</a:t>
                </a:r>
                <a:r>
                  <a:rPr sz="2400" b="0">
                    <a:solidFill>
                      <a:srgbClr val="111827"/>
                    </a:solidFill>
                    <a:latin typeface="Arial"/>
                  </a:rPr>
                  <a:t>); with the first digit forced to </a:t>
                </a:r>
                <a:r>
                  <a:rPr lang="en-IN" sz="2400">
                    <a:solidFill>
                      <a:srgbClr val="111827"/>
                    </a:solidFill>
                    <a:latin typeface="Cambria Math" panose="02040503050406030204" pitchFamily="18" charset="0"/>
                  </a:rPr>
                  <a:t>$1$</a:t>
                </a:r>
                <a:r>
                  <a:rPr sz="2400" b="0">
                    <a:solidFill>
                      <a:srgbClr val="111827"/>
                    </a:solidFill>
                    <a:latin typeface="Arial"/>
                  </a:rPr>
                  <a:t> they number </a:t>
                </a:r>
                <a:r>
                  <a:rPr lang="en-IN" sz="2400">
                    <a:solidFill>
                      <a:srgbClr val="111827"/>
                    </a:solidFill>
                    <a:latin typeface="Cambria Math" panose="02040503050406030204" pitchFamily="18" charset="0"/>
                  </a:rPr>
                  <a:t>$a_n=F_{n+1}$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Choosing </a:t>
                </a:r>
                <a:r>
                  <a:rPr lang="en-IN" sz="2400">
                    <a:solidFill>
                      <a:srgbClr val="111827"/>
                    </a:solidFill>
                    <a:latin typeface="Cambria Math" panose="02040503050406030204" pitchFamily="18" charset="0"/>
                  </a:rPr>
                  <a:t>$k$</a:t>
                </a:r>
                <a:r>
                  <a:rPr sz="2400" b="0">
                    <a:solidFill>
                      <a:srgbClr val="111827"/>
                    </a:solidFill>
                    <a:latin typeface="Arial"/>
                  </a:rPr>
                  <a:t> pairwise non-adjacent places out of </a:t>
                </a:r>
                <a:r>
                  <a:rPr lang="en-IN" sz="2400">
                    <a:solidFill>
                      <a:srgbClr val="111827"/>
                    </a:solidFill>
                    <a:latin typeface="Cambria Math" panose="02040503050406030204" pitchFamily="18" charset="0"/>
                  </a:rPr>
                  <a:t>$m$</a:t>
                </a:r>
                <a:r>
                  <a:rPr sz="2400" b="0">
                    <a:solidFill>
                      <a:srgbClr val="111827"/>
                    </a:solidFill>
                    <a:latin typeface="Arial"/>
                  </a:rPr>
                  <a:t> in a row: </a:t>
                </a:r>
                <a:r>
                  <a:rPr lang="en-IN" sz="2400">
                    <a:solidFill>
                      <a:srgbClr val="111827"/>
                    </a:solidFill>
                    <a:latin typeface="Cambria Math" panose="02040503050406030204" pitchFamily="18" charset="0"/>
                  </a:rPr>
                  <a:t>$\binom{m-k+1}{k}$</a:t>
                </a:r>
                <a:r>
                  <a:rPr sz="2400" b="0">
                    <a:solidFill>
                      <a:srgbClr val="111827"/>
                    </a:solidFill>
                    <a:latin typeface="Arial"/>
                  </a:rPr>
                  <a:t>. Summing over </a:t>
                </a:r>
                <a:r>
                  <a:rPr lang="en-IN" sz="2400">
                    <a:solidFill>
                      <a:srgbClr val="111827"/>
                    </a:solidFill>
                    <a:latin typeface="Cambria Math" panose="02040503050406030204" pitchFamily="18" charset="0"/>
                  </a:rPr>
                  <a:t>$k$</a:t>
                </a:r>
                <a:r>
                  <a:rPr sz="2400" b="0">
                    <a:solidFill>
                      <a:srgbClr val="111827"/>
                    </a:solidFill>
                    <a:latin typeface="Arial"/>
                  </a:rPr>
                  <a:t> gives Fibonacci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$b_n=F_n$</a:t>
                </a:r>
                <a:r>
                  <a:rPr sz="2400" b="0">
                    <a:solidFill>
                      <a:srgbClr val="111827"/>
                    </a:solidFill>
                    <a:latin typeface="Arial"/>
                  </a:rPr>
                  <a:t>, </a:t>
                </a:r>
                <a:r>
                  <a:rPr lang="en-IN" sz="2400">
                    <a:solidFill>
                      <a:srgbClr val="111827"/>
                    </a:solidFill>
                    <a:latin typeface="Cambria Math" panose="02040503050406030204" pitchFamily="18" charset="0"/>
                  </a:rPr>
                  <a:t>$c_n=F_{n-1}$</a:t>
                </a:r>
                <a:r>
                  <a:rPr sz="2400" b="0">
                    <a:solidFill>
                      <a:srgbClr val="111827"/>
                    </a:solidFill>
                    <a:latin typeface="Arial"/>
                  </a:rPr>
                  <a:t>, </a:t>
                </a:r>
                <a:r>
                  <a:rPr lang="en-IN" sz="2400">
                    <a:solidFill>
                      <a:srgbClr val="111827"/>
                    </a:solidFill>
                    <a:latin typeface="Cambria Math" panose="02040503050406030204" pitchFamily="18" charset="0"/>
                  </a:rPr>
                  <a:t>$a_n=F_{n+1}$</a:t>
                </a:r>
                <a:r>
                  <a:rPr sz="2400" b="0">
                    <a:solidFill>
                      <a:srgbClr val="111827"/>
                    </a:solidFill>
                    <a:latin typeface="Arial"/>
                  </a:rPr>
                  <a:t>; check: </a:t>
                </a:r>
                <a:r>
                  <a:rPr lang="en-IN" sz="2400">
                    <a:solidFill>
                      <a:srgbClr val="111827"/>
                    </a:solidFill>
                    <a:latin typeface="Cambria Math" panose="02040503050406030204" pitchFamily="18" charset="0"/>
                  </a:rPr>
                  <a:t>$b_6=F_6=8$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55675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denote the number of all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positive integers formed by the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both such that no consecutive digits in them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such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integers ending with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such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integers ending with digit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Which of the following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15</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16</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16</m:t>
                        </m:r>
                      </m:sub>
                    </m:sSub>
                  </m:oMath>
                </a14:m>
                <a:endParaRPr sz="2400">
                  <a:solidFill>
                    <a:srgbClr val="111827"/>
                  </a:solidFill>
                </a:endParaRPr>
              </a:p>
            </p:txBody>
          </p:sp>
        </mc:Choice>
        <mc:Fallback>
          <p:sp>
            <p:nvSpPr>
              <p:cNvPr id="4" name="Rounded Rectangle 3"/>
              <p:cNvSpPr/>
              <p:nvPr/>
            </p:nvSpPr>
            <p:spPr>
              <a:xfrm>
                <a:off x="731520" y="1280160"/>
                <a:ext cx="10725912" cy="455675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$a_n$</a:t>
                </a:r>
                <a:r>
                  <a:rPr sz="2400" b="0">
                    <a:solidFill>
                      <a:srgbClr val="111827"/>
                    </a:solidFill>
                    <a:latin typeface="Arial"/>
                  </a:rPr>
                  <a:t> denote the number of all </a:t>
                </a:r>
                <a:r>
                  <a:rPr lang="en-IN" sz="2400">
                    <a:solidFill>
                      <a:srgbClr val="111827"/>
                    </a:solidFill>
                    <a:latin typeface="Cambria Math" panose="02040503050406030204" pitchFamily="18" charset="0"/>
                  </a:rPr>
                  <a:t>$n$</a:t>
                </a:r>
                <a:r>
                  <a:rPr sz="2400" b="0">
                    <a:solidFill>
                      <a:srgbClr val="111827"/>
                    </a:solidFill>
                    <a:latin typeface="Arial"/>
                  </a:rPr>
                  <a:t>-digit positive integers formed by the digits </a:t>
                </a:r>
                <a:r>
                  <a:rPr lang="en-IN" sz="2400">
                    <a:solidFill>
                      <a:srgbClr val="111827"/>
                    </a:solidFill>
                    <a:latin typeface="Cambria Math" panose="02040503050406030204" pitchFamily="18" charset="0"/>
                  </a:rPr>
                  <a:t>$0,1$</a:t>
                </a:r>
                <a:r>
                  <a:rPr sz="2400" b="0">
                    <a:solidFill>
                      <a:srgbClr val="111827"/>
                    </a:solidFill>
                    <a:latin typeface="Arial"/>
                  </a:rPr>
                  <a:t> or both such that no consecutive digits in them are </a:t>
                </a:r>
                <a:r>
                  <a:rPr lang="en-IN" sz="2400">
                    <a:solidFill>
                      <a:srgbClr val="111827"/>
                    </a:solidFill>
                    <a:latin typeface="Cambria Math" panose="02040503050406030204" pitchFamily="18" charset="0"/>
                  </a:rPr>
                  <a:t>$0$</a:t>
                </a:r>
                <a:r>
                  <a:rPr sz="2400" b="0">
                    <a:solidFill>
                      <a:srgbClr val="111827"/>
                    </a:solidFill>
                    <a:latin typeface="Arial"/>
                  </a:rPr>
                  <a:t>. Let </a:t>
                </a:r>
                <a:r>
                  <a:rPr lang="en-IN" sz="2400">
                    <a:solidFill>
                      <a:srgbClr val="111827"/>
                    </a:solidFill>
                    <a:latin typeface="Cambria Math" panose="02040503050406030204" pitchFamily="18" charset="0"/>
                  </a:rPr>
                  <a:t>$b_n=$</a:t>
                </a:r>
                <a:r>
                  <a:rPr sz="2400" b="0">
                    <a:solidFill>
                      <a:srgbClr val="111827"/>
                    </a:solidFill>
                    <a:latin typeface="Arial"/>
                  </a:rPr>
                  <a:t> the number of such </a:t>
                </a:r>
                <a:r>
                  <a:rPr lang="en-IN" sz="2400">
                    <a:solidFill>
                      <a:srgbClr val="111827"/>
                    </a:solidFill>
                    <a:latin typeface="Cambria Math" panose="02040503050406030204" pitchFamily="18" charset="0"/>
                  </a:rPr>
                  <a:t>$n$</a:t>
                </a:r>
                <a:r>
                  <a:rPr sz="2400" b="0">
                    <a:solidFill>
                      <a:srgbClr val="111827"/>
                    </a:solidFill>
                    <a:latin typeface="Arial"/>
                  </a:rPr>
                  <a:t>-digit integers ending with digit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$c_n=$</a:t>
                </a:r>
                <a:r>
                  <a:rPr sz="2400" b="0">
                    <a:solidFill>
                      <a:srgbClr val="111827"/>
                    </a:solidFill>
                    <a:latin typeface="Arial"/>
                  </a:rPr>
                  <a:t> the number of such </a:t>
                </a:r>
                <a:r>
                  <a:rPr lang="en-IN" sz="2400">
                    <a:solidFill>
                      <a:srgbClr val="111827"/>
                    </a:solidFill>
                    <a:latin typeface="Cambria Math" panose="02040503050406030204" pitchFamily="18" charset="0"/>
                  </a:rPr>
                  <a:t>$n$</a:t>
                </a:r>
                <a:r>
                  <a:rPr sz="2400" b="0">
                    <a:solidFill>
                      <a:srgbClr val="111827"/>
                    </a:solidFill>
                    <a:latin typeface="Arial"/>
                  </a:rPr>
                  <a:t>-digit integers ending with digit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Which of the following is correct?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$a_{17}=a_{16}+a_{15}$</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$c_{17}\neq c_{16}+c_{15}$</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$b_{17}\neq b_{16}+c_{16}$</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$a_{17}=c_{17}+b_{16}$</a:t>
                </a:r>
                <a:endParaRPr sz="2400">
                  <a:solidFill>
                    <a:srgbClr val="111827"/>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digit strings with a forbidden pattern (Fibonacci recurrence)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All of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𝑐</m:t>
                        </m:r>
                      </m:e>
                      <m:sub>
                        <m:r>
                          <a:rPr lang="en-IN" sz="2400" i="1">
                            <a:solidFill>
                              <a:srgbClr val="78350F"/>
                            </a:solidFill>
                            <a:latin typeface="Cambria Math" panose="02040503050406030204" pitchFamily="18" charset="0"/>
                          </a:rPr>
                          <m:t>𝑛</m:t>
                        </m:r>
                      </m:sub>
                    </m:sSub>
                  </m:oMath>
                </a14:m>
                <a:r>
                  <a:rPr sz="2400" b="0">
                    <a:solidFill>
                      <a:srgbClr val="78350F"/>
                    </a:solidFill>
                    <a:latin typeface="Arial"/>
                  </a:rPr>
                  <a:t> obey the same Fibonacci recurrence, and </a:t>
                </a:r>
                <a14:m>
                  <m:oMath xmlns:m="http://schemas.openxmlformats.org/officeDocument/2006/math">
                    <m:sSub>
                      <m:e>
                        <m:r>
                          <a:rPr lang="en-IN" sz="2400" i="1">
                            <a:solidFill>
                              <a:srgbClr val="78350F"/>
                            </a:solidFill>
                            <a:latin typeface="Cambria Math" panose="02040503050406030204" pitchFamily="18" charset="0"/>
                          </a:rPr>
                          <m:t>𝑐</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b>
                    </m:sSub>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All of </a:t>
                </a:r>
                <a:r>
                  <a:rPr lang="en-IN" sz="2400">
                    <a:solidFill>
                      <a:srgbClr val="78350F"/>
                    </a:solidFill>
                    <a:latin typeface="Cambria Math" panose="02040503050406030204" pitchFamily="18" charset="0"/>
                  </a:rPr>
                  <a:t>$a_n,b_n,c_n$</a:t>
                </a:r>
                <a:r>
                  <a:rPr sz="2400" b="0">
                    <a:solidFill>
                      <a:srgbClr val="78350F"/>
                    </a:solidFill>
                    <a:latin typeface="Arial"/>
                  </a:rPr>
                  <a:t> obey the same Fibonacci recurrence, and </a:t>
                </a:r>
                <a:r>
                  <a:rPr lang="en-IN" sz="2400">
                    <a:solidFill>
                      <a:srgbClr val="78350F"/>
                    </a:solidFill>
                    <a:latin typeface="Cambria Math" panose="02040503050406030204" pitchFamily="18" charset="0"/>
                  </a:rPr>
                  <a:t>$c_{n}=a_{n-2}$</a:t>
                </a:r>
                <a:r>
                  <a:rPr sz="2400" b="0">
                    <a:solidFill>
                      <a:srgbClr val="78350F"/>
                    </a:solidFill>
                    <a:latin typeface="Arial"/>
                  </a:rPr>
                  <a:t>, </a:t>
                </a:r>
                <a:r>
                  <a:rPr lang="en-IN" sz="2400">
                    <a:solidFill>
                      <a:srgbClr val="78350F"/>
                    </a:solidFill>
                    <a:latin typeface="Cambria Math" panose="02040503050406030204" pitchFamily="18" charset="0"/>
                  </a:rPr>
                  <a:t>$b_n=a_{n-1}$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digit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the last digit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the last digit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the second last must be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First digit is </a:t>
                </a:r>
                <a:r>
                  <a:rPr lang="en-IN" sz="2400">
                    <a:solidFill>
                      <a:srgbClr val="111827"/>
                    </a:solidFill>
                    <a:latin typeface="Cambria Math" panose="02040503050406030204" pitchFamily="18" charset="0"/>
                  </a:rPr>
                  <a:t>$1$</a:t>
                </a:r>
                <a:r>
                  <a:rPr sz="2400" b="0">
                    <a:solidFill>
                      <a:srgbClr val="111827"/>
                    </a:solidFill>
                    <a:latin typeface="Arial"/>
                  </a:rPr>
                  <a:t>. For </a:t>
                </a:r>
                <a:r>
                  <a:rPr lang="en-IN" sz="2400">
                    <a:solidFill>
                      <a:srgbClr val="111827"/>
                    </a:solidFill>
                    <a:latin typeface="Cambria Math" panose="02040503050406030204" pitchFamily="18" charset="0"/>
                  </a:rPr>
                  <a:t>$b_n$</a:t>
                </a:r>
                <a:r>
                  <a:rPr sz="2400" b="0">
                    <a:solidFill>
                      <a:srgbClr val="111827"/>
                    </a:solidFill>
                    <a:latin typeface="Arial"/>
                  </a:rPr>
                  <a:t> the last digit is </a:t>
                </a:r>
                <a:r>
                  <a:rPr lang="en-IN" sz="2400">
                    <a:solidFill>
                      <a:srgbClr val="111827"/>
                    </a:solidFill>
                    <a:latin typeface="Cambria Math" panose="02040503050406030204" pitchFamily="18" charset="0"/>
                  </a:rPr>
                  <a:t>$1$</a:t>
                </a:r>
                <a:r>
                  <a:rPr sz="2400" b="0">
                    <a:solidFill>
                      <a:srgbClr val="111827"/>
                    </a:solidFill>
                    <a:latin typeface="Arial"/>
                  </a:rPr>
                  <a:t>, so </a:t>
                </a:r>
                <a:r>
                  <a:rPr lang="en-IN" sz="2400">
                    <a:solidFill>
                      <a:srgbClr val="111827"/>
                    </a:solidFill>
                    <a:latin typeface="Cambria Math" panose="02040503050406030204" pitchFamily="18" charset="0"/>
                  </a:rPr>
                  <a:t>$b_n=a_{n-1}$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$c_n$</a:t>
                </a:r>
                <a:r>
                  <a:rPr sz="2400" b="0">
                    <a:solidFill>
                      <a:srgbClr val="111827"/>
                    </a:solidFill>
                    <a:latin typeface="Arial"/>
                  </a:rPr>
                  <a:t> the last digit is </a:t>
                </a:r>
                <a:r>
                  <a:rPr lang="en-IN" sz="2400">
                    <a:solidFill>
                      <a:srgbClr val="111827"/>
                    </a:solidFill>
                    <a:latin typeface="Cambria Math" panose="02040503050406030204" pitchFamily="18" charset="0"/>
                  </a:rPr>
                  <a:t>$0$</a:t>
                </a:r>
                <a:r>
                  <a:rPr sz="2400" b="0">
                    <a:solidFill>
                      <a:srgbClr val="111827"/>
                    </a:solidFill>
                    <a:latin typeface="Arial"/>
                  </a:rPr>
                  <a:t> so the second last must be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$c_n=a_{n-2}$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similarly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so (A) is correct.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is true, so (B), which claims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is incorrect.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is true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16</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16</m:t>
                        </m:r>
                      </m:sub>
                    </m:sSub>
                  </m:oMath>
                </a14:m>
                <a:r>
                  <a:rPr sz="2400" b="0">
                    <a:solidFill>
                      <a:srgbClr val="111827"/>
                    </a:solidFill>
                    <a:latin typeface="Arial"/>
                  </a:rPr>
                  <a:t>; hence (C), which claims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incorrect.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so (D) says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but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oMath>
                </a14:m>
                <a:r>
                  <a:rPr sz="2400" b="0">
                    <a:solidFill>
                      <a:srgbClr val="111827"/>
                    </a:solidFill>
                    <a:latin typeface="Arial"/>
                  </a:rPr>
                  <a:t>; (D) is incorrect.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$b_n+c_n=a_n$</a:t>
                </a:r>
                <a:r>
                  <a:rPr sz="2400" b="0">
                    <a:solidFill>
                      <a:srgbClr val="111827"/>
                    </a:solidFill>
                    <a:latin typeface="Arial"/>
                  </a:rPr>
                  <a:t>, so </a:t>
                </a:r>
                <a:r>
                  <a:rPr lang="en-IN" sz="2400">
                    <a:solidFill>
                      <a:srgbClr val="111827"/>
                    </a:solidFill>
                    <a:latin typeface="Cambria Math" panose="02040503050406030204" pitchFamily="18" charset="0"/>
                  </a:rPr>
                  <a:t>$a_n=a_{n-1}+a_{n-2}$</a:t>
                </a:r>
                <a:r>
                  <a:rPr sz="2400" b="0">
                    <a:solidFill>
                      <a:srgbClr val="111827"/>
                    </a:solidFill>
                    <a:latin typeface="Arial"/>
                  </a:rPr>
                  <a:t>; similarly </a:t>
                </a:r>
                <a:r>
                  <a:rPr lang="en-IN" sz="2400">
                    <a:solidFill>
                      <a:srgbClr val="111827"/>
                    </a:solidFill>
                    <a:latin typeface="Cambria Math" panose="02040503050406030204" pitchFamily="18" charset="0"/>
                  </a:rPr>
                  <a:t>$b_n=b_{n-1}+b_{n-2}$</a:t>
                </a:r>
                <a:r>
                  <a:rPr sz="2400" b="0">
                    <a:solidFill>
                      <a:srgbClr val="111827"/>
                    </a:solidFill>
                    <a:latin typeface="Arial"/>
                  </a:rPr>
                  <a:t> and </a:t>
                </a:r>
                <a:r>
                  <a:rPr lang="en-IN" sz="2400">
                    <a:solidFill>
                      <a:srgbClr val="111827"/>
                    </a:solidFill>
                    <a:latin typeface="Cambria Math" panose="02040503050406030204" pitchFamily="18" charset="0"/>
                  </a:rPr>
                  <a:t>$c_n=c_{n-1}+c_{n-2}$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$n=17$</a:t>
                </a:r>
                <a:r>
                  <a:rPr sz="2400" b="0">
                    <a:solidFill>
                      <a:srgbClr val="111827"/>
                    </a:solidFill>
                    <a:latin typeface="Arial"/>
                  </a:rPr>
                  <a:t>: </a:t>
                </a:r>
                <a:r>
                  <a:rPr lang="en-IN" sz="2400">
                    <a:solidFill>
                      <a:srgbClr val="111827"/>
                    </a:solidFill>
                    <a:latin typeface="Cambria Math" panose="02040503050406030204" pitchFamily="18" charset="0"/>
                  </a:rPr>
                  <a:t>$a_{17}=a_{16}+a_{15}$</a:t>
                </a:r>
                <a:r>
                  <a:rPr sz="2400" b="0">
                    <a:solidFill>
                      <a:srgbClr val="111827"/>
                    </a:solidFill>
                    <a:latin typeface="Arial"/>
                  </a:rPr>
                  <a:t>, so (A) is correct.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$c_{17}=c_{16}+c_{15}$</a:t>
                </a:r>
                <a:r>
                  <a:rPr sz="2400" b="0">
                    <a:solidFill>
                      <a:srgbClr val="111827"/>
                    </a:solidFill>
                    <a:latin typeface="Arial"/>
                  </a:rPr>
                  <a:t> is true, so (B), which claims </a:t>
                </a:r>
                <a:r>
                  <a:rPr lang="en-IN" sz="2400">
                    <a:solidFill>
                      <a:srgbClr val="111827"/>
                    </a:solidFill>
                    <a:latin typeface="Cambria Math" panose="02040503050406030204" pitchFamily="18" charset="0"/>
                  </a:rPr>
                  <a:t>$c_{17}\neq c_{16}+c_{15}$</a:t>
                </a:r>
                <a:r>
                  <a:rPr sz="2400" b="0">
                    <a:solidFill>
                      <a:srgbClr val="111827"/>
                    </a:solidFill>
                    <a:latin typeface="Arial"/>
                  </a:rPr>
                  <a:t>, is incorrect.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$b_{17}=b_{16}+b_{15}$</a:t>
                </a:r>
                <a:r>
                  <a:rPr sz="2400" b="0">
                    <a:solidFill>
                      <a:srgbClr val="111827"/>
                    </a:solidFill>
                    <a:latin typeface="Arial"/>
                  </a:rPr>
                  <a:t> is true and </a:t>
                </a:r>
                <a:r>
                  <a:rPr lang="en-IN" sz="2400">
                    <a:solidFill>
                      <a:srgbClr val="111827"/>
                    </a:solidFill>
                    <a:latin typeface="Cambria Math" panose="02040503050406030204" pitchFamily="18" charset="0"/>
                  </a:rPr>
                  <a:t>$b_{15}=a_{14}=c_{16}$</a:t>
                </a:r>
                <a:r>
                  <a:rPr sz="2400" b="0">
                    <a:solidFill>
                      <a:srgbClr val="111827"/>
                    </a:solidFill>
                    <a:latin typeface="Arial"/>
                  </a:rPr>
                  <a:t>, so </a:t>
                </a:r>
                <a:r>
                  <a:rPr lang="en-IN" sz="2400">
                    <a:solidFill>
                      <a:srgbClr val="111827"/>
                    </a:solidFill>
                    <a:latin typeface="Cambria Math" panose="02040503050406030204" pitchFamily="18" charset="0"/>
                  </a:rPr>
                  <a:t>$b_{17}=b_{16}+c_{16}$</a:t>
                </a:r>
                <a:r>
                  <a:rPr sz="2400" b="0">
                    <a:solidFill>
                      <a:srgbClr val="111827"/>
                    </a:solidFill>
                    <a:latin typeface="Arial"/>
                  </a:rPr>
                  <a:t>; hence (C), which claims </a:t>
                </a:r>
                <a:r>
                  <a:rPr lang="en-IN" sz="2400">
                    <a:solidFill>
                      <a:srgbClr val="111827"/>
                    </a:solidFill>
                    <a:latin typeface="Cambria Math" panose="02040503050406030204" pitchFamily="18" charset="0"/>
                  </a:rPr>
                  <a:t>$\neq$</a:t>
                </a:r>
                <a:r>
                  <a:rPr sz="2400" b="0">
                    <a:solidFill>
                      <a:srgbClr val="111827"/>
                    </a:solidFill>
                    <a:latin typeface="Arial"/>
                  </a:rPr>
                  <a:t>, is incorrect.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$c_{17}=a_{15}$</a:t>
                </a:r>
                <a:r>
                  <a:rPr sz="2400" b="0">
                    <a:solidFill>
                      <a:srgbClr val="111827"/>
                    </a:solidFill>
                    <a:latin typeface="Arial"/>
                  </a:rPr>
                  <a:t> and </a:t>
                </a:r>
                <a:r>
                  <a:rPr lang="en-IN" sz="2400">
                    <a:solidFill>
                      <a:srgbClr val="111827"/>
                    </a:solidFill>
                    <a:latin typeface="Cambria Math" panose="02040503050406030204" pitchFamily="18" charset="0"/>
                  </a:rPr>
                  <a:t>$b_{16}=a_{15}$</a:t>
                </a:r>
                <a:r>
                  <a:rPr sz="2400" b="0">
                    <a:solidFill>
                      <a:srgbClr val="111827"/>
                    </a:solidFill>
                    <a:latin typeface="Arial"/>
                  </a:rPr>
                  <a:t>, so (D) says </a:t>
                </a:r>
                <a:r>
                  <a:rPr lang="en-IN" sz="2400">
                    <a:solidFill>
                      <a:srgbClr val="111827"/>
                    </a:solidFill>
                    <a:latin typeface="Cambria Math" panose="02040503050406030204" pitchFamily="18" charset="0"/>
                  </a:rPr>
                  <a:t>$a_{17}=a_{15}+a_{15}$</a:t>
                </a:r>
                <a:r>
                  <a:rPr sz="2400" b="0">
                    <a:solidFill>
                      <a:srgbClr val="111827"/>
                    </a:solidFill>
                    <a:latin typeface="Arial"/>
                  </a:rPr>
                  <a:t>, but </a:t>
                </a:r>
                <a:r>
                  <a:rPr lang="en-IN" sz="2400">
                    <a:solidFill>
                      <a:srgbClr val="111827"/>
                    </a:solidFill>
                    <a:latin typeface="Cambria Math" panose="02040503050406030204" pitchFamily="18" charset="0"/>
                  </a:rPr>
                  <a:t>$a_{17}=a_{16}+a_{15}&gt;2a_{15}$</a:t>
                </a:r>
                <a:r>
                  <a:rPr sz="2400" b="0">
                    <a:solidFill>
                      <a:srgbClr val="111827"/>
                    </a:solidFill>
                    <a:latin typeface="Arial"/>
                  </a:rPr>
                  <a:t>; (D) is incorrect.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a:t>
            </a:r>
            <a:endParaRPr sz="2800">
              <a:solidFill>
                <a:srgbClr val="15803D"/>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Identify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𝐹</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𝐹</m:t>
                        </m:r>
                      </m:e>
                      <m:sub>
                        <m:r>
                          <a:rPr lang="en-IN" sz="2400" i="1">
                            <a:solidFill>
                              <a:srgbClr val="78350F"/>
                            </a:solidFill>
                            <a:latin typeface="Cambria Math" panose="02040503050406030204" pitchFamily="18" charset="0"/>
                          </a:rPr>
                          <m:t>𝑛</m:t>
                        </m:r>
                      </m:sub>
                    </m:sSub>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𝑐</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𝐹</m:t>
                        </m:r>
                      </m:e>
                      <m:sub>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oMath>
                </a14:m>
                <a:r>
                  <a:rPr sz="2400" b="0">
                    <a:solidFill>
                      <a:srgbClr val="78350F"/>
                    </a:solidFill>
                    <a:latin typeface="Arial"/>
                  </a:rPr>
                  <a:t> and test each option with actual Fibonacci numbers.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Identify </a:t>
                </a:r>
                <a:r>
                  <a:rPr lang="en-IN" sz="2400">
                    <a:solidFill>
                      <a:srgbClr val="78350F"/>
                    </a:solidFill>
                    <a:latin typeface="Cambria Math" panose="02040503050406030204" pitchFamily="18" charset="0"/>
                  </a:rPr>
                  <a:t>$a_n=F_{n+1}$</a:t>
                </a:r>
                <a:r>
                  <a:rPr sz="2400" b="0">
                    <a:solidFill>
                      <a:srgbClr val="78350F"/>
                    </a:solidFill>
                    <a:latin typeface="Arial"/>
                  </a:rPr>
                  <a:t>, </a:t>
                </a:r>
                <a:r>
                  <a:rPr lang="en-IN" sz="2400">
                    <a:solidFill>
                      <a:srgbClr val="78350F"/>
                    </a:solidFill>
                    <a:latin typeface="Cambria Math" panose="02040503050406030204" pitchFamily="18" charset="0"/>
                  </a:rPr>
                  <a:t>$b_n=F_n$</a:t>
                </a:r>
                <a:r>
                  <a:rPr sz="2400" b="0">
                    <a:solidFill>
                      <a:srgbClr val="78350F"/>
                    </a:solidFill>
                    <a:latin typeface="Arial"/>
                  </a:rPr>
                  <a:t>, </a:t>
                </a:r>
                <a:r>
                  <a:rPr lang="en-IN" sz="2400">
                    <a:solidFill>
                      <a:srgbClr val="78350F"/>
                    </a:solidFill>
                    <a:latin typeface="Cambria Math" panose="02040503050406030204" pitchFamily="18" charset="0"/>
                  </a:rPr>
                  <a:t>$c_n=F_{n-1}$</a:t>
                </a:r>
                <a:r>
                  <a:rPr sz="2400" b="0">
                    <a:solidFill>
                      <a:srgbClr val="78350F"/>
                    </a:solidFill>
                    <a:latin typeface="Arial"/>
                  </a:rPr>
                  <a:t> and test each option with actual Fibonacci numbers.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also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Needed values: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18</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2584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18</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2584</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2584</m:t>
                    </m:r>
                  </m:oMath>
                </a14:m>
                <a:r>
                  <a:rPr sz="2400" b="0">
                    <a:solidFill>
                      <a:srgbClr val="111827"/>
                    </a:solidFill>
                    <a:latin typeface="Arial"/>
                  </a:rPr>
                  <a:t>. True.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$a_1=1,a_2=2$</a:t>
                </a:r>
                <a:r>
                  <a:rPr sz="2400" b="0">
                    <a:solidFill>
                      <a:srgbClr val="111827"/>
                    </a:solidFill>
                    <a:latin typeface="Arial"/>
                  </a:rPr>
                  <a:t> and </a:t>
                </a:r>
                <a:r>
                  <a:rPr lang="en-IN" sz="2400">
                    <a:solidFill>
                      <a:srgbClr val="111827"/>
                    </a:solidFill>
                    <a:latin typeface="Cambria Math" panose="02040503050406030204" pitchFamily="18" charset="0"/>
                  </a:rPr>
                  <a:t>$a_n=a_{n-1}+a_{n-2}$</a:t>
                </a:r>
                <a:r>
                  <a:rPr sz="2400" b="0">
                    <a:solidFill>
                      <a:srgbClr val="111827"/>
                    </a:solidFill>
                    <a:latin typeface="Arial"/>
                  </a:rPr>
                  <a:t>: </a:t>
                </a:r>
                <a:r>
                  <a:rPr lang="en-IN" sz="2400">
                    <a:solidFill>
                      <a:srgbClr val="111827"/>
                    </a:solidFill>
                    <a:latin typeface="Cambria Math" panose="02040503050406030204" pitchFamily="18" charset="0"/>
                  </a:rPr>
                  <a:t>$a_n=F_{n+1}$</a:t>
                </a:r>
                <a:r>
                  <a:rPr sz="2400" b="0">
                    <a:solidFill>
                      <a:srgbClr val="111827"/>
                    </a:solidFill>
                    <a:latin typeface="Arial"/>
                  </a:rPr>
                  <a:t> with </a:t>
                </a:r>
                <a:r>
                  <a:rPr lang="en-IN" sz="2400">
                    <a:solidFill>
                      <a:srgbClr val="111827"/>
                    </a:solidFill>
                    <a:latin typeface="Cambria Math" panose="02040503050406030204" pitchFamily="18" charset="0"/>
                  </a:rPr>
                  <a:t>$F_1=F_2=1$</a:t>
                </a:r>
                <a:r>
                  <a:rPr sz="2400" b="0">
                    <a:solidFill>
                      <a:srgbClr val="111827"/>
                    </a:solidFill>
                    <a:latin typeface="Arial"/>
                  </a:rPr>
                  <a:t>; also </a:t>
                </a:r>
                <a:r>
                  <a:rPr lang="en-IN" sz="2400">
                    <a:solidFill>
                      <a:srgbClr val="111827"/>
                    </a:solidFill>
                    <a:latin typeface="Cambria Math" panose="02040503050406030204" pitchFamily="18" charset="0"/>
                  </a:rPr>
                  <a:t>$b_n=a_{n-1}=F_n$</a:t>
                </a:r>
                <a:r>
                  <a:rPr sz="2400" b="0">
                    <a:solidFill>
                      <a:srgbClr val="111827"/>
                    </a:solidFill>
                    <a:latin typeface="Arial"/>
                  </a:rPr>
                  <a:t> and </a:t>
                </a:r>
                <a:r>
                  <a:rPr lang="en-IN" sz="2400">
                    <a:solidFill>
                      <a:srgbClr val="111827"/>
                    </a:solidFill>
                    <a:latin typeface="Cambria Math" panose="02040503050406030204" pitchFamily="18" charset="0"/>
                  </a:rPr>
                  <a:t>$c_n=a_{n-2}=F_{n-1}$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Needed values: </a:t>
                </a:r>
                <a:r>
                  <a:rPr lang="en-IN" sz="2400">
                    <a:solidFill>
                      <a:srgbClr val="111827"/>
                    </a:solidFill>
                    <a:latin typeface="Cambria Math" panose="02040503050406030204" pitchFamily="18" charset="0"/>
                  </a:rPr>
                  <a:t>$F_{14}=377,\ F_{15}=610,\ F_{16}=987,\ F_{17}=1597,\ F_{18}=2584$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$a_{17}=F_{18}=2584$</a:t>
                </a:r>
                <a:r>
                  <a:rPr sz="2400" b="0">
                    <a:solidFill>
                      <a:srgbClr val="111827"/>
                    </a:solidFill>
                    <a:latin typeface="Arial"/>
                  </a:rPr>
                  <a:t> and </a:t>
                </a:r>
                <a:r>
                  <a:rPr lang="en-IN" sz="2400">
                    <a:solidFill>
                      <a:srgbClr val="111827"/>
                    </a:solidFill>
                    <a:latin typeface="Cambria Math" panose="02040503050406030204" pitchFamily="18" charset="0"/>
                  </a:rPr>
                  <a:t>$a_{16}+a_{15}=F_{17}+F_{16}=1597+987=2584$</a:t>
                </a:r>
                <a:r>
                  <a:rPr sz="2400" b="0">
                    <a:solidFill>
                      <a:srgbClr val="111827"/>
                    </a:solidFill>
                    <a:latin typeface="Arial"/>
                  </a:rPr>
                  <a:t>. True.</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987</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987</m:t>
                    </m:r>
                  </m:oMath>
                </a14:m>
                <a:r>
                  <a:rPr sz="2400" b="0">
                    <a:solidFill>
                      <a:srgbClr val="111827"/>
                    </a:solidFill>
                    <a:latin typeface="Arial"/>
                  </a:rPr>
                  <a:t>; equal, so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1597</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1597</m:t>
                    </m:r>
                  </m:oMath>
                </a14:m>
                <a:r>
                  <a:rPr sz="2400" b="0">
                    <a:solidFill>
                      <a:srgbClr val="111827"/>
                    </a:solidFill>
                    <a:latin typeface="Arial"/>
                  </a:rPr>
                  <a:t>; equal, so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1974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2584</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17</m:t>
                        </m:r>
                      </m:sub>
                    </m:sSub>
                  </m:oMath>
                </a14:m>
                <a:r>
                  <a:rPr sz="2400" b="0">
                    <a:solidFill>
                      <a:srgbClr val="111827"/>
                    </a:solidFill>
                    <a:latin typeface="Arial"/>
                  </a:rPr>
                  <a:t>. False. Only (A) is correct.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$c_{17}=F_{16}=987$</a:t>
                </a:r>
                <a:r>
                  <a:rPr sz="2400" b="0">
                    <a:solidFill>
                      <a:srgbClr val="111827"/>
                    </a:solidFill>
                    <a:latin typeface="Arial"/>
                  </a:rPr>
                  <a:t> and </a:t>
                </a:r>
                <a:r>
                  <a:rPr lang="en-IN" sz="2400">
                    <a:solidFill>
                      <a:srgbClr val="111827"/>
                    </a:solidFill>
                    <a:latin typeface="Cambria Math" panose="02040503050406030204" pitchFamily="18" charset="0"/>
                  </a:rPr>
                  <a:t>$c_{16}+c_{15}=F_{15}+F_{14}=610+377=987$</a:t>
                </a:r>
                <a:r>
                  <a:rPr sz="2400" b="0">
                    <a:solidFill>
                      <a:srgbClr val="111827"/>
                    </a:solidFill>
                    <a:latin typeface="Arial"/>
                  </a:rPr>
                  <a:t>; equal, so </a:t>
                </a:r>
                <a:r>
                  <a:rPr lang="en-IN" sz="2400">
                    <a:solidFill>
                      <a:srgbClr val="111827"/>
                    </a:solidFill>
                    <a:latin typeface="Cambria Math" panose="02040503050406030204" pitchFamily="18" charset="0"/>
                  </a:rPr>
                  <a:t>$\neq$</a:t>
                </a:r>
                <a:r>
                  <a:rPr sz="2400" b="0">
                    <a:solidFill>
                      <a:srgbClr val="111827"/>
                    </a:solidFill>
                    <a:latin typeface="Arial"/>
                  </a:rPr>
                  <a: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$b_{17}=F_{17}=1597$</a:t>
                </a:r>
                <a:r>
                  <a:rPr sz="2400" b="0">
                    <a:solidFill>
                      <a:srgbClr val="111827"/>
                    </a:solidFill>
                    <a:latin typeface="Arial"/>
                  </a:rPr>
                  <a:t> and </a:t>
                </a:r>
                <a:r>
                  <a:rPr lang="en-IN" sz="2400">
                    <a:solidFill>
                      <a:srgbClr val="111827"/>
                    </a:solidFill>
                    <a:latin typeface="Cambria Math" panose="02040503050406030204" pitchFamily="18" charset="0"/>
                  </a:rPr>
                  <a:t>$b_{16}+c_{16}=F_{16}+F_{15}=987+610=1597$</a:t>
                </a:r>
                <a:r>
                  <a:rPr sz="2400" b="0">
                    <a:solidFill>
                      <a:srgbClr val="111827"/>
                    </a:solidFill>
                    <a:latin typeface="Arial"/>
                  </a:rPr>
                  <a:t>; equal, so </a:t>
                </a:r>
                <a:r>
                  <a:rPr lang="en-IN" sz="2400">
                    <a:solidFill>
                      <a:srgbClr val="111827"/>
                    </a:solidFill>
                    <a:latin typeface="Cambria Math" panose="02040503050406030204" pitchFamily="18" charset="0"/>
                  </a:rPr>
                  <a:t>$\neq$</a:t>
                </a:r>
                <a:r>
                  <a:rPr sz="2400" b="0">
                    <a:solidFill>
                      <a:srgbClr val="111827"/>
                    </a:solidFill>
                    <a:latin typeface="Arial"/>
                  </a:rPr>
                  <a:t>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$c_{17}+b_{16}=987+987=1974\neq2584=a_{17}$</a:t>
                </a:r>
                <a:r>
                  <a:rPr sz="2400" b="0">
                    <a:solidFill>
                      <a:srgbClr val="111827"/>
                    </a:solidFill>
                    <a:latin typeface="Arial"/>
                  </a:rPr>
                  <a:t>. False. Only (A) is correct.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a:t>
            </a:r>
            <a:endParaRPr sz="2800">
              <a:solidFill>
                <a:srgbClr val="15803D"/>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recurrence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holds for every sequence built from the same 'last digit' argument; once the initial terms match, the sequence is a shifted Fibonacci sequence.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Shift identities: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equalities among these can be tested by indices alone.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small cases: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(verified by brute force).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recurrence </a:t>
                </a:r>
                <a:r>
                  <a:rPr lang="en-IN" sz="2400">
                    <a:solidFill>
                      <a:srgbClr val="111827"/>
                    </a:solidFill>
                    <a:latin typeface="Cambria Math" panose="02040503050406030204" pitchFamily="18" charset="0"/>
                  </a:rPr>
                  <a:t>$x_n=x_{n-1}+x_{n-2}$</a:t>
                </a:r>
                <a:r>
                  <a:rPr sz="2400" b="0">
                    <a:solidFill>
                      <a:srgbClr val="111827"/>
                    </a:solidFill>
                    <a:latin typeface="Arial"/>
                  </a:rPr>
                  <a:t> holds for every sequence built from the same 'last digit' argument; once the initial terms match, the sequence is a shifted Fibonacci sequence.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Shift identities: </a:t>
                </a:r>
                <a:r>
                  <a:rPr lang="en-IN" sz="2400">
                    <a:solidFill>
                      <a:srgbClr val="111827"/>
                    </a:solidFill>
                    <a:latin typeface="Cambria Math" panose="02040503050406030204" pitchFamily="18" charset="0"/>
                  </a:rPr>
                  <a:t>$a_n=b_n+c_n$</a:t>
                </a:r>
                <a:r>
                  <a:rPr sz="2400" b="0">
                    <a:solidFill>
                      <a:srgbClr val="111827"/>
                    </a:solidFill>
                    <a:latin typeface="Arial"/>
                  </a:rPr>
                  <a:t>, </a:t>
                </a:r>
                <a:r>
                  <a:rPr lang="en-IN" sz="2400">
                    <a:solidFill>
                      <a:srgbClr val="111827"/>
                    </a:solidFill>
                    <a:latin typeface="Cambria Math" panose="02040503050406030204" pitchFamily="18" charset="0"/>
                  </a:rPr>
                  <a:t>$b_n=a_{n-1}$</a:t>
                </a:r>
                <a:r>
                  <a:rPr sz="2400" b="0">
                    <a:solidFill>
                      <a:srgbClr val="111827"/>
                    </a:solidFill>
                    <a:latin typeface="Arial"/>
                  </a:rPr>
                  <a:t>, </a:t>
                </a:r>
                <a:r>
                  <a:rPr lang="en-IN" sz="2400">
                    <a:solidFill>
                      <a:srgbClr val="111827"/>
                    </a:solidFill>
                    <a:latin typeface="Cambria Math" panose="02040503050406030204" pitchFamily="18" charset="0"/>
                  </a:rPr>
                  <a:t>$c_n=a_{n-2}$</a:t>
                </a:r>
                <a:r>
                  <a:rPr sz="2400" b="0">
                    <a:solidFill>
                      <a:srgbClr val="111827"/>
                    </a:solidFill>
                    <a:latin typeface="Arial"/>
                  </a:rPr>
                  <a:t>, so </a:t>
                </a:r>
                <a:r>
                  <a:rPr lang="en-IN" sz="2400">
                    <a:solidFill>
                      <a:srgbClr val="111827"/>
                    </a:solidFill>
                    <a:latin typeface="Cambria Math" panose="02040503050406030204" pitchFamily="18" charset="0"/>
                  </a:rPr>
                  <a:t>$b_n=c_{n+1}$</a:t>
                </a:r>
                <a:r>
                  <a:rPr sz="2400" b="0">
                    <a:solidFill>
                      <a:srgbClr val="111827"/>
                    </a:solidFill>
                    <a:latin typeface="Arial"/>
                  </a:rPr>
                  <a:t>; equalities among these can be tested by indices alone.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small cases: </a:t>
                </a:r>
                <a:r>
                  <a:rPr lang="en-IN" sz="2400">
                    <a:solidFill>
                      <a:srgbClr val="111827"/>
                    </a:solidFill>
                    <a:latin typeface="Cambria Math" panose="02040503050406030204" pitchFamily="18" charset="0"/>
                  </a:rPr>
                  <a:t>$a_1..a_6=1,2,3,5,8,13$</a:t>
                </a:r>
                <a:r>
                  <a:rPr sz="2400" b="0">
                    <a:solidFill>
                      <a:srgbClr val="111827"/>
                    </a:solidFill>
                    <a:latin typeface="Arial"/>
                  </a:rPr>
                  <a:t> (verified by brute force).</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Six cards and six envelopes are numbered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cards are to be placed in envelopes so that each envelope contains exactly one card and no card is placed in the envelope bearing the same number and moreover the card numbered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is always placed in envelope numbered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Then the number of ways it can be done is: [JEE (Adv) 2014]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264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265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67</m:t>
                    </m:r>
                  </m:oMath>
                </a14:m>
                <a:endParaRPr sz="2400">
                  <a:solidFill>
                    <a:srgbClr val="111827"/>
                  </a:solidFill>
                </a:endParaRPr>
              </a:p>
            </p:txBody>
          </p:sp>
        </mc:Choice>
        <mc:Fallback>
          <p:sp>
            <p:nvSpPr>
              <p:cNvPr id="4" name="Rounded Rectangle 3"/>
              <p:cNvSpPr/>
              <p:nvPr/>
            </p:nvSpPr>
            <p:spPr>
              <a:xfrm>
                <a:off x="731520" y="1280160"/>
                <a:ext cx="10725912" cy="31871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Six cards and six envelopes are numbered </a:t>
                </a:r>
                <a:r>
                  <a:rPr lang="en-IN" sz="2400">
                    <a:solidFill>
                      <a:srgbClr val="111827"/>
                    </a:solidFill>
                    <a:latin typeface="Cambria Math" panose="02040503050406030204" pitchFamily="18" charset="0"/>
                  </a:rPr>
                  <a:t>$1,2,3,4,5,6$</a:t>
                </a:r>
                <a:r>
                  <a:rPr sz="2400" b="0">
                    <a:solidFill>
                      <a:srgbClr val="111827"/>
                    </a:solidFill>
                    <a:latin typeface="Arial"/>
                  </a:rPr>
                  <a:t> and cards are to be placed in envelopes so that each envelope contains exactly one card and no card is placed in the envelope bearing the same number and moreover the card numbered </a:t>
                </a:r>
                <a:r>
                  <a:rPr lang="en-IN" sz="2400">
                    <a:solidFill>
                      <a:srgbClr val="111827"/>
                    </a:solidFill>
                    <a:latin typeface="Cambria Math" panose="02040503050406030204" pitchFamily="18" charset="0"/>
                  </a:rPr>
                  <a:t>$1$</a:t>
                </a:r>
                <a:r>
                  <a:rPr sz="2400" b="0">
                    <a:solidFill>
                      <a:srgbClr val="111827"/>
                    </a:solidFill>
                    <a:latin typeface="Arial"/>
                  </a:rPr>
                  <a:t> is always placed in envelope numbered </a:t>
                </a:r>
                <a:r>
                  <a:rPr lang="en-IN" sz="2400">
                    <a:solidFill>
                      <a:srgbClr val="111827"/>
                    </a:solidFill>
                    <a:latin typeface="Cambria Math" panose="02040503050406030204" pitchFamily="18" charset="0"/>
                  </a:rPr>
                  <a:t>$2$</a:t>
                </a:r>
                <a:r>
                  <a:rPr sz="2400" b="0">
                    <a:solidFill>
                      <a:srgbClr val="111827"/>
                    </a:solidFill>
                    <a:latin typeface="Arial"/>
                  </a:rPr>
                  <a:t>. Then the number of ways it can be done is: [JEE (Adv) 2014]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$264$</a:t>
                </a:r>
                <a:r>
                  <a:rPr sz="2400" b="0">
                    <a:solidFill>
                      <a:srgbClr val="111827"/>
                    </a:solidFill>
                    <a:latin typeface="Arial"/>
                  </a:rPr>
                  <a:t>   (B) </a:t>
                </a:r>
                <a:r>
                  <a:rPr lang="en-IN" sz="2400">
                    <a:solidFill>
                      <a:srgbClr val="111827"/>
                    </a:solidFill>
                    <a:latin typeface="Cambria Math" panose="02040503050406030204" pitchFamily="18" charset="0"/>
                  </a:rPr>
                  <a:t>$265$</a:t>
                </a:r>
                <a:r>
                  <a:rPr sz="2400" b="0">
                    <a:solidFill>
                      <a:srgbClr val="111827"/>
                    </a:solidFill>
                    <a:latin typeface="Arial"/>
                  </a:rPr>
                  <a:t>   (C) </a:t>
                </a:r>
                <a:r>
                  <a:rPr lang="en-IN" sz="2400">
                    <a:solidFill>
                      <a:srgbClr val="111827"/>
                    </a:solidFill>
                    <a:latin typeface="Cambria Math" panose="02040503050406030204" pitchFamily="18" charset="0"/>
                  </a:rPr>
                  <a:t>$53$</a:t>
                </a:r>
                <a:r>
                  <a:rPr sz="2400" b="0">
                    <a:solidFill>
                      <a:srgbClr val="111827"/>
                    </a:solidFill>
                    <a:latin typeface="Arial"/>
                  </a:rPr>
                  <a:t>   (D) </a:t>
                </a:r>
                <a:r>
                  <a:rPr lang="en-IN" sz="2400">
                    <a:solidFill>
                      <a:srgbClr val="111827"/>
                    </a:solidFill>
                    <a:latin typeface="Cambria Math" panose="02040503050406030204" pitchFamily="18" charset="0"/>
                  </a:rPr>
                  <a:t>$67$</a:t>
                </a:r>
                <a:endParaRPr sz="2400">
                  <a:solidFill>
                    <a:srgbClr val="111827"/>
                  </a:solidFill>
                </a:endParaRPr>
              </a:p>
            </p:txBody>
          </p:sp>
        </mc:Fallback>
      </mc:AlternateContent>
      <p:sp>
        <p:nvSpPr>
          <p:cNvPr id="5" name="Rectangle 4"/>
          <p:cNvSpPr/>
          <p:nvPr/>
        </p:nvSpPr>
        <p:spPr>
          <a:xfrm>
            <a:off x="731520" y="46959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Derangements, Restricted permutations with a fixed assignment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on where card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goes: into envelope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(then a derangement of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or elsewhere (a derangement of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on where card </a:t>
                </a:r>
                <a:r>
                  <a:rPr lang="en-IN" sz="2400">
                    <a:solidFill>
                      <a:srgbClr val="78350F"/>
                    </a:solidFill>
                    <a:latin typeface="Cambria Math" panose="02040503050406030204" pitchFamily="18" charset="0"/>
                  </a:rPr>
                  <a:t>$2$</a:t>
                </a:r>
                <a:r>
                  <a:rPr sz="2400" b="0">
                    <a:solidFill>
                      <a:srgbClr val="78350F"/>
                    </a:solidFill>
                    <a:latin typeface="Arial"/>
                  </a:rPr>
                  <a:t> goes: into envelope </a:t>
                </a:r>
                <a:r>
                  <a:rPr lang="en-IN" sz="2400">
                    <a:solidFill>
                      <a:srgbClr val="78350F"/>
                    </a:solidFill>
                    <a:latin typeface="Cambria Math" panose="02040503050406030204" pitchFamily="18" charset="0"/>
                  </a:rPr>
                  <a:t>$1$</a:t>
                </a:r>
                <a:r>
                  <a:rPr sz="2400" b="0">
                    <a:solidFill>
                      <a:srgbClr val="78350F"/>
                    </a:solidFill>
                    <a:latin typeface="Arial"/>
                  </a:rPr>
                  <a:t> (then a derangement of </a:t>
                </a:r>
                <a:r>
                  <a:rPr lang="en-IN" sz="2400">
                    <a:solidFill>
                      <a:srgbClr val="78350F"/>
                    </a:solidFill>
                    <a:latin typeface="Cambria Math" panose="02040503050406030204" pitchFamily="18" charset="0"/>
                  </a:rPr>
                  <a:t>$4$</a:t>
                </a:r>
                <a:r>
                  <a:rPr sz="2400" b="0">
                    <a:solidFill>
                      <a:srgbClr val="78350F"/>
                    </a:solidFill>
                    <a:latin typeface="Arial"/>
                  </a:rPr>
                  <a:t>) or elsewhere (a derangement of </a:t>
                </a:r>
                <a:r>
                  <a:rPr lang="en-IN" sz="2400">
                    <a:solidFill>
                      <a:srgbClr val="78350F"/>
                    </a:solidFill>
                    <a:latin typeface="Cambria Math" panose="02040503050406030204" pitchFamily="18" charset="0"/>
                  </a:rPr>
                  <a:t>$5$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Card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goes into envelope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Now cards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must go into envelopes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with cards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not in their own envelopes.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card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goes into envelope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other four cards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must be deranged among envelopes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Card </a:t>
                </a:r>
                <a:r>
                  <a:rPr lang="en-IN" sz="2400">
                    <a:solidFill>
                      <a:srgbClr val="111827"/>
                    </a:solidFill>
                    <a:latin typeface="Cambria Math" panose="02040503050406030204" pitchFamily="18" charset="0"/>
                  </a:rPr>
                  <a:t>$1$</a:t>
                </a:r>
                <a:r>
                  <a:rPr sz="2400" b="0">
                    <a:solidFill>
                      <a:srgbClr val="111827"/>
                    </a:solidFill>
                    <a:latin typeface="Arial"/>
                  </a:rPr>
                  <a:t> goes into envelope </a:t>
                </a:r>
                <a:r>
                  <a:rPr lang="en-IN" sz="2400">
                    <a:solidFill>
                      <a:srgbClr val="111827"/>
                    </a:solidFill>
                    <a:latin typeface="Cambria Math" panose="02040503050406030204" pitchFamily="18" charset="0"/>
                  </a:rPr>
                  <a:t>$2$</a:t>
                </a:r>
                <a:r>
                  <a:rPr sz="2400" b="0">
                    <a:solidFill>
                      <a:srgbClr val="111827"/>
                    </a:solidFill>
                    <a:latin typeface="Arial"/>
                  </a:rPr>
                  <a:t>. Now cards </a:t>
                </a:r>
                <a:r>
                  <a:rPr lang="en-IN" sz="2400">
                    <a:solidFill>
                      <a:srgbClr val="111827"/>
                    </a:solidFill>
                    <a:latin typeface="Cambria Math" panose="02040503050406030204" pitchFamily="18" charset="0"/>
                  </a:rPr>
                  <a:t>$2,3,4,5,6$</a:t>
                </a:r>
                <a:r>
                  <a:rPr sz="2400" b="0">
                    <a:solidFill>
                      <a:srgbClr val="111827"/>
                    </a:solidFill>
                    <a:latin typeface="Arial"/>
                  </a:rPr>
                  <a:t> must go into envelopes </a:t>
                </a:r>
                <a:r>
                  <a:rPr lang="en-IN" sz="2400">
                    <a:solidFill>
                      <a:srgbClr val="111827"/>
                    </a:solidFill>
                    <a:latin typeface="Cambria Math" panose="02040503050406030204" pitchFamily="18" charset="0"/>
                  </a:rPr>
                  <a:t>$1,3,4,5,6$</a:t>
                </a:r>
                <a:r>
                  <a:rPr sz="2400" b="0">
                    <a:solidFill>
                      <a:srgbClr val="111827"/>
                    </a:solidFill>
                    <a:latin typeface="Arial"/>
                  </a:rPr>
                  <a:t> with cards </a:t>
                </a:r>
                <a:r>
                  <a:rPr lang="en-IN" sz="2400">
                    <a:solidFill>
                      <a:srgbClr val="111827"/>
                    </a:solidFill>
                    <a:latin typeface="Cambria Math" panose="02040503050406030204" pitchFamily="18" charset="0"/>
                  </a:rPr>
                  <a:t>$3,4,5,6$</a:t>
                </a:r>
                <a:r>
                  <a:rPr sz="2400" b="0">
                    <a:solidFill>
                      <a:srgbClr val="111827"/>
                    </a:solidFill>
                    <a:latin typeface="Arial"/>
                  </a:rPr>
                  <a:t> not in their own envelopes.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card </a:t>
                </a:r>
                <a:r>
                  <a:rPr lang="en-IN" sz="2400">
                    <a:solidFill>
                      <a:srgbClr val="111827"/>
                    </a:solidFill>
                    <a:latin typeface="Cambria Math" panose="02040503050406030204" pitchFamily="18" charset="0"/>
                  </a:rPr>
                  <a:t>$2$</a:t>
                </a:r>
                <a:r>
                  <a:rPr sz="2400" b="0">
                    <a:solidFill>
                      <a:srgbClr val="111827"/>
                    </a:solidFill>
                    <a:latin typeface="Arial"/>
                  </a:rPr>
                  <a:t> goes into envelope </a:t>
                </a:r>
                <a:r>
                  <a:rPr lang="en-IN" sz="2400">
                    <a:solidFill>
                      <a:srgbClr val="111827"/>
                    </a:solidFill>
                    <a:latin typeface="Cambria Math" panose="02040503050406030204" pitchFamily="18" charset="0"/>
                  </a:rPr>
                  <a:t>$1$</a:t>
                </a:r>
                <a:r>
                  <a:rPr sz="2400" b="0">
                    <a:solidFill>
                      <a:srgbClr val="111827"/>
                    </a:solidFill>
                    <a:latin typeface="Arial"/>
                  </a:rPr>
                  <a:t>. The other four cards </a:t>
                </a:r>
                <a:r>
                  <a:rPr lang="en-IN" sz="2400">
                    <a:solidFill>
                      <a:srgbClr val="111827"/>
                    </a:solidFill>
                    <a:latin typeface="Cambria Math" panose="02040503050406030204" pitchFamily="18" charset="0"/>
                  </a:rPr>
                  <a:t>$3,4,5,6$</a:t>
                </a:r>
                <a:r>
                  <a:rPr sz="2400" b="0">
                    <a:solidFill>
                      <a:srgbClr val="111827"/>
                    </a:solidFill>
                    <a:latin typeface="Arial"/>
                  </a:rPr>
                  <a:t> must be deranged among envelopes </a:t>
                </a:r>
                <a:r>
                  <a:rPr lang="en-IN" sz="2400">
                    <a:solidFill>
                      <a:srgbClr val="111827"/>
                    </a:solidFill>
                    <a:latin typeface="Cambria Math" panose="02040503050406030204" pitchFamily="18" charset="0"/>
                  </a:rPr>
                  <a:t>$3,4,5,6$</a:t>
                </a:r>
                <a:r>
                  <a:rPr sz="2400" b="0">
                    <a:solidFill>
                      <a:srgbClr val="111827"/>
                    </a:solidFill>
                    <a:latin typeface="Arial"/>
                  </a:rPr>
                  <a:t>: </a:t>
                </a:r>
                <a:r>
                  <a:rPr lang="en-IN" sz="2400">
                    <a:solidFill>
                      <a:srgbClr val="111827"/>
                    </a:solidFill>
                    <a:latin typeface="Cambria Math" panose="02040503050406030204" pitchFamily="18" charset="0"/>
                  </a:rPr>
                  <a:t>$D_4=4!\left(\frac{1}{2!}-\frac{1}{3!}+\frac{1}{4!}\right)=9$</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2: card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does not go into envelope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Treat envelope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as the 'own envelope' of card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this is a derangement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things,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2: card </a:t>
                </a:r>
                <a:r>
                  <a:rPr lang="en-IN" sz="2400">
                    <a:solidFill>
                      <a:srgbClr val="111827"/>
                    </a:solidFill>
                    <a:latin typeface="Cambria Math" panose="02040503050406030204" pitchFamily="18" charset="0"/>
                  </a:rPr>
                  <a:t>$2$</a:t>
                </a:r>
                <a:r>
                  <a:rPr sz="2400" b="0">
                    <a:solidFill>
                      <a:srgbClr val="111827"/>
                    </a:solidFill>
                    <a:latin typeface="Arial"/>
                  </a:rPr>
                  <a:t> does not go into envelope </a:t>
                </a:r>
                <a:r>
                  <a:rPr lang="en-IN" sz="2400">
                    <a:solidFill>
                      <a:srgbClr val="111827"/>
                    </a:solidFill>
                    <a:latin typeface="Cambria Math" panose="02040503050406030204" pitchFamily="18" charset="0"/>
                  </a:rPr>
                  <a:t>$1$</a:t>
                </a:r>
                <a:r>
                  <a:rPr sz="2400" b="0">
                    <a:solidFill>
                      <a:srgbClr val="111827"/>
                    </a:solidFill>
                    <a:latin typeface="Arial"/>
                  </a:rPr>
                  <a:t>. Treat envelope </a:t>
                </a:r>
                <a:r>
                  <a:rPr lang="en-IN" sz="2400">
                    <a:solidFill>
                      <a:srgbClr val="111827"/>
                    </a:solidFill>
                    <a:latin typeface="Cambria Math" panose="02040503050406030204" pitchFamily="18" charset="0"/>
                  </a:rPr>
                  <a:t>$1$</a:t>
                </a:r>
                <a:r>
                  <a:rPr sz="2400" b="0">
                    <a:solidFill>
                      <a:srgbClr val="111827"/>
                    </a:solidFill>
                    <a:latin typeface="Arial"/>
                  </a:rPr>
                  <a:t> as the 'own envelope' of card </a:t>
                </a:r>
                <a:r>
                  <a:rPr lang="en-IN" sz="2400">
                    <a:solidFill>
                      <a:srgbClr val="111827"/>
                    </a:solidFill>
                    <a:latin typeface="Cambria Math" panose="02040503050406030204" pitchFamily="18" charset="0"/>
                  </a:rPr>
                  <a:t>$2$</a:t>
                </a:r>
                <a:r>
                  <a:rPr sz="2400" b="0">
                    <a:solidFill>
                      <a:srgbClr val="111827"/>
                    </a:solidFill>
                    <a:latin typeface="Arial"/>
                  </a:rPr>
                  <a:t>: this is a derangement of </a:t>
                </a:r>
                <a:r>
                  <a:rPr lang="en-IN" sz="2400">
                    <a:solidFill>
                      <a:srgbClr val="111827"/>
                    </a:solidFill>
                    <a:latin typeface="Cambria Math" panose="02040503050406030204" pitchFamily="18" charset="0"/>
                  </a:rPr>
                  <a:t>$5$</a:t>
                </a:r>
                <a:r>
                  <a:rPr sz="2400" b="0">
                    <a:solidFill>
                      <a:srgbClr val="111827"/>
                    </a:solidFill>
                    <a:latin typeface="Arial"/>
                  </a:rPr>
                  <a:t> things, </a:t>
                </a:r>
                <a:r>
                  <a:rPr lang="en-IN" sz="2400">
                    <a:solidFill>
                      <a:srgbClr val="111827"/>
                    </a:solidFill>
                    <a:latin typeface="Cambria Math" panose="02040503050406030204" pitchFamily="18" charset="0"/>
                  </a:rPr>
                  <a:t>$D_5=44$</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$=9+44=53$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53</a:t>
            </a:r>
            <a:endParaRPr sz="2800">
              <a:solidFill>
                <a:srgbClr val="15803D"/>
              </a:solidFil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After fixing card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envelope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count the arrangements of the other five directly by inclusion–exclusion on the four forbidden positions.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After fixing card </a:t>
                </a:r>
                <a:r>
                  <a:rPr lang="en-IN" sz="2400">
                    <a:solidFill>
                      <a:srgbClr val="78350F"/>
                    </a:solidFill>
                    <a:latin typeface="Cambria Math" panose="02040503050406030204" pitchFamily="18" charset="0"/>
                  </a:rPr>
                  <a:t>$1\to$</a:t>
                </a:r>
                <a:r>
                  <a:rPr sz="2400" b="0">
                    <a:solidFill>
                      <a:srgbClr val="78350F"/>
                    </a:solidFill>
                    <a:latin typeface="Arial"/>
                  </a:rPr>
                  <a:t> envelope </a:t>
                </a:r>
                <a:r>
                  <a:rPr lang="en-IN" sz="2400">
                    <a:solidFill>
                      <a:srgbClr val="78350F"/>
                    </a:solidFill>
                    <a:latin typeface="Cambria Math" panose="02040503050406030204" pitchFamily="18" charset="0"/>
                  </a:rPr>
                  <a:t>$2$</a:t>
                </a:r>
                <a:r>
                  <a:rPr sz="2400" b="0">
                    <a:solidFill>
                      <a:srgbClr val="78350F"/>
                    </a:solidFill>
                    <a:latin typeface="Arial"/>
                  </a:rPr>
                  <a:t>, count the arrangements of the other five directly by inclusion–exclusion on the four forbidden positions.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Cards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go into envelopes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in any of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the only restrictions are that cards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avoid envelopes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respectively (four forbidden matches).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be the event that card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lies in envelope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𝑗</m:t>
                            </m:r>
                          </m:sub>
                        </m:sSub>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Cards </a:t>
                </a:r>
                <a:r>
                  <a:rPr lang="en-IN" sz="2400">
                    <a:solidFill>
                      <a:srgbClr val="111827"/>
                    </a:solidFill>
                    <a:latin typeface="Cambria Math" panose="02040503050406030204" pitchFamily="18" charset="0"/>
                  </a:rPr>
                  <a:t>$2,3,4,5,6$</a:t>
                </a:r>
                <a:r>
                  <a:rPr sz="2400" b="0">
                    <a:solidFill>
                      <a:srgbClr val="111827"/>
                    </a:solidFill>
                    <a:latin typeface="Arial"/>
                  </a:rPr>
                  <a:t> go into envelopes </a:t>
                </a:r>
                <a:r>
                  <a:rPr lang="en-IN" sz="2400">
                    <a:solidFill>
                      <a:srgbClr val="111827"/>
                    </a:solidFill>
                    <a:latin typeface="Cambria Math" panose="02040503050406030204" pitchFamily="18" charset="0"/>
                  </a:rPr>
                  <a:t>$1,3,4,5,6$</a:t>
                </a:r>
                <a:r>
                  <a:rPr sz="2400" b="0">
                    <a:solidFill>
                      <a:srgbClr val="111827"/>
                    </a:solidFill>
                    <a:latin typeface="Arial"/>
                  </a:rPr>
                  <a:t> in any of </a:t>
                </a:r>
                <a:r>
                  <a:rPr lang="en-IN" sz="2400">
                    <a:solidFill>
                      <a:srgbClr val="111827"/>
                    </a:solidFill>
                    <a:latin typeface="Cambria Math" panose="02040503050406030204" pitchFamily="18" charset="0"/>
                  </a:rPr>
                  <a:t>$5!$</a:t>
                </a:r>
                <a:r>
                  <a:rPr sz="2400" b="0">
                    <a:solidFill>
                      <a:srgbClr val="111827"/>
                    </a:solidFill>
                    <a:latin typeface="Arial"/>
                  </a:rPr>
                  <a:t> ways; the only restrictions are that cards </a:t>
                </a:r>
                <a:r>
                  <a:rPr lang="en-IN" sz="2400">
                    <a:solidFill>
                      <a:srgbClr val="111827"/>
                    </a:solidFill>
                    <a:latin typeface="Cambria Math" panose="02040503050406030204" pitchFamily="18" charset="0"/>
                  </a:rPr>
                  <a:t>$3,4,5,6$</a:t>
                </a:r>
                <a:r>
                  <a:rPr sz="2400" b="0">
                    <a:solidFill>
                      <a:srgbClr val="111827"/>
                    </a:solidFill>
                    <a:latin typeface="Arial"/>
                  </a:rPr>
                  <a:t> avoid envelopes </a:t>
                </a:r>
                <a:r>
                  <a:rPr lang="en-IN" sz="2400">
                    <a:solidFill>
                      <a:srgbClr val="111827"/>
                    </a:solidFill>
                    <a:latin typeface="Cambria Math" panose="02040503050406030204" pitchFamily="18" charset="0"/>
                  </a:rPr>
                  <a:t>$3,4,5,6$</a:t>
                </a:r>
                <a:r>
                  <a:rPr sz="2400" b="0">
                    <a:solidFill>
                      <a:srgbClr val="111827"/>
                    </a:solidFill>
                    <a:latin typeface="Arial"/>
                  </a:rPr>
                  <a:t> respectively (four forbidden matches).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$A_k$</a:t>
                </a:r>
                <a:r>
                  <a:rPr sz="2400" b="0">
                    <a:solidFill>
                      <a:srgbClr val="111827"/>
                    </a:solidFill>
                    <a:latin typeface="Arial"/>
                  </a:rPr>
                  <a:t> be the event that card </a:t>
                </a:r>
                <a:r>
                  <a:rPr lang="en-IN" sz="2400">
                    <a:solidFill>
                      <a:srgbClr val="111827"/>
                    </a:solidFill>
                    <a:latin typeface="Cambria Math" panose="02040503050406030204" pitchFamily="18" charset="0"/>
                  </a:rPr>
                  <a:t>$k$</a:t>
                </a:r>
                <a:r>
                  <a:rPr sz="2400" b="0">
                    <a:solidFill>
                      <a:srgbClr val="111827"/>
                    </a:solidFill>
                    <a:latin typeface="Arial"/>
                  </a:rPr>
                  <a:t> lies in envelope </a:t>
                </a:r>
                <a:r>
                  <a:rPr lang="en-IN" sz="2400">
                    <a:solidFill>
                      <a:srgbClr val="111827"/>
                    </a:solidFill>
                    <a:latin typeface="Cambria Math" panose="02040503050406030204" pitchFamily="18" charset="0"/>
                  </a:rPr>
                  <a:t>$k$</a:t>
                </a:r>
                <a:r>
                  <a:rPr sz="2400" b="0">
                    <a:solidFill>
                      <a:srgbClr val="111827"/>
                    </a:solidFill>
                    <a:latin typeface="Arial"/>
                  </a:rPr>
                  <a:t> (</a:t>
                </a:r>
                <a:r>
                  <a:rPr lang="en-IN" sz="2400">
                    <a:solidFill>
                      <a:srgbClr val="111827"/>
                    </a:solidFill>
                    <a:latin typeface="Cambria Math" panose="02040503050406030204" pitchFamily="18" charset="0"/>
                  </a:rPr>
                  <a:t>$k=3,4,5,6$</a:t>
                </a:r>
                <a:r>
                  <a:rPr sz="2400" b="0">
                    <a:solidFill>
                      <a:srgbClr val="111827"/>
                    </a:solidFill>
                    <a:latin typeface="Arial"/>
                  </a:rPr>
                  <a:t>). Then </a:t>
                </a:r>
                <a:r>
                  <a:rPr lang="en-IN" sz="2400">
                    <a:solidFill>
                      <a:srgbClr val="111827"/>
                    </a:solidFill>
                    <a:latin typeface="Cambria Math" panose="02040503050406030204" pitchFamily="18" charset="0"/>
                  </a:rPr>
                  <a:t>$|A_{k_1}\cap\dots\cap A_{k_j}|=(5-j)!$</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good arrangements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4</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𝑗</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good arrangements </a:t>
                </a:r>
                <a:r>
                  <a:rPr lang="en-IN" sz="2400">
                    <a:solidFill>
                      <a:srgbClr val="111827"/>
                    </a:solidFill>
                    <a:latin typeface="Cambria Math" panose="02040503050406030204" pitchFamily="18" charset="0"/>
                  </a:rPr>
                  <a:t>$=\sum_{j=0}^{4}(-1)^j\binom{4}{j}(5-j)!=120-4(24)+6(6)-4(2)+1(1)$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$=120-96+36-8+1=53$</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53</a:t>
            </a:r>
            <a:endParaRPr sz="2800">
              <a:solidFill>
                <a:srgbClr val="15803D"/>
              </a:solidFil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Derangements: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objects are forbidden from their own places and the other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are unrestricted, the count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𝑘</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𝑗</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Recurrence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53</m:t>
                    </m:r>
                  </m:oMath>
                </a14:m>
                <a:r>
                  <a:rPr sz="2400" b="0">
                    <a:solidFill>
                      <a:srgbClr val="111827"/>
                    </a:solidFill>
                    <a:latin typeface="Arial"/>
                  </a:rPr>
                  <a:t> is the count of derangements with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forced, equal to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by symmetry.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Derangements: </a:t>
                </a:r>
                <a:r>
                  <a:rPr lang="en-IN" sz="2400">
                    <a:solidFill>
                      <a:srgbClr val="111827"/>
                    </a:solidFill>
                    <a:latin typeface="Cambria Math" panose="02040503050406030204" pitchFamily="18" charset="0"/>
                  </a:rPr>
                  <a:t>$D_n=n!\sum_{k=0}^{n}\frac{(-1)^k}{k!}$</a:t>
                </a:r>
                <a:r>
                  <a:rPr sz="2400" b="0">
                    <a:solidFill>
                      <a:srgbClr val="111827"/>
                    </a:solidFill>
                    <a:latin typeface="Arial"/>
                  </a:rPr>
                  <a:t>; </a:t>
                </a:r>
                <a:r>
                  <a:rPr lang="en-IN" sz="2400">
                    <a:solidFill>
                      <a:srgbClr val="111827"/>
                    </a:solidFill>
                    <a:latin typeface="Cambria Math" panose="02040503050406030204" pitchFamily="18" charset="0"/>
                  </a:rPr>
                  <a:t>$D_1..D_6=0,1,2,9,44,265$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$k$</a:t>
                </a:r>
                <a:r>
                  <a:rPr sz="2400" b="0">
                    <a:solidFill>
                      <a:srgbClr val="111827"/>
                    </a:solidFill>
                    <a:latin typeface="Arial"/>
                  </a:rPr>
                  <a:t> of </a:t>
                </a:r>
                <a:r>
                  <a:rPr lang="en-IN" sz="2400">
                    <a:solidFill>
                      <a:srgbClr val="111827"/>
                    </a:solidFill>
                    <a:latin typeface="Cambria Math" panose="02040503050406030204" pitchFamily="18" charset="0"/>
                  </a:rPr>
                  <a:t>$n$</a:t>
                </a:r>
                <a:r>
                  <a:rPr sz="2400" b="0">
                    <a:solidFill>
                      <a:srgbClr val="111827"/>
                    </a:solidFill>
                    <a:latin typeface="Arial"/>
                  </a:rPr>
                  <a:t> objects are forbidden from their own places and the other </a:t>
                </a:r>
                <a:r>
                  <a:rPr lang="en-IN" sz="2400">
                    <a:solidFill>
                      <a:srgbClr val="111827"/>
                    </a:solidFill>
                    <a:latin typeface="Cambria Math" panose="02040503050406030204" pitchFamily="18" charset="0"/>
                  </a:rPr>
                  <a:t>$n-k$</a:t>
                </a:r>
                <a:r>
                  <a:rPr sz="2400" b="0">
                    <a:solidFill>
                      <a:srgbClr val="111827"/>
                    </a:solidFill>
                    <a:latin typeface="Arial"/>
                  </a:rPr>
                  <a:t> are unrestricted, the count is </a:t>
                </a:r>
                <a:r>
                  <a:rPr lang="en-IN" sz="2400">
                    <a:solidFill>
                      <a:srgbClr val="111827"/>
                    </a:solidFill>
                    <a:latin typeface="Cambria Math" panose="02040503050406030204" pitchFamily="18" charset="0"/>
                  </a:rPr>
                  <a:t>$\sum_{j=0}^{k}(-1)^j\binom{k}{j}(n-j)!$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Recurrence </a:t>
                </a:r>
                <a:r>
                  <a:rPr lang="en-IN" sz="2400">
                    <a:solidFill>
                      <a:srgbClr val="111827"/>
                    </a:solidFill>
                    <a:latin typeface="Cambria Math" panose="02040503050406030204" pitchFamily="18" charset="0"/>
                  </a:rPr>
                  <a:t>$D_n=(n-1)(D_{n-1}+D_{n-2})$</a:t>
                </a:r>
                <a:r>
                  <a:rPr sz="2400" b="0">
                    <a:solidFill>
                      <a:srgbClr val="111827"/>
                    </a:solidFill>
                    <a:latin typeface="Arial"/>
                  </a:rPr>
                  <a:t>; here </a:t>
                </a:r>
                <a:r>
                  <a:rPr lang="en-IN" sz="2400">
                    <a:solidFill>
                      <a:srgbClr val="111827"/>
                    </a:solidFill>
                    <a:latin typeface="Cambria Math" panose="02040503050406030204" pitchFamily="18" charset="0"/>
                  </a:rPr>
                  <a:t>$D_5+D_4=44+9=53$</a:t>
                </a:r>
                <a:r>
                  <a:rPr sz="2400" b="0">
                    <a:solidFill>
                      <a:srgbClr val="111827"/>
                    </a:solidFill>
                    <a:latin typeface="Arial"/>
                  </a:rPr>
                  <a:t> is the count of derangements with </a:t>
                </a:r>
                <a:r>
                  <a:rPr lang="en-IN" sz="2400">
                    <a:solidFill>
                      <a:srgbClr val="111827"/>
                    </a:solidFill>
                    <a:latin typeface="Cambria Math" panose="02040503050406030204" pitchFamily="18" charset="0"/>
                  </a:rPr>
                  <a:t>$1\to2$</a:t>
                </a:r>
                <a:r>
                  <a:rPr sz="2400" b="0">
                    <a:solidFill>
                      <a:srgbClr val="111827"/>
                    </a:solidFill>
                    <a:latin typeface="Arial"/>
                  </a:rPr>
                  <a:t> forced, equal to </a:t>
                </a:r>
                <a:r>
                  <a:rPr lang="en-IN" sz="2400">
                    <a:solidFill>
                      <a:srgbClr val="111827"/>
                    </a:solidFill>
                    <a:latin typeface="Cambria Math" panose="02040503050406030204" pitchFamily="18" charset="0"/>
                  </a:rPr>
                  <a:t>$D_6/5=265/5$</a:t>
                </a:r>
                <a:r>
                  <a:rPr sz="2400" b="0">
                    <a:solidFill>
                      <a:srgbClr val="111827"/>
                    </a:solidFill>
                    <a:latin typeface="Arial"/>
                  </a:rPr>
                  <a:t> by symmetry.</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Q05 – Q07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be positive integers such that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Then the number of such distinct arrangements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 [JEE (Adv) 2014]</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$n_1&lt;n_2&lt;n_3&lt;n_4&lt;n_5$</a:t>
                </a:r>
                <a:r>
                  <a:rPr sz="2400" b="0">
                    <a:solidFill>
                      <a:srgbClr val="111827"/>
                    </a:solidFill>
                    <a:latin typeface="Arial"/>
                  </a:rPr>
                  <a:t> be positive integers such that </a:t>
                </a:r>
                <a:r>
                  <a:rPr lang="en-IN" sz="2400">
                    <a:solidFill>
                      <a:srgbClr val="111827"/>
                    </a:solidFill>
                    <a:latin typeface="Cambria Math" panose="02040503050406030204" pitchFamily="18" charset="0"/>
                  </a:rPr>
                  <a:t>$n_1+n_2+n_3+n_4+n_5=20$</a:t>
                </a:r>
                <a:r>
                  <a:rPr sz="2400" b="0">
                    <a:solidFill>
                      <a:srgbClr val="111827"/>
                    </a:solidFill>
                    <a:latin typeface="Arial"/>
                  </a:rPr>
                  <a:t>. Then the number of such distinct arrangements </a:t>
                </a:r>
                <a:r>
                  <a:rPr lang="en-IN" sz="2400">
                    <a:solidFill>
                      <a:srgbClr val="111827"/>
                    </a:solidFill>
                    <a:latin typeface="Cambria Math" panose="02040503050406030204" pitchFamily="18" charset="0"/>
                  </a:rPr>
                  <a:t>$(n_1,n_2,n_3,n_4,n_5)$</a:t>
                </a:r>
                <a:r>
                  <a:rPr sz="2400" b="0">
                    <a:solidFill>
                      <a:srgbClr val="111827"/>
                    </a:solidFill>
                    <a:latin typeface="Arial"/>
                  </a:rPr>
                  <a:t> is ______. [JEE (Adv) 2014]</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Integer solutions of a linear equation with ordering constraints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each gap as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𝑡</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with </a:t>
                </a:r>
                <a14:m>
                  <m:oMath xmlns:m="http://schemas.openxmlformats.org/officeDocument/2006/math">
                    <m:sSub>
                      <m:e>
                        <m:r>
                          <a:rPr lang="en-IN" sz="2400" i="1">
                            <a:solidFill>
                              <a:srgbClr val="78350F"/>
                            </a:solidFill>
                            <a:latin typeface="Cambria Math" panose="02040503050406030204" pitchFamily="18" charset="0"/>
                          </a:rPr>
                          <m:t>𝑡</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turning strict inequalities into non-negative unknowns.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each gap as </a:t>
                </a:r>
                <a:r>
                  <a:rPr lang="en-IN" sz="2400">
                    <a:solidFill>
                      <a:srgbClr val="78350F"/>
                    </a:solidFill>
                    <a:latin typeface="Cambria Math" panose="02040503050406030204" pitchFamily="18" charset="0"/>
                  </a:rPr>
                  <a:t>$n_{i+1}=n_i+t_i+1$</a:t>
                </a:r>
                <a:r>
                  <a:rPr sz="2400" b="0">
                    <a:solidFill>
                      <a:srgbClr val="78350F"/>
                    </a:solidFill>
                    <a:latin typeface="Arial"/>
                  </a:rPr>
                  <a:t> with </a:t>
                </a:r>
                <a:r>
                  <a:rPr lang="en-IN" sz="2400">
                    <a:solidFill>
                      <a:srgbClr val="78350F"/>
                    </a:solidFill>
                    <a:latin typeface="Cambria Math" panose="02040503050406030204" pitchFamily="18" charset="0"/>
                  </a:rPr>
                  <a:t>$t_i\ge0$</a:t>
                </a:r>
                <a:r>
                  <a:rPr sz="2400" b="0">
                    <a:solidFill>
                      <a:srgbClr val="78350F"/>
                    </a:solidFill>
                    <a:latin typeface="Arial"/>
                  </a:rPr>
                  <a:t>, turning strict inequalities into non-negative unknowns.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the sum becomes </a:t>
                </a:r>
                <a14:m>
                  <m:oMath xmlns:m="http://schemas.openxmlformats.org/officeDocument/2006/math">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forces all other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's to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solution. So take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solutions.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$n_2=n_1+t_1+1,\ n_3=n_2+t_2+1,\ n_4=n_3+t_3+1,\ n_5=n_4+t_4+1$</a:t>
                </a:r>
                <a:r>
                  <a:rPr sz="2400" b="0">
                    <a:solidFill>
                      <a:srgbClr val="111827"/>
                    </a:solidFill>
                    <a:latin typeface="Arial"/>
                  </a:rPr>
                  <a:t> with </a:t>
                </a:r>
                <a:r>
                  <a:rPr lang="en-IN" sz="2400">
                    <a:solidFill>
                      <a:srgbClr val="111827"/>
                    </a:solidFill>
                    <a:latin typeface="Cambria Math" panose="02040503050406030204" pitchFamily="18" charset="0"/>
                  </a:rPr>
                  <a:t>$t_i\ge0$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the sum becomes </a:t>
                </a:r>
                <a:r>
                  <a:rPr lang="en-IN" sz="2400">
                    <a:solidFill>
                      <a:srgbClr val="111827"/>
                    </a:solidFill>
                    <a:latin typeface="Cambria Math" panose="02040503050406030204" pitchFamily="18" charset="0"/>
                  </a:rPr>
                  <a:t>$5n_1+4t_1+3t_2+2t_3+t_4+10=20$</a:t>
                </a:r>
                <a:r>
                  <a:rPr sz="2400" b="0">
                    <a:solidFill>
                      <a:srgbClr val="111827"/>
                    </a:solidFill>
                    <a:latin typeface="Arial"/>
                  </a:rPr>
                  <a:t>, i.e. </a:t>
                </a:r>
                <a:r>
                  <a:rPr lang="en-IN" sz="2400">
                    <a:solidFill>
                      <a:srgbClr val="111827"/>
                    </a:solidFill>
                    <a:latin typeface="Cambria Math" panose="02040503050406030204" pitchFamily="18" charset="0"/>
                  </a:rPr>
                  <a:t>$5n_1+4t_1+3t_2+2t_3+t_4=10$</a:t>
                </a:r>
                <a:r>
                  <a:rPr sz="2400" b="0">
                    <a:solidFill>
                      <a:srgbClr val="111827"/>
                    </a:solidFill>
                    <a:latin typeface="Arial"/>
                  </a:rPr>
                  <a:t> with </a:t>
                </a:r>
                <a:r>
                  <a:rPr lang="en-IN" sz="2400">
                    <a:solidFill>
                      <a:srgbClr val="111827"/>
                    </a:solidFill>
                    <a:latin typeface="Cambria Math" panose="02040503050406030204" pitchFamily="18" charset="0"/>
                  </a:rPr>
                  <a:t>$n_1\ge1$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$n_1=t_0+1$</a:t>
                </a:r>
                <a:r>
                  <a:rPr sz="2400" b="0">
                    <a:solidFill>
                      <a:srgbClr val="111827"/>
                    </a:solidFill>
                    <a:latin typeface="Arial"/>
                  </a:rPr>
                  <a:t> with </a:t>
                </a:r>
                <a:r>
                  <a:rPr lang="en-IN" sz="2400">
                    <a:solidFill>
                      <a:srgbClr val="111827"/>
                    </a:solidFill>
                    <a:latin typeface="Cambria Math" panose="02040503050406030204" pitchFamily="18" charset="0"/>
                  </a:rPr>
                  <a:t>$t_0\ge0$</a:t>
                </a:r>
                <a:r>
                  <a:rPr sz="2400" b="0">
                    <a:solidFill>
                      <a:srgbClr val="111827"/>
                    </a:solidFill>
                    <a:latin typeface="Arial"/>
                  </a:rPr>
                  <a:t>: </a:t>
                </a:r>
                <a:r>
                  <a:rPr lang="en-IN" sz="2400">
                    <a:solidFill>
                      <a:srgbClr val="111827"/>
                    </a:solidFill>
                    <a:latin typeface="Cambria Math" panose="02040503050406030204" pitchFamily="18" charset="0"/>
                  </a:rPr>
                  <a:t>$5t_0+4t_1+3t_2+2t_3+t_4=5$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$t_0=1$</a:t>
                </a:r>
                <a:r>
                  <a:rPr sz="2400" b="0">
                    <a:solidFill>
                      <a:srgbClr val="111827"/>
                    </a:solidFill>
                    <a:latin typeface="Arial"/>
                  </a:rPr>
                  <a:t> forces all other </a:t>
                </a:r>
                <a:r>
                  <a:rPr lang="en-IN" sz="2400">
                    <a:solidFill>
                      <a:srgbClr val="111827"/>
                    </a:solidFill>
                    <a:latin typeface="Cambria Math" panose="02040503050406030204" pitchFamily="18" charset="0"/>
                  </a:rPr>
                  <a:t>$t$</a:t>
                </a:r>
                <a:r>
                  <a:rPr sz="2400" b="0">
                    <a:solidFill>
                      <a:srgbClr val="111827"/>
                    </a:solidFill>
                    <a:latin typeface="Arial"/>
                  </a:rPr>
                  <a:t>'s to be </a:t>
                </a:r>
                <a:r>
                  <a:rPr lang="en-IN" sz="2400">
                    <a:solidFill>
                      <a:srgbClr val="111827"/>
                    </a:solidFill>
                    <a:latin typeface="Cambria Math" panose="02040503050406030204" pitchFamily="18" charset="0"/>
                  </a:rPr>
                  <a:t>$0$</a:t>
                </a:r>
                <a:r>
                  <a:rPr sz="2400" b="0">
                    <a:solidFill>
                      <a:srgbClr val="111827"/>
                    </a:solidFill>
                    <a:latin typeface="Arial"/>
                  </a:rPr>
                  <a:t>: only </a:t>
                </a:r>
                <a:r>
                  <a:rPr lang="en-IN" sz="2400">
                    <a:solidFill>
                      <a:srgbClr val="111827"/>
                    </a:solidFill>
                    <a:latin typeface="Cambria Math" panose="02040503050406030204" pitchFamily="18" charset="0"/>
                  </a:rPr>
                  <a:t>$1$</a:t>
                </a:r>
                <a:r>
                  <a:rPr sz="2400" b="0">
                    <a:solidFill>
                      <a:srgbClr val="111827"/>
                    </a:solidFill>
                    <a:latin typeface="Arial"/>
                  </a:rPr>
                  <a:t> solution. So take </a:t>
                </a:r>
                <a:r>
                  <a:rPr lang="en-IN" sz="2400">
                    <a:solidFill>
                      <a:srgbClr val="111827"/>
                    </a:solidFill>
                    <a:latin typeface="Cambria Math" panose="02040503050406030204" pitchFamily="18" charset="0"/>
                  </a:rPr>
                  <a:t>$t_0=0$</a:t>
                </a:r>
                <a:r>
                  <a:rPr sz="2400" b="0">
                    <a:solidFill>
                      <a:srgbClr val="111827"/>
                    </a:solidFill>
                    <a:latin typeface="Arial"/>
                  </a:rPr>
                  <a:t>: </a:t>
                </a:r>
                <a:r>
                  <a:rPr lang="en-IN" sz="2400">
                    <a:solidFill>
                      <a:srgbClr val="111827"/>
                    </a:solidFill>
                    <a:latin typeface="Cambria Math" panose="02040503050406030204" pitchFamily="18" charset="0"/>
                  </a:rPr>
                  <a:t>$4t_1+3t_2+2t_3+t_4=5$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$t_1=0,\ t_2=0$</a:t>
                </a:r>
                <a:r>
                  <a:rPr sz="2400" b="0">
                    <a:solidFill>
                      <a:srgbClr val="111827"/>
                    </a:solidFill>
                    <a:latin typeface="Arial"/>
                  </a:rPr>
                  <a:t>: </a:t>
                </a:r>
                <a:r>
                  <a:rPr lang="en-IN" sz="2400">
                    <a:solidFill>
                      <a:srgbClr val="111827"/>
                    </a:solidFill>
                    <a:latin typeface="Cambria Math" panose="02040503050406030204" pitchFamily="18" charset="0"/>
                  </a:rPr>
                  <a:t>$2t_3+t_4=5$</a:t>
                </a:r>
                <a:r>
                  <a:rPr sz="2400" b="0">
                    <a:solidFill>
                      <a:srgbClr val="111827"/>
                    </a:solidFill>
                    <a:latin typeface="Arial"/>
                  </a:rPr>
                  <a:t> gives </a:t>
                </a:r>
                <a:r>
                  <a:rPr lang="en-IN" sz="2400">
                    <a:solidFill>
                      <a:srgbClr val="111827"/>
                    </a:solidFill>
                    <a:latin typeface="Cambria Math" panose="02040503050406030204" pitchFamily="18" charset="0"/>
                  </a:rPr>
                  <a:t>$t_3=0,1,2$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solutions.</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solutions.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forces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Listing 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each with sum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tuples.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$t_1=0,\ t_2=1$</a:t>
                </a:r>
                <a:r>
                  <a:rPr sz="2400" b="0">
                    <a:solidFill>
                      <a:srgbClr val="111827"/>
                    </a:solidFill>
                    <a:latin typeface="Arial"/>
                  </a:rPr>
                  <a:t>: </a:t>
                </a:r>
                <a:r>
                  <a:rPr lang="en-IN" sz="2400">
                    <a:solidFill>
                      <a:srgbClr val="111827"/>
                    </a:solidFill>
                    <a:latin typeface="Cambria Math" panose="02040503050406030204" pitchFamily="18" charset="0"/>
                  </a:rPr>
                  <a:t>$2t_3+t_4=2$</a:t>
                </a:r>
                <a:r>
                  <a:rPr sz="2400" b="0">
                    <a:solidFill>
                      <a:srgbClr val="111827"/>
                    </a:solidFill>
                    <a:latin typeface="Arial"/>
                  </a:rPr>
                  <a:t> gives </a:t>
                </a:r>
                <a:r>
                  <a:rPr lang="en-IN" sz="2400">
                    <a:solidFill>
                      <a:srgbClr val="111827"/>
                    </a:solidFill>
                    <a:latin typeface="Cambria Math" panose="02040503050406030204" pitchFamily="18" charset="0"/>
                  </a:rPr>
                  <a:t>$t_3=0,1$</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solutions.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$t_1=1$</a:t>
                </a:r>
                <a:r>
                  <a:rPr sz="2400" b="0">
                    <a:solidFill>
                      <a:srgbClr val="111827"/>
                    </a:solidFill>
                    <a:latin typeface="Arial"/>
                  </a:rPr>
                  <a:t> forces </a:t>
                </a:r>
                <a:r>
                  <a:rPr lang="en-IN" sz="2400">
                    <a:solidFill>
                      <a:srgbClr val="111827"/>
                    </a:solidFill>
                    <a:latin typeface="Cambria Math" panose="02040503050406030204" pitchFamily="18" charset="0"/>
                  </a:rPr>
                  <a:t>$t_2=0$</a:t>
                </a:r>
                <a:r>
                  <a:rPr sz="2400" b="0">
                    <a:solidFill>
                      <a:srgbClr val="111827"/>
                    </a:solidFill>
                    <a:latin typeface="Arial"/>
                  </a:rPr>
                  <a:t> and </a:t>
                </a:r>
                <a:r>
                  <a:rPr lang="en-IN" sz="2400">
                    <a:solidFill>
                      <a:srgbClr val="111827"/>
                    </a:solidFill>
                    <a:latin typeface="Cambria Math" panose="02040503050406030204" pitchFamily="18" charset="0"/>
                  </a:rPr>
                  <a:t>$2t_3+t_4=1$</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solution.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$=1+3+2+1=7$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Listing check: </a:t>
                </a:r>
                <a:r>
                  <a:rPr lang="en-IN" sz="2400">
                    <a:solidFill>
                      <a:srgbClr val="111827"/>
                    </a:solidFill>
                    <a:latin typeface="Cambria Math" panose="02040503050406030204" pitchFamily="18" charset="0"/>
                  </a:rPr>
                  <a:t>$(1,2,3,4,10),(1,2,3,5,9),(1,2,3,6,8),(1,2,4,5,8),(1,2,4,6,7),(1,3,4,5,7),(2,3,4,5,6)$</a:t>
                </a:r>
                <a:r>
                  <a:rPr sz="2400" b="0">
                    <a:solidFill>
                      <a:srgbClr val="111827"/>
                    </a:solidFill>
                    <a:latin typeface="Arial"/>
                  </a:rPr>
                  <a:t>, each with sum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tuples.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a:t>
            </a:r>
            <a:endParaRPr sz="2800">
              <a:solidFill>
                <a:srgbClr val="15803D"/>
              </a:solidFill>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Subtract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to turn strictly increasing positive integers into a non-decreasing list, i.e. a partition of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Subtract </a:t>
                </a:r>
                <a:r>
                  <a:rPr lang="en-IN" sz="2400">
                    <a:solidFill>
                      <a:srgbClr val="78350F"/>
                    </a:solidFill>
                    <a:latin typeface="Cambria Math" panose="02040503050406030204" pitchFamily="18" charset="0"/>
                  </a:rPr>
                  <a:t>$(1,2,3,4,5)$</a:t>
                </a:r>
                <a:r>
                  <a:rPr sz="2400" b="0">
                    <a:solidFill>
                      <a:srgbClr val="78350F"/>
                    </a:solidFill>
                    <a:latin typeface="Arial"/>
                  </a:rPr>
                  <a:t> to turn strictly increasing positive integers into a non-decreasing list, i.e. a partition of </a:t>
                </a:r>
                <a:r>
                  <a:rPr lang="en-IN" sz="2400">
                    <a:solidFill>
                      <a:srgbClr val="78350F"/>
                    </a:solidFill>
                    <a:latin typeface="Cambria Math" panose="02040503050406030204" pitchFamily="18" charset="0"/>
                  </a:rPr>
                  <a:t>$5$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becomes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becomes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count non-decreasing sequences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non-negative integers with sum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i.e. partitions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into at most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parts.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partitions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of them.</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$m_i=n_i-i$</a:t>
                </a:r>
                <a:r>
                  <a:rPr sz="2400" b="0">
                    <a:solidFill>
                      <a:srgbClr val="111827"/>
                    </a:solidFill>
                    <a:latin typeface="Arial"/>
                  </a:rPr>
                  <a:t>. Then </a:t>
                </a:r>
                <a:r>
                  <a:rPr lang="en-IN" sz="2400">
                    <a:solidFill>
                      <a:srgbClr val="111827"/>
                    </a:solidFill>
                    <a:latin typeface="Cambria Math" panose="02040503050406030204" pitchFamily="18" charset="0"/>
                  </a:rPr>
                  <a:t>$n_i&lt;n_{i+1}$</a:t>
                </a:r>
                <a:r>
                  <a:rPr sz="2400" b="0">
                    <a:solidFill>
                      <a:srgbClr val="111827"/>
                    </a:solidFill>
                    <a:latin typeface="Arial"/>
                  </a:rPr>
                  <a:t> becomes </a:t>
                </a:r>
                <a:r>
                  <a:rPr lang="en-IN" sz="2400">
                    <a:solidFill>
                      <a:srgbClr val="111827"/>
                    </a:solidFill>
                    <a:latin typeface="Cambria Math" panose="02040503050406030204" pitchFamily="18" charset="0"/>
                  </a:rPr>
                  <a:t>$m_i\le m_{i+1}$</a:t>
                </a:r>
                <a:r>
                  <a:rPr sz="2400" b="0">
                    <a:solidFill>
                      <a:srgbClr val="111827"/>
                    </a:solidFill>
                    <a:latin typeface="Arial"/>
                  </a:rPr>
                  <a:t>, and </a:t>
                </a:r>
                <a:r>
                  <a:rPr lang="en-IN" sz="2400">
                    <a:solidFill>
                      <a:srgbClr val="111827"/>
                    </a:solidFill>
                    <a:latin typeface="Cambria Math" panose="02040503050406030204" pitchFamily="18" charset="0"/>
                  </a:rPr>
                  <a:t>$n_1\ge1$</a:t>
                </a:r>
                <a:r>
                  <a:rPr sz="2400" b="0">
                    <a:solidFill>
                      <a:srgbClr val="111827"/>
                    </a:solidFill>
                    <a:latin typeface="Arial"/>
                  </a:rPr>
                  <a:t> becomes </a:t>
                </a:r>
                <a:r>
                  <a:rPr lang="en-IN" sz="2400">
                    <a:solidFill>
                      <a:srgbClr val="111827"/>
                    </a:solidFill>
                    <a:latin typeface="Cambria Math" panose="02040503050406030204" pitchFamily="18" charset="0"/>
                  </a:rPr>
                  <a:t>$m_1\ge0$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m_i=20-(1+2+3+4+5)=5$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count non-decreasing sequences of </a:t>
                </a:r>
                <a:r>
                  <a:rPr lang="en-IN" sz="2400">
                    <a:solidFill>
                      <a:srgbClr val="111827"/>
                    </a:solidFill>
                    <a:latin typeface="Cambria Math" panose="02040503050406030204" pitchFamily="18" charset="0"/>
                  </a:rPr>
                  <a:t>$5$</a:t>
                </a:r>
                <a:r>
                  <a:rPr sz="2400" b="0">
                    <a:solidFill>
                      <a:srgbClr val="111827"/>
                    </a:solidFill>
                    <a:latin typeface="Arial"/>
                  </a:rPr>
                  <a:t> non-negative integers with sum </a:t>
                </a:r>
                <a:r>
                  <a:rPr lang="en-IN" sz="2400">
                    <a:solidFill>
                      <a:srgbClr val="111827"/>
                    </a:solidFill>
                    <a:latin typeface="Cambria Math" panose="02040503050406030204" pitchFamily="18" charset="0"/>
                  </a:rPr>
                  <a:t>$5$</a:t>
                </a:r>
                <a:r>
                  <a:rPr sz="2400" b="0">
                    <a:solidFill>
                      <a:srgbClr val="111827"/>
                    </a:solidFill>
                    <a:latin typeface="Arial"/>
                  </a:rPr>
                  <a:t>, i.e. partitions of </a:t>
                </a:r>
                <a:r>
                  <a:rPr lang="en-IN" sz="2400">
                    <a:solidFill>
                      <a:srgbClr val="111827"/>
                    </a:solidFill>
                    <a:latin typeface="Cambria Math" panose="02040503050406030204" pitchFamily="18" charset="0"/>
                  </a:rPr>
                  <a:t>$5$</a:t>
                </a:r>
                <a:r>
                  <a:rPr sz="2400" b="0">
                    <a:solidFill>
                      <a:srgbClr val="111827"/>
                    </a:solidFill>
                    <a:latin typeface="Arial"/>
                  </a:rPr>
                  <a:t> into at most </a:t>
                </a:r>
                <a:r>
                  <a:rPr lang="en-IN" sz="2400">
                    <a:solidFill>
                      <a:srgbClr val="111827"/>
                    </a:solidFill>
                    <a:latin typeface="Cambria Math" panose="02040503050406030204" pitchFamily="18" charset="0"/>
                  </a:rPr>
                  <a:t>$5$</a:t>
                </a:r>
                <a:r>
                  <a:rPr sz="2400" b="0">
                    <a:solidFill>
                      <a:srgbClr val="111827"/>
                    </a:solidFill>
                    <a:latin typeface="Arial"/>
                  </a:rPr>
                  <a:t> parts.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partitions of </a:t>
                </a:r>
                <a:r>
                  <a:rPr lang="en-IN" sz="2400">
                    <a:solidFill>
                      <a:srgbClr val="111827"/>
                    </a:solidFill>
                    <a:latin typeface="Cambria Math" panose="02040503050406030204" pitchFamily="18" charset="0"/>
                  </a:rPr>
                  <a:t>$5$</a:t>
                </a:r>
                <a:r>
                  <a:rPr sz="2400" b="0">
                    <a:solidFill>
                      <a:srgbClr val="111827"/>
                    </a:solidFill>
                    <a:latin typeface="Arial"/>
                  </a:rPr>
                  <a:t> are </a:t>
                </a:r>
                <a:r>
                  <a:rPr lang="en-IN" sz="2400">
                    <a:solidFill>
                      <a:srgbClr val="111827"/>
                    </a:solidFill>
                    <a:latin typeface="Cambria Math" panose="02040503050406030204" pitchFamily="18" charset="0"/>
                  </a:rPr>
                  <a:t>$5,\ 4+1,\ 3+2,\ 3+1+1,\ 2+2+1,\ 2+1+1+1,\ 1+1+1+1+1$</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of them.</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a:t>
            </a:r>
            <a:endParaRPr sz="2800">
              <a:solidFill>
                <a:srgbClr val="15803D"/>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-tuples of positive integers with sum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correspond bijectively to partitions of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into at most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parts (subtract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 inequalities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become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after subtracting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strict gaps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are handled by subtracting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a:t>
                </a:r>
                <a:r>
                  <a:rPr lang="en-IN" sz="2400">
                    <a:solidFill>
                      <a:srgbClr val="111827"/>
                    </a:solidFill>
                    <a:latin typeface="Cambria Math" panose="02040503050406030204" pitchFamily="18" charset="0"/>
                  </a:rPr>
                  <a:t>$k$</a:t>
                </a:r>
                <a:r>
                  <a:rPr sz="2400" b="0">
                    <a:solidFill>
                      <a:srgbClr val="111827"/>
                    </a:solidFill>
                    <a:latin typeface="Arial"/>
                  </a:rPr>
                  <a:t>-tuples of positive integers with sum </a:t>
                </a:r>
                <a:r>
                  <a:rPr lang="en-IN" sz="2400">
                    <a:solidFill>
                      <a:srgbClr val="111827"/>
                    </a:solidFill>
                    <a:latin typeface="Cambria Math" panose="02040503050406030204" pitchFamily="18" charset="0"/>
                  </a:rPr>
                  <a:t>$S$</a:t>
                </a:r>
                <a:r>
                  <a:rPr sz="2400" b="0">
                    <a:solidFill>
                      <a:srgbClr val="111827"/>
                    </a:solidFill>
                    <a:latin typeface="Arial"/>
                  </a:rPr>
                  <a:t> correspond bijectively to partitions of </a:t>
                </a:r>
                <a:r>
                  <a:rPr lang="en-IN" sz="2400">
                    <a:solidFill>
                      <a:srgbClr val="111827"/>
                    </a:solidFill>
                    <a:latin typeface="Cambria Math" panose="02040503050406030204" pitchFamily="18" charset="0"/>
                  </a:rPr>
                  <a:t>$S-\binom{k+1}{2}$</a:t>
                </a:r>
                <a:r>
                  <a:rPr sz="2400" b="0">
                    <a:solidFill>
                      <a:srgbClr val="111827"/>
                    </a:solidFill>
                    <a:latin typeface="Arial"/>
                  </a:rPr>
                  <a:t> into at most </a:t>
                </a:r>
                <a:r>
                  <a:rPr lang="en-IN" sz="2400">
                    <a:solidFill>
                      <a:srgbClr val="111827"/>
                    </a:solidFill>
                    <a:latin typeface="Cambria Math" panose="02040503050406030204" pitchFamily="18" charset="0"/>
                  </a:rPr>
                  <a:t>$k$</a:t>
                </a:r>
                <a:r>
                  <a:rPr sz="2400" b="0">
                    <a:solidFill>
                      <a:srgbClr val="111827"/>
                    </a:solidFill>
                    <a:latin typeface="Arial"/>
                  </a:rPr>
                  <a:t> parts (subtract </a:t>
                </a:r>
                <a:r>
                  <a:rPr lang="en-IN" sz="2400">
                    <a:solidFill>
                      <a:srgbClr val="111827"/>
                    </a:solidFill>
                    <a:latin typeface="Cambria Math" panose="02040503050406030204" pitchFamily="18" charset="0"/>
                  </a:rPr>
                  <a:t>$1,2,\dots,k$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 inequalities </a:t>
                </a:r>
                <a:r>
                  <a:rPr lang="en-IN" sz="2400">
                    <a:solidFill>
                      <a:srgbClr val="111827"/>
                    </a:solidFill>
                    <a:latin typeface="Cambria Math" panose="02040503050406030204" pitchFamily="18" charset="0"/>
                  </a:rPr>
                  <a:t>$n_i&lt;n_{i+1}$</a:t>
                </a:r>
                <a:r>
                  <a:rPr sz="2400" b="0">
                    <a:solidFill>
                      <a:srgbClr val="111827"/>
                    </a:solidFill>
                    <a:latin typeface="Arial"/>
                  </a:rPr>
                  <a:t> become </a:t>
                </a:r>
                <a:r>
                  <a:rPr lang="en-IN" sz="2400">
                    <a:solidFill>
                      <a:srgbClr val="111827"/>
                    </a:solidFill>
                    <a:latin typeface="Cambria Math" panose="02040503050406030204" pitchFamily="18" charset="0"/>
                  </a:rPr>
                  <a:t>$\le$</a:t>
                </a:r>
                <a:r>
                  <a:rPr sz="2400" b="0">
                    <a:solidFill>
                      <a:srgbClr val="111827"/>
                    </a:solidFill>
                    <a:latin typeface="Arial"/>
                  </a:rPr>
                  <a:t> after subtracting </a:t>
                </a:r>
                <a:r>
                  <a:rPr lang="en-IN" sz="2400">
                    <a:solidFill>
                      <a:srgbClr val="111827"/>
                    </a:solidFill>
                    <a:latin typeface="Cambria Math" panose="02040503050406030204" pitchFamily="18" charset="0"/>
                  </a:rPr>
                  <a:t>$i$</a:t>
                </a:r>
                <a:r>
                  <a:rPr sz="2400" b="0">
                    <a:solidFill>
                      <a:srgbClr val="111827"/>
                    </a:solidFill>
                    <a:latin typeface="Arial"/>
                  </a:rPr>
                  <a:t>; strict gaps </a:t>
                </a:r>
                <a:r>
                  <a:rPr lang="en-IN" sz="2400">
                    <a:solidFill>
                      <a:srgbClr val="111827"/>
                    </a:solidFill>
                    <a:latin typeface="Cambria Math" panose="02040503050406030204" pitchFamily="18" charset="0"/>
                  </a:rPr>
                  <a:t>$\ge d$</a:t>
                </a:r>
                <a:r>
                  <a:rPr sz="2400" b="0">
                    <a:solidFill>
                      <a:srgbClr val="111827"/>
                    </a:solidFill>
                    <a:latin typeface="Arial"/>
                  </a:rPr>
                  <a:t> are handled by subtracting </a:t>
                </a:r>
                <a:r>
                  <a:rPr lang="en-IN" sz="2400">
                    <a:solidFill>
                      <a:srgbClr val="111827"/>
                    </a:solidFill>
                    <a:latin typeface="Cambria Math" panose="02040503050406030204" pitchFamily="18" charset="0"/>
                  </a:rPr>
                  <a:t>$d,2d,\dots$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$p(n)$</a:t>
                </a:r>
                <a:r>
                  <a:rPr sz="2400" b="0">
                    <a:solidFill>
                      <a:srgbClr val="111827"/>
                    </a:solidFill>
                    <a:latin typeface="Arial"/>
                  </a:rPr>
                  <a:t> for </a:t>
                </a:r>
                <a:r>
                  <a:rPr lang="en-IN" sz="2400">
                    <a:solidFill>
                      <a:srgbClr val="111827"/>
                    </a:solidFill>
                    <a:latin typeface="Cambria Math" panose="02040503050406030204" pitchFamily="18" charset="0"/>
                  </a:rPr>
                  <a:t>$n=1..7$</a:t>
                </a:r>
                <a:r>
                  <a:rPr sz="2400" b="0">
                    <a:solidFill>
                      <a:srgbClr val="111827"/>
                    </a:solidFill>
                    <a:latin typeface="Arial"/>
                  </a:rPr>
                  <a:t>: </a:t>
                </a:r>
                <a:r>
                  <a:rPr lang="en-IN" sz="2400">
                    <a:solidFill>
                      <a:srgbClr val="111827"/>
                    </a:solidFill>
                    <a:latin typeface="Cambria Math" panose="02040503050406030204" pitchFamily="18" charset="0"/>
                  </a:rPr>
                  <a:t>$1,2,3,5,7,11,15$</a:t>
                </a:r>
                <a:r>
                  <a:rPr sz="2400" b="0">
                    <a:solidFill>
                      <a:srgbClr val="111827"/>
                    </a:solidFill>
                    <a:latin typeface="Arial"/>
                  </a:rPr>
                  <a:t>; here </a:t>
                </a:r>
                <a:r>
                  <a:rPr lang="en-IN" sz="2400">
                    <a:solidFill>
                      <a:srgbClr val="111827"/>
                    </a:solidFill>
                    <a:latin typeface="Cambria Math" panose="02040503050406030204" pitchFamily="18" charset="0"/>
                  </a:rPr>
                  <a:t>$p(5)=7$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be an integer. Take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points on a circle and join each pair of points by a line segment. Colour the line segment joining every pair of adjacent points by blue and the rest by red. If the number of red and blue line segments are equal, then the value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______. [JEE (Adv) 2014]</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$n\ge2$</a:t>
                </a:r>
                <a:r>
                  <a:rPr sz="2400" b="0">
                    <a:solidFill>
                      <a:srgbClr val="111827"/>
                    </a:solidFill>
                    <a:latin typeface="Arial"/>
                  </a:rPr>
                  <a:t> be an integer. Take </a:t>
                </a:r>
                <a:r>
                  <a:rPr lang="en-IN" sz="2400">
                    <a:solidFill>
                      <a:srgbClr val="111827"/>
                    </a:solidFill>
                    <a:latin typeface="Cambria Math" panose="02040503050406030204" pitchFamily="18" charset="0"/>
                  </a:rPr>
                  <a:t>$n$</a:t>
                </a:r>
                <a:r>
                  <a:rPr sz="2400" b="0">
                    <a:solidFill>
                      <a:srgbClr val="111827"/>
                    </a:solidFill>
                    <a:latin typeface="Arial"/>
                  </a:rPr>
                  <a:t> distinct points on a circle and join each pair of points by a line segment. Colour the line segment joining every pair of adjacent points by blue and the rest by red. If the number of red and blue line segments are equal, then the value of </a:t>
                </a:r>
                <a:r>
                  <a:rPr lang="en-IN" sz="2400">
                    <a:solidFill>
                      <a:srgbClr val="111827"/>
                    </a:solidFill>
                    <a:latin typeface="Cambria Math" panose="02040503050406030204" pitchFamily="18" charset="0"/>
                  </a:rPr>
                  <a:t>$n$</a:t>
                </a:r>
                <a:r>
                  <a:rPr sz="2400" b="0">
                    <a:solidFill>
                      <a:srgbClr val="111827"/>
                    </a:solidFill>
                    <a:latin typeface="Arial"/>
                  </a:rPr>
                  <a:t> is ______. [JEE (Adv) 2014]</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diagonals and sides of a polygon (combinations)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Blue segments are the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sides; red ones are the remaining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oMath>
                </a14:m>
                <a:r>
                  <a:rPr sz="2400" b="0">
                    <a:solidFill>
                      <a:srgbClr val="78350F"/>
                    </a:solidFill>
                    <a:latin typeface="Arial"/>
                  </a:rPr>
                  <a:t> chords.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Blue segments are the </a:t>
                </a:r>
                <a:r>
                  <a:rPr lang="en-IN" sz="2400">
                    <a:solidFill>
                      <a:srgbClr val="78350F"/>
                    </a:solidFill>
                    <a:latin typeface="Cambria Math" panose="02040503050406030204" pitchFamily="18" charset="0"/>
                  </a:rPr>
                  <a:t>$n$</a:t>
                </a:r>
                <a:r>
                  <a:rPr sz="2400" b="0">
                    <a:solidFill>
                      <a:srgbClr val="78350F"/>
                    </a:solidFill>
                    <a:latin typeface="Arial"/>
                  </a:rPr>
                  <a:t> sides; red ones are the remaining </a:t>
                </a:r>
                <a:r>
                  <a:rPr lang="en-IN" sz="2400">
                    <a:solidFill>
                      <a:srgbClr val="78350F"/>
                    </a:solidFill>
                    <a:latin typeface="Cambria Math" panose="02040503050406030204" pitchFamily="18" charset="0"/>
                  </a:rPr>
                  <a:t>$\binom{n}{2}-n$</a:t>
                </a:r>
                <a:r>
                  <a:rPr sz="2400" b="0">
                    <a:solidFill>
                      <a:srgbClr val="78350F"/>
                    </a:solidFill>
                    <a:latin typeface="Arial"/>
                  </a:rPr>
                  <a:t> chords.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segments joining adjacent points (blue) is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segments joining non-adjacent points (red)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numbers: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 of segments joining adjacent points (blue) is </a:t>
                </a:r>
                <a:r>
                  <a:rPr lang="en-IN" sz="2400">
                    <a:solidFill>
                      <a:srgbClr val="111827"/>
                    </a:solidFill>
                    <a:latin typeface="Cambria Math" panose="02040503050406030204" pitchFamily="18" charset="0"/>
                  </a:rPr>
                  <a: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segments joining non-adjacent points (red) is </a:t>
                </a:r>
                <a:r>
                  <a:rPr lang="en-IN" sz="2400">
                    <a:solidFill>
                      <a:srgbClr val="111827"/>
                    </a:solidFill>
                    <a:latin typeface="Cambria Math" panose="02040503050406030204" pitchFamily="18" charset="0"/>
                  </a:rPr>
                  <a:t>$\binom{n}{2}-n$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numbers: </a:t>
                </a:r>
                <a:r>
                  <a:rPr lang="en-IN" sz="2400">
                    <a:solidFill>
                      <a:srgbClr val="111827"/>
                    </a:solidFill>
                    <a:latin typeface="Cambria Math" panose="02040503050406030204" pitchFamily="18" charset="0"/>
                  </a:rPr>
                  <a:t>$n=\binom{n}{2}-n\Rightarrow 2n=\frac{n(n-1)}{2}$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$n(n-5)=0$</a:t>
                </a:r>
                <a:r>
                  <a:rPr sz="2400" b="0">
                    <a:solidFill>
                      <a:srgbClr val="111827"/>
                    </a:solidFill>
                    <a:latin typeface="Arial"/>
                  </a:rPr>
                  <a:t>, giving </a:t>
                </a:r>
                <a:r>
                  <a:rPr lang="en-IN" sz="2400">
                    <a:solidFill>
                      <a:srgbClr val="111827"/>
                    </a:solidFill>
                    <a:latin typeface="Cambria Math" panose="02040503050406030204" pitchFamily="18" charset="0"/>
                  </a:rPr>
                  <a:t>$n=0$</a:t>
                </a:r>
                <a:r>
                  <a:rPr sz="2400" b="0">
                    <a:solidFill>
                      <a:srgbClr val="111827"/>
                    </a:solidFill>
                    <a:latin typeface="Arial"/>
                  </a:rPr>
                  <a:t> or </a:t>
                </a:r>
                <a:r>
                  <a:rPr lang="en-IN" sz="2400">
                    <a:solidFill>
                      <a:srgbClr val="111827"/>
                    </a:solidFill>
                    <a:latin typeface="Cambria Math" panose="02040503050406030204" pitchFamily="18" charset="0"/>
                  </a:rPr>
                  <a:t>$n=5$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$n\ge2$</a:t>
                </a:r>
                <a:r>
                  <a:rPr sz="2400" b="0">
                    <a:solidFill>
                      <a:srgbClr val="111827"/>
                    </a:solidFill>
                    <a:latin typeface="Arial"/>
                  </a:rPr>
                  <a:t>, </a:t>
                </a:r>
                <a:r>
                  <a:rPr lang="en-IN" sz="2400">
                    <a:solidFill>
                      <a:srgbClr val="111827"/>
                    </a:solidFill>
                    <a:latin typeface="Cambria Math" panose="02040503050406030204" pitchFamily="18" charset="0"/>
                  </a:rPr>
                  <a:t>$n=5$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red segments by degrees: each point has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non-adjacent partners (handshake lemma).</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red segments by degrees: each point has </a:t>
                </a:r>
                <a:r>
                  <a:rPr lang="en-IN" sz="2400">
                    <a:solidFill>
                      <a:srgbClr val="78350F"/>
                    </a:solidFill>
                    <a:latin typeface="Cambria Math" panose="02040503050406030204" pitchFamily="18" charset="0"/>
                  </a:rPr>
                  <a:t>$n-3$</a:t>
                </a:r>
                <a:r>
                  <a:rPr sz="2400" b="0">
                    <a:solidFill>
                      <a:srgbClr val="78350F"/>
                    </a:solidFill>
                    <a:latin typeface="Arial"/>
                  </a:rPr>
                  <a:t> non-adjacent partners (handshake lemma).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each of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points, the red segments go to the points other than itself and its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neighbours: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red segment has two ends, so the number of red segments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each of the </a:t>
                </a:r>
                <a:r>
                  <a:rPr lang="en-IN" sz="2400">
                    <a:solidFill>
                      <a:srgbClr val="111827"/>
                    </a:solidFill>
                    <a:latin typeface="Cambria Math" panose="02040503050406030204" pitchFamily="18" charset="0"/>
                  </a:rPr>
                  <a:t>$n$</a:t>
                </a:r>
                <a:r>
                  <a:rPr sz="2400" b="0">
                    <a:solidFill>
                      <a:srgbClr val="111827"/>
                    </a:solidFill>
                    <a:latin typeface="Arial"/>
                  </a:rPr>
                  <a:t> points, the red segments go to the points other than itself and its </a:t>
                </a:r>
                <a:r>
                  <a:rPr lang="en-IN" sz="2400">
                    <a:solidFill>
                      <a:srgbClr val="111827"/>
                    </a:solidFill>
                    <a:latin typeface="Cambria Math" panose="02040503050406030204" pitchFamily="18" charset="0"/>
                  </a:rPr>
                  <a:t>$2$</a:t>
                </a:r>
                <a:r>
                  <a:rPr sz="2400" b="0">
                    <a:solidFill>
                      <a:srgbClr val="111827"/>
                    </a:solidFill>
                    <a:latin typeface="Arial"/>
                  </a:rPr>
                  <a:t> neighbours: </a:t>
                </a:r>
                <a:r>
                  <a:rPr lang="en-IN" sz="2400">
                    <a:solidFill>
                      <a:srgbClr val="111827"/>
                    </a:solidFill>
                    <a:latin typeface="Cambria Math" panose="02040503050406030204" pitchFamily="18" charset="0"/>
                  </a:rPr>
                  <a:t>$n-3$</a:t>
                </a:r>
                <a:r>
                  <a:rPr sz="2400" b="0">
                    <a:solidFill>
                      <a:srgbClr val="111827"/>
                    </a:solidFill>
                    <a:latin typeface="Arial"/>
                  </a:rPr>
                  <a:t> of them.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red segment has two ends, so the number of red segments is </a:t>
                </a:r>
                <a:r>
                  <a:rPr lang="en-IN" sz="2400">
                    <a:solidFill>
                      <a:srgbClr val="111827"/>
                    </a:solidFill>
                    <a:latin typeface="Cambria Math" panose="02040503050406030204" pitchFamily="18" charset="0"/>
                  </a:rPr>
                  <a:t>$\frac{n(n-3)}{2}$</a:t>
                </a:r>
                <a:r>
                  <a:rPr sz="2400" b="0">
                    <a:solidFill>
                      <a:srgbClr val="111827"/>
                    </a:solidFill>
                    <a:latin typeface="Arial"/>
                  </a:rPr>
                  <a:t> (for </a:t>
                </a:r>
                <a:r>
                  <a:rPr lang="en-IN" sz="2400">
                    <a:solidFill>
                      <a:srgbClr val="111827"/>
                    </a:solidFill>
                    <a:latin typeface="Cambria Math" panose="02040503050406030204" pitchFamily="18" charset="0"/>
                  </a:rPr>
                  <a:t>$n\ge3$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pentagon has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sides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diagonals,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no red segment, so it fails.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Set </a:t>
                </a:r>
                <a:r>
                  <a:rPr lang="en-IN" sz="2400">
                    <a:solidFill>
                      <a:srgbClr val="111827"/>
                    </a:solidFill>
                    <a:latin typeface="Cambria Math" panose="02040503050406030204" pitchFamily="18" charset="0"/>
                  </a:rPr>
                  <a:t>$\frac{n(n-3)}{2}=n$</a:t>
                </a:r>
                <a:r>
                  <a:rPr sz="2400" b="0">
                    <a:solidFill>
                      <a:srgbClr val="111827"/>
                    </a:solidFill>
                    <a:latin typeface="Arial"/>
                  </a:rPr>
                  <a:t>, so </a:t>
                </a:r>
                <a:r>
                  <a:rPr lang="en-IN" sz="2400">
                    <a:solidFill>
                      <a:srgbClr val="111827"/>
                    </a:solidFill>
                    <a:latin typeface="Cambria Math" panose="02040503050406030204" pitchFamily="18" charset="0"/>
                  </a:rPr>
                  <a:t>$n-3=2$</a:t>
                </a:r>
                <a:r>
                  <a:rPr sz="2400" b="0">
                    <a:solidFill>
                      <a:srgbClr val="111827"/>
                    </a:solidFill>
                    <a:latin typeface="Arial"/>
                  </a:rPr>
                  <a:t> (as </a:t>
                </a:r>
                <a:r>
                  <a:rPr lang="en-IN" sz="2400">
                    <a:solidFill>
                      <a:srgbClr val="111827"/>
                    </a:solidFill>
                    <a:latin typeface="Cambria Math" panose="02040503050406030204" pitchFamily="18" charset="0"/>
                  </a:rPr>
                  <a:t>$n\neq0$</a:t>
                </a:r>
                <a:r>
                  <a:rPr sz="2400" b="0">
                    <a:solidFill>
                      <a:srgbClr val="111827"/>
                    </a:solidFill>
                    <a:latin typeface="Arial"/>
                  </a:rPr>
                  <a:t>), i.e. </a:t>
                </a:r>
                <a:r>
                  <a:rPr lang="en-IN" sz="2400">
                    <a:solidFill>
                      <a:srgbClr val="111827"/>
                    </a:solidFill>
                    <a:latin typeface="Cambria Math" panose="02040503050406030204" pitchFamily="18" charset="0"/>
                  </a:rPr>
                  <a:t>$n=5$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pentagon has </a:t>
                </a:r>
                <a:r>
                  <a:rPr lang="en-IN" sz="2400">
                    <a:solidFill>
                      <a:srgbClr val="111827"/>
                    </a:solidFill>
                    <a:latin typeface="Cambria Math" panose="02040503050406030204" pitchFamily="18" charset="0"/>
                  </a:rPr>
                  <a:t>$5$</a:t>
                </a:r>
                <a:r>
                  <a:rPr sz="2400" b="0">
                    <a:solidFill>
                      <a:srgbClr val="111827"/>
                    </a:solidFill>
                    <a:latin typeface="Arial"/>
                  </a:rPr>
                  <a:t> sides and </a:t>
                </a:r>
                <a:r>
                  <a:rPr lang="en-IN" sz="2400">
                    <a:solidFill>
                      <a:srgbClr val="111827"/>
                    </a:solidFill>
                    <a:latin typeface="Cambria Math" panose="02040503050406030204" pitchFamily="18" charset="0"/>
                  </a:rPr>
                  <a:t>$5$</a:t>
                </a:r>
                <a:r>
                  <a:rPr sz="2400" b="0">
                    <a:solidFill>
                      <a:srgbClr val="111827"/>
                    </a:solidFill>
                    <a:latin typeface="Arial"/>
                  </a:rPr>
                  <a:t> diagonals, and </a:t>
                </a:r>
                <a:r>
                  <a:rPr lang="en-IN" sz="2400">
                    <a:solidFill>
                      <a:srgbClr val="111827"/>
                    </a:solidFill>
                    <a:latin typeface="Cambria Math" panose="02040503050406030204" pitchFamily="18" charset="0"/>
                  </a:rPr>
                  <a:t>$n=2$</a:t>
                </a:r>
                <a:r>
                  <a:rPr sz="2400" b="0">
                    <a:solidFill>
                      <a:srgbClr val="111827"/>
                    </a:solidFill>
                    <a:latin typeface="Arial"/>
                  </a:rPr>
                  <a:t> gives no red segment, so it fails.</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convex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has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sides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diagonals; the total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segments split 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Handshake principle: sum of degrees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 of edges; each vertex of a polygon has degree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in the diagonal graph.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Diagonals equal sides only for the pentagon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diagonals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sides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convex </a:t>
                </a:r>
                <a:r>
                  <a:rPr lang="en-IN" sz="2400">
                    <a:solidFill>
                      <a:srgbClr val="111827"/>
                    </a:solidFill>
                    <a:latin typeface="Cambria Math" panose="02040503050406030204" pitchFamily="18" charset="0"/>
                  </a:rPr>
                  <a:t>$n$</a:t>
                </a:r>
                <a:r>
                  <a:rPr sz="2400" b="0">
                    <a:solidFill>
                      <a:srgbClr val="111827"/>
                    </a:solidFill>
                    <a:latin typeface="Arial"/>
                  </a:rPr>
                  <a:t>-gon has </a:t>
                </a:r>
                <a:r>
                  <a:rPr lang="en-IN" sz="2400">
                    <a:solidFill>
                      <a:srgbClr val="111827"/>
                    </a:solidFill>
                    <a:latin typeface="Cambria Math" panose="02040503050406030204" pitchFamily="18" charset="0"/>
                  </a:rPr>
                  <a:t>$n$</a:t>
                </a:r>
                <a:r>
                  <a:rPr sz="2400" b="0">
                    <a:solidFill>
                      <a:srgbClr val="111827"/>
                    </a:solidFill>
                    <a:latin typeface="Arial"/>
                  </a:rPr>
                  <a:t> sides and </a:t>
                </a:r>
                <a:r>
                  <a:rPr lang="en-IN" sz="2400">
                    <a:solidFill>
                      <a:srgbClr val="111827"/>
                    </a:solidFill>
                    <a:latin typeface="Cambria Math" panose="02040503050406030204" pitchFamily="18" charset="0"/>
                  </a:rPr>
                  <a:t>$\frac{n(n-3)}{2}$</a:t>
                </a:r>
                <a:r>
                  <a:rPr sz="2400" b="0">
                    <a:solidFill>
                      <a:srgbClr val="111827"/>
                    </a:solidFill>
                    <a:latin typeface="Arial"/>
                  </a:rPr>
                  <a:t> diagonals; the total </a:t>
                </a:r>
                <a:r>
                  <a:rPr lang="en-IN" sz="2400">
                    <a:solidFill>
                      <a:srgbClr val="111827"/>
                    </a:solidFill>
                    <a:latin typeface="Cambria Math" panose="02040503050406030204" pitchFamily="18" charset="0"/>
                  </a:rPr>
                  <a:t>$\binom{n}{2}$</a:t>
                </a:r>
                <a:r>
                  <a:rPr sz="2400" b="0">
                    <a:solidFill>
                      <a:srgbClr val="111827"/>
                    </a:solidFill>
                    <a:latin typeface="Arial"/>
                  </a:rPr>
                  <a:t> segments split as </a:t>
                </a:r>
                <a:r>
                  <a:rPr lang="en-IN" sz="2400">
                    <a:solidFill>
                      <a:srgbClr val="111827"/>
                    </a:solidFill>
                    <a:latin typeface="Cambria Math" panose="02040503050406030204" pitchFamily="18" charset="0"/>
                  </a:rPr>
                  <a:t>$n+\frac{n(n-3)}{2}$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Handshake principle: sum of degrees </a:t>
                </a:r>
                <a:r>
                  <a:rPr lang="en-IN" sz="2400">
                    <a:solidFill>
                      <a:srgbClr val="111827"/>
                    </a:solidFill>
                    <a:latin typeface="Cambria Math" panose="02040503050406030204" pitchFamily="18" charset="0"/>
                  </a:rPr>
                  <a:t>$=2\times$</a:t>
                </a:r>
                <a:r>
                  <a:rPr sz="2400" b="0">
                    <a:solidFill>
                      <a:srgbClr val="111827"/>
                    </a:solidFill>
                    <a:latin typeface="Arial"/>
                  </a:rPr>
                  <a:t> number of edges; each vertex of a polygon has degree </a:t>
                </a:r>
                <a:r>
                  <a:rPr lang="en-IN" sz="2400">
                    <a:solidFill>
                      <a:srgbClr val="111827"/>
                    </a:solidFill>
                    <a:latin typeface="Cambria Math" panose="02040503050406030204" pitchFamily="18" charset="0"/>
                  </a:rPr>
                  <a:t>$n-3$</a:t>
                </a:r>
                <a:r>
                  <a:rPr sz="2400" b="0">
                    <a:solidFill>
                      <a:srgbClr val="111827"/>
                    </a:solidFill>
                    <a:latin typeface="Arial"/>
                  </a:rPr>
                  <a:t> in the diagonal graph.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Diagonals equal sides only for the pentagon (</a:t>
                </a:r>
                <a:r>
                  <a:rPr lang="en-IN" sz="2400">
                    <a:solidFill>
                      <a:srgbClr val="111827"/>
                    </a:solidFill>
                    <a:latin typeface="Cambria Math" panose="02040503050406030204" pitchFamily="18" charset="0"/>
                  </a:rPr>
                  <a:t>$n=5$</a:t>
                </a:r>
                <a:r>
                  <a:rPr sz="2400" b="0">
                    <a:solidFill>
                      <a:srgbClr val="111827"/>
                    </a:solidFill>
                    <a:latin typeface="Arial"/>
                  </a:rPr>
                  <a:t>); diagonals </a:t>
                </a:r>
                <a:r>
                  <a:rPr lang="en-IN" sz="2400">
                    <a:solidFill>
                      <a:srgbClr val="111827"/>
                    </a:solidFill>
                    <a:latin typeface="Cambria Math" panose="02040503050406030204" pitchFamily="18" charset="0"/>
                  </a:rPr>
                  <a:t>$=2\times$</a:t>
                </a:r>
                <a:r>
                  <a:rPr sz="2400" b="0">
                    <a:solidFill>
                      <a:srgbClr val="111827"/>
                    </a:solidFill>
                    <a:latin typeface="Arial"/>
                  </a:rPr>
                  <a:t> sides for </a:t>
                </a:r>
                <a:r>
                  <a:rPr lang="en-IN" sz="2400">
                    <a:solidFill>
                      <a:srgbClr val="111827"/>
                    </a:solidFill>
                    <a:latin typeface="Cambria Math" panose="02040503050406030204" pitchFamily="18" charset="0"/>
                  </a:rPr>
                  <a:t>$n=7$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be the number of ways in which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boys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girls can stand in a queue in such a way that all the girls stand consecutively in the queue. Let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be the number of ways in which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boys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girls can stand in a queue in such a way that exactly four girls stand consecutively in the queue.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is ______. [JEE (Adv) 2015]</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$n$</a:t>
                </a:r>
                <a:r>
                  <a:rPr sz="2400" b="0">
                    <a:solidFill>
                      <a:srgbClr val="111827"/>
                    </a:solidFill>
                    <a:latin typeface="Arial"/>
                  </a:rPr>
                  <a:t> be the number of ways in which </a:t>
                </a:r>
                <a:r>
                  <a:rPr lang="en-IN" sz="2400">
                    <a:solidFill>
                      <a:srgbClr val="111827"/>
                    </a:solidFill>
                    <a:latin typeface="Cambria Math" panose="02040503050406030204" pitchFamily="18" charset="0"/>
                  </a:rPr>
                  <a:t>$5$</a:t>
                </a:r>
                <a:r>
                  <a:rPr sz="2400" b="0">
                    <a:solidFill>
                      <a:srgbClr val="111827"/>
                    </a:solidFill>
                    <a:latin typeface="Arial"/>
                  </a:rPr>
                  <a:t> boys and </a:t>
                </a:r>
                <a:r>
                  <a:rPr lang="en-IN" sz="2400">
                    <a:solidFill>
                      <a:srgbClr val="111827"/>
                    </a:solidFill>
                    <a:latin typeface="Cambria Math" panose="02040503050406030204" pitchFamily="18" charset="0"/>
                  </a:rPr>
                  <a:t>$5$</a:t>
                </a:r>
                <a:r>
                  <a:rPr sz="2400" b="0">
                    <a:solidFill>
                      <a:srgbClr val="111827"/>
                    </a:solidFill>
                    <a:latin typeface="Arial"/>
                  </a:rPr>
                  <a:t> girls can stand in a queue in such a way that all the girls stand consecutively in the queue. Let </a:t>
                </a:r>
                <a:r>
                  <a:rPr lang="en-IN" sz="2400">
                    <a:solidFill>
                      <a:srgbClr val="111827"/>
                    </a:solidFill>
                    <a:latin typeface="Cambria Math" panose="02040503050406030204" pitchFamily="18" charset="0"/>
                  </a:rPr>
                  <a:t>$m$</a:t>
                </a:r>
                <a:r>
                  <a:rPr sz="2400" b="0">
                    <a:solidFill>
                      <a:srgbClr val="111827"/>
                    </a:solidFill>
                    <a:latin typeface="Arial"/>
                  </a:rPr>
                  <a:t> be the number of ways in which </a:t>
                </a:r>
                <a:r>
                  <a:rPr lang="en-IN" sz="2400">
                    <a:solidFill>
                      <a:srgbClr val="111827"/>
                    </a:solidFill>
                    <a:latin typeface="Cambria Math" panose="02040503050406030204" pitchFamily="18" charset="0"/>
                  </a:rPr>
                  <a:t>$5$</a:t>
                </a:r>
                <a:r>
                  <a:rPr sz="2400" b="0">
                    <a:solidFill>
                      <a:srgbClr val="111827"/>
                    </a:solidFill>
                    <a:latin typeface="Arial"/>
                  </a:rPr>
                  <a:t> boys and </a:t>
                </a:r>
                <a:r>
                  <a:rPr lang="en-IN" sz="2400">
                    <a:solidFill>
                      <a:srgbClr val="111827"/>
                    </a:solidFill>
                    <a:latin typeface="Cambria Math" panose="02040503050406030204" pitchFamily="18" charset="0"/>
                  </a:rPr>
                  <a:t>$5$</a:t>
                </a:r>
                <a:r>
                  <a:rPr sz="2400" b="0">
                    <a:solidFill>
                      <a:srgbClr val="111827"/>
                    </a:solidFill>
                    <a:latin typeface="Arial"/>
                  </a:rPr>
                  <a:t> girls can stand in a queue in such a way that exactly four girls stand consecutively in the queue. Then the value of </a:t>
                </a:r>
                <a:r>
                  <a:rPr lang="en-IN" sz="2400">
                    <a:solidFill>
                      <a:srgbClr val="111827"/>
                    </a:solidFill>
                    <a:latin typeface="Cambria Math" panose="02040503050406030204" pitchFamily="18" charset="0"/>
                  </a:rPr>
                  <a:t>$\frac{m}{n}$</a:t>
                </a:r>
                <a:r>
                  <a:rPr sz="2400" b="0">
                    <a:solidFill>
                      <a:srgbClr val="111827"/>
                    </a:solidFill>
                    <a:latin typeface="Arial"/>
                  </a:rPr>
                  <a:t> is ______. [JEE (Adv) 2015]</a:t>
                </a:r>
                <a:endParaRPr sz="2400">
                  <a:solidFill>
                    <a:srgbClr val="111827"/>
                  </a:solidFill>
                </a:endParaRPr>
              </a:p>
            </p:txBody>
          </p:sp>
        </mc:Fallback>
      </mc:AlternateContent>
      <p:sp>
        <p:nvSpPr>
          <p:cNvPr id="5" name="Rectangle 4"/>
          <p:cNvSpPr/>
          <p:nvPr/>
        </p:nvSpPr>
        <p:spPr>
          <a:xfrm>
            <a:off x="731520" y="43703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with groups of objects together (gap method)</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Arrange the boys first; the girls' groups go into the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gaps between and around them.</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Arrange the boys first; the girls' groups go into the </a:t>
                </a:r>
                <a:r>
                  <a:rPr lang="en-IN" sz="2400">
                    <a:solidFill>
                      <a:srgbClr val="78350F"/>
                    </a:solidFill>
                    <a:latin typeface="Cambria Math" panose="02040503050406030204" pitchFamily="18" charset="0"/>
                  </a:rPr>
                  <a:t>$6$</a:t>
                </a:r>
                <a:r>
                  <a:rPr sz="2400" b="0">
                    <a:solidFill>
                      <a:srgbClr val="78350F"/>
                    </a:solidFill>
                    <a:latin typeface="Arial"/>
                  </a:rPr>
                  <a:t> gaps between and around them.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girls together: treat them as one block. Block +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boys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units arranged in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girls inside the block in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four girls together: arrange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boys in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this creates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gaps out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(one for the block of four girls, one for the single girl) and assign them in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All </a:t>
                </a:r>
                <a:r>
                  <a:rPr lang="en-IN" sz="2400">
                    <a:solidFill>
                      <a:srgbClr val="111827"/>
                    </a:solidFill>
                    <a:latin typeface="Cambria Math" panose="02040503050406030204" pitchFamily="18" charset="0"/>
                  </a:rPr>
                  <a:t>$5$</a:t>
                </a:r>
                <a:r>
                  <a:rPr sz="2400" b="0">
                    <a:solidFill>
                      <a:srgbClr val="111827"/>
                    </a:solidFill>
                    <a:latin typeface="Arial"/>
                  </a:rPr>
                  <a:t> girls together: treat them as one block. Block + </a:t>
                </a:r>
                <a:r>
                  <a:rPr lang="en-IN" sz="2400">
                    <a:solidFill>
                      <a:srgbClr val="111827"/>
                    </a:solidFill>
                    <a:latin typeface="Cambria Math" panose="02040503050406030204" pitchFamily="18" charset="0"/>
                  </a:rPr>
                  <a:t>$5$</a:t>
                </a:r>
                <a:r>
                  <a:rPr sz="2400" b="0">
                    <a:solidFill>
                      <a:srgbClr val="111827"/>
                    </a:solidFill>
                    <a:latin typeface="Arial"/>
                  </a:rPr>
                  <a:t> boys </a:t>
                </a:r>
                <a:r>
                  <a:rPr lang="en-IN" sz="2400">
                    <a:solidFill>
                      <a:srgbClr val="111827"/>
                    </a:solidFill>
                    <a:latin typeface="Cambria Math" panose="02040503050406030204" pitchFamily="18" charset="0"/>
                  </a:rPr>
                  <a:t>$=6$</a:t>
                </a:r>
                <a:r>
                  <a:rPr sz="2400" b="0">
                    <a:solidFill>
                      <a:srgbClr val="111827"/>
                    </a:solidFill>
                    <a:latin typeface="Arial"/>
                  </a:rPr>
                  <a:t> units arranged in </a:t>
                </a:r>
                <a:r>
                  <a:rPr lang="en-IN" sz="2400">
                    <a:solidFill>
                      <a:srgbClr val="111827"/>
                    </a:solidFill>
                    <a:latin typeface="Cambria Math" panose="02040503050406030204" pitchFamily="18" charset="0"/>
                  </a:rPr>
                  <a:t>$6!$</a:t>
                </a:r>
                <a:r>
                  <a:rPr sz="2400" b="0">
                    <a:solidFill>
                      <a:srgbClr val="111827"/>
                    </a:solidFill>
                    <a:latin typeface="Arial"/>
                  </a:rPr>
                  <a:t> ways, girls inside the block in </a:t>
                </a:r>
                <a:r>
                  <a:rPr lang="en-IN" sz="2400">
                    <a:solidFill>
                      <a:srgbClr val="111827"/>
                    </a:solidFill>
                    <a:latin typeface="Cambria Math" panose="02040503050406030204" pitchFamily="18" charset="0"/>
                  </a:rPr>
                  <a:t>$5!$</a:t>
                </a:r>
                <a:r>
                  <a:rPr sz="2400" b="0">
                    <a:solidFill>
                      <a:srgbClr val="111827"/>
                    </a:solidFill>
                    <a:latin typeface="Arial"/>
                  </a:rPr>
                  <a:t> ways: </a:t>
                </a:r>
                <a:r>
                  <a:rPr lang="en-IN" sz="2400">
                    <a:solidFill>
                      <a:srgbClr val="111827"/>
                    </a:solidFill>
                    <a:latin typeface="Cambria Math" panose="02040503050406030204" pitchFamily="18" charset="0"/>
                  </a:rPr>
                  <a:t>$n=5!\times6!$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four girls together: arrange the </a:t>
                </a:r>
                <a:r>
                  <a:rPr lang="en-IN" sz="2400">
                    <a:solidFill>
                      <a:srgbClr val="111827"/>
                    </a:solidFill>
                    <a:latin typeface="Cambria Math" panose="02040503050406030204" pitchFamily="18" charset="0"/>
                  </a:rPr>
                  <a:t>$5$</a:t>
                </a:r>
                <a:r>
                  <a:rPr sz="2400" b="0">
                    <a:solidFill>
                      <a:srgbClr val="111827"/>
                    </a:solidFill>
                    <a:latin typeface="Arial"/>
                  </a:rPr>
                  <a:t> boys in </a:t>
                </a:r>
                <a:r>
                  <a:rPr lang="en-IN" sz="2400">
                    <a:solidFill>
                      <a:srgbClr val="111827"/>
                    </a:solidFill>
                    <a:latin typeface="Cambria Math" panose="02040503050406030204" pitchFamily="18" charset="0"/>
                  </a:rPr>
                  <a:t>$5!$</a:t>
                </a:r>
                <a:r>
                  <a:rPr sz="2400" b="0">
                    <a:solidFill>
                      <a:srgbClr val="111827"/>
                    </a:solidFill>
                    <a:latin typeface="Arial"/>
                  </a:rPr>
                  <a:t> ways; this creates </a:t>
                </a:r>
                <a:r>
                  <a:rPr lang="en-IN" sz="2400">
                    <a:solidFill>
                      <a:srgbClr val="111827"/>
                    </a:solidFill>
                    <a:latin typeface="Cambria Math" panose="02040503050406030204" pitchFamily="18" charset="0"/>
                  </a:rPr>
                  <a:t>$6$</a:t>
                </a:r>
                <a:r>
                  <a:rPr sz="2400" b="0">
                    <a:solidFill>
                      <a:srgbClr val="111827"/>
                    </a:solidFill>
                    <a:latin typeface="Arial"/>
                  </a:rPr>
                  <a:t>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$2$</a:t>
                </a:r>
                <a:r>
                  <a:rPr sz="2400" b="0">
                    <a:solidFill>
                      <a:srgbClr val="111827"/>
                    </a:solidFill>
                    <a:latin typeface="Arial"/>
                  </a:rPr>
                  <a:t> gaps out of </a:t>
                </a:r>
                <a:r>
                  <a:rPr lang="en-IN" sz="2400">
                    <a:solidFill>
                      <a:srgbClr val="111827"/>
                    </a:solidFill>
                    <a:latin typeface="Cambria Math" panose="02040503050406030204" pitchFamily="18" charset="0"/>
                  </a:rPr>
                  <a:t>$6$</a:t>
                </a:r>
                <a:r>
                  <a:rPr sz="2400" b="0">
                    <a:solidFill>
                      <a:srgbClr val="111827"/>
                    </a:solidFill>
                    <a:latin typeface="Arial"/>
                  </a:rPr>
                  <a:t> (one for the block of four girls, one for the single girl) and assign them in </a:t>
                </a:r>
                <a:r>
                  <a:rPr lang="en-IN" sz="2400">
                    <a:solidFill>
                      <a:srgbClr val="111827"/>
                    </a:solidFill>
                    <a:latin typeface="Cambria Math" panose="02040503050406030204" pitchFamily="18" charset="0"/>
                  </a:rPr>
                  <a:t>$2!$</a:t>
                </a:r>
                <a:r>
                  <a:rPr sz="2400" b="0">
                    <a:solidFill>
                      <a:srgbClr val="111827"/>
                    </a:solidFill>
                    <a:latin typeface="Arial"/>
                  </a:rPr>
                  <a:t> ways: </a:t>
                </a:r>
                <a:r>
                  <a:rPr lang="en-IN" sz="2400">
                    <a:solidFill>
                      <a:srgbClr val="111827"/>
                    </a:solidFill>
                    <a:latin typeface="Cambria Math" panose="02040503050406030204" pitchFamily="18" charset="0"/>
                  </a:rPr>
                  <a:t>$\binom{6}{2}\cdot2!$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which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girls form the block: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arrange them in the block: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lone girl is then fixed).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720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which </a:t>
                </a:r>
                <a:r>
                  <a:rPr lang="en-IN" sz="2400">
                    <a:solidFill>
                      <a:srgbClr val="111827"/>
                    </a:solidFill>
                    <a:latin typeface="Cambria Math" panose="02040503050406030204" pitchFamily="18" charset="0"/>
                  </a:rPr>
                  <a:t>$4$</a:t>
                </a:r>
                <a:r>
                  <a:rPr sz="2400" b="0">
                    <a:solidFill>
                      <a:srgbClr val="111827"/>
                    </a:solidFill>
                    <a:latin typeface="Arial"/>
                  </a:rPr>
                  <a:t> of the </a:t>
                </a:r>
                <a:r>
                  <a:rPr lang="en-IN" sz="2400">
                    <a:solidFill>
                      <a:srgbClr val="111827"/>
                    </a:solidFill>
                    <a:latin typeface="Cambria Math" panose="02040503050406030204" pitchFamily="18" charset="0"/>
                  </a:rPr>
                  <a:t>$5$</a:t>
                </a:r>
                <a:r>
                  <a:rPr sz="2400" b="0">
                    <a:solidFill>
                      <a:srgbClr val="111827"/>
                    </a:solidFill>
                    <a:latin typeface="Arial"/>
                  </a:rPr>
                  <a:t> girls form the block: </a:t>
                </a:r>
                <a:r>
                  <a:rPr lang="en-IN" sz="2400">
                    <a:solidFill>
                      <a:srgbClr val="111827"/>
                    </a:solidFill>
                    <a:latin typeface="Cambria Math" panose="02040503050406030204" pitchFamily="18" charset="0"/>
                  </a:rPr>
                  <a:t>$\binom{5}{4}$</a:t>
                </a:r>
                <a:r>
                  <a:rPr sz="2400" b="0">
                    <a:solidFill>
                      <a:srgbClr val="111827"/>
                    </a:solidFill>
                    <a:latin typeface="Arial"/>
                  </a:rPr>
                  <a:t>; arrange them in the block: </a:t>
                </a:r>
                <a:r>
                  <a:rPr lang="en-IN" sz="2400">
                    <a:solidFill>
                      <a:srgbClr val="111827"/>
                    </a:solidFill>
                    <a:latin typeface="Cambria Math" panose="02040503050406030204" pitchFamily="18" charset="0"/>
                  </a:rPr>
                  <a:t>$4!$</a:t>
                </a:r>
                <a:r>
                  <a:rPr sz="2400" b="0">
                    <a:solidFill>
                      <a:srgbClr val="111827"/>
                    </a:solidFill>
                    <a:latin typeface="Arial"/>
                  </a:rPr>
                  <a:t> (the lone girl is then fixed).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$m=5!\times\binom{6}{2}\times\binom{5}{4}\times2!\times4!$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$\frac{m}{n}=\frac{5!\cdot15\cdot2\cdot5!}{5!\cdot6!}=\frac{15\cdot2\cdot120}{720}=5$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Ignore names: count only the boy/girl pattern (a string of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B's and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G's); names multiply both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by the same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Ignore names: count only the boy/girl pattern (a string of </a:t>
                </a:r>
                <a:r>
                  <a:rPr lang="en-IN" sz="2400">
                    <a:solidFill>
                      <a:srgbClr val="78350F"/>
                    </a:solidFill>
                    <a:latin typeface="Cambria Math" panose="02040503050406030204" pitchFamily="18" charset="0"/>
                  </a:rPr>
                  <a:t>$5$</a:t>
                </a:r>
                <a:r>
                  <a:rPr sz="2400" b="0">
                    <a:solidFill>
                      <a:srgbClr val="78350F"/>
                    </a:solidFill>
                    <a:latin typeface="Arial"/>
                  </a:rPr>
                  <a:t> B's and </a:t>
                </a:r>
                <a:r>
                  <a:rPr lang="en-IN" sz="2400">
                    <a:solidFill>
                      <a:srgbClr val="78350F"/>
                    </a:solidFill>
                    <a:latin typeface="Cambria Math" panose="02040503050406030204" pitchFamily="18" charset="0"/>
                  </a:rPr>
                  <a:t>$5$</a:t>
                </a:r>
                <a:r>
                  <a:rPr sz="2400" b="0">
                    <a:solidFill>
                      <a:srgbClr val="78350F"/>
                    </a:solidFill>
                    <a:latin typeface="Arial"/>
                  </a:rPr>
                  <a:t> G's); names multiply both </a:t>
                </a:r>
                <a:r>
                  <a:rPr lang="en-IN" sz="2400">
                    <a:solidFill>
                      <a:srgbClr val="78350F"/>
                    </a:solidFill>
                    <a:latin typeface="Cambria Math" panose="02040503050406030204" pitchFamily="18" charset="0"/>
                  </a:rPr>
                  <a:t>$m$</a:t>
                </a:r>
                <a:r>
                  <a:rPr sz="2400" b="0">
                    <a:solidFill>
                      <a:srgbClr val="78350F"/>
                    </a:solidFill>
                    <a:latin typeface="Arial"/>
                  </a:rPr>
                  <a:t> and </a:t>
                </a:r>
                <a:r>
                  <a:rPr lang="en-IN" sz="2400">
                    <a:solidFill>
                      <a:srgbClr val="78350F"/>
                    </a:solidFill>
                    <a:latin typeface="Cambria Math" panose="02040503050406030204" pitchFamily="18" charset="0"/>
                  </a:rPr>
                  <a:t>$n$</a:t>
                </a:r>
                <a:r>
                  <a:rPr sz="2400" b="0">
                    <a:solidFill>
                      <a:srgbClr val="78350F"/>
                    </a:solidFill>
                    <a:latin typeface="Arial"/>
                  </a:rPr>
                  <a:t> by the same </a:t>
                </a:r>
                <a:r>
                  <a:rPr lang="en-IN" sz="2400">
                    <a:solidFill>
                      <a:srgbClr val="78350F"/>
                    </a:solidFill>
                    <a:latin typeface="Cambria Math" panose="02040503050406030204" pitchFamily="18" charset="0"/>
                  </a:rPr>
                  <a:t>$5!\,5!$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 (number of B/G patterns)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𝑝𝑎𝑡𝑡𝑒𝑟𝑛𝑠 𝑤𝑖𝑡ℎ 𝑎 𝑟𝑢𝑛 𝑜𝑓 𝑒𝑥𝑎𝑐𝑡𝑙𝑦 4 𝐺’𝑠</m:t>
                        </m:r>
                      </m:num>
                      <m:den>
                        <m:r>
                          <m:rPr>
                            <m:nor/>
                          </m:rPr>
                          <a:rPr lang="en-IN" sz="2400" i="1">
                            <a:solidFill>
                              <a:srgbClr val="111827"/>
                            </a:solidFill>
                            <a:latin typeface="Cambria Math" panose="02040503050406030204" pitchFamily="18" charset="0"/>
                          </a:rPr>
                          <m:t>𝑝𝑎𝑡𝑡𝑒𝑟𝑛𝑠 𝑤𝑖𝑡ℎ 𝑎 𝑟𝑢𝑛 𝑜𝑓 5 𝐺’𝑠</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Patterns with all five G's together: the block can start at positions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patterns.</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equal (number of B/G patterns) </a:t>
                </a:r>
                <a:r>
                  <a:rPr lang="en-IN" sz="2400">
                    <a:solidFill>
                      <a:srgbClr val="111827"/>
                    </a:solidFill>
                    <a:latin typeface="Cambria Math" panose="02040503050406030204" pitchFamily="18" charset="0"/>
                  </a:rPr>
                  <a:t>$\times\,5!\times5!$</a:t>
                </a:r>
                <a:r>
                  <a:rPr sz="2400" b="0">
                    <a:solidFill>
                      <a:srgbClr val="111827"/>
                    </a:solidFill>
                    <a:latin typeface="Arial"/>
                  </a:rPr>
                  <a:t>, so </a:t>
                </a:r>
                <a:r>
                  <a:rPr lang="en-IN" sz="2400">
                    <a:solidFill>
                      <a:srgbClr val="111827"/>
                    </a:solidFill>
                    <a:latin typeface="Cambria Math" panose="02040503050406030204" pitchFamily="18" charset="0"/>
                  </a:rPr>
                  <a:t>$\frac{m}{n}=\frac{\text{patterns with a run of exactly 4 G's}}{\text{patterns with a run of 5 G's}}$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Patterns with all five G's together: the block can start at positions </a:t>
                </a:r>
                <a:r>
                  <a:rPr lang="en-IN" sz="2400">
                    <a:solidFill>
                      <a:srgbClr val="111827"/>
                    </a:solidFill>
                    <a:latin typeface="Cambria Math" panose="02040503050406030204" pitchFamily="18" charset="0"/>
                  </a:rPr>
                  <a:t>$1,\dots,6$</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patterns.</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Patterns with a run of exactly four G's and one separate G: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B's make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gaps; choose the gap for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𝐺</m:t>
                    </m:r>
                  </m:oMath>
                </a14:m>
                <a:r>
                  <a:rPr sz="2400" b="0">
                    <a:solidFill>
                      <a:srgbClr val="111827"/>
                    </a:solidFill>
                    <a:latin typeface="Arial"/>
                  </a:rPr>
                  <a:t> and a different gap for the single G: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patterns.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Patterns with a run of exactly four G's and one separate G: the </a:t>
                </a:r>
                <a:r>
                  <a:rPr lang="en-IN" sz="2400">
                    <a:solidFill>
                      <a:srgbClr val="111827"/>
                    </a:solidFill>
                    <a:latin typeface="Cambria Math" panose="02040503050406030204" pitchFamily="18" charset="0"/>
                  </a:rPr>
                  <a:t>$5$</a:t>
                </a:r>
                <a:r>
                  <a:rPr sz="2400" b="0">
                    <a:solidFill>
                      <a:srgbClr val="111827"/>
                    </a:solidFill>
                    <a:latin typeface="Arial"/>
                  </a:rPr>
                  <a:t> B's make </a:t>
                </a:r>
                <a:r>
                  <a:rPr lang="en-IN" sz="2400">
                    <a:solidFill>
                      <a:srgbClr val="111827"/>
                    </a:solidFill>
                    <a:latin typeface="Cambria Math" panose="02040503050406030204" pitchFamily="18" charset="0"/>
                  </a:rPr>
                  <a:t>$6$</a:t>
                </a:r>
                <a:r>
                  <a:rPr sz="2400" b="0">
                    <a:solidFill>
                      <a:srgbClr val="111827"/>
                    </a:solidFill>
                    <a:latin typeface="Arial"/>
                  </a:rPr>
                  <a:t> gaps; choose the gap for </a:t>
                </a:r>
                <a:r>
                  <a:rPr lang="en-IN" sz="2400">
                    <a:solidFill>
                      <a:srgbClr val="111827"/>
                    </a:solidFill>
                    <a:latin typeface="Cambria Math" panose="02040503050406030204" pitchFamily="18" charset="0"/>
                  </a:rPr>
                  <a:t>$GGGG$</a:t>
                </a:r>
                <a:r>
                  <a:rPr sz="2400" b="0">
                    <a:solidFill>
                      <a:srgbClr val="111827"/>
                    </a:solidFill>
                    <a:latin typeface="Arial"/>
                  </a:rPr>
                  <a:t> and a different gap for the single G: </a:t>
                </a:r>
                <a:r>
                  <a:rPr lang="en-IN" sz="2400">
                    <a:solidFill>
                      <a:srgbClr val="111827"/>
                    </a:solidFill>
                    <a:latin typeface="Cambria Math" panose="02040503050406030204" pitchFamily="18" charset="0"/>
                  </a:rPr>
                  <a:t>$6\times5=30$</a:t>
                </a:r>
                <a:r>
                  <a:rPr sz="2400" b="0">
                    <a:solidFill>
                      <a:srgbClr val="111827"/>
                    </a:solidFill>
                    <a:latin typeface="Arial"/>
                  </a:rPr>
                  <a:t> patterns.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$\frac{m}{n}=\frac{30}{6}=5$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Gap method: arrange the unrestricted objects first, then place the restricted ones in the gaps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objects give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gaps), at most one group per gap if groups must stay apart.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ratio of two counts is needed, strip common factors (here the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labelling) and compare only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runs: the number of patterns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G's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B's with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separated G-groups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r>
                      <m:rPr>
                        <m:sty m:val="p"/>
                      </m:rPr>
                      <a:rPr lang="en-IN" sz="2400">
                        <a:solidFill>
                          <a:srgbClr val="111827"/>
                        </a:solidFill>
                        <a:latin typeface="Cambria Math" panose="02040503050406030204" pitchFamily="18" charset="0"/>
                      </a:rPr>
                      <m:t>×</m:t>
                    </m:r>
                  </m:oMath>
                </a14:m>
                <a:r>
                  <a:rPr sz="2400" b="0">
                    <a:solidFill>
                      <a:srgbClr val="111827"/>
                    </a:solidFill>
                    <a:latin typeface="Arial"/>
                  </a:rPr>
                  <a:t>(compositions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parts).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Gap method: arrange the unrestricted objects first, then place the restricted ones in the gaps (</a:t>
                </a:r>
                <a:r>
                  <a:rPr lang="en-IN" sz="2400">
                    <a:solidFill>
                      <a:srgbClr val="111827"/>
                    </a:solidFill>
                    <a:latin typeface="Cambria Math" panose="02040503050406030204" pitchFamily="18" charset="0"/>
                  </a:rPr>
                  <a:t>$k$</a:t>
                </a:r>
                <a:r>
                  <a:rPr sz="2400" b="0">
                    <a:solidFill>
                      <a:srgbClr val="111827"/>
                    </a:solidFill>
                    <a:latin typeface="Arial"/>
                  </a:rPr>
                  <a:t> objects give </a:t>
                </a:r>
                <a:r>
                  <a:rPr lang="en-IN" sz="2400">
                    <a:solidFill>
                      <a:srgbClr val="111827"/>
                    </a:solidFill>
                    <a:latin typeface="Cambria Math" panose="02040503050406030204" pitchFamily="18" charset="0"/>
                  </a:rPr>
                  <a:t>$k+1$</a:t>
                </a:r>
                <a:r>
                  <a:rPr sz="2400" b="0">
                    <a:solidFill>
                      <a:srgbClr val="111827"/>
                    </a:solidFill>
                    <a:latin typeface="Arial"/>
                  </a:rPr>
                  <a:t> gaps), at most one group per gap if groups must stay apart.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ratio of two counts is needed, strip common factors (here the </a:t>
                </a:r>
                <a:r>
                  <a:rPr lang="en-IN" sz="2400">
                    <a:solidFill>
                      <a:srgbClr val="111827"/>
                    </a:solidFill>
                    <a:latin typeface="Cambria Math" panose="02040503050406030204" pitchFamily="18" charset="0"/>
                  </a:rPr>
                  <a:t>$5!\,5!$</a:t>
                </a:r>
                <a:r>
                  <a:rPr sz="2400" b="0">
                    <a:solidFill>
                      <a:srgbClr val="111827"/>
                    </a:solidFill>
                    <a:latin typeface="Arial"/>
                  </a:rPr>
                  <a:t> labelling) and compare only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runs: the number of patterns of </a:t>
                </a:r>
                <a:r>
                  <a:rPr lang="en-IN" sz="2400">
                    <a:solidFill>
                      <a:srgbClr val="111827"/>
                    </a:solidFill>
                    <a:latin typeface="Cambria Math" panose="02040503050406030204" pitchFamily="18" charset="0"/>
                  </a:rPr>
                  <a:t>$g$</a:t>
                </a:r>
                <a:r>
                  <a:rPr sz="2400" b="0">
                    <a:solidFill>
                      <a:srgbClr val="111827"/>
                    </a:solidFill>
                    <a:latin typeface="Arial"/>
                  </a:rPr>
                  <a:t> G's and </a:t>
                </a:r>
                <a:r>
                  <a:rPr lang="en-IN" sz="2400">
                    <a:solidFill>
                      <a:srgbClr val="111827"/>
                    </a:solidFill>
                    <a:latin typeface="Cambria Math" panose="02040503050406030204" pitchFamily="18" charset="0"/>
                  </a:rPr>
                  <a:t>$b$</a:t>
                </a:r>
                <a:r>
                  <a:rPr sz="2400" b="0">
                    <a:solidFill>
                      <a:srgbClr val="111827"/>
                    </a:solidFill>
                    <a:latin typeface="Arial"/>
                  </a:rPr>
                  <a:t> B's with </a:t>
                </a:r>
                <a:r>
                  <a:rPr lang="en-IN" sz="2400">
                    <a:solidFill>
                      <a:srgbClr val="111827"/>
                    </a:solidFill>
                    <a:latin typeface="Cambria Math" panose="02040503050406030204" pitchFamily="18" charset="0"/>
                  </a:rPr>
                  <a:t>$r$</a:t>
                </a:r>
                <a:r>
                  <a:rPr sz="2400" b="0">
                    <a:solidFill>
                      <a:srgbClr val="111827"/>
                    </a:solidFill>
                    <a:latin typeface="Arial"/>
                  </a:rPr>
                  <a:t> separated G-groups is </a:t>
                </a:r>
                <a:r>
                  <a:rPr lang="en-IN" sz="2400">
                    <a:solidFill>
                      <a:srgbClr val="111827"/>
                    </a:solidFill>
                    <a:latin typeface="Cambria Math" panose="02040503050406030204" pitchFamily="18" charset="0"/>
                  </a:rPr>
                  <a:t>$\binom{b+1}{r}\times$</a:t>
                </a:r>
                <a:r>
                  <a:rPr sz="2400" b="0">
                    <a:solidFill>
                      <a:srgbClr val="111827"/>
                    </a:solidFill>
                    <a:latin typeface="Arial"/>
                  </a:rPr>
                  <a:t>(compositions of </a:t>
                </a:r>
                <a:r>
                  <a:rPr lang="en-IN" sz="2400">
                    <a:solidFill>
                      <a:srgbClr val="111827"/>
                    </a:solidFill>
                    <a:latin typeface="Cambria Math" panose="02040503050406030204" pitchFamily="18" charset="0"/>
                  </a:rPr>
                  <a:t>$g$</a:t>
                </a:r>
                <a:r>
                  <a:rPr sz="2400" b="0">
                    <a:solidFill>
                      <a:srgbClr val="111827"/>
                    </a:solidFill>
                    <a:latin typeface="Arial"/>
                  </a:rPr>
                  <a:t> into </a:t>
                </a:r>
                <a:r>
                  <a:rPr lang="en-IN" sz="2400">
                    <a:solidFill>
                      <a:srgbClr val="111827"/>
                    </a:solidFill>
                    <a:latin typeface="Cambria Math" panose="02040503050406030204" pitchFamily="18" charset="0"/>
                  </a:rPr>
                  <a:t>$r$</a:t>
                </a:r>
                <a:r>
                  <a:rPr sz="2400" b="0">
                    <a:solidFill>
                      <a:srgbClr val="111827"/>
                    </a:solidFill>
                    <a:latin typeface="Arial"/>
                  </a:rPr>
                  <a:t> parts).</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Q08 – Q09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debate club consists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girls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boys. A team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members is to be selected from this club including the selection of a captain (from among these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members) for the team. If the team has to include at most one boy, then the number of ways of selecting the team is: [JEE (Adv) 2016]</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380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320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260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95</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debate club consists of </a:t>
                </a:r>
                <a:r>
                  <a:rPr lang="en-IN" sz="2400">
                    <a:solidFill>
                      <a:srgbClr val="111827"/>
                    </a:solidFill>
                    <a:latin typeface="Cambria Math" panose="02040503050406030204" pitchFamily="18" charset="0"/>
                  </a:rPr>
                  <a:t>$6$</a:t>
                </a:r>
                <a:r>
                  <a:rPr sz="2400" b="0">
                    <a:solidFill>
                      <a:srgbClr val="111827"/>
                    </a:solidFill>
                    <a:latin typeface="Arial"/>
                  </a:rPr>
                  <a:t> girls and </a:t>
                </a:r>
                <a:r>
                  <a:rPr lang="en-IN" sz="2400">
                    <a:solidFill>
                      <a:srgbClr val="111827"/>
                    </a:solidFill>
                    <a:latin typeface="Cambria Math" panose="02040503050406030204" pitchFamily="18" charset="0"/>
                  </a:rPr>
                  <a:t>$4$</a:t>
                </a:r>
                <a:r>
                  <a:rPr sz="2400" b="0">
                    <a:solidFill>
                      <a:srgbClr val="111827"/>
                    </a:solidFill>
                    <a:latin typeface="Arial"/>
                  </a:rPr>
                  <a:t> boys. A team of </a:t>
                </a:r>
                <a:r>
                  <a:rPr lang="en-IN" sz="2400">
                    <a:solidFill>
                      <a:srgbClr val="111827"/>
                    </a:solidFill>
                    <a:latin typeface="Cambria Math" panose="02040503050406030204" pitchFamily="18" charset="0"/>
                  </a:rPr>
                  <a:t>$4$</a:t>
                </a:r>
                <a:r>
                  <a:rPr sz="2400" b="0">
                    <a:solidFill>
                      <a:srgbClr val="111827"/>
                    </a:solidFill>
                    <a:latin typeface="Arial"/>
                  </a:rPr>
                  <a:t> members is to be selected from this club including the selection of a captain (from among these </a:t>
                </a:r>
                <a:r>
                  <a:rPr lang="en-IN" sz="2400">
                    <a:solidFill>
                      <a:srgbClr val="111827"/>
                    </a:solidFill>
                    <a:latin typeface="Cambria Math" panose="02040503050406030204" pitchFamily="18" charset="0"/>
                  </a:rPr>
                  <a:t>$4$</a:t>
                </a:r>
                <a:r>
                  <a:rPr sz="2400" b="0">
                    <a:solidFill>
                      <a:srgbClr val="111827"/>
                    </a:solidFill>
                    <a:latin typeface="Arial"/>
                  </a:rPr>
                  <a:t> members) for the team. If the team has to include at most one boy, then the number of ways of selecting the team is: [JEE (Adv) 2016]</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$380$</a:t>
                </a:r>
                <a:r>
                  <a:rPr sz="2400" b="0">
                    <a:solidFill>
                      <a:srgbClr val="111827"/>
                    </a:solidFill>
                    <a:latin typeface="Arial"/>
                  </a:rPr>
                  <a:t>   (B) </a:t>
                </a:r>
                <a:r>
                  <a:rPr lang="en-IN" sz="2400">
                    <a:solidFill>
                      <a:srgbClr val="111827"/>
                    </a:solidFill>
                    <a:latin typeface="Cambria Math" panose="02040503050406030204" pitchFamily="18" charset="0"/>
                  </a:rPr>
                  <a:t>$320$</a:t>
                </a:r>
                <a:r>
                  <a:rPr sz="2400" b="0">
                    <a:solidFill>
                      <a:srgbClr val="111827"/>
                    </a:solidFill>
                    <a:latin typeface="Arial"/>
                  </a:rPr>
                  <a:t>   (C) </a:t>
                </a:r>
                <a:r>
                  <a:rPr lang="en-IN" sz="2400">
                    <a:solidFill>
                      <a:srgbClr val="111827"/>
                    </a:solidFill>
                    <a:latin typeface="Cambria Math" panose="02040503050406030204" pitchFamily="18" charset="0"/>
                  </a:rPr>
                  <a:t>$260$</a:t>
                </a:r>
                <a:r>
                  <a:rPr sz="2400" b="0">
                    <a:solidFill>
                      <a:srgbClr val="111827"/>
                    </a:solidFill>
                    <a:latin typeface="Arial"/>
                  </a:rPr>
                  <a:t>   (D) </a:t>
                </a:r>
                <a:r>
                  <a:rPr lang="en-IN" sz="2400">
                    <a:solidFill>
                      <a:srgbClr val="111827"/>
                    </a:solidFill>
                    <a:latin typeface="Cambria Math" panose="02040503050406030204" pitchFamily="18" charset="0"/>
                  </a:rPr>
                  <a:t>$95$</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of a team with a captain, Combinations with restrictions (at most one)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Select the team by cases on the number of boys, then multiply by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for the captain.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Select the team by cases on the number of boys, then multiply by </a:t>
                </a:r>
                <a:r>
                  <a:rPr lang="en-IN" sz="2400">
                    <a:solidFill>
                      <a:srgbClr val="78350F"/>
                    </a:solidFill>
                    <a:latin typeface="Cambria Math" panose="02040503050406030204" pitchFamily="18" charset="0"/>
                  </a:rPr>
                  <a:t>$4$</a:t>
                </a:r>
                <a:r>
                  <a:rPr sz="2400" b="0">
                    <a:solidFill>
                      <a:srgbClr val="78350F"/>
                    </a:solidFill>
                    <a:latin typeface="Arial"/>
                  </a:rPr>
                  <a:t> for the captain.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most one boy means either (0 boys, 4 girls) or (1 boy, 3 girls).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0</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den>
                            </m:f>
                          </m:e>
                        </m:d>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oMath>
                </a14:m>
                <a:r>
                  <a:rPr sz="2400" b="0">
                    <a:solidFill>
                      <a:srgbClr val="111827"/>
                    </a:solidFill>
                    <a:latin typeface="Arial"/>
                  </a:rPr>
                  <a:t>, the factor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being the choice of captain from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members.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most one boy means either (0 boys, 4 girls) or (1 boy, 3 girls).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$=\left(\binom{4}{0}\binom{6}{4}\right)\binom{4}{1}+\left(\binom{4}{1}\binom{6}{3}\right)\binom{4}{1}$</a:t>
                </a:r>
                <a:r>
                  <a:rPr sz="2400" b="0">
                    <a:solidFill>
                      <a:srgbClr val="111827"/>
                    </a:solidFill>
                    <a:latin typeface="Arial"/>
                  </a:rPr>
                  <a:t>, the factor </a:t>
                </a:r>
                <a:r>
                  <a:rPr lang="en-IN" sz="2400">
                    <a:solidFill>
                      <a:srgbClr val="111827"/>
                    </a:solidFill>
                    <a:latin typeface="Cambria Math" panose="02040503050406030204" pitchFamily="18" charset="0"/>
                  </a:rPr>
                  <a:t>$\binom41=4$</a:t>
                </a:r>
                <a:r>
                  <a:rPr sz="2400" b="0">
                    <a:solidFill>
                      <a:srgbClr val="111827"/>
                    </a:solidFill>
                    <a:latin typeface="Arial"/>
                  </a:rPr>
                  <a:t> being the choice of captain from the </a:t>
                </a:r>
                <a:r>
                  <a:rPr lang="en-IN" sz="2400">
                    <a:solidFill>
                      <a:srgbClr val="111827"/>
                    </a:solidFill>
                    <a:latin typeface="Cambria Math" panose="02040503050406030204" pitchFamily="18" charset="0"/>
                  </a:rPr>
                  <a:t>$4$</a:t>
                </a:r>
                <a:r>
                  <a:rPr sz="2400" b="0">
                    <a:solidFill>
                      <a:srgbClr val="111827"/>
                    </a:solidFill>
                    <a:latin typeface="Arial"/>
                  </a:rPr>
                  <a:t> members.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$=(1\cdot15)\cdot4+(4\cdot20)\cdot4=60+320$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$=380$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380</a:t>
            </a:r>
            <a:endParaRPr sz="2800">
              <a:solidFill>
                <a:srgbClr val="15803D"/>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captain first, then the remaining three members under the restriction.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Captain a boy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ways): no other boy is allowed, so the other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come from the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girls: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Captain a girl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ways): the other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come from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remaining girls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boys with at most one boy.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Zero boys: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One boy: </a:t>
                </a:r>
                <a14:m>
                  <m:oMath xmlns:m="http://schemas.openxmlformats.org/officeDocument/2006/math">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Together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choices, so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Captain a boy (</a:t>
                </a:r>
                <a:r>
                  <a:rPr lang="en-IN" sz="2400">
                    <a:solidFill>
                      <a:srgbClr val="111827"/>
                    </a:solidFill>
                    <a:latin typeface="Cambria Math" panose="02040503050406030204" pitchFamily="18" charset="0"/>
                  </a:rPr>
                  <a:t>$4$</a:t>
                </a:r>
                <a:r>
                  <a:rPr sz="2400" b="0">
                    <a:solidFill>
                      <a:srgbClr val="111827"/>
                    </a:solidFill>
                    <a:latin typeface="Arial"/>
                  </a:rPr>
                  <a:t> ways): no other boy is allowed, so the other </a:t>
                </a:r>
                <a:r>
                  <a:rPr lang="en-IN" sz="2400">
                    <a:solidFill>
                      <a:srgbClr val="111827"/>
                    </a:solidFill>
                    <a:latin typeface="Cambria Math" panose="02040503050406030204" pitchFamily="18" charset="0"/>
                  </a:rPr>
                  <a:t>$3$</a:t>
                </a:r>
                <a:r>
                  <a:rPr sz="2400" b="0">
                    <a:solidFill>
                      <a:srgbClr val="111827"/>
                    </a:solidFill>
                    <a:latin typeface="Arial"/>
                  </a:rPr>
                  <a:t> come from the </a:t>
                </a:r>
                <a:r>
                  <a:rPr lang="en-IN" sz="2400">
                    <a:solidFill>
                      <a:srgbClr val="111827"/>
                    </a:solidFill>
                    <a:latin typeface="Cambria Math" panose="02040503050406030204" pitchFamily="18" charset="0"/>
                  </a:rPr>
                  <a:t>$6$</a:t>
                </a:r>
                <a:r>
                  <a:rPr sz="2400" b="0">
                    <a:solidFill>
                      <a:srgbClr val="111827"/>
                    </a:solidFill>
                    <a:latin typeface="Arial"/>
                  </a:rPr>
                  <a:t> girls: </a:t>
                </a:r>
                <a:r>
                  <a:rPr lang="en-IN" sz="2400">
                    <a:solidFill>
                      <a:srgbClr val="111827"/>
                    </a:solidFill>
                    <a:latin typeface="Cambria Math" panose="02040503050406030204" pitchFamily="18" charset="0"/>
                  </a:rPr>
                  <a:t>$4\cdot\binom{6}{3}=80$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Captain a girl (</a:t>
                </a:r>
                <a:r>
                  <a:rPr lang="en-IN" sz="2400">
                    <a:solidFill>
                      <a:srgbClr val="111827"/>
                    </a:solidFill>
                    <a:latin typeface="Cambria Math" panose="02040503050406030204" pitchFamily="18" charset="0"/>
                  </a:rPr>
                  <a:t>$6$</a:t>
                </a:r>
                <a:r>
                  <a:rPr sz="2400" b="0">
                    <a:solidFill>
                      <a:srgbClr val="111827"/>
                    </a:solidFill>
                    <a:latin typeface="Arial"/>
                  </a:rPr>
                  <a:t> ways): the other </a:t>
                </a:r>
                <a:r>
                  <a:rPr lang="en-IN" sz="2400">
                    <a:solidFill>
                      <a:srgbClr val="111827"/>
                    </a:solidFill>
                    <a:latin typeface="Cambria Math" panose="02040503050406030204" pitchFamily="18" charset="0"/>
                  </a:rPr>
                  <a:t>$3$</a:t>
                </a:r>
                <a:r>
                  <a:rPr sz="2400" b="0">
                    <a:solidFill>
                      <a:srgbClr val="111827"/>
                    </a:solidFill>
                    <a:latin typeface="Arial"/>
                  </a:rPr>
                  <a:t> come from the </a:t>
                </a:r>
                <a:r>
                  <a:rPr lang="en-IN" sz="2400">
                    <a:solidFill>
                      <a:srgbClr val="111827"/>
                    </a:solidFill>
                    <a:latin typeface="Cambria Math" panose="02040503050406030204" pitchFamily="18" charset="0"/>
                  </a:rPr>
                  <a:t>$5$</a:t>
                </a:r>
                <a:r>
                  <a:rPr sz="2400" b="0">
                    <a:solidFill>
                      <a:srgbClr val="111827"/>
                    </a:solidFill>
                    <a:latin typeface="Arial"/>
                  </a:rPr>
                  <a:t> remaining girls and </a:t>
                </a:r>
                <a:r>
                  <a:rPr lang="en-IN" sz="2400">
                    <a:solidFill>
                      <a:srgbClr val="111827"/>
                    </a:solidFill>
                    <a:latin typeface="Cambria Math" panose="02040503050406030204" pitchFamily="18" charset="0"/>
                  </a:rPr>
                  <a:t>$4$</a:t>
                </a:r>
                <a:r>
                  <a:rPr sz="2400" b="0">
                    <a:solidFill>
                      <a:srgbClr val="111827"/>
                    </a:solidFill>
                    <a:latin typeface="Arial"/>
                  </a:rPr>
                  <a:t> boys with at most one boy.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Zero boys: </a:t>
                </a:r>
                <a:r>
                  <a:rPr lang="en-IN" sz="2400">
                    <a:solidFill>
                      <a:srgbClr val="111827"/>
                    </a:solidFill>
                    <a:latin typeface="Cambria Math" panose="02040503050406030204" pitchFamily="18" charset="0"/>
                  </a:rPr>
                  <a:t>$\binom{5}{3}=10$</a:t>
                </a:r>
                <a:r>
                  <a:rPr sz="2400" b="0">
                    <a:solidFill>
                      <a:srgbClr val="111827"/>
                    </a:solidFill>
                    <a:latin typeface="Arial"/>
                  </a:rPr>
                  <a:t>. One boy: </a:t>
                </a:r>
                <a:r>
                  <a:rPr lang="en-IN" sz="2400">
                    <a:solidFill>
                      <a:srgbClr val="111827"/>
                    </a:solidFill>
                    <a:latin typeface="Cambria Math" panose="02040503050406030204" pitchFamily="18" charset="0"/>
                  </a:rPr>
                  <a:t>$4\binom{5}{2}=40$</a:t>
                </a:r>
                <a:r>
                  <a:rPr sz="2400" b="0">
                    <a:solidFill>
                      <a:srgbClr val="111827"/>
                    </a:solidFill>
                    <a:latin typeface="Arial"/>
                  </a:rPr>
                  <a:t>. Together </a:t>
                </a:r>
                <a:r>
                  <a:rPr lang="en-IN" sz="2400">
                    <a:solidFill>
                      <a:srgbClr val="111827"/>
                    </a:solidFill>
                    <a:latin typeface="Cambria Math" panose="02040503050406030204" pitchFamily="18" charset="0"/>
                  </a:rPr>
                  <a:t>$50$</a:t>
                </a:r>
                <a:r>
                  <a:rPr sz="2400" b="0">
                    <a:solidFill>
                      <a:srgbClr val="111827"/>
                    </a:solidFill>
                    <a:latin typeface="Arial"/>
                  </a:rPr>
                  <a:t> choices, so </a:t>
                </a:r>
                <a:r>
                  <a:rPr lang="en-IN" sz="2400">
                    <a:solidFill>
                      <a:srgbClr val="111827"/>
                    </a:solidFill>
                    <a:latin typeface="Cambria Math" panose="02040503050406030204" pitchFamily="18" charset="0"/>
                  </a:rPr>
                  <a:t>$6\times50=300$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$=80+300=380$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380</a:t>
            </a:r>
            <a:endParaRPr sz="2800">
              <a:solidFill>
                <a:srgbClr val="15803D"/>
              </a:solidFill>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role (captain, leader) is to be chosen from the selected team, multiply by the team size afterwards; it does not interact with the 'at most' condition.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most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 sum of cases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least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often easier by complement.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Choosing the special member first changes how the remaining restrictions apply; both orders must agree, which is a good self-check.</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role (captain, leader) is to be chosen from the selected team, multiply by the team size afterwards; it does not interact with the 'at most' condition.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most </a:t>
                </a:r>
                <a:r>
                  <a:rPr lang="en-IN" sz="2400">
                    <a:solidFill>
                      <a:srgbClr val="111827"/>
                    </a:solidFill>
                    <a:latin typeface="Cambria Math" panose="02040503050406030204" pitchFamily="18" charset="0"/>
                  </a:rPr>
                  <a:t>$k$</a:t>
                </a:r>
                <a:r>
                  <a:rPr sz="2400" b="0">
                    <a:solidFill>
                      <a:srgbClr val="111827"/>
                    </a:solidFill>
                    <a:latin typeface="Arial"/>
                  </a:rPr>
                  <a:t>' = sum of cases </a:t>
                </a:r>
                <a:r>
                  <a:rPr lang="en-IN" sz="2400">
                    <a:solidFill>
                      <a:srgbClr val="111827"/>
                    </a:solidFill>
                    <a:latin typeface="Cambria Math" panose="02040503050406030204" pitchFamily="18" charset="0"/>
                  </a:rPr>
                  <a:t>$0..k$</a:t>
                </a:r>
                <a:r>
                  <a:rPr sz="2400" b="0">
                    <a:solidFill>
                      <a:srgbClr val="111827"/>
                    </a:solidFill>
                    <a:latin typeface="Arial"/>
                  </a:rPr>
                  <a:t>; 'at least </a:t>
                </a:r>
                <a:r>
                  <a:rPr lang="en-IN" sz="2400">
                    <a:solidFill>
                      <a:srgbClr val="111827"/>
                    </a:solidFill>
                    <a:latin typeface="Cambria Math" panose="02040503050406030204" pitchFamily="18" charset="0"/>
                  </a:rPr>
                  <a:t>$k$</a:t>
                </a:r>
                <a:r>
                  <a:rPr sz="2400" b="0">
                    <a:solidFill>
                      <a:srgbClr val="111827"/>
                    </a:solidFill>
                    <a:latin typeface="Arial"/>
                  </a:rPr>
                  <a:t>' is often easier by complement.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Choosing the special member first changes how the remaining restrictions apply; both orders must agree, which is a good self-check.</a:t>
                </a:r>
                <a:endParaRPr sz="2400">
                  <a:solidFill>
                    <a:srgbClr val="111827"/>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be the number of 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each containing five elements out of which 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are odd. Then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[JEE (Adv) 2017]</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125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210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252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126</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$S=\{1,2,3,\dots,9\}$</a:t>
                </a:r>
                <a:r>
                  <a:rPr sz="2400" b="0">
                    <a:solidFill>
                      <a:srgbClr val="111827"/>
                    </a:solidFill>
                    <a:latin typeface="Arial"/>
                  </a:rPr>
                  <a:t>. For </a:t>
                </a:r>
                <a:r>
                  <a:rPr lang="en-IN" sz="2400">
                    <a:solidFill>
                      <a:srgbClr val="111827"/>
                    </a:solidFill>
                    <a:latin typeface="Cambria Math" panose="02040503050406030204" pitchFamily="18" charset="0"/>
                  </a:rPr>
                  <a:t>$k=1,2,\dots,5$</a:t>
                </a:r>
                <a:r>
                  <a:rPr sz="2400" b="0">
                    <a:solidFill>
                      <a:srgbClr val="111827"/>
                    </a:solidFill>
                    <a:latin typeface="Arial"/>
                  </a:rPr>
                  <a:t>, let </a:t>
                </a:r>
                <a:r>
                  <a:rPr lang="en-IN" sz="2400">
                    <a:solidFill>
                      <a:srgbClr val="111827"/>
                    </a:solidFill>
                    <a:latin typeface="Cambria Math" panose="02040503050406030204" pitchFamily="18" charset="0"/>
                  </a:rPr>
                  <a:t>$N_k$</a:t>
                </a:r>
                <a:r>
                  <a:rPr sz="2400" b="0">
                    <a:solidFill>
                      <a:srgbClr val="111827"/>
                    </a:solidFill>
                    <a:latin typeface="Arial"/>
                  </a:rPr>
                  <a:t> be the number of subsets of </a:t>
                </a:r>
                <a:r>
                  <a:rPr lang="en-IN" sz="2400">
                    <a:solidFill>
                      <a:srgbClr val="111827"/>
                    </a:solidFill>
                    <a:latin typeface="Cambria Math" panose="02040503050406030204" pitchFamily="18" charset="0"/>
                  </a:rPr>
                  <a:t>$S$</a:t>
                </a:r>
                <a:r>
                  <a:rPr sz="2400" b="0">
                    <a:solidFill>
                      <a:srgbClr val="111827"/>
                    </a:solidFill>
                    <a:latin typeface="Arial"/>
                  </a:rPr>
                  <a:t>, each containing five elements out of which exactly </a:t>
                </a:r>
                <a:r>
                  <a:rPr lang="en-IN" sz="2400">
                    <a:solidFill>
                      <a:srgbClr val="111827"/>
                    </a:solidFill>
                    <a:latin typeface="Cambria Math" panose="02040503050406030204" pitchFamily="18" charset="0"/>
                  </a:rPr>
                  <a:t>$k$</a:t>
                </a:r>
                <a:r>
                  <a:rPr sz="2400" b="0">
                    <a:solidFill>
                      <a:srgbClr val="111827"/>
                    </a:solidFill>
                    <a:latin typeface="Arial"/>
                  </a:rPr>
                  <a:t> are odd. Then </a:t>
                </a:r>
                <a:r>
                  <a:rPr lang="en-IN" sz="2400">
                    <a:solidFill>
                      <a:srgbClr val="111827"/>
                    </a:solidFill>
                    <a:latin typeface="Cambria Math" panose="02040503050406030204" pitchFamily="18" charset="0"/>
                  </a:rPr>
                  <a:t>$N_1+N_2+N_3+N_4+N_5=$</a:t>
                </a:r>
                <a:r>
                  <a:rPr sz="2400" b="0">
                    <a:solidFill>
                      <a:srgbClr val="111827"/>
                    </a:solidFill>
                    <a:latin typeface="Arial"/>
                  </a:rPr>
                  <a:t> [JEE (Adv) 2017]</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$125$</a:t>
                </a:r>
                <a:r>
                  <a:rPr sz="2400" b="0">
                    <a:solidFill>
                      <a:srgbClr val="111827"/>
                    </a:solidFill>
                    <a:latin typeface="Arial"/>
                  </a:rPr>
                  <a:t>   (B) </a:t>
                </a:r>
                <a:r>
                  <a:rPr lang="en-IN" sz="2400">
                    <a:solidFill>
                      <a:srgbClr val="111827"/>
                    </a:solidFill>
                    <a:latin typeface="Cambria Math" panose="02040503050406030204" pitchFamily="18" charset="0"/>
                  </a:rPr>
                  <a:t>$210$</a:t>
                </a:r>
                <a:r>
                  <a:rPr sz="2400" b="0">
                    <a:solidFill>
                      <a:srgbClr val="111827"/>
                    </a:solidFill>
                    <a:latin typeface="Arial"/>
                  </a:rPr>
                  <a:t>   (C) </a:t>
                </a:r>
                <a:r>
                  <a:rPr lang="en-IN" sz="2400">
                    <a:solidFill>
                      <a:srgbClr val="111827"/>
                    </a:solidFill>
                    <a:latin typeface="Cambria Math" panose="02040503050406030204" pitchFamily="18" charset="0"/>
                  </a:rPr>
                  <a:t>$252$</a:t>
                </a:r>
                <a:r>
                  <a:rPr sz="2400" b="0">
                    <a:solidFill>
                      <a:srgbClr val="111827"/>
                    </a:solidFill>
                    <a:latin typeface="Arial"/>
                  </a:rPr>
                  <a:t>   (D) </a:t>
                </a:r>
                <a:r>
                  <a:rPr lang="en-IN" sz="2400">
                    <a:solidFill>
                      <a:srgbClr val="111827"/>
                    </a:solidFill>
                    <a:latin typeface="Cambria Math" panose="02040503050406030204" pitchFamily="18" charset="0"/>
                  </a:rPr>
                  <a:t>$126$</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Combinations with parity restriction, Complementary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has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odd and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even numbers, so </a:t>
                </a:r>
                <a14:m>
                  <m:oMath xmlns:m="http://schemas.openxmlformats.org/officeDocument/2006/math">
                    <m:sSub>
                      <m:e>
                        <m:r>
                          <a:rPr lang="en-IN" sz="2400" i="1">
                            <a:solidFill>
                              <a:srgbClr val="78350F"/>
                            </a:solidFill>
                            <a:latin typeface="Cambria Math" panose="02040503050406030204" pitchFamily="18" charset="0"/>
                          </a:rPr>
                          <m:t>𝑁</m:t>
                        </m:r>
                      </m:e>
                      <m:sub>
                        <m:r>
                          <a:rPr lang="en-IN" sz="2400" i="1">
                            <a:solidFill>
                              <a:srgbClr val="78350F"/>
                            </a:solidFill>
                            <a:latin typeface="Cambria Math" panose="02040503050406030204" pitchFamily="18" charset="0"/>
                          </a:rPr>
                          <m:t>𝑘</m:t>
                        </m:r>
                      </m:sub>
                    </m:sSub>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num>
                          <m:den>
                            <m:r>
                              <a:rPr lang="en-IN" sz="2400" i="1">
                                <a:solidFill>
                                  <a:srgbClr val="78350F"/>
                                </a:solidFill>
                                <a:latin typeface="Cambria Math" panose="02040503050406030204" pitchFamily="18" charset="0"/>
                              </a:rPr>
                              <m:t>𝑘</m:t>
                            </m:r>
                          </m:den>
                        </m:f>
                      </m:e>
                    </m:d>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a:t>
                </a:r>
                <a:r>
                  <a:rPr sz="2400" b="0">
                    <a:solidFill>
                      <a:srgbClr val="78350F"/>
                    </a:solidFill>
                    <a:latin typeface="Arial"/>
                  </a:rPr>
                  <a:t> has </a:t>
                </a:r>
                <a:r>
                  <a:rPr lang="en-IN" sz="2400">
                    <a:solidFill>
                      <a:srgbClr val="78350F"/>
                    </a:solidFill>
                    <a:latin typeface="Cambria Math" panose="02040503050406030204" pitchFamily="18" charset="0"/>
                  </a:rPr>
                  <a:t>$5$</a:t>
                </a:r>
                <a:r>
                  <a:rPr sz="2400" b="0">
                    <a:solidFill>
                      <a:srgbClr val="78350F"/>
                    </a:solidFill>
                    <a:latin typeface="Arial"/>
                  </a:rPr>
                  <a:t> odd and </a:t>
                </a:r>
                <a:r>
                  <a:rPr lang="en-IN" sz="2400">
                    <a:solidFill>
                      <a:srgbClr val="78350F"/>
                    </a:solidFill>
                    <a:latin typeface="Cambria Math" panose="02040503050406030204" pitchFamily="18" charset="0"/>
                  </a:rPr>
                  <a:t>$4$</a:t>
                </a:r>
                <a:r>
                  <a:rPr sz="2400" b="0">
                    <a:solidFill>
                      <a:srgbClr val="78350F"/>
                    </a:solidFill>
                    <a:latin typeface="Arial"/>
                  </a:rPr>
                  <a:t> even numbers, so </a:t>
                </a:r>
                <a:r>
                  <a:rPr lang="en-IN" sz="2400">
                    <a:solidFill>
                      <a:srgbClr val="78350F"/>
                    </a:solidFill>
                    <a:latin typeface="Cambria Math" panose="02040503050406030204" pitchFamily="18" charset="0"/>
                  </a:rPr>
                  <a:t>$N_k=\binom{5}{k}\binom{4}{5-k}$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odd numbers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even numbers.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has </a:t>
                </a:r>
                <a:r>
                  <a:rPr lang="en-IN" sz="2400">
                    <a:solidFill>
                      <a:srgbClr val="111827"/>
                    </a:solidFill>
                    <a:latin typeface="Cambria Math" panose="02040503050406030204" pitchFamily="18" charset="0"/>
                  </a:rPr>
                  <a:t>$5$</a:t>
                </a:r>
                <a:r>
                  <a:rPr sz="2400" b="0">
                    <a:solidFill>
                      <a:srgbClr val="111827"/>
                    </a:solidFill>
                    <a:latin typeface="Arial"/>
                  </a:rPr>
                  <a:t> odd numbers (</a:t>
                </a:r>
                <a:r>
                  <a:rPr lang="en-IN" sz="2400">
                    <a:solidFill>
                      <a:srgbClr val="111827"/>
                    </a:solidFill>
                    <a:latin typeface="Cambria Math" panose="02040503050406030204" pitchFamily="18" charset="0"/>
                  </a:rPr>
                  <a:t>$1,3,5,7,9$</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even numbers.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$N_1=\binom51\binom44=5$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$N_2=\binom52\binom43=10\cdot4=40$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$N_3=\binom53\binom42=10\cdot6=60$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$N_4=\binom54\binom41=5\cdot4=20$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$N_5=\binom55\binom40=1$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$=5+40+60+20+1=126$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126</a:t>
            </a:r>
            <a:endParaRPr sz="2800">
              <a:solidFill>
                <a:srgbClr val="15803D"/>
              </a:solidFil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Every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-subset has at least one odd element (only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evens exist), so the sum is simply the number of all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-subsets.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Every </a:t>
                </a:r>
                <a:r>
                  <a:rPr lang="en-IN" sz="2400">
                    <a:solidFill>
                      <a:srgbClr val="78350F"/>
                    </a:solidFill>
                    <a:latin typeface="Cambria Math" panose="02040503050406030204" pitchFamily="18" charset="0"/>
                  </a:rPr>
                  <a:t>$5$</a:t>
                </a:r>
                <a:r>
                  <a:rPr sz="2400" b="0">
                    <a:solidFill>
                      <a:srgbClr val="78350F"/>
                    </a:solidFill>
                    <a:latin typeface="Arial"/>
                  </a:rPr>
                  <a:t>-subset has at least one odd element (only </a:t>
                </a:r>
                <a:r>
                  <a:rPr lang="en-IN" sz="2400">
                    <a:solidFill>
                      <a:srgbClr val="78350F"/>
                    </a:solidFill>
                    <a:latin typeface="Cambria Math" panose="02040503050406030204" pitchFamily="18" charset="0"/>
                  </a:rPr>
                  <a:t>$4$</a:t>
                </a:r>
                <a:r>
                  <a:rPr sz="2400" b="0">
                    <a:solidFill>
                      <a:srgbClr val="78350F"/>
                    </a:solidFill>
                    <a:latin typeface="Arial"/>
                  </a:rPr>
                  <a:t> evens exist), so the sum is simply the number of all </a:t>
                </a:r>
                <a:r>
                  <a:rPr lang="en-IN" sz="2400">
                    <a:solidFill>
                      <a:srgbClr val="78350F"/>
                    </a:solidFill>
                    <a:latin typeface="Cambria Math" panose="02040503050406030204" pitchFamily="18" charset="0"/>
                  </a:rPr>
                  <a:t>$5$</a:t>
                </a:r>
                <a:r>
                  <a:rPr sz="2400" b="0">
                    <a:solidFill>
                      <a:srgbClr val="78350F"/>
                    </a:solidFill>
                    <a:latin typeface="Arial"/>
                  </a:rPr>
                  <a:t>-subsets.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cases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together cover all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-element subsets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except those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odd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subset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odd elements would need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even numbers, but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has only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cases </a:t>
                </a:r>
                <a:r>
                  <a:rPr lang="en-IN" sz="2400">
                    <a:solidFill>
                      <a:srgbClr val="111827"/>
                    </a:solidFill>
                    <a:latin typeface="Cambria Math" panose="02040503050406030204" pitchFamily="18" charset="0"/>
                  </a:rPr>
                  <a:t>$k=1,\dots,5$</a:t>
                </a:r>
                <a:r>
                  <a:rPr sz="2400" b="0">
                    <a:solidFill>
                      <a:srgbClr val="111827"/>
                    </a:solidFill>
                    <a:latin typeface="Arial"/>
                  </a:rPr>
                  <a:t> together cover all </a:t>
                </a:r>
                <a:r>
                  <a:rPr lang="en-IN" sz="2400">
                    <a:solidFill>
                      <a:srgbClr val="111827"/>
                    </a:solidFill>
                    <a:latin typeface="Cambria Math" panose="02040503050406030204" pitchFamily="18" charset="0"/>
                  </a:rPr>
                  <a:t>$5$</a:t>
                </a:r>
                <a:r>
                  <a:rPr sz="2400" b="0">
                    <a:solidFill>
                      <a:srgbClr val="111827"/>
                    </a:solidFill>
                    <a:latin typeface="Arial"/>
                  </a:rPr>
                  <a:t>-element subsets of </a:t>
                </a:r>
                <a:r>
                  <a:rPr lang="en-IN" sz="2400">
                    <a:solidFill>
                      <a:srgbClr val="111827"/>
                    </a:solidFill>
                    <a:latin typeface="Cambria Math" panose="02040503050406030204" pitchFamily="18" charset="0"/>
                  </a:rPr>
                  <a:t>$S$</a:t>
                </a:r>
                <a:r>
                  <a:rPr sz="2400" b="0">
                    <a:solidFill>
                      <a:srgbClr val="111827"/>
                    </a:solidFill>
                    <a:latin typeface="Arial"/>
                  </a:rPr>
                  <a:t> except those with </a:t>
                </a:r>
                <a:r>
                  <a:rPr lang="en-IN" sz="2400">
                    <a:solidFill>
                      <a:srgbClr val="111827"/>
                    </a:solidFill>
                    <a:latin typeface="Cambria Math" panose="02040503050406030204" pitchFamily="18" charset="0"/>
                  </a:rPr>
                  <a:t>$k=0$</a:t>
                </a:r>
                <a:r>
                  <a:rPr sz="2400" b="0">
                    <a:solidFill>
                      <a:srgbClr val="111827"/>
                    </a:solidFill>
                    <a:latin typeface="Arial"/>
                  </a:rPr>
                  <a:t> odd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subset with </a:t>
                </a:r>
                <a:r>
                  <a:rPr lang="en-IN" sz="2400">
                    <a:solidFill>
                      <a:srgbClr val="111827"/>
                    </a:solidFill>
                    <a:latin typeface="Cambria Math" panose="02040503050406030204" pitchFamily="18" charset="0"/>
                  </a:rPr>
                  <a:t>$0$</a:t>
                </a:r>
                <a:r>
                  <a:rPr sz="2400" b="0">
                    <a:solidFill>
                      <a:srgbClr val="111827"/>
                    </a:solidFill>
                    <a:latin typeface="Arial"/>
                  </a:rPr>
                  <a:t> odd elements would need </a:t>
                </a:r>
                <a:r>
                  <a:rPr lang="en-IN" sz="2400">
                    <a:solidFill>
                      <a:srgbClr val="111827"/>
                    </a:solidFill>
                    <a:latin typeface="Cambria Math" panose="02040503050406030204" pitchFamily="18" charset="0"/>
                  </a:rPr>
                  <a:t>$5$</a:t>
                </a:r>
                <a:r>
                  <a:rPr sz="2400" b="0">
                    <a:solidFill>
                      <a:srgbClr val="111827"/>
                    </a:solidFill>
                    <a:latin typeface="Arial"/>
                  </a:rPr>
                  <a:t> even numbers, but </a:t>
                </a:r>
                <a:r>
                  <a:rPr lang="en-IN" sz="2400">
                    <a:solidFill>
                      <a:srgbClr val="111827"/>
                    </a:solidFill>
                    <a:latin typeface="Cambria Math" panose="02040503050406030204" pitchFamily="18" charset="0"/>
                  </a:rPr>
                  <a:t>$S$</a:t>
                </a:r>
                <a:r>
                  <a:rPr sz="2400" b="0">
                    <a:solidFill>
                      <a:srgbClr val="111827"/>
                    </a:solidFill>
                    <a:latin typeface="Arial"/>
                  </a:rPr>
                  <a:t> has only </a:t>
                </a:r>
                <a:r>
                  <a:rPr lang="en-IN" sz="2400">
                    <a:solidFill>
                      <a:srgbClr val="111827"/>
                    </a:solidFill>
                    <a:latin typeface="Cambria Math" panose="02040503050406030204" pitchFamily="18" charset="0"/>
                  </a:rPr>
                  <a:t>$4$</a:t>
                </a:r>
                <a:r>
                  <a:rPr sz="2400" b="0">
                    <a:solidFill>
                      <a:srgbClr val="111827"/>
                    </a:solidFill>
                    <a:latin typeface="Arial"/>
                  </a:rPr>
                  <a:t>; so </a:t>
                </a:r>
                <a:r>
                  <a:rPr lang="en-IN" sz="2400">
                    <a:solidFill>
                      <a:srgbClr val="111827"/>
                    </a:solidFill>
                    <a:latin typeface="Cambria Math" panose="02040503050406030204" pitchFamily="18" charset="0"/>
                  </a:rPr>
                  <a:t>$N_0=0$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$N_1+\dots+N_5=\binom{9}{5}=126$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126</a:t>
            </a:r>
            <a:endParaRPr sz="2800">
              <a:solidFill>
                <a:srgbClr val="15803D"/>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here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summed over all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whether a case is impossible by pigeonhole (here </a:t>
                </a:r>
                <a14:m>
                  <m:oMath xmlns:m="http://schemas.openxmlformats.org/officeDocument/2006/math">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before summing.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 is also the number of ways to choose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items to leave out.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r>
                  <a:rPr lang="en-IN" sz="2400">
                    <a:solidFill>
                      <a:srgbClr val="111827"/>
                    </a:solidFill>
                    <a:latin typeface="Cambria Math" panose="02040503050406030204" pitchFamily="18" charset="0"/>
                  </a:rPr>
                  <a:t>$\sum_k\binom{p}{k}\binom{q}{r-k}=\binom{p+q}{r}$</a:t>
                </a:r>
                <a:r>
                  <a:rPr sz="2400" b="0">
                    <a:solidFill>
                      <a:srgbClr val="111827"/>
                    </a:solidFill>
                    <a:latin typeface="Arial"/>
                  </a:rPr>
                  <a:t>; here </a:t>
                </a:r>
                <a:r>
                  <a:rPr lang="en-IN" sz="2400">
                    <a:solidFill>
                      <a:srgbClr val="111827"/>
                    </a:solidFill>
                    <a:latin typeface="Cambria Math" panose="02040503050406030204" pitchFamily="18" charset="0"/>
                  </a:rPr>
                  <a:t>$\binom{5}{k}\binom{4}{5-k}$</a:t>
                </a:r>
                <a:r>
                  <a:rPr sz="2400" b="0">
                    <a:solidFill>
                      <a:srgbClr val="111827"/>
                    </a:solidFill>
                    <a:latin typeface="Arial"/>
                  </a:rPr>
                  <a:t> summed over all </a:t>
                </a:r>
                <a:r>
                  <a:rPr lang="en-IN" sz="2400">
                    <a:solidFill>
                      <a:srgbClr val="111827"/>
                    </a:solidFill>
                    <a:latin typeface="Cambria Math" panose="02040503050406030204" pitchFamily="18" charset="0"/>
                  </a:rPr>
                  <a:t>$k$</a:t>
                </a:r>
                <a:r>
                  <a:rPr sz="2400" b="0">
                    <a:solidFill>
                      <a:srgbClr val="111827"/>
                    </a:solidFill>
                    <a:latin typeface="Arial"/>
                  </a:rPr>
                  <a:t> is </a:t>
                </a:r>
                <a:r>
                  <a:rPr lang="en-IN" sz="2400">
                    <a:solidFill>
                      <a:srgbClr val="111827"/>
                    </a:solidFill>
                    <a:latin typeface="Cambria Math" panose="02040503050406030204" pitchFamily="18" charset="0"/>
                  </a:rPr>
                  <a:t>$\binom95$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whether a case is impossible by pigeonhole (here </a:t>
                </a:r>
                <a:r>
                  <a:rPr lang="en-IN" sz="2400">
                    <a:solidFill>
                      <a:srgbClr val="111827"/>
                    </a:solidFill>
                    <a:latin typeface="Cambria Math" panose="02040503050406030204" pitchFamily="18" charset="0"/>
                  </a:rPr>
                  <a:t>$N_0=0$</a:t>
                </a:r>
                <a:r>
                  <a:rPr sz="2400" b="0">
                    <a:solidFill>
                      <a:srgbClr val="111827"/>
                    </a:solidFill>
                    <a:latin typeface="Arial"/>
                  </a:rPr>
                  <a:t>) before summing.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$\binom{9}{5}=\binom{9}{4}=126$</a:t>
                </a:r>
                <a:r>
                  <a:rPr sz="2400" b="0">
                    <a:solidFill>
                      <a:srgbClr val="111827"/>
                    </a:solidFill>
                    <a:latin typeface="Arial"/>
                  </a:rPr>
                  <a:t> is also the number of ways to choose </a:t>
                </a:r>
                <a:r>
                  <a:rPr lang="en-IN" sz="2400">
                    <a:solidFill>
                      <a:srgbClr val="111827"/>
                    </a:solidFill>
                    <a:latin typeface="Cambria Math" panose="02040503050406030204" pitchFamily="18" charset="0"/>
                  </a:rPr>
                  <a:t>$4$</a:t>
                </a:r>
                <a:r>
                  <a:rPr sz="2400" b="0">
                    <a:solidFill>
                      <a:srgbClr val="111827"/>
                    </a:solidFill>
                    <a:latin typeface="Arial"/>
                  </a:rPr>
                  <a:t> items to leave out.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Q10 – Q11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Words of length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are formed using the letters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𝐽</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be the number of such words where no letter is repeated; and let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be the number of such words where exactly one letter is repeated twice and no other letter is repeated.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______. [JEE (Adv) 2017]</a:t>
                </a:r>
                <a:endParaRPr sz="2400">
                  <a:solidFill>
                    <a:srgbClr val="111827"/>
                  </a:solidFill>
                </a:endParaRPr>
              </a:p>
            </p:txBody>
          </p:sp>
        </mc:Choice>
        <mc:Fallback>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Words of length </a:t>
                </a:r>
                <a:r>
                  <a:rPr lang="en-IN" sz="2400">
                    <a:solidFill>
                      <a:srgbClr val="111827"/>
                    </a:solidFill>
                    <a:latin typeface="Cambria Math" panose="02040503050406030204" pitchFamily="18" charset="0"/>
                  </a:rPr>
                  <a:t>$10$</a:t>
                </a:r>
                <a:r>
                  <a:rPr sz="2400" b="0">
                    <a:solidFill>
                      <a:srgbClr val="111827"/>
                    </a:solidFill>
                    <a:latin typeface="Arial"/>
                  </a:rPr>
                  <a:t> are formed using the letters </a:t>
                </a:r>
                <a:r>
                  <a:rPr lang="en-IN" sz="2400">
                    <a:solidFill>
                      <a:srgbClr val="111827"/>
                    </a:solidFill>
                    <a:latin typeface="Cambria Math" panose="02040503050406030204" pitchFamily="18" charset="0"/>
                  </a:rPr>
                  <a:t>$A,B,C,D,E,F,G,H,I,J$</a:t>
                </a:r>
                <a:r>
                  <a:rPr sz="2400" b="0">
                    <a:solidFill>
                      <a:srgbClr val="111827"/>
                    </a:solidFill>
                    <a:latin typeface="Arial"/>
                  </a:rPr>
                  <a:t>. Let </a:t>
                </a:r>
                <a:r>
                  <a:rPr lang="en-IN" sz="2400">
                    <a:solidFill>
                      <a:srgbClr val="111827"/>
                    </a:solidFill>
                    <a:latin typeface="Cambria Math" panose="02040503050406030204" pitchFamily="18" charset="0"/>
                  </a:rPr>
                  <a:t>$x$</a:t>
                </a:r>
                <a:r>
                  <a:rPr sz="2400" b="0">
                    <a:solidFill>
                      <a:srgbClr val="111827"/>
                    </a:solidFill>
                    <a:latin typeface="Arial"/>
                  </a:rPr>
                  <a:t> be the number of such words where no letter is repeated; and let </a:t>
                </a:r>
                <a:r>
                  <a:rPr lang="en-IN" sz="2400">
                    <a:solidFill>
                      <a:srgbClr val="111827"/>
                    </a:solidFill>
                    <a:latin typeface="Cambria Math" panose="02040503050406030204" pitchFamily="18" charset="0"/>
                  </a:rPr>
                  <a:t>$y$</a:t>
                </a:r>
                <a:r>
                  <a:rPr sz="2400" b="0">
                    <a:solidFill>
                      <a:srgbClr val="111827"/>
                    </a:solidFill>
                    <a:latin typeface="Arial"/>
                  </a:rPr>
                  <a:t> be the number of such words where exactly one letter is repeated twice and no other letter is repeated. Then </a:t>
                </a:r>
                <a:r>
                  <a:rPr lang="en-IN" sz="2400">
                    <a:solidFill>
                      <a:srgbClr val="111827"/>
                    </a:solidFill>
                    <a:latin typeface="Cambria Math" panose="02040503050406030204" pitchFamily="18" charset="0"/>
                  </a:rPr>
                  <a:t>$\frac{y}{9x}=$</a:t>
                </a:r>
                <a:r>
                  <a:rPr sz="2400" b="0">
                    <a:solidFill>
                      <a:srgbClr val="111827"/>
                    </a:solidFill>
                    <a:latin typeface="Arial"/>
                  </a:rPr>
                  <a:t> ______. [JEE (Adv) 2017]</a:t>
                </a:r>
                <a:endParaRPr sz="2400">
                  <a:solidFill>
                    <a:srgbClr val="111827"/>
                  </a:solidFill>
                </a:endParaRPr>
              </a:p>
            </p:txBody>
          </p:sp>
        </mc:Fallback>
      </mc:AlternateContent>
      <p:sp>
        <p:nvSpPr>
          <p:cNvPr id="5" name="Rectangle 4"/>
          <p:cNvSpPr/>
          <p:nvPr/>
        </p:nvSpPr>
        <p:spPr>
          <a:xfrm>
            <a:off x="731520" y="3998467"/>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of letters with repetition, Selection of repeated letters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word with exactly one letter repeated twice omits exactly one letter, so count (repeated letter, omitted letter) and arrange.</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 letter repeated: all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letters used,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one letter repeated twice, no other repeated: choose the repeated letter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den>
                        </m:f>
                      </m:e>
                    </m:d>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other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distinct letters come from the remaining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letters: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 letter repeated: all </a:t>
                </a:r>
                <a:r>
                  <a:rPr lang="en-IN" sz="2400">
                    <a:solidFill>
                      <a:srgbClr val="111827"/>
                    </a:solidFill>
                    <a:latin typeface="Cambria Math" panose="02040503050406030204" pitchFamily="18" charset="0"/>
                  </a:rPr>
                  <a:t>$10$</a:t>
                </a:r>
                <a:r>
                  <a:rPr sz="2400" b="0">
                    <a:solidFill>
                      <a:srgbClr val="111827"/>
                    </a:solidFill>
                    <a:latin typeface="Arial"/>
                  </a:rPr>
                  <a:t> letters used, so </a:t>
                </a:r>
                <a:r>
                  <a:rPr lang="en-IN" sz="2400">
                    <a:solidFill>
                      <a:srgbClr val="111827"/>
                    </a:solidFill>
                    <a:latin typeface="Cambria Math" panose="02040503050406030204" pitchFamily="18" charset="0"/>
                  </a:rPr>
                  <a:t>$x=10!$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one letter repeated twice, no other repeated: choose the repeated letter in </a:t>
                </a:r>
                <a:r>
                  <a:rPr lang="en-IN" sz="2400">
                    <a:solidFill>
                      <a:srgbClr val="111827"/>
                    </a:solidFill>
                    <a:latin typeface="Cambria Math" panose="02040503050406030204" pitchFamily="18" charset="0"/>
                  </a:rPr>
                  <a:t>$\binom{10}{1}$</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other </a:t>
                </a:r>
                <a:r>
                  <a:rPr lang="en-IN" sz="2400">
                    <a:solidFill>
                      <a:srgbClr val="111827"/>
                    </a:solidFill>
                    <a:latin typeface="Cambria Math" panose="02040503050406030204" pitchFamily="18" charset="0"/>
                  </a:rPr>
                  <a:t>$8$</a:t>
                </a:r>
                <a:r>
                  <a:rPr sz="2400" b="0">
                    <a:solidFill>
                      <a:srgbClr val="111827"/>
                    </a:solidFill>
                    <a:latin typeface="Arial"/>
                  </a:rPr>
                  <a:t> distinct letters come from the remaining </a:t>
                </a:r>
                <a:r>
                  <a:rPr lang="en-IN" sz="2400">
                    <a:solidFill>
                      <a:srgbClr val="111827"/>
                    </a:solidFill>
                    <a:latin typeface="Cambria Math" panose="02040503050406030204" pitchFamily="18" charset="0"/>
                  </a:rPr>
                  <a:t>$9$</a:t>
                </a:r>
                <a:r>
                  <a:rPr sz="2400" b="0">
                    <a:solidFill>
                      <a:srgbClr val="111827"/>
                    </a:solidFill>
                    <a:latin typeface="Arial"/>
                  </a:rPr>
                  <a:t> letters: </a:t>
                </a:r>
                <a:r>
                  <a:rPr lang="en-IN" sz="2400">
                    <a:solidFill>
                      <a:srgbClr val="111827"/>
                    </a:solidFill>
                    <a:latin typeface="Cambria Math" panose="02040503050406030204" pitchFamily="18" charset="0"/>
                  </a:rPr>
                  <a:t>$\binom{9}{8}$</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these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letters (one of them appears twice):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these </a:t>
                </a:r>
                <a:r>
                  <a:rPr lang="en-IN" sz="2400">
                    <a:solidFill>
                      <a:srgbClr val="111827"/>
                    </a:solidFill>
                    <a:latin typeface="Cambria Math" panose="02040503050406030204" pitchFamily="18" charset="0"/>
                  </a:rPr>
                  <a:t>$10$</a:t>
                </a:r>
                <a:r>
                  <a:rPr sz="2400" b="0">
                    <a:solidFill>
                      <a:srgbClr val="111827"/>
                    </a:solidFill>
                    <a:latin typeface="Arial"/>
                  </a:rPr>
                  <a:t> letters (one of them appears twice): </a:t>
                </a:r>
                <a:r>
                  <a:rPr lang="en-IN" sz="2400">
                    <a:solidFill>
                      <a:srgbClr val="111827"/>
                    </a:solidFill>
                    <a:latin typeface="Cambria Math" panose="02040503050406030204" pitchFamily="18" charset="0"/>
                  </a:rPr>
                  <a:t>$\frac{10!}{2!}$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$y=\binom{10}{1}\binom{9}{8}\frac{10!}{2}=10\cdot9\cdot\frac{10!}{2}=45\cdot10!$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$\frac{y}{9x}=\frac{45\cdot10!}{9\cdot10!}=5$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by multisets: a valid multiset is fixed by the letter doubled and the letter left out; every multiset has the same number of arrangements.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multiset has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letters: one letter twice,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letters once, so exactly one letter of the alphabet is missing.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missing letter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ways) and the doubled letter among the other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ways): </a:t>
                </a:r>
                <a14:m>
                  <m:oMath xmlns:m="http://schemas.openxmlformats.org/officeDocument/2006/math">
                    <m:r>
                      <a:rPr lang="en-IN" sz="2400" i="1">
                        <a:solidFill>
                          <a:srgbClr val="111827"/>
                        </a:solidFill>
                        <a:latin typeface="Cambria Math" panose="02040503050406030204" pitchFamily="18" charset="0"/>
                      </a:rPr>
                      <m:t>90</m:t>
                    </m:r>
                  </m:oMath>
                </a14:m>
                <a:r>
                  <a:rPr sz="2400" b="0">
                    <a:solidFill>
                      <a:srgbClr val="111827"/>
                    </a:solidFill>
                    <a:latin typeface="Arial"/>
                  </a:rPr>
                  <a:t> multisets.</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multiset has </a:t>
                </a:r>
                <a:r>
                  <a:rPr lang="en-IN" sz="2400">
                    <a:solidFill>
                      <a:srgbClr val="111827"/>
                    </a:solidFill>
                    <a:latin typeface="Cambria Math" panose="02040503050406030204" pitchFamily="18" charset="0"/>
                  </a:rPr>
                  <a:t>$10$</a:t>
                </a:r>
                <a:r>
                  <a:rPr sz="2400" b="0">
                    <a:solidFill>
                      <a:srgbClr val="111827"/>
                    </a:solidFill>
                    <a:latin typeface="Arial"/>
                  </a:rPr>
                  <a:t> letters: one letter twice, </a:t>
                </a:r>
                <a:r>
                  <a:rPr lang="en-IN" sz="2400">
                    <a:solidFill>
                      <a:srgbClr val="111827"/>
                    </a:solidFill>
                    <a:latin typeface="Cambria Math" panose="02040503050406030204" pitchFamily="18" charset="0"/>
                  </a:rPr>
                  <a:t>$8$</a:t>
                </a:r>
                <a:r>
                  <a:rPr sz="2400" b="0">
                    <a:solidFill>
                      <a:srgbClr val="111827"/>
                    </a:solidFill>
                    <a:latin typeface="Arial"/>
                  </a:rPr>
                  <a:t> letters once, so exactly one letter of the alphabet is missing.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missing letter (</a:t>
                </a:r>
                <a:r>
                  <a:rPr lang="en-IN" sz="2400">
                    <a:solidFill>
                      <a:srgbClr val="111827"/>
                    </a:solidFill>
                    <a:latin typeface="Cambria Math" panose="02040503050406030204" pitchFamily="18" charset="0"/>
                  </a:rPr>
                  <a:t>$10$</a:t>
                </a:r>
                <a:r>
                  <a:rPr sz="2400" b="0">
                    <a:solidFill>
                      <a:srgbClr val="111827"/>
                    </a:solidFill>
                    <a:latin typeface="Arial"/>
                  </a:rPr>
                  <a:t> ways) and the doubled letter among the other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$9$</a:t>
                </a:r>
                <a:r>
                  <a:rPr sz="2400" b="0">
                    <a:solidFill>
                      <a:srgbClr val="111827"/>
                    </a:solidFill>
                    <a:latin typeface="Arial"/>
                  </a:rPr>
                  <a:t> ways): </a:t>
                </a:r>
                <a:r>
                  <a:rPr lang="en-IN" sz="2400">
                    <a:solidFill>
                      <a:srgbClr val="111827"/>
                    </a:solidFill>
                    <a:latin typeface="Cambria Math" panose="02040503050406030204" pitchFamily="18" charset="0"/>
                  </a:rPr>
                  <a:t>$90$</a:t>
                </a:r>
                <a:r>
                  <a:rPr sz="2400" b="0">
                    <a:solidFill>
                      <a:srgbClr val="111827"/>
                    </a:solidFill>
                    <a:latin typeface="Arial"/>
                  </a:rPr>
                  <a:t> multisets.</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multiset has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arrangements,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multiset has </a:t>
                </a:r>
                <a:r>
                  <a:rPr lang="en-IN" sz="2400">
                    <a:solidFill>
                      <a:srgbClr val="111827"/>
                    </a:solidFill>
                    <a:latin typeface="Cambria Math" panose="02040503050406030204" pitchFamily="18" charset="0"/>
                  </a:rPr>
                  <a:t>$\frac{10!}{2!}$</a:t>
                </a:r>
                <a:r>
                  <a:rPr sz="2400" b="0">
                    <a:solidFill>
                      <a:srgbClr val="111827"/>
                    </a:solidFill>
                    <a:latin typeface="Arial"/>
                  </a:rPr>
                  <a:t> arrangements, so </a:t>
                </a:r>
                <a:r>
                  <a:rPr lang="en-IN" sz="2400">
                    <a:solidFill>
                      <a:srgbClr val="111827"/>
                    </a:solidFill>
                    <a:latin typeface="Cambria Math" panose="02040503050406030204" pitchFamily="18" charset="0"/>
                  </a:rPr>
                  <a:t>$y=90\cdot\frac{10!}{2}=45\cdot10!$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$\frac{y}{9x}=\frac{45\cdot10!}{9\cdot10!}=5$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Arrangements of a multiset with repeats: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questions: cancel the common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so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general, for words of length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letters,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(here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Arrangements of a multiset with repeats: </a:t>
                </a:r>
                <a:r>
                  <a:rPr lang="en-IN" sz="2400">
                    <a:solidFill>
                      <a:srgbClr val="111827"/>
                    </a:solidFill>
                    <a:latin typeface="Cambria Math" panose="02040503050406030204" pitchFamily="18" charset="0"/>
                  </a:rPr>
                  <a:t>$\frac{n!}{n_1!n_2!\cdots}$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questions: cancel the common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$\frac{y}{x}=\frac{\binom{n}{1}\binom{n-1}{n-2}}{2}=\frac{n(n-1)}{2}=\binom n2$</a:t>
                </a:r>
                <a:r>
                  <a:rPr sz="2400" b="0">
                    <a:solidFill>
                      <a:srgbClr val="111827"/>
                    </a:solidFill>
                    <a:latin typeface="Arial"/>
                  </a:rPr>
                  <a:t>, so here </a:t>
                </a:r>
                <a:r>
                  <a:rPr lang="en-IN" sz="2400">
                    <a:solidFill>
                      <a:srgbClr val="111827"/>
                    </a:solidFill>
                    <a:latin typeface="Cambria Math" panose="02040503050406030204" pitchFamily="18" charset="0"/>
                  </a:rPr>
                  <a:t>$\frac{y}{x}=45=9\cdot5$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general, for words of length </a:t>
                </a:r>
                <a:r>
                  <a:rPr lang="en-IN" sz="2400">
                    <a:solidFill>
                      <a:srgbClr val="111827"/>
                    </a:solidFill>
                    <a:latin typeface="Cambria Math" panose="02040503050406030204" pitchFamily="18" charset="0"/>
                  </a:rPr>
                  <a:t>$n$</a:t>
                </a:r>
                <a:r>
                  <a:rPr sz="2400" b="0">
                    <a:solidFill>
                      <a:srgbClr val="111827"/>
                    </a:solidFill>
                    <a:latin typeface="Arial"/>
                  </a:rPr>
                  <a:t> from </a:t>
                </a:r>
                <a:r>
                  <a:rPr lang="en-IN" sz="2400">
                    <a:solidFill>
                      <a:srgbClr val="111827"/>
                    </a:solidFill>
                    <a:latin typeface="Cambria Math" panose="02040503050406030204" pitchFamily="18" charset="0"/>
                  </a:rPr>
                  <a:t>$n$</a:t>
                </a:r>
                <a:r>
                  <a:rPr sz="2400" b="0">
                    <a:solidFill>
                      <a:srgbClr val="111827"/>
                    </a:solidFill>
                    <a:latin typeface="Arial"/>
                  </a:rPr>
                  <a:t> letters, </a:t>
                </a:r>
                <a:r>
                  <a:rPr lang="en-IN" sz="2400">
                    <a:solidFill>
                      <a:srgbClr val="111827"/>
                    </a:solidFill>
                    <a:latin typeface="Cambria Math" panose="02040503050406030204" pitchFamily="18" charset="0"/>
                  </a:rPr>
                  <a:t>$\frac{y}{x}=\binom{n}{2}$</a:t>
                </a:r>
                <a:r>
                  <a:rPr sz="2400" b="0">
                    <a:solidFill>
                      <a:srgbClr val="111827"/>
                    </a:solidFill>
                    <a:latin typeface="Arial"/>
                  </a:rPr>
                  <a:t> (here </a:t>
                </a:r>
                <a:r>
                  <a:rPr lang="en-IN" sz="2400">
                    <a:solidFill>
                      <a:srgbClr val="111827"/>
                    </a:solidFill>
                    <a:latin typeface="Cambria Math" panose="02040503050406030204" pitchFamily="18" charset="0"/>
                  </a:rPr>
                  <a:t>$\binom{10}{2}=45$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digit numbers which are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with digits from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repetition of digits is allowed, is ______. [JEE (Adv) 2018]</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$5$</a:t>
                </a:r>
                <a:r>
                  <a:rPr sz="2400" b="0">
                    <a:solidFill>
                      <a:srgbClr val="111827"/>
                    </a:solidFill>
                    <a:latin typeface="Arial"/>
                  </a:rPr>
                  <a:t> digit numbers which are divisible by </a:t>
                </a:r>
                <a:r>
                  <a:rPr lang="en-IN" sz="2400">
                    <a:solidFill>
                      <a:srgbClr val="111827"/>
                    </a:solidFill>
                    <a:latin typeface="Cambria Math" panose="02040503050406030204" pitchFamily="18" charset="0"/>
                  </a:rPr>
                  <a:t>$4$</a:t>
                </a:r>
                <a:r>
                  <a:rPr sz="2400" b="0">
                    <a:solidFill>
                      <a:srgbClr val="111827"/>
                    </a:solidFill>
                    <a:latin typeface="Arial"/>
                  </a:rPr>
                  <a:t>, with digits from the set </a:t>
                </a:r>
                <a:r>
                  <a:rPr lang="en-IN" sz="2400">
                    <a:solidFill>
                      <a:srgbClr val="111827"/>
                    </a:solidFill>
                    <a:latin typeface="Cambria Math" panose="02040503050406030204" pitchFamily="18" charset="0"/>
                  </a:rPr>
                  <a:t>$\{1,2,3,4,5\}$</a:t>
                </a:r>
                <a:r>
                  <a:rPr sz="2400" b="0">
                    <a:solidFill>
                      <a:srgbClr val="111827"/>
                    </a:solidFill>
                    <a:latin typeface="Arial"/>
                  </a:rPr>
                  <a:t> and the repetition of digits is allowed, is ______. [JEE (Adv) 2018]</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Forming numbers with repetition allowed</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Divisibility by </a:t>
                </a:r>
                <a:r>
                  <a:rPr lang="en-IN" sz="2400">
                    <a:solidFill>
                      <a:srgbClr val="111827"/>
                    </a:solidFill>
                    <a:latin typeface="Cambria Math" panose="02040503050406030204" pitchFamily="18" charset="0"/>
                  </a:rPr>
                  <a:t>$4$</a:t>
                </a:r>
                <a:r>
                  <a:rPr sz="2400" b="0">
                    <a:solidFill>
                      <a:srgbClr val="111827"/>
                    </a:solidFill>
                    <a:latin typeface="Arial"/>
                  </a:rPr>
                  <a:t>, Forming numbers with repetition allowed</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Divisibility by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depends only on the last two digits, so list the valid endings.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Divisibility by </a:t>
                </a:r>
                <a:r>
                  <a:rPr lang="en-IN" sz="2400">
                    <a:solidFill>
                      <a:srgbClr val="78350F"/>
                    </a:solidFill>
                    <a:latin typeface="Cambria Math" panose="02040503050406030204" pitchFamily="18" charset="0"/>
                  </a:rPr>
                  <a:t>$4$</a:t>
                </a:r>
                <a:r>
                  <a:rPr sz="2400" b="0">
                    <a:solidFill>
                      <a:srgbClr val="78350F"/>
                    </a:solidFill>
                    <a:latin typeface="Arial"/>
                  </a:rPr>
                  <a:t> depends only on the last two digits, so list the valid endings.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iff its last two digits form a number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digits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the valid endings are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endings.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three digits are free: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(the PDF writes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r>
                  <a:rPr lang="en-IN" sz="2400">
                    <a:solidFill>
                      <a:srgbClr val="111827"/>
                    </a:solidFill>
                    <a:latin typeface="Cambria Math" panose="02040503050406030204" pitchFamily="18" charset="0"/>
                  </a:rPr>
                  <a:t>$4$</a:t>
                </a:r>
                <a:r>
                  <a:rPr sz="2400" b="0">
                    <a:solidFill>
                      <a:srgbClr val="111827"/>
                    </a:solidFill>
                    <a:latin typeface="Arial"/>
                  </a:rPr>
                  <a:t> iff its last two digits form a number divisible by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digits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$5$</a:t>
                </a:r>
                <a:r>
                  <a:rPr sz="2400" b="0">
                    <a:solidFill>
                      <a:srgbClr val="111827"/>
                    </a:solidFill>
                    <a:latin typeface="Arial"/>
                  </a:rPr>
                  <a:t>, the valid endings are </a:t>
                </a:r>
                <a:r>
                  <a:rPr lang="en-IN" sz="2400">
                    <a:solidFill>
                      <a:srgbClr val="111827"/>
                    </a:solidFill>
                    <a:latin typeface="Cambria Math" panose="02040503050406030204" pitchFamily="18" charset="0"/>
                  </a:rPr>
                  <a:t>$12,\ 24,\ 32,\ 44,\ 52$</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endings.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first three digits are free: </a:t>
                </a:r>
                <a:r>
                  <a:rPr lang="en-IN" sz="2400">
                    <a:solidFill>
                      <a:srgbClr val="111827"/>
                    </a:solidFill>
                    <a:latin typeface="Cambria Math" panose="02040503050406030204" pitchFamily="18" charset="0"/>
                  </a:rPr>
                  <a:t>$5\times5\times5=125$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$=125\times5=625$</a:t>
                </a:r>
                <a:r>
                  <a:rPr sz="2400" b="0">
                    <a:solidFill>
                      <a:srgbClr val="111827"/>
                    </a:solidFill>
                    <a:latin typeface="Arial"/>
                  </a:rPr>
                  <a:t> (the PDF writes </a:t>
                </a:r>
                <a:r>
                  <a:rPr lang="en-IN" sz="2400">
                    <a:solidFill>
                      <a:srgbClr val="111827"/>
                    </a:solidFill>
                    <a:latin typeface="Cambria Math" panose="02040503050406030204" pitchFamily="18" charset="0"/>
                  </a:rPr>
                  <a:t>$5\times5\times5\times5$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625</a:t>
            </a:r>
            <a:endParaRPr sz="2800">
              <a:solidFill>
                <a:srgbClr val="15803D"/>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every fixed block of the first four digits there is exactly one last digit that works.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number as </a:t>
                </a:r>
                <a14:m>
                  <m:oMath xmlns:m="http://schemas.openxmlformats.org/officeDocument/2006/math">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the number formed by the first four digits and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last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even this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which needs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odd 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needing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each of the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choices of the first four digits has exactly one valid last digit: </a:t>
                </a:r>
                <a14:m>
                  <m:oMath xmlns:m="http://schemas.openxmlformats.org/officeDocument/2006/math">
                    <m:r>
                      <a:rPr lang="en-IN" sz="2400" i="1">
                        <a:solidFill>
                          <a:srgbClr val="111827"/>
                        </a:solidFill>
                        <a:latin typeface="Cambria Math" panose="02040503050406030204" pitchFamily="18" charset="0"/>
                      </a:rPr>
                      <m:t>625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number as </a:t>
                </a:r>
                <a:r>
                  <a:rPr lang="en-IN" sz="2400">
                    <a:solidFill>
                      <a:srgbClr val="111827"/>
                    </a:solidFill>
                    <a:latin typeface="Cambria Math" panose="02040503050406030204" pitchFamily="18" charset="0"/>
                  </a:rPr>
                  <a:t>$10M+u$</a:t>
                </a:r>
                <a:r>
                  <a:rPr sz="2400" b="0">
                    <a:solidFill>
                      <a:srgbClr val="111827"/>
                    </a:solidFill>
                    <a:latin typeface="Arial"/>
                  </a:rPr>
                  <a:t> where </a:t>
                </a:r>
                <a:r>
                  <a:rPr lang="en-IN" sz="2400">
                    <a:solidFill>
                      <a:srgbClr val="111827"/>
                    </a:solidFill>
                    <a:latin typeface="Cambria Math" panose="02040503050406030204" pitchFamily="18" charset="0"/>
                  </a:rPr>
                  <a:t>$M$</a:t>
                </a:r>
                <a:r>
                  <a:rPr sz="2400" b="0">
                    <a:solidFill>
                      <a:srgbClr val="111827"/>
                    </a:solidFill>
                    <a:latin typeface="Arial"/>
                  </a:rPr>
                  <a:t> is the number formed by the first four digits and </a:t>
                </a:r>
                <a:r>
                  <a:rPr lang="en-IN" sz="2400">
                    <a:solidFill>
                      <a:srgbClr val="111827"/>
                    </a:solidFill>
                    <a:latin typeface="Cambria Math" panose="02040503050406030204" pitchFamily="18" charset="0"/>
                  </a:rPr>
                  <a:t>$u\in\{1,2,3,4,5\}$</a:t>
                </a:r>
                <a:r>
                  <a:rPr sz="2400" b="0">
                    <a:solidFill>
                      <a:srgbClr val="111827"/>
                    </a:solidFill>
                    <a:latin typeface="Arial"/>
                  </a:rPr>
                  <a:t> is the last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Modulo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$10M+u\equiv 2M+u$</a:t>
                </a:r>
                <a:r>
                  <a:rPr sz="2400" b="0">
                    <a:solidFill>
                      <a:srgbClr val="111827"/>
                    </a:solidFill>
                    <a:latin typeface="Arial"/>
                  </a:rPr>
                  <a:t>. If </a:t>
                </a:r>
                <a:r>
                  <a:rPr lang="en-IN" sz="2400">
                    <a:solidFill>
                      <a:srgbClr val="111827"/>
                    </a:solidFill>
                    <a:latin typeface="Cambria Math" panose="02040503050406030204" pitchFamily="18" charset="0"/>
                  </a:rPr>
                  <a:t>$M$</a:t>
                </a:r>
                <a:r>
                  <a:rPr sz="2400" b="0">
                    <a:solidFill>
                      <a:srgbClr val="111827"/>
                    </a:solidFill>
                    <a:latin typeface="Arial"/>
                  </a:rPr>
                  <a:t> is even this is </a:t>
                </a:r>
                <a:r>
                  <a:rPr lang="en-IN" sz="2400">
                    <a:solidFill>
                      <a:srgbClr val="111827"/>
                    </a:solidFill>
                    <a:latin typeface="Cambria Math" panose="02040503050406030204" pitchFamily="18" charset="0"/>
                  </a:rPr>
                  <a:t>$\equiv u$</a:t>
                </a:r>
                <a:r>
                  <a:rPr sz="2400" b="0">
                    <a:solidFill>
                      <a:srgbClr val="111827"/>
                    </a:solidFill>
                    <a:latin typeface="Arial"/>
                  </a:rPr>
                  <a:t>, which needs </a:t>
                </a:r>
                <a:r>
                  <a:rPr lang="en-IN" sz="2400">
                    <a:solidFill>
                      <a:srgbClr val="111827"/>
                    </a:solidFill>
                    <a:latin typeface="Cambria Math" panose="02040503050406030204" pitchFamily="18" charset="0"/>
                  </a:rPr>
                  <a:t>$u\equiv0\pmod4$</a:t>
                </a:r>
                <a:r>
                  <a:rPr sz="2400" b="0">
                    <a:solidFill>
                      <a:srgbClr val="111827"/>
                    </a:solidFill>
                    <a:latin typeface="Arial"/>
                  </a:rPr>
                  <a:t>, so </a:t>
                </a:r>
                <a:r>
                  <a:rPr lang="en-IN" sz="2400">
                    <a:solidFill>
                      <a:srgbClr val="111827"/>
                    </a:solidFill>
                    <a:latin typeface="Cambria Math" panose="02040503050406030204" pitchFamily="18" charset="0"/>
                  </a:rPr>
                  <a:t>$u=4$</a:t>
                </a:r>
                <a:r>
                  <a:rPr sz="2400" b="0">
                    <a:solidFill>
                      <a:srgbClr val="111827"/>
                    </a:solidFill>
                    <a:latin typeface="Arial"/>
                  </a:rPr>
                  <a:t>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$M$</a:t>
                </a:r>
                <a:r>
                  <a:rPr sz="2400" b="0">
                    <a:solidFill>
                      <a:srgbClr val="111827"/>
                    </a:solidFill>
                    <a:latin typeface="Arial"/>
                  </a:rPr>
                  <a:t> is odd it is </a:t>
                </a:r>
                <a:r>
                  <a:rPr lang="en-IN" sz="2400">
                    <a:solidFill>
                      <a:srgbClr val="111827"/>
                    </a:solidFill>
                    <a:latin typeface="Cambria Math" panose="02040503050406030204" pitchFamily="18" charset="0"/>
                  </a:rPr>
                  <a:t>$\equiv 2+u$</a:t>
                </a:r>
                <a:r>
                  <a:rPr sz="2400" b="0">
                    <a:solidFill>
                      <a:srgbClr val="111827"/>
                    </a:solidFill>
                    <a:latin typeface="Arial"/>
                  </a:rPr>
                  <a:t>, needing </a:t>
                </a:r>
                <a:r>
                  <a:rPr lang="en-IN" sz="2400">
                    <a:solidFill>
                      <a:srgbClr val="111827"/>
                    </a:solidFill>
                    <a:latin typeface="Cambria Math" panose="02040503050406030204" pitchFamily="18" charset="0"/>
                  </a:rPr>
                  <a:t>$u\equiv2\pmod4$</a:t>
                </a:r>
                <a:r>
                  <a:rPr sz="2400" b="0">
                    <a:solidFill>
                      <a:srgbClr val="111827"/>
                    </a:solidFill>
                    <a:latin typeface="Arial"/>
                  </a:rPr>
                  <a:t>, so </a:t>
                </a:r>
                <a:r>
                  <a:rPr lang="en-IN" sz="2400">
                    <a:solidFill>
                      <a:srgbClr val="111827"/>
                    </a:solidFill>
                    <a:latin typeface="Cambria Math" panose="02040503050406030204" pitchFamily="18" charset="0"/>
                  </a:rPr>
                  <a:t>$u=2$</a:t>
                </a:r>
                <a:r>
                  <a:rPr sz="2400" b="0">
                    <a:solidFill>
                      <a:srgbClr val="111827"/>
                    </a:solidFill>
                    <a:latin typeface="Arial"/>
                  </a:rPr>
                  <a:t>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each of the </a:t>
                </a:r>
                <a:r>
                  <a:rPr lang="en-IN" sz="2400">
                    <a:solidFill>
                      <a:srgbClr val="111827"/>
                    </a:solidFill>
                    <a:latin typeface="Cambria Math" panose="02040503050406030204" pitchFamily="18" charset="0"/>
                  </a:rPr>
                  <a:t>$5^4=625$</a:t>
                </a:r>
                <a:r>
                  <a:rPr sz="2400" b="0">
                    <a:solidFill>
                      <a:srgbClr val="111827"/>
                    </a:solidFill>
                    <a:latin typeface="Arial"/>
                  </a:rPr>
                  <a:t> choices of the first four digits has exactly one valid last digit: </a:t>
                </a:r>
                <a:r>
                  <a:rPr lang="en-IN" sz="2400">
                    <a:solidFill>
                      <a:srgbClr val="111827"/>
                    </a:solidFill>
                    <a:latin typeface="Cambria Math" panose="02040503050406030204" pitchFamily="18" charset="0"/>
                  </a:rPr>
                  <a:t>$625$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625</a:t>
            </a:r>
            <a:endParaRPr sz="2800">
              <a:solidFill>
                <a:srgbClr val="15803D"/>
              </a:solidFil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iff its last two digits are, by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iff its last three are, by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iff its last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digits are.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Reducing </a:t>
                </a:r>
                <a14:m>
                  <m:oMath xmlns:m="http://schemas.openxmlformats.org/officeDocument/2006/math">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shows the last digit must be even; its choice is then forced by the parity of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available last digits form a complete residue system for the relevant modulus, exactly one of them works for each prefix.</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r>
                  <a:rPr lang="en-IN" sz="2400">
                    <a:solidFill>
                      <a:srgbClr val="111827"/>
                    </a:solidFill>
                    <a:latin typeface="Cambria Math" panose="02040503050406030204" pitchFamily="18" charset="0"/>
                  </a:rPr>
                  <a:t>$4$</a:t>
                </a:r>
                <a:r>
                  <a:rPr sz="2400" b="0">
                    <a:solidFill>
                      <a:srgbClr val="111827"/>
                    </a:solidFill>
                    <a:latin typeface="Arial"/>
                  </a:rPr>
                  <a:t> iff its last two digits are, by </a:t>
                </a:r>
                <a:r>
                  <a:rPr lang="en-IN" sz="2400">
                    <a:solidFill>
                      <a:srgbClr val="111827"/>
                    </a:solidFill>
                    <a:latin typeface="Cambria Math" panose="02040503050406030204" pitchFamily="18" charset="0"/>
                  </a:rPr>
                  <a:t>$8$</a:t>
                </a:r>
                <a:r>
                  <a:rPr sz="2400" b="0">
                    <a:solidFill>
                      <a:srgbClr val="111827"/>
                    </a:solidFill>
                    <a:latin typeface="Arial"/>
                  </a:rPr>
                  <a:t> iff its last three are, by </a:t>
                </a:r>
                <a:r>
                  <a:rPr lang="en-IN" sz="2400">
                    <a:solidFill>
                      <a:srgbClr val="111827"/>
                    </a:solidFill>
                    <a:latin typeface="Cambria Math" panose="02040503050406030204" pitchFamily="18" charset="0"/>
                  </a:rPr>
                  <a:t>$2^k$</a:t>
                </a:r>
                <a:r>
                  <a:rPr sz="2400" b="0">
                    <a:solidFill>
                      <a:srgbClr val="111827"/>
                    </a:solidFill>
                    <a:latin typeface="Arial"/>
                  </a:rPr>
                  <a:t> iff its last </a:t>
                </a:r>
                <a:r>
                  <a:rPr lang="en-IN" sz="2400">
                    <a:solidFill>
                      <a:srgbClr val="111827"/>
                    </a:solidFill>
                    <a:latin typeface="Cambria Math" panose="02040503050406030204" pitchFamily="18" charset="0"/>
                  </a:rPr>
                  <a:t>$k$</a:t>
                </a:r>
                <a:r>
                  <a:rPr sz="2400" b="0">
                    <a:solidFill>
                      <a:srgbClr val="111827"/>
                    </a:solidFill>
                    <a:latin typeface="Arial"/>
                  </a:rPr>
                  <a:t> digits are.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Reducing </a:t>
                </a:r>
                <a:r>
                  <a:rPr lang="en-IN" sz="2400">
                    <a:solidFill>
                      <a:srgbClr val="111827"/>
                    </a:solidFill>
                    <a:latin typeface="Cambria Math" panose="02040503050406030204" pitchFamily="18" charset="0"/>
                  </a:rPr>
                  <a:t>$10M+u$</a:t>
                </a:r>
                <a:r>
                  <a:rPr sz="2400" b="0">
                    <a:solidFill>
                      <a:srgbClr val="111827"/>
                    </a:solidFill>
                    <a:latin typeface="Arial"/>
                  </a:rPr>
                  <a:t> modulo </a:t>
                </a:r>
                <a:r>
                  <a:rPr lang="en-IN" sz="2400">
                    <a:solidFill>
                      <a:srgbClr val="111827"/>
                    </a:solidFill>
                    <a:latin typeface="Cambria Math" panose="02040503050406030204" pitchFamily="18" charset="0"/>
                  </a:rPr>
                  <a:t>$4$</a:t>
                </a:r>
                <a:r>
                  <a:rPr sz="2400" b="0">
                    <a:solidFill>
                      <a:srgbClr val="111827"/>
                    </a:solidFill>
                    <a:latin typeface="Arial"/>
                  </a:rPr>
                  <a:t> to </a:t>
                </a:r>
                <a:r>
                  <a:rPr lang="en-IN" sz="2400">
                    <a:solidFill>
                      <a:srgbClr val="111827"/>
                    </a:solidFill>
                    <a:latin typeface="Cambria Math" panose="02040503050406030204" pitchFamily="18" charset="0"/>
                  </a:rPr>
                  <a:t>$2M+u$</a:t>
                </a:r>
                <a:r>
                  <a:rPr sz="2400" b="0">
                    <a:solidFill>
                      <a:srgbClr val="111827"/>
                    </a:solidFill>
                    <a:latin typeface="Arial"/>
                  </a:rPr>
                  <a:t> shows the last digit must be even; its choice is then forced by the parity of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available last digits form a complete residue system for the relevant modulus, exactly one of them works for each prefix.</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Matching List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8666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In a high school, a committee has to be formed from a group of </a:t>
                </a:r>
                <a14:m>
                  <m:oMath xmlns:m="http://schemas.openxmlformats.org/officeDocument/2006/math">
                    <m:r>
                      <a:rPr lang="en-IN" sz="2000" i="1">
                        <a:solidFill>
                          <a:srgbClr val="111827"/>
                        </a:solidFill>
                        <a:latin typeface="Cambria Math" panose="02040503050406030204" pitchFamily="18" charset="0"/>
                      </a:rPr>
                      <m:t>6</m:t>
                    </m:r>
                  </m:oMath>
                </a14:m>
                <a:r>
                  <a:rPr sz="2000" b="0">
                    <a:solidFill>
                      <a:srgbClr val="111827"/>
                    </a:solidFill>
                    <a:latin typeface="Arial"/>
                  </a:rPr>
                  <a:t> boys </a:t>
                </a:r>
                <a14:m>
                  <m:oMath xmlns:m="http://schemas.openxmlformats.org/officeDocument/2006/math">
                    <m:sSub>
                      <m:e>
                        <m:r>
                          <a:rPr lang="en-IN" sz="2000" i="1">
                            <a:solidFill>
                              <a:srgbClr val="111827"/>
                            </a:solidFill>
                            <a:latin typeface="Cambria Math" panose="02040503050406030204" pitchFamily="18" charset="0"/>
                          </a:rPr>
                          <m:t>𝑀</m:t>
                        </m:r>
                      </m:e>
                      <m:sub>
                        <m:r>
                          <a:rPr lang="en-IN" sz="2000" i="1">
                            <a:solidFill>
                              <a:srgbClr val="111827"/>
                            </a:solidFill>
                            <a:latin typeface="Cambria Math" panose="02040503050406030204" pitchFamily="18" charset="0"/>
                          </a:rPr>
                          <m:t>1</m:t>
                        </m:r>
                      </m:sub>
                    </m:sSub>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sSub>
                      <m:e>
                        <m:r>
                          <a:rPr lang="en-IN" sz="2000" i="1">
                            <a:solidFill>
                              <a:srgbClr val="111827"/>
                            </a:solidFill>
                            <a:latin typeface="Cambria Math" panose="02040503050406030204" pitchFamily="18" charset="0"/>
                          </a:rPr>
                          <m:t>𝑀</m:t>
                        </m:r>
                      </m:e>
                      <m:sub>
                        <m:r>
                          <a:rPr lang="en-IN" sz="2000" i="1">
                            <a:solidFill>
                              <a:srgbClr val="111827"/>
                            </a:solidFill>
                            <a:latin typeface="Cambria Math" panose="02040503050406030204" pitchFamily="18" charset="0"/>
                          </a:rPr>
                          <m:t>6</m:t>
                        </m:r>
                      </m:sub>
                    </m:sSub>
                  </m:oMath>
                </a14:m>
                <a:r>
                  <a:rPr sz="2000" b="0">
                    <a:solidFill>
                      <a:srgbClr val="111827"/>
                    </a:solidFill>
                    <a:latin typeface="Arial"/>
                  </a:rPr>
                  <a:t> and </a:t>
                </a:r>
                <a14:m>
                  <m:oMath xmlns:m="http://schemas.openxmlformats.org/officeDocument/2006/math">
                    <m:r>
                      <a:rPr lang="en-IN" sz="2000" i="1">
                        <a:solidFill>
                          <a:srgbClr val="111827"/>
                        </a:solidFill>
                        <a:latin typeface="Cambria Math" panose="02040503050406030204" pitchFamily="18" charset="0"/>
                      </a:rPr>
                      <m:t>5</m:t>
                    </m:r>
                  </m:oMath>
                </a14:m>
                <a:r>
                  <a:rPr sz="2000" b="0">
                    <a:solidFill>
                      <a:srgbClr val="111827"/>
                    </a:solidFill>
                    <a:latin typeface="Arial"/>
                  </a:rPr>
                  <a:t> girls </a:t>
                </a:r>
                <a14:m>
                  <m:oMath xmlns:m="http://schemas.openxmlformats.org/officeDocument/2006/math">
                    <m:sSub>
                      <m:e>
                        <m:r>
                          <a:rPr lang="en-IN" sz="2000" i="1">
                            <a:solidFill>
                              <a:srgbClr val="111827"/>
                            </a:solidFill>
                            <a:latin typeface="Cambria Math" panose="02040503050406030204" pitchFamily="18" charset="0"/>
                          </a:rPr>
                          <m:t>𝐺</m:t>
                        </m:r>
                      </m:e>
                      <m:sub>
                        <m:r>
                          <a:rPr lang="en-IN" sz="2000" i="1">
                            <a:solidFill>
                              <a:srgbClr val="111827"/>
                            </a:solidFill>
                            <a:latin typeface="Cambria Math" panose="02040503050406030204" pitchFamily="18" charset="0"/>
                          </a:rPr>
                          <m:t>1</m:t>
                        </m:r>
                      </m:sub>
                    </m:sSub>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sSub>
                      <m:e>
                        <m:r>
                          <a:rPr lang="en-IN" sz="2000" i="1">
                            <a:solidFill>
                              <a:srgbClr val="111827"/>
                            </a:solidFill>
                            <a:latin typeface="Cambria Math" panose="02040503050406030204" pitchFamily="18" charset="0"/>
                          </a:rPr>
                          <m:t>𝐺</m:t>
                        </m:r>
                      </m:e>
                      <m:sub>
                        <m:r>
                          <a:rPr lang="en-IN" sz="2000" i="1">
                            <a:solidFill>
                              <a:srgbClr val="111827"/>
                            </a:solidFill>
                            <a:latin typeface="Cambria Math" panose="02040503050406030204" pitchFamily="18" charset="0"/>
                          </a:rPr>
                          <m:t>5</m:t>
                        </m:r>
                      </m:sub>
                    </m:sSub>
                  </m:oMath>
                </a14:m>
                <a:r>
                  <a:rPr sz="2000" b="0">
                    <a:solidFill>
                      <a:srgbClr val="111827"/>
                    </a:solidFill>
                    <a:latin typeface="Arial"/>
                  </a:rPr>
                  <a:t>. (i) </a:t>
                </a:r>
                <a14:m>
                  <m:oMath xmlns:m="http://schemas.openxmlformats.org/officeDocument/2006/math">
                    <m:sSub>
                      <m:e>
                        <m:r>
                          <a:rPr lang="en-IN" sz="2000" i="1">
                            <a:solidFill>
                              <a:srgbClr val="111827"/>
                            </a:solidFill>
                            <a:latin typeface="Cambria Math" panose="02040503050406030204" pitchFamily="18" charset="0"/>
                          </a:rPr>
                          <m:t>α</m:t>
                        </m:r>
                      </m:e>
                      <m:sub>
                        <m:r>
                          <a:rPr lang="en-IN" sz="2000" i="1">
                            <a:solidFill>
                              <a:srgbClr val="111827"/>
                            </a:solidFill>
                            <a:latin typeface="Cambria Math" panose="02040503050406030204" pitchFamily="18" charset="0"/>
                          </a:rPr>
                          <m:t>1</m:t>
                        </m:r>
                      </m:sub>
                    </m:sSub>
                  </m:oMath>
                </a14:m>
                <a:r>
                  <a:rPr sz="2000" b="0">
                    <a:solidFill>
                      <a:srgbClr val="111827"/>
                    </a:solidFill>
                    <a:latin typeface="Arial"/>
                  </a:rPr>
                  <a:t>: committees of </a:t>
                </a:r>
                <a14:m>
                  <m:oMath xmlns:m="http://schemas.openxmlformats.org/officeDocument/2006/math">
                    <m:r>
                      <a:rPr lang="en-IN" sz="2000" i="1">
                        <a:solidFill>
                          <a:srgbClr val="111827"/>
                        </a:solidFill>
                        <a:latin typeface="Cambria Math" panose="02040503050406030204" pitchFamily="18" charset="0"/>
                      </a:rPr>
                      <m:t>5</m:t>
                    </m:r>
                  </m:oMath>
                </a14:m>
                <a:r>
                  <a:rPr sz="2000" b="0">
                    <a:solidFill>
                      <a:srgbClr val="111827"/>
                    </a:solidFill>
                    <a:latin typeface="Arial"/>
                  </a:rPr>
                  <a:t> members with exactly </a:t>
                </a:r>
                <a14:m>
                  <m:oMath xmlns:m="http://schemas.openxmlformats.org/officeDocument/2006/math">
                    <m:r>
                      <a:rPr lang="en-IN" sz="2000" i="1">
                        <a:solidFill>
                          <a:srgbClr val="111827"/>
                        </a:solidFill>
                        <a:latin typeface="Cambria Math" panose="02040503050406030204" pitchFamily="18" charset="0"/>
                      </a:rPr>
                      <m:t>3</m:t>
                    </m:r>
                  </m:oMath>
                </a14:m>
                <a:r>
                  <a:rPr sz="2000" b="0">
                    <a:solidFill>
                      <a:srgbClr val="111827"/>
                    </a:solidFill>
                    <a:latin typeface="Arial"/>
                  </a:rPr>
                  <a:t> boys and </a:t>
                </a:r>
                <a14:m>
                  <m:oMath xmlns:m="http://schemas.openxmlformats.org/officeDocument/2006/math">
                    <m:r>
                      <a:rPr lang="en-IN" sz="2000" i="1">
                        <a:solidFill>
                          <a:srgbClr val="111827"/>
                        </a:solidFill>
                        <a:latin typeface="Cambria Math" panose="02040503050406030204" pitchFamily="18" charset="0"/>
                      </a:rPr>
                      <m:t>2</m:t>
                    </m:r>
                  </m:oMath>
                </a14:m>
                <a:r>
                  <a:rPr sz="2000" b="0">
                    <a:solidFill>
                      <a:srgbClr val="111827"/>
                    </a:solidFill>
                    <a:latin typeface="Arial"/>
                  </a:rPr>
                  <a:t> girls. (ii) </a:t>
                </a:r>
                <a14:m>
                  <m:oMath xmlns:m="http://schemas.openxmlformats.org/officeDocument/2006/math">
                    <m:sSub>
                      <m:e>
                        <m:r>
                          <a:rPr lang="en-IN" sz="2000" i="1">
                            <a:solidFill>
                              <a:srgbClr val="111827"/>
                            </a:solidFill>
                            <a:latin typeface="Cambria Math" panose="02040503050406030204" pitchFamily="18" charset="0"/>
                          </a:rPr>
                          <m:t>α</m:t>
                        </m:r>
                      </m:e>
                      <m:sub>
                        <m:r>
                          <a:rPr lang="en-IN" sz="2000" i="1">
                            <a:solidFill>
                              <a:srgbClr val="111827"/>
                            </a:solidFill>
                            <a:latin typeface="Cambria Math" panose="02040503050406030204" pitchFamily="18" charset="0"/>
                          </a:rPr>
                          <m:t>2</m:t>
                        </m:r>
                      </m:sub>
                    </m:sSub>
                  </m:oMath>
                </a14:m>
                <a:r>
                  <a:rPr sz="2000" b="0">
                    <a:solidFill>
                      <a:srgbClr val="111827"/>
                    </a:solidFill>
                    <a:latin typeface="Arial"/>
                  </a:rPr>
                  <a:t>: committees with at least </a:t>
                </a:r>
                <a14:m>
                  <m:oMath xmlns:m="http://schemas.openxmlformats.org/officeDocument/2006/math">
                    <m:r>
                      <a:rPr lang="en-IN" sz="2000" i="1">
                        <a:solidFill>
                          <a:srgbClr val="111827"/>
                        </a:solidFill>
                        <a:latin typeface="Cambria Math" panose="02040503050406030204" pitchFamily="18" charset="0"/>
                      </a:rPr>
                      <m:t>2</m:t>
                    </m:r>
                  </m:oMath>
                </a14:m>
                <a:r>
                  <a:rPr sz="2000" b="0">
                    <a:solidFill>
                      <a:srgbClr val="111827"/>
                    </a:solidFill>
                    <a:latin typeface="Arial"/>
                  </a:rPr>
                  <a:t> members and an equal number of boys and girls. (iii) </a:t>
                </a:r>
                <a14:m>
                  <m:oMath xmlns:m="http://schemas.openxmlformats.org/officeDocument/2006/math">
                    <m:sSub>
                      <m:e>
                        <m:r>
                          <a:rPr lang="en-IN" sz="2000" i="1">
                            <a:solidFill>
                              <a:srgbClr val="111827"/>
                            </a:solidFill>
                            <a:latin typeface="Cambria Math" panose="02040503050406030204" pitchFamily="18" charset="0"/>
                          </a:rPr>
                          <m:t>α</m:t>
                        </m:r>
                      </m:e>
                      <m:sub>
                        <m:r>
                          <a:rPr lang="en-IN" sz="2000" i="1">
                            <a:solidFill>
                              <a:srgbClr val="111827"/>
                            </a:solidFill>
                            <a:latin typeface="Cambria Math" panose="02040503050406030204" pitchFamily="18" charset="0"/>
                          </a:rPr>
                          <m:t>3</m:t>
                        </m:r>
                      </m:sub>
                    </m:sSub>
                  </m:oMath>
                </a14:m>
                <a:r>
                  <a:rPr sz="2000" b="0">
                    <a:solidFill>
                      <a:srgbClr val="111827"/>
                    </a:solidFill>
                    <a:latin typeface="Arial"/>
                  </a:rPr>
                  <a:t>: committees of </a:t>
                </a:r>
                <a14:m>
                  <m:oMath xmlns:m="http://schemas.openxmlformats.org/officeDocument/2006/math">
                    <m:r>
                      <a:rPr lang="en-IN" sz="2000" i="1">
                        <a:solidFill>
                          <a:srgbClr val="111827"/>
                        </a:solidFill>
                        <a:latin typeface="Cambria Math" panose="02040503050406030204" pitchFamily="18" charset="0"/>
                      </a:rPr>
                      <m:t>5</m:t>
                    </m:r>
                  </m:oMath>
                </a14:m>
                <a:r>
                  <a:rPr sz="2000" b="0">
                    <a:solidFill>
                      <a:srgbClr val="111827"/>
                    </a:solidFill>
                    <a:latin typeface="Arial"/>
                  </a:rPr>
                  <a:t> members with at least </a:t>
                </a:r>
                <a14:m>
                  <m:oMath xmlns:m="http://schemas.openxmlformats.org/officeDocument/2006/math">
                    <m:r>
                      <a:rPr lang="en-IN" sz="2000" i="1">
                        <a:solidFill>
                          <a:srgbClr val="111827"/>
                        </a:solidFill>
                        <a:latin typeface="Cambria Math" panose="02040503050406030204" pitchFamily="18" charset="0"/>
                      </a:rPr>
                      <m:t>2</m:t>
                    </m:r>
                  </m:oMath>
                </a14:m>
                <a:r>
                  <a:rPr sz="2000" b="0">
                    <a:solidFill>
                      <a:srgbClr val="111827"/>
                    </a:solidFill>
                    <a:latin typeface="Arial"/>
                  </a:rPr>
                  <a:t> girls. (iv) </a:t>
                </a:r>
                <a14:m>
                  <m:oMath xmlns:m="http://schemas.openxmlformats.org/officeDocument/2006/math">
                    <m:sSub>
                      <m:e>
                        <m:r>
                          <a:rPr lang="en-IN" sz="2000" i="1">
                            <a:solidFill>
                              <a:srgbClr val="111827"/>
                            </a:solidFill>
                            <a:latin typeface="Cambria Math" panose="02040503050406030204" pitchFamily="18" charset="0"/>
                          </a:rPr>
                          <m:t>α</m:t>
                        </m:r>
                      </m:e>
                      <m:sub>
                        <m:r>
                          <a:rPr lang="en-IN" sz="2000" i="1">
                            <a:solidFill>
                              <a:srgbClr val="111827"/>
                            </a:solidFill>
                            <a:latin typeface="Cambria Math" panose="02040503050406030204" pitchFamily="18" charset="0"/>
                          </a:rPr>
                          <m:t>4</m:t>
                        </m:r>
                      </m:sub>
                    </m:sSub>
                  </m:oMath>
                </a14:m>
                <a:r>
                  <a:rPr sz="2000" b="0">
                    <a:solidFill>
                      <a:srgbClr val="111827"/>
                    </a:solidFill>
                    <a:latin typeface="Arial"/>
                  </a:rPr>
                  <a:t>: committees of </a:t>
                </a:r>
                <a14:m>
                  <m:oMath xmlns:m="http://schemas.openxmlformats.org/officeDocument/2006/math">
                    <m:r>
                      <a:rPr lang="en-IN" sz="2000" i="1">
                        <a:solidFill>
                          <a:srgbClr val="111827"/>
                        </a:solidFill>
                        <a:latin typeface="Cambria Math" panose="02040503050406030204" pitchFamily="18" charset="0"/>
                      </a:rPr>
                      <m:t>4</m:t>
                    </m:r>
                  </m:oMath>
                </a14:m>
                <a:r>
                  <a:rPr sz="2000" b="0">
                    <a:solidFill>
                      <a:srgbClr val="111827"/>
                    </a:solidFill>
                    <a:latin typeface="Arial"/>
                  </a:rPr>
                  <a:t> members with at least </a:t>
                </a:r>
                <a14:m>
                  <m:oMath xmlns:m="http://schemas.openxmlformats.org/officeDocument/2006/math">
                    <m:r>
                      <a:rPr lang="en-IN" sz="2000" i="1">
                        <a:solidFill>
                          <a:srgbClr val="111827"/>
                        </a:solidFill>
                        <a:latin typeface="Cambria Math" panose="02040503050406030204" pitchFamily="18" charset="0"/>
                      </a:rPr>
                      <m:t>2</m:t>
                    </m:r>
                  </m:oMath>
                </a14:m>
                <a:r>
                  <a:rPr sz="2000" b="0">
                    <a:solidFill>
                      <a:srgbClr val="111827"/>
                    </a:solidFill>
                    <a:latin typeface="Arial"/>
                  </a:rPr>
                  <a:t> girls such that </a:t>
                </a:r>
                <a14:m>
                  <m:oMath xmlns:m="http://schemas.openxmlformats.org/officeDocument/2006/math">
                    <m:sSub>
                      <m:e>
                        <m:r>
                          <a:rPr lang="en-IN" sz="2000" i="1">
                            <a:solidFill>
                              <a:srgbClr val="111827"/>
                            </a:solidFill>
                            <a:latin typeface="Cambria Math" panose="02040503050406030204" pitchFamily="18" charset="0"/>
                          </a:rPr>
                          <m:t>𝑀</m:t>
                        </m:r>
                      </m:e>
                      <m:sub>
                        <m:r>
                          <a:rPr lang="en-IN" sz="2000" i="1">
                            <a:solidFill>
                              <a:srgbClr val="111827"/>
                            </a:solidFill>
                            <a:latin typeface="Cambria Math" panose="02040503050406030204" pitchFamily="18" charset="0"/>
                          </a:rPr>
                          <m:t>1</m:t>
                        </m:r>
                      </m:sub>
                    </m:sSub>
                  </m:oMath>
                </a14:m>
                <a:r>
                  <a:rPr sz="2000" b="0">
                    <a:solidFill>
                      <a:srgbClr val="111827"/>
                    </a:solidFill>
                    <a:latin typeface="Arial"/>
                  </a:rPr>
                  <a:t> and </a:t>
                </a:r>
                <a14:m>
                  <m:oMath xmlns:m="http://schemas.openxmlformats.org/officeDocument/2006/math">
                    <m:sSub>
                      <m:e>
                        <m:r>
                          <a:rPr lang="en-IN" sz="2000" i="1">
                            <a:solidFill>
                              <a:srgbClr val="111827"/>
                            </a:solidFill>
                            <a:latin typeface="Cambria Math" panose="02040503050406030204" pitchFamily="18" charset="0"/>
                          </a:rPr>
                          <m:t>𝐺</m:t>
                        </m:r>
                      </m:e>
                      <m:sub>
                        <m:r>
                          <a:rPr lang="en-IN" sz="2000" i="1">
                            <a:solidFill>
                              <a:srgbClr val="111827"/>
                            </a:solidFill>
                            <a:latin typeface="Cambria Math" panose="02040503050406030204" pitchFamily="18" charset="0"/>
                          </a:rPr>
                          <m:t>1</m:t>
                        </m:r>
                      </m:sub>
                    </m:sSub>
                  </m:oMath>
                </a14:m>
                <a:r>
                  <a:rPr sz="2000" b="0">
                    <a:solidFill>
                      <a:srgbClr val="111827"/>
                    </a:solidFill>
                    <a:latin typeface="Arial"/>
                  </a:rPr>
                  <a:t> are NOT in the committee together.</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List-I: P. value of </a:t>
                </a:r>
                <a14:m>
                  <m:oMath xmlns:m="http://schemas.openxmlformats.org/officeDocument/2006/math">
                    <m:sSub>
                      <m:e>
                        <m:r>
                          <a:rPr lang="en-IN" sz="2000" i="1">
                            <a:solidFill>
                              <a:srgbClr val="111827"/>
                            </a:solidFill>
                            <a:latin typeface="Cambria Math" panose="02040503050406030204" pitchFamily="18" charset="0"/>
                          </a:rPr>
                          <m:t>α</m:t>
                        </m:r>
                      </m:e>
                      <m:sub>
                        <m:r>
                          <a:rPr lang="en-IN" sz="2000" i="1">
                            <a:solidFill>
                              <a:srgbClr val="111827"/>
                            </a:solidFill>
                            <a:latin typeface="Cambria Math" panose="02040503050406030204" pitchFamily="18" charset="0"/>
                          </a:rPr>
                          <m:t>1</m:t>
                        </m:r>
                      </m:sub>
                    </m:sSub>
                  </m:oMath>
                </a14:m>
                <a:r>
                  <a:rPr sz="2000" b="0">
                    <a:solidFill>
                      <a:srgbClr val="111827"/>
                    </a:solidFill>
                    <a:latin typeface="Arial"/>
                  </a:rPr>
                  <a:t>; Q. value of </a:t>
                </a:r>
                <a14:m>
                  <m:oMath xmlns:m="http://schemas.openxmlformats.org/officeDocument/2006/math">
                    <m:sSub>
                      <m:e>
                        <m:r>
                          <a:rPr lang="en-IN" sz="2000" i="1">
                            <a:solidFill>
                              <a:srgbClr val="111827"/>
                            </a:solidFill>
                            <a:latin typeface="Cambria Math" panose="02040503050406030204" pitchFamily="18" charset="0"/>
                          </a:rPr>
                          <m:t>α</m:t>
                        </m:r>
                      </m:e>
                      <m:sub>
                        <m:r>
                          <a:rPr lang="en-IN" sz="2000" i="1">
                            <a:solidFill>
                              <a:srgbClr val="111827"/>
                            </a:solidFill>
                            <a:latin typeface="Cambria Math" panose="02040503050406030204" pitchFamily="18" charset="0"/>
                          </a:rPr>
                          <m:t>2</m:t>
                        </m:r>
                      </m:sub>
                    </m:sSub>
                  </m:oMath>
                </a14:m>
                <a:r>
                  <a:rPr sz="2000" b="0">
                    <a:solidFill>
                      <a:srgbClr val="111827"/>
                    </a:solidFill>
                    <a:latin typeface="Arial"/>
                  </a:rPr>
                  <a:t>; R. value of </a:t>
                </a:r>
                <a14:m>
                  <m:oMath xmlns:m="http://schemas.openxmlformats.org/officeDocument/2006/math">
                    <m:sSub>
                      <m:e>
                        <m:r>
                          <a:rPr lang="en-IN" sz="2000" i="1">
                            <a:solidFill>
                              <a:srgbClr val="111827"/>
                            </a:solidFill>
                            <a:latin typeface="Cambria Math" panose="02040503050406030204" pitchFamily="18" charset="0"/>
                          </a:rPr>
                          <m:t>α</m:t>
                        </m:r>
                      </m:e>
                      <m:sub>
                        <m:r>
                          <a:rPr lang="en-IN" sz="2000" i="1">
                            <a:solidFill>
                              <a:srgbClr val="111827"/>
                            </a:solidFill>
                            <a:latin typeface="Cambria Math" panose="02040503050406030204" pitchFamily="18" charset="0"/>
                          </a:rPr>
                          <m:t>3</m:t>
                        </m:r>
                      </m:sub>
                    </m:sSub>
                  </m:oMath>
                </a14:m>
                <a:r>
                  <a:rPr sz="2000" b="0">
                    <a:solidFill>
                      <a:srgbClr val="111827"/>
                    </a:solidFill>
                    <a:latin typeface="Arial"/>
                  </a:rPr>
                  <a:t>; S. value of </a:t>
                </a:r>
                <a14:m>
                  <m:oMath xmlns:m="http://schemas.openxmlformats.org/officeDocument/2006/math">
                    <m:sSub>
                      <m:e>
                        <m:r>
                          <a:rPr lang="en-IN" sz="2000" i="1">
                            <a:solidFill>
                              <a:srgbClr val="111827"/>
                            </a:solidFill>
                            <a:latin typeface="Cambria Math" panose="02040503050406030204" pitchFamily="18" charset="0"/>
                          </a:rPr>
                          <m:t>α</m:t>
                        </m:r>
                      </m:e>
                      <m:sub>
                        <m:r>
                          <a:rPr lang="en-IN" sz="2000" i="1">
                            <a:solidFill>
                              <a:srgbClr val="111827"/>
                            </a:solidFill>
                            <a:latin typeface="Cambria Math" panose="02040503050406030204" pitchFamily="18" charset="0"/>
                          </a:rPr>
                          <m:t>4</m:t>
                        </m:r>
                      </m:sub>
                    </m:sSub>
                  </m:oMath>
                </a14:m>
                <a:r>
                  <a:rPr sz="2000" b="0">
                    <a:solidFill>
                      <a:srgbClr val="111827"/>
                    </a:solidFill>
                    <a:latin typeface="Arial"/>
                  </a:rPr>
                  <a:t>.  List-II: 1. </a:t>
                </a:r>
                <a14:m>
                  <m:oMath xmlns:m="http://schemas.openxmlformats.org/officeDocument/2006/math">
                    <m:r>
                      <a:rPr lang="en-IN" sz="2000" i="1">
                        <a:solidFill>
                          <a:srgbClr val="111827"/>
                        </a:solidFill>
                        <a:latin typeface="Cambria Math" panose="02040503050406030204" pitchFamily="18" charset="0"/>
                      </a:rPr>
                      <m:t>136</m:t>
                    </m:r>
                  </m:oMath>
                </a14:m>
                <a:r>
                  <a:rPr sz="2000" b="0">
                    <a:solidFill>
                      <a:srgbClr val="111827"/>
                    </a:solidFill>
                    <a:latin typeface="Arial"/>
                  </a:rPr>
                  <a:t>; 2. </a:t>
                </a:r>
                <a14:m>
                  <m:oMath xmlns:m="http://schemas.openxmlformats.org/officeDocument/2006/math">
                    <m:r>
                      <a:rPr lang="en-IN" sz="2000" i="1">
                        <a:solidFill>
                          <a:srgbClr val="111827"/>
                        </a:solidFill>
                        <a:latin typeface="Cambria Math" panose="02040503050406030204" pitchFamily="18" charset="0"/>
                      </a:rPr>
                      <m:t>189</m:t>
                    </m:r>
                  </m:oMath>
                </a14:m>
                <a:r>
                  <a:rPr sz="2000" b="0">
                    <a:solidFill>
                      <a:srgbClr val="111827"/>
                    </a:solidFill>
                    <a:latin typeface="Arial"/>
                  </a:rPr>
                  <a:t>; 3. </a:t>
                </a:r>
                <a14:m>
                  <m:oMath xmlns:m="http://schemas.openxmlformats.org/officeDocument/2006/math">
                    <m:r>
                      <a:rPr lang="en-IN" sz="2000" i="1">
                        <a:solidFill>
                          <a:srgbClr val="111827"/>
                        </a:solidFill>
                        <a:latin typeface="Cambria Math" panose="02040503050406030204" pitchFamily="18" charset="0"/>
                      </a:rPr>
                      <m:t>192</m:t>
                    </m:r>
                  </m:oMath>
                </a14:m>
                <a:r>
                  <a:rPr sz="2000" b="0">
                    <a:solidFill>
                      <a:srgbClr val="111827"/>
                    </a:solidFill>
                    <a:latin typeface="Arial"/>
                  </a:rPr>
                  <a:t>; 4. </a:t>
                </a:r>
                <a14:m>
                  <m:oMath xmlns:m="http://schemas.openxmlformats.org/officeDocument/2006/math">
                    <m:r>
                      <a:rPr lang="en-IN" sz="2000" i="1">
                        <a:solidFill>
                          <a:srgbClr val="111827"/>
                        </a:solidFill>
                        <a:latin typeface="Cambria Math" panose="02040503050406030204" pitchFamily="18" charset="0"/>
                      </a:rPr>
                      <m:t>200</m:t>
                    </m:r>
                  </m:oMath>
                </a14:m>
                <a:r>
                  <a:rPr sz="2000" b="0">
                    <a:solidFill>
                      <a:srgbClr val="111827"/>
                    </a:solidFill>
                    <a:latin typeface="Arial"/>
                  </a:rPr>
                  <a:t>; 5. </a:t>
                </a:r>
                <a14:m>
                  <m:oMath xmlns:m="http://schemas.openxmlformats.org/officeDocument/2006/math">
                    <m:r>
                      <a:rPr lang="en-IN" sz="2000" i="1">
                        <a:solidFill>
                          <a:srgbClr val="111827"/>
                        </a:solidFill>
                        <a:latin typeface="Cambria Math" panose="02040503050406030204" pitchFamily="18" charset="0"/>
                      </a:rPr>
                      <m:t>381</m:t>
                    </m:r>
                  </m:oMath>
                </a14:m>
                <a:r>
                  <a:rPr sz="2000" b="0">
                    <a:solidFill>
                      <a:srgbClr val="111827"/>
                    </a:solidFill>
                    <a:latin typeface="Arial"/>
                  </a:rPr>
                  <a:t>; 6. </a:t>
                </a:r>
                <a14:m>
                  <m:oMath xmlns:m="http://schemas.openxmlformats.org/officeDocument/2006/math">
                    <m:r>
                      <a:rPr lang="en-IN" sz="2000" i="1">
                        <a:solidFill>
                          <a:srgbClr val="111827"/>
                        </a:solidFill>
                        <a:latin typeface="Cambria Math" panose="02040503050406030204" pitchFamily="18" charset="0"/>
                      </a:rPr>
                      <m:t>461</m:t>
                    </m:r>
                  </m:oMath>
                </a14:m>
                <a:r>
                  <a:rPr sz="2000" b="0">
                    <a:solidFill>
                      <a:srgbClr val="111827"/>
                    </a:solidFill>
                    <a:latin typeface="Arial"/>
                  </a:rPr>
                  <a:t>. The correct option is: [JEE (Adv) 2018]</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P</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4; Q</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6; R</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2; S</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1</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P</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1; Q</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4; R</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2; S</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3</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P</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4; Q</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6; R</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5; S</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2</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P</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4; Q</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2; R</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3; S</a:t>
                </a:r>
                <a14:m>
                  <m:oMath xmlns:m="http://schemas.openxmlformats.org/officeDocument/2006/math">
                    <m:r>
                      <m:rPr>
                        <m:sty m:val="p"/>
                      </m:rPr>
                      <a:rPr lang="en-IN" sz="2000">
                        <a:solidFill>
                          <a:srgbClr val="111827"/>
                        </a:solidFill>
                        <a:latin typeface="Cambria Math" panose="02040503050406030204" pitchFamily="18" charset="0"/>
                      </a:rPr>
                      <m:t>→</m:t>
                    </m:r>
                  </m:oMath>
                </a14:m>
                <a:r>
                  <a:rPr sz="2000" b="0">
                    <a:solidFill>
                      <a:srgbClr val="111827"/>
                    </a:solidFill>
                    <a:latin typeface="Arial"/>
                  </a:rPr>
                  <a:t>1</a:t>
                </a:r>
                <a:endParaRPr sz="2000">
                  <a:solidFill>
                    <a:srgbClr val="111827"/>
                  </a:solidFill>
                </a:endParaRPr>
              </a:p>
            </p:txBody>
          </p:sp>
        </mc:Choice>
        <mc:Fallback>
          <p:sp>
            <p:nvSpPr>
              <p:cNvPr id="4" name="Rounded Rectangle 3"/>
              <p:cNvSpPr/>
              <p:nvPr/>
            </p:nvSpPr>
            <p:spPr>
              <a:xfrm>
                <a:off x="731520" y="1280160"/>
                <a:ext cx="10725912" cy="48666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In a high school, a committee has to be formed from a group of </a:t>
                </a:r>
                <a:r>
                  <a:rPr lang="en-IN" sz="2000">
                    <a:solidFill>
                      <a:srgbClr val="111827"/>
                    </a:solidFill>
                    <a:latin typeface="Cambria Math" panose="02040503050406030204" pitchFamily="18" charset="0"/>
                  </a:rPr>
                  <a:t>$6$</a:t>
                </a:r>
                <a:r>
                  <a:rPr sz="2000" b="0">
                    <a:solidFill>
                      <a:srgbClr val="111827"/>
                    </a:solidFill>
                    <a:latin typeface="Arial"/>
                  </a:rPr>
                  <a:t> boys </a:t>
                </a:r>
                <a:r>
                  <a:rPr lang="en-IN" sz="2000">
                    <a:solidFill>
                      <a:srgbClr val="111827"/>
                    </a:solidFill>
                    <a:latin typeface="Cambria Math" panose="02040503050406030204" pitchFamily="18" charset="0"/>
                  </a:rPr>
                  <a:t>$M_1,\dots,M_6$</a:t>
                </a:r>
                <a:r>
                  <a:rPr sz="2000" b="0">
                    <a:solidFill>
                      <a:srgbClr val="111827"/>
                    </a:solidFill>
                    <a:latin typeface="Arial"/>
                  </a:rPr>
                  <a:t> and </a:t>
                </a:r>
                <a:r>
                  <a:rPr lang="en-IN" sz="2000">
                    <a:solidFill>
                      <a:srgbClr val="111827"/>
                    </a:solidFill>
                    <a:latin typeface="Cambria Math" panose="02040503050406030204" pitchFamily="18" charset="0"/>
                  </a:rPr>
                  <a:t>$5$</a:t>
                </a:r>
                <a:r>
                  <a:rPr sz="2000" b="0">
                    <a:solidFill>
                      <a:srgbClr val="111827"/>
                    </a:solidFill>
                    <a:latin typeface="Arial"/>
                  </a:rPr>
                  <a:t> girls </a:t>
                </a:r>
                <a:r>
                  <a:rPr lang="en-IN" sz="2000">
                    <a:solidFill>
                      <a:srgbClr val="111827"/>
                    </a:solidFill>
                    <a:latin typeface="Cambria Math" panose="02040503050406030204" pitchFamily="18" charset="0"/>
                  </a:rPr>
                  <a:t>$G_1,\dots,G_5$</a:t>
                </a:r>
                <a:r>
                  <a:rPr sz="2000" b="0">
                    <a:solidFill>
                      <a:srgbClr val="111827"/>
                    </a:solidFill>
                    <a:latin typeface="Arial"/>
                  </a:rPr>
                  <a:t>. (i) </a:t>
                </a:r>
                <a:r>
                  <a:rPr lang="en-IN" sz="2000">
                    <a:solidFill>
                      <a:srgbClr val="111827"/>
                    </a:solidFill>
                    <a:latin typeface="Cambria Math" panose="02040503050406030204" pitchFamily="18" charset="0"/>
                  </a:rPr>
                  <a:t>$\alpha_1$</a:t>
                </a:r>
                <a:r>
                  <a:rPr sz="2000" b="0">
                    <a:solidFill>
                      <a:srgbClr val="111827"/>
                    </a:solidFill>
                    <a:latin typeface="Arial"/>
                  </a:rPr>
                  <a:t>: committees of </a:t>
                </a:r>
                <a:r>
                  <a:rPr lang="en-IN" sz="2000">
                    <a:solidFill>
                      <a:srgbClr val="111827"/>
                    </a:solidFill>
                    <a:latin typeface="Cambria Math" panose="02040503050406030204" pitchFamily="18" charset="0"/>
                  </a:rPr>
                  <a:t>$5$</a:t>
                </a:r>
                <a:r>
                  <a:rPr sz="2000" b="0">
                    <a:solidFill>
                      <a:srgbClr val="111827"/>
                    </a:solidFill>
                    <a:latin typeface="Arial"/>
                  </a:rPr>
                  <a:t> members with exactly </a:t>
                </a:r>
                <a:r>
                  <a:rPr lang="en-IN" sz="2000">
                    <a:solidFill>
                      <a:srgbClr val="111827"/>
                    </a:solidFill>
                    <a:latin typeface="Cambria Math" panose="02040503050406030204" pitchFamily="18" charset="0"/>
                  </a:rPr>
                  <a:t>$3$</a:t>
                </a:r>
                <a:r>
                  <a:rPr sz="2000" b="0">
                    <a:solidFill>
                      <a:srgbClr val="111827"/>
                    </a:solidFill>
                    <a:latin typeface="Arial"/>
                  </a:rPr>
                  <a:t> boys and </a:t>
                </a:r>
                <a:r>
                  <a:rPr lang="en-IN" sz="2000">
                    <a:solidFill>
                      <a:srgbClr val="111827"/>
                    </a:solidFill>
                    <a:latin typeface="Cambria Math" panose="02040503050406030204" pitchFamily="18" charset="0"/>
                  </a:rPr>
                  <a:t>$2$</a:t>
                </a:r>
                <a:r>
                  <a:rPr sz="2000" b="0">
                    <a:solidFill>
                      <a:srgbClr val="111827"/>
                    </a:solidFill>
                    <a:latin typeface="Arial"/>
                  </a:rPr>
                  <a:t> girls. (ii) </a:t>
                </a:r>
                <a:r>
                  <a:rPr lang="en-IN" sz="2000">
                    <a:solidFill>
                      <a:srgbClr val="111827"/>
                    </a:solidFill>
                    <a:latin typeface="Cambria Math" panose="02040503050406030204" pitchFamily="18" charset="0"/>
                  </a:rPr>
                  <a:t>$\alpha_2$</a:t>
                </a:r>
                <a:r>
                  <a:rPr sz="2000" b="0">
                    <a:solidFill>
                      <a:srgbClr val="111827"/>
                    </a:solidFill>
                    <a:latin typeface="Arial"/>
                  </a:rPr>
                  <a:t>: committees with at least </a:t>
                </a:r>
                <a:r>
                  <a:rPr lang="en-IN" sz="2000">
                    <a:solidFill>
                      <a:srgbClr val="111827"/>
                    </a:solidFill>
                    <a:latin typeface="Cambria Math" panose="02040503050406030204" pitchFamily="18" charset="0"/>
                  </a:rPr>
                  <a:t>$2$</a:t>
                </a:r>
                <a:r>
                  <a:rPr sz="2000" b="0">
                    <a:solidFill>
                      <a:srgbClr val="111827"/>
                    </a:solidFill>
                    <a:latin typeface="Arial"/>
                  </a:rPr>
                  <a:t> members and an equal number of boys and girls. (iii) </a:t>
                </a:r>
                <a:r>
                  <a:rPr lang="en-IN" sz="2000">
                    <a:solidFill>
                      <a:srgbClr val="111827"/>
                    </a:solidFill>
                    <a:latin typeface="Cambria Math" panose="02040503050406030204" pitchFamily="18" charset="0"/>
                  </a:rPr>
                  <a:t>$\alpha_3$</a:t>
                </a:r>
                <a:r>
                  <a:rPr sz="2000" b="0">
                    <a:solidFill>
                      <a:srgbClr val="111827"/>
                    </a:solidFill>
                    <a:latin typeface="Arial"/>
                  </a:rPr>
                  <a:t>: committees of </a:t>
                </a:r>
                <a:r>
                  <a:rPr lang="en-IN" sz="2000">
                    <a:solidFill>
                      <a:srgbClr val="111827"/>
                    </a:solidFill>
                    <a:latin typeface="Cambria Math" panose="02040503050406030204" pitchFamily="18" charset="0"/>
                  </a:rPr>
                  <a:t>$5$</a:t>
                </a:r>
                <a:r>
                  <a:rPr sz="2000" b="0">
                    <a:solidFill>
                      <a:srgbClr val="111827"/>
                    </a:solidFill>
                    <a:latin typeface="Arial"/>
                  </a:rPr>
                  <a:t> members with at least </a:t>
                </a:r>
                <a:r>
                  <a:rPr lang="en-IN" sz="2000">
                    <a:solidFill>
                      <a:srgbClr val="111827"/>
                    </a:solidFill>
                    <a:latin typeface="Cambria Math" panose="02040503050406030204" pitchFamily="18" charset="0"/>
                  </a:rPr>
                  <a:t>$2$</a:t>
                </a:r>
                <a:r>
                  <a:rPr sz="2000" b="0">
                    <a:solidFill>
                      <a:srgbClr val="111827"/>
                    </a:solidFill>
                    <a:latin typeface="Arial"/>
                  </a:rPr>
                  <a:t> girls. (iv) </a:t>
                </a:r>
                <a:r>
                  <a:rPr lang="en-IN" sz="2000">
                    <a:solidFill>
                      <a:srgbClr val="111827"/>
                    </a:solidFill>
                    <a:latin typeface="Cambria Math" panose="02040503050406030204" pitchFamily="18" charset="0"/>
                  </a:rPr>
                  <a:t>$\alpha_4$</a:t>
                </a:r>
                <a:r>
                  <a:rPr sz="2000" b="0">
                    <a:solidFill>
                      <a:srgbClr val="111827"/>
                    </a:solidFill>
                    <a:latin typeface="Arial"/>
                  </a:rPr>
                  <a:t>: committees of </a:t>
                </a:r>
                <a:r>
                  <a:rPr lang="en-IN" sz="2000">
                    <a:solidFill>
                      <a:srgbClr val="111827"/>
                    </a:solidFill>
                    <a:latin typeface="Cambria Math" panose="02040503050406030204" pitchFamily="18" charset="0"/>
                  </a:rPr>
                  <a:t>$4$</a:t>
                </a:r>
                <a:r>
                  <a:rPr sz="2000" b="0">
                    <a:solidFill>
                      <a:srgbClr val="111827"/>
                    </a:solidFill>
                    <a:latin typeface="Arial"/>
                  </a:rPr>
                  <a:t> members with at least </a:t>
                </a:r>
                <a:r>
                  <a:rPr lang="en-IN" sz="2000">
                    <a:solidFill>
                      <a:srgbClr val="111827"/>
                    </a:solidFill>
                    <a:latin typeface="Cambria Math" panose="02040503050406030204" pitchFamily="18" charset="0"/>
                  </a:rPr>
                  <a:t>$2$</a:t>
                </a:r>
                <a:r>
                  <a:rPr sz="2000" b="0">
                    <a:solidFill>
                      <a:srgbClr val="111827"/>
                    </a:solidFill>
                    <a:latin typeface="Arial"/>
                  </a:rPr>
                  <a:t> girls such that </a:t>
                </a:r>
                <a:r>
                  <a:rPr lang="en-IN" sz="2000">
                    <a:solidFill>
                      <a:srgbClr val="111827"/>
                    </a:solidFill>
                    <a:latin typeface="Cambria Math" panose="02040503050406030204" pitchFamily="18" charset="0"/>
                  </a:rPr>
                  <a:t>$M_1$</a:t>
                </a:r>
                <a:r>
                  <a:rPr sz="2000" b="0">
                    <a:solidFill>
                      <a:srgbClr val="111827"/>
                    </a:solidFill>
                    <a:latin typeface="Arial"/>
                  </a:rPr>
                  <a:t> and </a:t>
                </a:r>
                <a:r>
                  <a:rPr lang="en-IN" sz="2000">
                    <a:solidFill>
                      <a:srgbClr val="111827"/>
                    </a:solidFill>
                    <a:latin typeface="Cambria Math" panose="02040503050406030204" pitchFamily="18" charset="0"/>
                  </a:rPr>
                  <a:t>$G_1$</a:t>
                </a:r>
                <a:r>
                  <a:rPr sz="2000" b="0">
                    <a:solidFill>
                      <a:srgbClr val="111827"/>
                    </a:solidFill>
                    <a:latin typeface="Arial"/>
                  </a:rPr>
                  <a:t> are NOT in the committee together.</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List-I: P. value of </a:t>
                </a:r>
                <a:r>
                  <a:rPr lang="en-IN" sz="2000">
                    <a:solidFill>
                      <a:srgbClr val="111827"/>
                    </a:solidFill>
                    <a:latin typeface="Cambria Math" panose="02040503050406030204" pitchFamily="18" charset="0"/>
                  </a:rPr>
                  <a:t>$\alpha_1$</a:t>
                </a:r>
                <a:r>
                  <a:rPr sz="2000" b="0">
                    <a:solidFill>
                      <a:srgbClr val="111827"/>
                    </a:solidFill>
                    <a:latin typeface="Arial"/>
                  </a:rPr>
                  <a:t>; Q. value of </a:t>
                </a:r>
                <a:r>
                  <a:rPr lang="en-IN" sz="2000">
                    <a:solidFill>
                      <a:srgbClr val="111827"/>
                    </a:solidFill>
                    <a:latin typeface="Cambria Math" panose="02040503050406030204" pitchFamily="18" charset="0"/>
                  </a:rPr>
                  <a:t>$\alpha_2$</a:t>
                </a:r>
                <a:r>
                  <a:rPr sz="2000" b="0">
                    <a:solidFill>
                      <a:srgbClr val="111827"/>
                    </a:solidFill>
                    <a:latin typeface="Arial"/>
                  </a:rPr>
                  <a:t>; R. value of </a:t>
                </a:r>
                <a:r>
                  <a:rPr lang="en-IN" sz="2000">
                    <a:solidFill>
                      <a:srgbClr val="111827"/>
                    </a:solidFill>
                    <a:latin typeface="Cambria Math" panose="02040503050406030204" pitchFamily="18" charset="0"/>
                  </a:rPr>
                  <a:t>$\alpha_3$</a:t>
                </a:r>
                <a:r>
                  <a:rPr sz="2000" b="0">
                    <a:solidFill>
                      <a:srgbClr val="111827"/>
                    </a:solidFill>
                    <a:latin typeface="Arial"/>
                  </a:rPr>
                  <a:t>; S. value of </a:t>
                </a:r>
                <a:r>
                  <a:rPr lang="en-IN" sz="2000">
                    <a:solidFill>
                      <a:srgbClr val="111827"/>
                    </a:solidFill>
                    <a:latin typeface="Cambria Math" panose="02040503050406030204" pitchFamily="18" charset="0"/>
                  </a:rPr>
                  <a:t>$\alpha_4$</a:t>
                </a:r>
                <a:r>
                  <a:rPr sz="2000" b="0">
                    <a:solidFill>
                      <a:srgbClr val="111827"/>
                    </a:solidFill>
                    <a:latin typeface="Arial"/>
                  </a:rPr>
                  <a:t>.  List-II: 1. </a:t>
                </a:r>
                <a:r>
                  <a:rPr lang="en-IN" sz="2000">
                    <a:solidFill>
                      <a:srgbClr val="111827"/>
                    </a:solidFill>
                    <a:latin typeface="Cambria Math" panose="02040503050406030204" pitchFamily="18" charset="0"/>
                  </a:rPr>
                  <a:t>$136$</a:t>
                </a:r>
                <a:r>
                  <a:rPr sz="2000" b="0">
                    <a:solidFill>
                      <a:srgbClr val="111827"/>
                    </a:solidFill>
                    <a:latin typeface="Arial"/>
                  </a:rPr>
                  <a:t>; 2. </a:t>
                </a:r>
                <a:r>
                  <a:rPr lang="en-IN" sz="2000">
                    <a:solidFill>
                      <a:srgbClr val="111827"/>
                    </a:solidFill>
                    <a:latin typeface="Cambria Math" panose="02040503050406030204" pitchFamily="18" charset="0"/>
                  </a:rPr>
                  <a:t>$189$</a:t>
                </a:r>
                <a:r>
                  <a:rPr sz="2000" b="0">
                    <a:solidFill>
                      <a:srgbClr val="111827"/>
                    </a:solidFill>
                    <a:latin typeface="Arial"/>
                  </a:rPr>
                  <a:t>; 3. </a:t>
                </a:r>
                <a:r>
                  <a:rPr lang="en-IN" sz="2000">
                    <a:solidFill>
                      <a:srgbClr val="111827"/>
                    </a:solidFill>
                    <a:latin typeface="Cambria Math" panose="02040503050406030204" pitchFamily="18" charset="0"/>
                  </a:rPr>
                  <a:t>$192$</a:t>
                </a:r>
                <a:r>
                  <a:rPr sz="2000" b="0">
                    <a:solidFill>
                      <a:srgbClr val="111827"/>
                    </a:solidFill>
                    <a:latin typeface="Arial"/>
                  </a:rPr>
                  <a:t>; 4. </a:t>
                </a:r>
                <a:r>
                  <a:rPr lang="en-IN" sz="2000">
                    <a:solidFill>
                      <a:srgbClr val="111827"/>
                    </a:solidFill>
                    <a:latin typeface="Cambria Math" panose="02040503050406030204" pitchFamily="18" charset="0"/>
                  </a:rPr>
                  <a:t>$200$</a:t>
                </a:r>
                <a:r>
                  <a:rPr sz="2000" b="0">
                    <a:solidFill>
                      <a:srgbClr val="111827"/>
                    </a:solidFill>
                    <a:latin typeface="Arial"/>
                  </a:rPr>
                  <a:t>; 5. </a:t>
                </a:r>
                <a:r>
                  <a:rPr lang="en-IN" sz="2000">
                    <a:solidFill>
                      <a:srgbClr val="111827"/>
                    </a:solidFill>
                    <a:latin typeface="Cambria Math" panose="02040503050406030204" pitchFamily="18" charset="0"/>
                  </a:rPr>
                  <a:t>$381$</a:t>
                </a:r>
                <a:r>
                  <a:rPr sz="2000" b="0">
                    <a:solidFill>
                      <a:srgbClr val="111827"/>
                    </a:solidFill>
                    <a:latin typeface="Arial"/>
                  </a:rPr>
                  <a:t>; 6. </a:t>
                </a:r>
                <a:r>
                  <a:rPr lang="en-IN" sz="2000">
                    <a:solidFill>
                      <a:srgbClr val="111827"/>
                    </a:solidFill>
                    <a:latin typeface="Cambria Math" panose="02040503050406030204" pitchFamily="18" charset="0"/>
                  </a:rPr>
                  <a:t>$461$</a:t>
                </a:r>
                <a:r>
                  <a:rPr sz="2000" b="0">
                    <a:solidFill>
                      <a:srgbClr val="111827"/>
                    </a:solidFill>
                    <a:latin typeface="Arial"/>
                  </a:rPr>
                  <a:t>. The correct option is: [JEE (Adv) 2018]</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P</a:t>
                </a:r>
                <a:r>
                  <a:rPr lang="en-IN" sz="2000">
                    <a:solidFill>
                      <a:srgbClr val="111827"/>
                    </a:solidFill>
                    <a:latin typeface="Cambria Math" panose="02040503050406030204" pitchFamily="18" charset="0"/>
                  </a:rPr>
                  <a:t>$\to$</a:t>
                </a:r>
                <a:r>
                  <a:rPr sz="2000" b="0">
                    <a:solidFill>
                      <a:srgbClr val="111827"/>
                    </a:solidFill>
                    <a:latin typeface="Arial"/>
                  </a:rPr>
                  <a:t>4; Q</a:t>
                </a:r>
                <a:r>
                  <a:rPr lang="en-IN" sz="2000">
                    <a:solidFill>
                      <a:srgbClr val="111827"/>
                    </a:solidFill>
                    <a:latin typeface="Cambria Math" panose="02040503050406030204" pitchFamily="18" charset="0"/>
                  </a:rPr>
                  <a:t>$\to$</a:t>
                </a:r>
                <a:r>
                  <a:rPr sz="2000" b="0">
                    <a:solidFill>
                      <a:srgbClr val="111827"/>
                    </a:solidFill>
                    <a:latin typeface="Arial"/>
                  </a:rPr>
                  <a:t>6; R</a:t>
                </a:r>
                <a:r>
                  <a:rPr lang="en-IN" sz="2000">
                    <a:solidFill>
                      <a:srgbClr val="111827"/>
                    </a:solidFill>
                    <a:latin typeface="Cambria Math" panose="02040503050406030204" pitchFamily="18" charset="0"/>
                  </a:rPr>
                  <a:t>$\to$</a:t>
                </a:r>
                <a:r>
                  <a:rPr sz="2000" b="0">
                    <a:solidFill>
                      <a:srgbClr val="111827"/>
                    </a:solidFill>
                    <a:latin typeface="Arial"/>
                  </a:rPr>
                  <a:t>2; S</a:t>
                </a:r>
                <a:r>
                  <a:rPr lang="en-IN" sz="2000">
                    <a:solidFill>
                      <a:srgbClr val="111827"/>
                    </a:solidFill>
                    <a:latin typeface="Cambria Math" panose="02040503050406030204" pitchFamily="18" charset="0"/>
                  </a:rPr>
                  <a:t>$\to$</a:t>
                </a:r>
                <a:r>
                  <a:rPr sz="2000" b="0">
                    <a:solidFill>
                      <a:srgbClr val="111827"/>
                    </a:solidFill>
                    <a:latin typeface="Arial"/>
                  </a:rPr>
                  <a:t>1</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P</a:t>
                </a:r>
                <a:r>
                  <a:rPr lang="en-IN" sz="2000">
                    <a:solidFill>
                      <a:srgbClr val="111827"/>
                    </a:solidFill>
                    <a:latin typeface="Cambria Math" panose="02040503050406030204" pitchFamily="18" charset="0"/>
                  </a:rPr>
                  <a:t>$\to$</a:t>
                </a:r>
                <a:r>
                  <a:rPr sz="2000" b="0">
                    <a:solidFill>
                      <a:srgbClr val="111827"/>
                    </a:solidFill>
                    <a:latin typeface="Arial"/>
                  </a:rPr>
                  <a:t>1; Q</a:t>
                </a:r>
                <a:r>
                  <a:rPr lang="en-IN" sz="2000">
                    <a:solidFill>
                      <a:srgbClr val="111827"/>
                    </a:solidFill>
                    <a:latin typeface="Cambria Math" panose="02040503050406030204" pitchFamily="18" charset="0"/>
                  </a:rPr>
                  <a:t>$\to$</a:t>
                </a:r>
                <a:r>
                  <a:rPr sz="2000" b="0">
                    <a:solidFill>
                      <a:srgbClr val="111827"/>
                    </a:solidFill>
                    <a:latin typeface="Arial"/>
                  </a:rPr>
                  <a:t>4; R</a:t>
                </a:r>
                <a:r>
                  <a:rPr lang="en-IN" sz="2000">
                    <a:solidFill>
                      <a:srgbClr val="111827"/>
                    </a:solidFill>
                    <a:latin typeface="Cambria Math" panose="02040503050406030204" pitchFamily="18" charset="0"/>
                  </a:rPr>
                  <a:t>$\to$</a:t>
                </a:r>
                <a:r>
                  <a:rPr sz="2000" b="0">
                    <a:solidFill>
                      <a:srgbClr val="111827"/>
                    </a:solidFill>
                    <a:latin typeface="Arial"/>
                  </a:rPr>
                  <a:t>2; S</a:t>
                </a:r>
                <a:r>
                  <a:rPr lang="en-IN" sz="2000">
                    <a:solidFill>
                      <a:srgbClr val="111827"/>
                    </a:solidFill>
                    <a:latin typeface="Cambria Math" panose="02040503050406030204" pitchFamily="18" charset="0"/>
                  </a:rPr>
                  <a:t>$\to$</a:t>
                </a:r>
                <a:r>
                  <a:rPr sz="2000" b="0">
                    <a:solidFill>
                      <a:srgbClr val="111827"/>
                    </a:solidFill>
                    <a:latin typeface="Arial"/>
                  </a:rPr>
                  <a:t>3</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P</a:t>
                </a:r>
                <a:r>
                  <a:rPr lang="en-IN" sz="2000">
                    <a:solidFill>
                      <a:srgbClr val="111827"/>
                    </a:solidFill>
                    <a:latin typeface="Cambria Math" panose="02040503050406030204" pitchFamily="18" charset="0"/>
                  </a:rPr>
                  <a:t>$\to$</a:t>
                </a:r>
                <a:r>
                  <a:rPr sz="2000" b="0">
                    <a:solidFill>
                      <a:srgbClr val="111827"/>
                    </a:solidFill>
                    <a:latin typeface="Arial"/>
                  </a:rPr>
                  <a:t>4; Q</a:t>
                </a:r>
                <a:r>
                  <a:rPr lang="en-IN" sz="2000">
                    <a:solidFill>
                      <a:srgbClr val="111827"/>
                    </a:solidFill>
                    <a:latin typeface="Cambria Math" panose="02040503050406030204" pitchFamily="18" charset="0"/>
                  </a:rPr>
                  <a:t>$\to$</a:t>
                </a:r>
                <a:r>
                  <a:rPr sz="2000" b="0">
                    <a:solidFill>
                      <a:srgbClr val="111827"/>
                    </a:solidFill>
                    <a:latin typeface="Arial"/>
                  </a:rPr>
                  <a:t>6; R</a:t>
                </a:r>
                <a:r>
                  <a:rPr lang="en-IN" sz="2000">
                    <a:solidFill>
                      <a:srgbClr val="111827"/>
                    </a:solidFill>
                    <a:latin typeface="Cambria Math" panose="02040503050406030204" pitchFamily="18" charset="0"/>
                  </a:rPr>
                  <a:t>$\to$</a:t>
                </a:r>
                <a:r>
                  <a:rPr sz="2000" b="0">
                    <a:solidFill>
                      <a:srgbClr val="111827"/>
                    </a:solidFill>
                    <a:latin typeface="Arial"/>
                  </a:rPr>
                  <a:t>5; S</a:t>
                </a:r>
                <a:r>
                  <a:rPr lang="en-IN" sz="2000">
                    <a:solidFill>
                      <a:srgbClr val="111827"/>
                    </a:solidFill>
                    <a:latin typeface="Cambria Math" panose="02040503050406030204" pitchFamily="18" charset="0"/>
                  </a:rPr>
                  <a:t>$\to$</a:t>
                </a:r>
                <a:r>
                  <a:rPr sz="2000" b="0">
                    <a:solidFill>
                      <a:srgbClr val="111827"/>
                    </a:solidFill>
                    <a:latin typeface="Arial"/>
                  </a:rPr>
                  <a:t>2</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P</a:t>
                </a:r>
                <a:r>
                  <a:rPr lang="en-IN" sz="2000">
                    <a:solidFill>
                      <a:srgbClr val="111827"/>
                    </a:solidFill>
                    <a:latin typeface="Cambria Math" panose="02040503050406030204" pitchFamily="18" charset="0"/>
                  </a:rPr>
                  <a:t>$\to$</a:t>
                </a:r>
                <a:r>
                  <a:rPr sz="2000" b="0">
                    <a:solidFill>
                      <a:srgbClr val="111827"/>
                    </a:solidFill>
                    <a:latin typeface="Arial"/>
                  </a:rPr>
                  <a:t>4; Q</a:t>
                </a:r>
                <a:r>
                  <a:rPr lang="en-IN" sz="2000">
                    <a:solidFill>
                      <a:srgbClr val="111827"/>
                    </a:solidFill>
                    <a:latin typeface="Cambria Math" panose="02040503050406030204" pitchFamily="18" charset="0"/>
                  </a:rPr>
                  <a:t>$\to$</a:t>
                </a:r>
                <a:r>
                  <a:rPr sz="2000" b="0">
                    <a:solidFill>
                      <a:srgbClr val="111827"/>
                    </a:solidFill>
                    <a:latin typeface="Arial"/>
                  </a:rPr>
                  <a:t>2; R</a:t>
                </a:r>
                <a:r>
                  <a:rPr lang="en-IN" sz="2000">
                    <a:solidFill>
                      <a:srgbClr val="111827"/>
                    </a:solidFill>
                    <a:latin typeface="Cambria Math" panose="02040503050406030204" pitchFamily="18" charset="0"/>
                  </a:rPr>
                  <a:t>$\to$</a:t>
                </a:r>
                <a:r>
                  <a:rPr sz="2000" b="0">
                    <a:solidFill>
                      <a:srgbClr val="111827"/>
                    </a:solidFill>
                    <a:latin typeface="Arial"/>
                  </a:rPr>
                  <a:t>3; S</a:t>
                </a:r>
                <a:r>
                  <a:rPr lang="en-IN" sz="2000">
                    <a:solidFill>
                      <a:srgbClr val="111827"/>
                    </a:solidFill>
                    <a:latin typeface="Cambria Math" panose="02040503050406030204" pitchFamily="18" charset="0"/>
                  </a:rPr>
                  <a:t>$\to$</a:t>
                </a:r>
                <a:r>
                  <a:rPr sz="2000" b="0">
                    <a:solidFill>
                      <a:srgbClr val="111827"/>
                    </a:solidFill>
                    <a:latin typeface="Arial"/>
                  </a:rPr>
                  <a:t>1</a:t>
                </a:r>
                <a:endParaRPr sz="2000">
                  <a:solidFill>
                    <a:srgbClr val="111827"/>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Combinations: selection of committees with restrictions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nary>
                      <m:naryPr>
                        <m:chr m:val="∑"/>
                        <m:limLoc m:val="undOvr"/>
                        <m:subHide m:val="off"/>
                        <m:supHide m:val="on"/>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m:t>
                        </m:r>
                      </m:sup>
                      <m:e>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m:t>
                                </m:r>
                              </m:num>
                              <m:den>
                                <m:r>
                                  <a:rPr lang="en-IN" sz="2400" i="1">
                                    <a:solidFill>
                                      <a:srgbClr val="78350F"/>
                                    </a:solidFill>
                                    <a:latin typeface="Cambria Math" panose="02040503050406030204" pitchFamily="18" charset="0"/>
                                  </a:rPr>
                                  <m:t>𝑘</m:t>
                                </m:r>
                              </m:den>
                            </m:f>
                          </m:e>
                        </m:d>
                      </m:e>
                    </m:nary>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num>
                          <m:den>
                            <m:r>
                              <a:rPr lang="en-IN" sz="2400" i="1">
                                <a:solidFill>
                                  <a:srgbClr val="78350F"/>
                                </a:solidFill>
                                <a:latin typeface="Cambria Math" panose="02040503050406030204" pitchFamily="18" charset="0"/>
                              </a:rPr>
                              <m:t>𝑘</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num>
                          <m:den>
                            <m:r>
                              <a:rPr lang="en-IN" sz="2400" i="1">
                                <a:solidFill>
                                  <a:srgbClr val="78350F"/>
                                </a:solidFill>
                                <a:latin typeface="Cambria Math" panose="02040503050406030204" pitchFamily="18" charset="0"/>
                              </a:rPr>
                              <m:t>5</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by Vandermonde; the last part splits on whether </a:t>
                </a:r>
                <a14:m>
                  <m:oMath xmlns:m="http://schemas.openxmlformats.org/officeDocument/2006/math">
                    <m:sSub>
                      <m:e>
                        <m:r>
                          <a:rPr lang="en-IN" sz="2400" i="1">
                            <a:solidFill>
                              <a:srgbClr val="78350F"/>
                            </a:solidFill>
                            <a:latin typeface="Cambria Math" panose="02040503050406030204" pitchFamily="18" charset="0"/>
                          </a:rPr>
                          <m:t>𝐺</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or </a:t>
                </a:r>
                <a14:m>
                  <m:oMath xmlns:m="http://schemas.openxmlformats.org/officeDocument/2006/math">
                    <m:sSub>
                      <m:e>
                        <m:r>
                          <a:rPr lang="en-IN" sz="2400" i="1">
                            <a:solidFill>
                              <a:srgbClr val="78350F"/>
                            </a:solidFill>
                            <a:latin typeface="Cambria Math" panose="02040503050406030204" pitchFamily="18" charset="0"/>
                          </a:rPr>
                          <m:t>𝑀</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is in.</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$\sum_{k\ge1}\binom6k\binom5k=\binom{11}{5}-1$</a:t>
                </a:r>
                <a:r>
                  <a:rPr sz="2400" b="0">
                    <a:solidFill>
                      <a:srgbClr val="78350F"/>
                    </a:solidFill>
                    <a:latin typeface="Arial"/>
                  </a:rPr>
                  <a:t> by Vandermonde; the last part splits on whether </a:t>
                </a:r>
                <a:r>
                  <a:rPr lang="en-IN" sz="2400">
                    <a:solidFill>
                      <a:srgbClr val="78350F"/>
                    </a:solidFill>
                    <a:latin typeface="Cambria Math" panose="02040503050406030204" pitchFamily="18" charset="0"/>
                  </a:rPr>
                  <a:t>$G_1$</a:t>
                </a:r>
                <a:r>
                  <a:rPr sz="2400" b="0">
                    <a:solidFill>
                      <a:srgbClr val="78350F"/>
                    </a:solidFill>
                    <a:latin typeface="Arial"/>
                  </a:rPr>
                  <a:t> or </a:t>
                </a:r>
                <a:r>
                  <a:rPr lang="en-IN" sz="2400">
                    <a:solidFill>
                      <a:srgbClr val="78350F"/>
                    </a:solidFill>
                    <a:latin typeface="Cambria Math" panose="02040503050406030204" pitchFamily="18" charset="0"/>
                  </a:rPr>
                  <a:t>$M_1$</a:t>
                </a:r>
                <a:r>
                  <a:rPr sz="2400" b="0">
                    <a:solidFill>
                      <a:srgbClr val="78350F"/>
                    </a:solidFill>
                    <a:latin typeface="Arial"/>
                  </a:rPr>
                  <a:t> is in.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boys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girls: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 equal numbers of boys and girls,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members,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of each: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5</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 </a:t>
                </a:r>
                <a:r>
                  <a:rPr lang="en-IN" sz="2400">
                    <a:solidFill>
                      <a:srgbClr val="111827"/>
                    </a:solidFill>
                    <a:latin typeface="Cambria Math" panose="02040503050406030204" pitchFamily="18" charset="0"/>
                  </a:rPr>
                  <a:t>$3$</a:t>
                </a:r>
                <a:r>
                  <a:rPr sz="2400" b="0">
                    <a:solidFill>
                      <a:srgbClr val="111827"/>
                    </a:solidFill>
                    <a:latin typeface="Arial"/>
                  </a:rPr>
                  <a:t> boys and </a:t>
                </a:r>
                <a:r>
                  <a:rPr lang="en-IN" sz="2400">
                    <a:solidFill>
                      <a:srgbClr val="111827"/>
                    </a:solidFill>
                    <a:latin typeface="Cambria Math" panose="02040503050406030204" pitchFamily="18" charset="0"/>
                  </a:rPr>
                  <a:t>$2$</a:t>
                </a:r>
                <a:r>
                  <a:rPr sz="2400" b="0">
                    <a:solidFill>
                      <a:srgbClr val="111827"/>
                    </a:solidFill>
                    <a:latin typeface="Arial"/>
                  </a:rPr>
                  <a:t> girls: </a:t>
                </a:r>
                <a:r>
                  <a:rPr lang="en-IN" sz="2400">
                    <a:solidFill>
                      <a:srgbClr val="111827"/>
                    </a:solidFill>
                    <a:latin typeface="Cambria Math" panose="02040503050406030204" pitchFamily="18" charset="0"/>
                  </a:rPr>
                  <a:t>$\alpha_1=\binom63\binom52=20\cdot10=200$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 equal numbers of boys and girls, at least </a:t>
                </a:r>
                <a:r>
                  <a:rPr lang="en-IN" sz="2400">
                    <a:solidFill>
                      <a:srgbClr val="111827"/>
                    </a:solidFill>
                    <a:latin typeface="Cambria Math" panose="02040503050406030204" pitchFamily="18" charset="0"/>
                  </a:rPr>
                  <a:t>$2$</a:t>
                </a:r>
                <a:r>
                  <a:rPr sz="2400" b="0">
                    <a:solidFill>
                      <a:srgbClr val="111827"/>
                    </a:solidFill>
                    <a:latin typeface="Arial"/>
                  </a:rPr>
                  <a:t> members, so </a:t>
                </a:r>
                <a:r>
                  <a:rPr lang="en-IN" sz="2400">
                    <a:solidFill>
                      <a:srgbClr val="111827"/>
                    </a:solidFill>
                    <a:latin typeface="Cambria Math" panose="02040503050406030204" pitchFamily="18" charset="0"/>
                  </a:rPr>
                  <a:t>$k\ge1$</a:t>
                </a:r>
                <a:r>
                  <a:rPr sz="2400" b="0">
                    <a:solidFill>
                      <a:srgbClr val="111827"/>
                    </a:solidFill>
                    <a:latin typeface="Arial"/>
                  </a:rPr>
                  <a:t> of each: </a:t>
                </a:r>
                <a:r>
                  <a:rPr lang="en-IN" sz="2400">
                    <a:solidFill>
                      <a:srgbClr val="111827"/>
                    </a:solidFill>
                    <a:latin typeface="Cambria Math" panose="02040503050406030204" pitchFamily="18" charset="0"/>
                  </a:rPr>
                  <a:t>$\alpha_2=\sum_{k=1}^{5}\binom6k\binom5k=\binom61\binom51+\binom62\binom52+\binom63\binom53+\binom64\binom54+\binom65\binom55$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and Vandermonde,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5</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462</m:t>
                    </m:r>
                  </m:oMath>
                </a14:m>
                <a:r>
                  <a:rPr sz="2400" b="0">
                    <a:solidFill>
                      <a:srgbClr val="111827"/>
                    </a:solidFill>
                    <a:latin typeface="Arial"/>
                  </a:rPr>
                  <a:t>; removing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members with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girls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minus (0 girls: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minus (1 girl: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m:t>
                            </m:r>
                          </m:den>
                        </m:f>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members,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girls,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not together. Case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in (so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out):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in (so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out): the other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include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girls from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both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out: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$\binom5k=\binom5{5-k}$</a:t>
                </a:r>
                <a:r>
                  <a:rPr sz="2400" b="0">
                    <a:solidFill>
                      <a:srgbClr val="111827"/>
                    </a:solidFill>
                    <a:latin typeface="Arial"/>
                  </a:rPr>
                  <a:t> and Vandermonde, </a:t>
                </a:r>
                <a:r>
                  <a:rPr lang="en-IN" sz="2400">
                    <a:solidFill>
                      <a:srgbClr val="111827"/>
                    </a:solidFill>
                    <a:latin typeface="Cambria Math" panose="02040503050406030204" pitchFamily="18" charset="0"/>
                  </a:rPr>
                  <a:t>$\sum_{k=0}^{5}\binom6k\binom5{5-k}=\binom{11}{5}=462$</a:t>
                </a:r>
                <a:r>
                  <a:rPr sz="2400" b="0">
                    <a:solidFill>
                      <a:srgbClr val="111827"/>
                    </a:solidFill>
                    <a:latin typeface="Arial"/>
                  </a:rPr>
                  <a:t>; removing </a:t>
                </a:r>
                <a:r>
                  <a:rPr lang="en-IN" sz="2400">
                    <a:solidFill>
                      <a:srgbClr val="111827"/>
                    </a:solidFill>
                    <a:latin typeface="Cambria Math" panose="02040503050406030204" pitchFamily="18" charset="0"/>
                  </a:rPr>
                  <a:t>$k=0$</a:t>
                </a:r>
                <a:r>
                  <a:rPr sz="2400" b="0">
                    <a:solidFill>
                      <a:srgbClr val="111827"/>
                    </a:solidFill>
                    <a:latin typeface="Arial"/>
                  </a:rPr>
                  <a:t> gives </a:t>
                </a:r>
                <a:r>
                  <a:rPr lang="en-IN" sz="2400">
                    <a:solidFill>
                      <a:srgbClr val="111827"/>
                    </a:solidFill>
                    <a:latin typeface="Cambria Math" panose="02040503050406030204" pitchFamily="18" charset="0"/>
                  </a:rPr>
                  <a:t>$\alpha_2=462-1=461$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 </a:t>
                </a:r>
                <a:r>
                  <a:rPr lang="en-IN" sz="2400">
                    <a:solidFill>
                      <a:srgbClr val="111827"/>
                    </a:solidFill>
                    <a:latin typeface="Cambria Math" panose="02040503050406030204" pitchFamily="18" charset="0"/>
                  </a:rPr>
                  <a:t>$5$</a:t>
                </a:r>
                <a:r>
                  <a:rPr sz="2400" b="0">
                    <a:solidFill>
                      <a:srgbClr val="111827"/>
                    </a:solidFill>
                    <a:latin typeface="Arial"/>
                  </a:rPr>
                  <a:t> members with at least </a:t>
                </a:r>
                <a:r>
                  <a:rPr lang="en-IN" sz="2400">
                    <a:solidFill>
                      <a:srgbClr val="111827"/>
                    </a:solidFill>
                    <a:latin typeface="Cambria Math" panose="02040503050406030204" pitchFamily="18" charset="0"/>
                  </a:rPr>
                  <a:t>$2$</a:t>
                </a:r>
                <a:r>
                  <a:rPr sz="2400" b="0">
                    <a:solidFill>
                      <a:srgbClr val="111827"/>
                    </a:solidFill>
                    <a:latin typeface="Arial"/>
                  </a:rPr>
                  <a:t> girls </a:t>
                </a:r>
                <a:r>
                  <a:rPr lang="en-IN" sz="2400">
                    <a:solidFill>
                      <a:srgbClr val="111827"/>
                    </a:solidFill>
                    <a:latin typeface="Cambria Math" panose="02040503050406030204" pitchFamily="18" charset="0"/>
                  </a:rPr>
                  <a:t>$=\binom{11}{5}$</a:t>
                </a:r>
                <a:r>
                  <a:rPr sz="2400" b="0">
                    <a:solidFill>
                      <a:srgbClr val="111827"/>
                    </a:solidFill>
                    <a:latin typeface="Arial"/>
                  </a:rPr>
                  <a:t> minus (0 girls: </a:t>
                </a:r>
                <a:r>
                  <a:rPr lang="en-IN" sz="2400">
                    <a:solidFill>
                      <a:srgbClr val="111827"/>
                    </a:solidFill>
                    <a:latin typeface="Cambria Math" panose="02040503050406030204" pitchFamily="18" charset="0"/>
                  </a:rPr>
                  <a:t>$\binom65$</a:t>
                </a:r>
                <a:r>
                  <a:rPr sz="2400" b="0">
                    <a:solidFill>
                      <a:srgbClr val="111827"/>
                    </a:solidFill>
                    <a:latin typeface="Arial"/>
                  </a:rPr>
                  <a:t>) minus (1 girl: </a:t>
                </a:r>
                <a:r>
                  <a:rPr lang="en-IN" sz="2400">
                    <a:solidFill>
                      <a:srgbClr val="111827"/>
                    </a:solidFill>
                    <a:latin typeface="Cambria Math" panose="02040503050406030204" pitchFamily="18" charset="0"/>
                  </a:rPr>
                  <a:t>$\binom64\binom51$</a:t>
                </a:r>
                <a:r>
                  <a:rPr sz="2400" b="0">
                    <a:solidFill>
                      <a:srgbClr val="111827"/>
                    </a:solidFill>
                    <a:latin typeface="Arial"/>
                  </a:rPr>
                  <a:t>) </a:t>
                </a:r>
                <a:r>
                  <a:rPr lang="en-IN" sz="2400">
                    <a:solidFill>
                      <a:srgbClr val="111827"/>
                    </a:solidFill>
                    <a:latin typeface="Cambria Math" panose="02040503050406030204" pitchFamily="18" charset="0"/>
                  </a:rPr>
                  <a:t>$=462-6-75=381$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 </a:t>
                </a:r>
                <a:r>
                  <a:rPr lang="en-IN" sz="2400">
                    <a:solidFill>
                      <a:srgbClr val="111827"/>
                    </a:solidFill>
                    <a:latin typeface="Cambria Math" panose="02040503050406030204" pitchFamily="18" charset="0"/>
                  </a:rPr>
                  <a:t>$4$</a:t>
                </a:r>
                <a:r>
                  <a:rPr sz="2400" b="0">
                    <a:solidFill>
                      <a:srgbClr val="111827"/>
                    </a:solidFill>
                    <a:latin typeface="Arial"/>
                  </a:rPr>
                  <a:t> members, at least </a:t>
                </a:r>
                <a:r>
                  <a:rPr lang="en-IN" sz="2400">
                    <a:solidFill>
                      <a:srgbClr val="111827"/>
                    </a:solidFill>
                    <a:latin typeface="Cambria Math" panose="02040503050406030204" pitchFamily="18" charset="0"/>
                  </a:rPr>
                  <a:t>$2$</a:t>
                </a:r>
                <a:r>
                  <a:rPr sz="2400" b="0">
                    <a:solidFill>
                      <a:srgbClr val="111827"/>
                    </a:solidFill>
                    <a:latin typeface="Arial"/>
                  </a:rPr>
                  <a:t> girls, </a:t>
                </a:r>
                <a:r>
                  <a:rPr lang="en-IN" sz="2400">
                    <a:solidFill>
                      <a:srgbClr val="111827"/>
                    </a:solidFill>
                    <a:latin typeface="Cambria Math" panose="02040503050406030204" pitchFamily="18" charset="0"/>
                  </a:rPr>
                  <a:t>$M_1,G_1$</a:t>
                </a:r>
                <a:r>
                  <a:rPr sz="2400" b="0">
                    <a:solidFill>
                      <a:srgbClr val="111827"/>
                    </a:solidFill>
                    <a:latin typeface="Arial"/>
                  </a:rPr>
                  <a:t> not together. Case </a:t>
                </a:r>
                <a:r>
                  <a:rPr lang="en-IN" sz="2400">
                    <a:solidFill>
                      <a:srgbClr val="111827"/>
                    </a:solidFill>
                    <a:latin typeface="Cambria Math" panose="02040503050406030204" pitchFamily="18" charset="0"/>
                  </a:rPr>
                  <a:t>$G_1$</a:t>
                </a:r>
                <a:r>
                  <a:rPr sz="2400" b="0">
                    <a:solidFill>
                      <a:srgbClr val="111827"/>
                    </a:solidFill>
                    <a:latin typeface="Arial"/>
                  </a:rPr>
                  <a:t> in (so </a:t>
                </a:r>
                <a:r>
                  <a:rPr lang="en-IN" sz="2400">
                    <a:solidFill>
                      <a:srgbClr val="111827"/>
                    </a:solidFill>
                    <a:latin typeface="Cambria Math" panose="02040503050406030204" pitchFamily="18" charset="0"/>
                  </a:rPr>
                  <a:t>$M_1$</a:t>
                </a:r>
                <a:r>
                  <a:rPr sz="2400" b="0">
                    <a:solidFill>
                      <a:srgbClr val="111827"/>
                    </a:solidFill>
                    <a:latin typeface="Arial"/>
                  </a:rPr>
                  <a:t> out): </a:t>
                </a:r>
                <a:r>
                  <a:rPr lang="en-IN" sz="2400">
                    <a:solidFill>
                      <a:srgbClr val="111827"/>
                    </a:solidFill>
                    <a:latin typeface="Cambria Math" panose="02040503050406030204" pitchFamily="18" charset="0"/>
                  </a:rPr>
                  <a:t>$\binom41\binom52+\binom42\binom51+\binom43=40+30+4=74$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$M_1$</a:t>
                </a:r>
                <a:r>
                  <a:rPr sz="2400" b="0">
                    <a:solidFill>
                      <a:srgbClr val="111827"/>
                    </a:solidFill>
                    <a:latin typeface="Arial"/>
                  </a:rPr>
                  <a:t> in (so </a:t>
                </a:r>
                <a:r>
                  <a:rPr lang="en-IN" sz="2400">
                    <a:solidFill>
                      <a:srgbClr val="111827"/>
                    </a:solidFill>
                    <a:latin typeface="Cambria Math" panose="02040503050406030204" pitchFamily="18" charset="0"/>
                  </a:rPr>
                  <a:t>$G_1$</a:t>
                </a:r>
                <a:r>
                  <a:rPr sz="2400" b="0">
                    <a:solidFill>
                      <a:srgbClr val="111827"/>
                    </a:solidFill>
                    <a:latin typeface="Arial"/>
                  </a:rPr>
                  <a:t> out): the other </a:t>
                </a:r>
                <a:r>
                  <a:rPr lang="en-IN" sz="2400">
                    <a:solidFill>
                      <a:srgbClr val="111827"/>
                    </a:solidFill>
                    <a:latin typeface="Cambria Math" panose="02040503050406030204" pitchFamily="18" charset="0"/>
                  </a:rPr>
                  <a:t>$3$</a:t>
                </a:r>
                <a:r>
                  <a:rPr sz="2400" b="0">
                    <a:solidFill>
                      <a:srgbClr val="111827"/>
                    </a:solidFill>
                    <a:latin typeface="Arial"/>
                  </a:rPr>
                  <a:t> include at least </a:t>
                </a:r>
                <a:r>
                  <a:rPr lang="en-IN" sz="2400">
                    <a:solidFill>
                      <a:srgbClr val="111827"/>
                    </a:solidFill>
                    <a:latin typeface="Cambria Math" panose="02040503050406030204" pitchFamily="18" charset="0"/>
                  </a:rPr>
                  <a:t>$2$</a:t>
                </a:r>
                <a:r>
                  <a:rPr sz="2400" b="0">
                    <a:solidFill>
                      <a:srgbClr val="111827"/>
                    </a:solidFill>
                    <a:latin typeface="Arial"/>
                  </a:rPr>
                  <a:t> girls from </a:t>
                </a:r>
                <a:r>
                  <a:rPr lang="en-IN" sz="2400">
                    <a:solidFill>
                      <a:srgbClr val="111827"/>
                    </a:solidFill>
                    <a:latin typeface="Cambria Math" panose="02040503050406030204" pitchFamily="18" charset="0"/>
                  </a:rPr>
                  <a:t>$G_2..G_5$</a:t>
                </a:r>
                <a:r>
                  <a:rPr sz="2400" b="0">
                    <a:solidFill>
                      <a:srgbClr val="111827"/>
                    </a:solidFill>
                    <a:latin typeface="Arial"/>
                  </a:rPr>
                  <a:t>: </a:t>
                </a:r>
                <a:r>
                  <a:rPr lang="en-IN" sz="2400">
                    <a:solidFill>
                      <a:srgbClr val="111827"/>
                    </a:solidFill>
                    <a:latin typeface="Cambria Math" panose="02040503050406030204" pitchFamily="18" charset="0"/>
                  </a:rPr>
                  <a:t>$\binom42\binom51+\binom43=30+4=34$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both </a:t>
                </a:r>
                <a:r>
                  <a:rPr lang="en-IN" sz="2400">
                    <a:solidFill>
                      <a:srgbClr val="111827"/>
                    </a:solidFill>
                    <a:latin typeface="Cambria Math" panose="02040503050406030204" pitchFamily="18" charset="0"/>
                  </a:rPr>
                  <a:t>$M_1$</a:t>
                </a:r>
                <a:r>
                  <a:rPr sz="2400" b="0">
                    <a:solidFill>
                      <a:srgbClr val="111827"/>
                    </a:solidFill>
                    <a:latin typeface="Arial"/>
                  </a:rPr>
                  <a:t> and </a:t>
                </a:r>
                <a:r>
                  <a:rPr lang="en-IN" sz="2400">
                    <a:solidFill>
                      <a:srgbClr val="111827"/>
                    </a:solidFill>
                    <a:latin typeface="Cambria Math" panose="02040503050406030204" pitchFamily="18" charset="0"/>
                  </a:rPr>
                  <a:t>$G_1$</a:t>
                </a:r>
                <a:r>
                  <a:rPr sz="2400" b="0">
                    <a:solidFill>
                      <a:srgbClr val="111827"/>
                    </a:solidFill>
                    <a:latin typeface="Arial"/>
                  </a:rPr>
                  <a:t> out: </a:t>
                </a:r>
                <a:r>
                  <a:rPr lang="en-IN" sz="2400">
                    <a:solidFill>
                      <a:srgbClr val="111827"/>
                    </a:solidFill>
                    <a:latin typeface="Cambria Math" panose="02040503050406030204" pitchFamily="18" charset="0"/>
                  </a:rPr>
                  <a:t>$\binom44+\binom43\binom51+\binom42\binom52=1+20+60=81$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$\alpha_4=74+34+81=189$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P</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Q</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R</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P</a:t>
                </a:r>
                <a:r>
                  <a:rPr lang="en-IN" sz="2400">
                    <a:solidFill>
                      <a:srgbClr val="111827"/>
                    </a:solidFill>
                    <a:latin typeface="Cambria Math" panose="02040503050406030204" pitchFamily="18" charset="0"/>
                  </a:rPr>
                  <a:t>$\to4$</a:t>
                </a:r>
                <a:r>
                  <a:rPr sz="2400" b="0">
                    <a:solidFill>
                      <a:srgbClr val="111827"/>
                    </a:solidFill>
                    <a:latin typeface="Arial"/>
                  </a:rPr>
                  <a:t>, Q</a:t>
                </a:r>
                <a:r>
                  <a:rPr lang="en-IN" sz="2400">
                    <a:solidFill>
                      <a:srgbClr val="111827"/>
                    </a:solidFill>
                    <a:latin typeface="Cambria Math" panose="02040503050406030204" pitchFamily="18" charset="0"/>
                  </a:rPr>
                  <a:t>$\to6$</a:t>
                </a:r>
                <a:r>
                  <a:rPr sz="2400" b="0">
                    <a:solidFill>
                      <a:srgbClr val="111827"/>
                    </a:solidFill>
                    <a:latin typeface="Arial"/>
                  </a:rPr>
                  <a:t>, R</a:t>
                </a:r>
                <a:r>
                  <a:rPr lang="en-IN" sz="2400">
                    <a:solidFill>
                      <a:srgbClr val="111827"/>
                    </a:solidFill>
                    <a:latin typeface="Cambria Math" panose="02040503050406030204" pitchFamily="18" charset="0"/>
                  </a:rPr>
                  <a:t>$\to5$</a:t>
                </a:r>
                <a:r>
                  <a:rPr sz="2400" b="0">
                    <a:solidFill>
                      <a:srgbClr val="111827"/>
                    </a:solidFill>
                    <a:latin typeface="Arial"/>
                  </a:rPr>
                  <a:t>, S</a:t>
                </a:r>
                <a:r>
                  <a:rPr lang="en-IN" sz="2400">
                    <a:solidFill>
                      <a:srgbClr val="111827"/>
                    </a:solidFill>
                    <a:latin typeface="Cambria Math" panose="02040503050406030204" pitchFamily="18" charset="0"/>
                  </a:rPr>
                  <a:t>$\to2$</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P→4; Q→6; R→5; S→2</a:t>
            </a:r>
            <a:endParaRPr sz="2800">
              <a:solidFill>
                <a:srgbClr val="15803D"/>
              </a:solidFil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S use complementary counting: all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-member committees with at least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girls, minus those containing both </a:t>
                </a:r>
                <a14:m>
                  <m:oMath xmlns:m="http://schemas.openxmlformats.org/officeDocument/2006/math">
                    <m:sSub>
                      <m:e>
                        <m:r>
                          <a:rPr lang="en-IN" sz="2400" i="1">
                            <a:solidFill>
                              <a:srgbClr val="78350F"/>
                            </a:solidFill>
                            <a:latin typeface="Cambria Math" panose="02040503050406030204" pitchFamily="18" charset="0"/>
                          </a:rPr>
                          <m:t>𝑀</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𝐺</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S use complementary counting: all </a:t>
                </a:r>
                <a:r>
                  <a:rPr lang="en-IN" sz="2400">
                    <a:solidFill>
                      <a:srgbClr val="78350F"/>
                    </a:solidFill>
                    <a:latin typeface="Cambria Math" panose="02040503050406030204" pitchFamily="18" charset="0"/>
                  </a:rPr>
                  <a:t>$4$</a:t>
                </a:r>
                <a:r>
                  <a:rPr sz="2400" b="0">
                    <a:solidFill>
                      <a:srgbClr val="78350F"/>
                    </a:solidFill>
                    <a:latin typeface="Arial"/>
                  </a:rPr>
                  <a:t>-member committees with at least </a:t>
                </a:r>
                <a:r>
                  <a:rPr lang="en-IN" sz="2400">
                    <a:solidFill>
                      <a:srgbClr val="78350F"/>
                    </a:solidFill>
                    <a:latin typeface="Cambria Math" panose="02040503050406030204" pitchFamily="18" charset="0"/>
                  </a:rPr>
                  <a:t>$2$</a:t>
                </a:r>
                <a:r>
                  <a:rPr sz="2400" b="0">
                    <a:solidFill>
                      <a:srgbClr val="78350F"/>
                    </a:solidFill>
                    <a:latin typeface="Arial"/>
                  </a:rPr>
                  <a:t> girls, minus those containing both </a:t>
                </a:r>
                <a:r>
                  <a:rPr lang="en-IN" sz="2400">
                    <a:solidFill>
                      <a:srgbClr val="78350F"/>
                    </a:solidFill>
                    <a:latin typeface="Cambria Math" panose="02040503050406030204" pitchFamily="18" charset="0"/>
                  </a:rPr>
                  <a:t>$M_1$</a:t>
                </a:r>
                <a:r>
                  <a:rPr sz="2400" b="0">
                    <a:solidFill>
                      <a:srgbClr val="78350F"/>
                    </a:solidFill>
                    <a:latin typeface="Arial"/>
                  </a:rPr>
                  <a:t> and </a:t>
                </a:r>
                <a:r>
                  <a:rPr lang="en-IN" sz="2400">
                    <a:solidFill>
                      <a:srgbClr val="78350F"/>
                    </a:solidFill>
                    <a:latin typeface="Cambria Math" panose="02040503050406030204" pitchFamily="18" charset="0"/>
                  </a:rPr>
                  <a:t>$G_1$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-member committees with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girls: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Those containing both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more from the other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people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boys,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girls) with at least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more girl to reach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girls overall.</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a:t>
                </a:r>
                <a:r>
                  <a:rPr sz="2400" b="0">
                    <a:solidFill>
                      <a:srgbClr val="111827"/>
                    </a:solidFill>
                    <a:latin typeface="Arial"/>
                  </a:rPr>
                  <a:t>-member committees with at least </a:t>
                </a:r>
                <a:r>
                  <a:rPr lang="en-IN" sz="2400">
                    <a:solidFill>
                      <a:srgbClr val="111827"/>
                    </a:solidFill>
                    <a:latin typeface="Cambria Math" panose="02040503050406030204" pitchFamily="18" charset="0"/>
                  </a:rPr>
                  <a:t>$2$</a:t>
                </a:r>
                <a:r>
                  <a:rPr sz="2400" b="0">
                    <a:solidFill>
                      <a:srgbClr val="111827"/>
                    </a:solidFill>
                    <a:latin typeface="Arial"/>
                  </a:rPr>
                  <a:t> girls: </a:t>
                </a:r>
                <a:r>
                  <a:rPr lang="en-IN" sz="2400">
                    <a:solidFill>
                      <a:srgbClr val="111827"/>
                    </a:solidFill>
                    <a:latin typeface="Cambria Math" panose="02040503050406030204" pitchFamily="18" charset="0"/>
                  </a:rPr>
                  <a:t>$\binom52\binom62+\binom53\binom61+\binom54=150+60+5=215$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Those containing both </a:t>
                </a:r>
                <a:r>
                  <a:rPr lang="en-IN" sz="2400">
                    <a:solidFill>
                      <a:srgbClr val="111827"/>
                    </a:solidFill>
                    <a:latin typeface="Cambria Math" panose="02040503050406030204" pitchFamily="18" charset="0"/>
                  </a:rPr>
                  <a:t>$M_1$</a:t>
                </a:r>
                <a:r>
                  <a:rPr sz="2400" b="0">
                    <a:solidFill>
                      <a:srgbClr val="111827"/>
                    </a:solidFill>
                    <a:latin typeface="Arial"/>
                  </a:rPr>
                  <a:t> and </a:t>
                </a:r>
                <a:r>
                  <a:rPr lang="en-IN" sz="2400">
                    <a:solidFill>
                      <a:srgbClr val="111827"/>
                    </a:solidFill>
                    <a:latin typeface="Cambria Math" panose="02040503050406030204" pitchFamily="18" charset="0"/>
                  </a:rPr>
                  <a:t>$G_1$</a:t>
                </a:r>
                <a:r>
                  <a:rPr sz="2400" b="0">
                    <a:solidFill>
                      <a:srgbClr val="111827"/>
                    </a:solidFill>
                    <a:latin typeface="Arial"/>
                  </a:rPr>
                  <a:t>: choose </a:t>
                </a:r>
                <a:r>
                  <a:rPr lang="en-IN" sz="2400">
                    <a:solidFill>
                      <a:srgbClr val="111827"/>
                    </a:solidFill>
                    <a:latin typeface="Cambria Math" panose="02040503050406030204" pitchFamily="18" charset="0"/>
                  </a:rPr>
                  <a:t>$2$</a:t>
                </a:r>
                <a:r>
                  <a:rPr sz="2400" b="0">
                    <a:solidFill>
                      <a:srgbClr val="111827"/>
                    </a:solidFill>
                    <a:latin typeface="Arial"/>
                  </a:rPr>
                  <a:t> more from the other </a:t>
                </a:r>
                <a:r>
                  <a:rPr lang="en-IN" sz="2400">
                    <a:solidFill>
                      <a:srgbClr val="111827"/>
                    </a:solidFill>
                    <a:latin typeface="Cambria Math" panose="02040503050406030204" pitchFamily="18" charset="0"/>
                  </a:rPr>
                  <a:t>$9$</a:t>
                </a:r>
                <a:r>
                  <a:rPr sz="2400" b="0">
                    <a:solidFill>
                      <a:srgbClr val="111827"/>
                    </a:solidFill>
                    <a:latin typeface="Arial"/>
                  </a:rPr>
                  <a:t> people (</a:t>
                </a:r>
                <a:r>
                  <a:rPr lang="en-IN" sz="2400">
                    <a:solidFill>
                      <a:srgbClr val="111827"/>
                    </a:solidFill>
                    <a:latin typeface="Cambria Math" panose="02040503050406030204" pitchFamily="18" charset="0"/>
                  </a:rPr>
                  <a:t>$5$</a:t>
                </a:r>
                <a:r>
                  <a:rPr sz="2400" b="0">
                    <a:solidFill>
                      <a:srgbClr val="111827"/>
                    </a:solidFill>
                    <a:latin typeface="Arial"/>
                  </a:rPr>
                  <a:t> boys, </a:t>
                </a:r>
                <a:r>
                  <a:rPr lang="en-IN" sz="2400">
                    <a:solidFill>
                      <a:srgbClr val="111827"/>
                    </a:solidFill>
                    <a:latin typeface="Cambria Math" panose="02040503050406030204" pitchFamily="18" charset="0"/>
                  </a:rPr>
                  <a:t>$4$</a:t>
                </a:r>
                <a:r>
                  <a:rPr sz="2400" b="0">
                    <a:solidFill>
                      <a:srgbClr val="111827"/>
                    </a:solidFill>
                    <a:latin typeface="Arial"/>
                  </a:rPr>
                  <a:t> girls) with at least </a:t>
                </a:r>
                <a:r>
                  <a:rPr lang="en-IN" sz="2400">
                    <a:solidFill>
                      <a:srgbClr val="111827"/>
                    </a:solidFill>
                    <a:latin typeface="Cambria Math" panose="02040503050406030204" pitchFamily="18" charset="0"/>
                  </a:rPr>
                  <a:t>$1$</a:t>
                </a:r>
                <a:r>
                  <a:rPr sz="2400" b="0">
                    <a:solidFill>
                      <a:srgbClr val="111827"/>
                    </a:solidFill>
                    <a:latin typeface="Arial"/>
                  </a:rPr>
                  <a:t> more girl to reach </a:t>
                </a:r>
                <a:r>
                  <a:rPr lang="en-IN" sz="2400">
                    <a:solidFill>
                      <a:srgbClr val="111827"/>
                    </a:solidFill>
                    <a:latin typeface="Cambria Math" panose="02040503050406030204" pitchFamily="18" charset="0"/>
                  </a:rPr>
                  <a:t>$2$</a:t>
                </a:r>
                <a:r>
                  <a:rPr sz="2400" b="0">
                    <a:solidFill>
                      <a:srgbClr val="111827"/>
                    </a:solidFill>
                    <a:latin typeface="Arial"/>
                  </a:rPr>
                  <a:t> girls overall.</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(remove the two-boy choices).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189</m:t>
                    </m:r>
                  </m:oMath>
                </a14:m>
                <a:r>
                  <a:rPr sz="2400" b="0">
                    <a:solidFill>
                      <a:srgbClr val="111827"/>
                    </a:solidFill>
                    <a:latin typeface="Arial"/>
                  </a:rPr>
                  <a:t>, matching the case count. The other three values are as before: </a:t>
                </a:r>
                <a14:m>
                  <m:oMath xmlns:m="http://schemas.openxmlformats.org/officeDocument/2006/math">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$\binom92-\binom52=36-10=26$</a:t>
                </a:r>
                <a:r>
                  <a:rPr sz="2400" b="0">
                    <a:solidFill>
                      <a:srgbClr val="111827"/>
                    </a:solidFill>
                    <a:latin typeface="Arial"/>
                  </a:rPr>
                  <a:t> (remove the two-boy choices).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$\alpha_4=215-26=189$</a:t>
                </a:r>
                <a:r>
                  <a:rPr sz="2400" b="0">
                    <a:solidFill>
                      <a:srgbClr val="111827"/>
                    </a:solidFill>
                    <a:latin typeface="Arial"/>
                  </a:rPr>
                  <a:t>, matching the case count. The other three values are as before: </a:t>
                </a:r>
                <a:r>
                  <a:rPr lang="en-IN" sz="2400">
                    <a:solidFill>
                      <a:srgbClr val="111827"/>
                    </a:solidFill>
                    <a:latin typeface="Cambria Math" panose="02040503050406030204" pitchFamily="18" charset="0"/>
                  </a:rPr>
                  <a:t>$200,461,381$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P→4; Q→6; R→5; S→2</a:t>
            </a:r>
            <a:endParaRPr sz="2800">
              <a:solidFill>
                <a:srgbClr val="15803D"/>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specific people not together' = total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present); or split into three cases (only A, only B, neither).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girls' in a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-committee: complement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girl,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Vandermonde: </a:t>
                </a:r>
                <a:r>
                  <a:rPr lang="en-IN" sz="2400">
                    <a:solidFill>
                      <a:srgbClr val="111827"/>
                    </a:solidFill>
                    <a:latin typeface="Cambria Math" panose="02040503050406030204" pitchFamily="18" charset="0"/>
                  </a:rPr>
                  <a:t>$\sum_k\binom mk\binom n{r-k}=\binom{m+n}r$</a:t>
                </a:r>
                <a:r>
                  <a:rPr sz="2400" b="0">
                    <a:solidFill>
                      <a:srgbClr val="111827"/>
                    </a:solidFill>
                    <a:latin typeface="Arial"/>
                  </a:rPr>
                  <a:t>; with </a:t>
                </a:r>
                <a:r>
                  <a:rPr lang="en-IN" sz="2400">
                    <a:solidFill>
                      <a:srgbClr val="111827"/>
                    </a:solidFill>
                    <a:latin typeface="Cambria Math" panose="02040503050406030204" pitchFamily="18" charset="0"/>
                  </a:rPr>
                  <a:t>$m=6,n=5,r=5$</a:t>
                </a:r>
                <a:r>
                  <a:rPr sz="2400" b="0">
                    <a:solidFill>
                      <a:srgbClr val="111827"/>
                    </a:solidFill>
                    <a:latin typeface="Arial"/>
                  </a:rPr>
                  <a:t> and </a:t>
                </a:r>
                <a:r>
                  <a:rPr lang="en-IN" sz="2400">
                    <a:solidFill>
                      <a:srgbClr val="111827"/>
                    </a:solidFill>
                    <a:latin typeface="Cambria Math" panose="02040503050406030204" pitchFamily="18" charset="0"/>
                  </a:rPr>
                  <a:t>$\binom5k=\binom5{5-k}$</a:t>
                </a:r>
                <a:r>
                  <a:rPr sz="2400" b="0">
                    <a:solidFill>
                      <a:srgbClr val="111827"/>
                    </a:solidFill>
                    <a:latin typeface="Arial"/>
                  </a:rPr>
                  <a:t>, </a:t>
                </a:r>
                <a:r>
                  <a:rPr lang="en-IN" sz="2400">
                    <a:solidFill>
                      <a:srgbClr val="111827"/>
                    </a:solidFill>
                    <a:latin typeface="Cambria Math" panose="02040503050406030204" pitchFamily="18" charset="0"/>
                  </a:rPr>
                  <a:t>$\sum_{k}\binom6k\binom5k=\binom{11}5$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specific people not together' = total </a:t>
                </a:r>
                <a:r>
                  <a:rPr lang="en-IN" sz="2400">
                    <a:solidFill>
                      <a:srgbClr val="111827"/>
                    </a:solidFill>
                    <a:latin typeface="Cambria Math" panose="02040503050406030204" pitchFamily="18" charset="0"/>
                  </a:rPr>
                  <a:t>$-$</a:t>
                </a:r>
                <a:r>
                  <a:rPr sz="2400" b="0">
                    <a:solidFill>
                      <a:srgbClr val="111827"/>
                    </a:solidFill>
                    <a:latin typeface="Arial"/>
                  </a:rPr>
                  <a:t> (both present); or split into three cases (only A, only B, neither).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a:t>
                </a:r>
                <a:r>
                  <a:rPr lang="en-IN" sz="2400">
                    <a:solidFill>
                      <a:srgbClr val="111827"/>
                    </a:solidFill>
                    <a:latin typeface="Cambria Math" panose="02040503050406030204" pitchFamily="18" charset="0"/>
                  </a:rPr>
                  <a:t>$2$</a:t>
                </a:r>
                <a:r>
                  <a:rPr sz="2400" b="0">
                    <a:solidFill>
                      <a:srgbClr val="111827"/>
                    </a:solidFill>
                    <a:latin typeface="Arial"/>
                  </a:rPr>
                  <a:t> girls' in a </a:t>
                </a:r>
                <a:r>
                  <a:rPr lang="en-IN" sz="2400">
                    <a:solidFill>
                      <a:srgbClr val="111827"/>
                    </a:solidFill>
                    <a:latin typeface="Cambria Math" panose="02040503050406030204" pitchFamily="18" charset="0"/>
                  </a:rPr>
                  <a:t>$5$</a:t>
                </a:r>
                <a:r>
                  <a:rPr sz="2400" b="0">
                    <a:solidFill>
                      <a:srgbClr val="111827"/>
                    </a:solidFill>
                    <a:latin typeface="Arial"/>
                  </a:rPr>
                  <a:t>-committee: complement is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girl, </a:t>
                </a:r>
                <a:r>
                  <a:rPr lang="en-IN" sz="2400">
                    <a:solidFill>
                      <a:srgbClr val="111827"/>
                    </a:solidFill>
                    <a:latin typeface="Cambria Math" panose="02040503050406030204" pitchFamily="18" charset="0"/>
                  </a:rPr>
                  <a:t>$\binom65+\binom64\binom51=81$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Q13 – Q15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Five persons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are seated in a circular arrangement. If each of them is given a hat of one of the three colours red, blue and green then the number of ways of distributing the hats such that the persons seated in adjacent seats get different coloured hats is ______. [JEE (Adv) 2019]</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Five persons </a:t>
                </a:r>
                <a:r>
                  <a:rPr lang="en-IN" sz="2400">
                    <a:solidFill>
                      <a:srgbClr val="111827"/>
                    </a:solidFill>
                    <a:latin typeface="Cambria Math" panose="02040503050406030204" pitchFamily="18" charset="0"/>
                  </a:rPr>
                  <a:t>$A,B,C,D$</a:t>
                </a:r>
                <a:r>
                  <a:rPr sz="2400" b="0">
                    <a:solidFill>
                      <a:srgbClr val="111827"/>
                    </a:solidFill>
                    <a:latin typeface="Arial"/>
                  </a:rPr>
                  <a:t> and </a:t>
                </a:r>
                <a:r>
                  <a:rPr lang="en-IN" sz="2400">
                    <a:solidFill>
                      <a:srgbClr val="111827"/>
                    </a:solidFill>
                    <a:latin typeface="Cambria Math" panose="02040503050406030204" pitchFamily="18" charset="0"/>
                  </a:rPr>
                  <a:t>$E$</a:t>
                </a:r>
                <a:r>
                  <a:rPr sz="2400" b="0">
                    <a:solidFill>
                      <a:srgbClr val="111827"/>
                    </a:solidFill>
                    <a:latin typeface="Arial"/>
                  </a:rPr>
                  <a:t> are seated in a circular arrangement. If each of them is given a hat of one of the three colours red, blue and green then the number of ways of distributing the hats such that the persons seated in adjacent seats get different coloured hats is ______. [JEE (Adv) 2019]</a:t>
                </a:r>
                <a:endParaRPr sz="2400">
                  <a:solidFill>
                    <a:srgbClr val="111827"/>
                  </a:solidFill>
                </a:endParaRPr>
              </a:p>
            </p:txBody>
          </p:sp>
        </mc:Fallback>
      </mc:AlternateContent>
      <p:sp>
        <p:nvSpPr>
          <p:cNvPr id="5" name="Rectangle 4"/>
          <p:cNvSpPr/>
          <p:nvPr/>
        </p:nvSpPr>
        <p:spPr>
          <a:xfrm>
            <a:off x="731520" y="3888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Circular arrangements with colouring restrictions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 a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-cycle with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colours no colour can be used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times, so the colour counts are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 a </a:t>
                </a:r>
                <a:r>
                  <a:rPr lang="en-IN" sz="2400">
                    <a:solidFill>
                      <a:srgbClr val="78350F"/>
                    </a:solidFill>
                    <a:latin typeface="Cambria Math" panose="02040503050406030204" pitchFamily="18" charset="0"/>
                  </a:rPr>
                  <a:t>$5$</a:t>
                </a:r>
                <a:r>
                  <a:rPr sz="2400" b="0">
                    <a:solidFill>
                      <a:srgbClr val="78350F"/>
                    </a:solidFill>
                    <a:latin typeface="Arial"/>
                  </a:rPr>
                  <a:t>-cycle with </a:t>
                </a:r>
                <a:r>
                  <a:rPr lang="en-IN" sz="2400">
                    <a:solidFill>
                      <a:srgbClr val="78350F"/>
                    </a:solidFill>
                    <a:latin typeface="Cambria Math" panose="02040503050406030204" pitchFamily="18" charset="0"/>
                  </a:rPr>
                  <a:t>$3$</a:t>
                </a:r>
                <a:r>
                  <a:rPr sz="2400" b="0">
                    <a:solidFill>
                      <a:srgbClr val="78350F"/>
                    </a:solidFill>
                    <a:latin typeface="Arial"/>
                  </a:rPr>
                  <a:t> colours no colour can be used </a:t>
                </a:r>
                <a:r>
                  <a:rPr lang="en-IN" sz="2400">
                    <a:solidFill>
                      <a:srgbClr val="78350F"/>
                    </a:solidFill>
                    <a:latin typeface="Cambria Math" panose="02040503050406030204" pitchFamily="18" charset="0"/>
                  </a:rPr>
                  <a:t>$3$</a:t>
                </a:r>
                <a:r>
                  <a:rPr sz="2400" b="0">
                    <a:solidFill>
                      <a:srgbClr val="78350F"/>
                    </a:solidFill>
                    <a:latin typeface="Arial"/>
                  </a:rPr>
                  <a:t> times, so the colour counts are </a:t>
                </a:r>
                <a:r>
                  <a:rPr lang="en-IN" sz="2400">
                    <a:solidFill>
                      <a:srgbClr val="78350F"/>
                    </a:solidFill>
                    <a:latin typeface="Cambria Math" panose="02040503050406030204" pitchFamily="18" charset="0"/>
                  </a:rPr>
                  <a:t>$2,2,1$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colour were used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times among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seats in a circle, two of those seats would be adjacent. So each colour is used at most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times.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hats and each colour used at most twice, the counts must be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Choose the colour used once 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ways (RRGGB, RGGBB or RRGBB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RRGGB: place the single blue hat on any of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persons: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colour were used </a:t>
                </a:r>
                <a:r>
                  <a:rPr lang="en-IN" sz="2400">
                    <a:solidFill>
                      <a:srgbClr val="111827"/>
                    </a:solidFill>
                    <a:latin typeface="Cambria Math" panose="02040503050406030204" pitchFamily="18" charset="0"/>
                  </a:rPr>
                  <a:t>$3$</a:t>
                </a:r>
                <a:r>
                  <a:rPr sz="2400" b="0">
                    <a:solidFill>
                      <a:srgbClr val="111827"/>
                    </a:solidFill>
                    <a:latin typeface="Arial"/>
                  </a:rPr>
                  <a:t> times among </a:t>
                </a:r>
                <a:r>
                  <a:rPr lang="en-IN" sz="2400">
                    <a:solidFill>
                      <a:srgbClr val="111827"/>
                    </a:solidFill>
                    <a:latin typeface="Cambria Math" panose="02040503050406030204" pitchFamily="18" charset="0"/>
                  </a:rPr>
                  <a:t>$5$</a:t>
                </a:r>
                <a:r>
                  <a:rPr sz="2400" b="0">
                    <a:solidFill>
                      <a:srgbClr val="111827"/>
                    </a:solidFill>
                    <a:latin typeface="Arial"/>
                  </a:rPr>
                  <a:t> seats in a circle, two of those seats would be adjacent. So each colour is used at most </a:t>
                </a:r>
                <a:r>
                  <a:rPr lang="en-IN" sz="2400">
                    <a:solidFill>
                      <a:srgbClr val="111827"/>
                    </a:solidFill>
                    <a:latin typeface="Cambria Math" panose="02040503050406030204" pitchFamily="18" charset="0"/>
                  </a:rPr>
                  <a:t>$2$</a:t>
                </a:r>
                <a:r>
                  <a:rPr sz="2400" b="0">
                    <a:solidFill>
                      <a:srgbClr val="111827"/>
                    </a:solidFill>
                    <a:latin typeface="Arial"/>
                  </a:rPr>
                  <a:t> times.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$5$</a:t>
                </a:r>
                <a:r>
                  <a:rPr sz="2400" b="0">
                    <a:solidFill>
                      <a:srgbClr val="111827"/>
                    </a:solidFill>
                    <a:latin typeface="Arial"/>
                  </a:rPr>
                  <a:t> hats and each colour used at most twice, the counts must be </a:t>
                </a:r>
                <a:r>
                  <a:rPr lang="en-IN" sz="2400">
                    <a:solidFill>
                      <a:srgbClr val="111827"/>
                    </a:solidFill>
                    <a:latin typeface="Cambria Math" panose="02040503050406030204" pitchFamily="18" charset="0"/>
                  </a:rPr>
                  <a:t>$2,2,1$</a:t>
                </a:r>
                <a:r>
                  <a:rPr sz="2400" b="0">
                    <a:solidFill>
                      <a:srgbClr val="111827"/>
                    </a:solidFill>
                    <a:latin typeface="Arial"/>
                  </a:rPr>
                  <a:t>. Choose the colour used once in </a:t>
                </a:r>
                <a:r>
                  <a:rPr lang="en-IN" sz="2400">
                    <a:solidFill>
                      <a:srgbClr val="111827"/>
                    </a:solidFill>
                    <a:latin typeface="Cambria Math" panose="02040503050406030204" pitchFamily="18" charset="0"/>
                  </a:rPr>
                  <a:t>$3$</a:t>
                </a:r>
                <a:r>
                  <a:rPr sz="2400" b="0">
                    <a:solidFill>
                      <a:srgbClr val="111827"/>
                    </a:solidFill>
                    <a:latin typeface="Arial"/>
                  </a:rPr>
                  <a:t> ways (RRGGB, RGGBB or RRGBB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RRGGB: place the single blue hat on any of the </a:t>
                </a:r>
                <a:r>
                  <a:rPr lang="en-IN" sz="2400">
                    <a:solidFill>
                      <a:srgbClr val="111827"/>
                    </a:solidFill>
                    <a:latin typeface="Cambria Math" panose="02040503050406030204" pitchFamily="18" charset="0"/>
                  </a:rPr>
                  <a:t>$5$</a:t>
                </a:r>
                <a:r>
                  <a:rPr sz="2400" b="0">
                    <a:solidFill>
                      <a:srgbClr val="111827"/>
                    </a:solidFill>
                    <a:latin typeface="Arial"/>
                  </a:rPr>
                  <a:t> persons: </a:t>
                </a:r>
                <a:r>
                  <a:rPr lang="en-IN" sz="2400">
                    <a:solidFill>
                      <a:srgbClr val="111827"/>
                    </a:solidFill>
                    <a:latin typeface="Cambria Math" panose="02040503050406030204" pitchFamily="18" charset="0"/>
                  </a:rPr>
                  <a:t>$5$</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Say blue goes to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remaining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seats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form a path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adjacent to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only; adjacent seats need different colours.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are one colour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the other: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green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red, or the reverse: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Say blue goes to </a:t>
                </a:r>
                <a:r>
                  <a:rPr lang="en-IN" sz="2400">
                    <a:solidFill>
                      <a:srgbClr val="111827"/>
                    </a:solidFill>
                    <a:latin typeface="Cambria Math" panose="02040503050406030204" pitchFamily="18" charset="0"/>
                  </a:rPr>
                  <a:t>$A$</a:t>
                </a:r>
                <a:r>
                  <a:rPr sz="2400" b="0">
                    <a:solidFill>
                      <a:srgbClr val="111827"/>
                    </a:solidFill>
                    <a:latin typeface="Arial"/>
                  </a:rPr>
                  <a:t>. The remaining </a:t>
                </a:r>
                <a:r>
                  <a:rPr lang="en-IN" sz="2400">
                    <a:solidFill>
                      <a:srgbClr val="111827"/>
                    </a:solidFill>
                    <a:latin typeface="Cambria Math" panose="02040503050406030204" pitchFamily="18" charset="0"/>
                  </a:rPr>
                  <a:t>$4$</a:t>
                </a:r>
                <a:r>
                  <a:rPr sz="2400" b="0">
                    <a:solidFill>
                      <a:srgbClr val="111827"/>
                    </a:solidFill>
                    <a:latin typeface="Arial"/>
                  </a:rPr>
                  <a:t> seats </a:t>
                </a:r>
                <a:r>
                  <a:rPr lang="en-IN" sz="2400">
                    <a:solidFill>
                      <a:srgbClr val="111827"/>
                    </a:solidFill>
                    <a:latin typeface="Cambria Math" panose="02040503050406030204" pitchFamily="18" charset="0"/>
                  </a:rPr>
                  <a:t>$B,C,D,E$</a:t>
                </a:r>
                <a:r>
                  <a:rPr sz="2400" b="0">
                    <a:solidFill>
                      <a:srgbClr val="111827"/>
                    </a:solidFill>
                    <a:latin typeface="Arial"/>
                  </a:rPr>
                  <a:t> form a path </a:t>
                </a:r>
                <a:r>
                  <a:rPr lang="en-IN" sz="2400">
                    <a:solidFill>
                      <a:srgbClr val="111827"/>
                    </a:solidFill>
                    <a:latin typeface="Cambria Math" panose="02040503050406030204" pitchFamily="18" charset="0"/>
                  </a:rPr>
                  <a:t>$B$</a:t>
                </a:r>
                <a:r>
                  <a:rPr sz="2400" b="0">
                    <a:solidFill>
                      <a:srgbClr val="111827"/>
                    </a:solidFill>
                    <a:latin typeface="Arial"/>
                  </a:rPr>
                  <a:t>–</a:t>
                </a:r>
                <a:r>
                  <a:rPr lang="en-IN" sz="2400">
                    <a:solidFill>
                      <a:srgbClr val="111827"/>
                    </a:solidFill>
                    <a:latin typeface="Cambria Math" panose="02040503050406030204" pitchFamily="18" charset="0"/>
                  </a:rPr>
                  <a:t>$C$</a:t>
                </a:r>
                <a:r>
                  <a:rPr sz="2400" b="0">
                    <a:solidFill>
                      <a:srgbClr val="111827"/>
                    </a:solidFill>
                    <a:latin typeface="Arial"/>
                  </a:rPr>
                  <a:t>–</a:t>
                </a:r>
                <a:r>
                  <a:rPr lang="en-IN" sz="2400">
                    <a:solidFill>
                      <a:srgbClr val="111827"/>
                    </a:solidFill>
                    <a:latin typeface="Cambria Math" panose="02040503050406030204" pitchFamily="18" charset="0"/>
                  </a:rPr>
                  <a:t>$D$</a:t>
                </a:r>
                <a:r>
                  <a:rPr sz="2400" b="0">
                    <a:solidFill>
                      <a:srgbClr val="111827"/>
                    </a:solidFill>
                    <a:latin typeface="Arial"/>
                  </a:rPr>
                  <a:t>–</a:t>
                </a:r>
                <a:r>
                  <a:rPr lang="en-IN" sz="2400">
                    <a:solidFill>
                      <a:srgbClr val="111827"/>
                    </a:solidFill>
                    <a:latin typeface="Cambria Math" panose="02040503050406030204" pitchFamily="18" charset="0"/>
                  </a:rPr>
                  <a:t>$E$</a:t>
                </a:r>
                <a:r>
                  <a:rPr sz="2400" b="0">
                    <a:solidFill>
                      <a:srgbClr val="111827"/>
                    </a:solidFill>
                    <a:latin typeface="Arial"/>
                  </a:rPr>
                  <a:t> with </a:t>
                </a:r>
                <a:r>
                  <a:rPr lang="en-IN" sz="2400">
                    <a:solidFill>
                      <a:srgbClr val="111827"/>
                    </a:solidFill>
                    <a:latin typeface="Cambria Math" panose="02040503050406030204" pitchFamily="18" charset="0"/>
                  </a:rPr>
                  <a:t>$B,E$</a:t>
                </a:r>
                <a:r>
                  <a:rPr sz="2400" b="0">
                    <a:solidFill>
                      <a:srgbClr val="111827"/>
                    </a:solidFill>
                    <a:latin typeface="Arial"/>
                  </a:rPr>
                  <a:t> adjacent to </a:t>
                </a:r>
                <a:r>
                  <a:rPr lang="en-IN" sz="2400">
                    <a:solidFill>
                      <a:srgbClr val="111827"/>
                    </a:solidFill>
                    <a:latin typeface="Cambria Math" panose="02040503050406030204" pitchFamily="18" charset="0"/>
                  </a:rPr>
                  <a:t>$A$</a:t>
                </a:r>
                <a:r>
                  <a:rPr sz="2400" b="0">
                    <a:solidFill>
                      <a:srgbClr val="111827"/>
                    </a:solidFill>
                    <a:latin typeface="Arial"/>
                  </a:rPr>
                  <a:t> only; adjacent seats need different colours.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$B,D$</a:t>
                </a:r>
                <a:r>
                  <a:rPr sz="2400" b="0">
                    <a:solidFill>
                      <a:srgbClr val="111827"/>
                    </a:solidFill>
                    <a:latin typeface="Arial"/>
                  </a:rPr>
                  <a:t> are one colour and </a:t>
                </a:r>
                <a:r>
                  <a:rPr lang="en-IN" sz="2400">
                    <a:solidFill>
                      <a:srgbClr val="111827"/>
                    </a:solidFill>
                    <a:latin typeface="Cambria Math" panose="02040503050406030204" pitchFamily="18" charset="0"/>
                  </a:rPr>
                  <a:t>$C,E$</a:t>
                </a:r>
                <a:r>
                  <a:rPr sz="2400" b="0">
                    <a:solidFill>
                      <a:srgbClr val="111827"/>
                    </a:solidFill>
                    <a:latin typeface="Arial"/>
                  </a:rPr>
                  <a:t> the other: </a:t>
                </a:r>
                <a:r>
                  <a:rPr lang="en-IN" sz="2400">
                    <a:solidFill>
                      <a:srgbClr val="111827"/>
                    </a:solidFill>
                    <a:latin typeface="Cambria Math" panose="02040503050406030204" pitchFamily="18" charset="0"/>
                  </a:rPr>
                  <a:t>$B,D$</a:t>
                </a:r>
                <a:r>
                  <a:rPr sz="2400" b="0">
                    <a:solidFill>
                      <a:srgbClr val="111827"/>
                    </a:solidFill>
                    <a:latin typeface="Arial"/>
                  </a:rPr>
                  <a:t> green and </a:t>
                </a:r>
                <a:r>
                  <a:rPr lang="en-IN" sz="2400">
                    <a:solidFill>
                      <a:srgbClr val="111827"/>
                    </a:solidFill>
                    <a:latin typeface="Cambria Math" panose="02040503050406030204" pitchFamily="18" charset="0"/>
                  </a:rPr>
                  <a:t>$C,E$</a:t>
                </a:r>
                <a:r>
                  <a:rPr sz="2400" b="0">
                    <a:solidFill>
                      <a:srgbClr val="111827"/>
                    </a:solidFill>
                    <a:latin typeface="Arial"/>
                  </a:rPr>
                  <a:t> red, or the reverse: </a:t>
                </a:r>
                <a:r>
                  <a:rPr lang="en-IN" sz="2400">
                    <a:solidFill>
                      <a:srgbClr val="111827"/>
                    </a:solidFill>
                    <a:latin typeface="Cambria Math" panose="02040503050406030204" pitchFamily="18" charset="0"/>
                  </a:rPr>
                  <a:t>$2$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$=3\times5\times2=30$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30</a:t>
            </a:r>
            <a:endParaRPr sz="2800">
              <a:solidFill>
                <a:srgbClr val="15803D"/>
              </a:solidFil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chromatic polynomial of a cycle: the number of proper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-colourings of </a:t>
                </a:r>
                <a14:m>
                  <m:oMath xmlns:m="http://schemas.openxmlformats.org/officeDocument/2006/math">
                    <m:sSub>
                      <m:e>
                        <m:r>
                          <a:rPr lang="en-IN" sz="2400" i="1">
                            <a:solidFill>
                              <a:srgbClr val="78350F"/>
                            </a:solidFill>
                            <a:latin typeface="Cambria Math" panose="02040503050406030204" pitchFamily="18" charset="0"/>
                          </a:rPr>
                          <m:t>𝐶</m:t>
                        </m:r>
                      </m:e>
                      <m:sub>
                        <m:r>
                          <a:rPr lang="en-IN" sz="2400" i="1">
                            <a:solidFill>
                              <a:srgbClr val="78350F"/>
                            </a:solidFill>
                            <a:latin typeface="Cambria Math" panose="02040503050406030204" pitchFamily="18" charset="0"/>
                          </a:rPr>
                          <m:t>𝑛</m:t>
                        </m:r>
                      </m:sub>
                    </m:sSub>
                  </m:oMath>
                </a14:m>
                <a:r>
                  <a:rPr sz="2400" b="0">
                    <a:solidFill>
                      <a:srgbClr val="78350F"/>
                    </a:solidFill>
                    <a:latin typeface="Arial"/>
                  </a:rPr>
                  <a:t>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chromatic polynomial of a cycle: the number of proper </a:t>
                </a:r>
                <a:r>
                  <a:rPr lang="en-IN" sz="2400">
                    <a:solidFill>
                      <a:srgbClr val="78350F"/>
                    </a:solidFill>
                    <a:latin typeface="Cambria Math" panose="02040503050406030204" pitchFamily="18" charset="0"/>
                  </a:rPr>
                  <a:t>$k$</a:t>
                </a:r>
                <a:r>
                  <a:rPr sz="2400" b="0">
                    <a:solidFill>
                      <a:srgbClr val="78350F"/>
                    </a:solidFill>
                    <a:latin typeface="Arial"/>
                  </a:rPr>
                  <a:t>-colourings of </a:t>
                </a:r>
                <a:r>
                  <a:rPr lang="en-IN" sz="2400">
                    <a:solidFill>
                      <a:srgbClr val="78350F"/>
                    </a:solidFill>
                    <a:latin typeface="Cambria Math" panose="02040503050406030204" pitchFamily="18" charset="0"/>
                  </a:rPr>
                  <a:t>$C_n$</a:t>
                </a:r>
                <a:r>
                  <a:rPr sz="2400" b="0">
                    <a:solidFill>
                      <a:srgbClr val="78350F"/>
                    </a:solidFill>
                    <a:latin typeface="Arial"/>
                  </a:rPr>
                  <a:t> is </a:t>
                </a:r>
                <a:r>
                  <a:rPr lang="en-IN" sz="2400">
                    <a:solidFill>
                      <a:srgbClr val="78350F"/>
                    </a:solidFill>
                    <a:latin typeface="Cambria Math" panose="02040503050406030204" pitchFamily="18" charset="0"/>
                  </a:rPr>
                  <a:t>$(k-1)^n+(-1)^n(k-1)$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Seats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in a circle; colourings with adjacent seats different are proper colourings of the cycle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colours.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the number for a cycle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seats. Cut the circle between seat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and seat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path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seats has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proper colourings.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them, those where the two end seats have the same colour correspond (merge the ends) to proper colourings of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 of them. So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Seats </a:t>
                </a:r>
                <a:r>
                  <a:rPr lang="en-IN" sz="2400">
                    <a:solidFill>
                      <a:srgbClr val="111827"/>
                    </a:solidFill>
                    <a:latin typeface="Cambria Math" panose="02040503050406030204" pitchFamily="18" charset="0"/>
                  </a:rPr>
                  <a:t>$1,\dots,5$</a:t>
                </a:r>
                <a:r>
                  <a:rPr sz="2400" b="0">
                    <a:solidFill>
                      <a:srgbClr val="111827"/>
                    </a:solidFill>
                    <a:latin typeface="Arial"/>
                  </a:rPr>
                  <a:t> in a circle; colourings with adjacent seats different are proper colourings of the cycle </a:t>
                </a:r>
                <a:r>
                  <a:rPr lang="en-IN" sz="2400">
                    <a:solidFill>
                      <a:srgbClr val="111827"/>
                    </a:solidFill>
                    <a:latin typeface="Cambria Math" panose="02040503050406030204" pitchFamily="18" charset="0"/>
                  </a:rPr>
                  <a:t>$C_5$</a:t>
                </a:r>
                <a:r>
                  <a:rPr sz="2400" b="0">
                    <a:solidFill>
                      <a:srgbClr val="111827"/>
                    </a:solidFill>
                    <a:latin typeface="Arial"/>
                  </a:rPr>
                  <a:t> with </a:t>
                </a:r>
                <a:r>
                  <a:rPr lang="en-IN" sz="2400">
                    <a:solidFill>
                      <a:srgbClr val="111827"/>
                    </a:solidFill>
                    <a:latin typeface="Cambria Math" panose="02040503050406030204" pitchFamily="18" charset="0"/>
                  </a:rPr>
                  <a:t>$k=3$</a:t>
                </a:r>
                <a:r>
                  <a:rPr sz="2400" b="0">
                    <a:solidFill>
                      <a:srgbClr val="111827"/>
                    </a:solidFill>
                    <a:latin typeface="Arial"/>
                  </a:rPr>
                  <a:t> colours.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$c_n$</a:t>
                </a:r>
                <a:r>
                  <a:rPr sz="2400" b="0">
                    <a:solidFill>
                      <a:srgbClr val="111827"/>
                    </a:solidFill>
                    <a:latin typeface="Arial"/>
                  </a:rPr>
                  <a:t> be the number for a cycle of </a:t>
                </a:r>
                <a:r>
                  <a:rPr lang="en-IN" sz="2400">
                    <a:solidFill>
                      <a:srgbClr val="111827"/>
                    </a:solidFill>
                    <a:latin typeface="Cambria Math" panose="02040503050406030204" pitchFamily="18" charset="0"/>
                  </a:rPr>
                  <a:t>$n$</a:t>
                </a:r>
                <a:r>
                  <a:rPr sz="2400" b="0">
                    <a:solidFill>
                      <a:srgbClr val="111827"/>
                    </a:solidFill>
                    <a:latin typeface="Arial"/>
                  </a:rPr>
                  <a:t> seats. Cut the circle between seat </a:t>
                </a:r>
                <a:r>
                  <a:rPr lang="en-IN" sz="2400">
                    <a:solidFill>
                      <a:srgbClr val="111827"/>
                    </a:solidFill>
                    <a:latin typeface="Cambria Math" panose="02040503050406030204" pitchFamily="18" charset="0"/>
                  </a:rPr>
                  <a:t>$n$</a:t>
                </a:r>
                <a:r>
                  <a:rPr sz="2400" b="0">
                    <a:solidFill>
                      <a:srgbClr val="111827"/>
                    </a:solidFill>
                    <a:latin typeface="Arial"/>
                  </a:rPr>
                  <a:t> and seat </a:t>
                </a:r>
                <a:r>
                  <a:rPr lang="en-IN" sz="2400">
                    <a:solidFill>
                      <a:srgbClr val="111827"/>
                    </a:solidFill>
                    <a:latin typeface="Cambria Math" panose="02040503050406030204" pitchFamily="18" charset="0"/>
                  </a:rPr>
                  <a:t>$1$</a:t>
                </a:r>
                <a:r>
                  <a:rPr sz="2400" b="0">
                    <a:solidFill>
                      <a:srgbClr val="111827"/>
                    </a:solidFill>
                    <a:latin typeface="Arial"/>
                  </a:rPr>
                  <a:t>: the path of </a:t>
                </a:r>
                <a:r>
                  <a:rPr lang="en-IN" sz="2400">
                    <a:solidFill>
                      <a:srgbClr val="111827"/>
                    </a:solidFill>
                    <a:latin typeface="Cambria Math" panose="02040503050406030204" pitchFamily="18" charset="0"/>
                  </a:rPr>
                  <a:t>$n$</a:t>
                </a:r>
                <a:r>
                  <a:rPr sz="2400" b="0">
                    <a:solidFill>
                      <a:srgbClr val="111827"/>
                    </a:solidFill>
                    <a:latin typeface="Arial"/>
                  </a:rPr>
                  <a:t> seats has </a:t>
                </a:r>
                <a:r>
                  <a:rPr lang="en-IN" sz="2400">
                    <a:solidFill>
                      <a:srgbClr val="111827"/>
                    </a:solidFill>
                    <a:latin typeface="Cambria Math" panose="02040503050406030204" pitchFamily="18" charset="0"/>
                  </a:rPr>
                  <a:t>$k(k-1)^{n-1}$</a:t>
                </a:r>
                <a:r>
                  <a:rPr sz="2400" b="0">
                    <a:solidFill>
                      <a:srgbClr val="111827"/>
                    </a:solidFill>
                    <a:latin typeface="Arial"/>
                  </a:rPr>
                  <a:t> proper colourings.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them, those where the two end seats have the same colour correspond (merge the ends) to proper colourings of </a:t>
                </a:r>
                <a:r>
                  <a:rPr lang="en-IN" sz="2400">
                    <a:solidFill>
                      <a:srgbClr val="111827"/>
                    </a:solidFill>
                    <a:latin typeface="Cambria Math" panose="02040503050406030204" pitchFamily="18" charset="0"/>
                  </a:rPr>
                  <a:t>$C_{n-1}$</a:t>
                </a:r>
                <a:r>
                  <a:rPr sz="2400" b="0">
                    <a:solidFill>
                      <a:srgbClr val="111827"/>
                    </a:solidFill>
                    <a:latin typeface="Arial"/>
                  </a:rPr>
                  <a:t>: </a:t>
                </a:r>
                <a:r>
                  <a:rPr lang="en-IN" sz="2400">
                    <a:solidFill>
                      <a:srgbClr val="111827"/>
                    </a:solidFill>
                    <a:latin typeface="Cambria Math" panose="02040503050406030204" pitchFamily="18" charset="0"/>
                  </a:rPr>
                  <a:t>$c_{n-1}$</a:t>
                </a:r>
                <a:r>
                  <a:rPr sz="2400" b="0">
                    <a:solidFill>
                      <a:srgbClr val="111827"/>
                    </a:solidFill>
                    <a:latin typeface="Arial"/>
                  </a:rPr>
                  <a:t> of them. So </a:t>
                </a:r>
                <a:r>
                  <a:rPr lang="en-IN" sz="2400">
                    <a:solidFill>
                      <a:srgbClr val="111827"/>
                    </a:solidFill>
                    <a:latin typeface="Cambria Math" panose="02040503050406030204" pitchFamily="18" charset="0"/>
                  </a:rPr>
                  <a:t>$c_n=k(k-1)^{n-1}-c_{n-1}$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(Closed form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$k=3$</a:t>
                </a:r>
                <a:r>
                  <a:rPr sz="2400" b="0">
                    <a:solidFill>
                      <a:srgbClr val="111827"/>
                    </a:solidFill>
                    <a:latin typeface="Arial"/>
                  </a:rPr>
                  <a:t>: </a:t>
                </a:r>
                <a:r>
                  <a:rPr lang="en-IN" sz="2400">
                    <a:solidFill>
                      <a:srgbClr val="111827"/>
                    </a:solidFill>
                    <a:latin typeface="Cambria Math" panose="02040503050406030204" pitchFamily="18" charset="0"/>
                  </a:rPr>
                  <a:t>$c_3=3\cdot2\cdot1=6$</a:t>
                </a:r>
                <a:r>
                  <a:rPr sz="2400" b="0">
                    <a:solidFill>
                      <a:srgbClr val="111827"/>
                    </a:solidFill>
                    <a:latin typeface="Arial"/>
                  </a:rPr>
                  <a:t>, </a:t>
                </a:r>
                <a:r>
                  <a:rPr lang="en-IN" sz="2400">
                    <a:solidFill>
                      <a:srgbClr val="111827"/>
                    </a:solidFill>
                    <a:latin typeface="Cambria Math" panose="02040503050406030204" pitchFamily="18" charset="0"/>
                  </a:rPr>
                  <a:t>$c_4=3\cdot2^3-6=18$</a:t>
                </a:r>
                <a:r>
                  <a:rPr sz="2400" b="0">
                    <a:solidFill>
                      <a:srgbClr val="111827"/>
                    </a:solidFill>
                    <a:latin typeface="Arial"/>
                  </a:rPr>
                  <a:t>, </a:t>
                </a:r>
                <a:r>
                  <a:rPr lang="en-IN" sz="2400">
                    <a:solidFill>
                      <a:srgbClr val="111827"/>
                    </a:solidFill>
                    <a:latin typeface="Cambria Math" panose="02040503050406030204" pitchFamily="18" charset="0"/>
                  </a:rPr>
                  <a:t>$c_5=3\cdot2^4-18=30$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(Closed form </a:t>
                </a:r>
                <a:r>
                  <a:rPr lang="en-IN" sz="2400">
                    <a:solidFill>
                      <a:srgbClr val="111827"/>
                    </a:solidFill>
                    <a:latin typeface="Cambria Math" panose="02040503050406030204" pitchFamily="18" charset="0"/>
                  </a:rPr>
                  <a:t>$c_n=(k-1)^n+(-1)^n(k-1)$</a:t>
                </a:r>
                <a:r>
                  <a:rPr sz="2400" b="0">
                    <a:solidFill>
                      <a:srgbClr val="111827"/>
                    </a:solidFill>
                    <a:latin typeface="Arial"/>
                  </a:rPr>
                  <a:t> gives </a:t>
                </a:r>
                <a:r>
                  <a:rPr lang="en-IN" sz="2400">
                    <a:solidFill>
                      <a:srgbClr val="111827"/>
                    </a:solidFill>
                    <a:latin typeface="Cambria Math" panose="02040503050406030204" pitchFamily="18" charset="0"/>
                  </a:rPr>
                  <a:t>$32-2=30$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30</a:t>
            </a:r>
            <a:endParaRPr sz="2800">
              <a:solidFill>
                <a:srgbClr val="15803D"/>
              </a:solidFil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Proper colourings of the cycle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colours: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Pigeonhole on adjacency: in a cycle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seats a colour can appear at most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times.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Path with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seats and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colours: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Proper colourings of the cycle </a:t>
                </a:r>
                <a:r>
                  <a:rPr lang="en-IN" sz="2400">
                    <a:solidFill>
                      <a:srgbClr val="111827"/>
                    </a:solidFill>
                    <a:latin typeface="Cambria Math" panose="02040503050406030204" pitchFamily="18" charset="0"/>
                  </a:rPr>
                  <a:t>$C_n$</a:t>
                </a:r>
                <a:r>
                  <a:rPr sz="2400" b="0">
                    <a:solidFill>
                      <a:srgbClr val="111827"/>
                    </a:solidFill>
                    <a:latin typeface="Arial"/>
                  </a:rPr>
                  <a:t> with </a:t>
                </a:r>
                <a:r>
                  <a:rPr lang="en-IN" sz="2400">
                    <a:solidFill>
                      <a:srgbClr val="111827"/>
                    </a:solidFill>
                    <a:latin typeface="Cambria Math" panose="02040503050406030204" pitchFamily="18" charset="0"/>
                  </a:rPr>
                  <a:t>$k$</a:t>
                </a:r>
                <a:r>
                  <a:rPr sz="2400" b="0">
                    <a:solidFill>
                      <a:srgbClr val="111827"/>
                    </a:solidFill>
                    <a:latin typeface="Arial"/>
                  </a:rPr>
                  <a:t> colours: </a:t>
                </a:r>
                <a:r>
                  <a:rPr lang="en-IN" sz="2400">
                    <a:solidFill>
                      <a:srgbClr val="111827"/>
                    </a:solidFill>
                    <a:latin typeface="Cambria Math" panose="02040503050406030204" pitchFamily="18" charset="0"/>
                  </a:rPr>
                  <a:t>$(k-1)^n+(-1)^n(k-1)$</a:t>
                </a:r>
                <a:r>
                  <a:rPr sz="2400" b="0">
                    <a:solidFill>
                      <a:srgbClr val="111827"/>
                    </a:solidFill>
                    <a:latin typeface="Arial"/>
                  </a:rPr>
                  <a:t>. For </a:t>
                </a:r>
                <a:r>
                  <a:rPr lang="en-IN" sz="2400">
                    <a:solidFill>
                      <a:srgbClr val="111827"/>
                    </a:solidFill>
                    <a:latin typeface="Cambria Math" panose="02040503050406030204" pitchFamily="18" charset="0"/>
                  </a:rPr>
                  <a:t>$k=3$</a:t>
                </a:r>
                <a:r>
                  <a:rPr sz="2400" b="0">
                    <a:solidFill>
                      <a:srgbClr val="111827"/>
                    </a:solidFill>
                    <a:latin typeface="Arial"/>
                  </a:rPr>
                  <a:t>: </a:t>
                </a:r>
                <a:r>
                  <a:rPr lang="en-IN" sz="2400">
                    <a:solidFill>
                      <a:srgbClr val="111827"/>
                    </a:solidFill>
                    <a:latin typeface="Cambria Math" panose="02040503050406030204" pitchFamily="18" charset="0"/>
                  </a:rPr>
                  <a:t>$n=3:6$</a:t>
                </a:r>
                <a:r>
                  <a:rPr sz="2400" b="0">
                    <a:solidFill>
                      <a:srgbClr val="111827"/>
                    </a:solidFill>
                    <a:latin typeface="Arial"/>
                  </a:rPr>
                  <a:t>, </a:t>
                </a:r>
                <a:r>
                  <a:rPr lang="en-IN" sz="2400">
                    <a:solidFill>
                      <a:srgbClr val="111827"/>
                    </a:solidFill>
                    <a:latin typeface="Cambria Math" panose="02040503050406030204" pitchFamily="18" charset="0"/>
                  </a:rPr>
                  <a:t>$n=4:18$</a:t>
                </a:r>
                <a:r>
                  <a:rPr sz="2400" b="0">
                    <a:solidFill>
                      <a:srgbClr val="111827"/>
                    </a:solidFill>
                    <a:latin typeface="Arial"/>
                  </a:rPr>
                  <a:t>, </a:t>
                </a:r>
                <a:r>
                  <a:rPr lang="en-IN" sz="2400">
                    <a:solidFill>
                      <a:srgbClr val="111827"/>
                    </a:solidFill>
                    <a:latin typeface="Cambria Math" panose="02040503050406030204" pitchFamily="18" charset="0"/>
                  </a:rPr>
                  <a:t>$n=5:30$</a:t>
                </a:r>
                <a:r>
                  <a:rPr sz="2400" b="0">
                    <a:solidFill>
                      <a:srgbClr val="111827"/>
                    </a:solidFill>
                    <a:latin typeface="Arial"/>
                  </a:rPr>
                  <a:t>, </a:t>
                </a:r>
                <a:r>
                  <a:rPr lang="en-IN" sz="2400">
                    <a:solidFill>
                      <a:srgbClr val="111827"/>
                    </a:solidFill>
                    <a:latin typeface="Cambria Math" panose="02040503050406030204" pitchFamily="18" charset="0"/>
                  </a:rPr>
                  <a:t>$n=6:66$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Pigeonhole on adjacency: in a cycle of </a:t>
                </a:r>
                <a:r>
                  <a:rPr lang="en-IN" sz="2400">
                    <a:solidFill>
                      <a:srgbClr val="111827"/>
                    </a:solidFill>
                    <a:latin typeface="Cambria Math" panose="02040503050406030204" pitchFamily="18" charset="0"/>
                  </a:rPr>
                  <a:t>$n$</a:t>
                </a:r>
                <a:r>
                  <a:rPr sz="2400" b="0">
                    <a:solidFill>
                      <a:srgbClr val="111827"/>
                    </a:solidFill>
                    <a:latin typeface="Arial"/>
                  </a:rPr>
                  <a:t> seats a colour can appear at most </a:t>
                </a:r>
                <a:r>
                  <a:rPr lang="en-IN" sz="2400">
                    <a:solidFill>
                      <a:srgbClr val="111827"/>
                    </a:solidFill>
                    <a:latin typeface="Cambria Math" panose="02040503050406030204" pitchFamily="18" charset="0"/>
                  </a:rPr>
                  <a:t>$\lfloor n/2\rfloor$</a:t>
                </a:r>
                <a:r>
                  <a:rPr sz="2400" b="0">
                    <a:solidFill>
                      <a:srgbClr val="111827"/>
                    </a:solidFill>
                    <a:latin typeface="Arial"/>
                  </a:rPr>
                  <a:t> times.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Path with </a:t>
                </a:r>
                <a:r>
                  <a:rPr lang="en-IN" sz="2400">
                    <a:solidFill>
                      <a:srgbClr val="111827"/>
                    </a:solidFill>
                    <a:latin typeface="Cambria Math" panose="02040503050406030204" pitchFamily="18" charset="0"/>
                  </a:rPr>
                  <a:t>$m$</a:t>
                </a:r>
                <a:r>
                  <a:rPr sz="2400" b="0">
                    <a:solidFill>
                      <a:srgbClr val="111827"/>
                    </a:solidFill>
                    <a:latin typeface="Arial"/>
                  </a:rPr>
                  <a:t> seats and </a:t>
                </a:r>
                <a:r>
                  <a:rPr lang="en-IN" sz="2400">
                    <a:solidFill>
                      <a:srgbClr val="111827"/>
                    </a:solidFill>
                    <a:latin typeface="Cambria Math" panose="02040503050406030204" pitchFamily="18" charset="0"/>
                  </a:rPr>
                  <a:t>$k$</a:t>
                </a:r>
                <a:r>
                  <a:rPr sz="2400" b="0">
                    <a:solidFill>
                      <a:srgbClr val="111827"/>
                    </a:solidFill>
                    <a:latin typeface="Arial"/>
                  </a:rPr>
                  <a:t> colours: </a:t>
                </a:r>
                <a:r>
                  <a:rPr lang="en-IN" sz="2400">
                    <a:solidFill>
                      <a:srgbClr val="111827"/>
                    </a:solidFill>
                    <a:latin typeface="Cambria Math" panose="02040503050406030204" pitchFamily="18" charset="0"/>
                  </a:rPr>
                  <a:t>$k(k-1)^{m-1}$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engineer is required to visit a factory for exactly four days during the first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days of every month and it is mandatory that no two visits take place on consecutive days. Then the number of all possible ways in which such visits to the factory can be made by the engineer during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June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is ______. [JEE (Adv) 2020]</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engineer is required to visit a factory for exactly four days during the first </a:t>
                </a:r>
                <a:r>
                  <a:rPr lang="en-IN" sz="2400">
                    <a:solidFill>
                      <a:srgbClr val="111827"/>
                    </a:solidFill>
                    <a:latin typeface="Cambria Math" panose="02040503050406030204" pitchFamily="18" charset="0"/>
                  </a:rPr>
                  <a:t>$15$</a:t>
                </a:r>
                <a:r>
                  <a:rPr sz="2400" b="0">
                    <a:solidFill>
                      <a:srgbClr val="111827"/>
                    </a:solidFill>
                    <a:latin typeface="Arial"/>
                  </a:rPr>
                  <a:t> days of every month and it is mandatory that no two visits take place on consecutive days. Then the number of all possible ways in which such visits to the factory can be made by the engineer during </a:t>
                </a:r>
                <a:r>
                  <a:rPr lang="en-IN" sz="2400">
                    <a:solidFill>
                      <a:srgbClr val="111827"/>
                    </a:solidFill>
                    <a:latin typeface="Cambria Math" panose="02040503050406030204" pitchFamily="18" charset="0"/>
                  </a:rPr>
                  <a:t>$1$</a:t>
                </a:r>
                <a:r>
                  <a:rPr sz="2400" b="0">
                    <a:solidFill>
                      <a:srgbClr val="111827"/>
                    </a:solidFill>
                    <a:latin typeface="Arial"/>
                  </a:rPr>
                  <a:t>–</a:t>
                </a:r>
                <a:r>
                  <a:rPr lang="en-IN" sz="2400">
                    <a:solidFill>
                      <a:srgbClr val="111827"/>
                    </a:solidFill>
                    <a:latin typeface="Cambria Math" panose="02040503050406030204" pitchFamily="18" charset="0"/>
                  </a:rPr>
                  <a:t>$15$</a:t>
                </a:r>
                <a:r>
                  <a:rPr sz="2400" b="0">
                    <a:solidFill>
                      <a:srgbClr val="111827"/>
                    </a:solidFill>
                    <a:latin typeface="Arial"/>
                  </a:rPr>
                  <a:t> June </a:t>
                </a:r>
                <a:r>
                  <a:rPr lang="en-IN" sz="2400">
                    <a:solidFill>
                      <a:srgbClr val="111827"/>
                    </a:solidFill>
                    <a:latin typeface="Cambria Math" panose="02040503050406030204" pitchFamily="18" charset="0"/>
                  </a:rPr>
                  <a:t>$2021$</a:t>
                </a:r>
                <a:r>
                  <a:rPr sz="2400" b="0">
                    <a:solidFill>
                      <a:srgbClr val="111827"/>
                    </a:solidFill>
                    <a:latin typeface="Arial"/>
                  </a:rPr>
                  <a:t> is ______. [JEE (Adv) 2020]</a:t>
                </a:r>
                <a:endParaRPr sz="2400">
                  <a:solidFill>
                    <a:srgbClr val="111827"/>
                  </a:solidFill>
                </a:endParaRPr>
              </a:p>
            </p:txBody>
          </p:sp>
        </mc:Fallback>
      </mc:AlternateContent>
      <p:sp>
        <p:nvSpPr>
          <p:cNvPr id="5" name="Rectangle 4"/>
          <p:cNvSpPr/>
          <p:nvPr/>
        </p:nvSpPr>
        <p:spPr>
          <a:xfrm>
            <a:off x="731520" y="4260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with no two consecutive, Gap method</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Place the </a:t>
                </a:r>
                <a14:m>
                  <m:oMath xmlns:m="http://schemas.openxmlformats.org/officeDocument/2006/math">
                    <m:r>
                      <a:rPr lang="en-IN" sz="2400" i="1">
                        <a:solidFill>
                          <a:srgbClr val="78350F"/>
                        </a:solidFill>
                        <a:latin typeface="Cambria Math" panose="02040503050406030204" pitchFamily="18" charset="0"/>
                      </a:rPr>
                      <m:t>11</m:t>
                    </m:r>
                  </m:oMath>
                </a14:m>
                <a:r>
                  <a:rPr sz="2400" b="0">
                    <a:solidFill>
                      <a:srgbClr val="78350F"/>
                    </a:solidFill>
                    <a:latin typeface="Arial"/>
                  </a:rPr>
                  <a:t> non-visit days first; the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visit days go into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different gaps among the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gaps.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Place the </a:t>
                </a:r>
                <a:r>
                  <a:rPr lang="en-IN" sz="2400">
                    <a:solidFill>
                      <a:srgbClr val="78350F"/>
                    </a:solidFill>
                    <a:latin typeface="Cambria Math" panose="02040503050406030204" pitchFamily="18" charset="0"/>
                  </a:rPr>
                  <a:t>$11$</a:t>
                </a:r>
                <a:r>
                  <a:rPr sz="2400" b="0">
                    <a:solidFill>
                      <a:srgbClr val="78350F"/>
                    </a:solidFill>
                    <a:latin typeface="Arial"/>
                  </a:rPr>
                  <a:t> non-visit days first; the </a:t>
                </a:r>
                <a:r>
                  <a:rPr lang="en-IN" sz="2400">
                    <a:solidFill>
                      <a:srgbClr val="78350F"/>
                    </a:solidFill>
                    <a:latin typeface="Cambria Math" panose="02040503050406030204" pitchFamily="18" charset="0"/>
                  </a:rPr>
                  <a:t>$4$</a:t>
                </a:r>
                <a:r>
                  <a:rPr sz="2400" b="0">
                    <a:solidFill>
                      <a:srgbClr val="78350F"/>
                    </a:solidFill>
                    <a:latin typeface="Arial"/>
                  </a:rPr>
                  <a:t> visit days go into </a:t>
                </a:r>
                <a:r>
                  <a:rPr lang="en-IN" sz="2400">
                    <a:solidFill>
                      <a:srgbClr val="78350F"/>
                    </a:solidFill>
                    <a:latin typeface="Cambria Math" panose="02040503050406030204" pitchFamily="18" charset="0"/>
                  </a:rPr>
                  <a:t>$4$</a:t>
                </a:r>
                <a:r>
                  <a:rPr sz="2400" b="0">
                    <a:solidFill>
                      <a:srgbClr val="78350F"/>
                    </a:solidFill>
                    <a:latin typeface="Arial"/>
                  </a:rPr>
                  <a:t> different gaps among the </a:t>
                </a:r>
                <a:r>
                  <a:rPr lang="en-IN" sz="2400">
                    <a:solidFill>
                      <a:srgbClr val="78350F"/>
                    </a:solidFill>
                    <a:latin typeface="Cambria Math" panose="02040503050406030204" pitchFamily="18" charset="0"/>
                  </a:rPr>
                  <a:t>$12$</a:t>
                </a:r>
                <a:r>
                  <a:rPr sz="2400" b="0">
                    <a:solidFill>
                      <a:srgbClr val="78350F"/>
                    </a:solidFill>
                    <a:latin typeface="Arial"/>
                  </a:rPr>
                  <a:t> gaps.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choose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days out of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with no two consecutive.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visit days: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non-visit days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11</m:t>
                        </m:r>
                      </m:sub>
                    </m:sSub>
                  </m:oMath>
                </a14:m>
                <a:r>
                  <a:rPr sz="2400" b="0">
                    <a:solidFill>
                      <a:srgbClr val="111827"/>
                    </a:solidFill>
                    <a:latin typeface="Arial"/>
                  </a:rPr>
                  <a:t> remain.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days create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gaps (before, between and after them).</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choose </a:t>
                </a:r>
                <a:r>
                  <a:rPr lang="en-IN" sz="2400">
                    <a:solidFill>
                      <a:srgbClr val="111827"/>
                    </a:solidFill>
                    <a:latin typeface="Cambria Math" panose="02040503050406030204" pitchFamily="18" charset="0"/>
                  </a:rPr>
                  <a:t>$4$</a:t>
                </a:r>
                <a:r>
                  <a:rPr sz="2400" b="0">
                    <a:solidFill>
                      <a:srgbClr val="111827"/>
                    </a:solidFill>
                    <a:latin typeface="Arial"/>
                  </a:rPr>
                  <a:t> days out of </a:t>
                </a:r>
                <a:r>
                  <a:rPr lang="en-IN" sz="2400">
                    <a:solidFill>
                      <a:srgbClr val="111827"/>
                    </a:solidFill>
                    <a:latin typeface="Cambria Math" panose="02040503050406030204" pitchFamily="18" charset="0"/>
                  </a:rPr>
                  <a:t>$15$</a:t>
                </a:r>
                <a:r>
                  <a:rPr sz="2400" b="0">
                    <a:solidFill>
                      <a:srgbClr val="111827"/>
                    </a:solidFill>
                    <a:latin typeface="Arial"/>
                  </a:rPr>
                  <a:t> with no two consecutive.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Remove the </a:t>
                </a:r>
                <a:r>
                  <a:rPr lang="en-IN" sz="2400">
                    <a:solidFill>
                      <a:srgbClr val="111827"/>
                    </a:solidFill>
                    <a:latin typeface="Cambria Math" panose="02040503050406030204" pitchFamily="18" charset="0"/>
                  </a:rPr>
                  <a:t>$4$</a:t>
                </a:r>
                <a:r>
                  <a:rPr sz="2400" b="0">
                    <a:solidFill>
                      <a:srgbClr val="111827"/>
                    </a:solidFill>
                    <a:latin typeface="Arial"/>
                  </a:rPr>
                  <a:t> visit days: </a:t>
                </a:r>
                <a:r>
                  <a:rPr lang="en-IN" sz="2400">
                    <a:solidFill>
                      <a:srgbClr val="111827"/>
                    </a:solidFill>
                    <a:latin typeface="Cambria Math" panose="02040503050406030204" pitchFamily="18" charset="0"/>
                  </a:rPr>
                  <a:t>$15-4=11$</a:t>
                </a:r>
                <a:r>
                  <a:rPr sz="2400" b="0">
                    <a:solidFill>
                      <a:srgbClr val="111827"/>
                    </a:solidFill>
                    <a:latin typeface="Arial"/>
                  </a:rPr>
                  <a:t> non-visit days </a:t>
                </a:r>
                <a:r>
                  <a:rPr lang="en-IN" sz="2400">
                    <a:solidFill>
                      <a:srgbClr val="111827"/>
                    </a:solidFill>
                    <a:latin typeface="Cambria Math" panose="02040503050406030204" pitchFamily="18" charset="0"/>
                  </a:rPr>
                  <a:t>$d_1,d_2,\dots,d_{11}$</a:t>
                </a:r>
                <a:r>
                  <a:rPr sz="2400" b="0">
                    <a:solidFill>
                      <a:srgbClr val="111827"/>
                    </a:solidFill>
                    <a:latin typeface="Arial"/>
                  </a:rPr>
                  <a:t> remain.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a:t>
                </a:r>
                <a:r>
                  <a:rPr lang="en-IN" sz="2400">
                    <a:solidFill>
                      <a:srgbClr val="111827"/>
                    </a:solidFill>
                    <a:latin typeface="Cambria Math" panose="02040503050406030204" pitchFamily="18" charset="0"/>
                  </a:rPr>
                  <a:t>$11$</a:t>
                </a:r>
                <a:r>
                  <a:rPr sz="2400" b="0">
                    <a:solidFill>
                      <a:srgbClr val="111827"/>
                    </a:solidFill>
                    <a:latin typeface="Arial"/>
                  </a:rPr>
                  <a:t> days create </a:t>
                </a:r>
                <a:r>
                  <a:rPr lang="en-IN" sz="2400">
                    <a:solidFill>
                      <a:srgbClr val="111827"/>
                    </a:solidFill>
                    <a:latin typeface="Cambria Math" panose="02040503050406030204" pitchFamily="18" charset="0"/>
                  </a:rPr>
                  <a:t>$12$</a:t>
                </a:r>
                <a:r>
                  <a:rPr sz="2400" b="0">
                    <a:solidFill>
                      <a:srgbClr val="111827"/>
                    </a:solidFill>
                    <a:latin typeface="Arial"/>
                  </a:rPr>
                  <a:t> gaps (before, between and after them).</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one visit in each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chosen gaps; no two visits are then adjacent.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one visit in each of </a:t>
                </a:r>
                <a:r>
                  <a:rPr lang="en-IN" sz="2400">
                    <a:solidFill>
                      <a:srgbClr val="111827"/>
                    </a:solidFill>
                    <a:latin typeface="Cambria Math" panose="02040503050406030204" pitchFamily="18" charset="0"/>
                  </a:rPr>
                  <a:t>$4$</a:t>
                </a:r>
                <a:r>
                  <a:rPr sz="2400" b="0">
                    <a:solidFill>
                      <a:srgbClr val="111827"/>
                    </a:solidFill>
                    <a:latin typeface="Arial"/>
                  </a:rPr>
                  <a:t> chosen gaps; no two visits are then adjacent.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$=\binom{12}{4}=\frac{12\cdot11\cdot10\cdot9}{4\cdot3\cdot2}=495$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495</a:t>
            </a:r>
            <a:endParaRPr sz="2800">
              <a:solidFill>
                <a:srgbClr val="15803D"/>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Shift the days: subtract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from the sorted visit days to turn 'no two consecutive' into 'distinct'.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Shift the days: subtract </a:t>
                </a:r>
                <a:r>
                  <a:rPr lang="en-IN" sz="2400">
                    <a:solidFill>
                      <a:srgbClr val="78350F"/>
                    </a:solidFill>
                    <a:latin typeface="Cambria Math" panose="02040503050406030204" pitchFamily="18" charset="0"/>
                  </a:rPr>
                  <a:t>$0,1,2,3$</a:t>
                </a:r>
                <a:r>
                  <a:rPr sz="2400" b="0">
                    <a:solidFill>
                      <a:srgbClr val="78350F"/>
                    </a:solidFill>
                    <a:latin typeface="Arial"/>
                  </a:rPr>
                  <a:t> from the sorted visit days to turn 'no two consecutive' into 'distinct'.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visit days be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Define </a:t>
                </a:r>
                <a14:m>
                  <m:oMath xmlns:m="http://schemas.openxmlformats.org/officeDocument/2006/math">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range: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𝑒</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map is a bijection onto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-subsets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visit days be </a:t>
                </a:r>
                <a:r>
                  <a:rPr lang="en-IN" sz="2400">
                    <a:solidFill>
                      <a:srgbClr val="111827"/>
                    </a:solidFill>
                    <a:latin typeface="Cambria Math" panose="02040503050406030204" pitchFamily="18" charset="0"/>
                  </a:rPr>
                  <a:t>$c_1&lt;c_2&lt;c_3&lt;c_4$</a:t>
                </a:r>
                <a:r>
                  <a:rPr sz="2400" b="0">
                    <a:solidFill>
                      <a:srgbClr val="111827"/>
                    </a:solidFill>
                    <a:latin typeface="Arial"/>
                  </a:rPr>
                  <a:t> with </a:t>
                </a:r>
                <a:r>
                  <a:rPr lang="en-IN" sz="2400">
                    <a:solidFill>
                      <a:srgbClr val="111827"/>
                    </a:solidFill>
                    <a:latin typeface="Cambria Math" panose="02040503050406030204" pitchFamily="18" charset="0"/>
                  </a:rPr>
                  <a:t>$c_{i+1}-c_i\ge2$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Define </a:t>
                </a:r>
                <a:r>
                  <a:rPr lang="en-IN" sz="2400">
                    <a:solidFill>
                      <a:srgbClr val="111827"/>
                    </a:solidFill>
                    <a:latin typeface="Cambria Math" panose="02040503050406030204" pitchFamily="18" charset="0"/>
                  </a:rPr>
                  <a:t>$e_i=c_i-(i-1)$</a:t>
                </a:r>
                <a:r>
                  <a:rPr sz="2400" b="0">
                    <a:solidFill>
                      <a:srgbClr val="111827"/>
                    </a:solidFill>
                    <a:latin typeface="Arial"/>
                  </a:rPr>
                  <a:t>. Then </a:t>
                </a:r>
                <a:r>
                  <a:rPr lang="en-IN" sz="2400">
                    <a:solidFill>
                      <a:srgbClr val="111827"/>
                    </a:solidFill>
                    <a:latin typeface="Cambria Math" panose="02040503050406030204" pitchFamily="18" charset="0"/>
                  </a:rPr>
                  <a:t>$e_{i+1}-e_i=c_{i+1}-c_i-1\ge1$</a:t>
                </a:r>
                <a:r>
                  <a:rPr sz="2400" b="0">
                    <a:solidFill>
                      <a:srgbClr val="111827"/>
                    </a:solidFill>
                    <a:latin typeface="Arial"/>
                  </a:rPr>
                  <a:t>, so </a:t>
                </a:r>
                <a:r>
                  <a:rPr lang="en-IN" sz="2400">
                    <a:solidFill>
                      <a:srgbClr val="111827"/>
                    </a:solidFill>
                    <a:latin typeface="Cambria Math" panose="02040503050406030204" pitchFamily="18" charset="0"/>
                  </a:rPr>
                  <a:t>$e_1&lt;e_2&lt;e_3&lt;e_4$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range: </a:t>
                </a:r>
                <a:r>
                  <a:rPr lang="en-IN" sz="2400">
                    <a:solidFill>
                      <a:srgbClr val="111827"/>
                    </a:solidFill>
                    <a:latin typeface="Cambria Math" panose="02040503050406030204" pitchFamily="18" charset="0"/>
                  </a:rPr>
                  <a:t>$1\le e_1$</a:t>
                </a:r>
                <a:r>
                  <a:rPr sz="2400" b="0">
                    <a:solidFill>
                      <a:srgbClr val="111827"/>
                    </a:solidFill>
                    <a:latin typeface="Arial"/>
                  </a:rPr>
                  <a:t> and </a:t>
                </a:r>
                <a:r>
                  <a:rPr lang="en-IN" sz="2400">
                    <a:solidFill>
                      <a:srgbClr val="111827"/>
                    </a:solidFill>
                    <a:latin typeface="Cambria Math" panose="02040503050406030204" pitchFamily="18" charset="0"/>
                  </a:rPr>
                  <a:t>$e_4=c_4-3\le12$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map is a bijection onto </a:t>
                </a:r>
                <a:r>
                  <a:rPr lang="en-IN" sz="2400">
                    <a:solidFill>
                      <a:srgbClr val="111827"/>
                    </a:solidFill>
                    <a:latin typeface="Cambria Math" panose="02040503050406030204" pitchFamily="18" charset="0"/>
                  </a:rPr>
                  <a:t>$4$</a:t>
                </a:r>
                <a:r>
                  <a:rPr sz="2400" b="0">
                    <a:solidFill>
                      <a:srgbClr val="111827"/>
                    </a:solidFill>
                    <a:latin typeface="Arial"/>
                  </a:rPr>
                  <a:t>-subsets of </a:t>
                </a:r>
                <a:r>
                  <a:rPr lang="en-IN" sz="2400">
                    <a:solidFill>
                      <a:srgbClr val="111827"/>
                    </a:solidFill>
                    <a:latin typeface="Cambria Math" panose="02040503050406030204" pitchFamily="18" charset="0"/>
                  </a:rPr>
                  <a:t>$\{1,\dots,12\}$</a:t>
                </a:r>
                <a:r>
                  <a:rPr sz="2400" b="0">
                    <a:solidFill>
                      <a:srgbClr val="111827"/>
                    </a:solidFill>
                    <a:latin typeface="Arial"/>
                  </a:rPr>
                  <a:t>: </a:t>
                </a:r>
                <a:r>
                  <a:rPr lang="en-IN" sz="2400">
                    <a:solidFill>
                      <a:srgbClr val="111827"/>
                    </a:solidFill>
                    <a:latin typeface="Cambria Math" panose="02040503050406030204" pitchFamily="18" charset="0"/>
                  </a:rPr>
                  <a:t>$\binom{12}{4}=495$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495</a:t>
            </a:r>
            <a:endParaRPr sz="2800">
              <a:solidFill>
                <a:srgbClr val="15803D"/>
              </a:solidFill>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ways to choose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pairwise non-consecutive numbers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here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Generalisation: if consecutive chosen numbers must differ by at least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 count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Circular version (no two adjacent on a circle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ways to choose </a:t>
                </a:r>
                <a:r>
                  <a:rPr lang="en-IN" sz="2400">
                    <a:solidFill>
                      <a:srgbClr val="111827"/>
                    </a:solidFill>
                    <a:latin typeface="Cambria Math" panose="02040503050406030204" pitchFamily="18" charset="0"/>
                  </a:rPr>
                  <a:t>$k$</a:t>
                </a:r>
                <a:r>
                  <a:rPr sz="2400" b="0">
                    <a:solidFill>
                      <a:srgbClr val="111827"/>
                    </a:solidFill>
                    <a:latin typeface="Arial"/>
                  </a:rPr>
                  <a:t> pairwise non-consecutive numbers from </a:t>
                </a:r>
                <a:r>
                  <a:rPr lang="en-IN" sz="2400">
                    <a:solidFill>
                      <a:srgbClr val="111827"/>
                    </a:solidFill>
                    <a:latin typeface="Cambria Math" panose="02040503050406030204" pitchFamily="18" charset="0"/>
                  </a:rPr>
                  <a:t>$\{1,\dots,n\}$</a:t>
                </a:r>
                <a:r>
                  <a:rPr sz="2400" b="0">
                    <a:solidFill>
                      <a:srgbClr val="111827"/>
                    </a:solidFill>
                    <a:latin typeface="Arial"/>
                  </a:rPr>
                  <a:t> is </a:t>
                </a:r>
                <a:r>
                  <a:rPr lang="en-IN" sz="2400">
                    <a:solidFill>
                      <a:srgbClr val="111827"/>
                    </a:solidFill>
                    <a:latin typeface="Cambria Math" panose="02040503050406030204" pitchFamily="18" charset="0"/>
                  </a:rPr>
                  <a:t>$\binom{n-k+1}{k}$</a:t>
                </a:r>
                <a:r>
                  <a:rPr sz="2400" b="0">
                    <a:solidFill>
                      <a:srgbClr val="111827"/>
                    </a:solidFill>
                    <a:latin typeface="Arial"/>
                  </a:rPr>
                  <a:t>; here </a:t>
                </a:r>
                <a:r>
                  <a:rPr lang="en-IN" sz="2400">
                    <a:solidFill>
                      <a:srgbClr val="111827"/>
                    </a:solidFill>
                    <a:latin typeface="Cambria Math" panose="02040503050406030204" pitchFamily="18" charset="0"/>
                  </a:rPr>
                  <a:t>$\binom{12}{4}$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Generalisation: if consecutive chosen numbers must differ by at least </a:t>
                </a:r>
                <a:r>
                  <a:rPr lang="en-IN" sz="2400">
                    <a:solidFill>
                      <a:srgbClr val="111827"/>
                    </a:solidFill>
                    <a:latin typeface="Cambria Math" panose="02040503050406030204" pitchFamily="18" charset="0"/>
                  </a:rPr>
                  <a:t>$d$</a:t>
                </a:r>
                <a:r>
                  <a:rPr sz="2400" b="0">
                    <a:solidFill>
                      <a:srgbClr val="111827"/>
                    </a:solidFill>
                    <a:latin typeface="Arial"/>
                  </a:rPr>
                  <a:t>, the count is </a:t>
                </a:r>
                <a:r>
                  <a:rPr lang="en-IN" sz="2400">
                    <a:solidFill>
                      <a:srgbClr val="111827"/>
                    </a:solidFill>
                    <a:latin typeface="Cambria Math" panose="02040503050406030204" pitchFamily="18" charset="0"/>
                  </a:rPr>
                  <a:t>$\binom{n-(k-1)(d-1)}{k}$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Circular version (no two adjacent on a circle of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$\frac{n}{n-k}\binom{n-k}{k}$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hotel, four rooms are available. Six persons are to be accommodated in these four rooms in such a way that each of these rooms contains at least one person and at most two persons. Then the number of all possible ways in which this can be done is ______. [JEE (Adv) 2020]</a:t>
            </a:r>
            <a:endParaRPr sz="2400">
              <a:solidFill>
                <a:srgbClr val="111827"/>
              </a:solidFill>
            </a:endParaRPr>
          </a:p>
        </p:txBody>
      </p:sp>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distinct objects into groups with size restrictions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each room holding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persons and total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 the room sizes must be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each room holding </a:t>
                </a:r>
                <a:r>
                  <a:rPr lang="en-IN" sz="2400">
                    <a:solidFill>
                      <a:srgbClr val="78350F"/>
                    </a:solidFill>
                    <a:latin typeface="Cambria Math" panose="02040503050406030204" pitchFamily="18" charset="0"/>
                  </a:rPr>
                  <a:t>$1$</a:t>
                </a:r>
                <a:r>
                  <a:rPr sz="2400" b="0">
                    <a:solidFill>
                      <a:srgbClr val="78350F"/>
                    </a:solidFill>
                    <a:latin typeface="Arial"/>
                  </a:rPr>
                  <a:t> or </a:t>
                </a:r>
                <a:r>
                  <a:rPr lang="en-IN" sz="2400">
                    <a:solidFill>
                      <a:srgbClr val="78350F"/>
                    </a:solidFill>
                    <a:latin typeface="Cambria Math" panose="02040503050406030204" pitchFamily="18" charset="0"/>
                  </a:rPr>
                  <a:t>$2$</a:t>
                </a:r>
                <a:r>
                  <a:rPr sz="2400" b="0">
                    <a:solidFill>
                      <a:srgbClr val="78350F"/>
                    </a:solidFill>
                    <a:latin typeface="Arial"/>
                  </a:rPr>
                  <a:t> persons and total </a:t>
                </a:r>
                <a:r>
                  <a:rPr lang="en-IN" sz="2400">
                    <a:solidFill>
                      <a:srgbClr val="78350F"/>
                    </a:solidFill>
                    <a:latin typeface="Cambria Math" panose="02040503050406030204" pitchFamily="18" charset="0"/>
                  </a:rPr>
                  <a:t>$6$</a:t>
                </a:r>
                <a:r>
                  <a:rPr sz="2400" b="0">
                    <a:solidFill>
                      <a:srgbClr val="78350F"/>
                    </a:solidFill>
                    <a:latin typeface="Arial"/>
                  </a:rPr>
                  <a:t>, the room sizes must be </a:t>
                </a:r>
                <a:r>
                  <a:rPr lang="en-IN" sz="2400">
                    <a:solidFill>
                      <a:srgbClr val="78350F"/>
                    </a:solidFill>
                    <a:latin typeface="Cambria Math" panose="02040503050406030204" pitchFamily="18" charset="0"/>
                  </a:rPr>
                  <a:t>$1,1,2,2$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rooms holds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persons and the total is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so the sizes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of grouping the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persons into groups of sizes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(the two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's and the two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's are interchangeable).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a:t>
                </a:r>
                <a:r>
                  <a:rPr lang="en-IN" sz="2400">
                    <a:solidFill>
                      <a:srgbClr val="111827"/>
                    </a:solidFill>
                    <a:latin typeface="Cambria Math" panose="02040503050406030204" pitchFamily="18" charset="0"/>
                  </a:rPr>
                  <a:t>$4$</a:t>
                </a:r>
                <a:r>
                  <a:rPr sz="2400" b="0">
                    <a:solidFill>
                      <a:srgbClr val="111827"/>
                    </a:solidFill>
                    <a:latin typeface="Arial"/>
                  </a:rPr>
                  <a:t> rooms holds </a:t>
                </a:r>
                <a:r>
                  <a:rPr lang="en-IN" sz="2400">
                    <a:solidFill>
                      <a:srgbClr val="111827"/>
                    </a:solidFill>
                    <a:latin typeface="Cambria Math" panose="02040503050406030204" pitchFamily="18" charset="0"/>
                  </a:rPr>
                  <a:t>$1$</a:t>
                </a:r>
                <a:r>
                  <a:rPr sz="2400" b="0">
                    <a:solidFill>
                      <a:srgbClr val="111827"/>
                    </a:solidFill>
                    <a:latin typeface="Arial"/>
                  </a:rPr>
                  <a:t> or </a:t>
                </a:r>
                <a:r>
                  <a:rPr lang="en-IN" sz="2400">
                    <a:solidFill>
                      <a:srgbClr val="111827"/>
                    </a:solidFill>
                    <a:latin typeface="Cambria Math" panose="02040503050406030204" pitchFamily="18" charset="0"/>
                  </a:rPr>
                  <a:t>$2$</a:t>
                </a:r>
                <a:r>
                  <a:rPr sz="2400" b="0">
                    <a:solidFill>
                      <a:srgbClr val="111827"/>
                    </a:solidFill>
                    <a:latin typeface="Arial"/>
                  </a:rPr>
                  <a:t> persons and the total is </a:t>
                </a:r>
                <a:r>
                  <a:rPr lang="en-IN" sz="2400">
                    <a:solidFill>
                      <a:srgbClr val="111827"/>
                    </a:solidFill>
                    <a:latin typeface="Cambria Math" panose="02040503050406030204" pitchFamily="18" charset="0"/>
                  </a:rPr>
                  <a:t>$6$</a:t>
                </a:r>
                <a:r>
                  <a:rPr sz="2400" b="0">
                    <a:solidFill>
                      <a:srgbClr val="111827"/>
                    </a:solidFill>
                    <a:latin typeface="Arial"/>
                  </a:rPr>
                  <a:t>, so the sizes are </a:t>
                </a:r>
                <a:r>
                  <a:rPr lang="en-IN" sz="2400">
                    <a:solidFill>
                      <a:srgbClr val="111827"/>
                    </a:solidFill>
                    <a:latin typeface="Cambria Math" panose="02040503050406030204" pitchFamily="18" charset="0"/>
                  </a:rPr>
                  <a:t>$(1,1,2,2)$</a:t>
                </a:r>
                <a:r>
                  <a:rPr sz="2400" b="0">
                    <a:solidFill>
                      <a:srgbClr val="111827"/>
                    </a:solidFill>
                    <a:latin typeface="Arial"/>
                  </a:rPr>
                  <a:t> only.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of grouping the </a:t>
                </a:r>
                <a:r>
                  <a:rPr lang="en-IN" sz="2400">
                    <a:solidFill>
                      <a:srgbClr val="111827"/>
                    </a:solidFill>
                    <a:latin typeface="Cambria Math" panose="02040503050406030204" pitchFamily="18" charset="0"/>
                  </a:rPr>
                  <a:t>$6$</a:t>
                </a:r>
                <a:r>
                  <a:rPr sz="2400" b="0">
                    <a:solidFill>
                      <a:srgbClr val="111827"/>
                    </a:solidFill>
                    <a:latin typeface="Arial"/>
                  </a:rPr>
                  <a:t> persons into groups of sizes </a:t>
                </a:r>
                <a:r>
                  <a:rPr lang="en-IN" sz="2400">
                    <a:solidFill>
                      <a:srgbClr val="111827"/>
                    </a:solidFill>
                    <a:latin typeface="Cambria Math" panose="02040503050406030204" pitchFamily="18" charset="0"/>
                  </a:rPr>
                  <a:t>$1,1,2,2$</a:t>
                </a:r>
                <a:r>
                  <a:rPr sz="2400" b="0">
                    <a:solidFill>
                      <a:srgbClr val="111827"/>
                    </a:solidFill>
                    <a:latin typeface="Arial"/>
                  </a:rPr>
                  <a:t>: </a:t>
                </a:r>
                <a:r>
                  <a:rPr lang="en-IN" sz="2400">
                    <a:solidFill>
                      <a:srgbClr val="111827"/>
                    </a:solidFill>
                    <a:latin typeface="Cambria Math" panose="02040503050406030204" pitchFamily="18" charset="0"/>
                  </a:rPr>
                  <a:t>$\frac{6!}{1!\,1!\,(2!)\,2!\,2!\,(2!)}=45$</a:t>
                </a:r>
                <a:r>
                  <a:rPr sz="2400" b="0">
                    <a:solidFill>
                      <a:srgbClr val="111827"/>
                    </a:solidFill>
                    <a:latin typeface="Arial"/>
                  </a:rPr>
                  <a:t> (the two </a:t>
                </a:r>
                <a:r>
                  <a:rPr lang="en-IN" sz="2400">
                    <a:solidFill>
                      <a:srgbClr val="111827"/>
                    </a:solidFill>
                    <a:latin typeface="Cambria Math" panose="02040503050406030204" pitchFamily="18" charset="0"/>
                  </a:rPr>
                  <a:t>$1$</a:t>
                </a:r>
                <a:r>
                  <a:rPr sz="2400" b="0">
                    <a:solidFill>
                      <a:srgbClr val="111827"/>
                    </a:solidFill>
                    <a:latin typeface="Arial"/>
                  </a:rPr>
                  <a:t>'s and the two </a:t>
                </a:r>
                <a:r>
                  <a:rPr lang="en-IN" sz="2400">
                    <a:solidFill>
                      <a:srgbClr val="111827"/>
                    </a:solidFill>
                    <a:latin typeface="Cambria Math" panose="02040503050406030204" pitchFamily="18" charset="0"/>
                  </a:rPr>
                  <a:t>$2$</a:t>
                </a:r>
                <a:r>
                  <a:rPr sz="2400" b="0">
                    <a:solidFill>
                      <a:srgbClr val="111827"/>
                    </a:solidFill>
                    <a:latin typeface="Arial"/>
                  </a:rPr>
                  <a:t>'s are interchangeable).</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groups in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rooms: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Arrange these </a:t>
                </a:r>
                <a:r>
                  <a:rPr lang="en-IN" sz="2400">
                    <a:solidFill>
                      <a:srgbClr val="111827"/>
                    </a:solidFill>
                    <a:latin typeface="Cambria Math" panose="02040503050406030204" pitchFamily="18" charset="0"/>
                  </a:rPr>
                  <a:t>$4$</a:t>
                </a:r>
                <a:r>
                  <a:rPr sz="2400" b="0">
                    <a:solidFill>
                      <a:srgbClr val="111827"/>
                    </a:solidFill>
                    <a:latin typeface="Arial"/>
                  </a:rPr>
                  <a:t> groups in the </a:t>
                </a:r>
                <a:r>
                  <a:rPr lang="en-IN" sz="2400">
                    <a:solidFill>
                      <a:srgbClr val="111827"/>
                    </a:solidFill>
                    <a:latin typeface="Cambria Math" panose="02040503050406030204" pitchFamily="18" charset="0"/>
                  </a:rPr>
                  <a:t>$4$</a:t>
                </a:r>
                <a:r>
                  <a:rPr sz="2400" b="0">
                    <a:solidFill>
                      <a:srgbClr val="111827"/>
                    </a:solidFill>
                    <a:latin typeface="Arial"/>
                  </a:rPr>
                  <a:t> rooms: </a:t>
                </a:r>
                <a:r>
                  <a:rPr lang="en-IN" sz="2400">
                    <a:solidFill>
                      <a:srgbClr val="111827"/>
                    </a:solidFill>
                    <a:latin typeface="Cambria Math" panose="02040503050406030204" pitchFamily="18" charset="0"/>
                  </a:rPr>
                  <a:t>$4!=24$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$=45\times24=1080$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1080</a:t>
            </a:r>
            <a:endParaRPr sz="2800">
              <a:solidFill>
                <a:srgbClr val="15803D"/>
              </a:solidFill>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exponential generating function for persons in a room: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per room, coefficient of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6</m:t>
                            </m:r>
                          </m:sup>
                        </m:sSup>
                      </m:num>
                      <m:den>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in the fourth power.</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exponential generating function for persons in a room: </a:t>
                </a:r>
                <a:r>
                  <a:rPr lang="en-IN" sz="2400">
                    <a:solidFill>
                      <a:srgbClr val="78350F"/>
                    </a:solidFill>
                    <a:latin typeface="Cambria Math" panose="02040503050406030204" pitchFamily="18" charset="0"/>
                  </a:rPr>
                  <a:t>$x+\frac{x^2}{2!}$</a:t>
                </a:r>
                <a:r>
                  <a:rPr sz="2400" b="0">
                    <a:solidFill>
                      <a:srgbClr val="78350F"/>
                    </a:solidFill>
                    <a:latin typeface="Arial"/>
                  </a:rPr>
                  <a:t> per room, coefficient of </a:t>
                </a:r>
                <a:r>
                  <a:rPr lang="en-IN" sz="2400">
                    <a:solidFill>
                      <a:srgbClr val="78350F"/>
                    </a:solidFill>
                    <a:latin typeface="Cambria Math" panose="02040503050406030204" pitchFamily="18" charset="0"/>
                  </a:rPr>
                  <a:t>$\frac{x^6}{6!}$</a:t>
                </a:r>
                <a:r>
                  <a:rPr sz="2400" b="0">
                    <a:solidFill>
                      <a:srgbClr val="78350F"/>
                    </a:solidFill>
                    <a:latin typeface="Arial"/>
                  </a:rPr>
                  <a:t> in the fourth power.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Persons are distinct, rooms are distinct; each room contributes the factor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(one person, or two persons).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count is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Persons are distinct, rooms are distinct; each room contributes the factor </a:t>
                </a:r>
                <a:r>
                  <a:rPr lang="en-IN" sz="2400">
                    <a:solidFill>
                      <a:srgbClr val="111827"/>
                    </a:solidFill>
                    <a:latin typeface="Cambria Math" panose="02040503050406030204" pitchFamily="18" charset="0"/>
                  </a:rPr>
                  <a:t>$x+\frac{x^2}{2}$</a:t>
                </a:r>
                <a:r>
                  <a:rPr sz="2400" b="0">
                    <a:solidFill>
                      <a:srgbClr val="111827"/>
                    </a:solidFill>
                    <a:latin typeface="Arial"/>
                  </a:rPr>
                  <a:t> (one person, or two persons).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count is </a:t>
                </a:r>
                <a:r>
                  <a:rPr lang="en-IN" sz="2400">
                    <a:solidFill>
                      <a:srgbClr val="111827"/>
                    </a:solidFill>
                    <a:latin typeface="Cambria Math" panose="02040503050406030204" pitchFamily="18" charset="0"/>
                  </a:rPr>
                  <a:t>$6!\,[x^6]\left(x+\frac{x^2}{2}\right)^4=6!\,[x^2]\left(1+\frac{x}{2}\right)^4$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$[x^2](1+\frac x2)^4=\binom42\cdot\frac14=\frac32$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$=720\times\frac32=1080$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1080</a:t>
            </a:r>
            <a:endParaRPr sz="2800">
              <a:solidFill>
                <a:srgbClr val="15803D"/>
              </a:solidFil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two rooms that will hold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persons first, then split the persons.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two rooms that will hold </a:t>
                </a:r>
                <a:r>
                  <a:rPr lang="en-IN" sz="2400">
                    <a:solidFill>
                      <a:srgbClr val="78350F"/>
                    </a:solidFill>
                    <a:latin typeface="Cambria Math" panose="02040503050406030204" pitchFamily="18" charset="0"/>
                  </a:rPr>
                  <a:t>$2$</a:t>
                </a:r>
                <a:r>
                  <a:rPr sz="2400" b="0">
                    <a:solidFill>
                      <a:srgbClr val="78350F"/>
                    </a:solidFill>
                    <a:latin typeface="Arial"/>
                  </a:rPr>
                  <a:t> persons first, then split the persons.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which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rooms hold two persons: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Assign the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distinct persons to rooms with sizes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which </a:t>
                </a:r>
                <a:r>
                  <a:rPr lang="en-IN" sz="2400">
                    <a:solidFill>
                      <a:srgbClr val="111827"/>
                    </a:solidFill>
                    <a:latin typeface="Cambria Math" panose="02040503050406030204" pitchFamily="18" charset="0"/>
                  </a:rPr>
                  <a:t>$2$</a:t>
                </a:r>
                <a:r>
                  <a:rPr sz="2400" b="0">
                    <a:solidFill>
                      <a:srgbClr val="111827"/>
                    </a:solidFill>
                    <a:latin typeface="Arial"/>
                  </a:rPr>
                  <a:t> of the </a:t>
                </a:r>
                <a:r>
                  <a:rPr lang="en-IN" sz="2400">
                    <a:solidFill>
                      <a:srgbClr val="111827"/>
                    </a:solidFill>
                    <a:latin typeface="Cambria Math" panose="02040503050406030204" pitchFamily="18" charset="0"/>
                  </a:rPr>
                  <a:t>$4$</a:t>
                </a:r>
                <a:r>
                  <a:rPr sz="2400" b="0">
                    <a:solidFill>
                      <a:srgbClr val="111827"/>
                    </a:solidFill>
                    <a:latin typeface="Arial"/>
                  </a:rPr>
                  <a:t> rooms hold two persons: </a:t>
                </a:r>
                <a:r>
                  <a:rPr lang="en-IN" sz="2400">
                    <a:solidFill>
                      <a:srgbClr val="111827"/>
                    </a:solidFill>
                    <a:latin typeface="Cambria Math" panose="02040503050406030204" pitchFamily="18" charset="0"/>
                  </a:rPr>
                  <a:t>$\binom42=6$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Assign the </a:t>
                </a:r>
                <a:r>
                  <a:rPr lang="en-IN" sz="2400">
                    <a:solidFill>
                      <a:srgbClr val="111827"/>
                    </a:solidFill>
                    <a:latin typeface="Cambria Math" panose="02040503050406030204" pitchFamily="18" charset="0"/>
                  </a:rPr>
                  <a:t>$6$</a:t>
                </a:r>
                <a:r>
                  <a:rPr sz="2400" b="0">
                    <a:solidFill>
                      <a:srgbClr val="111827"/>
                    </a:solidFill>
                    <a:latin typeface="Arial"/>
                  </a:rPr>
                  <a:t> distinct persons to rooms with sizes </a:t>
                </a:r>
                <a:r>
                  <a:rPr lang="en-IN" sz="2400">
                    <a:solidFill>
                      <a:srgbClr val="111827"/>
                    </a:solidFill>
                    <a:latin typeface="Cambria Math" panose="02040503050406030204" pitchFamily="18" charset="0"/>
                  </a:rPr>
                  <a:t>$2,2,1,1$</a:t>
                </a:r>
                <a:r>
                  <a:rPr sz="2400" b="0">
                    <a:solidFill>
                      <a:srgbClr val="111827"/>
                    </a:solidFill>
                    <a:latin typeface="Arial"/>
                  </a:rPr>
                  <a:t>: </a:t>
                </a:r>
                <a:r>
                  <a:rPr lang="en-IN" sz="2400">
                    <a:solidFill>
                      <a:srgbClr val="111827"/>
                    </a:solidFill>
                    <a:latin typeface="Cambria Math" panose="02040503050406030204" pitchFamily="18" charset="0"/>
                  </a:rPr>
                  <a:t>$\frac{6!}{2!\,2!\,1!\,1!}=180$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$=6\times180=1080$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1080</a:t>
            </a:r>
            <a:endParaRPr sz="2800">
              <a:solidFill>
                <a:srgbClr val="15803D"/>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objects, distinct boxes, box sizes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𝑚</m:t>
                        </m:r>
                      </m:sub>
                    </m:sSub>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𝑚</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sum over allowed size patterns, counting how many boxes take each pattern.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Exponential generating functions solve 'each box holds between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box factor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𝑠</m:t>
                                </m:r>
                              </m:sup>
                            </m:sSup>
                          </m:num>
                          <m:den>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answer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product.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Equal-sized groups of unlabelled sets need division by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 when the groups are not later assigned to labelled boxes.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Distinct objects, distinct boxes, box sizes </a:t>
                </a:r>
                <a:r>
                  <a:rPr lang="en-IN" sz="2400">
                    <a:solidFill>
                      <a:srgbClr val="111827"/>
                    </a:solidFill>
                    <a:latin typeface="Cambria Math" panose="02040503050406030204" pitchFamily="18" charset="0"/>
                  </a:rPr>
                  <a:t>$s_1,\dots,s_m$</a:t>
                </a:r>
                <a:r>
                  <a:rPr sz="2400" b="0">
                    <a:solidFill>
                      <a:srgbClr val="111827"/>
                    </a:solidFill>
                    <a:latin typeface="Arial"/>
                  </a:rPr>
                  <a:t>: </a:t>
                </a:r>
                <a:r>
                  <a:rPr lang="en-IN" sz="2400">
                    <a:solidFill>
                      <a:srgbClr val="111827"/>
                    </a:solidFill>
                    <a:latin typeface="Cambria Math" panose="02040503050406030204" pitchFamily="18" charset="0"/>
                  </a:rPr>
                  <a:t>$\frac{n!}{s_1!\cdots s_m!}$</a:t>
                </a:r>
                <a:r>
                  <a:rPr sz="2400" b="0">
                    <a:solidFill>
                      <a:srgbClr val="111827"/>
                    </a:solidFill>
                    <a:latin typeface="Arial"/>
                  </a:rPr>
                  <a:t>; sum over allowed size patterns, counting how many boxes take each pattern.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Exponential generating functions solve 'each box holds between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box factor </a:t>
                </a:r>
                <a:r>
                  <a:rPr lang="en-IN" sz="2400">
                    <a:solidFill>
                      <a:srgbClr val="111827"/>
                    </a:solidFill>
                    <a:latin typeface="Cambria Math" panose="02040503050406030204" pitchFamily="18" charset="0"/>
                  </a:rPr>
                  <a:t>$\sum_{s=a}^{b}\frac{x^s}{s!}$</a:t>
                </a:r>
                <a:r>
                  <a:rPr sz="2400" b="0">
                    <a:solidFill>
                      <a:srgbClr val="111827"/>
                    </a:solidFill>
                    <a:latin typeface="Arial"/>
                  </a:rPr>
                  <a:t>, answer </a:t>
                </a:r>
                <a:r>
                  <a:rPr lang="en-IN" sz="2400">
                    <a:solidFill>
                      <a:srgbClr val="111827"/>
                    </a:solidFill>
                    <a:latin typeface="Cambria Math" panose="02040503050406030204" pitchFamily="18" charset="0"/>
                  </a:rPr>
                  <a:t>$n!\,[x^n]$</a:t>
                </a:r>
                <a:r>
                  <a:rPr sz="2400" b="0">
                    <a:solidFill>
                      <a:srgbClr val="111827"/>
                    </a:solidFill>
                    <a:latin typeface="Arial"/>
                  </a:rPr>
                  <a:t> of the product.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Equal-sized groups of unlabelled sets need division by </a:t>
                </a:r>
                <a:r>
                  <a:rPr lang="en-IN" sz="2400">
                    <a:solidFill>
                      <a:srgbClr val="111827"/>
                    </a:solidFill>
                    <a:latin typeface="Cambria Math" panose="02040503050406030204" pitchFamily="18" charset="0"/>
                  </a:rPr>
                  <a:t>$r!$</a:t>
                </a:r>
                <a:r>
                  <a:rPr sz="2400" b="0">
                    <a:solidFill>
                      <a:srgbClr val="111827"/>
                    </a:solidFill>
                    <a:latin typeface="Arial"/>
                  </a:rPr>
                  <a:t> only when the groups are not later assigned to labelled boxes.</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9</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One or more than one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Q16</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all correct options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nor/>
                      </m:rPr>
                      <a:rPr lang="en-IN" sz="2400" i="1">
                        <a:solidFill>
                          <a:srgbClr val="111827"/>
                        </a:solidFill>
                        <a:latin typeface="Cambria Math" panose="02040503050406030204" pitchFamily="18" charset="0"/>
                      </a:rPr>
                      <m:t> 𝑎𝑟𝑒 𝑑𝑖𝑠𝑡𝑖𝑛𝑐𝑡 𝑒𝑙𝑒𝑚𝑒𝑛𝑡𝑠 𝑖𝑛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total number of elements in the set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is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which of the following statements is (are) TRUE? [JEE (Adv) 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   (B)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(C)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$S_1=\{(i,j,k):i,j,k\in\{1,2,\dots,10\}\}$</a:t>
                </a:r>
                <a:r>
                  <a:rPr sz="2400" b="0">
                    <a:solidFill>
                      <a:srgbClr val="111827"/>
                    </a:solidFill>
                    <a:latin typeface="Arial"/>
                  </a:rPr>
                  <a:t>, </a:t>
                </a:r>
                <a:r>
                  <a:rPr lang="en-IN" sz="2400">
                    <a:solidFill>
                      <a:srgbClr val="111827"/>
                    </a:solidFill>
                    <a:latin typeface="Cambria Math" panose="02040503050406030204" pitchFamily="18" charset="0"/>
                  </a:rPr>
                  <a:t>$S_2=\{(i,j):1\le i&lt;j+2\le10,\ i,j\in\{1,\dots,10\}\}$</a:t>
                </a:r>
                <a:r>
                  <a:rPr sz="2400" b="0">
                    <a:solidFill>
                      <a:srgbClr val="111827"/>
                    </a:solidFill>
                    <a:latin typeface="Arial"/>
                  </a:rPr>
                  <a:t>, </a:t>
                </a:r>
                <a:r>
                  <a:rPr lang="en-IN" sz="2400">
                    <a:solidFill>
                      <a:srgbClr val="111827"/>
                    </a:solidFill>
                    <a:latin typeface="Cambria Math" panose="02040503050406030204" pitchFamily="18" charset="0"/>
                  </a:rPr>
                  <a:t>$S_3=\{(i,j,k,l):1\le i&lt;j&lt;k&lt;l,\ i,j,k,l\in\{1,\dots,10\}\}$</a:t>
                </a:r>
                <a:r>
                  <a:rPr sz="2400" b="0">
                    <a:solidFill>
                      <a:srgbClr val="111827"/>
                    </a:solidFill>
                    <a:latin typeface="Arial"/>
                  </a:rPr>
                  <a:t> and </a:t>
                </a:r>
                <a:r>
                  <a:rPr lang="en-IN" sz="2400">
                    <a:solidFill>
                      <a:srgbClr val="111827"/>
                    </a:solidFill>
                    <a:latin typeface="Cambria Math" panose="02040503050406030204" pitchFamily="18" charset="0"/>
                  </a:rPr>
                  <a:t>$S_4=\{(i,j,k,l):i,j,k,l \text{ are distinct elements in }\{1,\dots,10\}\}$</a:t>
                </a:r>
                <a:r>
                  <a:rPr sz="2400" b="0">
                    <a:solidFill>
                      <a:srgbClr val="111827"/>
                    </a:solidFill>
                    <a:latin typeface="Arial"/>
                  </a:rPr>
                  <a:t>. If the total number of elements in the set </a:t>
                </a:r>
                <a:r>
                  <a:rPr lang="en-IN" sz="2400">
                    <a:solidFill>
                      <a:srgbClr val="111827"/>
                    </a:solidFill>
                    <a:latin typeface="Cambria Math" panose="02040503050406030204" pitchFamily="18" charset="0"/>
                  </a:rPr>
                  <a:t>$S_r$</a:t>
                </a:r>
                <a:r>
                  <a:rPr sz="2400" b="0">
                    <a:solidFill>
                      <a:srgbClr val="111827"/>
                    </a:solidFill>
                    <a:latin typeface="Arial"/>
                  </a:rPr>
                  <a:t> is </a:t>
                </a:r>
                <a:r>
                  <a:rPr lang="en-IN" sz="2400">
                    <a:solidFill>
                      <a:srgbClr val="111827"/>
                    </a:solidFill>
                    <a:latin typeface="Cambria Math" panose="02040503050406030204" pitchFamily="18" charset="0"/>
                  </a:rPr>
                  <a:t>$n_r$</a:t>
                </a:r>
                <a:r>
                  <a:rPr sz="2400" b="0">
                    <a:solidFill>
                      <a:srgbClr val="111827"/>
                    </a:solidFill>
                    <a:latin typeface="Arial"/>
                  </a:rPr>
                  <a:t>, </a:t>
                </a:r>
                <a:r>
                  <a:rPr lang="en-IN" sz="2400">
                    <a:solidFill>
                      <a:srgbClr val="111827"/>
                    </a:solidFill>
                    <a:latin typeface="Cambria Math" panose="02040503050406030204" pitchFamily="18" charset="0"/>
                  </a:rPr>
                  <a:t>$r=1,2,3,4$</a:t>
                </a:r>
                <a:r>
                  <a:rPr sz="2400" b="0">
                    <a:solidFill>
                      <a:srgbClr val="111827"/>
                    </a:solidFill>
                    <a:latin typeface="Arial"/>
                  </a:rPr>
                  <a:t>, then which of the following statements is (are) TRUE? [JEE (Adv) 2021]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$n_1=1000$</a:t>
                </a:r>
                <a:r>
                  <a:rPr sz="2400" b="0">
                    <a:solidFill>
                      <a:srgbClr val="111827"/>
                    </a:solidFill>
                    <a:latin typeface="Arial"/>
                  </a:rPr>
                  <a:t>   (B) </a:t>
                </a:r>
                <a:r>
                  <a:rPr lang="en-IN" sz="2400">
                    <a:solidFill>
                      <a:srgbClr val="111827"/>
                    </a:solidFill>
                    <a:latin typeface="Cambria Math" panose="02040503050406030204" pitchFamily="18" charset="0"/>
                  </a:rPr>
                  <a:t>$n_2=44$</a:t>
                </a:r>
                <a:r>
                  <a:rPr sz="2400" b="0">
                    <a:solidFill>
                      <a:srgbClr val="111827"/>
                    </a:solidFill>
                    <a:latin typeface="Arial"/>
                  </a:rPr>
                  <a:t>   (C) </a:t>
                </a:r>
                <a:r>
                  <a:rPr lang="en-IN" sz="2400">
                    <a:solidFill>
                      <a:srgbClr val="111827"/>
                    </a:solidFill>
                    <a:latin typeface="Cambria Math" panose="02040503050406030204" pitchFamily="18" charset="0"/>
                  </a:rPr>
                  <a:t>$n_3=220$</a:t>
                </a:r>
                <a:r>
                  <a:rPr sz="2400" b="0">
                    <a:solidFill>
                      <a:srgbClr val="111827"/>
                    </a:solidFill>
                    <a:latin typeface="Arial"/>
                  </a:rPr>
                  <a:t>   (D) </a:t>
                </a:r>
                <a:r>
                  <a:rPr lang="en-IN" sz="2400">
                    <a:solidFill>
                      <a:srgbClr val="111827"/>
                    </a:solidFill>
                    <a:latin typeface="Cambria Math" panose="02040503050406030204" pitchFamily="18" charset="0"/>
                  </a:rPr>
                  <a:t>$\frac{n_4}{12}=420$</a:t>
                </a:r>
                <a:endParaRPr sz="2400">
                  <a:solidFill>
                    <a:srgbClr val="111827"/>
                  </a:solidFill>
                </a:endParaRPr>
              </a:p>
            </p:txBody>
          </p:sp>
        </mc:Fallback>
      </mc:AlternateContent>
      <p:sp>
        <p:nvSpPr>
          <p:cNvPr id="5" name="Rectangle 4"/>
          <p:cNvSpPr/>
          <p:nvPr/>
        </p:nvSpPr>
        <p:spPr>
          <a:xfrm>
            <a:off x="731520" y="44338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ordered tuples, strictly increasing tuples and distinct tuples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10</m:t>
                            </m:r>
                          </m:num>
                          <m:den>
                            <m:r>
                              <a:rPr lang="en-IN" sz="2400" i="1">
                                <a:solidFill>
                                  <a:srgbClr val="78350F"/>
                                </a:solidFill>
                                <a:latin typeface="Cambria Math" panose="02040503050406030204" pitchFamily="18" charset="0"/>
                              </a:rPr>
                              <m:t>4</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210</m:t>
                    </m:r>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4</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3</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5040</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is a staircase sum.</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$n_3=\binom{10}{4}=210$</a:t>
                </a:r>
                <a:r>
                  <a:rPr sz="2400" b="0">
                    <a:solidFill>
                      <a:srgbClr val="78350F"/>
                    </a:solidFill>
                    <a:latin typeface="Arial"/>
                  </a:rPr>
                  <a:t> and </a:t>
                </a:r>
                <a:r>
                  <a:rPr lang="en-IN" sz="2400">
                    <a:solidFill>
                      <a:srgbClr val="78350F"/>
                    </a:solidFill>
                    <a:latin typeface="Cambria Math" panose="02040503050406030204" pitchFamily="18" charset="0"/>
                  </a:rPr>
                  <a:t>$n_4=4!\,n_3=5040$</a:t>
                </a:r>
                <a:r>
                  <a:rPr sz="2400" b="0">
                    <a:solidFill>
                      <a:srgbClr val="78350F"/>
                    </a:solidFill>
                    <a:latin typeface="Arial"/>
                  </a:rPr>
                  <a:t>; </a:t>
                </a:r>
                <a:r>
                  <a:rPr lang="en-IN" sz="2400">
                    <a:solidFill>
                      <a:srgbClr val="78350F"/>
                    </a:solidFill>
                    <a:latin typeface="Cambria Math" panose="02040503050406030204" pitchFamily="18" charset="0"/>
                  </a:rPr>
                  <a:t>$n_2$</a:t>
                </a:r>
                <a:r>
                  <a:rPr sz="2400" b="0">
                    <a:solidFill>
                      <a:srgbClr val="78350F"/>
                    </a:solidFill>
                    <a:latin typeface="Arial"/>
                  </a:rPr>
                  <a:t> is a staircase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condition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the number of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consists of strictly increasing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-tuples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each is a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-element subset, so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 false.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$|S_1|=10\cdot10\cdot10=1000$</a:t>
                </a:r>
                <a:r>
                  <a:rPr sz="2400" b="0">
                    <a:solidFill>
                      <a:srgbClr val="111827"/>
                    </a:solidFill>
                    <a:latin typeface="Arial"/>
                  </a:rPr>
                  <a:t>, so </a:t>
                </a:r>
                <a:r>
                  <a:rPr lang="en-IN" sz="2400">
                    <a:solidFill>
                      <a:srgbClr val="111827"/>
                    </a:solidFill>
                    <a:latin typeface="Cambria Math" panose="02040503050406030204" pitchFamily="18" charset="0"/>
                  </a:rPr>
                  <a:t>$n_1=1000$</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condition </a:t>
                </a:r>
                <a:r>
                  <a:rPr lang="en-IN" sz="2400">
                    <a:solidFill>
                      <a:srgbClr val="111827"/>
                    </a:solidFill>
                    <a:latin typeface="Cambria Math" panose="02040503050406030204" pitchFamily="18" charset="0"/>
                  </a:rPr>
                  <a:t>$i&lt;j+2\le10$</a:t>
                </a:r>
                <a:r>
                  <a:rPr sz="2400" b="0">
                    <a:solidFill>
                      <a:srgbClr val="111827"/>
                    </a:solidFill>
                    <a:latin typeface="Arial"/>
                  </a:rPr>
                  <a:t> means </a:t>
                </a:r>
                <a:r>
                  <a:rPr lang="en-IN" sz="2400">
                    <a:solidFill>
                      <a:srgbClr val="111827"/>
                    </a:solidFill>
                    <a:latin typeface="Cambria Math" panose="02040503050406030204" pitchFamily="18" charset="0"/>
                  </a:rPr>
                  <a:t>$1\le j\le8$</a:t>
                </a:r>
                <a:r>
                  <a:rPr sz="2400" b="0">
                    <a:solidFill>
                      <a:srgbClr val="111827"/>
                    </a:solidFill>
                    <a:latin typeface="Arial"/>
                  </a:rPr>
                  <a:t> and </a:t>
                </a:r>
                <a:r>
                  <a:rPr lang="en-IN" sz="2400">
                    <a:solidFill>
                      <a:srgbClr val="111827"/>
                    </a:solidFill>
                    <a:latin typeface="Cambria Math" panose="02040503050406030204" pitchFamily="18" charset="0"/>
                  </a:rPr>
                  <a:t>$1\le i\le j+1$</a:t>
                </a:r>
                <a:r>
                  <a:rPr sz="2400" b="0">
                    <a:solidFill>
                      <a:srgbClr val="111827"/>
                    </a:solidFill>
                    <a:latin typeface="Arial"/>
                  </a:rPr>
                  <a:t>. For </a:t>
                </a:r>
                <a:r>
                  <a:rPr lang="en-IN" sz="2400">
                    <a:solidFill>
                      <a:srgbClr val="111827"/>
                    </a:solidFill>
                    <a:latin typeface="Cambria Math" panose="02040503050406030204" pitchFamily="18" charset="0"/>
                  </a:rPr>
                  <a:t>$j=1,2,\dots,8$</a:t>
                </a:r>
                <a:r>
                  <a:rPr sz="2400" b="0">
                    <a:solidFill>
                      <a:srgbClr val="111827"/>
                    </a:solidFill>
                    <a:latin typeface="Arial"/>
                  </a:rPr>
                  <a:t> the number of </a:t>
                </a:r>
                <a:r>
                  <a:rPr lang="en-IN" sz="2400">
                    <a:solidFill>
                      <a:srgbClr val="111827"/>
                    </a:solidFill>
                    <a:latin typeface="Cambria Math" panose="02040503050406030204" pitchFamily="18" charset="0"/>
                  </a:rPr>
                  <a:t>$i$</a:t>
                </a:r>
                <a:r>
                  <a:rPr sz="2400" b="0">
                    <a:solidFill>
                      <a:srgbClr val="111827"/>
                    </a:solidFill>
                    <a:latin typeface="Arial"/>
                  </a:rPr>
                  <a:t> is </a:t>
                </a:r>
                <a:r>
                  <a:rPr lang="en-IN" sz="2400">
                    <a:solidFill>
                      <a:srgbClr val="111827"/>
                    </a:solidFill>
                    <a:latin typeface="Cambria Math" panose="02040503050406030204" pitchFamily="18" charset="0"/>
                  </a:rPr>
                  <a:t>$2,3,\dots,9$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$n_2=2+3+\dots+9=44$</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$S_3$</a:t>
                </a:r>
                <a:r>
                  <a:rPr sz="2400" b="0">
                    <a:solidFill>
                      <a:srgbClr val="111827"/>
                    </a:solidFill>
                    <a:latin typeface="Arial"/>
                  </a:rPr>
                  <a:t> consists of strictly increasing </a:t>
                </a:r>
                <a:r>
                  <a:rPr lang="en-IN" sz="2400">
                    <a:solidFill>
                      <a:srgbClr val="111827"/>
                    </a:solidFill>
                    <a:latin typeface="Cambria Math" panose="02040503050406030204" pitchFamily="18" charset="0"/>
                  </a:rPr>
                  <a:t>$4$</a:t>
                </a:r>
                <a:r>
                  <a:rPr sz="2400" b="0">
                    <a:solidFill>
                      <a:srgbClr val="111827"/>
                    </a:solidFill>
                    <a:latin typeface="Arial"/>
                  </a:rPr>
                  <a:t>-tuples from </a:t>
                </a:r>
                <a:r>
                  <a:rPr lang="en-IN" sz="2400">
                    <a:solidFill>
                      <a:srgbClr val="111827"/>
                    </a:solidFill>
                    <a:latin typeface="Cambria Math" panose="02040503050406030204" pitchFamily="18" charset="0"/>
                  </a:rPr>
                  <a:t>$\{1,\dots,10\}$</a:t>
                </a:r>
                <a:r>
                  <a:rPr sz="2400" b="0">
                    <a:solidFill>
                      <a:srgbClr val="111827"/>
                    </a:solidFill>
                    <a:latin typeface="Arial"/>
                  </a:rPr>
                  <a:t>; each is a </a:t>
                </a:r>
                <a:r>
                  <a:rPr lang="en-IN" sz="2400">
                    <a:solidFill>
                      <a:srgbClr val="111827"/>
                    </a:solidFill>
                    <a:latin typeface="Cambria Math" panose="02040503050406030204" pitchFamily="18" charset="0"/>
                  </a:rPr>
                  <a:t>$4$</a:t>
                </a:r>
                <a:r>
                  <a:rPr sz="2400" b="0">
                    <a:solidFill>
                      <a:srgbClr val="111827"/>
                    </a:solidFill>
                    <a:latin typeface="Arial"/>
                  </a:rPr>
                  <a:t>-element subset, so </a:t>
                </a:r>
                <a:r>
                  <a:rPr lang="en-IN" sz="2400">
                    <a:solidFill>
                      <a:srgbClr val="111827"/>
                    </a:solidFill>
                    <a:latin typeface="Cambria Math" panose="02040503050406030204" pitchFamily="18" charset="0"/>
                  </a:rPr>
                  <a:t>$n_3=\binom{10}{4}=\frac{10\cdot9\cdot8\cdot7}{24}=210\neq220$</a:t>
                </a:r>
                <a:r>
                  <a:rPr sz="2400" b="0">
                    <a:solidFill>
                      <a:srgbClr val="111827"/>
                    </a:solidFill>
                    <a:latin typeface="Arial"/>
                  </a:rPr>
                  <a:t>: false.</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consists of ordered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-tuples of distinct elements: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5040</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true statements are (A), (B),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$S_4$</a:t>
                </a:r>
                <a:r>
                  <a:rPr sz="2400" b="0">
                    <a:solidFill>
                      <a:srgbClr val="111827"/>
                    </a:solidFill>
                    <a:latin typeface="Arial"/>
                  </a:rPr>
                  <a:t> consists of ordered </a:t>
                </a:r>
                <a:r>
                  <a:rPr lang="en-IN" sz="2400">
                    <a:solidFill>
                      <a:srgbClr val="111827"/>
                    </a:solidFill>
                    <a:latin typeface="Cambria Math" panose="02040503050406030204" pitchFamily="18" charset="0"/>
                  </a:rPr>
                  <a:t>$4$</a:t>
                </a:r>
                <a:r>
                  <a:rPr sz="2400" b="0">
                    <a:solidFill>
                      <a:srgbClr val="111827"/>
                    </a:solidFill>
                    <a:latin typeface="Arial"/>
                  </a:rPr>
                  <a:t>-tuples of distinct elements: </a:t>
                </a:r>
                <a:r>
                  <a:rPr lang="en-IN" sz="2400">
                    <a:solidFill>
                      <a:srgbClr val="111827"/>
                    </a:solidFill>
                    <a:latin typeface="Cambria Math" panose="02040503050406030204" pitchFamily="18" charset="0"/>
                  </a:rPr>
                  <a:t>$n_4=10\cdot9\cdot8\cdot7=5040$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$\frac{n_4}{12}=\frac{5040}{12}=420$</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true statements are (A), (B),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 D)</a:t>
            </a:r>
            <a:endParaRPr sz="2800">
              <a:solidFill>
                <a:srgbClr val="15803D"/>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Ordered versus unordered: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4</m:t>
                        </m:r>
                      </m:sub>
                    </m:sSub>
                  </m:oMath>
                </a14:m>
                <a:r>
                  <a:rPr sz="2400" b="0">
                    <a:solidFill>
                      <a:srgbClr val="78350F"/>
                    </a:solidFill>
                    <a:latin typeface="Arial"/>
                  </a:rPr>
                  <a:t> is every ordering of an element of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so </a:t>
                </a:r>
                <a14:m>
                  <m:oMath xmlns:m="http://schemas.openxmlformats.org/officeDocument/2006/math">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4</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and count </a:t>
                </a:r>
                <a14:m>
                  <m:oMath xmlns:m="http://schemas.openxmlformats.org/officeDocument/2006/math">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by complement in the </a:t>
                </a:r>
                <a14:m>
                  <m:oMath xmlns:m="http://schemas.openxmlformats.org/officeDocument/2006/math">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grid.</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Ordered versus unordered: </a:t>
                </a:r>
                <a:r>
                  <a:rPr lang="en-IN" sz="2400">
                    <a:solidFill>
                      <a:srgbClr val="78350F"/>
                    </a:solidFill>
                    <a:latin typeface="Cambria Math" panose="02040503050406030204" pitchFamily="18" charset="0"/>
                  </a:rPr>
                  <a:t>$S_4$</a:t>
                </a:r>
                <a:r>
                  <a:rPr sz="2400" b="0">
                    <a:solidFill>
                      <a:srgbClr val="78350F"/>
                    </a:solidFill>
                    <a:latin typeface="Arial"/>
                  </a:rPr>
                  <a:t> is every ordering of an element of </a:t>
                </a:r>
                <a:r>
                  <a:rPr lang="en-IN" sz="2400">
                    <a:solidFill>
                      <a:srgbClr val="78350F"/>
                    </a:solidFill>
                    <a:latin typeface="Cambria Math" panose="02040503050406030204" pitchFamily="18" charset="0"/>
                  </a:rPr>
                  <a:t>$S_3$</a:t>
                </a:r>
                <a:r>
                  <a:rPr sz="2400" b="0">
                    <a:solidFill>
                      <a:srgbClr val="78350F"/>
                    </a:solidFill>
                    <a:latin typeface="Arial"/>
                  </a:rPr>
                  <a:t>, so </a:t>
                </a:r>
                <a:r>
                  <a:rPr lang="en-IN" sz="2400">
                    <a:solidFill>
                      <a:srgbClr val="78350F"/>
                    </a:solidFill>
                    <a:latin typeface="Cambria Math" panose="02040503050406030204" pitchFamily="18" charset="0"/>
                  </a:rPr>
                  <a:t>$n_4=4!\,n_3$</a:t>
                </a:r>
                <a:r>
                  <a:rPr sz="2400" b="0">
                    <a:solidFill>
                      <a:srgbClr val="78350F"/>
                    </a:solidFill>
                    <a:latin typeface="Arial"/>
                  </a:rPr>
                  <a:t>; and count </a:t>
                </a:r>
                <a:r>
                  <a:rPr lang="en-IN" sz="2400">
                    <a:solidFill>
                      <a:srgbClr val="78350F"/>
                    </a:solidFill>
                    <a:latin typeface="Cambria Math" panose="02040503050406030204" pitchFamily="18" charset="0"/>
                  </a:rPr>
                  <a:t>$S_2$</a:t>
                </a:r>
                <a:r>
                  <a:rPr sz="2400" b="0">
                    <a:solidFill>
                      <a:srgbClr val="78350F"/>
                    </a:solidFill>
                    <a:latin typeface="Arial"/>
                  </a:rPr>
                  <a:t> by complement in the </a:t>
                </a:r>
                <a:r>
                  <a:rPr lang="en-IN" sz="2400">
                    <a:solidFill>
                      <a:srgbClr val="78350F"/>
                    </a:solidFill>
                    <a:latin typeface="Cambria Math" panose="02040503050406030204" pitchFamily="18" charset="0"/>
                  </a:rPr>
                  <a:t>$10\times8$</a:t>
                </a:r>
                <a:r>
                  <a:rPr sz="2400" b="0">
                    <a:solidFill>
                      <a:srgbClr val="78350F"/>
                    </a:solidFill>
                    <a:latin typeface="Arial"/>
                  </a:rPr>
                  <a:t> grid.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-subset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exactly one increasing tuple (an element of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tuples of distinct entries (elements of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which equals </a:t>
                </a:r>
                <a14:m>
                  <m:oMath xmlns:m="http://schemas.openxmlformats.org/officeDocument/2006/math">
                    <m:r>
                      <a:rPr lang="en-IN" sz="2400" i="1">
                        <a:solidFill>
                          <a:srgbClr val="111827"/>
                        </a:solidFill>
                        <a:latin typeface="Cambria Math" panose="02040503050406030204" pitchFamily="18" charset="0"/>
                      </a:rPr>
                      <m:t>420</m:t>
                    </m:r>
                  </m:oMath>
                </a14:m>
                <a:r>
                  <a:rPr sz="2400" b="0">
                    <a:solidFill>
                      <a:srgbClr val="111827"/>
                    </a:solidFill>
                    <a:latin typeface="Arial"/>
                  </a:rPr>
                  <a:t> exactly when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oMath>
                </a14:m>
                <a:r>
                  <a:rPr sz="2400" b="0">
                    <a:solidFill>
                      <a:srgbClr val="111827"/>
                    </a:solidFill>
                    <a:latin typeface="Arial"/>
                  </a:rPr>
                  <a:t>; hence (D) is true and (C), with </a:t>
                </a:r>
                <a14:m>
                  <m:oMath xmlns:m="http://schemas.openxmlformats.org/officeDocument/2006/math">
                    <m:r>
                      <a:rPr lang="en-IN" sz="2400" i="1">
                        <a:solidFill>
                          <a:srgbClr val="111827"/>
                        </a:solidFill>
                        <a:latin typeface="Cambria Math" panose="02040503050406030204" pitchFamily="18" charset="0"/>
                      </a:rPr>
                      <m:t>220</m:t>
                    </m:r>
                  </m:oMath>
                </a14:m>
                <a:r>
                  <a:rPr sz="2400" b="0">
                    <a:solidFill>
                      <a:srgbClr val="111827"/>
                    </a:solidFill>
                    <a:latin typeface="Arial"/>
                  </a:rPr>
                  <a:t>, is false.</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a:t>
                </a:r>
                <a:r>
                  <a:rPr lang="en-IN" sz="2400">
                    <a:solidFill>
                      <a:srgbClr val="111827"/>
                    </a:solidFill>
                    <a:latin typeface="Cambria Math" panose="02040503050406030204" pitchFamily="18" charset="0"/>
                  </a:rPr>
                  <a:t>$4$</a:t>
                </a:r>
                <a:r>
                  <a:rPr sz="2400" b="0">
                    <a:solidFill>
                      <a:srgbClr val="111827"/>
                    </a:solidFill>
                    <a:latin typeface="Arial"/>
                  </a:rPr>
                  <a:t>-subset of </a:t>
                </a:r>
                <a:r>
                  <a:rPr lang="en-IN" sz="2400">
                    <a:solidFill>
                      <a:srgbClr val="111827"/>
                    </a:solidFill>
                    <a:latin typeface="Cambria Math" panose="02040503050406030204" pitchFamily="18" charset="0"/>
                  </a:rPr>
                  <a:t>$\{1,\dots,10\}$</a:t>
                </a:r>
                <a:r>
                  <a:rPr sz="2400" b="0">
                    <a:solidFill>
                      <a:srgbClr val="111827"/>
                    </a:solidFill>
                    <a:latin typeface="Arial"/>
                  </a:rPr>
                  <a:t> gives exactly one increasing tuple (an element of </a:t>
                </a:r>
                <a:r>
                  <a:rPr lang="en-IN" sz="2400">
                    <a:solidFill>
                      <a:srgbClr val="111827"/>
                    </a:solidFill>
                    <a:latin typeface="Cambria Math" panose="02040503050406030204" pitchFamily="18" charset="0"/>
                  </a:rPr>
                  <a:t>$S_3$</a:t>
                </a:r>
                <a:r>
                  <a:rPr sz="2400" b="0">
                    <a:solidFill>
                      <a:srgbClr val="111827"/>
                    </a:solidFill>
                    <a:latin typeface="Arial"/>
                  </a:rPr>
                  <a:t>) and </a:t>
                </a:r>
                <a:r>
                  <a:rPr lang="en-IN" sz="2400">
                    <a:solidFill>
                      <a:srgbClr val="111827"/>
                    </a:solidFill>
                    <a:latin typeface="Cambria Math" panose="02040503050406030204" pitchFamily="18" charset="0"/>
                  </a:rPr>
                  <a:t>$4!=24$</a:t>
                </a:r>
                <a:r>
                  <a:rPr sz="2400" b="0">
                    <a:solidFill>
                      <a:srgbClr val="111827"/>
                    </a:solidFill>
                    <a:latin typeface="Arial"/>
                  </a:rPr>
                  <a:t> tuples of distinct entries (elements of </a:t>
                </a:r>
                <a:r>
                  <a:rPr lang="en-IN" sz="2400">
                    <a:solidFill>
                      <a:srgbClr val="111827"/>
                    </a:solidFill>
                    <a:latin typeface="Cambria Math" panose="02040503050406030204" pitchFamily="18" charset="0"/>
                  </a:rPr>
                  <a:t>$S_4$</a:t>
                </a:r>
                <a:r>
                  <a:rPr sz="2400" b="0">
                    <a:solidFill>
                      <a:srgbClr val="111827"/>
                    </a:solidFill>
                    <a:latin typeface="Arial"/>
                  </a:rPr>
                  <a:t>): </a:t>
                </a:r>
                <a:r>
                  <a:rPr lang="en-IN" sz="2400">
                    <a:solidFill>
                      <a:srgbClr val="111827"/>
                    </a:solidFill>
                    <a:latin typeface="Cambria Math" panose="02040503050406030204" pitchFamily="18" charset="0"/>
                  </a:rPr>
                  <a:t>$n_4=24\,n_3$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$\frac{n_4}{12}=2n_3$</a:t>
                </a:r>
                <a:r>
                  <a:rPr sz="2400" b="0">
                    <a:solidFill>
                      <a:srgbClr val="111827"/>
                    </a:solidFill>
                    <a:latin typeface="Arial"/>
                  </a:rPr>
                  <a:t>, which equals </a:t>
                </a:r>
                <a:r>
                  <a:rPr lang="en-IN" sz="2400">
                    <a:solidFill>
                      <a:srgbClr val="111827"/>
                    </a:solidFill>
                    <a:latin typeface="Cambria Math" panose="02040503050406030204" pitchFamily="18" charset="0"/>
                  </a:rPr>
                  <a:t>$420$</a:t>
                </a:r>
                <a:r>
                  <a:rPr sz="2400" b="0">
                    <a:solidFill>
                      <a:srgbClr val="111827"/>
                    </a:solidFill>
                    <a:latin typeface="Arial"/>
                  </a:rPr>
                  <a:t> exactly when </a:t>
                </a:r>
                <a:r>
                  <a:rPr lang="en-IN" sz="2400">
                    <a:solidFill>
                      <a:srgbClr val="111827"/>
                    </a:solidFill>
                    <a:latin typeface="Cambria Math" panose="02040503050406030204" pitchFamily="18" charset="0"/>
                  </a:rPr>
                  <a:t>$n_3=210$</a:t>
                </a:r>
                <a:r>
                  <a:rPr sz="2400" b="0">
                    <a:solidFill>
                      <a:srgbClr val="111827"/>
                    </a:solidFill>
                    <a:latin typeface="Arial"/>
                  </a:rPr>
                  <a:t>, and </a:t>
                </a:r>
                <a:r>
                  <a:rPr lang="en-IN" sz="2400">
                    <a:solidFill>
                      <a:srgbClr val="111827"/>
                    </a:solidFill>
                    <a:latin typeface="Cambria Math" panose="02040503050406030204" pitchFamily="18" charset="0"/>
                  </a:rPr>
                  <a:t>$n_3=\binom{10}{4}=210$</a:t>
                </a:r>
                <a:r>
                  <a:rPr sz="2400" b="0">
                    <a:solidFill>
                      <a:srgbClr val="111827"/>
                    </a:solidFill>
                    <a:latin typeface="Arial"/>
                  </a:rPr>
                  <a:t>; hence (D) is true and (C), with </a:t>
                </a:r>
                <a:r>
                  <a:rPr lang="en-IN" sz="2400">
                    <a:solidFill>
                      <a:srgbClr val="111827"/>
                    </a:solidFill>
                    <a:latin typeface="Cambria Math" panose="02040503050406030204" pitchFamily="18" charset="0"/>
                  </a:rPr>
                  <a:t>$220$</a:t>
                </a:r>
                <a:r>
                  <a:rPr sz="2400" b="0">
                    <a:solidFill>
                      <a:srgbClr val="111827"/>
                    </a:solidFill>
                    <a:latin typeface="Arial"/>
                  </a:rPr>
                  <a:t>, is false.</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80</m:t>
                    </m:r>
                  </m:oMath>
                </a14:m>
                <a:r>
                  <a:rPr sz="2400" b="0">
                    <a:solidFill>
                      <a:srgbClr val="111827"/>
                    </a:solidFill>
                    <a:latin typeface="Arial"/>
                  </a:rPr>
                  <a:t> pairs; remove those with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which number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oMath>
                </a14:m>
                <a:r>
                  <a:rPr sz="2400" b="0">
                    <a:solidFill>
                      <a:srgbClr val="111827"/>
                    </a:solidFill>
                    <a:latin typeface="Arial"/>
                  </a:rPr>
                  <a:t> for each </a:t>
                </a:r>
                <a14:m>
                  <m:oMath xmlns:m="http://schemas.openxmlformats.org/officeDocument/2006/math">
                    <m:r>
                      <a:rPr lang="en-IN" sz="2400" i="1">
                        <a:solidFill>
                          <a:srgbClr val="111827"/>
                        </a:solidFill>
                        <a:latin typeface="Cambria Math" panose="02040503050406030204" pitchFamily="18" charset="0"/>
                      </a:rPr>
                      <m:t>𝑗</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oMath>
                </a14:m>
                <a:r>
                  <a:rPr sz="2400" b="0">
                    <a:solidFill>
                      <a:srgbClr val="111827"/>
                    </a:solidFill>
                    <a:latin typeface="Arial"/>
                  </a:rPr>
                  <a:t>: (A), (B), (D) are true.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$S_2$</a:t>
                </a:r>
                <a:r>
                  <a:rPr sz="2400" b="0">
                    <a:solidFill>
                      <a:srgbClr val="111827"/>
                    </a:solidFill>
                    <a:latin typeface="Arial"/>
                  </a:rPr>
                  <a:t>: </a:t>
                </a:r>
                <a:r>
                  <a:rPr lang="en-IN" sz="2400">
                    <a:solidFill>
                      <a:srgbClr val="111827"/>
                    </a:solidFill>
                    <a:latin typeface="Cambria Math" panose="02040503050406030204" pitchFamily="18" charset="0"/>
                  </a:rPr>
                  <a:t>$j\in\{1,\dots,8\}$</a:t>
                </a:r>
                <a:r>
                  <a:rPr sz="2400" b="0">
                    <a:solidFill>
                      <a:srgbClr val="111827"/>
                    </a:solidFill>
                    <a:latin typeface="Arial"/>
                  </a:rPr>
                  <a:t> and </a:t>
                </a:r>
                <a:r>
                  <a:rPr lang="en-IN" sz="2400">
                    <a:solidFill>
                      <a:srgbClr val="111827"/>
                    </a:solidFill>
                    <a:latin typeface="Cambria Math" panose="02040503050406030204" pitchFamily="18" charset="0"/>
                  </a:rPr>
                  <a:t>$i\in\{1,\dots,10\}$</a:t>
                </a:r>
                <a:r>
                  <a:rPr sz="2400" b="0">
                    <a:solidFill>
                      <a:srgbClr val="111827"/>
                    </a:solidFill>
                    <a:latin typeface="Arial"/>
                  </a:rPr>
                  <a:t> give </a:t>
                </a:r>
                <a:r>
                  <a:rPr lang="en-IN" sz="2400">
                    <a:solidFill>
                      <a:srgbClr val="111827"/>
                    </a:solidFill>
                    <a:latin typeface="Cambria Math" panose="02040503050406030204" pitchFamily="18" charset="0"/>
                  </a:rPr>
                  <a:t>$80$</a:t>
                </a:r>
                <a:r>
                  <a:rPr sz="2400" b="0">
                    <a:solidFill>
                      <a:srgbClr val="111827"/>
                    </a:solidFill>
                    <a:latin typeface="Arial"/>
                  </a:rPr>
                  <a:t> pairs; remove those with </a:t>
                </a:r>
                <a:r>
                  <a:rPr lang="en-IN" sz="2400">
                    <a:solidFill>
                      <a:srgbClr val="111827"/>
                    </a:solidFill>
                    <a:latin typeface="Cambria Math" panose="02040503050406030204" pitchFamily="18" charset="0"/>
                  </a:rPr>
                  <a:t>$i\ge j+2$</a:t>
                </a:r>
                <a:r>
                  <a:rPr sz="2400" b="0">
                    <a:solidFill>
                      <a:srgbClr val="111827"/>
                    </a:solidFill>
                    <a:latin typeface="Arial"/>
                  </a:rPr>
                  <a:t>, which number </a:t>
                </a:r>
                <a:r>
                  <a:rPr lang="en-IN" sz="2400">
                    <a:solidFill>
                      <a:srgbClr val="111827"/>
                    </a:solidFill>
                    <a:latin typeface="Cambria Math" panose="02040503050406030204" pitchFamily="18" charset="0"/>
                  </a:rPr>
                  <a:t>$9-j$</a:t>
                </a:r>
                <a:r>
                  <a:rPr sz="2400" b="0">
                    <a:solidFill>
                      <a:srgbClr val="111827"/>
                    </a:solidFill>
                    <a:latin typeface="Arial"/>
                  </a:rPr>
                  <a:t> for each </a:t>
                </a:r>
                <a:r>
                  <a:rPr lang="en-IN" sz="2400">
                    <a:solidFill>
                      <a:srgbClr val="111827"/>
                    </a:solidFill>
                    <a:latin typeface="Cambria Math" panose="02040503050406030204" pitchFamily="18" charset="0"/>
                  </a:rPr>
                  <a:t>$j$</a:t>
                </a:r>
                <a:r>
                  <a:rPr sz="2400" b="0">
                    <a:solidFill>
                      <a:srgbClr val="111827"/>
                    </a:solidFill>
                    <a:latin typeface="Arial"/>
                  </a:rPr>
                  <a:t>: </a:t>
                </a:r>
                <a:r>
                  <a:rPr lang="en-IN" sz="2400">
                    <a:solidFill>
                      <a:srgbClr val="111827"/>
                    </a:solidFill>
                    <a:latin typeface="Cambria Math" panose="02040503050406030204" pitchFamily="18" charset="0"/>
                  </a:rPr>
                  <a:t>$8+7+\dots+1=36$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$n_2=80-36=44$</a:t>
                </a:r>
                <a:r>
                  <a:rPr sz="2400" b="0">
                    <a:solidFill>
                      <a:srgbClr val="111827"/>
                    </a:solidFill>
                    <a:latin typeface="Arial"/>
                  </a:rPr>
                  <a:t>. With </a:t>
                </a:r>
                <a:r>
                  <a:rPr lang="en-IN" sz="2400">
                    <a:solidFill>
                      <a:srgbClr val="111827"/>
                    </a:solidFill>
                    <a:latin typeface="Cambria Math" panose="02040503050406030204" pitchFamily="18" charset="0"/>
                  </a:rPr>
                  <a:t>$n_1=1000$</a:t>
                </a:r>
                <a:r>
                  <a:rPr sz="2400" b="0">
                    <a:solidFill>
                      <a:srgbClr val="111827"/>
                    </a:solidFill>
                    <a:latin typeface="Arial"/>
                  </a:rPr>
                  <a:t>: (A), (B), (D) are true.</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 D)</a:t>
            </a:r>
            <a:endParaRPr sz="2800">
              <a:solidFill>
                <a:srgbClr val="15803D"/>
              </a:solidFil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-tuples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ordered tuples with distinct entries: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unrestricted ordered tuples: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Reading the condition off before counting: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when an answer key and a working disagree: recompute the claim in one line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Strictly increasing </a:t>
                </a:r>
                <a:r>
                  <a:rPr lang="en-IN" sz="2400">
                    <a:solidFill>
                      <a:srgbClr val="111827"/>
                    </a:solidFill>
                    <a:latin typeface="Cambria Math" panose="02040503050406030204" pitchFamily="18" charset="0"/>
                  </a:rPr>
                  <a:t>$r$</a:t>
                </a:r>
                <a:r>
                  <a:rPr sz="2400" b="0">
                    <a:solidFill>
                      <a:srgbClr val="111827"/>
                    </a:solidFill>
                    <a:latin typeface="Arial"/>
                  </a:rPr>
                  <a:t>-tuples from </a:t>
                </a:r>
                <a:r>
                  <a:rPr lang="en-IN" sz="2400">
                    <a:solidFill>
                      <a:srgbClr val="111827"/>
                    </a:solidFill>
                    <a:latin typeface="Cambria Math" panose="02040503050406030204" pitchFamily="18" charset="0"/>
                  </a:rPr>
                  <a:t>$\{1,..,n\}$</a:t>
                </a:r>
                <a:r>
                  <a:rPr sz="2400" b="0">
                    <a:solidFill>
                      <a:srgbClr val="111827"/>
                    </a:solidFill>
                    <a:latin typeface="Arial"/>
                  </a:rPr>
                  <a:t>: </a:t>
                </a:r>
                <a:r>
                  <a:rPr lang="en-IN" sz="2400">
                    <a:solidFill>
                      <a:srgbClr val="111827"/>
                    </a:solidFill>
                    <a:latin typeface="Cambria Math" panose="02040503050406030204" pitchFamily="18" charset="0"/>
                  </a:rPr>
                  <a:t>$\binom nr$</a:t>
                </a:r>
                <a:r>
                  <a:rPr sz="2400" b="0">
                    <a:solidFill>
                      <a:srgbClr val="111827"/>
                    </a:solidFill>
                    <a:latin typeface="Arial"/>
                  </a:rPr>
                  <a:t>; ordered tuples with distinct entries: </a:t>
                </a:r>
                <a:r>
                  <a:rPr lang="en-IN" sz="2400">
                    <a:solidFill>
                      <a:srgbClr val="111827"/>
                    </a:solidFill>
                    <a:latin typeface="Cambria Math" panose="02040503050406030204" pitchFamily="18" charset="0"/>
                  </a:rPr>
                  <a:t>$n(n-1)\cdots(n-r+1)=r!\binom nr$</a:t>
                </a:r>
                <a:r>
                  <a:rPr sz="2400" b="0">
                    <a:solidFill>
                      <a:srgbClr val="111827"/>
                    </a:solidFill>
                    <a:latin typeface="Arial"/>
                  </a:rPr>
                  <a:t>; unrestricted ordered tuples: </a:t>
                </a:r>
                <a:r>
                  <a:rPr lang="en-IN" sz="2400">
                    <a:solidFill>
                      <a:srgbClr val="111827"/>
                    </a:solidFill>
                    <a:latin typeface="Cambria Math" panose="02040503050406030204" pitchFamily="18" charset="0"/>
                  </a:rPr>
                  <a:t>$n^r$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Reading the condition off before counting: </a:t>
                </a:r>
                <a:r>
                  <a:rPr lang="en-IN" sz="2400">
                    <a:solidFill>
                      <a:srgbClr val="111827"/>
                    </a:solidFill>
                    <a:latin typeface="Cambria Math" panose="02040503050406030204" pitchFamily="18" charset="0"/>
                  </a:rPr>
                  <a:t>$1\le i&lt;j+2\le10$</a:t>
                </a:r>
                <a:r>
                  <a:rPr sz="2400" b="0">
                    <a:solidFill>
                      <a:srgbClr val="111827"/>
                    </a:solidFill>
                    <a:latin typeface="Arial"/>
                  </a:rPr>
                  <a:t> gives </a:t>
                </a:r>
                <a:r>
                  <a:rPr lang="en-IN" sz="2400">
                    <a:solidFill>
                      <a:srgbClr val="111827"/>
                    </a:solidFill>
                    <a:latin typeface="Cambria Math" panose="02040503050406030204" pitchFamily="18" charset="0"/>
                  </a:rPr>
                  <a:t>$i\le j+1$</a:t>
                </a:r>
                <a:r>
                  <a:rPr sz="2400" b="0">
                    <a:solidFill>
                      <a:srgbClr val="111827"/>
                    </a:solidFill>
                    <a:latin typeface="Arial"/>
                  </a:rPr>
                  <a:t> and </a:t>
                </a:r>
                <a:r>
                  <a:rPr lang="en-IN" sz="2400">
                    <a:solidFill>
                      <a:srgbClr val="111827"/>
                    </a:solidFill>
                    <a:latin typeface="Cambria Math" panose="02040503050406030204" pitchFamily="18" charset="0"/>
                  </a:rPr>
                  <a:t>$j\le8$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when an answer key and a working disagree: recompute the claim in one line (</a:t>
                </a:r>
                <a:r>
                  <a:rPr lang="en-IN" sz="2400">
                    <a:solidFill>
                      <a:srgbClr val="111827"/>
                    </a:solidFill>
                    <a:latin typeface="Cambria Math" panose="02040503050406030204" pitchFamily="18" charset="0"/>
                  </a:rPr>
                  <a:t>$n_4/12=420\iff n_4=5040$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10</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-digit integers in the closed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4482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formed by using the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is ______. [JEE (Adv) 2022]</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a:t>
                </a:r>
                <a:r>
                  <a:rPr lang="en-IN" sz="2400">
                    <a:solidFill>
                      <a:srgbClr val="111827"/>
                    </a:solidFill>
                    <a:latin typeface="Cambria Math" panose="02040503050406030204" pitchFamily="18" charset="0"/>
                  </a:rPr>
                  <a:t>$4$</a:t>
                </a:r>
                <a:r>
                  <a:rPr sz="2400" b="0">
                    <a:solidFill>
                      <a:srgbClr val="111827"/>
                    </a:solidFill>
                    <a:latin typeface="Arial"/>
                  </a:rPr>
                  <a:t>-digit integers in the closed interval </a:t>
                </a:r>
                <a:r>
                  <a:rPr lang="en-IN" sz="2400">
                    <a:solidFill>
                      <a:srgbClr val="111827"/>
                    </a:solidFill>
                    <a:latin typeface="Cambria Math" panose="02040503050406030204" pitchFamily="18" charset="0"/>
                  </a:rPr>
                  <a:t>$[2022,4482]$</a:t>
                </a:r>
                <a:r>
                  <a:rPr sz="2400" b="0">
                    <a:solidFill>
                      <a:srgbClr val="111827"/>
                    </a:solidFill>
                    <a:latin typeface="Arial"/>
                  </a:rPr>
                  <a:t> formed by using the digits </a:t>
                </a:r>
                <a:r>
                  <a:rPr lang="en-IN" sz="2400">
                    <a:solidFill>
                      <a:srgbClr val="111827"/>
                    </a:solidFill>
                    <a:latin typeface="Cambria Math" panose="02040503050406030204" pitchFamily="18" charset="0"/>
                  </a:rPr>
                  <a:t>$0,2,3,4,6,7$</a:t>
                </a:r>
                <a:r>
                  <a:rPr sz="2400" b="0">
                    <a:solidFill>
                      <a:srgbClr val="111827"/>
                    </a:solidFill>
                    <a:latin typeface="Arial"/>
                  </a:rPr>
                  <a:t> is ______. [JEE (Adv) 2022]</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Numbers in an interval formed from given digits, Casework with digit restrictions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by the leading digits so that each range has the other digits completely free.</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4482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the leading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(1)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last digit must make the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oMath>
                </a14:m>
                <a:r>
                  <a:rPr sz="2400" b="0">
                    <a:solidFill>
                      <a:srgbClr val="111827"/>
                    </a:solidFill>
                    <a:latin typeface="Arial"/>
                  </a:rPr>
                  <a:t>, so it is one of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choices for the third digit and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for the last: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(3)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second digit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oMath>
                </a14:m>
                <a:r>
                  <a:rPr sz="2400" b="0">
                    <a:solidFill>
                      <a:srgbClr val="111827"/>
                    </a:solidFill>
                    <a:latin typeface="Arial"/>
                  </a:rPr>
                  <a:t> is done):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 </a:t>
                </a:r>
                <a:r>
                  <a:rPr lang="en-IN" sz="2400">
                    <a:solidFill>
                      <a:srgbClr val="111827"/>
                    </a:solidFill>
                    <a:latin typeface="Cambria Math" panose="02040503050406030204" pitchFamily="18" charset="0"/>
                  </a:rPr>
                  <a:t>$[2022,4482]$</a:t>
                </a:r>
                <a:r>
                  <a:rPr sz="2400" b="0">
                    <a:solidFill>
                      <a:srgbClr val="111827"/>
                    </a:solidFill>
                    <a:latin typeface="Arial"/>
                  </a:rPr>
                  <a:t> by the leading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(1) </a:t>
                </a:r>
                <a:r>
                  <a:rPr lang="en-IN" sz="2400">
                    <a:solidFill>
                      <a:srgbClr val="111827"/>
                    </a:solidFill>
                    <a:latin typeface="Cambria Math" panose="02040503050406030204" pitchFamily="18" charset="0"/>
                  </a:rPr>
                  <a:t>$2\,0\,2\,\square$</a:t>
                </a:r>
                <a:r>
                  <a:rPr sz="2400" b="0">
                    <a:solidFill>
                      <a:srgbClr val="111827"/>
                    </a:solidFill>
                    <a:latin typeface="Arial"/>
                  </a:rPr>
                  <a:t>: the last digit must make the number </a:t>
                </a:r>
                <a:r>
                  <a:rPr lang="en-IN" sz="2400">
                    <a:solidFill>
                      <a:srgbClr val="111827"/>
                    </a:solidFill>
                    <a:latin typeface="Cambria Math" panose="02040503050406030204" pitchFamily="18" charset="0"/>
                  </a:rPr>
                  <a:t>$\ge2022$</a:t>
                </a:r>
                <a:r>
                  <a:rPr sz="2400" b="0">
                    <a:solidFill>
                      <a:srgbClr val="111827"/>
                    </a:solidFill>
                    <a:latin typeface="Arial"/>
                  </a:rPr>
                  <a:t>, so it is one of </a:t>
                </a:r>
                <a:r>
                  <a:rPr lang="en-IN" sz="2400">
                    <a:solidFill>
                      <a:srgbClr val="111827"/>
                    </a:solidFill>
                    <a:latin typeface="Cambria Math" panose="02040503050406030204" pitchFamily="18" charset="0"/>
                  </a:rPr>
                  <a:t>$2,3,4,6,7$</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a:t>
                </a:r>
                <a:r>
                  <a:rPr lang="en-IN" sz="2400">
                    <a:solidFill>
                      <a:srgbClr val="111827"/>
                    </a:solidFill>
                    <a:latin typeface="Cambria Math" panose="02040503050406030204" pitchFamily="18" charset="0"/>
                  </a:rPr>
                  <a:t>$2\,0\,\{3,4,6,7\}\,\square$</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choices for the third digit and </a:t>
                </a:r>
                <a:r>
                  <a:rPr lang="en-IN" sz="2400">
                    <a:solidFill>
                      <a:srgbClr val="111827"/>
                    </a:solidFill>
                    <a:latin typeface="Cambria Math" panose="02040503050406030204" pitchFamily="18" charset="0"/>
                  </a:rPr>
                  <a:t>$6$</a:t>
                </a:r>
                <a:r>
                  <a:rPr sz="2400" b="0">
                    <a:solidFill>
                      <a:srgbClr val="111827"/>
                    </a:solidFill>
                    <a:latin typeface="Arial"/>
                  </a:rPr>
                  <a:t> for the last: </a:t>
                </a:r>
                <a:r>
                  <a:rPr lang="en-IN" sz="2400">
                    <a:solidFill>
                      <a:srgbClr val="111827"/>
                    </a:solidFill>
                    <a:latin typeface="Cambria Math" panose="02040503050406030204" pitchFamily="18" charset="0"/>
                  </a:rPr>
                  <a:t>$24$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(3) </a:t>
                </a:r>
                <a:r>
                  <a:rPr lang="en-IN" sz="2400">
                    <a:solidFill>
                      <a:srgbClr val="111827"/>
                    </a:solidFill>
                    <a:latin typeface="Cambria Math" panose="02040503050406030204" pitchFamily="18" charset="0"/>
                  </a:rPr>
                  <a:t>$2\,\{2,3,4,6,7\}\,\square\,\square$</a:t>
                </a:r>
                <a:r>
                  <a:rPr sz="2400" b="0">
                    <a:solidFill>
                      <a:srgbClr val="111827"/>
                    </a:solidFill>
                    <a:latin typeface="Arial"/>
                  </a:rPr>
                  <a:t>: second digit </a:t>
                </a:r>
                <a:r>
                  <a:rPr lang="en-IN" sz="2400">
                    <a:solidFill>
                      <a:srgbClr val="111827"/>
                    </a:solidFill>
                    <a:latin typeface="Cambria Math" panose="02040503050406030204" pitchFamily="18" charset="0"/>
                  </a:rPr>
                  <a:t>$\ne0$</a:t>
                </a:r>
                <a:r>
                  <a:rPr sz="2400" b="0">
                    <a:solidFill>
                      <a:srgbClr val="111827"/>
                    </a:solidFill>
                    <a:latin typeface="Arial"/>
                  </a:rPr>
                  <a:t> (as </a:t>
                </a:r>
                <a:r>
                  <a:rPr lang="en-IN" sz="2400">
                    <a:solidFill>
                      <a:srgbClr val="111827"/>
                    </a:solidFill>
                    <a:latin typeface="Cambria Math" panose="02040503050406030204" pitchFamily="18" charset="0"/>
                  </a:rPr>
                  <a:t>$20xx$</a:t>
                </a:r>
                <a:r>
                  <a:rPr sz="2400" b="0">
                    <a:solidFill>
                      <a:srgbClr val="111827"/>
                    </a:solidFill>
                    <a:latin typeface="Arial"/>
                  </a:rPr>
                  <a:t> is done): </a:t>
                </a:r>
                <a:r>
                  <a:rPr lang="en-IN" sz="2400">
                    <a:solidFill>
                      <a:srgbClr val="111827"/>
                    </a:solidFill>
                    <a:latin typeface="Cambria Math" panose="02040503050406030204" pitchFamily="18" charset="0"/>
                  </a:rPr>
                  <a:t>$5\times6\times6=180$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(4)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(5)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second digit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oMath>
                </a14:m>
                <a:r>
                  <a:rPr sz="2400" b="0">
                    <a:solidFill>
                      <a:srgbClr val="111827"/>
                    </a:solidFill>
                    <a:latin typeface="Arial"/>
                  </a:rPr>
                  <a:t> (second digit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allows any third digit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4482</m:t>
                    </m:r>
                  </m:oMath>
                </a14:m>
                <a:r>
                  <a:rPr sz="2400" b="0">
                    <a:solidFill>
                      <a:srgbClr val="111827"/>
                    </a:solidFill>
                    <a:latin typeface="Arial"/>
                  </a:rPr>
                  <a:t> with 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44</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4477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(4) </a:t>
                </a:r>
                <a:r>
                  <a:rPr lang="en-IN" sz="2400">
                    <a:solidFill>
                      <a:srgbClr val="111827"/>
                    </a:solidFill>
                    <a:latin typeface="Cambria Math" panose="02040503050406030204" pitchFamily="18" charset="0"/>
                  </a:rPr>
                  <a:t>$3\,\square\,\square\,\square$</a:t>
                </a:r>
                <a:r>
                  <a:rPr sz="2400" b="0">
                    <a:solidFill>
                      <a:srgbClr val="111827"/>
                    </a:solidFill>
                    <a:latin typeface="Arial"/>
                  </a:rPr>
                  <a:t>: </a:t>
                </a:r>
                <a:r>
                  <a:rPr lang="en-IN" sz="2400">
                    <a:solidFill>
                      <a:srgbClr val="111827"/>
                    </a:solidFill>
                    <a:latin typeface="Cambria Math" panose="02040503050406030204" pitchFamily="18" charset="0"/>
                  </a:rPr>
                  <a:t>$6\times6\times6=216$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(5) </a:t>
                </a:r>
                <a:r>
                  <a:rPr lang="en-IN" sz="2400">
                    <a:solidFill>
                      <a:srgbClr val="111827"/>
                    </a:solidFill>
                    <a:latin typeface="Cambria Math" panose="02040503050406030204" pitchFamily="18" charset="0"/>
                  </a:rPr>
                  <a:t>$4\,\{0,2,3,4\}\,\square\,\square$</a:t>
                </a:r>
                <a:r>
                  <a:rPr sz="2400" b="0">
                    <a:solidFill>
                      <a:srgbClr val="111827"/>
                    </a:solidFill>
                    <a:latin typeface="Arial"/>
                  </a:rPr>
                  <a:t>: second digit </a:t>
                </a:r>
                <a:r>
                  <a:rPr lang="en-IN" sz="2400">
                    <a:solidFill>
                      <a:srgbClr val="111827"/>
                    </a:solidFill>
                    <a:latin typeface="Cambria Math" panose="02040503050406030204" pitchFamily="18" charset="0"/>
                  </a:rPr>
                  <a:t>$\le4$</a:t>
                </a:r>
                <a:r>
                  <a:rPr sz="2400" b="0">
                    <a:solidFill>
                      <a:srgbClr val="111827"/>
                    </a:solidFill>
                    <a:latin typeface="Arial"/>
                  </a:rPr>
                  <a:t>, then </a:t>
                </a:r>
                <a:r>
                  <a:rPr lang="en-IN" sz="2400">
                    <a:solidFill>
                      <a:srgbClr val="111827"/>
                    </a:solidFill>
                    <a:latin typeface="Cambria Math" panose="02040503050406030204" pitchFamily="18" charset="0"/>
                  </a:rPr>
                  <a:t>$6\times6$</a:t>
                </a:r>
                <a:r>
                  <a:rPr sz="2400" b="0">
                    <a:solidFill>
                      <a:srgbClr val="111827"/>
                    </a:solidFill>
                    <a:latin typeface="Arial"/>
                  </a:rPr>
                  <a:t>: </a:t>
                </a:r>
                <a:r>
                  <a:rPr lang="en-IN" sz="2400">
                    <a:solidFill>
                      <a:srgbClr val="111827"/>
                    </a:solidFill>
                    <a:latin typeface="Cambria Math" panose="02040503050406030204" pitchFamily="18" charset="0"/>
                  </a:rPr>
                  <a:t>$4\times36=144$</a:t>
                </a:r>
                <a:r>
                  <a:rPr sz="2400" b="0">
                    <a:solidFill>
                      <a:srgbClr val="111827"/>
                    </a:solidFill>
                    <a:latin typeface="Arial"/>
                  </a:rPr>
                  <a:t> (second digit </a:t>
                </a:r>
                <a:r>
                  <a:rPr lang="en-IN" sz="2400">
                    <a:solidFill>
                      <a:srgbClr val="111827"/>
                    </a:solidFill>
                    <a:latin typeface="Cambria Math" panose="02040503050406030204" pitchFamily="18" charset="0"/>
                  </a:rPr>
                  <a:t>$4$</a:t>
                </a:r>
                <a:r>
                  <a:rPr sz="2400" b="0">
                    <a:solidFill>
                      <a:srgbClr val="111827"/>
                    </a:solidFill>
                    <a:latin typeface="Arial"/>
                  </a:rPr>
                  <a:t> allows any third digit since </a:t>
                </a:r>
                <a:r>
                  <a:rPr lang="en-IN" sz="2400">
                    <a:solidFill>
                      <a:srgbClr val="111827"/>
                    </a:solidFill>
                    <a:latin typeface="Cambria Math" panose="02040503050406030204" pitchFamily="18" charset="0"/>
                  </a:rPr>
                  <a:t>$\le4482$</a:t>
                </a:r>
                <a:r>
                  <a:rPr sz="2400" b="0">
                    <a:solidFill>
                      <a:srgbClr val="111827"/>
                    </a:solidFill>
                    <a:latin typeface="Arial"/>
                  </a:rPr>
                  <a:t> with digits </a:t>
                </a:r>
                <a:r>
                  <a:rPr lang="en-IN" sz="2400">
                    <a:solidFill>
                      <a:srgbClr val="111827"/>
                    </a:solidFill>
                    <a:latin typeface="Cambria Math" panose="02040503050406030204" pitchFamily="18" charset="0"/>
                  </a:rPr>
                  <a:t>$\le7$</a:t>
                </a:r>
                <a:r>
                  <a:rPr sz="2400" b="0">
                    <a:solidFill>
                      <a:srgbClr val="111827"/>
                    </a:solidFill>
                    <a:latin typeface="Arial"/>
                  </a:rPr>
                  <a:t> gives </a:t>
                </a:r>
                <a:r>
                  <a:rPr lang="en-IN" sz="2400">
                    <a:solidFill>
                      <a:srgbClr val="111827"/>
                    </a:solidFill>
                    <a:latin typeface="Cambria Math" panose="02040503050406030204" pitchFamily="18" charset="0"/>
                  </a:rPr>
                  <a:t>$44\,x\,y\le4477$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$=5+24+180+216+144=569$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569</a:t>
            </a:r>
            <a:endParaRPr sz="2800">
              <a:solidFill>
                <a:srgbClr val="15803D"/>
              </a:solidFill>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all numbers with leading digit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and subtract those below </a:t>
                </a:r>
                <a14:m>
                  <m:oMath xmlns:m="http://schemas.openxmlformats.org/officeDocument/2006/math">
                    <m:r>
                      <a:rPr lang="en-IN" sz="2400" i="1">
                        <a:solidFill>
                          <a:srgbClr val="78350F"/>
                        </a:solidFill>
                        <a:latin typeface="Cambria Math" panose="02040503050406030204" pitchFamily="18" charset="0"/>
                      </a:rPr>
                      <m:t>2022</m:t>
                    </m:r>
                  </m:oMath>
                </a14:m>
                <a:r>
                  <a:rPr sz="2400" b="0">
                    <a:solidFill>
                      <a:srgbClr val="78350F"/>
                    </a:solidFill>
                    <a:latin typeface="Arial"/>
                  </a:rPr>
                  <a:t> and above </a:t>
                </a:r>
                <a14:m>
                  <m:oMath xmlns:m="http://schemas.openxmlformats.org/officeDocument/2006/math">
                    <m:r>
                      <a:rPr lang="en-IN" sz="2400" i="1">
                        <a:solidFill>
                          <a:srgbClr val="78350F"/>
                        </a:solidFill>
                        <a:latin typeface="Cambria Math" panose="02040503050406030204" pitchFamily="18" charset="0"/>
                      </a:rPr>
                      <m:t>4482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all numbers with leading digit </a:t>
                </a:r>
                <a:r>
                  <a:rPr lang="en-IN" sz="2400">
                    <a:solidFill>
                      <a:srgbClr val="78350F"/>
                    </a:solidFill>
                    <a:latin typeface="Cambria Math" panose="02040503050406030204" pitchFamily="18" charset="0"/>
                  </a:rPr>
                  <a:t>$2,3,4$</a:t>
                </a:r>
                <a:r>
                  <a:rPr sz="2400" b="0">
                    <a:solidFill>
                      <a:srgbClr val="78350F"/>
                    </a:solidFill>
                    <a:latin typeface="Arial"/>
                  </a:rPr>
                  <a:t> and subtract those below </a:t>
                </a:r>
                <a:r>
                  <a:rPr lang="en-IN" sz="2400">
                    <a:solidFill>
                      <a:srgbClr val="78350F"/>
                    </a:solidFill>
                    <a:latin typeface="Cambria Math" panose="02040503050406030204" pitchFamily="18" charset="0"/>
                  </a:rPr>
                  <a:t>$2022$</a:t>
                </a:r>
                <a:r>
                  <a:rPr sz="2400" b="0">
                    <a:solidFill>
                      <a:srgbClr val="78350F"/>
                    </a:solidFill>
                    <a:latin typeface="Arial"/>
                  </a:rPr>
                  <a:t> and above </a:t>
                </a:r>
                <a:r>
                  <a:rPr lang="en-IN" sz="2400">
                    <a:solidFill>
                      <a:srgbClr val="78350F"/>
                    </a:solidFill>
                    <a:latin typeface="Cambria Math" panose="02040503050406030204" pitchFamily="18" charset="0"/>
                  </a:rPr>
                  <a:t>$4482$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from these digits with leading digit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648</m:t>
                    </m:r>
                  </m:oMath>
                </a14:m>
                <a:r>
                  <a:rPr sz="2400" b="0">
                    <a:solidFill>
                      <a:srgbClr val="111827"/>
                    </a:solidFill>
                    <a:latin typeface="Arial"/>
                  </a:rPr>
                  <a:t> (they all lie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4777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Below </a:t>
                </a:r>
                <a14:m>
                  <m:oMath xmlns:m="http://schemas.openxmlformats.org/officeDocument/2006/math">
                    <m:r>
                      <a:rPr lang="en-IN" sz="2400" i="1">
                        <a:solidFill>
                          <a:srgbClr val="111827"/>
                        </a:solidFill>
                        <a:latin typeface="Cambria Math" panose="02040503050406030204" pitchFamily="18" charset="0"/>
                      </a:rPr>
                      <m:t>2022</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200</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any of the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digits) and </a:t>
                </a:r>
                <a14:m>
                  <m:oMath xmlns:m="http://schemas.openxmlformats.org/officeDocument/2006/math">
                    <m:r>
                      <a:rPr lang="en-IN" sz="2400" i="1">
                        <a:solidFill>
                          <a:srgbClr val="111827"/>
                        </a:solidFill>
                        <a:latin typeface="Cambria Math" panose="02040503050406030204" pitchFamily="18" charset="0"/>
                      </a:rPr>
                      <m:t>2020</m:t>
                    </m:r>
                  </m:oMath>
                </a14:m>
                <a:r>
                  <a:rPr sz="2400" b="0">
                    <a:solidFill>
                      <a:srgbClr val="111827"/>
                    </a:solidFill>
                    <a:latin typeface="Arial"/>
                  </a:rPr>
                  <a:t> qualify, since </a:t>
                </a:r>
                <a14:m>
                  <m:oMath xmlns:m="http://schemas.openxmlformats.org/officeDocument/2006/math">
                    <m:r>
                      <a:rPr lang="en-IN" sz="2400" i="1">
                        <a:solidFill>
                          <a:srgbClr val="111827"/>
                        </a:solidFill>
                        <a:latin typeface="Cambria Math" panose="02040503050406030204" pitchFamily="18" charset="0"/>
                      </a:rPr>
                      <m:t>201</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need the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numbers.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Numbers from these digits with leading digit </a:t>
                </a:r>
                <a:r>
                  <a:rPr lang="en-IN" sz="2400">
                    <a:solidFill>
                      <a:srgbClr val="111827"/>
                    </a:solidFill>
                    <a:latin typeface="Cambria Math" panose="02040503050406030204" pitchFamily="18" charset="0"/>
                  </a:rPr>
                  <a:t>$2,3$</a:t>
                </a:r>
                <a:r>
                  <a:rPr sz="2400" b="0">
                    <a:solidFill>
                      <a:srgbClr val="111827"/>
                    </a:solidFill>
                    <a:latin typeface="Arial"/>
                  </a:rPr>
                  <a:t> or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$3\times6^3=648$</a:t>
                </a:r>
                <a:r>
                  <a:rPr sz="2400" b="0">
                    <a:solidFill>
                      <a:srgbClr val="111827"/>
                    </a:solidFill>
                    <a:latin typeface="Arial"/>
                  </a:rPr>
                  <a:t> (they all lie in </a:t>
                </a:r>
                <a:r>
                  <a:rPr lang="en-IN" sz="2400">
                    <a:solidFill>
                      <a:srgbClr val="111827"/>
                    </a:solidFill>
                    <a:latin typeface="Cambria Math" panose="02040503050406030204" pitchFamily="18" charset="0"/>
                  </a:rPr>
                  <a:t>$[2000,4777]$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Below </a:t>
                </a:r>
                <a:r>
                  <a:rPr lang="en-IN" sz="2400">
                    <a:solidFill>
                      <a:srgbClr val="111827"/>
                    </a:solidFill>
                    <a:latin typeface="Cambria Math" panose="02040503050406030204" pitchFamily="18" charset="0"/>
                  </a:rPr>
                  <a:t>$2022$</a:t>
                </a:r>
                <a:r>
                  <a:rPr sz="2400" b="0">
                    <a:solidFill>
                      <a:srgbClr val="111827"/>
                    </a:solidFill>
                    <a:latin typeface="Arial"/>
                  </a:rPr>
                  <a:t>: only </a:t>
                </a:r>
                <a:r>
                  <a:rPr lang="en-IN" sz="2400">
                    <a:solidFill>
                      <a:srgbClr val="111827"/>
                    </a:solidFill>
                    <a:latin typeface="Cambria Math" panose="02040503050406030204" pitchFamily="18" charset="0"/>
                  </a:rPr>
                  <a:t>$200x$</a:t>
                </a:r>
                <a:r>
                  <a:rPr sz="2400" b="0">
                    <a:solidFill>
                      <a:srgbClr val="111827"/>
                    </a:solidFill>
                    <a:latin typeface="Arial"/>
                  </a:rPr>
                  <a:t> (</a:t>
                </a:r>
                <a:r>
                  <a:rPr lang="en-IN" sz="2400">
                    <a:solidFill>
                      <a:srgbClr val="111827"/>
                    </a:solidFill>
                    <a:latin typeface="Cambria Math" panose="02040503050406030204" pitchFamily="18" charset="0"/>
                  </a:rPr>
                  <a:t>$x$</a:t>
                </a:r>
                <a:r>
                  <a:rPr sz="2400" b="0">
                    <a:solidFill>
                      <a:srgbClr val="111827"/>
                    </a:solidFill>
                    <a:latin typeface="Arial"/>
                  </a:rPr>
                  <a:t> any of the </a:t>
                </a:r>
                <a:r>
                  <a:rPr lang="en-IN" sz="2400">
                    <a:solidFill>
                      <a:srgbClr val="111827"/>
                    </a:solidFill>
                    <a:latin typeface="Cambria Math" panose="02040503050406030204" pitchFamily="18" charset="0"/>
                  </a:rPr>
                  <a:t>$6$</a:t>
                </a:r>
                <a:r>
                  <a:rPr sz="2400" b="0">
                    <a:solidFill>
                      <a:srgbClr val="111827"/>
                    </a:solidFill>
                    <a:latin typeface="Arial"/>
                  </a:rPr>
                  <a:t> digits) and </a:t>
                </a:r>
                <a:r>
                  <a:rPr lang="en-IN" sz="2400">
                    <a:solidFill>
                      <a:srgbClr val="111827"/>
                    </a:solidFill>
                    <a:latin typeface="Cambria Math" panose="02040503050406030204" pitchFamily="18" charset="0"/>
                  </a:rPr>
                  <a:t>$2020$</a:t>
                </a:r>
                <a:r>
                  <a:rPr sz="2400" b="0">
                    <a:solidFill>
                      <a:srgbClr val="111827"/>
                    </a:solidFill>
                    <a:latin typeface="Arial"/>
                  </a:rPr>
                  <a:t> qualify, since </a:t>
                </a:r>
                <a:r>
                  <a:rPr lang="en-IN" sz="2400">
                    <a:solidFill>
                      <a:srgbClr val="111827"/>
                    </a:solidFill>
                    <a:latin typeface="Cambria Math" panose="02040503050406030204" pitchFamily="18" charset="0"/>
                  </a:rPr>
                  <a:t>$201x$</a:t>
                </a:r>
                <a:r>
                  <a:rPr sz="2400" b="0">
                    <a:solidFill>
                      <a:srgbClr val="111827"/>
                    </a:solidFill>
                    <a:latin typeface="Arial"/>
                  </a:rPr>
                  <a:t> and </a:t>
                </a:r>
                <a:r>
                  <a:rPr lang="en-IN" sz="2400">
                    <a:solidFill>
                      <a:srgbClr val="111827"/>
                    </a:solidFill>
                    <a:latin typeface="Cambria Math" panose="02040503050406030204" pitchFamily="18" charset="0"/>
                  </a:rPr>
                  <a:t>$2021$</a:t>
                </a:r>
                <a:r>
                  <a:rPr sz="2400" b="0">
                    <a:solidFill>
                      <a:srgbClr val="111827"/>
                    </a:solidFill>
                    <a:latin typeface="Arial"/>
                  </a:rPr>
                  <a:t> need the digit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$6+1=7$</a:t>
                </a:r>
                <a:r>
                  <a:rPr sz="2400" b="0">
                    <a:solidFill>
                      <a:srgbClr val="111827"/>
                    </a:solidFill>
                    <a:latin typeface="Arial"/>
                  </a:rPr>
                  <a:t> numbers.</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Above </a:t>
                </a:r>
                <a14:m>
                  <m:oMath xmlns:m="http://schemas.openxmlformats.org/officeDocument/2006/math">
                    <m:r>
                      <a:rPr lang="en-IN" sz="2400" i="1">
                        <a:solidFill>
                          <a:srgbClr val="111827"/>
                        </a:solidFill>
                        <a:latin typeface="Cambria Math" panose="02040503050406030204" pitchFamily="18" charset="0"/>
                      </a:rPr>
                      <m:t>4482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4483</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4599</m:t>
                    </m:r>
                  </m:oMath>
                </a14:m>
                <a:r>
                  <a:rPr sz="2400" b="0">
                    <a:solidFill>
                      <a:srgbClr val="111827"/>
                    </a:solidFill>
                    <a:latin typeface="Arial"/>
                  </a:rPr>
                  <a:t> cannot be formed (they need an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 the numbers above </a:t>
                </a:r>
                <a14:m>
                  <m:oMath xmlns:m="http://schemas.openxmlformats.org/officeDocument/2006/math">
                    <m:r>
                      <a:rPr lang="en-IN" sz="2400" i="1">
                        <a:solidFill>
                          <a:srgbClr val="111827"/>
                        </a:solidFill>
                        <a:latin typeface="Cambria Math" panose="02040503050406030204" pitchFamily="18" charset="0"/>
                      </a:rPr>
                      <m:t>4482</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46</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47</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Above </a:t>
                </a:r>
                <a:r>
                  <a:rPr lang="en-IN" sz="2400">
                    <a:solidFill>
                      <a:srgbClr val="111827"/>
                    </a:solidFill>
                    <a:latin typeface="Cambria Math" panose="02040503050406030204" pitchFamily="18" charset="0"/>
                  </a:rPr>
                  <a:t>$4482$</a:t>
                </a:r>
                <a:r>
                  <a:rPr sz="2400" b="0">
                    <a:solidFill>
                      <a:srgbClr val="111827"/>
                    </a:solidFill>
                    <a:latin typeface="Arial"/>
                  </a:rPr>
                  <a:t>: </a:t>
                </a:r>
                <a:r>
                  <a:rPr lang="en-IN" sz="2400">
                    <a:solidFill>
                      <a:srgbClr val="111827"/>
                    </a:solidFill>
                    <a:latin typeface="Cambria Math" panose="02040503050406030204" pitchFamily="18" charset="0"/>
                  </a:rPr>
                  <a:t>$4483$</a:t>
                </a:r>
                <a:r>
                  <a:rPr sz="2400" b="0">
                    <a:solidFill>
                      <a:srgbClr val="111827"/>
                    </a:solidFill>
                    <a:latin typeface="Arial"/>
                  </a:rPr>
                  <a:t> to </a:t>
                </a:r>
                <a:r>
                  <a:rPr lang="en-IN" sz="2400">
                    <a:solidFill>
                      <a:srgbClr val="111827"/>
                    </a:solidFill>
                    <a:latin typeface="Cambria Math" panose="02040503050406030204" pitchFamily="18" charset="0"/>
                  </a:rPr>
                  <a:t>$4599$</a:t>
                </a:r>
                <a:r>
                  <a:rPr sz="2400" b="0">
                    <a:solidFill>
                      <a:srgbClr val="111827"/>
                    </a:solidFill>
                    <a:latin typeface="Arial"/>
                  </a:rPr>
                  <a:t> cannot be formed (they need an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so the numbers above </a:t>
                </a:r>
                <a:r>
                  <a:rPr lang="en-IN" sz="2400">
                    <a:solidFill>
                      <a:srgbClr val="111827"/>
                    </a:solidFill>
                    <a:latin typeface="Cambria Math" panose="02040503050406030204" pitchFamily="18" charset="0"/>
                  </a:rPr>
                  <a:t>$4482$</a:t>
                </a:r>
                <a:r>
                  <a:rPr sz="2400" b="0">
                    <a:solidFill>
                      <a:srgbClr val="111827"/>
                    </a:solidFill>
                    <a:latin typeface="Arial"/>
                  </a:rPr>
                  <a:t> are </a:t>
                </a:r>
                <a:r>
                  <a:rPr lang="en-IN" sz="2400">
                    <a:solidFill>
                      <a:srgbClr val="111827"/>
                    </a:solidFill>
                    <a:latin typeface="Cambria Math" panose="02040503050406030204" pitchFamily="18" charset="0"/>
                  </a:rPr>
                  <a:t>$46xx$</a:t>
                </a:r>
                <a:r>
                  <a:rPr sz="2400" b="0">
                    <a:solidFill>
                      <a:srgbClr val="111827"/>
                    </a:solidFill>
                    <a:latin typeface="Arial"/>
                  </a:rPr>
                  <a:t> and </a:t>
                </a:r>
                <a:r>
                  <a:rPr lang="en-IN" sz="2400">
                    <a:solidFill>
                      <a:srgbClr val="111827"/>
                    </a:solidFill>
                    <a:latin typeface="Cambria Math" panose="02040503050406030204" pitchFamily="18" charset="0"/>
                  </a:rPr>
                  <a:t>$47xx$</a:t>
                </a:r>
                <a:r>
                  <a:rPr sz="2400" b="0">
                    <a:solidFill>
                      <a:srgbClr val="111827"/>
                    </a:solidFill>
                    <a:latin typeface="Arial"/>
                  </a:rPr>
                  <a:t>: </a:t>
                </a:r>
                <a:r>
                  <a:rPr lang="en-IN" sz="2400">
                    <a:solidFill>
                      <a:srgbClr val="111827"/>
                    </a:solidFill>
                    <a:latin typeface="Cambria Math" panose="02040503050406030204" pitchFamily="18" charset="0"/>
                  </a:rPr>
                  <a:t>$2\times6\times6=72$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r>
                  <a:rPr lang="en-IN" sz="2400">
                    <a:solidFill>
                      <a:srgbClr val="111827"/>
                    </a:solidFill>
                    <a:latin typeface="Cambria Math" panose="02040503050406030204" pitchFamily="18" charset="0"/>
                  </a:rPr>
                  <a:t>$=648-7-72=569$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569</a:t>
            </a:r>
            <a:endParaRPr sz="2800">
              <a:solidFill>
                <a:srgbClr val="15803D"/>
              </a:solidFill>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interval counts with a restricted digit set, split by the leading digits so that the remaining places are free: each free place contributes the full digit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Complement/trim method: count all numbers with a convenient leading-digit range, then subtract the strips outside the interval.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Beware leading zero and any excluded digits: check that boundary cases such as </a:t>
                </a:r>
                <a14:m>
                  <m:oMath xmlns:m="http://schemas.openxmlformats.org/officeDocument/2006/math">
                    <m:r>
                      <a:rPr lang="en-IN" sz="2400" i="1">
                        <a:solidFill>
                          <a:srgbClr val="111827"/>
                        </a:solidFill>
                        <a:latin typeface="Cambria Math" panose="02040503050406030204" pitchFamily="18" charset="0"/>
                      </a:rPr>
                      <m:t>2021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4483</m:t>
                    </m:r>
                  </m:oMath>
                </a14:m>
                <a:r>
                  <a:rPr sz="2400" b="0">
                    <a:solidFill>
                      <a:srgbClr val="111827"/>
                    </a:solidFill>
                    <a:latin typeface="Arial"/>
                  </a:rPr>
                  <a:t> are really not formable.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interval counts with a restricted digit set, split by the leading digits so that the remaining places are free: each free place contributes the full digit count.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Complement/trim method: count all numbers with a convenient leading-digit range, then subtract the strips outside the interval.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Beware leading zero and any excluded digits: check that boundary cases such as </a:t>
                </a:r>
                <a:r>
                  <a:rPr lang="en-IN" sz="2400">
                    <a:solidFill>
                      <a:srgbClr val="111827"/>
                    </a:solidFill>
                    <a:latin typeface="Cambria Math" panose="02040503050406030204" pitchFamily="18" charset="0"/>
                  </a:rPr>
                  <a:t>$2021$</a:t>
                </a:r>
                <a:r>
                  <a:rPr sz="2400" b="0">
                    <a:solidFill>
                      <a:srgbClr val="111827"/>
                    </a:solidFill>
                    <a:latin typeface="Arial"/>
                  </a:rPr>
                  <a:t> and </a:t>
                </a:r>
                <a:r>
                  <a:rPr lang="en-IN" sz="2400">
                    <a:solidFill>
                      <a:srgbClr val="111827"/>
                    </a:solidFill>
                    <a:latin typeface="Cambria Math" panose="02040503050406030204" pitchFamily="18" charset="0"/>
                  </a:rPr>
                  <a:t>$4483$</a:t>
                </a:r>
                <a:r>
                  <a:rPr sz="2400" b="0">
                    <a:solidFill>
                      <a:srgbClr val="111827"/>
                    </a:solidFill>
                    <a:latin typeface="Arial"/>
                  </a:rPr>
                  <a:t> are really not formable.</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for the correct option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boxes, where each box contains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red balls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blue balls. Assume that all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balls are distinct. In how many different ways can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balls be chosen from these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boxes so that from each box at least one red ball and one blue ball are chosen? [JEE (Adv)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21816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85536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12096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156816</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t>
                </a:r>
                <a:r>
                  <a:rPr lang="en-IN" sz="2400">
                    <a:solidFill>
                      <a:srgbClr val="111827"/>
                    </a:solidFill>
                    <a:latin typeface="Cambria Math" panose="02040503050406030204" pitchFamily="18" charset="0"/>
                  </a:rPr>
                  <a:t>$4$</a:t>
                </a:r>
                <a:r>
                  <a:rPr sz="2400" b="0">
                    <a:solidFill>
                      <a:srgbClr val="111827"/>
                    </a:solidFill>
                    <a:latin typeface="Arial"/>
                  </a:rPr>
                  <a:t> boxes, where each box contains </a:t>
                </a:r>
                <a:r>
                  <a:rPr lang="en-IN" sz="2400">
                    <a:solidFill>
                      <a:srgbClr val="111827"/>
                    </a:solidFill>
                    <a:latin typeface="Cambria Math" panose="02040503050406030204" pitchFamily="18" charset="0"/>
                  </a:rPr>
                  <a:t>$3$</a:t>
                </a:r>
                <a:r>
                  <a:rPr sz="2400" b="0">
                    <a:solidFill>
                      <a:srgbClr val="111827"/>
                    </a:solidFill>
                    <a:latin typeface="Arial"/>
                  </a:rPr>
                  <a:t> red balls and </a:t>
                </a:r>
                <a:r>
                  <a:rPr lang="en-IN" sz="2400">
                    <a:solidFill>
                      <a:srgbClr val="111827"/>
                    </a:solidFill>
                    <a:latin typeface="Cambria Math" panose="02040503050406030204" pitchFamily="18" charset="0"/>
                  </a:rPr>
                  <a:t>$2$</a:t>
                </a:r>
                <a:r>
                  <a:rPr sz="2400" b="0">
                    <a:solidFill>
                      <a:srgbClr val="111827"/>
                    </a:solidFill>
                    <a:latin typeface="Arial"/>
                  </a:rPr>
                  <a:t> blue balls. Assume that all </a:t>
                </a:r>
                <a:r>
                  <a:rPr lang="en-IN" sz="2400">
                    <a:solidFill>
                      <a:srgbClr val="111827"/>
                    </a:solidFill>
                    <a:latin typeface="Cambria Math" panose="02040503050406030204" pitchFamily="18" charset="0"/>
                  </a:rPr>
                  <a:t>$20$</a:t>
                </a:r>
                <a:r>
                  <a:rPr sz="2400" b="0">
                    <a:solidFill>
                      <a:srgbClr val="111827"/>
                    </a:solidFill>
                    <a:latin typeface="Arial"/>
                  </a:rPr>
                  <a:t> balls are distinct. In how many different ways can </a:t>
                </a:r>
                <a:r>
                  <a:rPr lang="en-IN" sz="2400">
                    <a:solidFill>
                      <a:srgbClr val="111827"/>
                    </a:solidFill>
                    <a:latin typeface="Cambria Math" panose="02040503050406030204" pitchFamily="18" charset="0"/>
                  </a:rPr>
                  <a:t>$10$</a:t>
                </a:r>
                <a:r>
                  <a:rPr sz="2400" b="0">
                    <a:solidFill>
                      <a:srgbClr val="111827"/>
                    </a:solidFill>
                    <a:latin typeface="Arial"/>
                  </a:rPr>
                  <a:t> balls be chosen from these </a:t>
                </a:r>
                <a:r>
                  <a:rPr lang="en-IN" sz="2400">
                    <a:solidFill>
                      <a:srgbClr val="111827"/>
                    </a:solidFill>
                    <a:latin typeface="Cambria Math" panose="02040503050406030204" pitchFamily="18" charset="0"/>
                  </a:rPr>
                  <a:t>$4$</a:t>
                </a:r>
                <a:r>
                  <a:rPr sz="2400" b="0">
                    <a:solidFill>
                      <a:srgbClr val="111827"/>
                    </a:solidFill>
                    <a:latin typeface="Arial"/>
                  </a:rPr>
                  <a:t> boxes so that from each box at least one red ball and one blue ball are chosen? [JEE (Adv) 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$21816$</a:t>
                </a:r>
                <a:r>
                  <a:rPr sz="2400" b="0">
                    <a:solidFill>
                      <a:srgbClr val="111827"/>
                    </a:solidFill>
                    <a:latin typeface="Arial"/>
                  </a:rPr>
                  <a:t>   (B) </a:t>
                </a:r>
                <a:r>
                  <a:rPr lang="en-IN" sz="2400">
                    <a:solidFill>
                      <a:srgbClr val="111827"/>
                    </a:solidFill>
                    <a:latin typeface="Cambria Math" panose="02040503050406030204" pitchFamily="18" charset="0"/>
                  </a:rPr>
                  <a:t>$85536$</a:t>
                </a:r>
                <a:r>
                  <a:rPr sz="2400" b="0">
                    <a:solidFill>
                      <a:srgbClr val="111827"/>
                    </a:solidFill>
                    <a:latin typeface="Arial"/>
                  </a:rPr>
                  <a:t>   (C) </a:t>
                </a:r>
                <a:r>
                  <a:rPr lang="en-IN" sz="2400">
                    <a:solidFill>
                      <a:srgbClr val="111827"/>
                    </a:solidFill>
                    <a:latin typeface="Cambria Math" panose="02040503050406030204" pitchFamily="18" charset="0"/>
                  </a:rPr>
                  <a:t>$12096$</a:t>
                </a:r>
                <a:r>
                  <a:rPr sz="2400" b="0">
                    <a:solidFill>
                      <a:srgbClr val="111827"/>
                    </a:solidFill>
                    <a:latin typeface="Arial"/>
                  </a:rPr>
                  <a:t>   (D) </a:t>
                </a:r>
                <a:r>
                  <a:rPr lang="en-IN" sz="2400">
                    <a:solidFill>
                      <a:srgbClr val="111827"/>
                    </a:solidFill>
                    <a:latin typeface="Cambria Math" panose="02040503050406030204" pitchFamily="18" charset="0"/>
                  </a:rPr>
                  <a:t>$156816$</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of balls from boxes with constraints, Casework on distributions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Per box the pick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only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patterns of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reach a total of </a:t>
                </a:r>
                <a14:m>
                  <m:oMath xmlns:m="http://schemas.openxmlformats.org/officeDocument/2006/math">
                    <m:r>
                      <a:rPr lang="en-IN" sz="2400" i="1">
                        <a:solidFill>
                          <a:srgbClr val="78350F"/>
                        </a:solidFill>
                        <a:latin typeface="Cambria Math" panose="02040503050406030204" pitchFamily="18" charset="0"/>
                      </a:rPr>
                      <m:t>10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Per box the pick is </a:t>
                </a:r>
                <a:r>
                  <a:rPr lang="en-IN" sz="2400">
                    <a:solidFill>
                      <a:srgbClr val="78350F"/>
                    </a:solidFill>
                    <a:latin typeface="Cambria Math" panose="02040503050406030204" pitchFamily="18" charset="0"/>
                  </a:rPr>
                  <a:t>$(r,b)$</a:t>
                </a:r>
                <a:r>
                  <a:rPr sz="2400" b="0">
                    <a:solidFill>
                      <a:srgbClr val="78350F"/>
                    </a:solidFill>
                    <a:latin typeface="Arial"/>
                  </a:rPr>
                  <a:t> with </a:t>
                </a:r>
                <a:r>
                  <a:rPr lang="en-IN" sz="2400">
                    <a:solidFill>
                      <a:srgbClr val="78350F"/>
                    </a:solidFill>
                    <a:latin typeface="Cambria Math" panose="02040503050406030204" pitchFamily="18" charset="0"/>
                  </a:rPr>
                  <a:t>$r\in\{1,2,3\},b\in\{1,2\}$</a:t>
                </a:r>
                <a:r>
                  <a:rPr sz="2400" b="0">
                    <a:solidFill>
                      <a:srgbClr val="78350F"/>
                    </a:solidFill>
                    <a:latin typeface="Arial"/>
                  </a:rPr>
                  <a:t>; only </a:t>
                </a:r>
                <a:r>
                  <a:rPr lang="en-IN" sz="2400">
                    <a:solidFill>
                      <a:srgbClr val="78350F"/>
                    </a:solidFill>
                    <a:latin typeface="Cambria Math" panose="02040503050406030204" pitchFamily="18" charset="0"/>
                  </a:rPr>
                  <a:t>$4$</a:t>
                </a:r>
                <a:r>
                  <a:rPr sz="2400" b="0">
                    <a:solidFill>
                      <a:srgbClr val="78350F"/>
                    </a:solidFill>
                    <a:latin typeface="Arial"/>
                  </a:rPr>
                  <a:t> patterns of </a:t>
                </a:r>
                <a:r>
                  <a:rPr lang="en-IN" sz="2400">
                    <a:solidFill>
                      <a:srgbClr val="78350F"/>
                    </a:solidFill>
                    <a:latin typeface="Cambria Math" panose="02040503050406030204" pitchFamily="18" charset="0"/>
                  </a:rPr>
                  <a:t>$(\sum r,\sum b)$</a:t>
                </a:r>
                <a:r>
                  <a:rPr sz="2400" b="0">
                    <a:solidFill>
                      <a:srgbClr val="78350F"/>
                    </a:solidFill>
                    <a:latin typeface="Arial"/>
                  </a:rPr>
                  <a:t> reach a total of </a:t>
                </a:r>
                <a:r>
                  <a:rPr lang="en-IN" sz="2400">
                    <a:solidFill>
                      <a:srgbClr val="78350F"/>
                    </a:solidFill>
                    <a:latin typeface="Cambria Math" panose="02040503050406030204" pitchFamily="18" charset="0"/>
                  </a:rPr>
                  <a:t>$10$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each box we need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red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blue, with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box with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red and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blue chosen can be done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𝑟</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𝑏</m:t>
                            </m:r>
                          </m:den>
                        </m:f>
                      </m:e>
                    </m:d>
                  </m:oMath>
                </a14:m>
                <a:r>
                  <a:rPr sz="2400" b="0">
                    <a:solidFill>
                      <a:srgbClr val="111827"/>
                    </a:solidFill>
                    <a:latin typeface="Arial"/>
                  </a:rPr>
                  <a:t> ways. Reds contribute weights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blues contribute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1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arrangements, all blues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7776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2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arrangements, all blues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1728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each box we need </a:t>
                </a:r>
                <a:r>
                  <a:rPr lang="en-IN" sz="2400">
                    <a:solidFill>
                      <a:srgbClr val="111827"/>
                    </a:solidFill>
                    <a:latin typeface="Cambria Math" panose="02040503050406030204" pitchFamily="18" charset="0"/>
                  </a:rPr>
                  <a:t>$r_i\in\{1,2,3\}$</a:t>
                </a:r>
                <a:r>
                  <a:rPr sz="2400" b="0">
                    <a:solidFill>
                      <a:srgbClr val="111827"/>
                    </a:solidFill>
                    <a:latin typeface="Arial"/>
                  </a:rPr>
                  <a:t> red and </a:t>
                </a:r>
                <a:r>
                  <a:rPr lang="en-IN" sz="2400">
                    <a:solidFill>
                      <a:srgbClr val="111827"/>
                    </a:solidFill>
                    <a:latin typeface="Cambria Math" panose="02040503050406030204" pitchFamily="18" charset="0"/>
                  </a:rPr>
                  <a:t>$b_i\in\{1,2\}$</a:t>
                </a:r>
                <a:r>
                  <a:rPr sz="2400" b="0">
                    <a:solidFill>
                      <a:srgbClr val="111827"/>
                    </a:solidFill>
                    <a:latin typeface="Arial"/>
                  </a:rPr>
                  <a:t> blue, with </a:t>
                </a:r>
                <a:r>
                  <a:rPr lang="en-IN" sz="2400">
                    <a:solidFill>
                      <a:srgbClr val="111827"/>
                    </a:solidFill>
                    <a:latin typeface="Cambria Math" panose="02040503050406030204" pitchFamily="18" charset="0"/>
                  </a:rPr>
                  <a:t>$\sum(r_i+b_i)=10$</a:t>
                </a:r>
                <a:r>
                  <a:rPr sz="2400" b="0">
                    <a:solidFill>
                      <a:srgbClr val="111827"/>
                    </a:solidFill>
                    <a:latin typeface="Arial"/>
                  </a:rPr>
                  <a:t>. Then </a:t>
                </a:r>
                <a:r>
                  <a:rPr lang="en-IN" sz="2400">
                    <a:solidFill>
                      <a:srgbClr val="111827"/>
                    </a:solidFill>
                    <a:latin typeface="Cambria Math" panose="02040503050406030204" pitchFamily="18" charset="0"/>
                  </a:rPr>
                  <a:t>$\sum r_i\ge4$</a:t>
                </a:r>
                <a:r>
                  <a:rPr sz="2400" b="0">
                    <a:solidFill>
                      <a:srgbClr val="111827"/>
                    </a:solidFill>
                    <a:latin typeface="Arial"/>
                  </a:rPr>
                  <a:t>, </a:t>
                </a:r>
                <a:r>
                  <a:rPr lang="en-IN" sz="2400">
                    <a:solidFill>
                      <a:srgbClr val="111827"/>
                    </a:solidFill>
                    <a:latin typeface="Cambria Math" panose="02040503050406030204" pitchFamily="18" charset="0"/>
                  </a:rPr>
                  <a:t>$\sum b_i\ge4$</a:t>
                </a:r>
                <a:r>
                  <a:rPr sz="2400" b="0">
                    <a:solidFill>
                      <a:srgbClr val="111827"/>
                    </a:solidFill>
                    <a:latin typeface="Arial"/>
                  </a:rPr>
                  <a:t> and </a:t>
                </a:r>
                <a:r>
                  <a:rPr lang="en-IN" sz="2400">
                    <a:solidFill>
                      <a:srgbClr val="111827"/>
                    </a:solidFill>
                    <a:latin typeface="Cambria Math" panose="02040503050406030204" pitchFamily="18" charset="0"/>
                  </a:rPr>
                  <a:t>$\sum b_i\le8$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box with </a:t>
                </a:r>
                <a:r>
                  <a:rPr lang="en-IN" sz="2400">
                    <a:solidFill>
                      <a:srgbClr val="111827"/>
                    </a:solidFill>
                    <a:latin typeface="Cambria Math" panose="02040503050406030204" pitchFamily="18" charset="0"/>
                  </a:rPr>
                  <a:t>$r$</a:t>
                </a:r>
                <a:r>
                  <a:rPr sz="2400" b="0">
                    <a:solidFill>
                      <a:srgbClr val="111827"/>
                    </a:solidFill>
                    <a:latin typeface="Arial"/>
                  </a:rPr>
                  <a:t> red and </a:t>
                </a:r>
                <a:r>
                  <a:rPr lang="en-IN" sz="2400">
                    <a:solidFill>
                      <a:srgbClr val="111827"/>
                    </a:solidFill>
                    <a:latin typeface="Cambria Math" panose="02040503050406030204" pitchFamily="18" charset="0"/>
                  </a:rPr>
                  <a:t>$b$</a:t>
                </a:r>
                <a:r>
                  <a:rPr sz="2400" b="0">
                    <a:solidFill>
                      <a:srgbClr val="111827"/>
                    </a:solidFill>
                    <a:latin typeface="Arial"/>
                  </a:rPr>
                  <a:t> blue chosen can be done in </a:t>
                </a:r>
                <a:r>
                  <a:rPr lang="en-IN" sz="2400">
                    <a:solidFill>
                      <a:srgbClr val="111827"/>
                    </a:solidFill>
                    <a:latin typeface="Cambria Math" panose="02040503050406030204" pitchFamily="18" charset="0"/>
                  </a:rPr>
                  <a:t>$\binom3r\binom2b$</a:t>
                </a:r>
                <a:r>
                  <a:rPr sz="2400" b="0">
                    <a:solidFill>
                      <a:srgbClr val="111827"/>
                    </a:solidFill>
                    <a:latin typeface="Arial"/>
                  </a:rPr>
                  <a:t> ways. Reds contribute weights </a:t>
                </a:r>
                <a:r>
                  <a:rPr lang="en-IN" sz="2400">
                    <a:solidFill>
                      <a:srgbClr val="111827"/>
                    </a:solidFill>
                    <a:latin typeface="Cambria Math" panose="02040503050406030204" pitchFamily="18" charset="0"/>
                  </a:rPr>
                  <a:t>$\binom31=3,\binom32=3,\binom33=1$</a:t>
                </a:r>
                <a:r>
                  <a:rPr sz="2400" b="0">
                    <a:solidFill>
                      <a:srgbClr val="111827"/>
                    </a:solidFill>
                    <a:latin typeface="Arial"/>
                  </a:rPr>
                  <a:t> for </a:t>
                </a:r>
                <a:r>
                  <a:rPr lang="en-IN" sz="2400">
                    <a:solidFill>
                      <a:srgbClr val="111827"/>
                    </a:solidFill>
                    <a:latin typeface="Cambria Math" panose="02040503050406030204" pitchFamily="18" charset="0"/>
                  </a:rPr>
                  <a:t>$r=1,2,3$</a:t>
                </a:r>
                <a:r>
                  <a:rPr sz="2400" b="0">
                    <a:solidFill>
                      <a:srgbClr val="111827"/>
                    </a:solidFill>
                    <a:latin typeface="Arial"/>
                  </a:rPr>
                  <a:t> and blues contribute </a:t>
                </a:r>
                <a:r>
                  <a:rPr lang="en-IN" sz="2400">
                    <a:solidFill>
                      <a:srgbClr val="111827"/>
                    </a:solidFill>
                    <a:latin typeface="Cambria Math" panose="02040503050406030204" pitchFamily="18" charset="0"/>
                  </a:rPr>
                  <a:t>$\binom21=2,\binom22=1$</a:t>
                </a:r>
                <a:r>
                  <a:rPr sz="2400" b="0">
                    <a:solidFill>
                      <a:srgbClr val="111827"/>
                    </a:solidFill>
                    <a:latin typeface="Arial"/>
                  </a:rPr>
                  <a:t> for </a:t>
                </a:r>
                <a:r>
                  <a:rPr lang="en-IN" sz="2400">
                    <a:solidFill>
                      <a:srgbClr val="111827"/>
                    </a:solidFill>
                    <a:latin typeface="Cambria Math" panose="02040503050406030204" pitchFamily="18" charset="0"/>
                  </a:rPr>
                  <a:t>$b=1,2$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1 (</a:t>
                </a:r>
                <a:r>
                  <a:rPr lang="en-IN" sz="2400">
                    <a:solidFill>
                      <a:srgbClr val="111827"/>
                    </a:solidFill>
                    <a:latin typeface="Cambria Math" panose="02040503050406030204" pitchFamily="18" charset="0"/>
                  </a:rPr>
                  <a:t>$\sum r=6,\sum b=4$</a:t>
                </a:r>
                <a:r>
                  <a:rPr sz="2400" b="0">
                    <a:solidFill>
                      <a:srgbClr val="111827"/>
                    </a:solidFill>
                    <a:latin typeface="Arial"/>
                  </a:rPr>
                  <a:t>): reds </a:t>
                </a:r>
                <a:r>
                  <a:rPr lang="en-IN" sz="2400">
                    <a:solidFill>
                      <a:srgbClr val="111827"/>
                    </a:solidFill>
                    <a:latin typeface="Cambria Math" panose="02040503050406030204" pitchFamily="18" charset="0"/>
                  </a:rPr>
                  <a:t>$(2,2,1,1)$</a:t>
                </a:r>
                <a:r>
                  <a:rPr sz="2400" b="0">
                    <a:solidFill>
                      <a:srgbClr val="111827"/>
                    </a:solidFill>
                    <a:latin typeface="Arial"/>
                  </a:rPr>
                  <a:t> in </a:t>
                </a:r>
                <a:r>
                  <a:rPr lang="en-IN" sz="2400">
                    <a:solidFill>
                      <a:srgbClr val="111827"/>
                    </a:solidFill>
                    <a:latin typeface="Cambria Math" panose="02040503050406030204" pitchFamily="18" charset="0"/>
                  </a:rPr>
                  <a:t>$6$</a:t>
                </a:r>
                <a:r>
                  <a:rPr sz="2400" b="0">
                    <a:solidFill>
                      <a:srgbClr val="111827"/>
                    </a:solidFill>
                    <a:latin typeface="Arial"/>
                  </a:rPr>
                  <a:t> arrangements, all blues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$6\cdot3^4\cdot2^4=7776=6^3\cdot36$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2 (</a:t>
                </a:r>
                <a:r>
                  <a:rPr lang="en-IN" sz="2400">
                    <a:solidFill>
                      <a:srgbClr val="111827"/>
                    </a:solidFill>
                    <a:latin typeface="Cambria Math" panose="02040503050406030204" pitchFamily="18" charset="0"/>
                  </a:rPr>
                  <a:t>$\sum r=6,\sum b=4$</a:t>
                </a:r>
                <a:r>
                  <a:rPr sz="2400" b="0">
                    <a:solidFill>
                      <a:srgbClr val="111827"/>
                    </a:solidFill>
                    <a:latin typeface="Arial"/>
                  </a:rPr>
                  <a:t>): reds </a:t>
                </a:r>
                <a:r>
                  <a:rPr lang="en-IN" sz="2400">
                    <a:solidFill>
                      <a:srgbClr val="111827"/>
                    </a:solidFill>
                    <a:latin typeface="Cambria Math" panose="02040503050406030204" pitchFamily="18" charset="0"/>
                  </a:rPr>
                  <a:t>$(3,1,1,1)$</a:t>
                </a:r>
                <a:r>
                  <a:rPr sz="2400" b="0">
                    <a:solidFill>
                      <a:srgbClr val="111827"/>
                    </a:solidFill>
                    <a:latin typeface="Arial"/>
                  </a:rPr>
                  <a:t> in </a:t>
                </a:r>
                <a:r>
                  <a:rPr lang="en-IN" sz="2400">
                    <a:solidFill>
                      <a:srgbClr val="111827"/>
                    </a:solidFill>
                    <a:latin typeface="Cambria Math" panose="02040503050406030204" pitchFamily="18" charset="0"/>
                  </a:rPr>
                  <a:t>$4$</a:t>
                </a:r>
                <a:r>
                  <a:rPr sz="2400" b="0">
                    <a:solidFill>
                      <a:srgbClr val="111827"/>
                    </a:solidFill>
                    <a:latin typeface="Arial"/>
                  </a:rPr>
                  <a:t> arrangements, all blues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$4\cdot(1\cdot3^3)\cdot2^4=1728=6^3\cdot8$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Pattern 3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all reds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blues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arrangements: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1944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4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one box with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reds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choices, weight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and one box with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blues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choices, weight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10368</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21816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Pattern 3 (</a:t>
                </a:r>
                <a:r>
                  <a:rPr lang="en-IN" sz="2400">
                    <a:solidFill>
                      <a:srgbClr val="111827"/>
                    </a:solidFill>
                    <a:latin typeface="Cambria Math" panose="02040503050406030204" pitchFamily="18" charset="0"/>
                  </a:rPr>
                  <a:t>$\sum r=4,\sum b=6$</a:t>
                </a:r>
                <a:r>
                  <a:rPr sz="2400" b="0">
                    <a:solidFill>
                      <a:srgbClr val="111827"/>
                    </a:solidFill>
                    <a:latin typeface="Arial"/>
                  </a:rPr>
                  <a:t>): all reds </a:t>
                </a:r>
                <a:r>
                  <a:rPr lang="en-IN" sz="2400">
                    <a:solidFill>
                      <a:srgbClr val="111827"/>
                    </a:solidFill>
                    <a:latin typeface="Cambria Math" panose="02040503050406030204" pitchFamily="18" charset="0"/>
                  </a:rPr>
                  <a:t>$1$</a:t>
                </a:r>
                <a:r>
                  <a:rPr sz="2400" b="0">
                    <a:solidFill>
                      <a:srgbClr val="111827"/>
                    </a:solidFill>
                    <a:latin typeface="Arial"/>
                  </a:rPr>
                  <a:t>, blues </a:t>
                </a:r>
                <a:r>
                  <a:rPr lang="en-IN" sz="2400">
                    <a:solidFill>
                      <a:srgbClr val="111827"/>
                    </a:solidFill>
                    <a:latin typeface="Cambria Math" panose="02040503050406030204" pitchFamily="18" charset="0"/>
                  </a:rPr>
                  <a:t>$(2,2,1,1)$</a:t>
                </a:r>
                <a:r>
                  <a:rPr sz="2400" b="0">
                    <a:solidFill>
                      <a:srgbClr val="111827"/>
                    </a:solidFill>
                    <a:latin typeface="Arial"/>
                  </a:rPr>
                  <a:t> in </a:t>
                </a:r>
                <a:r>
                  <a:rPr lang="en-IN" sz="2400">
                    <a:solidFill>
                      <a:srgbClr val="111827"/>
                    </a:solidFill>
                    <a:latin typeface="Cambria Math" panose="02040503050406030204" pitchFamily="18" charset="0"/>
                  </a:rPr>
                  <a:t>$6$</a:t>
                </a:r>
                <a:r>
                  <a:rPr sz="2400" b="0">
                    <a:solidFill>
                      <a:srgbClr val="111827"/>
                    </a:solidFill>
                    <a:latin typeface="Arial"/>
                  </a:rPr>
                  <a:t> arrangements: </a:t>
                </a:r>
                <a:r>
                  <a:rPr lang="en-IN" sz="2400">
                    <a:solidFill>
                      <a:srgbClr val="111827"/>
                    </a:solidFill>
                    <a:latin typeface="Cambria Math" panose="02040503050406030204" pitchFamily="18" charset="0"/>
                  </a:rPr>
                  <a:t>$6\cdot3^4\cdot(1\cdot1\cdot2\cdot2)=1944=6^3\cdot9$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Pattern 4 (</a:t>
                </a:r>
                <a:r>
                  <a:rPr lang="en-IN" sz="2400">
                    <a:solidFill>
                      <a:srgbClr val="111827"/>
                    </a:solidFill>
                    <a:latin typeface="Cambria Math" panose="02040503050406030204" pitchFamily="18" charset="0"/>
                  </a:rPr>
                  <a:t>$\sum r=5,\sum b=5$</a:t>
                </a:r>
                <a:r>
                  <a:rPr sz="2400" b="0">
                    <a:solidFill>
                      <a:srgbClr val="111827"/>
                    </a:solidFill>
                    <a:latin typeface="Arial"/>
                  </a:rPr>
                  <a:t>): one box with </a:t>
                </a:r>
                <a:r>
                  <a:rPr lang="en-IN" sz="2400">
                    <a:solidFill>
                      <a:srgbClr val="111827"/>
                    </a:solidFill>
                    <a:latin typeface="Cambria Math" panose="02040503050406030204" pitchFamily="18" charset="0"/>
                  </a:rPr>
                  <a:t>$2$</a:t>
                </a:r>
                <a:r>
                  <a:rPr sz="2400" b="0">
                    <a:solidFill>
                      <a:srgbClr val="111827"/>
                    </a:solidFill>
                    <a:latin typeface="Arial"/>
                  </a:rPr>
                  <a:t> reds (</a:t>
                </a:r>
                <a:r>
                  <a:rPr lang="en-IN" sz="2400">
                    <a:solidFill>
                      <a:srgbClr val="111827"/>
                    </a:solidFill>
                    <a:latin typeface="Cambria Math" panose="02040503050406030204" pitchFamily="18" charset="0"/>
                  </a:rPr>
                  <a:t>$4$</a:t>
                </a:r>
                <a:r>
                  <a:rPr sz="2400" b="0">
                    <a:solidFill>
                      <a:srgbClr val="111827"/>
                    </a:solidFill>
                    <a:latin typeface="Arial"/>
                  </a:rPr>
                  <a:t> choices, weight </a:t>
                </a:r>
                <a:r>
                  <a:rPr lang="en-IN" sz="2400">
                    <a:solidFill>
                      <a:srgbClr val="111827"/>
                    </a:solidFill>
                    <a:latin typeface="Cambria Math" panose="02040503050406030204" pitchFamily="18" charset="0"/>
                  </a:rPr>
                  <a:t>$3^4$</a:t>
                </a:r>
                <a:r>
                  <a:rPr sz="2400" b="0">
                    <a:solidFill>
                      <a:srgbClr val="111827"/>
                    </a:solidFill>
                    <a:latin typeface="Arial"/>
                  </a:rPr>
                  <a:t>) and one box with </a:t>
                </a:r>
                <a:r>
                  <a:rPr lang="en-IN" sz="2400">
                    <a:solidFill>
                      <a:srgbClr val="111827"/>
                    </a:solidFill>
                    <a:latin typeface="Cambria Math" panose="02040503050406030204" pitchFamily="18" charset="0"/>
                  </a:rPr>
                  <a:t>$2$</a:t>
                </a:r>
                <a:r>
                  <a:rPr sz="2400" b="0">
                    <a:solidFill>
                      <a:srgbClr val="111827"/>
                    </a:solidFill>
                    <a:latin typeface="Arial"/>
                  </a:rPr>
                  <a:t> blues (</a:t>
                </a:r>
                <a:r>
                  <a:rPr lang="en-IN" sz="2400">
                    <a:solidFill>
                      <a:srgbClr val="111827"/>
                    </a:solidFill>
                    <a:latin typeface="Cambria Math" panose="02040503050406030204" pitchFamily="18" charset="0"/>
                  </a:rPr>
                  <a:t>$4$</a:t>
                </a:r>
                <a:r>
                  <a:rPr sz="2400" b="0">
                    <a:solidFill>
                      <a:srgbClr val="111827"/>
                    </a:solidFill>
                    <a:latin typeface="Arial"/>
                  </a:rPr>
                  <a:t> choices, weight </a:t>
                </a:r>
                <a:r>
                  <a:rPr lang="en-IN" sz="2400">
                    <a:solidFill>
                      <a:srgbClr val="111827"/>
                    </a:solidFill>
                    <a:latin typeface="Cambria Math" panose="02040503050406030204" pitchFamily="18" charset="0"/>
                  </a:rPr>
                  <a:t>$1\cdot2^3$</a:t>
                </a:r>
                <a:r>
                  <a:rPr sz="2400" b="0">
                    <a:solidFill>
                      <a:srgbClr val="111827"/>
                    </a:solidFill>
                    <a:latin typeface="Arial"/>
                  </a:rPr>
                  <a:t>): </a:t>
                </a:r>
                <a:r>
                  <a:rPr lang="en-IN" sz="2400">
                    <a:solidFill>
                      <a:srgbClr val="111827"/>
                    </a:solidFill>
                    <a:latin typeface="Cambria Math" panose="02040503050406030204" pitchFamily="18" charset="0"/>
                  </a:rPr>
                  <a:t>$16\cdot81\cdot8=10368=6^3\cdot48$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$=6^3\,(36+8+9+48)=216\times101=21816$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21816</a:t>
            </a:r>
            <a:endParaRPr sz="2800">
              <a:solidFill>
                <a:srgbClr val="15803D"/>
              </a:solidFil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 generating function per box in a single variable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(total balls) and read off the coefficient of </a:t>
                </a:r>
                <a14:m>
                  <m:oMath xmlns:m="http://schemas.openxmlformats.org/officeDocument/2006/math">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10</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 generating function per box in a single variable </a:t>
                </a:r>
                <a:r>
                  <a:rPr lang="en-IN" sz="2400">
                    <a:solidFill>
                      <a:srgbClr val="78350F"/>
                    </a:solidFill>
                    <a:latin typeface="Cambria Math" panose="02040503050406030204" pitchFamily="18" charset="0"/>
                  </a:rPr>
                  <a:t>$t$</a:t>
                </a:r>
                <a:r>
                  <a:rPr sz="2400" b="0">
                    <a:solidFill>
                      <a:srgbClr val="78350F"/>
                    </a:solidFill>
                    <a:latin typeface="Arial"/>
                  </a:rPr>
                  <a:t> (total balls) and read off the coefficient of </a:t>
                </a:r>
                <a:r>
                  <a:rPr lang="en-IN" sz="2400">
                    <a:solidFill>
                      <a:srgbClr val="78350F"/>
                    </a:solidFill>
                    <a:latin typeface="Cambria Math" panose="02040503050406030204" pitchFamily="18" charset="0"/>
                  </a:rPr>
                  <a:t>$t^{10}$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One box: at least one red and one blue: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 boxes: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we need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One box: at least one red and one blue: </a:t>
                </a:r>
                <a:r>
                  <a:rPr lang="en-IN" sz="2400">
                    <a:solidFill>
                      <a:srgbClr val="111827"/>
                    </a:solidFill>
                    <a:latin typeface="Cambria Math" panose="02040503050406030204" pitchFamily="18" charset="0"/>
                  </a:rPr>
                  <a:t>$\big((1+t)^3-1\big)\big((1+t)^2-1\big)=(3t+3t^2+t^3)(2t+t^2)$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$=t^2(3+3t+t^2)(2+t)=t^2(6+9t+5t^2+t^3)$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 boxes: </a:t>
                </a:r>
                <a:r>
                  <a:rPr lang="en-IN" sz="2400">
                    <a:solidFill>
                      <a:srgbClr val="111827"/>
                    </a:solidFill>
                    <a:latin typeface="Cambria Math" panose="02040503050406030204" pitchFamily="18" charset="0"/>
                  </a:rPr>
                  <a:t>$t^8(6+9t+5t^2+t^3)^4$</a:t>
                </a:r>
                <a:r>
                  <a:rPr sz="2400" b="0">
                    <a:solidFill>
                      <a:srgbClr val="111827"/>
                    </a:solidFill>
                    <a:latin typeface="Arial"/>
                  </a:rPr>
                  <a:t>; we need </a:t>
                </a:r>
                <a:r>
                  <a:rPr lang="en-IN" sz="2400">
                    <a:solidFill>
                      <a:srgbClr val="111827"/>
                    </a:solidFill>
                    <a:latin typeface="Cambria Math" panose="02040503050406030204" pitchFamily="18" charset="0"/>
                  </a:rPr>
                  <a:t>$[t^{10}]$</a:t>
                </a:r>
                <a:r>
                  <a:rPr sz="2400" b="0">
                    <a:solidFill>
                      <a:srgbClr val="111827"/>
                    </a:solidFill>
                    <a:latin typeface="Arial"/>
                  </a:rPr>
                  <a:t>, i.e. </a:t>
                </a:r>
                <a:r>
                  <a:rPr lang="en-IN" sz="2400">
                    <a:solidFill>
                      <a:srgbClr val="111827"/>
                    </a:solidFill>
                    <a:latin typeface="Cambria Math" panose="02040503050406030204" pitchFamily="18" charset="0"/>
                  </a:rPr>
                  <a:t>$[t^2]$</a:t>
                </a:r>
                <a:r>
                  <a:rPr sz="2400" b="0">
                    <a:solidFill>
                      <a:srgbClr val="111827"/>
                    </a:solidFill>
                    <a:latin typeface="Arial"/>
                  </a:rPr>
                  <a:t> of </a:t>
                </a:r>
                <a:r>
                  <a:rPr lang="en-IN" sz="2400">
                    <a:solidFill>
                      <a:srgbClr val="111827"/>
                    </a:solidFill>
                    <a:latin typeface="Cambria Math" panose="02040503050406030204" pitchFamily="18" charset="0"/>
                  </a:rPr>
                  <a:t>$(6+9t+5t^2+t^3)^4$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17496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21816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$[t^2]=4\cdot6^3\cdot5+\binom42\cdot6^2\cdot9^2=4320+17496$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$=21816$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21816</a:t>
            </a:r>
            <a:endParaRPr sz="2800">
              <a:solidFill>
                <a:srgbClr val="15803D"/>
              </a:solidFill>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Box-wise choices with minimum/maximum constraints: use one generating polynomial per box and extract a coefficient, instead of listing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one of each colour from one box: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𝑏</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in the variable counting chosen balls.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out the forced minimum (here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per box) to shrink the coefficient you need.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Box-wise choices with minimum/maximum constraints: use one generating polynomial per box and extract a coefficient, instead of listing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one of each colour from one box: </a:t>
                </a:r>
                <a:r>
                  <a:rPr lang="en-IN" sz="2400">
                    <a:solidFill>
                      <a:srgbClr val="111827"/>
                    </a:solidFill>
                    <a:latin typeface="Cambria Math" panose="02040503050406030204" pitchFamily="18" charset="0"/>
                  </a:rPr>
                  <a:t>$\big((1+t)^a-1\big)\big((1+t)^b-1\big)$</a:t>
                </a:r>
                <a:r>
                  <a:rPr sz="2400" b="0">
                    <a:solidFill>
                      <a:srgbClr val="111827"/>
                    </a:solidFill>
                    <a:latin typeface="Arial"/>
                  </a:rPr>
                  <a:t> in the variable counting chosen balls.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out the forced minimum (here </a:t>
                </a:r>
                <a:r>
                  <a:rPr lang="en-IN" sz="2400">
                    <a:solidFill>
                      <a:srgbClr val="111827"/>
                    </a:solidFill>
                    <a:latin typeface="Cambria Math" panose="02040503050406030204" pitchFamily="18" charset="0"/>
                  </a:rPr>
                  <a:t>$t^2$</a:t>
                </a:r>
                <a:r>
                  <a:rPr sz="2400" b="0">
                    <a:solidFill>
                      <a:srgbClr val="111827"/>
                    </a:solidFill>
                    <a:latin typeface="Arial"/>
                  </a:rPr>
                  <a:t> per box) to shrink the coefficient you need.</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Q19 – Q21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the correct value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assumed: not printed in the paper</a:t>
            </a:r>
            <a:endParaRPr sz="2800">
              <a:solidFill>
                <a:srgbClr val="FFFFFF"/>
              </a:solidFil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group of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students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9</m:t>
                        </m:r>
                      </m:sub>
                    </m:sSub>
                  </m:oMath>
                </a14:m>
                <a:r>
                  <a:rPr sz="2400" b="0">
                    <a:solidFill>
                      <a:srgbClr val="111827"/>
                    </a:solidFill>
                    <a:latin typeface="Arial"/>
                  </a:rPr>
                  <a:t> is divided to form three teams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𝑍</m:t>
                    </m:r>
                  </m:oMath>
                </a14:m>
                <a:r>
                  <a:rPr sz="2400" b="0">
                    <a:solidFill>
                      <a:srgbClr val="111827"/>
                    </a:solidFill>
                    <a:latin typeface="Arial"/>
                  </a:rPr>
                  <a:t> of sizes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respectively. Suppose that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cannot be selected for the team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cannot be selected for the team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Then the number of ways to form such teams is ______. [JEE (Adv) 2024]</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group of </a:t>
                </a:r>
                <a:r>
                  <a:rPr lang="en-IN" sz="2400">
                    <a:solidFill>
                      <a:srgbClr val="111827"/>
                    </a:solidFill>
                    <a:latin typeface="Cambria Math" panose="02040503050406030204" pitchFamily="18" charset="0"/>
                  </a:rPr>
                  <a:t>$9$</a:t>
                </a:r>
                <a:r>
                  <a:rPr sz="2400" b="0">
                    <a:solidFill>
                      <a:srgbClr val="111827"/>
                    </a:solidFill>
                    <a:latin typeface="Arial"/>
                  </a:rPr>
                  <a:t> students </a:t>
                </a:r>
                <a:r>
                  <a:rPr lang="en-IN" sz="2400">
                    <a:solidFill>
                      <a:srgbClr val="111827"/>
                    </a:solidFill>
                    <a:latin typeface="Cambria Math" panose="02040503050406030204" pitchFamily="18" charset="0"/>
                  </a:rPr>
                  <a:t>$s_1,s_2,\dots,s_9$</a:t>
                </a:r>
                <a:r>
                  <a:rPr sz="2400" b="0">
                    <a:solidFill>
                      <a:srgbClr val="111827"/>
                    </a:solidFill>
                    <a:latin typeface="Arial"/>
                  </a:rPr>
                  <a:t> is divided to form three teams </a:t>
                </a:r>
                <a:r>
                  <a:rPr lang="en-IN" sz="2400">
                    <a:solidFill>
                      <a:srgbClr val="111827"/>
                    </a:solidFill>
                    <a:latin typeface="Cambria Math" panose="02040503050406030204" pitchFamily="18" charset="0"/>
                  </a:rPr>
                  <a:t>$X,Y$</a:t>
                </a:r>
                <a:r>
                  <a:rPr sz="2400" b="0">
                    <a:solidFill>
                      <a:srgbClr val="111827"/>
                    </a:solidFill>
                    <a:latin typeface="Arial"/>
                  </a:rPr>
                  <a:t> and </a:t>
                </a:r>
                <a:r>
                  <a:rPr lang="en-IN" sz="2400">
                    <a:solidFill>
                      <a:srgbClr val="111827"/>
                    </a:solidFill>
                    <a:latin typeface="Cambria Math" panose="02040503050406030204" pitchFamily="18" charset="0"/>
                  </a:rPr>
                  <a:t>$Z$</a:t>
                </a:r>
                <a:r>
                  <a:rPr sz="2400" b="0">
                    <a:solidFill>
                      <a:srgbClr val="111827"/>
                    </a:solidFill>
                    <a:latin typeface="Arial"/>
                  </a:rPr>
                  <a:t> of sizes </a:t>
                </a:r>
                <a:r>
                  <a:rPr lang="en-IN" sz="2400">
                    <a:solidFill>
                      <a:srgbClr val="111827"/>
                    </a:solidFill>
                    <a:latin typeface="Cambria Math" panose="02040503050406030204" pitchFamily="18" charset="0"/>
                  </a:rPr>
                  <a:t>$2,3$</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respectively. Suppose that </a:t>
                </a:r>
                <a:r>
                  <a:rPr lang="en-IN" sz="2400">
                    <a:solidFill>
                      <a:srgbClr val="111827"/>
                    </a:solidFill>
                    <a:latin typeface="Cambria Math" panose="02040503050406030204" pitchFamily="18" charset="0"/>
                  </a:rPr>
                  <a:t>$s_1$</a:t>
                </a:r>
                <a:r>
                  <a:rPr sz="2400" b="0">
                    <a:solidFill>
                      <a:srgbClr val="111827"/>
                    </a:solidFill>
                    <a:latin typeface="Arial"/>
                  </a:rPr>
                  <a:t> cannot be selected for the team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$s_2$</a:t>
                </a:r>
                <a:r>
                  <a:rPr sz="2400" b="0">
                    <a:solidFill>
                      <a:srgbClr val="111827"/>
                    </a:solidFill>
                    <a:latin typeface="Arial"/>
                  </a:rPr>
                  <a:t> cannot be selected for the team </a:t>
                </a:r>
                <a:r>
                  <a:rPr lang="en-IN" sz="2400">
                    <a:solidFill>
                      <a:srgbClr val="111827"/>
                    </a:solidFill>
                    <a:latin typeface="Cambria Math" panose="02040503050406030204" pitchFamily="18" charset="0"/>
                  </a:rPr>
                  <a:t>$Y$</a:t>
                </a:r>
                <a:r>
                  <a:rPr sz="2400" b="0">
                    <a:solidFill>
                      <a:srgbClr val="111827"/>
                    </a:solidFill>
                    <a:latin typeface="Arial"/>
                  </a:rPr>
                  <a:t>. Then the number of ways to form such teams is ______. [JEE (Adv) 2024]</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into groups of given sizes with restrictions, Inclusion–exclusion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all divisions, then subtract those with </a:t>
                </a:r>
                <a14:m>
                  <m:oMath xmlns:m="http://schemas.openxmlformats.org/officeDocument/2006/math">
                    <m:sSub>
                      <m:e>
                        <m:r>
                          <a:rPr lang="en-IN" sz="2400" i="1">
                            <a:solidFill>
                              <a:srgbClr val="78350F"/>
                            </a:solidFill>
                            <a:latin typeface="Cambria Math" panose="02040503050406030204" pitchFamily="18" charset="0"/>
                          </a:rPr>
                          <m:t>𝑠</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oMath>
                </a14:m>
                <a:r>
                  <a:rPr sz="2400" b="0">
                    <a:solidFill>
                      <a:srgbClr val="78350F"/>
                    </a:solidFill>
                    <a:latin typeface="Arial"/>
                  </a:rPr>
                  <a:t> or </a:t>
                </a:r>
                <a14:m>
                  <m:oMath xmlns:m="http://schemas.openxmlformats.org/officeDocument/2006/math">
                    <m:sSub>
                      <m:e>
                        <m:r>
                          <a:rPr lang="en-IN" sz="2400" i="1">
                            <a:solidFill>
                              <a:srgbClr val="78350F"/>
                            </a:solidFill>
                            <a:latin typeface="Cambria Math" panose="02040503050406030204" pitchFamily="18" charset="0"/>
                          </a:rPr>
                          <m:t>𝑠</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oMath>
                </a14:m>
                <a:r>
                  <a:rPr sz="2400" b="0">
                    <a:solidFill>
                      <a:srgbClr val="78350F"/>
                    </a:solidFill>
                    <a:latin typeface="Arial"/>
                  </a:rPr>
                  <a:t> by inclusion–exclusion.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all divisions, then subtract those with </a:t>
                </a:r>
                <a:r>
                  <a:rPr lang="en-IN" sz="2400">
                    <a:solidFill>
                      <a:srgbClr val="78350F"/>
                    </a:solidFill>
                    <a:latin typeface="Cambria Math" panose="02040503050406030204" pitchFamily="18" charset="0"/>
                  </a:rPr>
                  <a:t>$s_1\in X$</a:t>
                </a:r>
                <a:r>
                  <a:rPr sz="2400" b="0">
                    <a:solidFill>
                      <a:srgbClr val="78350F"/>
                    </a:solidFill>
                    <a:latin typeface="Arial"/>
                  </a:rPr>
                  <a:t> or </a:t>
                </a:r>
                <a:r>
                  <a:rPr lang="en-IN" sz="2400">
                    <a:solidFill>
                      <a:srgbClr val="78350F"/>
                    </a:solidFill>
                    <a:latin typeface="Cambria Math" panose="02040503050406030204" pitchFamily="18" charset="0"/>
                  </a:rPr>
                  <a:t>$s_2\in Y$</a:t>
                </a:r>
                <a:r>
                  <a:rPr sz="2400" b="0">
                    <a:solidFill>
                      <a:srgbClr val="78350F"/>
                    </a:solidFill>
                    <a:latin typeface="Arial"/>
                  </a:rPr>
                  <a:t> by inclusion–exclusion.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to form teams of sizes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students: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Teams with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fix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Teams with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fix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to form teams of sizes </a:t>
                </a:r>
                <a:r>
                  <a:rPr lang="en-IN" sz="2400">
                    <a:solidFill>
                      <a:srgbClr val="111827"/>
                    </a:solidFill>
                    <a:latin typeface="Cambria Math" panose="02040503050406030204" pitchFamily="18" charset="0"/>
                  </a:rPr>
                  <a:t>$2,3,4$</a:t>
                </a:r>
                <a:r>
                  <a:rPr sz="2400" b="0">
                    <a:solidFill>
                      <a:srgbClr val="111827"/>
                    </a:solidFill>
                    <a:latin typeface="Arial"/>
                  </a:rPr>
                  <a:t> from </a:t>
                </a:r>
                <a:r>
                  <a:rPr lang="en-IN" sz="2400">
                    <a:solidFill>
                      <a:srgbClr val="111827"/>
                    </a:solidFill>
                    <a:latin typeface="Cambria Math" panose="02040503050406030204" pitchFamily="18" charset="0"/>
                  </a:rPr>
                  <a:t>$9$</a:t>
                </a:r>
                <a:r>
                  <a:rPr sz="2400" b="0">
                    <a:solidFill>
                      <a:srgbClr val="111827"/>
                    </a:solidFill>
                    <a:latin typeface="Arial"/>
                  </a:rPr>
                  <a:t> students: </a:t>
                </a:r>
                <a:r>
                  <a:rPr lang="en-IN" sz="2400">
                    <a:solidFill>
                      <a:srgbClr val="111827"/>
                    </a:solidFill>
                    <a:latin typeface="Cambria Math" panose="02040503050406030204" pitchFamily="18" charset="0"/>
                  </a:rPr>
                  <a:t>$\frac{9!}{2!\,3!\,4!}=1260$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Teams with </a:t>
                </a:r>
                <a:r>
                  <a:rPr lang="en-IN" sz="2400">
                    <a:solidFill>
                      <a:srgbClr val="111827"/>
                    </a:solidFill>
                    <a:latin typeface="Cambria Math" panose="02040503050406030204" pitchFamily="18" charset="0"/>
                  </a:rPr>
                  <a:t>$s_1\in X$</a:t>
                </a:r>
                <a:r>
                  <a:rPr sz="2400" b="0">
                    <a:solidFill>
                      <a:srgbClr val="111827"/>
                    </a:solidFill>
                    <a:latin typeface="Arial"/>
                  </a:rPr>
                  <a:t>: fix </a:t>
                </a:r>
                <a:r>
                  <a:rPr lang="en-IN" sz="2400">
                    <a:solidFill>
                      <a:srgbClr val="111827"/>
                    </a:solidFill>
                    <a:latin typeface="Cambria Math" panose="02040503050406030204" pitchFamily="18" charset="0"/>
                  </a:rPr>
                  <a:t>$s_1$</a:t>
                </a:r>
                <a:r>
                  <a:rPr sz="2400" b="0">
                    <a:solidFill>
                      <a:srgbClr val="111827"/>
                    </a:solidFill>
                    <a:latin typeface="Arial"/>
                  </a:rPr>
                  <a:t> in </a:t>
                </a:r>
                <a:r>
                  <a:rPr lang="en-IN" sz="2400">
                    <a:solidFill>
                      <a:srgbClr val="111827"/>
                    </a:solidFill>
                    <a:latin typeface="Cambria Math" panose="02040503050406030204" pitchFamily="18" charset="0"/>
                  </a:rPr>
                  <a:t>$X$</a:t>
                </a:r>
                <a:r>
                  <a:rPr sz="2400" b="0">
                    <a:solidFill>
                      <a:srgbClr val="111827"/>
                    </a:solidFill>
                    <a:latin typeface="Arial"/>
                  </a:rPr>
                  <a:t>, so </a:t>
                </a:r>
                <a:r>
                  <a:rPr lang="en-IN" sz="2400">
                    <a:solidFill>
                      <a:srgbClr val="111827"/>
                    </a:solidFill>
                    <a:latin typeface="Cambria Math" panose="02040503050406030204" pitchFamily="18" charset="0"/>
                  </a:rPr>
                  <a:t>$\frac{8!}{1!\,3!\,4!}=280$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Teams with </a:t>
                </a:r>
                <a:r>
                  <a:rPr lang="en-IN" sz="2400">
                    <a:solidFill>
                      <a:srgbClr val="111827"/>
                    </a:solidFill>
                    <a:latin typeface="Cambria Math" panose="02040503050406030204" pitchFamily="18" charset="0"/>
                  </a:rPr>
                  <a:t>$s_2\in Y$</a:t>
                </a:r>
                <a:r>
                  <a:rPr sz="2400" b="0">
                    <a:solidFill>
                      <a:srgbClr val="111827"/>
                    </a:solidFill>
                    <a:latin typeface="Arial"/>
                  </a:rPr>
                  <a:t>: fix </a:t>
                </a:r>
                <a:r>
                  <a:rPr lang="en-IN" sz="2400">
                    <a:solidFill>
                      <a:srgbClr val="111827"/>
                    </a:solidFill>
                    <a:latin typeface="Cambria Math" panose="02040503050406030204" pitchFamily="18" charset="0"/>
                  </a:rPr>
                  <a:t>$s_2$</a:t>
                </a:r>
                <a:r>
                  <a:rPr sz="2400" b="0">
                    <a:solidFill>
                      <a:srgbClr val="111827"/>
                    </a:solidFill>
                    <a:latin typeface="Arial"/>
                  </a:rPr>
                  <a:t> in </a:t>
                </a:r>
                <a:r>
                  <a:rPr lang="en-IN" sz="2400">
                    <a:solidFill>
                      <a:srgbClr val="111827"/>
                    </a:solidFill>
                    <a:latin typeface="Cambria Math" panose="02040503050406030204" pitchFamily="18" charset="0"/>
                  </a:rPr>
                  <a:t>$Y$</a:t>
                </a:r>
                <a:r>
                  <a:rPr sz="2400" b="0">
                    <a:solidFill>
                      <a:srgbClr val="111827"/>
                    </a:solidFill>
                    <a:latin typeface="Arial"/>
                  </a:rPr>
                  <a:t>, so </a:t>
                </a:r>
                <a:r>
                  <a:rPr lang="en-IN" sz="2400">
                    <a:solidFill>
                      <a:srgbClr val="111827"/>
                    </a:solidFill>
                    <a:latin typeface="Cambria Math" panose="02040503050406030204" pitchFamily="18" charset="0"/>
                  </a:rPr>
                  <a:t>$\frac{8!}{2!\,2!\,4!}=420$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Teams with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Valid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Teams with </a:t>
                </a:r>
                <a:r>
                  <a:rPr lang="en-IN" sz="2400">
                    <a:solidFill>
                      <a:srgbClr val="111827"/>
                    </a:solidFill>
                    <a:latin typeface="Cambria Math" panose="02040503050406030204" pitchFamily="18" charset="0"/>
                  </a:rPr>
                  <a:t>$s_1\in X$</a:t>
                </a:r>
                <a:r>
                  <a:rPr sz="2400" b="0">
                    <a:solidFill>
                      <a:srgbClr val="111827"/>
                    </a:solidFill>
                    <a:latin typeface="Arial"/>
                  </a:rPr>
                  <a:t> and </a:t>
                </a:r>
                <a:r>
                  <a:rPr lang="en-IN" sz="2400">
                    <a:solidFill>
                      <a:srgbClr val="111827"/>
                    </a:solidFill>
                    <a:latin typeface="Cambria Math" panose="02040503050406030204" pitchFamily="18" charset="0"/>
                  </a:rPr>
                  <a:t>$s_2\in Y$</a:t>
                </a:r>
                <a:r>
                  <a:rPr sz="2400" b="0">
                    <a:solidFill>
                      <a:srgbClr val="111827"/>
                    </a:solidFill>
                    <a:latin typeface="Arial"/>
                  </a:rPr>
                  <a:t>: </a:t>
                </a:r>
                <a:r>
                  <a:rPr lang="en-IN" sz="2400">
                    <a:solidFill>
                      <a:srgbClr val="111827"/>
                    </a:solidFill>
                    <a:latin typeface="Cambria Math" panose="02040503050406030204" pitchFamily="18" charset="0"/>
                  </a:rPr>
                  <a:t>$\frac{7!}{1!\,2!\,4!}=105$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Valid ways </a:t>
                </a:r>
                <a:r>
                  <a:rPr lang="en-IN" sz="2400">
                    <a:solidFill>
                      <a:srgbClr val="111827"/>
                    </a:solidFill>
                    <a:latin typeface="Cambria Math" panose="02040503050406030204" pitchFamily="18" charset="0"/>
                  </a:rPr>
                  <a:t>$=1260-280-420+105=665$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665</a:t>
            </a:r>
            <a:endParaRPr sz="2800">
              <a:solidFill>
                <a:srgbClr val="15803D"/>
              </a:solidFill>
            </a:endParaRP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Direct casework: choose </a:t>
                </a:r>
                <a14:m>
                  <m:oMath xmlns:m="http://schemas.openxmlformats.org/officeDocument/2006/math">
                    <m:r>
                      <a:rPr lang="en-IN" sz="2400" i="1">
                        <a:solidFill>
                          <a:srgbClr val="78350F"/>
                        </a:solidFill>
                        <a:latin typeface="Cambria Math" panose="02040503050406030204" pitchFamily="18" charset="0"/>
                      </a:rPr>
                      <m:t>𝑋</m:t>
                    </m:r>
                  </m:oMath>
                </a14:m>
                <a:r>
                  <a:rPr sz="2400" b="0">
                    <a:solidFill>
                      <a:srgbClr val="78350F"/>
                    </a:solidFill>
                    <a:latin typeface="Arial"/>
                  </a:rPr>
                  <a:t> first (avoiding </a:t>
                </a:r>
                <a14:m>
                  <m:oMath xmlns:m="http://schemas.openxmlformats.org/officeDocument/2006/math">
                    <m:sSub>
                      <m:e>
                        <m:r>
                          <a:rPr lang="en-IN" sz="2400" i="1">
                            <a:solidFill>
                              <a:srgbClr val="78350F"/>
                            </a:solidFill>
                            <a:latin typeface="Cambria Math" panose="02040503050406030204" pitchFamily="18" charset="0"/>
                          </a:rPr>
                          <m:t>𝑠</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𝑌</m:t>
                    </m:r>
                  </m:oMath>
                </a14:m>
                <a:r>
                  <a:rPr sz="2400" b="0">
                    <a:solidFill>
                      <a:srgbClr val="78350F"/>
                    </a:solidFill>
                    <a:latin typeface="Arial"/>
                  </a:rPr>
                  <a:t> (avoiding </a:t>
                </a:r>
                <a14:m>
                  <m:oMath xmlns:m="http://schemas.openxmlformats.org/officeDocument/2006/math">
                    <m:sSub>
                      <m:e>
                        <m:r>
                          <a:rPr lang="en-IN" sz="2400" i="1">
                            <a:solidFill>
                              <a:srgbClr val="78350F"/>
                            </a:solidFill>
                            <a:latin typeface="Cambria Math" panose="02040503050406030204" pitchFamily="18" charset="0"/>
                          </a:rPr>
                          <m:t>𝑠</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𝑍</m:t>
                    </m:r>
                  </m:oMath>
                </a14:m>
                <a:r>
                  <a:rPr sz="2400" b="0">
                    <a:solidFill>
                      <a:srgbClr val="78350F"/>
                    </a:solidFill>
                    <a:latin typeface="Arial"/>
                  </a:rPr>
                  <a:t> is the rest.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Direct casework: choose </a:t>
                </a:r>
                <a:r>
                  <a:rPr lang="en-IN" sz="2400">
                    <a:solidFill>
                      <a:srgbClr val="78350F"/>
                    </a:solidFill>
                    <a:latin typeface="Cambria Math" panose="02040503050406030204" pitchFamily="18" charset="0"/>
                  </a:rPr>
                  <a:t>$X$</a:t>
                </a:r>
                <a:r>
                  <a:rPr sz="2400" b="0">
                    <a:solidFill>
                      <a:srgbClr val="78350F"/>
                    </a:solidFill>
                    <a:latin typeface="Arial"/>
                  </a:rPr>
                  <a:t> first (avoiding </a:t>
                </a:r>
                <a:r>
                  <a:rPr lang="en-IN" sz="2400">
                    <a:solidFill>
                      <a:srgbClr val="78350F"/>
                    </a:solidFill>
                    <a:latin typeface="Cambria Math" panose="02040503050406030204" pitchFamily="18" charset="0"/>
                  </a:rPr>
                  <a:t>$s_1$</a:t>
                </a:r>
                <a:r>
                  <a:rPr sz="2400" b="0">
                    <a:solidFill>
                      <a:srgbClr val="78350F"/>
                    </a:solidFill>
                    <a:latin typeface="Arial"/>
                  </a:rPr>
                  <a:t>), then </a:t>
                </a:r>
                <a:r>
                  <a:rPr lang="en-IN" sz="2400">
                    <a:solidFill>
                      <a:srgbClr val="78350F"/>
                    </a:solidFill>
                    <a:latin typeface="Cambria Math" panose="02040503050406030204" pitchFamily="18" charset="0"/>
                  </a:rPr>
                  <a:t>$Y$</a:t>
                </a:r>
                <a:r>
                  <a:rPr sz="2400" b="0">
                    <a:solidFill>
                      <a:srgbClr val="78350F"/>
                    </a:solidFill>
                    <a:latin typeface="Arial"/>
                  </a:rPr>
                  <a:t> (avoiding </a:t>
                </a:r>
                <a:r>
                  <a:rPr lang="en-IN" sz="2400">
                    <a:solidFill>
                      <a:srgbClr val="78350F"/>
                    </a:solidFill>
                    <a:latin typeface="Cambria Math" panose="02040503050406030204" pitchFamily="18" charset="0"/>
                  </a:rPr>
                  <a:t>$s_2$</a:t>
                </a:r>
                <a:r>
                  <a:rPr sz="2400" b="0">
                    <a:solidFill>
                      <a:srgbClr val="78350F"/>
                    </a:solidFill>
                    <a:latin typeface="Arial"/>
                  </a:rPr>
                  <a:t>), </a:t>
                </a:r>
                <a:r>
                  <a:rPr lang="en-IN" sz="2400">
                    <a:solidFill>
                      <a:srgbClr val="78350F"/>
                    </a:solidFill>
                    <a:latin typeface="Cambria Math" panose="02040503050406030204" pitchFamily="18" charset="0"/>
                  </a:rPr>
                  <a:t>$Z$</a:t>
                </a:r>
                <a:r>
                  <a:rPr sz="2400" b="0">
                    <a:solidFill>
                      <a:srgbClr val="78350F"/>
                    </a:solidFill>
                    <a:latin typeface="Arial"/>
                  </a:rPr>
                  <a:t> is the rest.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is a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-subset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9</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choices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is any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the remaining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choices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among the remaining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but cannot be in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comes from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is a </a:t>
                </a:r>
                <a:r>
                  <a:rPr lang="en-IN" sz="2400">
                    <a:solidFill>
                      <a:srgbClr val="111827"/>
                    </a:solidFill>
                    <a:latin typeface="Cambria Math" panose="02040503050406030204" pitchFamily="18" charset="0"/>
                  </a:rPr>
                  <a:t>$2$</a:t>
                </a:r>
                <a:r>
                  <a:rPr sz="2400" b="0">
                    <a:solidFill>
                      <a:srgbClr val="111827"/>
                    </a:solidFill>
                    <a:latin typeface="Arial"/>
                  </a:rPr>
                  <a:t>-subset of </a:t>
                </a:r>
                <a:r>
                  <a:rPr lang="en-IN" sz="2400">
                    <a:solidFill>
                      <a:srgbClr val="111827"/>
                    </a:solidFill>
                    <a:latin typeface="Cambria Math" panose="02040503050406030204" pitchFamily="18" charset="0"/>
                  </a:rPr>
                  <a:t>$\{s_2,\dots,s_9\}$</a:t>
                </a:r>
                <a:r>
                  <a:rPr sz="2400" b="0">
                    <a:solidFill>
                      <a:srgbClr val="111827"/>
                    </a:solidFill>
                    <a:latin typeface="Arial"/>
                  </a:rPr>
                  <a:t>: </a:t>
                </a:r>
                <a:r>
                  <a:rPr lang="en-IN" sz="2400">
                    <a:solidFill>
                      <a:srgbClr val="111827"/>
                    </a:solidFill>
                    <a:latin typeface="Cambria Math" panose="02040503050406030204" pitchFamily="18" charset="0"/>
                  </a:rPr>
                  <a:t>$\binom82=28$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$s_2\in X$</a:t>
                </a:r>
                <a:r>
                  <a:rPr sz="2400" b="0">
                    <a:solidFill>
                      <a:srgbClr val="111827"/>
                    </a:solidFill>
                    <a:latin typeface="Arial"/>
                  </a:rPr>
                  <a:t>: </a:t>
                </a:r>
                <a:r>
                  <a:rPr lang="en-IN" sz="2400">
                    <a:solidFill>
                      <a:srgbClr val="111827"/>
                    </a:solidFill>
                    <a:latin typeface="Cambria Math" panose="02040503050406030204" pitchFamily="18" charset="0"/>
                  </a:rPr>
                  <a:t>$\binom71=7$</a:t>
                </a:r>
                <a:r>
                  <a:rPr sz="2400" b="0">
                    <a:solidFill>
                      <a:srgbClr val="111827"/>
                    </a:solidFill>
                    <a:latin typeface="Arial"/>
                  </a:rPr>
                  <a:t> choices of </a:t>
                </a:r>
                <a:r>
                  <a:rPr lang="en-IN" sz="2400">
                    <a:solidFill>
                      <a:srgbClr val="111827"/>
                    </a:solidFill>
                    <a:latin typeface="Cambria Math" panose="02040503050406030204" pitchFamily="18" charset="0"/>
                  </a:rPr>
                  <a:t>$X$</a:t>
                </a:r>
                <a:r>
                  <a:rPr sz="2400" b="0">
                    <a:solidFill>
                      <a:srgbClr val="111827"/>
                    </a:solidFill>
                    <a:latin typeface="Arial"/>
                  </a:rPr>
                  <a:t>; then </a:t>
                </a:r>
                <a:r>
                  <a:rPr lang="en-IN" sz="2400">
                    <a:solidFill>
                      <a:srgbClr val="111827"/>
                    </a:solidFill>
                    <a:latin typeface="Cambria Math" panose="02040503050406030204" pitchFamily="18" charset="0"/>
                  </a:rPr>
                  <a:t>$Y$</a:t>
                </a:r>
                <a:r>
                  <a:rPr sz="2400" b="0">
                    <a:solidFill>
                      <a:srgbClr val="111827"/>
                    </a:solidFill>
                    <a:latin typeface="Arial"/>
                  </a:rPr>
                  <a:t> is any </a:t>
                </a:r>
                <a:r>
                  <a:rPr lang="en-IN" sz="2400">
                    <a:solidFill>
                      <a:srgbClr val="111827"/>
                    </a:solidFill>
                    <a:latin typeface="Cambria Math" panose="02040503050406030204" pitchFamily="18" charset="0"/>
                  </a:rPr>
                  <a:t>$3$</a:t>
                </a:r>
                <a:r>
                  <a:rPr sz="2400" b="0">
                    <a:solidFill>
                      <a:srgbClr val="111827"/>
                    </a:solidFill>
                    <a:latin typeface="Arial"/>
                  </a:rPr>
                  <a:t> of the remaining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$\binom73=35$</a:t>
                </a:r>
                <a:r>
                  <a:rPr sz="2400" b="0">
                    <a:solidFill>
                      <a:srgbClr val="111827"/>
                    </a:solidFill>
                    <a:latin typeface="Arial"/>
                  </a:rPr>
                  <a:t>; </a:t>
                </a:r>
                <a:r>
                  <a:rPr lang="en-IN" sz="2400">
                    <a:solidFill>
                      <a:srgbClr val="111827"/>
                    </a:solidFill>
                    <a:latin typeface="Cambria Math" panose="02040503050406030204" pitchFamily="18" charset="0"/>
                  </a:rPr>
                  <a:t>$7\times35=245$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a:t>
                </a:r>
                <a:r>
                  <a:rPr lang="en-IN" sz="2400">
                    <a:solidFill>
                      <a:srgbClr val="111827"/>
                    </a:solidFill>
                    <a:latin typeface="Cambria Math" panose="02040503050406030204" pitchFamily="18" charset="0"/>
                  </a:rPr>
                  <a:t>$s_2\notin X$</a:t>
                </a:r>
                <a:r>
                  <a:rPr sz="2400" b="0">
                    <a:solidFill>
                      <a:srgbClr val="111827"/>
                    </a:solidFill>
                    <a:latin typeface="Arial"/>
                  </a:rPr>
                  <a:t>: </a:t>
                </a:r>
                <a:r>
                  <a:rPr lang="en-IN" sz="2400">
                    <a:solidFill>
                      <a:srgbClr val="111827"/>
                    </a:solidFill>
                    <a:latin typeface="Cambria Math" panose="02040503050406030204" pitchFamily="18" charset="0"/>
                  </a:rPr>
                  <a:t>$\binom72=21$</a:t>
                </a:r>
                <a:r>
                  <a:rPr sz="2400" b="0">
                    <a:solidFill>
                      <a:srgbClr val="111827"/>
                    </a:solidFill>
                    <a:latin typeface="Arial"/>
                  </a:rPr>
                  <a:t> choices of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$s_2$</a:t>
                </a:r>
                <a:r>
                  <a:rPr sz="2400" b="0">
                    <a:solidFill>
                      <a:srgbClr val="111827"/>
                    </a:solidFill>
                    <a:latin typeface="Arial"/>
                  </a:rPr>
                  <a:t> is among the remaining </a:t>
                </a:r>
                <a:r>
                  <a:rPr lang="en-IN" sz="2400">
                    <a:solidFill>
                      <a:srgbClr val="111827"/>
                    </a:solidFill>
                    <a:latin typeface="Cambria Math" panose="02040503050406030204" pitchFamily="18" charset="0"/>
                  </a:rPr>
                  <a:t>$7$</a:t>
                </a:r>
                <a:r>
                  <a:rPr sz="2400" b="0">
                    <a:solidFill>
                      <a:srgbClr val="111827"/>
                    </a:solidFill>
                    <a:latin typeface="Arial"/>
                  </a:rPr>
                  <a:t> but cannot be in </a:t>
                </a:r>
                <a:r>
                  <a:rPr lang="en-IN" sz="2400">
                    <a:solidFill>
                      <a:srgbClr val="111827"/>
                    </a:solidFill>
                    <a:latin typeface="Cambria Math" panose="02040503050406030204" pitchFamily="18" charset="0"/>
                  </a:rPr>
                  <a:t>$Y$</a:t>
                </a:r>
                <a:r>
                  <a:rPr sz="2400" b="0">
                    <a:solidFill>
                      <a:srgbClr val="111827"/>
                    </a:solidFill>
                    <a:latin typeface="Arial"/>
                  </a:rPr>
                  <a:t>, so </a:t>
                </a:r>
                <a:r>
                  <a:rPr lang="en-IN" sz="2400">
                    <a:solidFill>
                      <a:srgbClr val="111827"/>
                    </a:solidFill>
                    <a:latin typeface="Cambria Math" panose="02040503050406030204" pitchFamily="18" charset="0"/>
                  </a:rPr>
                  <a:t>$Y$</a:t>
                </a:r>
                <a:r>
                  <a:rPr sz="2400" b="0">
                    <a:solidFill>
                      <a:srgbClr val="111827"/>
                    </a:solidFill>
                    <a:latin typeface="Arial"/>
                  </a:rPr>
                  <a:t> comes from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$\binom63=20$</a:t>
                </a:r>
                <a:r>
                  <a:rPr sz="2400" b="0">
                    <a:solidFill>
                      <a:srgbClr val="111827"/>
                    </a:solidFill>
                    <a:latin typeface="Arial"/>
                  </a:rPr>
                  <a:t>; </a:t>
                </a:r>
                <a:r>
                  <a:rPr lang="en-IN" sz="2400">
                    <a:solidFill>
                      <a:srgbClr val="111827"/>
                    </a:solidFill>
                    <a:latin typeface="Cambria Math" panose="02040503050406030204" pitchFamily="18" charset="0"/>
                  </a:rPr>
                  <a:t>$21\times20=420$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$=245+420=665$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665</a:t>
            </a:r>
            <a:endParaRPr sz="2800">
              <a:solidFill>
                <a:srgbClr val="15803D"/>
              </a:solidFill>
            </a:endParaR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people into labelled teams of sizes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restriction 'person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not in team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handled by </a:t>
                </a:r>
                <a14:m>
                  <m:oMath xmlns:m="http://schemas.openxmlformats.org/officeDocument/2006/math">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𝑎𝑙𝑙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two restrictions give inclusion–exclusion with the intersection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Casework by whether the second restricted person is already used avoids inclusion–exclusion and serves as a cross-check.</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Divisions of </a:t>
                </a:r>
                <a:r>
                  <a:rPr lang="en-IN" sz="2400">
                    <a:solidFill>
                      <a:srgbClr val="111827"/>
                    </a:solidFill>
                    <a:latin typeface="Cambria Math" panose="02040503050406030204" pitchFamily="18" charset="0"/>
                  </a:rPr>
                  <a:t>$n$</a:t>
                </a:r>
                <a:r>
                  <a:rPr sz="2400" b="0">
                    <a:solidFill>
                      <a:srgbClr val="111827"/>
                    </a:solidFill>
                    <a:latin typeface="Arial"/>
                  </a:rPr>
                  <a:t> distinct people into labelled teams of sizes </a:t>
                </a:r>
                <a:r>
                  <a:rPr lang="en-IN" sz="2400">
                    <a:solidFill>
                      <a:srgbClr val="111827"/>
                    </a:solidFill>
                    <a:latin typeface="Cambria Math" panose="02040503050406030204" pitchFamily="18" charset="0"/>
                  </a:rPr>
                  <a:t>$a,b,c$</a:t>
                </a:r>
                <a:r>
                  <a:rPr sz="2400" b="0">
                    <a:solidFill>
                      <a:srgbClr val="111827"/>
                    </a:solidFill>
                    <a:latin typeface="Arial"/>
                  </a:rPr>
                  <a:t>: </a:t>
                </a:r>
                <a:r>
                  <a:rPr lang="en-IN" sz="2400">
                    <a:solidFill>
                      <a:srgbClr val="111827"/>
                    </a:solidFill>
                    <a:latin typeface="Cambria Math" panose="02040503050406030204" pitchFamily="18" charset="0"/>
                  </a:rPr>
                  <a:t>$\frac{n!}{a!\,b!\,c!}$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restriction 'person </a:t>
                </a:r>
                <a:r>
                  <a:rPr lang="en-IN" sz="2400">
                    <a:solidFill>
                      <a:srgbClr val="111827"/>
                    </a:solidFill>
                    <a:latin typeface="Cambria Math" panose="02040503050406030204" pitchFamily="18" charset="0"/>
                  </a:rPr>
                  <a:t>$p$</a:t>
                </a:r>
                <a:r>
                  <a:rPr sz="2400" b="0">
                    <a:solidFill>
                      <a:srgbClr val="111827"/>
                    </a:solidFill>
                    <a:latin typeface="Arial"/>
                  </a:rPr>
                  <a:t> not in team </a:t>
                </a:r>
                <a:r>
                  <a:rPr lang="en-IN" sz="2400">
                    <a:solidFill>
                      <a:srgbClr val="111827"/>
                    </a:solidFill>
                    <a:latin typeface="Cambria Math" panose="02040503050406030204" pitchFamily="18" charset="0"/>
                  </a:rPr>
                  <a:t>$T$</a:t>
                </a:r>
                <a:r>
                  <a:rPr sz="2400" b="0">
                    <a:solidFill>
                      <a:srgbClr val="111827"/>
                    </a:solidFill>
                    <a:latin typeface="Arial"/>
                  </a:rPr>
                  <a:t>' is handled by </a:t>
                </a:r>
                <a:r>
                  <a:rPr lang="en-IN" sz="2400">
                    <a:solidFill>
                      <a:srgbClr val="111827"/>
                    </a:solidFill>
                    <a:latin typeface="Cambria Math" panose="02040503050406030204" pitchFamily="18" charset="0"/>
                  </a:rPr>
                  <a:t>$|\text{all}|-|p\in T|$</a:t>
                </a:r>
                <a:r>
                  <a:rPr sz="2400" b="0">
                    <a:solidFill>
                      <a:srgbClr val="111827"/>
                    </a:solidFill>
                    <a:latin typeface="Arial"/>
                  </a:rPr>
                  <a:t>; two restrictions give inclusion–exclusion with the intersection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Casework by whether the second restricted person is already used avoids inclusion–exclusion and serves as a cross-check.</a:t>
                </a:r>
                <a:endParaRPr sz="2400">
                  <a:solidFill>
                    <a:srgbClr val="111827"/>
                  </a:solidFill>
                </a:endParaRPr>
              </a:p>
            </p:txBody>
          </p:sp>
        </mc:Fallback>
      </mc:AlternateContent>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CC4125"/>
          </a:solidFill>
          <a:ln w="19050">
            <a:solidFill>
              <a:srgbClr val="FFFFFF"/>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18288"/>
          <a:lstStyle>
            <a:lvl1pPr>
              <a:defRPr sz="2400">
                <a:solidFill>
                  <a:srgbClr val="FFFFFF"/>
                </a:solidFill>
              </a:defRPr>
            </a:lvl1pPr>
          </a:lstStyle>
          <a:p>
            <a:pPr algn="ctr">
              <a:defRPr sz="2400">
                <a:solidFill>
                  <a:srgbClr val="FFFFFF"/>
                </a:solidFill>
              </a:defRPr>
            </a:pPr>
            <a:r>
              <a:rPr sz="2400" b="1">
                <a:solidFill>
                  <a:srgbClr val="FFFFFF"/>
                </a:solidFill>
                <a:latin typeface="Arial"/>
              </a:rPr>
              <a:t>Level 5  ·  4 Marks</a:t>
            </a:r>
            <a:endParaRPr sz="2400">
              <a:solidFill>
                <a:srgbClr val="FFFFFF"/>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be the set of all seven-digit numbers that can be formed using the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For example, </a:t>
                </a:r>
                <a14:m>
                  <m:oMath xmlns:m="http://schemas.openxmlformats.org/officeDocument/2006/math">
                    <m:r>
                      <a:rPr lang="en-IN" sz="2400" i="1">
                        <a:solidFill>
                          <a:srgbClr val="111827"/>
                        </a:solidFill>
                        <a:latin typeface="Cambria Math" panose="02040503050406030204" pitchFamily="18" charset="0"/>
                      </a:rPr>
                      <m:t>2210222</m:t>
                    </m:r>
                  </m:oMath>
                </a14:m>
                <a:r>
                  <a:rPr sz="2400" b="0">
                    <a:solidFill>
                      <a:srgbClr val="111827"/>
                    </a:solidFill>
                    <a:latin typeface="Arial"/>
                  </a:rPr>
                  <a:t> is in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0210222</m:t>
                    </m:r>
                  </m:oMath>
                </a14:m>
                <a:r>
                  <a:rPr sz="2400" b="0">
                    <a:solidFill>
                      <a:srgbClr val="111827"/>
                    </a:solidFill>
                    <a:latin typeface="Arial"/>
                  </a:rPr>
                  <a:t> is NOT in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Then the number of elements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such that at least one of the digits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appears exactly twice in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equal to ______. [JEE (Adv) 2025]</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a:t>
                </a:r>
                <a:r>
                  <a:rPr sz="2400" b="0">
                    <a:solidFill>
                      <a:srgbClr val="111827"/>
                    </a:solidFill>
                    <a:latin typeface="Arial"/>
                  </a:rPr>
                  <a:t> be the set of all seven-digit numbers that can be formed using the digits </a:t>
                </a:r>
                <a:r>
                  <a:rPr lang="en-IN" sz="2400">
                    <a:solidFill>
                      <a:srgbClr val="111827"/>
                    </a:solidFill>
                    <a:latin typeface="Cambria Math" panose="02040503050406030204" pitchFamily="18" charset="0"/>
                  </a:rPr>
                  <a:t>$0,1$</a:t>
                </a:r>
                <a:r>
                  <a:rPr sz="2400" b="0">
                    <a:solidFill>
                      <a:srgbClr val="111827"/>
                    </a:solidFill>
                    <a:latin typeface="Arial"/>
                  </a:rPr>
                  <a:t> and </a:t>
                </a:r>
                <a:r>
                  <a:rPr lang="en-IN" sz="2400">
                    <a:solidFill>
                      <a:srgbClr val="111827"/>
                    </a:solidFill>
                    <a:latin typeface="Cambria Math" panose="02040503050406030204" pitchFamily="18" charset="0"/>
                  </a:rPr>
                  <a:t>$2$</a:t>
                </a:r>
                <a:r>
                  <a:rPr sz="2400" b="0">
                    <a:solidFill>
                      <a:srgbClr val="111827"/>
                    </a:solidFill>
                    <a:latin typeface="Arial"/>
                  </a:rPr>
                  <a:t>. For example, </a:t>
                </a:r>
                <a:r>
                  <a:rPr lang="en-IN" sz="2400">
                    <a:solidFill>
                      <a:srgbClr val="111827"/>
                    </a:solidFill>
                    <a:latin typeface="Cambria Math" panose="02040503050406030204" pitchFamily="18" charset="0"/>
                  </a:rPr>
                  <a:t>$2210222$</a:t>
                </a:r>
                <a:r>
                  <a:rPr sz="2400" b="0">
                    <a:solidFill>
                      <a:srgbClr val="111827"/>
                    </a:solidFill>
                    <a:latin typeface="Arial"/>
                  </a:rPr>
                  <a:t> is in </a:t>
                </a:r>
                <a:r>
                  <a:rPr lang="en-IN" sz="2400">
                    <a:solidFill>
                      <a:srgbClr val="111827"/>
                    </a:solidFill>
                    <a:latin typeface="Cambria Math" panose="02040503050406030204" pitchFamily="18" charset="0"/>
                  </a:rPr>
                  <a:t>$S$</a:t>
                </a:r>
                <a:r>
                  <a:rPr sz="2400" b="0">
                    <a:solidFill>
                      <a:srgbClr val="111827"/>
                    </a:solidFill>
                    <a:latin typeface="Arial"/>
                  </a:rPr>
                  <a:t>, but </a:t>
                </a:r>
                <a:r>
                  <a:rPr lang="en-IN" sz="2400">
                    <a:solidFill>
                      <a:srgbClr val="111827"/>
                    </a:solidFill>
                    <a:latin typeface="Cambria Math" panose="02040503050406030204" pitchFamily="18" charset="0"/>
                  </a:rPr>
                  <a:t>$0210222$</a:t>
                </a:r>
                <a:r>
                  <a:rPr sz="2400" b="0">
                    <a:solidFill>
                      <a:srgbClr val="111827"/>
                    </a:solidFill>
                    <a:latin typeface="Arial"/>
                  </a:rPr>
                  <a:t> is NOT in </a:t>
                </a:r>
                <a:r>
                  <a:rPr lang="en-IN" sz="2400">
                    <a:solidFill>
                      <a:srgbClr val="111827"/>
                    </a:solidFill>
                    <a:latin typeface="Cambria Math" panose="02040503050406030204" pitchFamily="18" charset="0"/>
                  </a:rPr>
                  <a:t>$S$</a:t>
                </a:r>
                <a:r>
                  <a:rPr sz="2400" b="0">
                    <a:solidFill>
                      <a:srgbClr val="111827"/>
                    </a:solidFill>
                    <a:latin typeface="Arial"/>
                  </a:rPr>
                  <a:t>. Then the number of elements </a:t>
                </a:r>
                <a:r>
                  <a:rPr lang="en-IN" sz="2400">
                    <a:solidFill>
                      <a:srgbClr val="111827"/>
                    </a:solidFill>
                    <a:latin typeface="Cambria Math" panose="02040503050406030204" pitchFamily="18" charset="0"/>
                  </a:rPr>
                  <a:t>$x$</a:t>
                </a:r>
                <a:r>
                  <a:rPr sz="2400" b="0">
                    <a:solidFill>
                      <a:srgbClr val="111827"/>
                    </a:solidFill>
                    <a:latin typeface="Arial"/>
                  </a:rPr>
                  <a:t> in </a:t>
                </a:r>
                <a:r>
                  <a:rPr lang="en-IN" sz="2400">
                    <a:solidFill>
                      <a:srgbClr val="111827"/>
                    </a:solidFill>
                    <a:latin typeface="Cambria Math" panose="02040503050406030204" pitchFamily="18" charset="0"/>
                  </a:rPr>
                  <a:t>$S$</a:t>
                </a:r>
                <a:r>
                  <a:rPr sz="2400" b="0">
                    <a:solidFill>
                      <a:srgbClr val="111827"/>
                    </a:solidFill>
                    <a:latin typeface="Arial"/>
                  </a:rPr>
                  <a:t> such that at least one of the digits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$1$</a:t>
                </a:r>
                <a:r>
                  <a:rPr sz="2400" b="0">
                    <a:solidFill>
                      <a:srgbClr val="111827"/>
                    </a:solidFill>
                    <a:latin typeface="Arial"/>
                  </a:rPr>
                  <a:t> appears exactly twice in </a:t>
                </a:r>
                <a:r>
                  <a:rPr lang="en-IN" sz="2400">
                    <a:solidFill>
                      <a:srgbClr val="111827"/>
                    </a:solidFill>
                    <a:latin typeface="Cambria Math" panose="02040503050406030204" pitchFamily="18" charset="0"/>
                  </a:rPr>
                  <a:t>$x$</a:t>
                </a:r>
                <a:r>
                  <a:rPr sz="2400" b="0">
                    <a:solidFill>
                      <a:srgbClr val="111827"/>
                    </a:solidFill>
                    <a:latin typeface="Arial"/>
                  </a:rPr>
                  <a:t>, is equal to ______. [JEE (Adv) 2025]</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numbers with restricted digit frequencies, Inclusion–exclusion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5(Very difficult than JEE Advanced)</a:t>
            </a:r>
            <a:endParaRPr sz="2400">
              <a:solidFill>
                <a:srgbClr val="111827"/>
              </a:solidFill>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CC4125"/>
          </a:solidFill>
          <a:ln w="19050">
            <a:solidFill>
              <a:srgbClr val="FFFFFF"/>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18288"/>
          <a:lstStyle>
            <a:lvl1pPr>
              <a:defRPr sz="2400">
                <a:solidFill>
                  <a:srgbClr val="FFFFFF"/>
                </a:solidFill>
              </a:defRPr>
            </a:lvl1pPr>
          </a:lstStyle>
          <a:p>
            <a:pPr algn="ctr">
              <a:defRPr sz="2400">
                <a:solidFill>
                  <a:srgbClr val="FFFFFF"/>
                </a:solidFill>
              </a:defRPr>
            </a:pPr>
            <a:r>
              <a:rPr sz="2400" b="1">
                <a:solidFill>
                  <a:srgbClr val="FFFFFF"/>
                </a:solidFill>
                <a:latin typeface="Arial"/>
              </a:rPr>
              <a:t>Level 5  ·  4 Marks</a:t>
            </a:r>
            <a:endParaRPr sz="2400">
              <a:solidFill>
                <a:srgbClr val="FFFFFF"/>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appears exactly twice,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appears exactly twice, minding the leading digit.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r>
                  <a:rPr lang="en-IN" sz="2400">
                    <a:solidFill>
                      <a:srgbClr val="78350F"/>
                    </a:solidFill>
                    <a:latin typeface="Cambria Math" panose="02040503050406030204" pitchFamily="18" charset="0"/>
                  </a:rPr>
                  <a:t>$|A\cup B|=|A|+|B|-|A\cap B|$</a:t>
                </a:r>
                <a:r>
                  <a:rPr sz="2400" b="0">
                    <a:solidFill>
                      <a:srgbClr val="78350F"/>
                    </a:solidFill>
                    <a:latin typeface="Arial"/>
                  </a:rPr>
                  <a:t> with </a:t>
                </a:r>
                <a:r>
                  <a:rPr lang="en-IN" sz="2400">
                    <a:solidFill>
                      <a:srgbClr val="78350F"/>
                    </a:solidFill>
                    <a:latin typeface="Cambria Math" panose="02040503050406030204" pitchFamily="18" charset="0"/>
                  </a:rPr>
                  <a:t>$A$</a:t>
                </a:r>
                <a:r>
                  <a:rPr sz="2400" b="0">
                    <a:solidFill>
                      <a:srgbClr val="78350F"/>
                    </a:solidFill>
                    <a:latin typeface="Arial"/>
                  </a:rPr>
                  <a:t>: </a:t>
                </a:r>
                <a:r>
                  <a:rPr lang="en-IN" sz="2400">
                    <a:solidFill>
                      <a:srgbClr val="78350F"/>
                    </a:solidFill>
                    <a:latin typeface="Cambria Math" panose="02040503050406030204" pitchFamily="18" charset="0"/>
                  </a:rPr>
                  <a:t>$0$</a:t>
                </a:r>
                <a:r>
                  <a:rPr sz="2400" b="0">
                    <a:solidFill>
                      <a:srgbClr val="78350F"/>
                    </a:solidFill>
                    <a:latin typeface="Arial"/>
                  </a:rPr>
                  <a:t> appears exactly twice, </a:t>
                </a:r>
                <a:r>
                  <a:rPr lang="en-IN" sz="2400">
                    <a:solidFill>
                      <a:srgbClr val="78350F"/>
                    </a:solidFill>
                    <a:latin typeface="Cambria Math" panose="02040503050406030204" pitchFamily="18" charset="0"/>
                  </a:rPr>
                  <a:t>$B$</a:t>
                </a:r>
                <a:r>
                  <a:rPr sz="2400" b="0">
                    <a:solidFill>
                      <a:srgbClr val="78350F"/>
                    </a:solidFill>
                    <a:latin typeface="Arial"/>
                  </a:rPr>
                  <a:t>: </a:t>
                </a:r>
                <a:r>
                  <a:rPr lang="en-IN" sz="2400">
                    <a:solidFill>
                      <a:srgbClr val="78350F"/>
                    </a:solidFill>
                    <a:latin typeface="Cambria Math" panose="02040503050406030204" pitchFamily="18" charset="0"/>
                  </a:rPr>
                  <a:t>$1$</a:t>
                </a:r>
                <a:r>
                  <a:rPr sz="2400" b="0">
                    <a:solidFill>
                      <a:srgbClr val="78350F"/>
                    </a:solidFill>
                    <a:latin typeface="Arial"/>
                  </a:rPr>
                  <a:t> appears exactly twice, minding the leading digit.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appears exactly twice;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appears exactly twice. We need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first digit is never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two zeros occupy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the last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places: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 other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places hold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first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exactly one more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among the last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places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m:t>
                            </m:r>
                          </m:den>
                        </m:f>
                      </m:e>
                    </m:d>
                  </m:oMath>
                </a14:m>
                <a:r>
                  <a:rPr sz="2400" b="0">
                    <a:solidFill>
                      <a:srgbClr val="111827"/>
                    </a:solidFill>
                    <a:latin typeface="Arial"/>
                  </a:rPr>
                  <a:t>), the other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places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first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two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's in the last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places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 other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places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$0$</a:t>
                </a:r>
                <a:r>
                  <a:rPr sz="2400" b="0">
                    <a:solidFill>
                      <a:srgbClr val="111827"/>
                    </a:solidFill>
                    <a:latin typeface="Arial"/>
                  </a:rPr>
                  <a:t> appears exactly twice;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appears exactly twice. We need </a:t>
                </a:r>
                <a:r>
                  <a:rPr lang="en-IN" sz="2400">
                    <a:solidFill>
                      <a:srgbClr val="111827"/>
                    </a:solidFill>
                    <a:latin typeface="Cambria Math" panose="02040503050406030204" pitchFamily="18" charset="0"/>
                  </a:rPr>
                  <a:t>$|A|+|B|-|A\cap B|$</a:t>
                </a:r>
                <a:r>
                  <a:rPr sz="2400" b="0">
                    <a:solidFill>
                      <a:srgbClr val="111827"/>
                    </a:solidFill>
                    <a:latin typeface="Arial"/>
                  </a:rPr>
                  <a:t> (the first digit is never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the two zeros occupy </a:t>
                </a:r>
                <a:r>
                  <a:rPr lang="en-IN" sz="2400">
                    <a:solidFill>
                      <a:srgbClr val="111827"/>
                    </a:solidFill>
                    <a:latin typeface="Cambria Math" panose="02040503050406030204" pitchFamily="18" charset="0"/>
                  </a:rPr>
                  <a:t>$2$</a:t>
                </a:r>
                <a:r>
                  <a:rPr sz="2400" b="0">
                    <a:solidFill>
                      <a:srgbClr val="111827"/>
                    </a:solidFill>
                    <a:latin typeface="Arial"/>
                  </a:rPr>
                  <a:t> of the last </a:t>
                </a:r>
                <a:r>
                  <a:rPr lang="en-IN" sz="2400">
                    <a:solidFill>
                      <a:srgbClr val="111827"/>
                    </a:solidFill>
                    <a:latin typeface="Cambria Math" panose="02040503050406030204" pitchFamily="18" charset="0"/>
                  </a:rPr>
                  <a:t>$6$</a:t>
                </a:r>
                <a:r>
                  <a:rPr sz="2400" b="0">
                    <a:solidFill>
                      <a:srgbClr val="111827"/>
                    </a:solidFill>
                    <a:latin typeface="Arial"/>
                  </a:rPr>
                  <a:t> places: </a:t>
                </a:r>
                <a:r>
                  <a:rPr lang="en-IN" sz="2400">
                    <a:solidFill>
                      <a:srgbClr val="111827"/>
                    </a:solidFill>
                    <a:latin typeface="Cambria Math" panose="02040503050406030204" pitchFamily="18" charset="0"/>
                  </a:rPr>
                  <a:t>$\binom62$</a:t>
                </a:r>
                <a:r>
                  <a:rPr sz="2400" b="0">
                    <a:solidFill>
                      <a:srgbClr val="111827"/>
                    </a:solidFill>
                    <a:latin typeface="Arial"/>
                  </a:rPr>
                  <a:t>; the other </a:t>
                </a:r>
                <a:r>
                  <a:rPr lang="en-IN" sz="2400">
                    <a:solidFill>
                      <a:srgbClr val="111827"/>
                    </a:solidFill>
                    <a:latin typeface="Cambria Math" panose="02040503050406030204" pitchFamily="18" charset="0"/>
                  </a:rPr>
                  <a:t>$5$</a:t>
                </a:r>
                <a:r>
                  <a:rPr sz="2400" b="0">
                    <a:solidFill>
                      <a:srgbClr val="111827"/>
                    </a:solidFill>
                    <a:latin typeface="Arial"/>
                  </a:rPr>
                  <a:t> places hold </a:t>
                </a:r>
                <a:r>
                  <a:rPr lang="en-IN" sz="2400">
                    <a:solidFill>
                      <a:srgbClr val="111827"/>
                    </a:solidFill>
                    <a:latin typeface="Cambria Math" panose="02040503050406030204" pitchFamily="18" charset="0"/>
                  </a:rPr>
                  <a:t>$1$</a:t>
                </a:r>
                <a:r>
                  <a:rPr sz="2400" b="0">
                    <a:solidFill>
                      <a:srgbClr val="111827"/>
                    </a:solidFill>
                    <a:latin typeface="Arial"/>
                  </a:rPr>
                  <a:t> or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$|A|=15\times32=480$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first digit </a:t>
                </a:r>
                <a:r>
                  <a:rPr lang="en-IN" sz="2400">
                    <a:solidFill>
                      <a:srgbClr val="111827"/>
                    </a:solidFill>
                    <a:latin typeface="Cambria Math" panose="02040503050406030204" pitchFamily="18" charset="0"/>
                  </a:rPr>
                  <a:t>$1$</a:t>
                </a:r>
                <a:r>
                  <a:rPr sz="2400" b="0">
                    <a:solidFill>
                      <a:srgbClr val="111827"/>
                    </a:solidFill>
                    <a:latin typeface="Arial"/>
                  </a:rPr>
                  <a:t>: exactly one more </a:t>
                </a:r>
                <a:r>
                  <a:rPr lang="en-IN" sz="2400">
                    <a:solidFill>
                      <a:srgbClr val="111827"/>
                    </a:solidFill>
                    <a:latin typeface="Cambria Math" panose="02040503050406030204" pitchFamily="18" charset="0"/>
                  </a:rPr>
                  <a:t>$1$</a:t>
                </a:r>
                <a:r>
                  <a:rPr sz="2400" b="0">
                    <a:solidFill>
                      <a:srgbClr val="111827"/>
                    </a:solidFill>
                    <a:latin typeface="Arial"/>
                  </a:rPr>
                  <a:t> among the last </a:t>
                </a:r>
                <a:r>
                  <a:rPr lang="en-IN" sz="2400">
                    <a:solidFill>
                      <a:srgbClr val="111827"/>
                    </a:solidFill>
                    <a:latin typeface="Cambria Math" panose="02040503050406030204" pitchFamily="18" charset="0"/>
                  </a:rPr>
                  <a:t>$6$</a:t>
                </a:r>
                <a:r>
                  <a:rPr sz="2400" b="0">
                    <a:solidFill>
                      <a:srgbClr val="111827"/>
                    </a:solidFill>
                    <a:latin typeface="Arial"/>
                  </a:rPr>
                  <a:t> places (</a:t>
                </a:r>
                <a:r>
                  <a:rPr lang="en-IN" sz="2400">
                    <a:solidFill>
                      <a:srgbClr val="111827"/>
                    </a:solidFill>
                    <a:latin typeface="Cambria Math" panose="02040503050406030204" pitchFamily="18" charset="0"/>
                  </a:rPr>
                  <a:t>$\binom61$</a:t>
                </a:r>
                <a:r>
                  <a:rPr sz="2400" b="0">
                    <a:solidFill>
                      <a:srgbClr val="111827"/>
                    </a:solidFill>
                    <a:latin typeface="Arial"/>
                  </a:rPr>
                  <a:t>), the other </a:t>
                </a:r>
                <a:r>
                  <a:rPr lang="en-IN" sz="2400">
                    <a:solidFill>
                      <a:srgbClr val="111827"/>
                    </a:solidFill>
                    <a:latin typeface="Cambria Math" panose="02040503050406030204" pitchFamily="18" charset="0"/>
                  </a:rPr>
                  <a:t>$5$</a:t>
                </a:r>
                <a:r>
                  <a:rPr sz="2400" b="0">
                    <a:solidFill>
                      <a:srgbClr val="111827"/>
                    </a:solidFill>
                    <a:latin typeface="Arial"/>
                  </a:rPr>
                  <a:t> places from </a:t>
                </a:r>
                <a:r>
                  <a:rPr lang="en-IN" sz="2400">
                    <a:solidFill>
                      <a:srgbClr val="111827"/>
                    </a:solidFill>
                    <a:latin typeface="Cambria Math" panose="02040503050406030204" pitchFamily="18" charset="0"/>
                  </a:rPr>
                  <a:t>$\{0,2\}$</a:t>
                </a:r>
                <a:r>
                  <a:rPr sz="2400" b="0">
                    <a:solidFill>
                      <a:srgbClr val="111827"/>
                    </a:solidFill>
                    <a:latin typeface="Arial"/>
                  </a:rPr>
                  <a:t>: </a:t>
                </a:r>
                <a:r>
                  <a:rPr lang="en-IN" sz="2400">
                    <a:solidFill>
                      <a:srgbClr val="111827"/>
                    </a:solidFill>
                    <a:latin typeface="Cambria Math" panose="02040503050406030204" pitchFamily="18" charset="0"/>
                  </a:rPr>
                  <a:t>$6\times32=192$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first digit </a:t>
                </a:r>
                <a:r>
                  <a:rPr lang="en-IN" sz="2400">
                    <a:solidFill>
                      <a:srgbClr val="111827"/>
                    </a:solidFill>
                    <a:latin typeface="Cambria Math" panose="02040503050406030204" pitchFamily="18" charset="0"/>
                  </a:rPr>
                  <a:t>$2$</a:t>
                </a:r>
                <a:r>
                  <a:rPr sz="2400" b="0">
                    <a:solidFill>
                      <a:srgbClr val="111827"/>
                    </a:solidFill>
                    <a:latin typeface="Arial"/>
                  </a:rPr>
                  <a:t>: two </a:t>
                </a:r>
                <a:r>
                  <a:rPr lang="en-IN" sz="2400">
                    <a:solidFill>
                      <a:srgbClr val="111827"/>
                    </a:solidFill>
                    <a:latin typeface="Cambria Math" panose="02040503050406030204" pitchFamily="18" charset="0"/>
                  </a:rPr>
                  <a:t>$1$</a:t>
                </a:r>
                <a:r>
                  <a:rPr sz="2400" b="0">
                    <a:solidFill>
                      <a:srgbClr val="111827"/>
                    </a:solidFill>
                    <a:latin typeface="Arial"/>
                  </a:rPr>
                  <a:t>'s in the last </a:t>
                </a:r>
                <a:r>
                  <a:rPr lang="en-IN" sz="2400">
                    <a:solidFill>
                      <a:srgbClr val="111827"/>
                    </a:solidFill>
                    <a:latin typeface="Cambria Math" panose="02040503050406030204" pitchFamily="18" charset="0"/>
                  </a:rPr>
                  <a:t>$6$</a:t>
                </a:r>
                <a:r>
                  <a:rPr sz="2400" b="0">
                    <a:solidFill>
                      <a:srgbClr val="111827"/>
                    </a:solidFill>
                    <a:latin typeface="Arial"/>
                  </a:rPr>
                  <a:t> places (</a:t>
                </a:r>
                <a:r>
                  <a:rPr lang="en-IN" sz="2400">
                    <a:solidFill>
                      <a:srgbClr val="111827"/>
                    </a:solidFill>
                    <a:latin typeface="Cambria Math" panose="02040503050406030204" pitchFamily="18" charset="0"/>
                  </a:rPr>
                  <a:t>$\binom62$</a:t>
                </a:r>
                <a:r>
                  <a:rPr sz="2400" b="0">
                    <a:solidFill>
                      <a:srgbClr val="111827"/>
                    </a:solidFill>
                    <a:latin typeface="Arial"/>
                  </a:rPr>
                  <a:t>), the other </a:t>
                </a:r>
                <a:r>
                  <a:rPr lang="en-IN" sz="2400">
                    <a:solidFill>
                      <a:srgbClr val="111827"/>
                    </a:solidFill>
                    <a:latin typeface="Cambria Math" panose="02040503050406030204" pitchFamily="18" charset="0"/>
                  </a:rPr>
                  <a:t>$4$</a:t>
                </a:r>
                <a:r>
                  <a:rPr sz="2400" b="0">
                    <a:solidFill>
                      <a:srgbClr val="111827"/>
                    </a:solidFill>
                    <a:latin typeface="Arial"/>
                  </a:rPr>
                  <a:t> places from </a:t>
                </a:r>
                <a:r>
                  <a:rPr lang="en-IN" sz="2400">
                    <a:solidFill>
                      <a:srgbClr val="111827"/>
                    </a:solidFill>
                    <a:latin typeface="Cambria Math" panose="02040503050406030204" pitchFamily="18" charset="0"/>
                  </a:rPr>
                  <a:t>$\{0,2\}$</a:t>
                </a:r>
                <a:r>
                  <a:rPr sz="2400" b="0">
                    <a:solidFill>
                      <a:srgbClr val="111827"/>
                    </a:solidFill>
                    <a:latin typeface="Arial"/>
                  </a:rPr>
                  <a:t>: </a:t>
                </a:r>
                <a:r>
                  <a:rPr lang="en-IN" sz="2400">
                    <a:solidFill>
                      <a:srgbClr val="111827"/>
                    </a:solidFill>
                    <a:latin typeface="Cambria Math" panose="02040503050406030204" pitchFamily="18" charset="0"/>
                  </a:rPr>
                  <a:t>$15\times16=240$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$|B|=192+240=432$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CC4125"/>
          </a:solidFill>
          <a:ln w="19050">
            <a:solidFill>
              <a:srgbClr val="FFFFFF"/>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18288"/>
          <a:lstStyle>
            <a:lvl1pPr>
              <a:defRPr sz="2400">
                <a:solidFill>
                  <a:srgbClr val="FFFFFF"/>
                </a:solidFill>
              </a:defRPr>
            </a:lvl1pPr>
          </a:lstStyle>
          <a:p>
            <a:pPr algn="ctr">
              <a:defRPr sz="2400">
                <a:solidFill>
                  <a:srgbClr val="FFFFFF"/>
                </a:solidFill>
              </a:defRPr>
            </a:pPr>
            <a:r>
              <a:rPr sz="2400" b="1">
                <a:solidFill>
                  <a:srgbClr val="FFFFFF"/>
                </a:solidFill>
                <a:latin typeface="Arial"/>
              </a:rPr>
              <a:t>Level 5  ·  4 Marks</a:t>
            </a:r>
            <a:endParaRPr sz="2400">
              <a:solidFill>
                <a:srgbClr val="FFFFFF"/>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first digit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last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places hold two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s, one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three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first digit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the last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places hold two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s, two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s and two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a:t>
                </a:r>
                <a:r>
                  <a:rPr sz="2400" b="0">
                    <a:solidFill>
                      <a:srgbClr val="111827"/>
                    </a:solidFill>
                    <a:latin typeface="Arial"/>
                  </a:rPr>
                  <a:t>, first digit </a:t>
                </a:r>
                <a:r>
                  <a:rPr lang="en-IN" sz="2400">
                    <a:solidFill>
                      <a:srgbClr val="111827"/>
                    </a:solidFill>
                    <a:latin typeface="Cambria Math" panose="02040503050406030204" pitchFamily="18" charset="0"/>
                  </a:rPr>
                  <a:t>$1$</a:t>
                </a:r>
                <a:r>
                  <a:rPr sz="2400" b="0">
                    <a:solidFill>
                      <a:srgbClr val="111827"/>
                    </a:solidFill>
                    <a:latin typeface="Arial"/>
                  </a:rPr>
                  <a:t>: the last </a:t>
                </a:r>
                <a:r>
                  <a:rPr lang="en-IN" sz="2400">
                    <a:solidFill>
                      <a:srgbClr val="111827"/>
                    </a:solidFill>
                    <a:latin typeface="Cambria Math" panose="02040503050406030204" pitchFamily="18" charset="0"/>
                  </a:rPr>
                  <a:t>$6$</a:t>
                </a:r>
                <a:r>
                  <a:rPr sz="2400" b="0">
                    <a:solidFill>
                      <a:srgbClr val="111827"/>
                    </a:solidFill>
                    <a:latin typeface="Arial"/>
                  </a:rPr>
                  <a:t> places hold two </a:t>
                </a:r>
                <a:r>
                  <a:rPr lang="en-IN" sz="2400">
                    <a:solidFill>
                      <a:srgbClr val="111827"/>
                    </a:solidFill>
                    <a:latin typeface="Cambria Math" panose="02040503050406030204" pitchFamily="18" charset="0"/>
                  </a:rPr>
                  <a:t>$0$</a:t>
                </a:r>
                <a:r>
                  <a:rPr sz="2400" b="0">
                    <a:solidFill>
                      <a:srgbClr val="111827"/>
                    </a:solidFill>
                    <a:latin typeface="Arial"/>
                  </a:rPr>
                  <a:t>s, one </a:t>
                </a:r>
                <a:r>
                  <a:rPr lang="en-IN" sz="2400">
                    <a:solidFill>
                      <a:srgbClr val="111827"/>
                    </a:solidFill>
                    <a:latin typeface="Cambria Math" panose="02040503050406030204" pitchFamily="18" charset="0"/>
                  </a:rPr>
                  <a:t>$1$</a:t>
                </a:r>
                <a:r>
                  <a:rPr sz="2400" b="0">
                    <a:solidFill>
                      <a:srgbClr val="111827"/>
                    </a:solidFill>
                    <a:latin typeface="Arial"/>
                  </a:rPr>
                  <a:t> and three </a:t>
                </a:r>
                <a:r>
                  <a:rPr lang="en-IN" sz="2400">
                    <a:solidFill>
                      <a:srgbClr val="111827"/>
                    </a:solidFill>
                    <a:latin typeface="Cambria Math" panose="02040503050406030204" pitchFamily="18" charset="0"/>
                  </a:rPr>
                  <a:t>$2$</a:t>
                </a:r>
                <a:r>
                  <a:rPr sz="2400" b="0">
                    <a:solidFill>
                      <a:srgbClr val="111827"/>
                    </a:solidFill>
                    <a:latin typeface="Arial"/>
                  </a:rPr>
                  <a:t>s: </a:t>
                </a:r>
                <a:r>
                  <a:rPr lang="en-IN" sz="2400">
                    <a:solidFill>
                      <a:srgbClr val="111827"/>
                    </a:solidFill>
                    <a:latin typeface="Cambria Math" panose="02040503050406030204" pitchFamily="18" charset="0"/>
                  </a:rPr>
                  <a:t>$\binom63\binom31=60$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a:t>
                </a:r>
                <a:r>
                  <a:rPr sz="2400" b="0">
                    <a:solidFill>
                      <a:srgbClr val="111827"/>
                    </a:solidFill>
                    <a:latin typeface="Arial"/>
                  </a:rPr>
                  <a:t>, first digit </a:t>
                </a:r>
                <a:r>
                  <a:rPr lang="en-IN" sz="2400">
                    <a:solidFill>
                      <a:srgbClr val="111827"/>
                    </a:solidFill>
                    <a:latin typeface="Cambria Math" panose="02040503050406030204" pitchFamily="18" charset="0"/>
                  </a:rPr>
                  <a:t>$2$</a:t>
                </a:r>
                <a:r>
                  <a:rPr sz="2400" b="0">
                    <a:solidFill>
                      <a:srgbClr val="111827"/>
                    </a:solidFill>
                    <a:latin typeface="Arial"/>
                  </a:rPr>
                  <a:t>: the last </a:t>
                </a:r>
                <a:r>
                  <a:rPr lang="en-IN" sz="2400">
                    <a:solidFill>
                      <a:srgbClr val="111827"/>
                    </a:solidFill>
                    <a:latin typeface="Cambria Math" panose="02040503050406030204" pitchFamily="18" charset="0"/>
                  </a:rPr>
                  <a:t>$6$</a:t>
                </a:r>
                <a:r>
                  <a:rPr sz="2400" b="0">
                    <a:solidFill>
                      <a:srgbClr val="111827"/>
                    </a:solidFill>
                    <a:latin typeface="Arial"/>
                  </a:rPr>
                  <a:t> places hold two </a:t>
                </a:r>
                <a:r>
                  <a:rPr lang="en-IN" sz="2400">
                    <a:solidFill>
                      <a:srgbClr val="111827"/>
                    </a:solidFill>
                    <a:latin typeface="Cambria Math" panose="02040503050406030204" pitchFamily="18" charset="0"/>
                  </a:rPr>
                  <a:t>$0$</a:t>
                </a:r>
                <a:r>
                  <a:rPr sz="2400" b="0">
                    <a:solidFill>
                      <a:srgbClr val="111827"/>
                    </a:solidFill>
                    <a:latin typeface="Arial"/>
                  </a:rPr>
                  <a:t>s, two </a:t>
                </a:r>
                <a:r>
                  <a:rPr lang="en-IN" sz="2400">
                    <a:solidFill>
                      <a:srgbClr val="111827"/>
                    </a:solidFill>
                    <a:latin typeface="Cambria Math" panose="02040503050406030204" pitchFamily="18" charset="0"/>
                  </a:rPr>
                  <a:t>$1$</a:t>
                </a:r>
                <a:r>
                  <a:rPr sz="2400" b="0">
                    <a:solidFill>
                      <a:srgbClr val="111827"/>
                    </a:solidFill>
                    <a:latin typeface="Arial"/>
                  </a:rPr>
                  <a:t>s and two </a:t>
                </a:r>
                <a:r>
                  <a:rPr lang="en-IN" sz="2400">
                    <a:solidFill>
                      <a:srgbClr val="111827"/>
                    </a:solidFill>
                    <a:latin typeface="Cambria Math" panose="02040503050406030204" pitchFamily="18" charset="0"/>
                  </a:rPr>
                  <a:t>$2$</a:t>
                </a:r>
                <a:r>
                  <a:rPr sz="2400" b="0">
                    <a:solidFill>
                      <a:srgbClr val="111827"/>
                    </a:solidFill>
                    <a:latin typeface="Arial"/>
                  </a:rPr>
                  <a:t>s: </a:t>
                </a:r>
                <a:r>
                  <a:rPr lang="en-IN" sz="2400">
                    <a:solidFill>
                      <a:srgbClr val="111827"/>
                    </a:solidFill>
                    <a:latin typeface="Cambria Math" panose="02040503050406030204" pitchFamily="18" charset="0"/>
                  </a:rPr>
                  <a:t>$\frac{6!}{2!\,2!\,2!}=90$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B|=60+90=150$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t>
                </a:r>
                <a:r>
                  <a:rPr lang="en-IN" sz="2400">
                    <a:solidFill>
                      <a:srgbClr val="111827"/>
                    </a:solidFill>
                    <a:latin typeface="Cambria Math" panose="02040503050406030204" pitchFamily="18" charset="0"/>
                  </a:rPr>
                  <a:t>$=480+432-150=762$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762</a:t>
            </a:r>
            <a:endParaRPr sz="2800">
              <a:solidFill>
                <a:srgbClr val="15803D"/>
              </a:solidFill>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CC4125"/>
          </a:solidFill>
          <a:ln w="19050">
            <a:solidFill>
              <a:srgbClr val="FFFFFF"/>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18288"/>
          <a:lstStyle>
            <a:lvl1pPr>
              <a:defRPr sz="2400">
                <a:solidFill>
                  <a:srgbClr val="FFFFFF"/>
                </a:solidFill>
              </a:defRPr>
            </a:lvl1pPr>
          </a:lstStyle>
          <a:p>
            <a:pPr algn="ctr">
              <a:defRPr sz="2400">
                <a:solidFill>
                  <a:srgbClr val="FFFFFF"/>
                </a:solidFill>
              </a:defRPr>
            </a:pPr>
            <a:r>
              <a:rPr sz="2400" b="1">
                <a:solidFill>
                  <a:srgbClr val="FFFFFF"/>
                </a:solidFill>
                <a:latin typeface="Arial"/>
              </a:rPr>
              <a:t>Level 5  ·  4 Marks</a:t>
            </a:r>
            <a:endParaRPr sz="2400">
              <a:solidFill>
                <a:srgbClr val="FFFFFF"/>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Sum over digit-frequency types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0</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using the fact that a fraction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𝑛</m:t>
                            </m:r>
                          </m:e>
                          <m:sub>
                            <m:r>
                              <a:rPr lang="en-IN" sz="2400" i="1">
                                <a:solidFill>
                                  <a:srgbClr val="78350F"/>
                                </a:solidFill>
                                <a:latin typeface="Cambria Math" panose="02040503050406030204" pitchFamily="18" charset="0"/>
                              </a:rPr>
                              <m:t>0</m:t>
                            </m:r>
                          </m:sub>
                        </m:sSub>
                      </m:num>
                      <m:den>
                        <m:r>
                          <a:rPr lang="en-IN" sz="2400" i="1">
                            <a:solidFill>
                              <a:srgbClr val="78350F"/>
                            </a:solidFill>
                            <a:latin typeface="Cambria Math" panose="02040503050406030204" pitchFamily="18" charset="0"/>
                          </a:rPr>
                          <m:t>7</m:t>
                        </m:r>
                      </m:den>
                    </m:f>
                  </m:oMath>
                </a14:m>
                <a:r>
                  <a:rPr sz="2400" b="0">
                    <a:solidFill>
                      <a:srgbClr val="78350F"/>
                    </a:solidFill>
                    <a:latin typeface="Arial"/>
                  </a:rPr>
                  <a:t> of all arrangements has a non-zero first digit.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Sum over digit-frequency types </a:t>
                </a:r>
                <a:r>
                  <a:rPr lang="en-IN" sz="2400">
                    <a:solidFill>
                      <a:srgbClr val="78350F"/>
                    </a:solidFill>
                    <a:latin typeface="Cambria Math" panose="02040503050406030204" pitchFamily="18" charset="0"/>
                  </a:rPr>
                  <a:t>$(n_0,n_1,n_2)$</a:t>
                </a:r>
                <a:r>
                  <a:rPr sz="2400" b="0">
                    <a:solidFill>
                      <a:srgbClr val="78350F"/>
                    </a:solidFill>
                    <a:latin typeface="Arial"/>
                  </a:rPr>
                  <a:t> using the fact that a fraction </a:t>
                </a:r>
                <a:r>
                  <a:rPr lang="en-IN" sz="2400">
                    <a:solidFill>
                      <a:srgbClr val="78350F"/>
                    </a:solidFill>
                    <a:latin typeface="Cambria Math" panose="02040503050406030204" pitchFamily="18" charset="0"/>
                  </a:rPr>
                  <a:t>$\frac{7-n_0}{7}$</a:t>
                </a:r>
                <a:r>
                  <a:rPr sz="2400" b="0">
                    <a:solidFill>
                      <a:srgbClr val="78350F"/>
                    </a:solidFill>
                    <a:latin typeface="Arial"/>
                  </a:rPr>
                  <a:t> of all arrangements has a non-zero first digit.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counts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sum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arrangements with a non-zero first digit number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num>
                      <m:den>
                        <m:r>
                          <a:rPr lang="en-IN" sz="2400" i="1">
                            <a:solidFill>
                              <a:srgbClr val="111827"/>
                            </a:solidFill>
                            <a:latin typeface="Cambria Math" panose="02040503050406030204" pitchFamily="18" charset="0"/>
                          </a:rPr>
                          <m:t>7</m:t>
                        </m:r>
                      </m:den>
                    </m:f>
                  </m:oMath>
                </a14:m>
                <a:r>
                  <a:rPr sz="2400" b="0">
                    <a:solidFill>
                      <a:srgbClr val="111827"/>
                    </a:solidFill>
                    <a:latin typeface="Arial"/>
                  </a:rPr>
                  <a:t> (by symmetry of positions).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5</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counts </a:t>
                </a:r>
                <a:r>
                  <a:rPr lang="en-IN" sz="2400">
                    <a:solidFill>
                      <a:srgbClr val="111827"/>
                    </a:solidFill>
                    <a:latin typeface="Cambria Math" panose="02040503050406030204" pitchFamily="18" charset="0"/>
                  </a:rPr>
                  <a:t>$(n_0,n_1,n_2)$</a:t>
                </a:r>
                <a:r>
                  <a:rPr sz="2400" b="0">
                    <a:solidFill>
                      <a:srgbClr val="111827"/>
                    </a:solidFill>
                    <a:latin typeface="Arial"/>
                  </a:rPr>
                  <a:t> with sum </a:t>
                </a:r>
                <a:r>
                  <a:rPr lang="en-IN" sz="2400">
                    <a:solidFill>
                      <a:srgbClr val="111827"/>
                    </a:solidFill>
                    <a:latin typeface="Cambria Math" panose="02040503050406030204" pitchFamily="18" charset="0"/>
                  </a:rPr>
                  <a:t>$7$</a:t>
                </a:r>
                <a:r>
                  <a:rPr sz="2400" b="0">
                    <a:solidFill>
                      <a:srgbClr val="111827"/>
                    </a:solidFill>
                    <a:latin typeface="Arial"/>
                  </a:rPr>
                  <a:t>, arrangements with a non-zero first digit number </a:t>
                </a:r>
                <a:r>
                  <a:rPr lang="en-IN" sz="2400">
                    <a:solidFill>
                      <a:srgbClr val="111827"/>
                    </a:solidFill>
                    <a:latin typeface="Cambria Math" panose="02040503050406030204" pitchFamily="18" charset="0"/>
                  </a:rPr>
                  <a:t>$\frac{7!}{n_0!\,n_1!\,n_2!}\cdot\frac{7-n_0}{7}$</a:t>
                </a:r>
                <a:r>
                  <a:rPr sz="2400" b="0">
                    <a:solidFill>
                      <a:srgbClr val="111827"/>
                    </a:solidFill>
                    <a:latin typeface="Arial"/>
                  </a:rPr>
                  <a:t> (by symmetry of positions).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$n_0=2$</a:t>
                </a:r>
                <a:r>
                  <a:rPr sz="2400" b="0">
                    <a:solidFill>
                      <a:srgbClr val="111827"/>
                    </a:solidFill>
                    <a:latin typeface="Arial"/>
                  </a:rPr>
                  <a:t>): </a:t>
                </a:r>
                <a:r>
                  <a:rPr lang="en-IN" sz="2400">
                    <a:solidFill>
                      <a:srgbClr val="111827"/>
                    </a:solidFill>
                    <a:latin typeface="Cambria Math" panose="02040503050406030204" pitchFamily="18" charset="0"/>
                  </a:rPr>
                  <a:t>$\sum_{n_1}\frac{7!}{2!\,n_1!\,(5-n_1)!}\cdot\frac57=\frac57\cdot21\cdot2^5=480$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$n_1=2$</a:t>
                </a:r>
                <a:r>
                  <a:rPr sz="2400" b="0">
                    <a:solidFill>
                      <a:srgbClr val="111827"/>
                    </a:solidFill>
                    <a:latin typeface="Arial"/>
                  </a:rPr>
                  <a:t>): </a:t>
                </a:r>
                <a:r>
                  <a:rPr lang="en-IN" sz="2400">
                    <a:solidFill>
                      <a:srgbClr val="111827"/>
                    </a:solidFill>
                    <a:latin typeface="Cambria Math" panose="02040503050406030204" pitchFamily="18" charset="0"/>
                  </a:rPr>
                  <a:t>$\sum_{n_0=0}^{5}\frac{7!}{n_0!\,2!\,(5-n_0)!}\cdot\frac{7-n_0}{7}=432$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CC4125"/>
          </a:solidFill>
          <a:ln w="19050">
            <a:solidFill>
              <a:srgbClr val="FFFFFF"/>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18288"/>
          <a:lstStyle>
            <a:lvl1pPr>
              <a:defRPr sz="2400">
                <a:solidFill>
                  <a:srgbClr val="FFFFFF"/>
                </a:solidFill>
              </a:defRPr>
            </a:lvl1pPr>
          </a:lstStyle>
          <a:p>
            <a:pPr algn="ctr">
              <a:defRPr sz="2400">
                <a:solidFill>
                  <a:srgbClr val="FFFFFF"/>
                </a:solidFill>
              </a:defRPr>
            </a:pPr>
            <a:r>
              <a:rPr sz="2400" b="1">
                <a:solidFill>
                  <a:srgbClr val="FFFFFF"/>
                </a:solidFill>
                <a:latin typeface="Arial"/>
              </a:rPr>
              <a:t>Level 5  ·  4 Marks</a:t>
            </a:r>
            <a:endParaRPr sz="2400">
              <a:solidFill>
                <a:srgbClr val="FFFFFF"/>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762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a:t>
                </a:r>
                <a:r>
                  <a:rPr sz="2400" b="0">
                    <a:solidFill>
                      <a:srgbClr val="111827"/>
                    </a:solidFill>
                    <a:latin typeface="Arial"/>
                  </a:rPr>
                  <a:t>: </a:t>
                </a:r>
                <a:r>
                  <a:rPr lang="en-IN" sz="2400">
                    <a:solidFill>
                      <a:srgbClr val="111827"/>
                    </a:solidFill>
                    <a:latin typeface="Cambria Math" panose="02040503050406030204" pitchFamily="18" charset="0"/>
                  </a:rPr>
                  <a:t>$(n_0,n_1,n_2)=(2,2,3)$</a:t>
                </a:r>
                <a:r>
                  <a:rPr sz="2400" b="0">
                    <a:solidFill>
                      <a:srgbClr val="111827"/>
                    </a:solidFill>
                    <a:latin typeface="Arial"/>
                  </a:rPr>
                  <a:t>: </a:t>
                </a:r>
                <a:r>
                  <a:rPr lang="en-IN" sz="2400">
                    <a:solidFill>
                      <a:srgbClr val="111827"/>
                    </a:solidFill>
                    <a:latin typeface="Cambria Math" panose="02040503050406030204" pitchFamily="18" charset="0"/>
                  </a:rPr>
                  <a:t>$\frac{7!}{2!\,2!\,3!}\cdot\frac57=210\cdot\frac57=150$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$480+432-150=762$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762</a:t>
            </a:r>
            <a:endParaRPr sz="2800">
              <a:solidFill>
                <a:srgbClr val="15803D"/>
              </a:solidFill>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CC4125"/>
          </a:solidFill>
          <a:ln w="19050">
            <a:solidFill>
              <a:srgbClr val="FFFFFF"/>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18288"/>
          <a:lstStyle>
            <a:lvl1pPr>
              <a:defRPr sz="2400">
                <a:solidFill>
                  <a:srgbClr val="FFFFFF"/>
                </a:solidFill>
              </a:defRPr>
            </a:lvl1pPr>
          </a:lstStyle>
          <a:p>
            <a:pPr algn="ctr">
              <a:defRPr sz="2400">
                <a:solidFill>
                  <a:srgbClr val="FFFFFF"/>
                </a:solidFill>
              </a:defRPr>
            </a:pPr>
            <a:r>
              <a:rPr sz="2400" b="1">
                <a:solidFill>
                  <a:srgbClr val="FFFFFF"/>
                </a:solidFill>
                <a:latin typeface="Arial"/>
              </a:rPr>
              <a:t>Level 5  ·  4 Marks</a:t>
            </a:r>
            <a:endParaRPr sz="2400">
              <a:solidFill>
                <a:srgbClr val="FFFFFF"/>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Leading-zero rule: among all arrangements of a multiset with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zeros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places, a fraction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0</m:t>
                            </m:r>
                          </m:sub>
                        </m:sSub>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has a non-zero first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one of two events':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compute the overlap type directly from the frequency triple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copies of a digit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places over an alphabet of size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(adjust the first place if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the digit).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Leading-zero rule: among all arrangements of a multiset with </a:t>
                </a:r>
                <a:r>
                  <a:rPr lang="en-IN" sz="2400">
                    <a:solidFill>
                      <a:srgbClr val="111827"/>
                    </a:solidFill>
                    <a:latin typeface="Cambria Math" panose="02040503050406030204" pitchFamily="18" charset="0"/>
                  </a:rPr>
                  <a:t>$n_0$</a:t>
                </a:r>
                <a:r>
                  <a:rPr sz="2400" b="0">
                    <a:solidFill>
                      <a:srgbClr val="111827"/>
                    </a:solidFill>
                    <a:latin typeface="Arial"/>
                  </a:rPr>
                  <a:t> zeros in </a:t>
                </a:r>
                <a:r>
                  <a:rPr lang="en-IN" sz="2400">
                    <a:solidFill>
                      <a:srgbClr val="111827"/>
                    </a:solidFill>
                    <a:latin typeface="Cambria Math" panose="02040503050406030204" pitchFamily="18" charset="0"/>
                  </a:rPr>
                  <a:t>$n$</a:t>
                </a:r>
                <a:r>
                  <a:rPr sz="2400" b="0">
                    <a:solidFill>
                      <a:srgbClr val="111827"/>
                    </a:solidFill>
                    <a:latin typeface="Arial"/>
                  </a:rPr>
                  <a:t> places, a fraction </a:t>
                </a:r>
                <a:r>
                  <a:rPr lang="en-IN" sz="2400">
                    <a:solidFill>
                      <a:srgbClr val="111827"/>
                    </a:solidFill>
                    <a:latin typeface="Cambria Math" panose="02040503050406030204" pitchFamily="18" charset="0"/>
                  </a:rPr>
                  <a:t>$\frac{n-n_0}{n}$</a:t>
                </a:r>
                <a:r>
                  <a:rPr sz="2400" b="0">
                    <a:solidFill>
                      <a:srgbClr val="111827"/>
                    </a:solidFill>
                    <a:latin typeface="Arial"/>
                  </a:rPr>
                  <a:t> has a non-zero first digit.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one of two events': </a:t>
                </a:r>
                <a:r>
                  <a:rPr lang="en-IN" sz="2400">
                    <a:solidFill>
                      <a:srgbClr val="111827"/>
                    </a:solidFill>
                    <a:latin typeface="Cambria Math" panose="02040503050406030204" pitchFamily="18" charset="0"/>
                  </a:rPr>
                  <a:t>$|A|+|B|-|A\cap B|$</a:t>
                </a:r>
                <a:r>
                  <a:rPr sz="2400" b="0">
                    <a:solidFill>
                      <a:srgbClr val="111827"/>
                    </a:solidFill>
                    <a:latin typeface="Arial"/>
                  </a:rPr>
                  <a:t>; compute the overlap type directly from the frequency triple </a:t>
                </a:r>
                <a:r>
                  <a:rPr lang="en-IN" sz="2400">
                    <a:solidFill>
                      <a:srgbClr val="111827"/>
                    </a:solidFill>
                    <a:latin typeface="Cambria Math" panose="02040503050406030204" pitchFamily="18" charset="0"/>
                  </a:rPr>
                  <a:t>$(2,2,3)$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$k$</a:t>
                </a:r>
                <a:r>
                  <a:rPr sz="2400" b="0">
                    <a:solidFill>
                      <a:srgbClr val="111827"/>
                    </a:solidFill>
                    <a:latin typeface="Arial"/>
                  </a:rPr>
                  <a:t> copies of a digit in </a:t>
                </a:r>
                <a:r>
                  <a:rPr lang="en-IN" sz="2400">
                    <a:solidFill>
                      <a:srgbClr val="111827"/>
                    </a:solidFill>
                    <a:latin typeface="Cambria Math" panose="02040503050406030204" pitchFamily="18" charset="0"/>
                  </a:rPr>
                  <a:t>$n$</a:t>
                </a:r>
                <a:r>
                  <a:rPr sz="2400" b="0">
                    <a:solidFill>
                      <a:srgbClr val="111827"/>
                    </a:solidFill>
                    <a:latin typeface="Arial"/>
                  </a:rPr>
                  <a:t> places over an alphabet of size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$\binom nk(m-1)^{n-k}$</a:t>
                </a:r>
                <a:r>
                  <a:rPr sz="2400" b="0">
                    <a:solidFill>
                      <a:srgbClr val="111827"/>
                    </a:solidFill>
                    <a:latin typeface="Arial"/>
                  </a:rPr>
                  <a:t> (adjust the first place if </a:t>
                </a:r>
                <a:r>
                  <a:rPr lang="en-IN" sz="2400">
                    <a:solidFill>
                      <a:srgbClr val="111827"/>
                    </a:solidFill>
                    <a:latin typeface="Cambria Math" panose="02040503050406030204" pitchFamily="18" charset="0"/>
                  </a:rPr>
                  <a:t>$0$</a:t>
                </a:r>
                <a:r>
                  <a:rPr sz="2400" b="0">
                    <a:solidFill>
                      <a:srgbClr val="111827"/>
                    </a:solidFill>
                    <a:latin typeface="Arial"/>
                  </a:rPr>
                  <a:t> is the digit).</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to distribute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identical red pens and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identical blue pens among four persons such that each person gets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pens, is ______. [JEE (Adv) 2026]</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to distribute </a:t>
                </a:r>
                <a:r>
                  <a:rPr lang="en-IN" sz="2400">
                    <a:solidFill>
                      <a:srgbClr val="111827"/>
                    </a:solidFill>
                    <a:latin typeface="Cambria Math" panose="02040503050406030204" pitchFamily="18" charset="0"/>
                  </a:rPr>
                  <a:t>$10$</a:t>
                </a:r>
                <a:r>
                  <a:rPr sz="2400" b="0">
                    <a:solidFill>
                      <a:srgbClr val="111827"/>
                    </a:solidFill>
                    <a:latin typeface="Arial"/>
                  </a:rPr>
                  <a:t> identical red pens and </a:t>
                </a:r>
                <a:r>
                  <a:rPr lang="en-IN" sz="2400">
                    <a:solidFill>
                      <a:srgbClr val="111827"/>
                    </a:solidFill>
                    <a:latin typeface="Cambria Math" panose="02040503050406030204" pitchFamily="18" charset="0"/>
                  </a:rPr>
                  <a:t>$14$</a:t>
                </a:r>
                <a:r>
                  <a:rPr sz="2400" b="0">
                    <a:solidFill>
                      <a:srgbClr val="111827"/>
                    </a:solidFill>
                    <a:latin typeface="Arial"/>
                  </a:rPr>
                  <a:t> identical blue pens among four persons such that each person gets </a:t>
                </a:r>
                <a:r>
                  <a:rPr lang="en-IN" sz="2400">
                    <a:solidFill>
                      <a:srgbClr val="111827"/>
                    </a:solidFill>
                    <a:latin typeface="Cambria Math" panose="02040503050406030204" pitchFamily="18" charset="0"/>
                  </a:rPr>
                  <a:t>$6$</a:t>
                </a:r>
                <a:r>
                  <a:rPr sz="2400" b="0">
                    <a:solidFill>
                      <a:srgbClr val="111827"/>
                    </a:solidFill>
                    <a:latin typeface="Arial"/>
                  </a:rPr>
                  <a:t> pens, is ______. [JEE (Adv) 2026]</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identical objects (stars and bars) with upper bounds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person's red count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determines the blue count </a:t>
                </a:r>
                <a14:m>
                  <m:oMath xmlns:m="http://schemas.openxmlformats.org/officeDocument/2006/math">
                    <m:sSub>
                      <m:e>
                        <m:r>
                          <a:rPr lang="en-IN" sz="2400" i="1">
                            <a:solidFill>
                              <a:srgbClr val="78350F"/>
                            </a:solidFill>
                            <a:latin typeface="Cambria Math" panose="02040503050406030204" pitchFamily="18" charset="0"/>
                          </a:rPr>
                          <m:t>𝑏</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so only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matters.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person's red count </a:t>
                </a:r>
                <a:r>
                  <a:rPr lang="en-IN" sz="2400">
                    <a:solidFill>
                      <a:srgbClr val="78350F"/>
                    </a:solidFill>
                    <a:latin typeface="Cambria Math" panose="02040503050406030204" pitchFamily="18" charset="0"/>
                  </a:rPr>
                  <a:t>$r_i$</a:t>
                </a:r>
                <a:r>
                  <a:rPr sz="2400" b="0">
                    <a:solidFill>
                      <a:srgbClr val="78350F"/>
                    </a:solidFill>
                    <a:latin typeface="Arial"/>
                  </a:rPr>
                  <a:t> determines the blue count </a:t>
                </a:r>
                <a:r>
                  <a:rPr lang="en-IN" sz="2400">
                    <a:solidFill>
                      <a:srgbClr val="78350F"/>
                    </a:solidFill>
                    <a:latin typeface="Cambria Math" panose="02040503050406030204" pitchFamily="18" charset="0"/>
                  </a:rPr>
                  <a:t>$b_i=6-r_i$</a:t>
                </a:r>
                <a:r>
                  <a:rPr sz="2400" b="0">
                    <a:solidFill>
                      <a:srgbClr val="78350F"/>
                    </a:solidFill>
                    <a:latin typeface="Arial"/>
                  </a:rPr>
                  <a:t>, so only </a:t>
                </a:r>
                <a:r>
                  <a:rPr lang="en-IN" sz="2400">
                    <a:solidFill>
                      <a:srgbClr val="78350F"/>
                    </a:solidFill>
                    <a:latin typeface="Cambria Math" panose="02040503050406030204" pitchFamily="18" charset="0"/>
                  </a:rPr>
                  <a:t>$r_i\in[0,6]$</a:t>
                </a:r>
                <a:r>
                  <a:rPr sz="2400" b="0">
                    <a:solidFill>
                      <a:srgbClr val="78350F"/>
                    </a:solidFill>
                    <a:latin typeface="Arial"/>
                  </a:rPr>
                  <a:t> with </a:t>
                </a:r>
                <a:r>
                  <a:rPr lang="en-IN" sz="2400">
                    <a:solidFill>
                      <a:srgbClr val="78350F"/>
                    </a:solidFill>
                    <a:latin typeface="Cambria Math" panose="02040503050406030204" pitchFamily="18" charset="0"/>
                  </a:rPr>
                  <a:t>$\sum r_i=10$</a:t>
                </a:r>
                <a:r>
                  <a:rPr sz="2400" b="0">
                    <a:solidFill>
                      <a:srgbClr val="78350F"/>
                    </a:solidFill>
                    <a:latin typeface="Arial"/>
                  </a:rPr>
                  <a:t> matters.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person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get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red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blue pens with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requires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also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blue total is then </a:t>
                </a:r>
                <a14:m>
                  <m:oMath xmlns:m="http://schemas.openxmlformats.org/officeDocument/2006/math">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automatically.)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count solutions of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person </a:t>
                </a:r>
                <a:r>
                  <a:rPr lang="en-IN" sz="2400">
                    <a:solidFill>
                      <a:srgbClr val="111827"/>
                    </a:solidFill>
                    <a:latin typeface="Cambria Math" panose="02040503050406030204" pitchFamily="18" charset="0"/>
                  </a:rPr>
                  <a:t>$i$</a:t>
                </a:r>
                <a:r>
                  <a:rPr sz="2400" b="0">
                    <a:solidFill>
                      <a:srgbClr val="111827"/>
                    </a:solidFill>
                    <a:latin typeface="Arial"/>
                  </a:rPr>
                  <a:t> get </a:t>
                </a:r>
                <a:r>
                  <a:rPr lang="en-IN" sz="2400">
                    <a:solidFill>
                      <a:srgbClr val="111827"/>
                    </a:solidFill>
                    <a:latin typeface="Cambria Math" panose="02040503050406030204" pitchFamily="18" charset="0"/>
                  </a:rPr>
                  <a:t>$r_i$</a:t>
                </a:r>
                <a:r>
                  <a:rPr sz="2400" b="0">
                    <a:solidFill>
                      <a:srgbClr val="111827"/>
                    </a:solidFill>
                    <a:latin typeface="Arial"/>
                  </a:rPr>
                  <a:t> red and </a:t>
                </a:r>
                <a:r>
                  <a:rPr lang="en-IN" sz="2400">
                    <a:solidFill>
                      <a:srgbClr val="111827"/>
                    </a:solidFill>
                    <a:latin typeface="Cambria Math" panose="02040503050406030204" pitchFamily="18" charset="0"/>
                  </a:rPr>
                  <a:t>$b_i$</a:t>
                </a:r>
                <a:r>
                  <a:rPr sz="2400" b="0">
                    <a:solidFill>
                      <a:srgbClr val="111827"/>
                    </a:solidFill>
                    <a:latin typeface="Arial"/>
                  </a:rPr>
                  <a:t> blue pens with </a:t>
                </a:r>
                <a:r>
                  <a:rPr lang="en-IN" sz="2400">
                    <a:solidFill>
                      <a:srgbClr val="111827"/>
                    </a:solidFill>
                    <a:latin typeface="Cambria Math" panose="02040503050406030204" pitchFamily="18" charset="0"/>
                  </a:rPr>
                  <a:t>$r_i+b_i=6$</a:t>
                </a:r>
                <a:r>
                  <a:rPr sz="2400" b="0">
                    <a:solidFill>
                      <a:srgbClr val="111827"/>
                    </a:solidFill>
                    <a:latin typeface="Arial"/>
                  </a:rPr>
                  <a:t> and </a:t>
                </a:r>
                <a:r>
                  <a:rPr lang="en-IN" sz="2400">
                    <a:solidFill>
                      <a:srgbClr val="111827"/>
                    </a:solidFill>
                    <a:latin typeface="Cambria Math" panose="02040503050406030204" pitchFamily="18" charset="0"/>
                  </a:rPr>
                  <a:t>$r_1+r_2+r_3+r_4=10$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$b_i=6-r_i$</a:t>
                </a:r>
                <a:r>
                  <a:rPr sz="2400" b="0">
                    <a:solidFill>
                      <a:srgbClr val="111827"/>
                    </a:solidFill>
                    <a:latin typeface="Arial"/>
                  </a:rPr>
                  <a:t>, and </a:t>
                </a:r>
                <a:r>
                  <a:rPr lang="en-IN" sz="2400">
                    <a:solidFill>
                      <a:srgbClr val="111827"/>
                    </a:solidFill>
                    <a:latin typeface="Cambria Math" panose="02040503050406030204" pitchFamily="18" charset="0"/>
                  </a:rPr>
                  <a:t>$b_i\ge0$</a:t>
                </a:r>
                <a:r>
                  <a:rPr sz="2400" b="0">
                    <a:solidFill>
                      <a:srgbClr val="111827"/>
                    </a:solidFill>
                    <a:latin typeface="Arial"/>
                  </a:rPr>
                  <a:t> requires </a:t>
                </a:r>
                <a:r>
                  <a:rPr lang="en-IN" sz="2400">
                    <a:solidFill>
                      <a:srgbClr val="111827"/>
                    </a:solidFill>
                    <a:latin typeface="Cambria Math" panose="02040503050406030204" pitchFamily="18" charset="0"/>
                  </a:rPr>
                  <a:t>$r_i\le6$</a:t>
                </a:r>
                <a:r>
                  <a:rPr sz="2400" b="0">
                    <a:solidFill>
                      <a:srgbClr val="111827"/>
                    </a:solidFill>
                    <a:latin typeface="Arial"/>
                  </a:rPr>
                  <a:t>; also </a:t>
                </a:r>
                <a:r>
                  <a:rPr lang="en-IN" sz="2400">
                    <a:solidFill>
                      <a:srgbClr val="111827"/>
                    </a:solidFill>
                    <a:latin typeface="Cambria Math" panose="02040503050406030204" pitchFamily="18" charset="0"/>
                  </a:rPr>
                  <a:t>$r_i\ge0$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blue total is then </a:t>
                </a:r>
                <a:r>
                  <a:rPr lang="en-IN" sz="2400">
                    <a:solidFill>
                      <a:srgbClr val="111827"/>
                    </a:solidFill>
                    <a:latin typeface="Cambria Math" panose="02040503050406030204" pitchFamily="18" charset="0"/>
                  </a:rPr>
                  <a:t>$24-10=14$</a:t>
                </a:r>
                <a:r>
                  <a:rPr sz="2400" b="0">
                    <a:solidFill>
                      <a:srgbClr val="111827"/>
                    </a:solidFill>
                    <a:latin typeface="Arial"/>
                  </a:rPr>
                  <a:t> automatically.)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count solutions of </a:t>
                </a:r>
                <a:r>
                  <a:rPr lang="en-IN" sz="2400">
                    <a:solidFill>
                      <a:srgbClr val="111827"/>
                    </a:solidFill>
                    <a:latin typeface="Cambria Math" panose="02040503050406030204" pitchFamily="18" charset="0"/>
                  </a:rPr>
                  <a:t>$r_1+r_2+r_3+r_4=10$</a:t>
                </a:r>
                <a:r>
                  <a:rPr sz="2400" b="0">
                    <a:solidFill>
                      <a:srgbClr val="111827"/>
                    </a:solidFill>
                    <a:latin typeface="Arial"/>
                  </a:rPr>
                  <a:t> with </a:t>
                </a:r>
                <a:r>
                  <a:rPr lang="en-IN" sz="2400">
                    <a:solidFill>
                      <a:srgbClr val="111827"/>
                    </a:solidFill>
                    <a:latin typeface="Cambria Math" panose="02040503050406030204" pitchFamily="18" charset="0"/>
                  </a:rPr>
                  <a:t>$0\le r_i\le6$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Without the upper bound: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those with some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put </a:t>
                </a:r>
                <a14:m>
                  <m:oMath xmlns:m="http://schemas.openxmlformats.org/officeDocument/2006/math">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up>
                        <m:r>
                          <m:rPr>
                            <m:sty m:val="p"/>
                          </m:rPr>
                          <a:rPr lang="en-IN" sz="2400">
                            <a:solidFill>
                              <a:srgbClr val="111827"/>
                            </a:solidFill>
                            <a:latin typeface="Cambria Math" panose="02040503050406030204" pitchFamily="18" charset="0"/>
                          </a:rPr>
                          <m:t>′</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giving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for each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(two variables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would need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Without the upper bound: </a:t>
                </a:r>
                <a:r>
                  <a:rPr lang="en-IN" sz="2400">
                    <a:solidFill>
                      <a:srgbClr val="111827"/>
                    </a:solidFill>
                    <a:latin typeface="Cambria Math" panose="02040503050406030204" pitchFamily="18" charset="0"/>
                  </a:rPr>
                  <a:t>$\binom{10+4-1}{3}=\binom{13}{3}=286$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those with some </a:t>
                </a:r>
                <a:r>
                  <a:rPr lang="en-IN" sz="2400">
                    <a:solidFill>
                      <a:srgbClr val="111827"/>
                    </a:solidFill>
                    <a:latin typeface="Cambria Math" panose="02040503050406030204" pitchFamily="18" charset="0"/>
                  </a:rPr>
                  <a:t>$r_i\ge7$</a:t>
                </a:r>
                <a:r>
                  <a:rPr sz="2400" b="0">
                    <a:solidFill>
                      <a:srgbClr val="111827"/>
                    </a:solidFill>
                    <a:latin typeface="Arial"/>
                  </a:rPr>
                  <a:t>: put </a:t>
                </a:r>
                <a:r>
                  <a:rPr lang="en-IN" sz="2400">
                    <a:solidFill>
                      <a:srgbClr val="111827"/>
                    </a:solidFill>
                    <a:latin typeface="Cambria Math" panose="02040503050406030204" pitchFamily="18" charset="0"/>
                  </a:rPr>
                  <a:t>$r_i'=r_i-7$</a:t>
                </a:r>
                <a:r>
                  <a:rPr sz="2400" b="0">
                    <a:solidFill>
                      <a:srgbClr val="111827"/>
                    </a:solidFill>
                    <a:latin typeface="Arial"/>
                  </a:rPr>
                  <a:t>, giving </a:t>
                </a:r>
                <a:r>
                  <a:rPr lang="en-IN" sz="2400">
                    <a:solidFill>
                      <a:srgbClr val="111827"/>
                    </a:solidFill>
                    <a:latin typeface="Cambria Math" panose="02040503050406030204" pitchFamily="18" charset="0"/>
                  </a:rPr>
                  <a:t>$\sum=3$</a:t>
                </a:r>
                <a:r>
                  <a:rPr sz="2400" b="0">
                    <a:solidFill>
                      <a:srgbClr val="111827"/>
                    </a:solidFill>
                    <a:latin typeface="Arial"/>
                  </a:rPr>
                  <a:t>: </a:t>
                </a:r>
                <a:r>
                  <a:rPr lang="en-IN" sz="2400">
                    <a:solidFill>
                      <a:srgbClr val="111827"/>
                    </a:solidFill>
                    <a:latin typeface="Cambria Math" panose="02040503050406030204" pitchFamily="18" charset="0"/>
                  </a:rPr>
                  <a:t>$\binom{3+3}{3}=\binom63=20$</a:t>
                </a:r>
                <a:r>
                  <a:rPr sz="2400" b="0">
                    <a:solidFill>
                      <a:srgbClr val="111827"/>
                    </a:solidFill>
                    <a:latin typeface="Arial"/>
                  </a:rPr>
                  <a:t> for each </a:t>
                </a:r>
                <a:r>
                  <a:rPr lang="en-IN" sz="2400">
                    <a:solidFill>
                      <a:srgbClr val="111827"/>
                    </a:solidFill>
                    <a:latin typeface="Cambria Math" panose="02040503050406030204" pitchFamily="18" charset="0"/>
                  </a:rPr>
                  <a:t>$i$</a:t>
                </a:r>
                <a:r>
                  <a:rPr sz="2400" b="0">
                    <a:solidFill>
                      <a:srgbClr val="111827"/>
                    </a:solidFill>
                    <a:latin typeface="Arial"/>
                  </a:rPr>
                  <a:t>, so </a:t>
                </a:r>
                <a:r>
                  <a:rPr lang="en-IN" sz="2400">
                    <a:solidFill>
                      <a:srgbClr val="111827"/>
                    </a:solidFill>
                    <a:latin typeface="Cambria Math" panose="02040503050406030204" pitchFamily="18" charset="0"/>
                  </a:rPr>
                  <a:t>$4\times20=80$</a:t>
                </a:r>
                <a:r>
                  <a:rPr sz="2400" b="0">
                    <a:solidFill>
                      <a:srgbClr val="111827"/>
                    </a:solidFill>
                    <a:latin typeface="Arial"/>
                  </a:rPr>
                  <a:t> (two variables </a:t>
                </a:r>
                <a:r>
                  <a:rPr lang="en-IN" sz="2400">
                    <a:solidFill>
                      <a:srgbClr val="111827"/>
                    </a:solidFill>
                    <a:latin typeface="Cambria Math" panose="02040503050406030204" pitchFamily="18" charset="0"/>
                  </a:rPr>
                  <a:t>$\ge7$</a:t>
                </a:r>
                <a:r>
                  <a:rPr sz="2400" b="0">
                    <a:solidFill>
                      <a:srgbClr val="111827"/>
                    </a:solidFill>
                    <a:latin typeface="Arial"/>
                  </a:rPr>
                  <a:t> would need sum </a:t>
                </a:r>
                <a:r>
                  <a:rPr lang="en-IN" sz="2400">
                    <a:solidFill>
                      <a:srgbClr val="111827"/>
                    </a:solidFill>
                    <a:latin typeface="Cambria Math" panose="02040503050406030204" pitchFamily="18" charset="0"/>
                  </a:rPr>
                  <a:t>$\ge14&gt;10$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t>
                </a:r>
                <a:r>
                  <a:rPr lang="en-IN" sz="2400">
                    <a:solidFill>
                      <a:srgbClr val="111827"/>
                    </a:solidFill>
                    <a:latin typeface="Cambria Math" panose="02040503050406030204" pitchFamily="18" charset="0"/>
                  </a:rPr>
                  <a:t>$=286-80=206$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206</a:t>
            </a:r>
            <a:endParaRPr sz="2800">
              <a:solidFill>
                <a:srgbClr val="15803D"/>
              </a:solidFill>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List the partitions of </a:t>
                </a:r>
                <a14:m>
                  <m:oMath xmlns:m="http://schemas.openxmlformats.org/officeDocument/2006/math">
                    <m:r>
                      <a:rPr lang="en-IN" sz="2400" i="1">
                        <a:solidFill>
                          <a:srgbClr val="78350F"/>
                        </a:solidFill>
                        <a:latin typeface="Cambria Math" panose="02040503050406030204" pitchFamily="18" charset="0"/>
                      </a:rPr>
                      <m:t>10</m:t>
                    </m:r>
                  </m:oMath>
                </a14:m>
                <a:r>
                  <a:rPr sz="2400" b="0">
                    <a:solidFill>
                      <a:srgbClr val="78350F"/>
                    </a:solidFill>
                    <a:latin typeface="Arial"/>
                  </a:rPr>
                  <a:t> into at most four parts each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and count the distinct orderings of each.</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List the partitions of </a:t>
                </a:r>
                <a:r>
                  <a:rPr lang="en-IN" sz="2400">
                    <a:solidFill>
                      <a:srgbClr val="78350F"/>
                    </a:solidFill>
                    <a:latin typeface="Cambria Math" panose="02040503050406030204" pitchFamily="18" charset="0"/>
                  </a:rPr>
                  <a:t>$10$</a:t>
                </a:r>
                <a:r>
                  <a:rPr sz="2400" b="0">
                    <a:solidFill>
                      <a:srgbClr val="78350F"/>
                    </a:solidFill>
                    <a:latin typeface="Arial"/>
                  </a:rPr>
                  <a:t> into at most four parts each </a:t>
                </a:r>
                <a:r>
                  <a:rPr lang="en-IN" sz="2400">
                    <a:solidFill>
                      <a:srgbClr val="78350F"/>
                    </a:solidFill>
                    <a:latin typeface="Cambria Math" panose="02040503050406030204" pitchFamily="18" charset="0"/>
                  </a:rPr>
                  <a:t>$\le6$</a:t>
                </a:r>
                <a:r>
                  <a:rPr sz="2400" b="0">
                    <a:solidFill>
                      <a:srgbClr val="78350F"/>
                    </a:solidFill>
                    <a:latin typeface="Arial"/>
                  </a:rPr>
                  <a:t> and count the distinct orderings of each.</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need ordered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sum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classify by sorted type.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Types containing a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subtotal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Types with maximum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subtotal </a:t>
                </a:r>
                <a14:m>
                  <m:oMath xmlns:m="http://schemas.openxmlformats.org/officeDocument/2006/math">
                    <m:r>
                      <a:rPr lang="en-IN" sz="2400" i="1">
                        <a:solidFill>
                          <a:srgbClr val="111827"/>
                        </a:solidFill>
                        <a:latin typeface="Cambria Math" panose="02040503050406030204" pitchFamily="18" charset="0"/>
                      </a:rPr>
                      <m:t>78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need ordered </a:t>
                </a:r>
                <a:r>
                  <a:rPr lang="en-IN" sz="2400">
                    <a:solidFill>
                      <a:srgbClr val="111827"/>
                    </a:solidFill>
                    <a:latin typeface="Cambria Math" panose="02040503050406030204" pitchFamily="18" charset="0"/>
                  </a:rPr>
                  <a:t>$(r_1,\dots,r_4)$</a:t>
                </a:r>
                <a:r>
                  <a:rPr sz="2400" b="0">
                    <a:solidFill>
                      <a:srgbClr val="111827"/>
                    </a:solidFill>
                    <a:latin typeface="Arial"/>
                  </a:rPr>
                  <a:t> with sum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$0\le r_i\le6$</a:t>
                </a:r>
                <a:r>
                  <a:rPr sz="2400" b="0">
                    <a:solidFill>
                      <a:srgbClr val="111827"/>
                    </a:solidFill>
                    <a:latin typeface="Arial"/>
                  </a:rPr>
                  <a:t>; classify by sorted type.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Types containing a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$(6,4,0,0):12$</a:t>
                </a:r>
                <a:r>
                  <a:rPr sz="2400" b="0">
                    <a:solidFill>
                      <a:srgbClr val="111827"/>
                    </a:solidFill>
                    <a:latin typeface="Arial"/>
                  </a:rPr>
                  <a:t>, </a:t>
                </a:r>
                <a:r>
                  <a:rPr lang="en-IN" sz="2400">
                    <a:solidFill>
                      <a:srgbClr val="111827"/>
                    </a:solidFill>
                    <a:latin typeface="Cambria Math" panose="02040503050406030204" pitchFamily="18" charset="0"/>
                  </a:rPr>
                  <a:t>$(6,3,1,0):24$</a:t>
                </a:r>
                <a:r>
                  <a:rPr sz="2400" b="0">
                    <a:solidFill>
                      <a:srgbClr val="111827"/>
                    </a:solidFill>
                    <a:latin typeface="Arial"/>
                  </a:rPr>
                  <a:t>, </a:t>
                </a:r>
                <a:r>
                  <a:rPr lang="en-IN" sz="2400">
                    <a:solidFill>
                      <a:srgbClr val="111827"/>
                    </a:solidFill>
                    <a:latin typeface="Cambria Math" panose="02040503050406030204" pitchFamily="18" charset="0"/>
                  </a:rPr>
                  <a:t>$(6,2,2,0):12$</a:t>
                </a:r>
                <a:r>
                  <a:rPr sz="2400" b="0">
                    <a:solidFill>
                      <a:srgbClr val="111827"/>
                    </a:solidFill>
                    <a:latin typeface="Arial"/>
                  </a:rPr>
                  <a:t>, </a:t>
                </a:r>
                <a:r>
                  <a:rPr lang="en-IN" sz="2400">
                    <a:solidFill>
                      <a:srgbClr val="111827"/>
                    </a:solidFill>
                    <a:latin typeface="Cambria Math" panose="02040503050406030204" pitchFamily="18" charset="0"/>
                  </a:rPr>
                  <a:t>$(6,2,1,1):12$</a:t>
                </a:r>
                <a:r>
                  <a:rPr sz="2400" b="0">
                    <a:solidFill>
                      <a:srgbClr val="111827"/>
                    </a:solidFill>
                    <a:latin typeface="Arial"/>
                  </a:rPr>
                  <a:t>; subtotal </a:t>
                </a:r>
                <a:r>
                  <a:rPr lang="en-IN" sz="2400">
                    <a:solidFill>
                      <a:srgbClr val="111827"/>
                    </a:solidFill>
                    <a:latin typeface="Cambria Math" panose="02040503050406030204" pitchFamily="18" charset="0"/>
                  </a:rPr>
                  <a:t>$60$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Types with maximum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$(5,5,0,0):6$</a:t>
                </a:r>
                <a:r>
                  <a:rPr sz="2400" b="0">
                    <a:solidFill>
                      <a:srgbClr val="111827"/>
                    </a:solidFill>
                    <a:latin typeface="Arial"/>
                  </a:rPr>
                  <a:t>, </a:t>
                </a:r>
                <a:r>
                  <a:rPr lang="en-IN" sz="2400">
                    <a:solidFill>
                      <a:srgbClr val="111827"/>
                    </a:solidFill>
                    <a:latin typeface="Cambria Math" panose="02040503050406030204" pitchFamily="18" charset="0"/>
                  </a:rPr>
                  <a:t>$(5,4,1,0):24$</a:t>
                </a:r>
                <a:r>
                  <a:rPr sz="2400" b="0">
                    <a:solidFill>
                      <a:srgbClr val="111827"/>
                    </a:solidFill>
                    <a:latin typeface="Arial"/>
                  </a:rPr>
                  <a:t>, </a:t>
                </a:r>
                <a:r>
                  <a:rPr lang="en-IN" sz="2400">
                    <a:solidFill>
                      <a:srgbClr val="111827"/>
                    </a:solidFill>
                    <a:latin typeface="Cambria Math" panose="02040503050406030204" pitchFamily="18" charset="0"/>
                  </a:rPr>
                  <a:t>$(5,3,2,0):24$</a:t>
                </a:r>
                <a:r>
                  <a:rPr sz="2400" b="0">
                    <a:solidFill>
                      <a:srgbClr val="111827"/>
                    </a:solidFill>
                    <a:latin typeface="Arial"/>
                  </a:rPr>
                  <a:t>, </a:t>
                </a:r>
                <a:r>
                  <a:rPr lang="en-IN" sz="2400">
                    <a:solidFill>
                      <a:srgbClr val="111827"/>
                    </a:solidFill>
                    <a:latin typeface="Cambria Math" panose="02040503050406030204" pitchFamily="18" charset="0"/>
                  </a:rPr>
                  <a:t>$(5,3,1,1):12$</a:t>
                </a:r>
                <a:r>
                  <a:rPr sz="2400" b="0">
                    <a:solidFill>
                      <a:srgbClr val="111827"/>
                    </a:solidFill>
                    <a:latin typeface="Arial"/>
                  </a:rPr>
                  <a:t>, </a:t>
                </a:r>
                <a:r>
                  <a:rPr lang="en-IN" sz="2400">
                    <a:solidFill>
                      <a:srgbClr val="111827"/>
                    </a:solidFill>
                    <a:latin typeface="Cambria Math" panose="02040503050406030204" pitchFamily="18" charset="0"/>
                  </a:rPr>
                  <a:t>$(5,2,2,1):12$</a:t>
                </a:r>
                <a:r>
                  <a:rPr sz="2400" b="0">
                    <a:solidFill>
                      <a:srgbClr val="111827"/>
                    </a:solidFill>
                    <a:latin typeface="Arial"/>
                  </a:rPr>
                  <a:t>; subtotal </a:t>
                </a:r>
                <a:r>
                  <a:rPr lang="en-IN" sz="2400">
                    <a:solidFill>
                      <a:srgbClr val="111827"/>
                    </a:solidFill>
                    <a:latin typeface="Cambria Math" panose="02040503050406030204" pitchFamily="18" charset="0"/>
                  </a:rPr>
                  <a:t>$78$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Types with maximum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subtotal </a:t>
                </a:r>
                <a14:m>
                  <m:oMath xmlns:m="http://schemas.openxmlformats.org/officeDocument/2006/math">
                    <m:r>
                      <a:rPr lang="en-IN" sz="2400" i="1">
                        <a:solidFill>
                          <a:srgbClr val="111827"/>
                        </a:solidFill>
                        <a:latin typeface="Cambria Math" panose="02040503050406030204" pitchFamily="18" charset="0"/>
                      </a:rPr>
                      <m:t>58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Types with maximum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subtotal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Types with maximum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$(4,4,2,0):12$</a:t>
                </a:r>
                <a:r>
                  <a:rPr sz="2400" b="0">
                    <a:solidFill>
                      <a:srgbClr val="111827"/>
                    </a:solidFill>
                    <a:latin typeface="Arial"/>
                  </a:rPr>
                  <a:t>, </a:t>
                </a:r>
                <a:r>
                  <a:rPr lang="en-IN" sz="2400">
                    <a:solidFill>
                      <a:srgbClr val="111827"/>
                    </a:solidFill>
                    <a:latin typeface="Cambria Math" panose="02040503050406030204" pitchFamily="18" charset="0"/>
                  </a:rPr>
                  <a:t>$(4,4,1,1):6$</a:t>
                </a:r>
                <a:r>
                  <a:rPr sz="2400" b="0">
                    <a:solidFill>
                      <a:srgbClr val="111827"/>
                    </a:solidFill>
                    <a:latin typeface="Arial"/>
                  </a:rPr>
                  <a:t>, </a:t>
                </a:r>
                <a:r>
                  <a:rPr lang="en-IN" sz="2400">
                    <a:solidFill>
                      <a:srgbClr val="111827"/>
                    </a:solidFill>
                    <a:latin typeface="Cambria Math" panose="02040503050406030204" pitchFamily="18" charset="0"/>
                  </a:rPr>
                  <a:t>$(4,3,3,0):12$</a:t>
                </a:r>
                <a:r>
                  <a:rPr sz="2400" b="0">
                    <a:solidFill>
                      <a:srgbClr val="111827"/>
                    </a:solidFill>
                    <a:latin typeface="Arial"/>
                  </a:rPr>
                  <a:t>, </a:t>
                </a:r>
                <a:r>
                  <a:rPr lang="en-IN" sz="2400">
                    <a:solidFill>
                      <a:srgbClr val="111827"/>
                    </a:solidFill>
                    <a:latin typeface="Cambria Math" panose="02040503050406030204" pitchFamily="18" charset="0"/>
                  </a:rPr>
                  <a:t>$(4,3,2,1):24$</a:t>
                </a:r>
                <a:r>
                  <a:rPr sz="2400" b="0">
                    <a:solidFill>
                      <a:srgbClr val="111827"/>
                    </a:solidFill>
                    <a:latin typeface="Arial"/>
                  </a:rPr>
                  <a:t>, </a:t>
                </a:r>
                <a:r>
                  <a:rPr lang="en-IN" sz="2400">
                    <a:solidFill>
                      <a:srgbClr val="111827"/>
                    </a:solidFill>
                    <a:latin typeface="Cambria Math" panose="02040503050406030204" pitchFamily="18" charset="0"/>
                  </a:rPr>
                  <a:t>$(4,2,2,2):4$</a:t>
                </a:r>
                <a:r>
                  <a:rPr sz="2400" b="0">
                    <a:solidFill>
                      <a:srgbClr val="111827"/>
                    </a:solidFill>
                    <a:latin typeface="Arial"/>
                  </a:rPr>
                  <a:t>; subtotal </a:t>
                </a:r>
                <a:r>
                  <a:rPr lang="en-IN" sz="2400">
                    <a:solidFill>
                      <a:srgbClr val="111827"/>
                    </a:solidFill>
                    <a:latin typeface="Cambria Math" panose="02040503050406030204" pitchFamily="18" charset="0"/>
                  </a:rPr>
                  <a:t>$58$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Types with maximum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$(3,3,3,1):4$</a:t>
                </a:r>
                <a:r>
                  <a:rPr sz="2400" b="0">
                    <a:solidFill>
                      <a:srgbClr val="111827"/>
                    </a:solidFill>
                    <a:latin typeface="Arial"/>
                  </a:rPr>
                  <a:t>, </a:t>
                </a:r>
                <a:r>
                  <a:rPr lang="en-IN" sz="2400">
                    <a:solidFill>
                      <a:srgbClr val="111827"/>
                    </a:solidFill>
                    <a:latin typeface="Cambria Math" panose="02040503050406030204" pitchFamily="18" charset="0"/>
                  </a:rPr>
                  <a:t>$(3,3,2,2):6$</a:t>
                </a:r>
                <a:r>
                  <a:rPr sz="2400" b="0">
                    <a:solidFill>
                      <a:srgbClr val="111827"/>
                    </a:solidFill>
                    <a:latin typeface="Arial"/>
                  </a:rPr>
                  <a:t>; subtotal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$=60+78+58+10=206$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206</a:t>
            </a:r>
            <a:endParaRPr sz="2800">
              <a:solidFill>
                <a:srgbClr val="15803D"/>
              </a:solidFill>
            </a:endParaRP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Bounded stars and bars: the number of solutions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is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𝑗</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each person's total is fixed, the second colour is determined by the first; reduce a two-colour problem to one variable per person.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Equivalently the answer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10</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Bounded stars and bars: the number of solutions of </a:t>
                </a:r>
                <a:r>
                  <a:rPr lang="en-IN" sz="2400">
                    <a:solidFill>
                      <a:srgbClr val="111827"/>
                    </a:solidFill>
                    <a:latin typeface="Cambria Math" panose="02040503050406030204" pitchFamily="18" charset="0"/>
                  </a:rPr>
                  <a:t>$x_1+\dots+x_k=n$</a:t>
                </a:r>
                <a:r>
                  <a:rPr sz="2400" b="0">
                    <a:solidFill>
                      <a:srgbClr val="111827"/>
                    </a:solidFill>
                    <a:latin typeface="Arial"/>
                  </a:rPr>
                  <a:t> with </a:t>
                </a:r>
                <a:r>
                  <a:rPr lang="en-IN" sz="2400">
                    <a:solidFill>
                      <a:srgbClr val="111827"/>
                    </a:solidFill>
                    <a:latin typeface="Cambria Math" panose="02040503050406030204" pitchFamily="18" charset="0"/>
                  </a:rPr>
                  <a:t>$0\le x_i\le m$</a:t>
                </a:r>
                <a:r>
                  <a:rPr sz="2400" b="0">
                    <a:solidFill>
                      <a:srgbClr val="111827"/>
                    </a:solidFill>
                    <a:latin typeface="Arial"/>
                  </a:rPr>
                  <a:t> is </a:t>
                </a:r>
                <a:r>
                  <a:rPr lang="en-IN" sz="2400">
                    <a:solidFill>
                      <a:srgbClr val="111827"/>
                    </a:solidFill>
                    <a:latin typeface="Cambria Math" panose="02040503050406030204" pitchFamily="18" charset="0"/>
                  </a:rPr>
                  <a:t>$\sum_j(-1)^j\binom kj\binom{n-j(m+1)+k-1}{k-1}$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each person's total is fixed, the second colour is determined by the first; reduce a two-colour problem to one variable per person.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Equivalently the answer is </a:t>
                </a:r>
                <a:r>
                  <a:rPr lang="en-IN" sz="2400">
                    <a:solidFill>
                      <a:srgbClr val="111827"/>
                    </a:solidFill>
                    <a:latin typeface="Cambria Math" panose="02040503050406030204" pitchFamily="18" charset="0"/>
                  </a:rPr>
                  <a:t>$[x^{10}](1+x+\dots+x^6)^4=[x^{10}]\frac{(1-x^7)^4}{(1-x)^4}$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FFFFFF"/>
                          </a:solidFill>
                          <a:latin typeface="Arial"/>
                        </a:rPr>
                        <a:t>5</a:t>
                      </a:r>
                    </a:p>
                  </a:txBody>
                  <a:tcPr anchor="ctr" marL="91440" marR="91440">
                    <a:solidFill>
                      <a:srgbClr val="CC4125"/>
                    </a:solidFill>
                  </a:tcPr>
                </a:tc>
                <a:tc>
                  <a:txBody>
                    <a:bodyPr/>
                    <a:lstStyle/>
                    <a:p>
                      <a:pPr algn="l"/>
                      <a:r>
                        <a:rPr sz="2400" b="0">
                          <a:solidFill>
                            <a:srgbClr val="FFFFFF"/>
                          </a:solidFill>
                          <a:latin typeface="Arial"/>
                        </a:rPr>
                        <a:t>Very difficult than JEE Advanced</a:t>
                      </a:r>
                    </a:p>
                  </a:txBody>
                  <a:tcPr anchor="ctr" marL="91440" marR="91440">
                    <a:solidFill>
                      <a:srgbClr val="CC4125"/>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2.68</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2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8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7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3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1 question</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21 questions, 76 marks.  Index = Σ(marks × level) ÷ Σ marks, on the 0-5 scale.</a:t>
            </a:r>
            <a:endParaRPr sz="2400">
              <a:solidFill>
                <a:srgbClr val="111827"/>
              </a:solidFill>
            </a:endParaRP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P&amp;C Exercise J-A</a:t>
                      </a:r>
                    </a:p>
                  </a:txBody>
                  <a:tcPr anchor="ctr" marL="137160" marR="137160">
                    <a:solidFill>
                      <a:srgbClr val="E0ECFF"/>
                    </a:solidFill>
                  </a:tcPr>
                </a:tc>
                <a:tc>
                  <a:txBody>
                    <a:bodyPr/>
                    <a:lstStyle/>
                    <a:p>
                      <a:pPr algn="ctr"/>
                      <a:r>
                        <a:rPr sz="2600" b="1">
                          <a:solidFill>
                            <a:srgbClr val="0B1F3A"/>
                          </a:solidFill>
                          <a:latin typeface="Arial"/>
                        </a:rPr>
                        <a:t>2.68</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