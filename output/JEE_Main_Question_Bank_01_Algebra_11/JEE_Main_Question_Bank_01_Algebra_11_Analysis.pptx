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FFD966"/>
              </a:solidFill>
              <a:ln w="9525">
                <a:solidFill>
                  <a:srgbClr val="111827"/>
                </a:solidFill>
              </a:ln>
            </c:spPr>
          </c:dPt>
          <c:dPt>
            <c:idx val="1"/>
            <c:spPr>
              <a:solidFill>
                <a:srgbClr val="FFD966"/>
              </a:solidFill>
              <a:ln w="9525">
                <a:solidFill>
                  <a:srgbClr val="111827"/>
                </a:solidFill>
              </a:ln>
            </c:spPr>
          </c:dPt>
          <c:dPt>
            <c:idx val="2"/>
            <c:spPr>
              <a:solidFill>
                <a:srgbClr val="FFD966"/>
              </a:solidFill>
              <a:ln w="9525">
                <a:solidFill>
                  <a:srgbClr val="111827"/>
                </a:solidFill>
              </a:ln>
            </c:spPr>
          </c:dPt>
          <c:dPt>
            <c:idx val="3"/>
            <c:spPr>
              <a:solidFill>
                <a:srgbClr val="FFD966"/>
              </a:solidFill>
              <a:ln w="9525">
                <a:solidFill>
                  <a:srgbClr val="111827"/>
                </a:solidFill>
              </a:ln>
            </c:spPr>
          </c:dPt>
          <c:dPt>
            <c:idx val="4"/>
            <c:spPr>
              <a:solidFill>
                <a:srgbClr val="B6D7A8"/>
              </a:solidFill>
              <a:ln w="9525">
                <a:solidFill>
                  <a:srgbClr val="111827"/>
                </a:solidFill>
              </a:ln>
            </c:spPr>
          </c:dPt>
          <c:dPt>
            <c:idx val="5"/>
            <c:spPr>
              <a:solidFill>
                <a:srgbClr val="B6D7A8"/>
              </a:solidFill>
              <a:ln w="9525">
                <a:solidFill>
                  <a:srgbClr val="111827"/>
                </a:solidFill>
              </a:ln>
            </c:spPr>
          </c:dPt>
          <c:dPt>
            <c:idx val="6"/>
            <c:spPr>
              <a:solidFill>
                <a:srgbClr val="FFD966"/>
              </a:solidFill>
              <a:ln w="9525">
                <a:solidFill>
                  <a:srgbClr val="111827"/>
                </a:solidFill>
              </a:ln>
            </c:spPr>
          </c:dPt>
          <c:dPt>
            <c:idx val="7"/>
            <c:spPr>
              <a:solidFill>
                <a:srgbClr val="B6D7A8"/>
              </a:solidFill>
              <a:ln w="9525">
                <a:solidFill>
                  <a:srgbClr val="111827"/>
                </a:solidFill>
              </a:ln>
            </c:spPr>
          </c:dPt>
          <c:dPt>
            <c:idx val="8"/>
            <c:spPr>
              <a:solidFill>
                <a:srgbClr val="FFD966"/>
              </a:solidFill>
              <a:ln w="9525">
                <a:solidFill>
                  <a:srgbClr val="111827"/>
                </a:solidFill>
              </a:ln>
            </c:spPr>
          </c:dPt>
          <c:dPt>
            <c:idx val="9"/>
            <c:spPr>
              <a:solidFill>
                <a:srgbClr val="FFD966"/>
              </a:solidFill>
              <a:ln w="9525">
                <a:solidFill>
                  <a:srgbClr val="111827"/>
                </a:solidFill>
              </a:ln>
            </c:spPr>
          </c:dPt>
          <c:dPt>
            <c:idx val="10"/>
            <c:spPr>
              <a:solidFill>
                <a:srgbClr val="FFD966"/>
              </a:solidFill>
              <a:ln w="9525">
                <a:solidFill>
                  <a:srgbClr val="111827"/>
                </a:solidFill>
              </a:ln>
            </c:spPr>
          </c:dPt>
          <c:dPt>
            <c:idx val="11"/>
            <c:spPr>
              <a:solidFill>
                <a:srgbClr val="B6D7A8"/>
              </a:solidFill>
              <a:ln w="9525">
                <a:solidFill>
                  <a:srgbClr val="111827"/>
                </a:solidFill>
              </a:ln>
            </c:spPr>
          </c:dPt>
          <c:dPt>
            <c:idx val="12"/>
            <c:spPr>
              <a:solidFill>
                <a:srgbClr val="FFD966"/>
              </a:solidFill>
              <a:ln w="9525">
                <a:solidFill>
                  <a:srgbClr val="111827"/>
                </a:solidFill>
              </a:ln>
            </c:spPr>
          </c:dPt>
          <c:dPt>
            <c:idx val="13"/>
            <c:spPr>
              <a:solidFill>
                <a:srgbClr val="B6D7A8"/>
              </a:solidFill>
              <a:ln w="9525">
                <a:solidFill>
                  <a:srgbClr val="111827"/>
                </a:solidFill>
              </a:ln>
            </c:spPr>
          </c:dPt>
          <c:dPt>
            <c:idx val="14"/>
            <c:spPr>
              <a:solidFill>
                <a:srgbClr val="FFD966"/>
              </a:solidFill>
              <a:ln w="9525">
                <a:solidFill>
                  <a:srgbClr val="111827"/>
                </a:solidFill>
              </a:ln>
            </c:spPr>
          </c:dPt>
          <c:dPt>
            <c:idx val="15"/>
            <c:spPr>
              <a:solidFill>
                <a:srgbClr val="FFD966"/>
              </a:solidFill>
              <a:ln w="9525">
                <a:solidFill>
                  <a:srgbClr val="111827"/>
                </a:solidFill>
              </a:ln>
            </c:spPr>
          </c:dPt>
          <c:dPt>
            <c:idx val="16"/>
            <c:spPr>
              <a:solidFill>
                <a:srgbClr val="B6D7A8"/>
              </a:solidFill>
              <a:ln w="9525">
                <a:solidFill>
                  <a:srgbClr val="111827"/>
                </a:solidFill>
              </a:ln>
            </c:spPr>
          </c:dPt>
          <c:dPt>
            <c:idx val="17"/>
            <c:spPr>
              <a:solidFill>
                <a:srgbClr val="FFD966"/>
              </a:solidFill>
              <a:ln w="9525">
                <a:solidFill>
                  <a:srgbClr val="111827"/>
                </a:solidFill>
              </a:ln>
            </c:spPr>
          </c:dPt>
          <c:dPt>
            <c:idx val="18"/>
            <c:spPr>
              <a:solidFill>
                <a:srgbClr val="FFD966"/>
              </a:solidFill>
              <a:ln w="9525">
                <a:solidFill>
                  <a:srgbClr val="111827"/>
                </a:solidFill>
              </a:ln>
            </c:spPr>
          </c:dPt>
          <c:dPt>
            <c:idx val="19"/>
            <c:spPr>
              <a:solidFill>
                <a:srgbClr val="FFD966"/>
              </a:solidFill>
              <a:ln w="9525">
                <a:solidFill>
                  <a:srgbClr val="111827"/>
                </a:solidFill>
              </a:ln>
            </c:spPr>
          </c:dPt>
          <c:cat>
            <c:strRef>
              <c:f>Sheet1!$A$2:$A$21</c:f>
              <c:strCache>
                <c:ptCount val="20"/>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strCache>
            </c:strRef>
          </c:cat>
          <c:val>
            <c:numRef>
              <c:f>Sheet1!$B$2:$B$21</c:f>
              <c:numCache>
                <c:formatCode>General</c:formatCode>
                <c:ptCount val="20"/>
                <c:pt idx="0">
                  <c:v>2.0</c:v>
                </c:pt>
                <c:pt idx="1">
                  <c:v>2.0</c:v>
                </c:pt>
                <c:pt idx="2">
                  <c:v>2.0</c:v>
                </c:pt>
                <c:pt idx="3">
                  <c:v>2.0</c:v>
                </c:pt>
                <c:pt idx="4">
                  <c:v>1.0</c:v>
                </c:pt>
                <c:pt idx="5">
                  <c:v>1.0</c:v>
                </c:pt>
                <c:pt idx="6">
                  <c:v>2.0</c:v>
                </c:pt>
                <c:pt idx="7">
                  <c:v>1.0</c:v>
                </c:pt>
                <c:pt idx="8">
                  <c:v>2.0</c:v>
                </c:pt>
                <c:pt idx="9">
                  <c:v>2.0</c:v>
                </c:pt>
                <c:pt idx="10">
                  <c:v>2.0</c:v>
                </c:pt>
                <c:pt idx="11">
                  <c:v>1.0</c:v>
                </c:pt>
                <c:pt idx="12">
                  <c:v>2.0</c:v>
                </c:pt>
                <c:pt idx="13">
                  <c:v>1.0</c:v>
                </c:pt>
                <c:pt idx="14">
                  <c:v>2.0</c:v>
                </c:pt>
                <c:pt idx="15">
                  <c:v>2.0</c:v>
                </c:pt>
                <c:pt idx="16">
                  <c:v>1.0</c:v>
                </c:pt>
                <c:pt idx="17">
                  <c:v>2.0</c:v>
                </c:pt>
                <c:pt idx="18">
                  <c:v>2.0</c:v>
                </c:pt>
                <c:pt idx="19">
                  <c:v>2.0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table for sum = 5 lists the pair (3,2) twice (rows 3 and 4, with weights 1/6 x 2/6 and 1/6 x 1/6). The last row must be (4,1) with weight 1/6 x 1/6 (die 1 has one 4, die 2 has one 1). The total 9/36 printed by the PDF is correct and unchanged. Answer (C) unchanged.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solves (1) and (2) and states a = 1/12, b = 1/3. b = 1/3 is wrong: it would make 4a + 6b = 1/3 + 2 = 7/3, not 1,. The correct solution is b = 1/9 (14b = 14/9), a = 1/12. The PDF's later expression 24a + 280b - (46/9)^2 and its final value 566/81 are correct (they hold only for b = 1/9), so the answer (B) is unchanged; the correction is to the printed value of b and the missing intermediate sum 24a+280b = 298/9.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JEE Main Question Bank 01 Algebra 11 — Paper Analysis</a:t>
            </a:r>
            <a:endParaRPr sz="4000">
              <a:solidFill>
                <a:srgbClr val="FFFFFF"/>
              </a:solidFill>
            </a:endParaRPr>
          </a:p>
          <a:p>
            <a:pPr algn="ctr"/>
            <a:r>
              <a:rPr sz="2200">
                <a:solidFill>
                  <a:srgbClr val="FFFFFF"/>
                </a:solidFill>
                <a:latin typeface="Arial"/>
              </a:rPr>
              <a:t>Probability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Q20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(assumed: no marks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JEE Advanced default for single-correct questions</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4066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Three identical bags each contain 10 balls: Bag I has 3 Red, 2 Blue, 5 Green; Bag II has 4 Red, 3 Blue, 3 Green; Bag III has 5 Red, 1 Blue, 4 Green. A person chooses a bag at random and takes out a ball. If the ball is Red, the probability that it is from Bag I is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if the ball is Green, the probability that it is from Bag III is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Then the value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𝑞</m:t>
                        </m:r>
                      </m:den>
                    </m:f>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m:t>
                    </m:r>
                  </m:oMath>
                </a14:m>
                <a:endParaRPr sz="2400">
                  <a:solidFill>
                    <a:srgbClr val="111827"/>
                  </a:solidFill>
                </a:endParaRPr>
              </a:p>
            </p:txBody>
          </p:sp>
        </mc:Choice>
        <mc:Fallback>
          <p:sp>
            <p:nvSpPr>
              <p:cNvPr id="4" name="Rounded Rectangle 3"/>
              <p:cNvSpPr/>
              <p:nvPr/>
            </p:nvSpPr>
            <p:spPr>
              <a:xfrm>
                <a:off x="731520" y="1280160"/>
                <a:ext cx="10725912" cy="34066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Three identical bags each contain 10 balls: Bag I has 3 Red, 2 Blue, 5 Green; Bag II has 4 Red, 3 Blue, 3 Green; Bag III has 5 Red, 1 Blue, 4 Green. A person chooses a bag at random and takes out a ball. If the ball is Red, the probability that it is from Bag I is </a:t>
                </a:r>
                <a:r>
                  <a:rPr lang="en-IN" sz="2400">
                    <a:solidFill>
                      <a:srgbClr val="111827"/>
                    </a:solidFill>
                    <a:latin typeface="Cambria Math" panose="02040503050406030204" pitchFamily="18" charset="0"/>
                  </a:rPr>
                  <a:t>$p$</a:t>
                </a:r>
                <a:r>
                  <a:rPr sz="2400" b="0">
                    <a:solidFill>
                      <a:srgbClr val="111827"/>
                    </a:solidFill>
                    <a:latin typeface="Arial"/>
                  </a:rPr>
                  <a:t>; if the ball is Green, the probability that it is from Bag III is </a:t>
                </a:r>
                <a:r>
                  <a:rPr lang="en-IN" sz="2400">
                    <a:solidFill>
                      <a:srgbClr val="111827"/>
                    </a:solidFill>
                    <a:latin typeface="Cambria Math" panose="02040503050406030204" pitchFamily="18" charset="0"/>
                  </a:rPr>
                  <a:t>$q$</a:t>
                </a:r>
                <a:r>
                  <a:rPr sz="2400" b="0">
                    <a:solidFill>
                      <a:srgbClr val="111827"/>
                    </a:solidFill>
                    <a:latin typeface="Arial"/>
                  </a:rPr>
                  <a:t>. Then the value of </a:t>
                </a:r>
                <a:r>
                  <a:rPr lang="en-IN" sz="2400">
                    <a:solidFill>
                      <a:srgbClr val="111827"/>
                    </a:solidFill>
                    <a:latin typeface="Cambria Math" panose="02040503050406030204" pitchFamily="18" charset="0"/>
                  </a:rPr>
                  <a:t>$\frac{1}{p}+\frac{1}{q}$</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$9$</a:t>
                </a:r>
                <a:r>
                  <a:rPr sz="2400" b="0">
                    <a:solidFill>
                      <a:srgbClr val="111827"/>
                    </a:solidFill>
                    <a:latin typeface="Arial"/>
                  </a:rPr>
                  <a:t>   (B) </a:t>
                </a:r>
                <a:r>
                  <a:rPr lang="en-IN" sz="2400">
                    <a:solidFill>
                      <a:srgbClr val="111827"/>
                    </a:solidFill>
                    <a:latin typeface="Cambria Math" panose="02040503050406030204" pitchFamily="18" charset="0"/>
                  </a:rPr>
                  <a:t>$8$</a:t>
                </a:r>
                <a:r>
                  <a:rPr sz="2400" b="0">
                    <a:solidFill>
                      <a:srgbClr val="111827"/>
                    </a:solidFill>
                    <a:latin typeface="Arial"/>
                  </a:rPr>
                  <a:t>   (C) </a:t>
                </a:r>
                <a:r>
                  <a:rPr lang="en-IN" sz="2400">
                    <a:solidFill>
                      <a:srgbClr val="111827"/>
                    </a:solidFill>
                    <a:latin typeface="Cambria Math" panose="02040503050406030204" pitchFamily="18" charset="0"/>
                  </a:rPr>
                  <a:t>$7$</a:t>
                </a:r>
                <a:r>
                  <a:rPr sz="2400" b="0">
                    <a:solidFill>
                      <a:srgbClr val="111827"/>
                    </a:solidFill>
                    <a:latin typeface="Arial"/>
                  </a:rPr>
                  <a:t>   (D) </a:t>
                </a:r>
                <a:r>
                  <a:rPr lang="en-IN" sz="2400">
                    <a:solidFill>
                      <a:srgbClr val="111827"/>
                    </a:solidFill>
                    <a:latin typeface="Cambria Math" panose="02040503050406030204" pitchFamily="18" charset="0"/>
                  </a:rPr>
                  <a:t>$6$</a:t>
                </a:r>
                <a:endParaRPr sz="2400">
                  <a:solidFill>
                    <a:srgbClr val="111827"/>
                  </a:solidFill>
                </a:endParaRPr>
              </a:p>
            </p:txBody>
          </p:sp>
        </mc:Fallback>
      </mc:AlternateContent>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Bayes'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Equal priors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 cancel in Bayes' formula, so each posterior is a ratio of likelihoods.</a:t>
                </a:r>
                <a:endParaRPr sz="2400">
                  <a:solidFill>
                    <a:srgbClr val="78350F"/>
                  </a:solidFill>
                </a:endParaRPr>
              </a:p>
            </p:txBody>
          </p:sp>
        </mc:Choice>
        <mc:Fallback>
          <p:sp>
            <p:nvSpPr>
              <p:cNvPr id="5" name="Rounded Rectangle 4"/>
              <p:cNvSpPr/>
              <p:nvPr/>
            </p:nvSpPr>
            <p:spPr>
              <a:xfrm>
                <a:off x="731520" y="3438144"/>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Equal priors </a:t>
                </a:r>
                <a:r>
                  <a:rPr lang="en-IN" sz="2400">
                    <a:solidFill>
                      <a:srgbClr val="78350F"/>
                    </a:solidFill>
                    <a:latin typeface="Cambria Math" panose="02040503050406030204" pitchFamily="18" charset="0"/>
                  </a:rPr>
                  <a:t>$\frac13$</a:t>
                </a:r>
                <a:r>
                  <a:rPr sz="2400" b="0">
                    <a:solidFill>
                      <a:srgbClr val="78350F"/>
                    </a:solidFill>
                    <a:latin typeface="Arial"/>
                  </a:rPr>
                  <a:t> cancel in Bayes' formula, so each posterior is a ratio of likelihoods.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794504"/>
                <a:ext cx="10725912" cy="1880615"/>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be the bags, each chosen with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denote a red and a green ball.</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by Bayes' theorem.</a:t>
                </a:r>
                <a:endParaRPr sz="2400">
                  <a:solidFill>
                    <a:srgbClr val="111827"/>
                  </a:solidFill>
                </a:endParaRPr>
              </a:p>
            </p:txBody>
          </p:sp>
        </mc:Choice>
        <mc:Fallback>
          <p:sp>
            <p:nvSpPr>
              <p:cNvPr id="6" name="Rectangle 5"/>
              <p:cNvSpPr/>
              <p:nvPr/>
            </p:nvSpPr>
            <p:spPr>
              <a:xfrm>
                <a:off x="731520" y="4794504"/>
                <a:ext cx="10725912" cy="1880615"/>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$B_1,B_2,B_3$</a:t>
                </a:r>
                <a:r>
                  <a:rPr sz="2400" b="0">
                    <a:solidFill>
                      <a:srgbClr val="111827"/>
                    </a:solidFill>
                    <a:latin typeface="Arial"/>
                  </a:rPr>
                  <a:t> be the bags, each chosen with probability </a:t>
                </a:r>
                <a:r>
                  <a:rPr lang="en-IN" sz="2400">
                    <a:solidFill>
                      <a:srgbClr val="111827"/>
                    </a:solidFill>
                    <a:latin typeface="Cambria Math" panose="02040503050406030204" pitchFamily="18" charset="0"/>
                  </a:rPr>
                  <a:t>$\frac13$</a:t>
                </a:r>
                <a:r>
                  <a:rPr sz="2400" b="0">
                    <a:solidFill>
                      <a:srgbClr val="111827"/>
                    </a:solidFill>
                    <a:latin typeface="Arial"/>
                  </a:rPr>
                  <a:t>; </a:t>
                </a:r>
                <a:r>
                  <a:rPr lang="en-IN" sz="2400">
                    <a:solidFill>
                      <a:srgbClr val="111827"/>
                    </a:solidFill>
                    <a:latin typeface="Cambria Math" panose="02040503050406030204" pitchFamily="18" charset="0"/>
                  </a:rPr>
                  <a:t>$R$</a:t>
                </a:r>
                <a:r>
                  <a:rPr sz="2400" b="0">
                    <a:solidFill>
                      <a:srgbClr val="111827"/>
                    </a:solidFill>
                    <a:latin typeface="Arial"/>
                  </a:rPr>
                  <a:t> and </a:t>
                </a:r>
                <a:r>
                  <a:rPr lang="en-IN" sz="2400">
                    <a:solidFill>
                      <a:srgbClr val="111827"/>
                    </a:solidFill>
                    <a:latin typeface="Cambria Math" panose="02040503050406030204" pitchFamily="18" charset="0"/>
                  </a:rPr>
                  <a:t>$G$</a:t>
                </a:r>
                <a:r>
                  <a:rPr sz="2400" b="0">
                    <a:solidFill>
                      <a:srgbClr val="111827"/>
                    </a:solidFill>
                    <a:latin typeface="Arial"/>
                  </a:rPr>
                  <a:t> denote a red and a green ball.</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$p=P(B_1\mid R)=\frac{P(B_1)\,P(R\mid B_1)}{P(R)}$</a:t>
                </a:r>
                <a:r>
                  <a:rPr sz="2400" b="0">
                    <a:solidFill>
                      <a:srgbClr val="111827"/>
                    </a:solidFill>
                    <a:latin typeface="Arial"/>
                  </a:rPr>
                  <a:t> by Bayes' theorem.</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10</m:t>
                            </m:r>
                          </m:den>
                        </m:f>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10</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10</m:t>
                            </m:r>
                          </m:den>
                        </m:f>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10</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𝑞</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$p=\frac{\frac13\cdot\frac{3}{10}}{\frac13\cdot\frac{3}{10}+\frac13\cdot\frac{4}{10}+\frac13\cdot\frac{5}{10}}$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$p=\frac{3}{3+4+5}=\frac{1}{4}$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$q=P(B_3\mid G)=\frac{P(B_3)\,P(G\mid B_3)}{P(G)}=\frac{\frac13\cdot\frac{4}{10}}{\frac13\cdot\frac{5}{10}+\frac13\cdot\frac{3}{10}+\frac13\cdot\frac{4}{10}}$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$q=\frac{4}{5+3+4}=\frac{1}{3}$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$\frac1p+\frac1q=4+3=7$</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7</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$7$</a:t>
                </a:r>
                <a:endParaRPr sz="2800">
                  <a:solidFill>
                    <a:srgbClr val="15803D"/>
                  </a:solidFill>
                </a:endParaRP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Equal bags chosen equally means a ball drawn from a random bag is a uniform draw from all 30 balls.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random bag and then a random ball from it (all bags have 10 balls) is the same as picking one of the 30 balls uniformly.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Red balls in total: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of which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are in Bag I,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random bag and then a random ball from it (all bags have 10 balls) is the same as picking one of the 30 balls uniformly.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Red balls in total: </a:t>
                </a:r>
                <a:r>
                  <a:rPr lang="en-IN" sz="2400">
                    <a:solidFill>
                      <a:srgbClr val="111827"/>
                    </a:solidFill>
                    <a:latin typeface="Cambria Math" panose="02040503050406030204" pitchFamily="18" charset="0"/>
                  </a:rPr>
                  <a:t>$3+4+5=12$</a:t>
                </a:r>
                <a:r>
                  <a:rPr sz="2400" b="0">
                    <a:solidFill>
                      <a:srgbClr val="111827"/>
                    </a:solidFill>
                    <a:latin typeface="Arial"/>
                  </a:rPr>
                  <a:t>, of which </a:t>
                </a:r>
                <a:r>
                  <a:rPr lang="en-IN" sz="2400">
                    <a:solidFill>
                      <a:srgbClr val="111827"/>
                    </a:solidFill>
                    <a:latin typeface="Cambria Math" panose="02040503050406030204" pitchFamily="18" charset="0"/>
                  </a:rPr>
                  <a:t>$3$</a:t>
                </a:r>
                <a:r>
                  <a:rPr sz="2400" b="0">
                    <a:solidFill>
                      <a:srgbClr val="111827"/>
                    </a:solidFill>
                    <a:latin typeface="Arial"/>
                  </a:rPr>
                  <a:t> are in Bag I, so </a:t>
                </a:r>
                <a:r>
                  <a:rPr lang="en-IN" sz="2400">
                    <a:solidFill>
                      <a:srgbClr val="111827"/>
                    </a:solidFill>
                    <a:latin typeface="Cambria Math" panose="02040503050406030204" pitchFamily="18" charset="0"/>
                  </a:rPr>
                  <a:t>$p=\frac{3}{12}=\frac14$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Green balls in total: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of which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are in Bag III, so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𝑞</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Green balls in total: </a:t>
                </a:r>
                <a:r>
                  <a:rPr lang="en-IN" sz="2400">
                    <a:solidFill>
                      <a:srgbClr val="111827"/>
                    </a:solidFill>
                    <a:latin typeface="Cambria Math" panose="02040503050406030204" pitchFamily="18" charset="0"/>
                  </a:rPr>
                  <a:t>$5+3+4=12$</a:t>
                </a:r>
                <a:r>
                  <a:rPr sz="2400" b="0">
                    <a:solidFill>
                      <a:srgbClr val="111827"/>
                    </a:solidFill>
                    <a:latin typeface="Arial"/>
                  </a:rPr>
                  <a:t>, of which </a:t>
                </a:r>
                <a:r>
                  <a:rPr lang="en-IN" sz="2400">
                    <a:solidFill>
                      <a:srgbClr val="111827"/>
                    </a:solidFill>
                    <a:latin typeface="Cambria Math" panose="02040503050406030204" pitchFamily="18" charset="0"/>
                  </a:rPr>
                  <a:t>$4$</a:t>
                </a:r>
                <a:r>
                  <a:rPr sz="2400" b="0">
                    <a:solidFill>
                      <a:srgbClr val="111827"/>
                    </a:solidFill>
                    <a:latin typeface="Arial"/>
                  </a:rPr>
                  <a:t> are in Bag III, so </a:t>
                </a:r>
                <a:r>
                  <a:rPr lang="en-IN" sz="2400">
                    <a:solidFill>
                      <a:srgbClr val="111827"/>
                    </a:solidFill>
                    <a:latin typeface="Cambria Math" panose="02040503050406030204" pitchFamily="18" charset="0"/>
                  </a:rPr>
                  <a:t>$q=\frac{4}{12}=\frac13$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$\frac1p+\frac1q=4+3=7$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7</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$7$</a:t>
                </a:r>
                <a:endParaRPr sz="2800">
                  <a:solidFill>
                    <a:srgbClr val="15803D"/>
                  </a:solidFill>
                </a:endParaRP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bags are equally likely, Bayes' theorem reduces to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num>
                      <m:den>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𝑃</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the priors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bags are also of equal size,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𝑓𝑎𝑣𝑜𝑢𝑟𝑎𝑏𝑙𝑒 𝑏𝑎𝑙𝑙𝑠 𝑖𝑛 </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𝑖</m:t>
                            </m:r>
                          </m:sub>
                        </m:sSub>
                      </m:num>
                      <m:den>
                        <m:r>
                          <m:rPr>
                            <m:nor/>
                          </m:rPr>
                          <a:rPr lang="en-IN" sz="2400" i="1">
                            <a:solidFill>
                              <a:srgbClr val="111827"/>
                            </a:solidFill>
                            <a:latin typeface="Cambria Math" panose="02040503050406030204" pitchFamily="18" charset="0"/>
                          </a:rPr>
                          <m:t>𝑓𝑎𝑣𝑜𝑢𝑟𝑎𝑏𝑙𝑒 𝑏𝑎𝑙𝑙𝑠 𝑖𝑛 𝑎𝑙𝑙 𝑏𝑎𝑔𝑠</m:t>
                        </m:r>
                      </m:den>
                    </m:f>
                  </m:oMath>
                </a14:m>
                <a:r>
                  <a:rPr sz="2400" b="0">
                    <a:solidFill>
                      <a:srgbClr val="111827"/>
                    </a:solidFill>
                    <a:latin typeface="Arial"/>
                  </a:rPr>
                  <a:t> (count balls of that colour).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posteriors over all bags must add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(here for Red: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bags are equally likely, Bayes' theorem reduces to </a:t>
                </a:r>
                <a:r>
                  <a:rPr lang="en-IN" sz="2400">
                    <a:solidFill>
                      <a:srgbClr val="111827"/>
                    </a:solidFill>
                    <a:latin typeface="Cambria Math" panose="02040503050406030204" pitchFamily="18" charset="0"/>
                  </a:rPr>
                  <a:t>$P(B_i\mid E)=\frac{P(E\mid B_i)}{\sum_j P(E\mid B_j)}$</a:t>
                </a:r>
                <a:r>
                  <a:rPr sz="2400" b="0">
                    <a:solidFill>
                      <a:srgbClr val="111827"/>
                    </a:solidFill>
                    <a:latin typeface="Arial"/>
                  </a:rPr>
                  <a:t>: the priors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bags are also of equal size, </a:t>
                </a:r>
                <a:r>
                  <a:rPr lang="en-IN" sz="2400">
                    <a:solidFill>
                      <a:srgbClr val="111827"/>
                    </a:solidFill>
                    <a:latin typeface="Cambria Math" panose="02040503050406030204" pitchFamily="18" charset="0"/>
                  </a:rPr>
                  <a:t>$P(B_i\mid E)=\frac{\text{favourable balls in }B_i}{\text{favourable balls in all bags}}$</a:t>
                </a:r>
                <a:r>
                  <a:rPr sz="2400" b="0">
                    <a:solidFill>
                      <a:srgbClr val="111827"/>
                    </a:solidFill>
                    <a:latin typeface="Arial"/>
                  </a:rPr>
                  <a:t> (count balls of that colour).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posteriors over all bags must add to </a:t>
                </a:r>
                <a:r>
                  <a:rPr lang="en-IN" sz="2400">
                    <a:solidFill>
                      <a:srgbClr val="111827"/>
                    </a:solidFill>
                    <a:latin typeface="Cambria Math" panose="02040503050406030204" pitchFamily="18" charset="0"/>
                  </a:rPr>
                  <a:t>$1$</a:t>
                </a:r>
                <a:r>
                  <a:rPr sz="2400" b="0">
                    <a:solidFill>
                      <a:srgbClr val="111827"/>
                    </a:solidFill>
                    <a:latin typeface="Arial"/>
                  </a:rPr>
                  <a:t> (here for Red: </a:t>
                </a:r>
                <a:r>
                  <a:rPr lang="en-IN" sz="2400">
                    <a:solidFill>
                      <a:srgbClr val="111827"/>
                    </a:solidFill>
                    <a:latin typeface="Cambria Math" panose="02040503050406030204" pitchFamily="18" charset="0"/>
                  </a:rPr>
                  <a:t>$\frac3{12}+\frac4{12}+\frac5{12}=1$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probability that the random variable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takes the value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given by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a constant, then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27</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probability that the random variable </a:t>
                </a:r>
                <a:r>
                  <a:rPr lang="en-IN" sz="2400">
                    <a:solidFill>
                      <a:srgbClr val="111827"/>
                    </a:solidFill>
                    <a:latin typeface="Cambria Math" panose="02040503050406030204" pitchFamily="18" charset="0"/>
                  </a:rPr>
                  <a:t>$X$</a:t>
                </a:r>
                <a:r>
                  <a:rPr sz="2400" b="0">
                    <a:solidFill>
                      <a:srgbClr val="111827"/>
                    </a:solidFill>
                    <a:latin typeface="Arial"/>
                  </a:rPr>
                  <a:t> takes the value </a:t>
                </a:r>
                <a:r>
                  <a:rPr lang="en-IN" sz="2400">
                    <a:solidFill>
                      <a:srgbClr val="111827"/>
                    </a:solidFill>
                    <a:latin typeface="Cambria Math" panose="02040503050406030204" pitchFamily="18" charset="0"/>
                  </a:rPr>
                  <a:t>$x$</a:t>
                </a:r>
                <a:r>
                  <a:rPr sz="2400" b="0">
                    <a:solidFill>
                      <a:srgbClr val="111827"/>
                    </a:solidFill>
                    <a:latin typeface="Arial"/>
                  </a:rPr>
                  <a:t> is given by </a:t>
                </a:r>
                <a:r>
                  <a:rPr lang="en-IN" sz="2400">
                    <a:solidFill>
                      <a:srgbClr val="111827"/>
                    </a:solidFill>
                    <a:latin typeface="Cambria Math" panose="02040503050406030204" pitchFamily="18" charset="0"/>
                  </a:rPr>
                  <a:t>$P(X=x)=k(x+1)3^{-x}$</a:t>
                </a:r>
                <a:r>
                  <a:rPr sz="2400" b="0">
                    <a:solidFill>
                      <a:srgbClr val="111827"/>
                    </a:solidFill>
                    <a:latin typeface="Arial"/>
                  </a:rPr>
                  <a:t>, </a:t>
                </a:r>
                <a:r>
                  <a:rPr lang="en-IN" sz="2400">
                    <a:solidFill>
                      <a:srgbClr val="111827"/>
                    </a:solidFill>
                    <a:latin typeface="Cambria Math" panose="02040503050406030204" pitchFamily="18" charset="0"/>
                  </a:rPr>
                  <a:t>$x=0,1,2,3,\dots$</a:t>
                </a:r>
                <a:r>
                  <a:rPr sz="2400" b="0">
                    <a:solidFill>
                      <a:srgbClr val="111827"/>
                    </a:solidFill>
                    <a:latin typeface="Arial"/>
                  </a:rPr>
                  <a:t>, where </a:t>
                </a:r>
                <a:r>
                  <a:rPr lang="en-IN" sz="2400">
                    <a:solidFill>
                      <a:srgbClr val="111827"/>
                    </a:solidFill>
                    <a:latin typeface="Cambria Math" panose="02040503050406030204" pitchFamily="18" charset="0"/>
                  </a:rPr>
                  <a:t>$k$</a:t>
                </a:r>
                <a:r>
                  <a:rPr sz="2400" b="0">
                    <a:solidFill>
                      <a:srgbClr val="111827"/>
                    </a:solidFill>
                    <a:latin typeface="Arial"/>
                  </a:rPr>
                  <a:t> is a constant, then </a:t>
                </a:r>
                <a:r>
                  <a:rPr lang="en-IN" sz="2400">
                    <a:solidFill>
                      <a:srgbClr val="111827"/>
                    </a:solidFill>
                    <a:latin typeface="Cambria Math" panose="02040503050406030204" pitchFamily="18" charset="0"/>
                  </a:rPr>
                  <a:t>$P(X\ge 3)$</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$\frac{8}{27}$</a:t>
                </a:r>
                <a:r>
                  <a:rPr sz="2400" b="0">
                    <a:solidFill>
                      <a:srgbClr val="111827"/>
                    </a:solidFill>
                    <a:latin typeface="Arial"/>
                  </a:rPr>
                  <a:t>   (B) </a:t>
                </a:r>
                <a:r>
                  <a:rPr lang="en-IN" sz="2400">
                    <a:solidFill>
                      <a:srgbClr val="111827"/>
                    </a:solidFill>
                    <a:latin typeface="Cambria Math" panose="02040503050406030204" pitchFamily="18" charset="0"/>
                  </a:rPr>
                  <a:t>$\frac{4}{9}$</a:t>
                </a:r>
                <a:r>
                  <a:rPr sz="2400" b="0">
                    <a:solidFill>
                      <a:srgbClr val="111827"/>
                    </a:solidFill>
                    <a:latin typeface="Arial"/>
                  </a:rPr>
                  <a:t>   (C) </a:t>
                </a:r>
                <a:r>
                  <a:rPr lang="en-IN" sz="2400">
                    <a:solidFill>
                      <a:srgbClr val="111827"/>
                    </a:solidFill>
                    <a:latin typeface="Cambria Math" panose="02040503050406030204" pitchFamily="18" charset="0"/>
                  </a:rPr>
                  <a:t>$\frac{1}{9}$</a:t>
                </a:r>
                <a:r>
                  <a:rPr sz="2400" b="0">
                    <a:solidFill>
                      <a:srgbClr val="111827"/>
                    </a:solidFill>
                    <a:latin typeface="Arial"/>
                  </a:rPr>
                  <a:t>   (D) </a:t>
                </a:r>
                <a:r>
                  <a:rPr lang="en-IN" sz="2400">
                    <a:solidFill>
                      <a:srgbClr val="111827"/>
                    </a:solidFill>
                    <a:latin typeface="Cambria Math" panose="02040503050406030204" pitchFamily="18" charset="0"/>
                  </a:rPr>
                  <a:t>$\frac{7}{27}$</a:t>
                </a:r>
                <a:endParaRPr sz="2400">
                  <a:solidFill>
                    <a:srgbClr val="111827"/>
                  </a:solidFill>
                </a:endParaRPr>
              </a:p>
            </p:txBody>
          </p:sp>
        </mc:Fallback>
      </mc:AlternateContent>
      <p:sp>
        <p:nvSpPr>
          <p:cNvPr id="5" name="Rectangle 4"/>
          <p:cNvSpPr/>
          <p:nvPr/>
        </p:nvSpPr>
        <p:spPr>
          <a:xfrm>
            <a:off x="731520" y="41716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Probability distribution of a discrete random variable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 from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by the ``subtract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 of the series'' trick, then use the complement.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a:t>
                </a:r>
                <a:r>
                  <a:rPr lang="en-IN" sz="2400">
                    <a:solidFill>
                      <a:srgbClr val="78350F"/>
                    </a:solidFill>
                    <a:latin typeface="Cambria Math" panose="02040503050406030204" pitchFamily="18" charset="0"/>
                  </a:rPr>
                  <a:t>$k$</a:t>
                </a:r>
                <a:r>
                  <a:rPr sz="2400" b="0">
                    <a:solidFill>
                      <a:srgbClr val="78350F"/>
                    </a:solidFill>
                    <a:latin typeface="Arial"/>
                  </a:rPr>
                  <a:t> from </a:t>
                </a:r>
                <a:r>
                  <a:rPr lang="en-IN" sz="2400">
                    <a:solidFill>
                      <a:srgbClr val="78350F"/>
                    </a:solidFill>
                    <a:latin typeface="Cambria Math" panose="02040503050406030204" pitchFamily="18" charset="0"/>
                  </a:rPr>
                  <a:t>$\sum P=1$</a:t>
                </a:r>
                <a:r>
                  <a:rPr sz="2400" b="0">
                    <a:solidFill>
                      <a:srgbClr val="78350F"/>
                    </a:solidFill>
                    <a:latin typeface="Arial"/>
                  </a:rPr>
                  <a:t> by the ``subtract </a:t>
                </a:r>
                <a:r>
                  <a:rPr lang="en-IN" sz="2400">
                    <a:solidFill>
                      <a:srgbClr val="78350F"/>
                    </a:solidFill>
                    <a:latin typeface="Cambria Math" panose="02040503050406030204" pitchFamily="18" charset="0"/>
                  </a:rPr>
                  <a:t>$\frac13$</a:t>
                </a:r>
                <a:r>
                  <a:rPr sz="2400" b="0">
                    <a:solidFill>
                      <a:srgbClr val="78350F"/>
                    </a:solidFill>
                    <a:latin typeface="Arial"/>
                  </a:rPr>
                  <a:t> of the series'' trick, then use the complement.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probabilities add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m:rPr>
                            <m:sty m:val="p"/>
                          </m:rPr>
                          <a:rPr lang="en-IN" sz="2400">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𝑘</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(2) from (1):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 infinite G.P. with sum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probabilities add to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$\sum_{x=0}^{\infty}k(x+1)3^{-x}=1$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$\frac1k=1+\frac23+\frac{3}{3^2}+\frac{4}{3^3}+\dots$</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r>
                  <a:rPr lang="en-IN" sz="2400">
                    <a:solidFill>
                      <a:srgbClr val="111827"/>
                    </a:solidFill>
                    <a:latin typeface="Cambria Math" panose="02040503050406030204" pitchFamily="18" charset="0"/>
                  </a:rPr>
                  <a:t>$\frac13$</a:t>
                </a:r>
                <a:r>
                  <a:rPr sz="2400" b="0">
                    <a:solidFill>
                      <a:srgbClr val="111827"/>
                    </a:solidFill>
                    <a:latin typeface="Arial"/>
                  </a:rPr>
                  <a:t>: </a:t>
                </a:r>
                <a:r>
                  <a:rPr lang="en-IN" sz="2400">
                    <a:solidFill>
                      <a:srgbClr val="111827"/>
                    </a:solidFill>
                    <a:latin typeface="Cambria Math" panose="02040503050406030204" pitchFamily="18" charset="0"/>
                  </a:rPr>
                  <a:t>$\frac{1}{3k}=\frac13+\frac{2}{3^2}+\frac{3}{3^3}+\dots$</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(2) from (1): </a:t>
                </a:r>
                <a:r>
                  <a:rPr lang="en-IN" sz="2400">
                    <a:solidFill>
                      <a:srgbClr val="111827"/>
                    </a:solidFill>
                    <a:latin typeface="Cambria Math" panose="02040503050406030204" pitchFamily="18" charset="0"/>
                  </a:rPr>
                  <a:t>$\frac1k-\frac1{3k}=1+\frac13+\frac1{3^2}+\dots$</a:t>
                </a:r>
                <a:r>
                  <a:rPr sz="2400" b="0">
                    <a:solidFill>
                      <a:srgbClr val="111827"/>
                    </a:solidFill>
                    <a:latin typeface="Arial"/>
                  </a:rPr>
                  <a:t>, an infinite G.P. with sum </a:t>
                </a:r>
                <a:r>
                  <a:rPr lang="en-IN" sz="2400">
                    <a:solidFill>
                      <a:srgbClr val="111827"/>
                    </a:solidFill>
                    <a:latin typeface="Cambria Math" panose="02040503050406030204" pitchFamily="18" charset="0"/>
                  </a:rPr>
                  <a:t>$\frac{1}{1-\frac13}=\frac32$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9</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$\frac{2}{3k}=\frac32$</a:t>
                </a:r>
                <a:r>
                  <a:rPr sz="2400" b="0">
                    <a:solidFill>
                      <a:srgbClr val="111827"/>
                    </a:solidFill>
                    <a:latin typeface="Arial"/>
                  </a:rPr>
                  <a:t>, giving </a:t>
                </a:r>
                <a:r>
                  <a:rPr lang="en-IN" sz="2400">
                    <a:solidFill>
                      <a:srgbClr val="111827"/>
                    </a:solidFill>
                    <a:latin typeface="Cambria Math" panose="02040503050406030204" pitchFamily="18" charset="0"/>
                  </a:rPr>
                  <a:t>$k=\frac49$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$P(X\ge3)=1-P(X=0)-P(X=1)-P(X=2)$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$=1-k\left(1+\frac23+\frac39\right)=1-\frac49\cdot 2=\frac19$</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9</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$\frac{1}{9}$</a:t>
                </a:r>
                <a:endParaRPr sz="2800">
                  <a:solidFill>
                    <a:srgbClr val="15803D"/>
                  </a:solidFill>
                </a:endParaRP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𝑝</m:t>
                        </m:r>
                      </m:e>
                      <m:sup>
                        <m:r>
                          <a:rPr lang="en-IN" sz="2400" i="1">
                            <a:solidFill>
                              <a:srgbClr val="78350F"/>
                            </a:solidFill>
                            <a:latin typeface="Cambria Math" panose="02040503050406030204" pitchFamily="18" charset="0"/>
                          </a:rPr>
                          <m:t>2</m:t>
                        </m:r>
                      </m:sup>
                    </m:sSup>
                    <m:sSup>
                      <m:e>
                        <m:r>
                          <a:rPr lang="en-IN" sz="2400" i="1">
                            <a:solidFill>
                              <a:srgbClr val="78350F"/>
                            </a:solidFill>
                            <a:latin typeface="Cambria Math" panose="02040503050406030204" pitchFamily="18" charset="0"/>
                          </a:rPr>
                          <m:t>𝑞</m:t>
                        </m:r>
                      </m:e>
                      <m:sup>
                        <m:r>
                          <a:rPr lang="en-IN" sz="2400" i="1">
                            <a:solidFill>
                              <a:srgbClr val="78350F"/>
                            </a:solidFill>
                            <a:latin typeface="Cambria Math" panose="02040503050406030204" pitchFamily="18" charset="0"/>
                          </a:rPr>
                          <m:t>𝑥</m:t>
                        </m:r>
                      </m:sup>
                    </m:sSup>
                  </m:oMath>
                </a14:m>
                <a:r>
                  <a:rPr sz="2400" b="0">
                    <a:solidFill>
                      <a:srgbClr val="78350F"/>
                    </a:solidFill>
                    <a:latin typeface="Arial"/>
                  </a:rPr>
                  <a:t> is the number of failures before the 2nd success, so </a:t>
                </a:r>
                <a14:m>
                  <m:oMath xmlns:m="http://schemas.openxmlformats.org/officeDocument/2006/math">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is a statement about 4 trials.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$P(X=x)=(x+1)p^2q^x$</a:t>
                </a:r>
                <a:r>
                  <a:rPr sz="2400" b="0">
                    <a:solidFill>
                      <a:srgbClr val="78350F"/>
                    </a:solidFill>
                    <a:latin typeface="Arial"/>
                  </a:rPr>
                  <a:t> is the number of failures before the 2nd success, so </a:t>
                </a:r>
                <a:r>
                  <a:rPr lang="en-IN" sz="2400">
                    <a:solidFill>
                      <a:srgbClr val="78350F"/>
                    </a:solidFill>
                    <a:latin typeface="Cambria Math" panose="02040503050406030204" pitchFamily="18" charset="0"/>
                  </a:rPr>
                  <a:t>$X\ge3$</a:t>
                </a:r>
                <a:r>
                  <a:rPr sz="2400" b="0">
                    <a:solidFill>
                      <a:srgbClr val="78350F"/>
                    </a:solidFill>
                    <a:latin typeface="Arial"/>
                  </a:rPr>
                  <a:t> is a statement about 4 trials.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den>
                        </m:f>
                      </m:e>
                    </m:d>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(negative binomial: failures before the 2nd success).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2nd success occurs on trial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means the 2nd success is on trial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or later.</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$q=\frac13,\ p=\frac23$</a:t>
                </a:r>
                <a:r>
                  <a:rPr sz="2400" b="0">
                    <a:solidFill>
                      <a:srgbClr val="111827"/>
                    </a:solidFill>
                    <a:latin typeface="Arial"/>
                  </a:rPr>
                  <a:t>: </a:t>
                </a:r>
                <a:r>
                  <a:rPr lang="en-IN" sz="2400">
                    <a:solidFill>
                      <a:srgbClr val="111827"/>
                    </a:solidFill>
                    <a:latin typeface="Cambria Math" panose="02040503050406030204" pitchFamily="18" charset="0"/>
                  </a:rPr>
                  <a:t>$P(X=x)=\binom{x+1}{1}p^2q^x=\frac49(x+1)3^{-x}$</a:t>
                </a:r>
                <a:r>
                  <a:rPr sz="2400" b="0">
                    <a:solidFill>
                      <a:srgbClr val="111827"/>
                    </a:solidFill>
                    <a:latin typeface="Arial"/>
                  </a:rPr>
                  <a:t>, so </a:t>
                </a:r>
                <a:r>
                  <a:rPr lang="en-IN" sz="2400">
                    <a:solidFill>
                      <a:srgbClr val="111827"/>
                    </a:solidFill>
                    <a:latin typeface="Cambria Math" panose="02040503050406030204" pitchFamily="18" charset="0"/>
                  </a:rPr>
                  <a:t>$k=\frac49$</a:t>
                </a:r>
                <a:r>
                  <a:rPr sz="2400" b="0">
                    <a:solidFill>
                      <a:srgbClr val="111827"/>
                    </a:solidFill>
                    <a:latin typeface="Arial"/>
                  </a:rPr>
                  <a:t> (negative binomial: failures before the 2nd success).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2nd success occurs on trial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$X\ge3$</a:t>
                </a:r>
                <a:r>
                  <a:rPr sz="2400" b="0">
                    <a:solidFill>
                      <a:srgbClr val="111827"/>
                    </a:solidFill>
                    <a:latin typeface="Arial"/>
                  </a:rPr>
                  <a:t> means the 2nd success is on trial </a:t>
                </a:r>
                <a:r>
                  <a:rPr lang="en-IN" sz="2400">
                    <a:solidFill>
                      <a:srgbClr val="111827"/>
                    </a:solidFill>
                    <a:latin typeface="Cambria Math" panose="02040503050406030204" pitchFamily="18" charset="0"/>
                  </a:rPr>
                  <a:t>$5$</a:t>
                </a:r>
                <a:r>
                  <a:rPr sz="2400" b="0">
                    <a:solidFill>
                      <a:srgbClr val="111827"/>
                    </a:solidFill>
                    <a:latin typeface="Arial"/>
                  </a:rPr>
                  <a:t> or later.</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That happens exactly when the first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trials contain at most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success.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81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That happens exactly when the first </a:t>
                </a:r>
                <a:r>
                  <a:rPr lang="en-IN" sz="2400">
                    <a:solidFill>
                      <a:srgbClr val="111827"/>
                    </a:solidFill>
                    <a:latin typeface="Cambria Math" panose="02040503050406030204" pitchFamily="18" charset="0"/>
                  </a:rPr>
                  <a:t>$4$</a:t>
                </a:r>
                <a:r>
                  <a:rPr sz="2400" b="0">
                    <a:solidFill>
                      <a:srgbClr val="111827"/>
                    </a:solidFill>
                    <a:latin typeface="Arial"/>
                  </a:rPr>
                  <a:t> trials contain at most </a:t>
                </a:r>
                <a:r>
                  <a:rPr lang="en-IN" sz="2400">
                    <a:solidFill>
                      <a:srgbClr val="111827"/>
                    </a:solidFill>
                    <a:latin typeface="Cambria Math" panose="02040503050406030204" pitchFamily="18" charset="0"/>
                  </a:rPr>
                  <a:t>$1$</a:t>
                </a:r>
                <a:r>
                  <a:rPr sz="2400" b="0">
                    <a:solidFill>
                      <a:srgbClr val="111827"/>
                    </a:solidFill>
                    <a:latin typeface="Arial"/>
                  </a:rPr>
                  <a:t> success.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$P=q^4+4\,p\,q^3=\frac1{81}+4\cdot\frac23\cdot\frac1{27}=\frac{1}{81}+\frac{8}{81}=\frac19$</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9</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$\frac{1}{9}$</a:t>
                </a:r>
                <a:endParaRPr sz="2800">
                  <a:solidFill>
                    <a:srgbClr val="15803D"/>
                  </a:solidFill>
                </a:endParaRP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𝑥</m:t>
                            </m:r>
                          </m:sup>
                        </m:sSup>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oMath>
                </a14:m>
                <a:r>
                  <a:rPr sz="2400" b="0">
                    <a:solidFill>
                      <a:srgbClr val="111827"/>
                    </a:solidFill>
                    <a:latin typeface="Arial"/>
                  </a:rPr>
                  <a:t> and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and subtract'' turns an arithmetico-geometric series into a G.P.</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is a negative binomial law (failures before the 2nd success); tail events become binomial statements about a fixed number of trials.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$|r|&lt;1$</a:t>
                </a:r>
                <a:r>
                  <a:rPr sz="2400" b="0">
                    <a:solidFill>
                      <a:srgbClr val="111827"/>
                    </a:solidFill>
                    <a:latin typeface="Arial"/>
                  </a:rPr>
                  <a:t>: </a:t>
                </a:r>
                <a:r>
                  <a:rPr lang="en-IN" sz="2400">
                    <a:solidFill>
                      <a:srgbClr val="111827"/>
                    </a:solidFill>
                    <a:latin typeface="Cambria Math" panose="02040503050406030204" pitchFamily="18" charset="0"/>
                  </a:rPr>
                  <a:t>$\sum_{x\ge0}r^x=\frac1{1-r}$</a:t>
                </a:r>
                <a:r>
                  <a:rPr sz="2400" b="0">
                    <a:solidFill>
                      <a:srgbClr val="111827"/>
                    </a:solidFill>
                    <a:latin typeface="Arial"/>
                  </a:rPr>
                  <a:t> and </a:t>
                </a:r>
                <a:r>
                  <a:rPr lang="en-IN" sz="2400">
                    <a:solidFill>
                      <a:srgbClr val="111827"/>
                    </a:solidFill>
                    <a:latin typeface="Cambria Math" panose="02040503050406030204" pitchFamily="18" charset="0"/>
                  </a:rPr>
                  <a:t>$\sum_{x\ge0}(x+1)r^x=\frac1{(1-r)^2}$</a:t>
                </a:r>
                <a:r>
                  <a:rPr sz="2400" b="0">
                    <a:solidFill>
                      <a:srgbClr val="111827"/>
                    </a:solidFill>
                    <a:latin typeface="Arial"/>
                  </a:rPr>
                  <a:t> (here </a:t>
                </a:r>
                <a:r>
                  <a:rPr lang="en-IN" sz="2400">
                    <a:solidFill>
                      <a:srgbClr val="111827"/>
                    </a:solidFill>
                    <a:latin typeface="Cambria Math" panose="02040503050406030204" pitchFamily="18" charset="0"/>
                  </a:rPr>
                  <a:t>$r=\frac13$</a:t>
                </a:r>
                <a:r>
                  <a:rPr sz="2400" b="0">
                    <a:solidFill>
                      <a:srgbClr val="111827"/>
                    </a:solidFill>
                    <a:latin typeface="Arial"/>
                  </a:rPr>
                  <a:t> gives </a:t>
                </a:r>
                <a:r>
                  <a:rPr lang="en-IN" sz="2400">
                    <a:solidFill>
                      <a:srgbClr val="111827"/>
                    </a:solidFill>
                    <a:latin typeface="Cambria Math" panose="02040503050406030204" pitchFamily="18" charset="0"/>
                  </a:rPr>
                  <a:t>$\frac94$</a:t>
                </a:r>
                <a:r>
                  <a:rPr sz="2400" b="0">
                    <a:solidFill>
                      <a:srgbClr val="111827"/>
                    </a:solidFill>
                    <a:latin typeface="Arial"/>
                  </a:rPr>
                  <a:t>, so </a:t>
                </a:r>
                <a:r>
                  <a:rPr lang="en-IN" sz="2400">
                    <a:solidFill>
                      <a:srgbClr val="111827"/>
                    </a:solidFill>
                    <a:latin typeface="Cambria Math" panose="02040503050406030204" pitchFamily="18" charset="0"/>
                  </a:rPr>
                  <a:t>$k=\frac49$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r>
                  <a:rPr lang="en-IN" sz="2400">
                    <a:solidFill>
                      <a:srgbClr val="111827"/>
                    </a:solidFill>
                    <a:latin typeface="Cambria Math" panose="02040503050406030204" pitchFamily="18" charset="0"/>
                  </a:rPr>
                  <a:t>$r$</a:t>
                </a:r>
                <a:r>
                  <a:rPr sz="2400" b="0">
                    <a:solidFill>
                      <a:srgbClr val="111827"/>
                    </a:solidFill>
                    <a:latin typeface="Arial"/>
                  </a:rPr>
                  <a:t> and subtract'' turns an arithmetico-geometric series into a G.P.</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$P(X=x)=(x+1)(1-r)^2r^x$</a:t>
                </a:r>
                <a:r>
                  <a:rPr sz="2400" b="0">
                    <a:solidFill>
                      <a:srgbClr val="111827"/>
                    </a:solidFill>
                    <a:latin typeface="Arial"/>
                  </a:rPr>
                  <a:t> is a negative binomial law (failures before the 2nd success); tail events become binomial statements about a fixed number of trials.</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box contains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pens of which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are defective. A sample of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pens is drawn at random and let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denote the number of defective pens. Then the variance of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m:t>
                        </m:r>
                      </m:num>
                      <m:den>
                        <m:r>
                          <a:rPr lang="en-IN" sz="2400" i="1">
                            <a:solidFill>
                              <a:srgbClr val="111827"/>
                            </a:solidFill>
                            <a:latin typeface="Cambria Math" panose="02040503050406030204" pitchFamily="18" charset="0"/>
                          </a:rPr>
                          <m:t>75</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15</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box contains </a:t>
                </a:r>
                <a:r>
                  <a:rPr lang="en-IN" sz="2400">
                    <a:solidFill>
                      <a:srgbClr val="111827"/>
                    </a:solidFill>
                    <a:latin typeface="Cambria Math" panose="02040503050406030204" pitchFamily="18" charset="0"/>
                  </a:rPr>
                  <a:t>$10$</a:t>
                </a:r>
                <a:r>
                  <a:rPr sz="2400" b="0">
                    <a:solidFill>
                      <a:srgbClr val="111827"/>
                    </a:solidFill>
                    <a:latin typeface="Arial"/>
                  </a:rPr>
                  <a:t> pens of which </a:t>
                </a:r>
                <a:r>
                  <a:rPr lang="en-IN" sz="2400">
                    <a:solidFill>
                      <a:srgbClr val="111827"/>
                    </a:solidFill>
                    <a:latin typeface="Cambria Math" panose="02040503050406030204" pitchFamily="18" charset="0"/>
                  </a:rPr>
                  <a:t>$3$</a:t>
                </a:r>
                <a:r>
                  <a:rPr sz="2400" b="0">
                    <a:solidFill>
                      <a:srgbClr val="111827"/>
                    </a:solidFill>
                    <a:latin typeface="Arial"/>
                  </a:rPr>
                  <a:t> are defective. A sample of </a:t>
                </a:r>
                <a:r>
                  <a:rPr lang="en-IN" sz="2400">
                    <a:solidFill>
                      <a:srgbClr val="111827"/>
                    </a:solidFill>
                    <a:latin typeface="Cambria Math" panose="02040503050406030204" pitchFamily="18" charset="0"/>
                  </a:rPr>
                  <a:t>$2$</a:t>
                </a:r>
                <a:r>
                  <a:rPr sz="2400" b="0">
                    <a:solidFill>
                      <a:srgbClr val="111827"/>
                    </a:solidFill>
                    <a:latin typeface="Arial"/>
                  </a:rPr>
                  <a:t> pens is drawn at random and let </a:t>
                </a:r>
                <a:r>
                  <a:rPr lang="en-IN" sz="2400">
                    <a:solidFill>
                      <a:srgbClr val="111827"/>
                    </a:solidFill>
                    <a:latin typeface="Cambria Math" panose="02040503050406030204" pitchFamily="18" charset="0"/>
                  </a:rPr>
                  <a:t>$X$</a:t>
                </a:r>
                <a:r>
                  <a:rPr sz="2400" b="0">
                    <a:solidFill>
                      <a:srgbClr val="111827"/>
                    </a:solidFill>
                    <a:latin typeface="Arial"/>
                  </a:rPr>
                  <a:t> denote the number of defective pens. Then the variance of </a:t>
                </a:r>
                <a:r>
                  <a:rPr lang="en-IN" sz="2400">
                    <a:solidFill>
                      <a:srgbClr val="111827"/>
                    </a:solidFill>
                    <a:latin typeface="Cambria Math" panose="02040503050406030204" pitchFamily="18" charset="0"/>
                  </a:rPr>
                  <a:t>$X$</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$\frac{28}{75}$</a:t>
                </a:r>
                <a:r>
                  <a:rPr sz="2400" b="0">
                    <a:solidFill>
                      <a:srgbClr val="111827"/>
                    </a:solidFill>
                    <a:latin typeface="Arial"/>
                  </a:rPr>
                  <a:t>   (B) </a:t>
                </a:r>
                <a:r>
                  <a:rPr lang="en-IN" sz="2400">
                    <a:solidFill>
                      <a:srgbClr val="111827"/>
                    </a:solidFill>
                    <a:latin typeface="Cambria Math" panose="02040503050406030204" pitchFamily="18" charset="0"/>
                  </a:rPr>
                  <a:t>$\frac{2}{15}$</a:t>
                </a:r>
                <a:r>
                  <a:rPr sz="2400" b="0">
                    <a:solidFill>
                      <a:srgbClr val="111827"/>
                    </a:solidFill>
                    <a:latin typeface="Arial"/>
                  </a:rPr>
                  <a:t>   (C) </a:t>
                </a:r>
                <a:r>
                  <a:rPr lang="en-IN" sz="2400">
                    <a:solidFill>
                      <a:srgbClr val="111827"/>
                    </a:solidFill>
                    <a:latin typeface="Cambria Math" panose="02040503050406030204" pitchFamily="18" charset="0"/>
                  </a:rPr>
                  <a:t>$\frac{3}{5}$</a:t>
                </a:r>
                <a:r>
                  <a:rPr sz="2400" b="0">
                    <a:solidFill>
                      <a:srgbClr val="111827"/>
                    </a:solidFill>
                    <a:latin typeface="Arial"/>
                  </a:rPr>
                  <a:t>   (D) </a:t>
                </a:r>
                <a:r>
                  <a:rPr lang="en-IN" sz="2400">
                    <a:solidFill>
                      <a:srgbClr val="111827"/>
                    </a:solidFill>
                    <a:latin typeface="Cambria Math" panose="02040503050406030204" pitchFamily="18" charset="0"/>
                  </a:rPr>
                  <a:t>$\frac{11}{15}$</a:t>
                </a:r>
                <a:endParaRPr sz="2400">
                  <a:solidFill>
                    <a:srgbClr val="111827"/>
                  </a:solidFill>
                </a:endParaRPr>
              </a:p>
            </p:txBody>
          </p:sp>
        </mc:Fallback>
      </mc:AlternateContent>
      <p:sp>
        <p:nvSpPr>
          <p:cNvPr id="5" name="Rectangle 4"/>
          <p:cNvSpPr/>
          <p:nvPr/>
        </p:nvSpPr>
        <p:spPr>
          <a:xfrm>
            <a:off x="731520" y="41716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variance of a random variable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Tabulate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combinations, then use </a:t>
                </a:r>
                <a14:m>
                  <m:oMath xmlns:m="http://schemas.openxmlformats.org/officeDocument/2006/math">
                    <m:sSup>
                      <m:e>
                        <m:r>
                          <a:rPr lang="en-IN" sz="2400" i="1">
                            <a:solidFill>
                              <a:srgbClr val="78350F"/>
                            </a:solidFill>
                            <a:latin typeface="Cambria Math" panose="02040503050406030204" pitchFamily="18" charset="0"/>
                          </a:rPr>
                          <m:t>σ</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𝑝</m:t>
                        </m:r>
                      </m:e>
                      <m:sub>
                        <m:r>
                          <a:rPr lang="en-IN" sz="2400" i="1">
                            <a:solidFill>
                              <a:srgbClr val="78350F"/>
                            </a:solidFill>
                            <a:latin typeface="Cambria Math" panose="02040503050406030204" pitchFamily="18" charset="0"/>
                          </a:rPr>
                          <m:t>𝑖</m:t>
                        </m:r>
                      </m:sub>
                    </m:sSub>
                    <m:sSubSup>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μ</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Tabulate </a:t>
                </a:r>
                <a:r>
                  <a:rPr lang="en-IN" sz="2400">
                    <a:solidFill>
                      <a:srgbClr val="78350F"/>
                    </a:solidFill>
                    <a:latin typeface="Cambria Math" panose="02040503050406030204" pitchFamily="18" charset="0"/>
                  </a:rPr>
                  <a:t>$P(X=0,1,2)$</a:t>
                </a:r>
                <a:r>
                  <a:rPr sz="2400" b="0">
                    <a:solidFill>
                      <a:srgbClr val="78350F"/>
                    </a:solidFill>
                    <a:latin typeface="Arial"/>
                  </a:rPr>
                  <a:t> with combinations, then use </a:t>
                </a:r>
                <a:r>
                  <a:rPr lang="en-IN" sz="2400">
                    <a:solidFill>
                      <a:srgbClr val="78350F"/>
                    </a:solidFill>
                    <a:latin typeface="Cambria Math" panose="02040503050406030204" pitchFamily="18" charset="0"/>
                  </a:rPr>
                  <a:t>$\sigma^2=\sum p_ix_i^2-\mu^2$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Out of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pens,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are defective and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good;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(Check: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Out of </a:t>
                </a:r>
                <a:r>
                  <a:rPr lang="en-IN" sz="2400">
                    <a:solidFill>
                      <a:srgbClr val="111827"/>
                    </a:solidFill>
                    <a:latin typeface="Cambria Math" panose="02040503050406030204" pitchFamily="18" charset="0"/>
                  </a:rPr>
                  <a:t>$10$</a:t>
                </a:r>
                <a:r>
                  <a:rPr sz="2400" b="0">
                    <a:solidFill>
                      <a:srgbClr val="111827"/>
                    </a:solidFill>
                    <a:latin typeface="Arial"/>
                  </a:rPr>
                  <a:t> pens, </a:t>
                </a:r>
                <a:r>
                  <a:rPr lang="en-IN" sz="2400">
                    <a:solidFill>
                      <a:srgbClr val="111827"/>
                    </a:solidFill>
                    <a:latin typeface="Cambria Math" panose="02040503050406030204" pitchFamily="18" charset="0"/>
                  </a:rPr>
                  <a:t>$3$</a:t>
                </a:r>
                <a:r>
                  <a:rPr sz="2400" b="0">
                    <a:solidFill>
                      <a:srgbClr val="111827"/>
                    </a:solidFill>
                    <a:latin typeface="Arial"/>
                  </a:rPr>
                  <a:t> are defective and </a:t>
                </a:r>
                <a:r>
                  <a:rPr lang="en-IN" sz="2400">
                    <a:solidFill>
                      <a:srgbClr val="111827"/>
                    </a:solidFill>
                    <a:latin typeface="Cambria Math" panose="02040503050406030204" pitchFamily="18" charset="0"/>
                  </a:rPr>
                  <a:t>$7$</a:t>
                </a:r>
                <a:r>
                  <a:rPr sz="2400" b="0">
                    <a:solidFill>
                      <a:srgbClr val="111827"/>
                    </a:solidFill>
                    <a:latin typeface="Arial"/>
                  </a:rPr>
                  <a:t> good; </a:t>
                </a:r>
                <a:r>
                  <a:rPr lang="en-IN" sz="2400">
                    <a:solidFill>
                      <a:srgbClr val="111827"/>
                    </a:solidFill>
                    <a:latin typeface="Cambria Math" panose="02040503050406030204" pitchFamily="18" charset="0"/>
                  </a:rPr>
                  <a:t>$X\in\{0,1,2\}$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$P(X=0)=\frac{{}^7C_2}{{}^{10}C_2}=\frac{7\cdot6}{10\cdot9}=\frac{7}{15}$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$P(X=1)=\frac{{}^7C_1\cdot{}^3C_1}{{}^{10}C_2}=\frac{7\cdot3}{\frac{10\cdot9}{2}}=\frac{7}{15}$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$P(X=2)=\frac{{}^3C_2}{{}^{10}C_2}=\frac{3}{45}=\frac{1}{15}$</a:t>
                </a:r>
                <a:r>
                  <a:rPr sz="2400" b="0">
                    <a:solidFill>
                      <a:srgbClr val="111827"/>
                    </a:solidFill>
                    <a:latin typeface="Arial"/>
                  </a:rPr>
                  <a:t>. (Check: </a:t>
                </a:r>
                <a:r>
                  <a:rPr lang="en-IN" sz="2400">
                    <a:solidFill>
                      <a:srgbClr val="111827"/>
                    </a:solidFill>
                    <a:latin typeface="Cambria Math" panose="02040503050406030204" pitchFamily="18" charset="0"/>
                  </a:rPr>
                  <a:t>$\frac7{15}+\frac7{15}+\frac1{15}=1$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𝑖</m:t>
                        </m:r>
                      </m:sub>
                    </m:sSub>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μ</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75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m:t>
                        </m:r>
                      </m:num>
                      <m:den>
                        <m:r>
                          <a:rPr lang="en-IN" sz="2400" i="1">
                            <a:solidFill>
                              <a:srgbClr val="111827"/>
                            </a:solidFill>
                            <a:latin typeface="Cambria Math" panose="02040503050406030204" pitchFamily="18" charset="0"/>
                          </a:rPr>
                          <m:t>75</m:t>
                        </m:r>
                      </m:den>
                    </m:f>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$\mu=\sum p_ix_i=\frac{7}{15}+\frac{2}{15}=\frac{9}{15}=\frac35$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$\sigma^2=\sum p_ix_i^2-\mu^2=\frac{7}{15}\cdot1+\frac{1}{15}\cdot4-\left(\frac35\right)^2=\frac{11}{15}-\frac{9}{25}$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$\sigma^2=\frac{55-27}{75}=\frac{28}{75}$</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28</m:t>
                        </m:r>
                      </m:num>
                      <m:den>
                        <m:r>
                          <a:rPr lang="en-IN" sz="2800" i="1">
                            <a:solidFill>
                              <a:srgbClr val="15803D"/>
                            </a:solidFill>
                            <a:latin typeface="Cambria Math" panose="02040503050406030204" pitchFamily="18" charset="0"/>
                          </a:rPr>
                          <m:t>75</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$\frac{28}{75}$</a:t>
                </a:r>
                <a:endParaRPr sz="2800">
                  <a:solidFill>
                    <a:srgbClr val="15803D"/>
                  </a:solidFill>
                </a:endParaRP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𝑋</m:t>
                    </m:r>
                  </m:oMath>
                </a14:m>
                <a:r>
                  <a:rPr sz="2400" b="0">
                    <a:solidFill>
                      <a:srgbClr val="78350F"/>
                    </a:solidFill>
                    <a:latin typeface="Arial"/>
                  </a:rPr>
                  <a:t> is hypergeometric, so use the closed form </a:t>
                </a:r>
                <a14:m>
                  <m:oMath xmlns:m="http://schemas.openxmlformats.org/officeDocument/2006/math">
                    <m:r>
                      <a:rPr lang="en-IN" sz="2400" i="1">
                        <a:solidFill>
                          <a:srgbClr val="78350F"/>
                        </a:solidFill>
                        <a:latin typeface="Cambria Math" panose="02040503050406030204" pitchFamily="18" charset="0"/>
                      </a:rPr>
                      <m:t>𝑛</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𝐾</m:t>
                        </m:r>
                      </m:num>
                      <m:den>
                        <m:r>
                          <a:rPr lang="en-IN" sz="2400" i="1">
                            <a:solidFill>
                              <a:srgbClr val="78350F"/>
                            </a:solidFill>
                            <a:latin typeface="Cambria Math" panose="02040503050406030204" pitchFamily="18" charset="0"/>
                          </a:rPr>
                          <m:t>𝑁</m:t>
                        </m:r>
                      </m:den>
                    </m:f>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𝐾</m:t>
                            </m:r>
                          </m:num>
                          <m:den>
                            <m:r>
                              <a:rPr lang="en-IN" sz="2400" i="1">
                                <a:solidFill>
                                  <a:srgbClr val="78350F"/>
                                </a:solidFill>
                                <a:latin typeface="Cambria Math" panose="02040503050406030204" pitchFamily="18" charset="0"/>
                              </a:rPr>
                              <m:t>𝑁</m:t>
                            </m:r>
                          </m:den>
                        </m:f>
                      </m:e>
                    </m:d>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$X$</a:t>
                </a:r>
                <a:r>
                  <a:rPr sz="2400" b="0">
                    <a:solidFill>
                      <a:srgbClr val="78350F"/>
                    </a:solidFill>
                    <a:latin typeface="Arial"/>
                  </a:rPr>
                  <a:t> is hypergeometric, so use the closed form </a:t>
                </a:r>
                <a:r>
                  <a:rPr lang="en-IN" sz="2400">
                    <a:solidFill>
                      <a:srgbClr val="78350F"/>
                    </a:solidFill>
                    <a:latin typeface="Cambria Math" panose="02040503050406030204" pitchFamily="18" charset="0"/>
                  </a:rPr>
                  <a:t>$n\frac KN\left(1-\frac KN\right)\frac{N-n}{N-1}$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counts defectives in a sample of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pens with </a:t>
                </a:r>
                <a14:m>
                  <m:oMath xmlns:m="http://schemas.openxmlformats.org/officeDocument/2006/math">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defective: hypergeometric.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hypergeometric law, </a:t>
                </a:r>
                <a14:m>
                  <m:oMath xmlns:m="http://schemas.openxmlformats.org/officeDocument/2006/math">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𝐾</m:t>
                        </m:r>
                      </m:num>
                      <m:den>
                        <m:r>
                          <a:rPr lang="en-IN" sz="2400" i="1">
                            <a:solidFill>
                              <a:srgbClr val="111827"/>
                            </a:solidFill>
                            <a:latin typeface="Cambria Math" panose="02040503050406030204" pitchFamily="18" charset="0"/>
                          </a:rPr>
                          <m:t>𝑁</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𝐾</m:t>
                            </m:r>
                          </m:num>
                          <m:den>
                            <m:r>
                              <a:rPr lang="en-IN" sz="2400" i="1">
                                <a:solidFill>
                                  <a:srgbClr val="111827"/>
                                </a:solidFill>
                                <a:latin typeface="Cambria Math" panose="02040503050406030204" pitchFamily="18" charset="0"/>
                              </a:rPr>
                              <m:t>𝑁</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336</m:t>
                        </m:r>
                      </m:num>
                      <m:den>
                        <m:r>
                          <a:rPr lang="en-IN" sz="2400" i="1">
                            <a:solidFill>
                              <a:srgbClr val="111827"/>
                            </a:solidFill>
                            <a:latin typeface="Cambria Math" panose="02040503050406030204" pitchFamily="18" charset="0"/>
                          </a:rPr>
                          <m:t>900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m:t>
                        </m:r>
                      </m:num>
                      <m:den>
                        <m:r>
                          <a:rPr lang="en-IN" sz="2400" i="1">
                            <a:solidFill>
                              <a:srgbClr val="111827"/>
                            </a:solidFill>
                            <a:latin typeface="Cambria Math" panose="02040503050406030204" pitchFamily="18" charset="0"/>
                          </a:rPr>
                          <m:t>75</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a:t>
                </a:r>
                <a:r>
                  <a:rPr sz="2400" b="0">
                    <a:solidFill>
                      <a:srgbClr val="111827"/>
                    </a:solidFill>
                    <a:latin typeface="Arial"/>
                  </a:rPr>
                  <a:t> counts defectives in a sample of </a:t>
                </a:r>
                <a:r>
                  <a:rPr lang="en-IN" sz="2400">
                    <a:solidFill>
                      <a:srgbClr val="111827"/>
                    </a:solidFill>
                    <a:latin typeface="Cambria Math" panose="02040503050406030204" pitchFamily="18" charset="0"/>
                  </a:rPr>
                  <a:t>$n=2$</a:t>
                </a:r>
                <a:r>
                  <a:rPr sz="2400" b="0">
                    <a:solidFill>
                      <a:srgbClr val="111827"/>
                    </a:solidFill>
                    <a:latin typeface="Arial"/>
                  </a:rPr>
                  <a:t> from </a:t>
                </a:r>
                <a:r>
                  <a:rPr lang="en-IN" sz="2400">
                    <a:solidFill>
                      <a:srgbClr val="111827"/>
                    </a:solidFill>
                    <a:latin typeface="Cambria Math" panose="02040503050406030204" pitchFamily="18" charset="0"/>
                  </a:rPr>
                  <a:t>$N=10$</a:t>
                </a:r>
                <a:r>
                  <a:rPr sz="2400" b="0">
                    <a:solidFill>
                      <a:srgbClr val="111827"/>
                    </a:solidFill>
                    <a:latin typeface="Arial"/>
                  </a:rPr>
                  <a:t> pens with </a:t>
                </a:r>
                <a:r>
                  <a:rPr lang="en-IN" sz="2400">
                    <a:solidFill>
                      <a:srgbClr val="111827"/>
                    </a:solidFill>
                    <a:latin typeface="Cambria Math" panose="02040503050406030204" pitchFamily="18" charset="0"/>
                  </a:rPr>
                  <a:t>$K=3$</a:t>
                </a:r>
                <a:r>
                  <a:rPr sz="2400" b="0">
                    <a:solidFill>
                      <a:srgbClr val="111827"/>
                    </a:solidFill>
                    <a:latin typeface="Arial"/>
                  </a:rPr>
                  <a:t> defective: hypergeometric.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hypergeometric law, </a:t>
                </a:r>
                <a:r>
                  <a:rPr lang="en-IN" sz="2400">
                    <a:solidFill>
                      <a:srgbClr val="111827"/>
                    </a:solidFill>
                    <a:latin typeface="Cambria Math" panose="02040503050406030204" pitchFamily="18" charset="0"/>
                  </a:rPr>
                  <a:t>$\mathrm{Var}(X)=n\cdot\frac KN\left(1-\frac KN\right)\cdot\frac{N-n}{N-1}$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$\mathrm{Var}(X)=2\cdot\frac3{10}\cdot\frac7{10}\cdot\frac{8}{9}=\frac{336}{900}=\frac{28}{75}$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28</m:t>
                        </m:r>
                      </m:num>
                      <m:den>
                        <m:r>
                          <a:rPr lang="en-IN" sz="2800" i="1">
                            <a:solidFill>
                              <a:srgbClr val="15803D"/>
                            </a:solidFill>
                            <a:latin typeface="Cambria Math" panose="02040503050406030204" pitchFamily="18" charset="0"/>
                          </a:rPr>
                          <m:t>75</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$\frac{28}{75}$</a:t>
                </a:r>
                <a:endParaRPr sz="2800">
                  <a:solidFill>
                    <a:srgbClr val="15803D"/>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Hypergeometric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draws, </a:t>
                </a:r>
                <a14:m>
                  <m:oMath xmlns:m="http://schemas.openxmlformats.org/officeDocument/2006/math">
                    <m:r>
                      <a:rPr lang="en-IN" sz="2400" i="1">
                        <a:solidFill>
                          <a:srgbClr val="111827"/>
                        </a:solidFill>
                        <a:latin typeface="Cambria Math" panose="02040503050406030204" pitchFamily="18" charset="0"/>
                      </a:rPr>
                      <m:t>𝐾</m:t>
                    </m:r>
                  </m:oMath>
                </a14:m>
                <a:r>
                  <a:rPr sz="2400" b="0">
                    <a:solidFill>
                      <a:srgbClr val="111827"/>
                    </a:solidFill>
                    <a:latin typeface="Arial"/>
                  </a:rPr>
                  <a:t> marked out of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no replacement): 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𝐾</m:t>
                        </m:r>
                      </m:num>
                      <m:den>
                        <m:r>
                          <a:rPr lang="en-IN" sz="2400" i="1">
                            <a:solidFill>
                              <a:srgbClr val="111827"/>
                            </a:solidFill>
                            <a:latin typeface="Cambria Math" panose="02040503050406030204" pitchFamily="18" charset="0"/>
                          </a:rPr>
                          <m:t>𝑁</m:t>
                        </m:r>
                      </m:den>
                    </m:f>
                  </m:oMath>
                </a14:m>
                <a:r>
                  <a:rPr sz="2400" b="0">
                    <a:solidFill>
                      <a:srgbClr val="111827"/>
                    </a:solidFill>
                    <a:latin typeface="Arial"/>
                  </a:rPr>
                  <a:t>, variance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𝐾</m:t>
                        </m:r>
                      </m:num>
                      <m:den>
                        <m:r>
                          <a:rPr lang="en-IN" sz="2400" i="1">
                            <a:solidFill>
                              <a:srgbClr val="111827"/>
                            </a:solidFill>
                            <a:latin typeface="Cambria Math" panose="02040503050406030204" pitchFamily="18" charset="0"/>
                          </a:rPr>
                          <m:t>𝑁</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𝐾</m:t>
                            </m:r>
                          </m:num>
                          <m:den>
                            <m:r>
                              <a:rPr lang="en-IN" sz="2400" i="1">
                                <a:solidFill>
                                  <a:srgbClr val="111827"/>
                                </a:solidFill>
                                <a:latin typeface="Cambria Math" panose="02040503050406030204" pitchFamily="18" charset="0"/>
                              </a:rPr>
                              <m:t>𝑁</m:t>
                            </m:r>
                          </m:den>
                        </m:f>
                      </m:e>
                    </m:d>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the factor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is the correction to the binomial variance.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that the probabilities sum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before computing moments.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 is quick to get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directly.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Hypergeometric (</a:t>
                </a:r>
                <a:r>
                  <a:rPr lang="en-IN" sz="2400">
                    <a:solidFill>
                      <a:srgbClr val="111827"/>
                    </a:solidFill>
                    <a:latin typeface="Cambria Math" panose="02040503050406030204" pitchFamily="18" charset="0"/>
                  </a:rPr>
                  <a:t>$n$</a:t>
                </a:r>
                <a:r>
                  <a:rPr sz="2400" b="0">
                    <a:solidFill>
                      <a:srgbClr val="111827"/>
                    </a:solidFill>
                    <a:latin typeface="Arial"/>
                  </a:rPr>
                  <a:t> draws, </a:t>
                </a:r>
                <a:r>
                  <a:rPr lang="en-IN" sz="2400">
                    <a:solidFill>
                      <a:srgbClr val="111827"/>
                    </a:solidFill>
                    <a:latin typeface="Cambria Math" panose="02040503050406030204" pitchFamily="18" charset="0"/>
                  </a:rPr>
                  <a:t>$K$</a:t>
                </a:r>
                <a:r>
                  <a:rPr sz="2400" b="0">
                    <a:solidFill>
                      <a:srgbClr val="111827"/>
                    </a:solidFill>
                    <a:latin typeface="Arial"/>
                  </a:rPr>
                  <a:t> marked out of </a:t>
                </a:r>
                <a:r>
                  <a:rPr lang="en-IN" sz="2400">
                    <a:solidFill>
                      <a:srgbClr val="111827"/>
                    </a:solidFill>
                    <a:latin typeface="Cambria Math" panose="02040503050406030204" pitchFamily="18" charset="0"/>
                  </a:rPr>
                  <a:t>$N$</a:t>
                </a:r>
                <a:r>
                  <a:rPr sz="2400" b="0">
                    <a:solidFill>
                      <a:srgbClr val="111827"/>
                    </a:solidFill>
                    <a:latin typeface="Arial"/>
                  </a:rPr>
                  <a:t>, no replacement): mean </a:t>
                </a:r>
                <a:r>
                  <a:rPr lang="en-IN" sz="2400">
                    <a:solidFill>
                      <a:srgbClr val="111827"/>
                    </a:solidFill>
                    <a:latin typeface="Cambria Math" panose="02040503050406030204" pitchFamily="18" charset="0"/>
                  </a:rPr>
                  <a:t>$=n\frac KN$</a:t>
                </a:r>
                <a:r>
                  <a:rPr sz="2400" b="0">
                    <a:solidFill>
                      <a:srgbClr val="111827"/>
                    </a:solidFill>
                    <a:latin typeface="Arial"/>
                  </a:rPr>
                  <a:t>, variance </a:t>
                </a:r>
                <a:r>
                  <a:rPr lang="en-IN" sz="2400">
                    <a:solidFill>
                      <a:srgbClr val="111827"/>
                    </a:solidFill>
                    <a:latin typeface="Cambria Math" panose="02040503050406030204" pitchFamily="18" charset="0"/>
                  </a:rPr>
                  <a:t>$=n\frac KN\left(1-\frac KN\right)\frac{N-n}{N-1}$</a:t>
                </a:r>
                <a:r>
                  <a:rPr sz="2400" b="0">
                    <a:solidFill>
                      <a:srgbClr val="111827"/>
                    </a:solidFill>
                    <a:latin typeface="Arial"/>
                  </a:rPr>
                  <a:t>; the factor </a:t>
                </a:r>
                <a:r>
                  <a:rPr lang="en-IN" sz="2400">
                    <a:solidFill>
                      <a:srgbClr val="111827"/>
                    </a:solidFill>
                    <a:latin typeface="Cambria Math" panose="02040503050406030204" pitchFamily="18" charset="0"/>
                  </a:rPr>
                  <a:t>$\frac{N-n}{N-1}$</a:t>
                </a:r>
                <a:r>
                  <a:rPr sz="2400" b="0">
                    <a:solidFill>
                      <a:srgbClr val="111827"/>
                    </a:solidFill>
                    <a:latin typeface="Arial"/>
                  </a:rPr>
                  <a:t> is the correction to the binomial variance.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that the probabilities sum to </a:t>
                </a:r>
                <a:r>
                  <a:rPr lang="en-IN" sz="2400">
                    <a:solidFill>
                      <a:srgbClr val="111827"/>
                    </a:solidFill>
                    <a:latin typeface="Cambria Math" panose="02040503050406030204" pitchFamily="18" charset="0"/>
                  </a:rPr>
                  <a:t>$1$</a:t>
                </a:r>
                <a:r>
                  <a:rPr sz="2400" b="0">
                    <a:solidFill>
                      <a:srgbClr val="111827"/>
                    </a:solidFill>
                    <a:latin typeface="Arial"/>
                  </a:rPr>
                  <a:t> before computing moments.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$\mathrm{Var}(X)=E(X^2)-[E(X)]^2$</a:t>
                </a:r>
                <a:r>
                  <a:rPr sz="2400" b="0">
                    <a:solidFill>
                      <a:srgbClr val="111827"/>
                    </a:solidFill>
                    <a:latin typeface="Arial"/>
                  </a:rPr>
                  <a:t>; for </a:t>
                </a:r>
                <a:r>
                  <a:rPr lang="en-IN" sz="2400">
                    <a:solidFill>
                      <a:srgbClr val="111827"/>
                    </a:solidFill>
                    <a:latin typeface="Cambria Math" panose="02040503050406030204" pitchFamily="18" charset="0"/>
                  </a:rPr>
                  <a:t>$X\in\{0,1,2\}$</a:t>
                </a:r>
                <a:r>
                  <a:rPr sz="2400" b="0">
                    <a:solidFill>
                      <a:srgbClr val="111827"/>
                    </a:solidFill>
                    <a:latin typeface="Arial"/>
                  </a:rPr>
                  <a:t> it is quick to get </a:t>
                </a:r>
                <a:r>
                  <a:rPr lang="en-IN" sz="2400">
                    <a:solidFill>
                      <a:srgbClr val="111827"/>
                    </a:solidFill>
                    <a:latin typeface="Cambria Math" panose="02040503050406030204" pitchFamily="18" charset="0"/>
                  </a:rPr>
                  <a:t>$E(X^2)$</a:t>
                </a:r>
                <a:r>
                  <a:rPr sz="2400" b="0">
                    <a:solidFill>
                      <a:srgbClr val="111827"/>
                    </a:solidFill>
                    <a:latin typeface="Arial"/>
                  </a:rPr>
                  <a:t> directly.</a:t>
                </a:r>
                <a:endParaRPr sz="2400">
                  <a:solidFill>
                    <a:srgbClr val="111827"/>
                  </a:solidFill>
                </a:endParaRP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probability of forming a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-person committee from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engineers,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doctors and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professors containing at least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engineers and at least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doctor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103</m:t>
                        </m:r>
                      </m:num>
                      <m:den>
                        <m:r>
                          <a:rPr lang="en-IN" sz="2400" i="1">
                            <a:solidFill>
                              <a:srgbClr val="111827"/>
                            </a:solidFill>
                            <a:latin typeface="Cambria Math" panose="02040503050406030204" pitchFamily="18" charset="0"/>
                          </a:rPr>
                          <m:t>182</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26</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26</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129</m:t>
                        </m:r>
                      </m:num>
                      <m:den>
                        <m:r>
                          <a:rPr lang="en-IN" sz="2400" i="1">
                            <a:solidFill>
                              <a:srgbClr val="111827"/>
                            </a:solidFill>
                            <a:latin typeface="Cambria Math" panose="02040503050406030204" pitchFamily="18" charset="0"/>
                          </a:rPr>
                          <m:t>182</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probability of forming a </a:t>
                </a:r>
                <a:r>
                  <a:rPr lang="en-IN" sz="2400">
                    <a:solidFill>
                      <a:srgbClr val="111827"/>
                    </a:solidFill>
                    <a:latin typeface="Cambria Math" panose="02040503050406030204" pitchFamily="18" charset="0"/>
                  </a:rPr>
                  <a:t>$12$</a:t>
                </a:r>
                <a:r>
                  <a:rPr sz="2400" b="0">
                    <a:solidFill>
                      <a:srgbClr val="111827"/>
                    </a:solidFill>
                    <a:latin typeface="Arial"/>
                  </a:rPr>
                  <a:t>-person committee from </a:t>
                </a:r>
                <a:r>
                  <a:rPr lang="en-IN" sz="2400">
                    <a:solidFill>
                      <a:srgbClr val="111827"/>
                    </a:solidFill>
                    <a:latin typeface="Cambria Math" panose="02040503050406030204" pitchFamily="18" charset="0"/>
                  </a:rPr>
                  <a:t>$4$</a:t>
                </a:r>
                <a:r>
                  <a:rPr sz="2400" b="0">
                    <a:solidFill>
                      <a:srgbClr val="111827"/>
                    </a:solidFill>
                    <a:latin typeface="Arial"/>
                  </a:rPr>
                  <a:t> engineers, </a:t>
                </a:r>
                <a:r>
                  <a:rPr lang="en-IN" sz="2400">
                    <a:solidFill>
                      <a:srgbClr val="111827"/>
                    </a:solidFill>
                    <a:latin typeface="Cambria Math" panose="02040503050406030204" pitchFamily="18" charset="0"/>
                  </a:rPr>
                  <a:t>$2$</a:t>
                </a:r>
                <a:r>
                  <a:rPr sz="2400" b="0">
                    <a:solidFill>
                      <a:srgbClr val="111827"/>
                    </a:solidFill>
                    <a:latin typeface="Arial"/>
                  </a:rPr>
                  <a:t> doctors and </a:t>
                </a:r>
                <a:r>
                  <a:rPr lang="en-IN" sz="2400">
                    <a:solidFill>
                      <a:srgbClr val="111827"/>
                    </a:solidFill>
                    <a:latin typeface="Cambria Math" panose="02040503050406030204" pitchFamily="18" charset="0"/>
                  </a:rPr>
                  <a:t>$10$</a:t>
                </a:r>
                <a:r>
                  <a:rPr sz="2400" b="0">
                    <a:solidFill>
                      <a:srgbClr val="111827"/>
                    </a:solidFill>
                    <a:latin typeface="Arial"/>
                  </a:rPr>
                  <a:t> professors containing at least </a:t>
                </a:r>
                <a:r>
                  <a:rPr lang="en-IN" sz="2400">
                    <a:solidFill>
                      <a:srgbClr val="111827"/>
                    </a:solidFill>
                    <a:latin typeface="Cambria Math" panose="02040503050406030204" pitchFamily="18" charset="0"/>
                  </a:rPr>
                  <a:t>$3$</a:t>
                </a:r>
                <a:r>
                  <a:rPr sz="2400" b="0">
                    <a:solidFill>
                      <a:srgbClr val="111827"/>
                    </a:solidFill>
                    <a:latin typeface="Arial"/>
                  </a:rPr>
                  <a:t> engineers and at least </a:t>
                </a:r>
                <a:r>
                  <a:rPr lang="en-IN" sz="2400">
                    <a:solidFill>
                      <a:srgbClr val="111827"/>
                    </a:solidFill>
                    <a:latin typeface="Cambria Math" panose="02040503050406030204" pitchFamily="18" charset="0"/>
                  </a:rPr>
                  <a:t>$1$</a:t>
                </a:r>
                <a:r>
                  <a:rPr sz="2400" b="0">
                    <a:solidFill>
                      <a:srgbClr val="111827"/>
                    </a:solidFill>
                    <a:latin typeface="Arial"/>
                  </a:rPr>
                  <a:t> doctor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$\frac{103}{182}$</a:t>
                </a:r>
                <a:r>
                  <a:rPr sz="2400" b="0">
                    <a:solidFill>
                      <a:srgbClr val="111827"/>
                    </a:solidFill>
                    <a:latin typeface="Arial"/>
                  </a:rPr>
                  <a:t>   (B) </a:t>
                </a:r>
                <a:r>
                  <a:rPr lang="en-IN" sz="2400">
                    <a:solidFill>
                      <a:srgbClr val="111827"/>
                    </a:solidFill>
                    <a:latin typeface="Cambria Math" panose="02040503050406030204" pitchFamily="18" charset="0"/>
                  </a:rPr>
                  <a:t>$\frac{17}{26}$</a:t>
                </a:r>
                <a:r>
                  <a:rPr sz="2400" b="0">
                    <a:solidFill>
                      <a:srgbClr val="111827"/>
                    </a:solidFill>
                    <a:latin typeface="Arial"/>
                  </a:rPr>
                  <a:t>   (C) </a:t>
                </a:r>
                <a:r>
                  <a:rPr lang="en-IN" sz="2400">
                    <a:solidFill>
                      <a:srgbClr val="111827"/>
                    </a:solidFill>
                    <a:latin typeface="Cambria Math" panose="02040503050406030204" pitchFamily="18" charset="0"/>
                  </a:rPr>
                  <a:t>$\frac{19}{26}$</a:t>
                </a:r>
                <a:r>
                  <a:rPr sz="2400" b="0">
                    <a:solidFill>
                      <a:srgbClr val="111827"/>
                    </a:solidFill>
                    <a:latin typeface="Arial"/>
                  </a:rPr>
                  <a:t>   (D) </a:t>
                </a:r>
                <a:r>
                  <a:rPr lang="en-IN" sz="2400">
                    <a:solidFill>
                      <a:srgbClr val="111827"/>
                    </a:solidFill>
                    <a:latin typeface="Cambria Math" panose="02040503050406030204" pitchFamily="18" charset="0"/>
                  </a:rPr>
                  <a:t>$\frac{129}{182}$</a:t>
                </a:r>
                <a:endParaRPr sz="2400">
                  <a:solidFill>
                    <a:srgbClr val="111827"/>
                  </a:solidFill>
                </a:endParaRPr>
              </a:p>
            </p:txBody>
          </p:sp>
        </mc:Fallback>
      </mc:AlternateContent>
      <p:sp>
        <p:nvSpPr>
          <p:cNvPr id="5" name="Rectangle 4"/>
          <p:cNvSpPr/>
          <p:nvPr/>
        </p:nvSpPr>
        <p:spPr>
          <a:xfrm>
            <a:off x="731520" y="41716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Classical probability with combinations (committee selection)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List the four admissible (engineers, doctors) splits and count each with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m:t>
                            </m:r>
                          </m:num>
                          <m:den>
                            <m:r>
                              <a:rPr lang="en-IN" sz="2400" i="1">
                                <a:solidFill>
                                  <a:srgbClr val="78350F"/>
                                </a:solidFill>
                                <a:latin typeface="Cambria Math" panose="02040503050406030204" pitchFamily="18" charset="0"/>
                              </a:rPr>
                              <m:t>𝑒</m:t>
                            </m:r>
                          </m:den>
                        </m:f>
                      </m:e>
                    </m:d>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𝑑</m:t>
                            </m:r>
                          </m:den>
                        </m:f>
                      </m:e>
                    </m:d>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10</m:t>
                            </m:r>
                          </m:num>
                          <m:den>
                            <m:r>
                              <a:rPr lang="en-IN" sz="2400" i="1">
                                <a:solidFill>
                                  <a:srgbClr val="78350F"/>
                                </a:solidFill>
                                <a:latin typeface="Cambria Math" panose="02040503050406030204" pitchFamily="18" charset="0"/>
                              </a:rPr>
                              <m:t>12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𝑒</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den>
                        </m:f>
                      </m:e>
                    </m: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List the four admissible (engineers, doctors) splits and count each with </a:t>
                </a:r>
                <a:r>
                  <a:rPr lang="en-IN" sz="2400">
                    <a:solidFill>
                      <a:srgbClr val="78350F"/>
                    </a:solidFill>
                    <a:latin typeface="Cambria Math" panose="02040503050406030204" pitchFamily="18" charset="0"/>
                  </a:rPr>
                  <a:t>$\binom{4}{e}\binom{2}{d}\binom{10}{12-e-d}$</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people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engineers,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doctors,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professors); total committees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E +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Doc +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Prof: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8</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E +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Doc +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Prof: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3: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E +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Doc +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Prof: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a:t>
                </a:r>
                <a:r>
                  <a:rPr lang="en-IN" sz="2400">
                    <a:solidFill>
                      <a:srgbClr val="111827"/>
                    </a:solidFill>
                    <a:latin typeface="Cambria Math" panose="02040503050406030204" pitchFamily="18" charset="0"/>
                  </a:rPr>
                  <a:t>$16$</a:t>
                </a:r>
                <a:r>
                  <a:rPr sz="2400" b="0">
                    <a:solidFill>
                      <a:srgbClr val="111827"/>
                    </a:solidFill>
                    <a:latin typeface="Arial"/>
                  </a:rPr>
                  <a:t> people (</a:t>
                </a:r>
                <a:r>
                  <a:rPr lang="en-IN" sz="2400">
                    <a:solidFill>
                      <a:srgbClr val="111827"/>
                    </a:solidFill>
                    <a:latin typeface="Cambria Math" panose="02040503050406030204" pitchFamily="18" charset="0"/>
                  </a:rPr>
                  <a:t>$4$</a:t>
                </a:r>
                <a:r>
                  <a:rPr sz="2400" b="0">
                    <a:solidFill>
                      <a:srgbClr val="111827"/>
                    </a:solidFill>
                    <a:latin typeface="Arial"/>
                  </a:rPr>
                  <a:t> engineers, </a:t>
                </a:r>
                <a:r>
                  <a:rPr lang="en-IN" sz="2400">
                    <a:solidFill>
                      <a:srgbClr val="111827"/>
                    </a:solidFill>
                    <a:latin typeface="Cambria Math" panose="02040503050406030204" pitchFamily="18" charset="0"/>
                  </a:rPr>
                  <a:t>$2$</a:t>
                </a:r>
                <a:r>
                  <a:rPr sz="2400" b="0">
                    <a:solidFill>
                      <a:srgbClr val="111827"/>
                    </a:solidFill>
                    <a:latin typeface="Arial"/>
                  </a:rPr>
                  <a:t> doctors, </a:t>
                </a:r>
                <a:r>
                  <a:rPr lang="en-IN" sz="2400">
                    <a:solidFill>
                      <a:srgbClr val="111827"/>
                    </a:solidFill>
                    <a:latin typeface="Cambria Math" panose="02040503050406030204" pitchFamily="18" charset="0"/>
                  </a:rPr>
                  <a:t>$10$</a:t>
                </a:r>
                <a:r>
                  <a:rPr sz="2400" b="0">
                    <a:solidFill>
                      <a:srgbClr val="111827"/>
                    </a:solidFill>
                    <a:latin typeface="Arial"/>
                  </a:rPr>
                  <a:t> professors); total committees </a:t>
                </a:r>
                <a:r>
                  <a:rPr lang="en-IN" sz="2400">
                    <a:solidFill>
                      <a:srgbClr val="111827"/>
                    </a:solidFill>
                    <a:latin typeface="Cambria Math" panose="02040503050406030204" pitchFamily="18" charset="0"/>
                  </a:rPr>
                  <a:t>$={}^{16}C_{12}=1820$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a:t>
                </a:r>
                <a:r>
                  <a:rPr lang="en-IN" sz="2400">
                    <a:solidFill>
                      <a:srgbClr val="111827"/>
                    </a:solidFill>
                    <a:latin typeface="Cambria Math" panose="02040503050406030204" pitchFamily="18" charset="0"/>
                  </a:rPr>
                  <a:t>$3$</a:t>
                </a:r>
                <a:r>
                  <a:rPr sz="2400" b="0">
                    <a:solidFill>
                      <a:srgbClr val="111827"/>
                    </a:solidFill>
                    <a:latin typeface="Arial"/>
                  </a:rPr>
                  <a:t>E + </a:t>
                </a:r>
                <a:r>
                  <a:rPr lang="en-IN" sz="2400">
                    <a:solidFill>
                      <a:srgbClr val="111827"/>
                    </a:solidFill>
                    <a:latin typeface="Cambria Math" panose="02040503050406030204" pitchFamily="18" charset="0"/>
                  </a:rPr>
                  <a:t>$1$</a:t>
                </a:r>
                <a:r>
                  <a:rPr sz="2400" b="0">
                    <a:solidFill>
                      <a:srgbClr val="111827"/>
                    </a:solidFill>
                    <a:latin typeface="Arial"/>
                  </a:rPr>
                  <a:t> Doc + </a:t>
                </a:r>
                <a:r>
                  <a:rPr lang="en-IN" sz="2400">
                    <a:solidFill>
                      <a:srgbClr val="111827"/>
                    </a:solidFill>
                    <a:latin typeface="Cambria Math" panose="02040503050406030204" pitchFamily="18" charset="0"/>
                  </a:rPr>
                  <a:t>$8$</a:t>
                </a:r>
                <a:r>
                  <a:rPr sz="2400" b="0">
                    <a:solidFill>
                      <a:srgbClr val="111827"/>
                    </a:solidFill>
                    <a:latin typeface="Arial"/>
                  </a:rPr>
                  <a:t> Prof: </a:t>
                </a:r>
                <a:r>
                  <a:rPr lang="en-IN" sz="2400">
                    <a:solidFill>
                      <a:srgbClr val="111827"/>
                    </a:solidFill>
                    <a:latin typeface="Cambria Math" panose="02040503050406030204" pitchFamily="18" charset="0"/>
                  </a:rPr>
                  <a:t>${}^4C_3\cdot{}^2C_1\cdot{}^{10}C_8=4\cdot2\cdot45=360$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a:t>
                </a:r>
                <a:r>
                  <a:rPr lang="en-IN" sz="2400">
                    <a:solidFill>
                      <a:srgbClr val="111827"/>
                    </a:solidFill>
                    <a:latin typeface="Cambria Math" panose="02040503050406030204" pitchFamily="18" charset="0"/>
                  </a:rPr>
                  <a:t>$3$</a:t>
                </a:r>
                <a:r>
                  <a:rPr sz="2400" b="0">
                    <a:solidFill>
                      <a:srgbClr val="111827"/>
                    </a:solidFill>
                    <a:latin typeface="Arial"/>
                  </a:rPr>
                  <a:t>E + </a:t>
                </a:r>
                <a:r>
                  <a:rPr lang="en-IN" sz="2400">
                    <a:solidFill>
                      <a:srgbClr val="111827"/>
                    </a:solidFill>
                    <a:latin typeface="Cambria Math" panose="02040503050406030204" pitchFamily="18" charset="0"/>
                  </a:rPr>
                  <a:t>$2$</a:t>
                </a:r>
                <a:r>
                  <a:rPr sz="2400" b="0">
                    <a:solidFill>
                      <a:srgbClr val="111827"/>
                    </a:solidFill>
                    <a:latin typeface="Arial"/>
                  </a:rPr>
                  <a:t> Doc + </a:t>
                </a:r>
                <a:r>
                  <a:rPr lang="en-IN" sz="2400">
                    <a:solidFill>
                      <a:srgbClr val="111827"/>
                    </a:solidFill>
                    <a:latin typeface="Cambria Math" panose="02040503050406030204" pitchFamily="18" charset="0"/>
                  </a:rPr>
                  <a:t>$7$</a:t>
                </a:r>
                <a:r>
                  <a:rPr sz="2400" b="0">
                    <a:solidFill>
                      <a:srgbClr val="111827"/>
                    </a:solidFill>
                    <a:latin typeface="Arial"/>
                  </a:rPr>
                  <a:t> Prof: </a:t>
                </a:r>
                <a:r>
                  <a:rPr lang="en-IN" sz="2400">
                    <a:solidFill>
                      <a:srgbClr val="111827"/>
                    </a:solidFill>
                    <a:latin typeface="Cambria Math" panose="02040503050406030204" pitchFamily="18" charset="0"/>
                  </a:rPr>
                  <a:t>${}^4C_3\cdot{}^2C_2\cdot{}^{10}C_7=4\cdot1\cdot120=480$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3: </a:t>
                </a:r>
                <a:r>
                  <a:rPr lang="en-IN" sz="2400">
                    <a:solidFill>
                      <a:srgbClr val="111827"/>
                    </a:solidFill>
                    <a:latin typeface="Cambria Math" panose="02040503050406030204" pitchFamily="18" charset="0"/>
                  </a:rPr>
                  <a:t>$4$</a:t>
                </a:r>
                <a:r>
                  <a:rPr sz="2400" b="0">
                    <a:solidFill>
                      <a:srgbClr val="111827"/>
                    </a:solidFill>
                    <a:latin typeface="Arial"/>
                  </a:rPr>
                  <a:t>E + </a:t>
                </a:r>
                <a:r>
                  <a:rPr lang="en-IN" sz="2400">
                    <a:solidFill>
                      <a:srgbClr val="111827"/>
                    </a:solidFill>
                    <a:latin typeface="Cambria Math" panose="02040503050406030204" pitchFamily="18" charset="0"/>
                  </a:rPr>
                  <a:t>$1$</a:t>
                </a:r>
                <a:r>
                  <a:rPr sz="2400" b="0">
                    <a:solidFill>
                      <a:srgbClr val="111827"/>
                    </a:solidFill>
                    <a:latin typeface="Arial"/>
                  </a:rPr>
                  <a:t> Doc + </a:t>
                </a:r>
                <a:r>
                  <a:rPr lang="en-IN" sz="2400">
                    <a:solidFill>
                      <a:srgbClr val="111827"/>
                    </a:solidFill>
                    <a:latin typeface="Cambria Math" panose="02040503050406030204" pitchFamily="18" charset="0"/>
                  </a:rPr>
                  <a:t>$7$</a:t>
                </a:r>
                <a:r>
                  <a:rPr sz="2400" b="0">
                    <a:solidFill>
                      <a:srgbClr val="111827"/>
                    </a:solidFill>
                    <a:latin typeface="Arial"/>
                  </a:rPr>
                  <a:t> Prof: </a:t>
                </a:r>
                <a:r>
                  <a:rPr lang="en-IN" sz="2400">
                    <a:solidFill>
                      <a:srgbClr val="111827"/>
                    </a:solidFill>
                    <a:latin typeface="Cambria Math" panose="02040503050406030204" pitchFamily="18" charset="0"/>
                  </a:rPr>
                  <a:t>${}^4C_4\cdot{}^2C_1\cdot{}^{10}C_7=1\cdot2\cdot120=240$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4: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E +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Doc +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Prof: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committees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1290</m:t>
                        </m:r>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1290</m:t>
                        </m:r>
                      </m:num>
                      <m:den>
                        <m:r>
                          <a:rPr lang="en-IN" sz="2400" i="1">
                            <a:solidFill>
                              <a:srgbClr val="111827"/>
                            </a:solidFill>
                            <a:latin typeface="Cambria Math" panose="02040503050406030204" pitchFamily="18" charset="0"/>
                          </a:rPr>
                          <m:t>1820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129</m:t>
                        </m:r>
                      </m:num>
                      <m:den>
                        <m:r>
                          <a:rPr lang="en-IN" sz="2400" i="1">
                            <a:solidFill>
                              <a:srgbClr val="111827"/>
                            </a:solidFill>
                            <a:latin typeface="Cambria Math" panose="02040503050406030204" pitchFamily="18" charset="0"/>
                          </a:rPr>
                          <m:t>182</m:t>
                        </m:r>
                      </m:den>
                    </m:f>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4: </a:t>
                </a:r>
                <a:r>
                  <a:rPr lang="en-IN" sz="2400">
                    <a:solidFill>
                      <a:srgbClr val="111827"/>
                    </a:solidFill>
                    <a:latin typeface="Cambria Math" panose="02040503050406030204" pitchFamily="18" charset="0"/>
                  </a:rPr>
                  <a:t>$4$</a:t>
                </a:r>
                <a:r>
                  <a:rPr sz="2400" b="0">
                    <a:solidFill>
                      <a:srgbClr val="111827"/>
                    </a:solidFill>
                    <a:latin typeface="Arial"/>
                  </a:rPr>
                  <a:t>E + </a:t>
                </a:r>
                <a:r>
                  <a:rPr lang="en-IN" sz="2400">
                    <a:solidFill>
                      <a:srgbClr val="111827"/>
                    </a:solidFill>
                    <a:latin typeface="Cambria Math" panose="02040503050406030204" pitchFamily="18" charset="0"/>
                  </a:rPr>
                  <a:t>$2$</a:t>
                </a:r>
                <a:r>
                  <a:rPr sz="2400" b="0">
                    <a:solidFill>
                      <a:srgbClr val="111827"/>
                    </a:solidFill>
                    <a:latin typeface="Arial"/>
                  </a:rPr>
                  <a:t> Doc + </a:t>
                </a:r>
                <a:r>
                  <a:rPr lang="en-IN" sz="2400">
                    <a:solidFill>
                      <a:srgbClr val="111827"/>
                    </a:solidFill>
                    <a:latin typeface="Cambria Math" panose="02040503050406030204" pitchFamily="18" charset="0"/>
                  </a:rPr>
                  <a:t>$6$</a:t>
                </a:r>
                <a:r>
                  <a:rPr sz="2400" b="0">
                    <a:solidFill>
                      <a:srgbClr val="111827"/>
                    </a:solidFill>
                    <a:latin typeface="Arial"/>
                  </a:rPr>
                  <a:t> Prof: </a:t>
                </a:r>
                <a:r>
                  <a:rPr lang="en-IN" sz="2400">
                    <a:solidFill>
                      <a:srgbClr val="111827"/>
                    </a:solidFill>
                    <a:latin typeface="Cambria Math" panose="02040503050406030204" pitchFamily="18" charset="0"/>
                  </a:rPr>
                  <a:t>${}^4C_4\cdot{}^2C_2\cdot{}^{10}C_6=1\cdot1\cdot210=210$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committees </a:t>
                </a:r>
                <a:r>
                  <a:rPr lang="en-IN" sz="2400">
                    <a:solidFill>
                      <a:srgbClr val="111827"/>
                    </a:solidFill>
                    <a:latin typeface="Cambria Math" panose="02040503050406030204" pitchFamily="18" charset="0"/>
                  </a:rPr>
                  <a:t>$=360+480+240+210=1290$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r>
                  <a:rPr lang="en-IN" sz="2400">
                    <a:solidFill>
                      <a:srgbClr val="111827"/>
                    </a:solidFill>
                    <a:latin typeface="Cambria Math" panose="02040503050406030204" pitchFamily="18" charset="0"/>
                  </a:rPr>
                  <a:t>$=\frac{1290}{{}^{16}C_{12}}=\frac{1290}{1820}=\frac{129}{182}$</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129</m:t>
                        </m:r>
                      </m:num>
                      <m:den>
                        <m:r>
                          <a:rPr lang="en-IN" sz="2800" i="1">
                            <a:solidFill>
                              <a:srgbClr val="15803D"/>
                            </a:solidFill>
                            <a:latin typeface="Cambria Math" panose="02040503050406030204" pitchFamily="18" charset="0"/>
                          </a:rPr>
                          <m:t>182</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$\frac{129}{182}$</a:t>
                </a:r>
                <a:endParaRPr sz="2800">
                  <a:solidFill>
                    <a:srgbClr val="15803D"/>
                  </a:solidFill>
                </a:endParaRP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the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people left out instead of the </a:t>
                </a:r>
                <a14:m>
                  <m:oMath xmlns:m="http://schemas.openxmlformats.org/officeDocument/2006/math">
                    <m:r>
                      <a:rPr lang="en-IN" sz="2400" i="1">
                        <a:solidFill>
                          <a:srgbClr val="78350F"/>
                        </a:solidFill>
                        <a:latin typeface="Cambria Math" panose="02040503050406030204" pitchFamily="18" charset="0"/>
                      </a:rPr>
                      <m:t>12</m:t>
                    </m:r>
                  </m:oMath>
                </a14:m>
                <a:r>
                  <a:rPr sz="2400" b="0">
                    <a:solidFill>
                      <a:srgbClr val="78350F"/>
                    </a:solidFill>
                    <a:latin typeface="Arial"/>
                  </a:rPr>
                  <a:t> chosen: at most one engineer out and not both doctors out.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the </a:t>
                </a:r>
                <a:r>
                  <a:rPr lang="en-IN" sz="2400">
                    <a:solidFill>
                      <a:srgbClr val="78350F"/>
                    </a:solidFill>
                    <a:latin typeface="Cambria Math" panose="02040503050406030204" pitchFamily="18" charset="0"/>
                  </a:rPr>
                  <a:t>$4$</a:t>
                </a:r>
                <a:r>
                  <a:rPr sz="2400" b="0">
                    <a:solidFill>
                      <a:srgbClr val="78350F"/>
                    </a:solidFill>
                    <a:latin typeface="Arial"/>
                  </a:rPr>
                  <a:t> people left out instead of the </a:t>
                </a:r>
                <a:r>
                  <a:rPr lang="en-IN" sz="2400">
                    <a:solidFill>
                      <a:srgbClr val="78350F"/>
                    </a:solidFill>
                    <a:latin typeface="Cambria Math" panose="02040503050406030204" pitchFamily="18" charset="0"/>
                  </a:rPr>
                  <a:t>$12$</a:t>
                </a:r>
                <a:r>
                  <a:rPr sz="2400" b="0">
                    <a:solidFill>
                      <a:srgbClr val="78350F"/>
                    </a:solidFill>
                    <a:latin typeface="Arial"/>
                  </a:rPr>
                  <a:t> chosen: at most one engineer out and not both doctors out.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-committee is the same as choosing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people excluded; there are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1820</m:t>
                    </m:r>
                  </m:oMath>
                </a14:m>
                <a:r>
                  <a:rPr sz="2400" b="0">
                    <a:solidFill>
                      <a:srgbClr val="111827"/>
                    </a:solidFill>
                    <a:latin typeface="Arial"/>
                  </a:rPr>
                  <a:t> such 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least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engineers in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most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engineer excluded; at least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doctor in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most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doctor excluded.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Excluded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professors,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$12$</a:t>
                </a:r>
                <a:r>
                  <a:rPr sz="2400" b="0">
                    <a:solidFill>
                      <a:srgbClr val="111827"/>
                    </a:solidFill>
                    <a:latin typeface="Arial"/>
                  </a:rPr>
                  <a:t>-committee is the same as choosing the </a:t>
                </a:r>
                <a:r>
                  <a:rPr lang="en-IN" sz="2400">
                    <a:solidFill>
                      <a:srgbClr val="111827"/>
                    </a:solidFill>
                    <a:latin typeface="Cambria Math" panose="02040503050406030204" pitchFamily="18" charset="0"/>
                  </a:rPr>
                  <a:t>$4$</a:t>
                </a:r>
                <a:r>
                  <a:rPr sz="2400" b="0">
                    <a:solidFill>
                      <a:srgbClr val="111827"/>
                    </a:solidFill>
                    <a:latin typeface="Arial"/>
                  </a:rPr>
                  <a:t> people excluded; there are </a:t>
                </a:r>
                <a:r>
                  <a:rPr lang="en-IN" sz="2400">
                    <a:solidFill>
                      <a:srgbClr val="111827"/>
                    </a:solidFill>
                    <a:latin typeface="Cambria Math" panose="02040503050406030204" pitchFamily="18" charset="0"/>
                  </a:rPr>
                  <a:t>${}^{16}C_4=1820$</a:t>
                </a:r>
                <a:r>
                  <a:rPr sz="2400" b="0">
                    <a:solidFill>
                      <a:srgbClr val="111827"/>
                    </a:solidFill>
                    <a:latin typeface="Arial"/>
                  </a:rPr>
                  <a:t> such 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least </a:t>
                </a:r>
                <a:r>
                  <a:rPr lang="en-IN" sz="2400">
                    <a:solidFill>
                      <a:srgbClr val="111827"/>
                    </a:solidFill>
                    <a:latin typeface="Cambria Math" panose="02040503050406030204" pitchFamily="18" charset="0"/>
                  </a:rPr>
                  <a:t>$3$</a:t>
                </a:r>
                <a:r>
                  <a:rPr sz="2400" b="0">
                    <a:solidFill>
                      <a:srgbClr val="111827"/>
                    </a:solidFill>
                    <a:latin typeface="Arial"/>
                  </a:rPr>
                  <a:t> engineers in </a:t>
                </a:r>
                <a:r>
                  <a:rPr lang="en-IN" sz="2400">
                    <a:solidFill>
                      <a:srgbClr val="111827"/>
                    </a:solidFill>
                    <a:latin typeface="Cambria Math" panose="02040503050406030204" pitchFamily="18" charset="0"/>
                  </a:rPr>
                  <a:t>$\iff$</a:t>
                </a:r>
                <a:r>
                  <a:rPr sz="2400" b="0">
                    <a:solidFill>
                      <a:srgbClr val="111827"/>
                    </a:solidFill>
                    <a:latin typeface="Arial"/>
                  </a:rPr>
                  <a:t> at most </a:t>
                </a:r>
                <a:r>
                  <a:rPr lang="en-IN" sz="2400">
                    <a:solidFill>
                      <a:srgbClr val="111827"/>
                    </a:solidFill>
                    <a:latin typeface="Cambria Math" panose="02040503050406030204" pitchFamily="18" charset="0"/>
                  </a:rPr>
                  <a:t>$1$</a:t>
                </a:r>
                <a:r>
                  <a:rPr sz="2400" b="0">
                    <a:solidFill>
                      <a:srgbClr val="111827"/>
                    </a:solidFill>
                    <a:latin typeface="Arial"/>
                  </a:rPr>
                  <a:t> engineer excluded; at least </a:t>
                </a:r>
                <a:r>
                  <a:rPr lang="en-IN" sz="2400">
                    <a:solidFill>
                      <a:srgbClr val="111827"/>
                    </a:solidFill>
                    <a:latin typeface="Cambria Math" panose="02040503050406030204" pitchFamily="18" charset="0"/>
                  </a:rPr>
                  <a:t>$1$</a:t>
                </a:r>
                <a:r>
                  <a:rPr sz="2400" b="0">
                    <a:solidFill>
                      <a:srgbClr val="111827"/>
                    </a:solidFill>
                    <a:latin typeface="Arial"/>
                  </a:rPr>
                  <a:t> doctor in </a:t>
                </a:r>
                <a:r>
                  <a:rPr lang="en-IN" sz="2400">
                    <a:solidFill>
                      <a:srgbClr val="111827"/>
                    </a:solidFill>
                    <a:latin typeface="Cambria Math" panose="02040503050406030204" pitchFamily="18" charset="0"/>
                  </a:rPr>
                  <a:t>$\iff$</a:t>
                </a:r>
                <a:r>
                  <a:rPr sz="2400" b="0">
                    <a:solidFill>
                      <a:srgbClr val="111827"/>
                    </a:solidFill>
                    <a:latin typeface="Arial"/>
                  </a:rPr>
                  <a:t> at most </a:t>
                </a:r>
                <a:r>
                  <a:rPr lang="en-IN" sz="2400">
                    <a:solidFill>
                      <a:srgbClr val="111827"/>
                    </a:solidFill>
                    <a:latin typeface="Cambria Math" panose="02040503050406030204" pitchFamily="18" charset="0"/>
                  </a:rPr>
                  <a:t>$1$</a:t>
                </a:r>
                <a:r>
                  <a:rPr sz="2400" b="0">
                    <a:solidFill>
                      <a:srgbClr val="111827"/>
                    </a:solidFill>
                    <a:latin typeface="Arial"/>
                  </a:rPr>
                  <a:t> doctor excluded.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Excluded </a:t>
                </a:r>
                <a:r>
                  <a:rPr lang="en-IN" sz="2400">
                    <a:solidFill>
                      <a:srgbClr val="111827"/>
                    </a:solidFill>
                    <a:latin typeface="Cambria Math" panose="02040503050406030204" pitchFamily="18" charset="0"/>
                  </a:rPr>
                  <a:t>$(e,d)=(0,0)$</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professors, </a:t>
                </a:r>
                <a:r>
                  <a:rPr lang="en-IN" sz="2400">
                    <a:solidFill>
                      <a:srgbClr val="111827"/>
                    </a:solidFill>
                    <a:latin typeface="Cambria Math" panose="02040503050406030204" pitchFamily="18" charset="0"/>
                  </a:rPr>
                  <a:t>${}^{10}C_4=210$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oMath>
                </a14:m>
                <a:r>
                  <a:rPr sz="2400" b="0">
                    <a:solidFill>
                      <a:srgbClr val="111827"/>
                    </a:solidFill>
                    <a:latin typeface="Arial"/>
                  </a:rPr>
                  <a:t>.\ \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480</m:t>
                    </m:r>
                  </m:oMath>
                </a14:m>
                <a:r>
                  <a:rPr sz="2400" b="0">
                    <a:solidFill>
                      <a:srgbClr val="111827"/>
                    </a:solidFill>
                    <a:latin typeface="Arial"/>
                  </a:rPr>
                  <a:t>.\ \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1290</m:t>
                    </m:r>
                  </m:oMath>
                </a14:m>
                <a:r>
                  <a:rPr sz="2400" b="0">
                    <a:solidFill>
                      <a:srgbClr val="111827"/>
                    </a:solidFill>
                    <a:latin typeface="Arial"/>
                  </a:rPr>
                  <a:t>, so the probability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1290</m:t>
                        </m:r>
                      </m:num>
                      <m:den>
                        <m:r>
                          <a:rPr lang="en-IN" sz="2400" i="1">
                            <a:solidFill>
                              <a:srgbClr val="111827"/>
                            </a:solidFill>
                            <a:latin typeface="Cambria Math" panose="02040503050406030204" pitchFamily="18" charset="0"/>
                          </a:rPr>
                          <m:t>1820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129</m:t>
                        </m:r>
                      </m:num>
                      <m:den>
                        <m:r>
                          <a:rPr lang="en-IN" sz="2400" i="1">
                            <a:solidFill>
                              <a:srgbClr val="111827"/>
                            </a:solidFill>
                            <a:latin typeface="Cambria Math" panose="02040503050406030204" pitchFamily="18" charset="0"/>
                          </a:rPr>
                          <m:t>182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$(0,1)$</a:t>
                </a:r>
                <a:r>
                  <a:rPr sz="2400" b="0">
                    <a:solidFill>
                      <a:srgbClr val="111827"/>
                    </a:solidFill>
                    <a:latin typeface="Arial"/>
                  </a:rPr>
                  <a:t>: </a:t>
                </a:r>
                <a:r>
                  <a:rPr lang="en-IN" sz="2400">
                    <a:solidFill>
                      <a:srgbClr val="111827"/>
                    </a:solidFill>
                    <a:latin typeface="Cambria Math" panose="02040503050406030204" pitchFamily="18" charset="0"/>
                  </a:rPr>
                  <a:t>${}^2C_1\cdot{}^{10}C_3=240$</a:t>
                </a:r>
                <a:r>
                  <a:rPr sz="2400" b="0">
                    <a:solidFill>
                      <a:srgbClr val="111827"/>
                    </a:solidFill>
                    <a:latin typeface="Arial"/>
                  </a:rPr>
                  <a:t>.\ \ </a:t>
                </a:r>
                <a:r>
                  <a:rPr lang="en-IN" sz="2400">
                    <a:solidFill>
                      <a:srgbClr val="111827"/>
                    </a:solidFill>
                    <a:latin typeface="Cambria Math" panose="02040503050406030204" pitchFamily="18" charset="0"/>
                  </a:rPr>
                  <a:t>$(1,0)$</a:t>
                </a:r>
                <a:r>
                  <a:rPr sz="2400" b="0">
                    <a:solidFill>
                      <a:srgbClr val="111827"/>
                    </a:solidFill>
                    <a:latin typeface="Arial"/>
                  </a:rPr>
                  <a:t>: </a:t>
                </a:r>
                <a:r>
                  <a:rPr lang="en-IN" sz="2400">
                    <a:solidFill>
                      <a:srgbClr val="111827"/>
                    </a:solidFill>
                    <a:latin typeface="Cambria Math" panose="02040503050406030204" pitchFamily="18" charset="0"/>
                  </a:rPr>
                  <a:t>${}^4C_1\cdot{}^{10}C_3=480$</a:t>
                </a:r>
                <a:r>
                  <a:rPr sz="2400" b="0">
                    <a:solidFill>
                      <a:srgbClr val="111827"/>
                    </a:solidFill>
                    <a:latin typeface="Arial"/>
                  </a:rPr>
                  <a:t>.\ \ </a:t>
                </a:r>
                <a:r>
                  <a:rPr lang="en-IN" sz="2400">
                    <a:solidFill>
                      <a:srgbClr val="111827"/>
                    </a:solidFill>
                    <a:latin typeface="Cambria Math" panose="02040503050406030204" pitchFamily="18" charset="0"/>
                  </a:rPr>
                  <a:t>$(1,1)$</a:t>
                </a:r>
                <a:r>
                  <a:rPr sz="2400" b="0">
                    <a:solidFill>
                      <a:srgbClr val="111827"/>
                    </a:solidFill>
                    <a:latin typeface="Arial"/>
                  </a:rPr>
                  <a:t>: </a:t>
                </a:r>
                <a:r>
                  <a:rPr lang="en-IN" sz="2400">
                    <a:solidFill>
                      <a:srgbClr val="111827"/>
                    </a:solidFill>
                    <a:latin typeface="Cambria Math" panose="02040503050406030204" pitchFamily="18" charset="0"/>
                  </a:rPr>
                  <a:t>${}^4C_1\cdot{}^2C_1\cdot{}^{10}C_2=360$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$=210+240+480+360=1290$</a:t>
                </a:r>
                <a:r>
                  <a:rPr sz="2400" b="0">
                    <a:solidFill>
                      <a:srgbClr val="111827"/>
                    </a:solidFill>
                    <a:latin typeface="Arial"/>
                  </a:rPr>
                  <a:t>, so the probability is </a:t>
                </a:r>
                <a:r>
                  <a:rPr lang="en-IN" sz="2400">
                    <a:solidFill>
                      <a:srgbClr val="111827"/>
                    </a:solidFill>
                    <a:latin typeface="Cambria Math" panose="02040503050406030204" pitchFamily="18" charset="0"/>
                  </a:rPr>
                  <a:t>$\frac{1290}{1820}=\frac{129}{182}$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129</m:t>
                        </m:r>
                      </m:num>
                      <m:den>
                        <m:r>
                          <a:rPr lang="en-IN" sz="2800" i="1">
                            <a:solidFill>
                              <a:srgbClr val="15803D"/>
                            </a:solidFill>
                            <a:latin typeface="Cambria Math" panose="02040503050406030204" pitchFamily="18" charset="0"/>
                          </a:rPr>
                          <m:t>182</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$\frac{129}{182}$</a:t>
                </a:r>
                <a:endParaRPr sz="2800">
                  <a:solidFill>
                    <a:srgbClr val="15803D"/>
                  </a:solidFill>
                </a:endParaRP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Choosing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equals choosing the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left out: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b>
                    </m:sSub>
                  </m:oMath>
                </a14:m>
                <a:r>
                  <a:rPr sz="2400" b="0">
                    <a:solidFill>
                      <a:srgbClr val="111827"/>
                    </a:solidFill>
                    <a:latin typeface="Arial"/>
                  </a:rPr>
                  <a:t>; use whichever side has the smaller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least'' constraints on groups: enumerate the finitely many admissible splits and multiply binomials for each group.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 for such counts: the sum over ALL splits must give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12</m:t>
                        </m:r>
                      </m:sub>
                    </m:sSub>
                  </m:oMath>
                </a14:m>
                <a:r>
                  <a:rPr sz="2400" b="0">
                    <a:solidFill>
                      <a:srgbClr val="111827"/>
                    </a:solidFill>
                    <a:latin typeface="Arial"/>
                  </a:rPr>
                  <a:t> (Vandermonde-type identity).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Choosing </a:t>
                </a:r>
                <a:r>
                  <a:rPr lang="en-IN" sz="2400">
                    <a:solidFill>
                      <a:srgbClr val="111827"/>
                    </a:solidFill>
                    <a:latin typeface="Cambria Math" panose="02040503050406030204" pitchFamily="18" charset="0"/>
                  </a:rPr>
                  <a:t>$r$</a:t>
                </a:r>
                <a:r>
                  <a:rPr sz="2400" b="0">
                    <a:solidFill>
                      <a:srgbClr val="111827"/>
                    </a:solidFill>
                    <a:latin typeface="Arial"/>
                  </a:rPr>
                  <a:t> from </a:t>
                </a:r>
                <a:r>
                  <a:rPr lang="en-IN" sz="2400">
                    <a:solidFill>
                      <a:srgbClr val="111827"/>
                    </a:solidFill>
                    <a:latin typeface="Cambria Math" panose="02040503050406030204" pitchFamily="18" charset="0"/>
                  </a:rPr>
                  <a:t>$n$</a:t>
                </a:r>
                <a:r>
                  <a:rPr sz="2400" b="0">
                    <a:solidFill>
                      <a:srgbClr val="111827"/>
                    </a:solidFill>
                    <a:latin typeface="Arial"/>
                  </a:rPr>
                  <a:t> equals choosing the </a:t>
                </a:r>
                <a:r>
                  <a:rPr lang="en-IN" sz="2400">
                    <a:solidFill>
                      <a:srgbClr val="111827"/>
                    </a:solidFill>
                    <a:latin typeface="Cambria Math" panose="02040503050406030204" pitchFamily="18" charset="0"/>
                  </a:rPr>
                  <a:t>$n-r$</a:t>
                </a:r>
                <a:r>
                  <a:rPr sz="2400" b="0">
                    <a:solidFill>
                      <a:srgbClr val="111827"/>
                    </a:solidFill>
                    <a:latin typeface="Arial"/>
                  </a:rPr>
                  <a:t> left out: </a:t>
                </a:r>
                <a:r>
                  <a:rPr lang="en-IN" sz="2400">
                    <a:solidFill>
                      <a:srgbClr val="111827"/>
                    </a:solidFill>
                    <a:latin typeface="Cambria Math" panose="02040503050406030204" pitchFamily="18" charset="0"/>
                  </a:rPr>
                  <a:t>${}^nC_r={}^nC_{n-r}$</a:t>
                </a:r>
                <a:r>
                  <a:rPr sz="2400" b="0">
                    <a:solidFill>
                      <a:srgbClr val="111827"/>
                    </a:solidFill>
                    <a:latin typeface="Arial"/>
                  </a:rPr>
                  <a:t>; use whichever side has the smaller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least'' constraints on groups: enumerate the finitely many admissible splits and multiply binomials for each group.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 for such counts: the sum over ALL splits must give </a:t>
                </a:r>
                <a:r>
                  <a:rPr lang="en-IN" sz="2400">
                    <a:solidFill>
                      <a:srgbClr val="111827"/>
                    </a:solidFill>
                    <a:latin typeface="Cambria Math" panose="02040503050406030204" pitchFamily="18" charset="0"/>
                  </a:rPr>
                  <a:t>${}^{16}C_{12}$</a:t>
                </a:r>
                <a:r>
                  <a:rPr sz="2400" b="0">
                    <a:solidFill>
                      <a:srgbClr val="111827"/>
                    </a:solidFill>
                    <a:latin typeface="Arial"/>
                  </a:rPr>
                  <a:t> (Vandermonde-type identity).</a:t>
                </a:r>
                <a:endParaRPr sz="2400">
                  <a:solidFill>
                    <a:srgbClr val="111827"/>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bag contains </a:t>
                </a:r>
                <a14:m>
                  <m:oMath xmlns:m="http://schemas.openxmlformats.org/officeDocument/2006/math">
                    <m:r>
                      <a:rPr lang="en-IN" sz="2400" i="1">
                        <a:solidFill>
                          <a:srgbClr val="111827"/>
                        </a:solidFill>
                        <a:latin typeface="Cambria Math" panose="02040503050406030204" pitchFamily="18" charset="0"/>
                      </a:rPr>
                      <m:t>19</m:t>
                    </m:r>
                  </m:oMath>
                </a14:m>
                <a:r>
                  <a:rPr sz="2400" b="0">
                    <a:solidFill>
                      <a:srgbClr val="111827"/>
                    </a:solidFill>
                    <a:latin typeface="Arial"/>
                  </a:rPr>
                  <a:t> unbiased coins and one coin with head on both sides. One coin drawn at random is tossed and head turns up. If the probability that the drawn coin was unbiased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64</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80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72</m:t>
                    </m:r>
                  </m:oMath>
                </a14:m>
                <a:endParaRPr sz="2400">
                  <a:solidFill>
                    <a:srgbClr val="111827"/>
                  </a:solidFill>
                </a:endParaRPr>
              </a:p>
            </p:txBody>
          </p:sp>
        </mc:Choice>
        <mc:Fallback>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bag contains </a:t>
                </a:r>
                <a:r>
                  <a:rPr lang="en-IN" sz="2400">
                    <a:solidFill>
                      <a:srgbClr val="111827"/>
                    </a:solidFill>
                    <a:latin typeface="Cambria Math" panose="02040503050406030204" pitchFamily="18" charset="0"/>
                  </a:rPr>
                  <a:t>$19$</a:t>
                </a:r>
                <a:r>
                  <a:rPr sz="2400" b="0">
                    <a:solidFill>
                      <a:srgbClr val="111827"/>
                    </a:solidFill>
                    <a:latin typeface="Arial"/>
                  </a:rPr>
                  <a:t> unbiased coins and one coin with head on both sides. One coin drawn at random is tossed and head turns up. If the probability that the drawn coin was unbiased is </a:t>
                </a:r>
                <a:r>
                  <a:rPr lang="en-IN" sz="2400">
                    <a:solidFill>
                      <a:srgbClr val="111827"/>
                    </a:solidFill>
                    <a:latin typeface="Cambria Math" panose="02040503050406030204" pitchFamily="18" charset="0"/>
                  </a:rPr>
                  <a:t>$\frac mn$</a:t>
                </a:r>
                <a:r>
                  <a:rPr sz="2400" b="0">
                    <a:solidFill>
                      <a:srgbClr val="111827"/>
                    </a:solidFill>
                    <a:latin typeface="Arial"/>
                  </a:rPr>
                  <a:t>, </a:t>
                </a:r>
                <a:r>
                  <a:rPr lang="en-IN" sz="2400">
                    <a:solidFill>
                      <a:srgbClr val="111827"/>
                    </a:solidFill>
                    <a:latin typeface="Cambria Math" panose="02040503050406030204" pitchFamily="18" charset="0"/>
                  </a:rPr>
                  <a:t>$\gcd(m,n)=1$</a:t>
                </a:r>
                <a:r>
                  <a:rPr sz="2400" b="0">
                    <a:solidFill>
                      <a:srgbClr val="111827"/>
                    </a:solidFill>
                    <a:latin typeface="Arial"/>
                  </a:rPr>
                  <a:t>, then </a:t>
                </a:r>
                <a:r>
                  <a:rPr lang="en-IN" sz="2400">
                    <a:solidFill>
                      <a:srgbClr val="111827"/>
                    </a:solidFill>
                    <a:latin typeface="Cambria Math" panose="02040503050406030204" pitchFamily="18" charset="0"/>
                  </a:rPr>
                  <a:t>$n^2-m^2$</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$64$</a:t>
                </a:r>
                <a:r>
                  <a:rPr sz="2400" b="0">
                    <a:solidFill>
                      <a:srgbClr val="111827"/>
                    </a:solidFill>
                    <a:latin typeface="Arial"/>
                  </a:rPr>
                  <a:t>   (B) </a:t>
                </a:r>
                <a:r>
                  <a:rPr lang="en-IN" sz="2400">
                    <a:solidFill>
                      <a:srgbClr val="111827"/>
                    </a:solidFill>
                    <a:latin typeface="Cambria Math" panose="02040503050406030204" pitchFamily="18" charset="0"/>
                  </a:rPr>
                  <a:t>$80$</a:t>
                </a:r>
                <a:r>
                  <a:rPr sz="2400" b="0">
                    <a:solidFill>
                      <a:srgbClr val="111827"/>
                    </a:solidFill>
                    <a:latin typeface="Arial"/>
                  </a:rPr>
                  <a:t>   (C) </a:t>
                </a:r>
                <a:r>
                  <a:rPr lang="en-IN" sz="2400">
                    <a:solidFill>
                      <a:srgbClr val="111827"/>
                    </a:solidFill>
                    <a:latin typeface="Cambria Math" panose="02040503050406030204" pitchFamily="18" charset="0"/>
                  </a:rPr>
                  <a:t>$60$</a:t>
                </a:r>
                <a:r>
                  <a:rPr sz="2400" b="0">
                    <a:solidFill>
                      <a:srgbClr val="111827"/>
                    </a:solidFill>
                    <a:latin typeface="Arial"/>
                  </a:rPr>
                  <a:t>   (D) </a:t>
                </a:r>
                <a:r>
                  <a:rPr lang="en-IN" sz="2400">
                    <a:solidFill>
                      <a:srgbClr val="111827"/>
                    </a:solidFill>
                    <a:latin typeface="Cambria Math" panose="02040503050406030204" pitchFamily="18" charset="0"/>
                  </a:rPr>
                  <a:t>$72$</a:t>
                </a:r>
                <a:endParaRPr sz="2400">
                  <a:solidFill>
                    <a:srgbClr val="111827"/>
                  </a:solidFill>
                </a:endParaRPr>
              </a:p>
            </p:txBody>
          </p:sp>
        </mc:Fallback>
      </mc:AlternateContent>
      <p:sp>
        <p:nvSpPr>
          <p:cNvPr id="5" name="Rectangle 4"/>
          <p:cNvSpPr/>
          <p:nvPr/>
        </p:nvSpPr>
        <p:spPr>
          <a:xfrm>
            <a:off x="731520" y="4061968"/>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Bayes'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Bayes: compare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𝑢𝑛𝑏𝑖𝑎𝑠𝑒𝑑 𝑎𝑛𝑑 ℎ𝑒𝑎𝑑</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𝑏𝑖𝑎𝑠𝑒𝑑 𝑎𝑛𝑑 ℎ𝑒𝑎𝑑</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Bayes: compare </a:t>
                </a:r>
                <a:r>
                  <a:rPr lang="en-IN" sz="2400">
                    <a:solidFill>
                      <a:srgbClr val="78350F"/>
                    </a:solidFill>
                    <a:latin typeface="Cambria Math" panose="02040503050406030204" pitchFamily="18" charset="0"/>
                  </a:rPr>
                  <a:t>$P(\text{unbiased and head})$</a:t>
                </a:r>
                <a:r>
                  <a:rPr sz="2400" b="0">
                    <a:solidFill>
                      <a:srgbClr val="78350F"/>
                    </a:solidFill>
                    <a:latin typeface="Arial"/>
                  </a:rPr>
                  <a:t> with </a:t>
                </a:r>
                <a:r>
                  <a:rPr lang="en-IN" sz="2400">
                    <a:solidFill>
                      <a:srgbClr val="78350F"/>
                    </a:solidFill>
                    <a:latin typeface="Cambria Math" panose="02040503050406030204" pitchFamily="18" charset="0"/>
                  </a:rPr>
                  <a:t>$P(\text{biased and head})$</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Required 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𝑢𝑛𝑏𝑖𝑎𝑠𝑒𝑑 𝑎𝑛𝑑 ℎ𝑒𝑎𝑑</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𝑏𝑖𝑎𝑠𝑒𝑑 𝑎𝑛𝑑 ℎ𝑒𝑎𝑑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𝑢𝑛𝑏𝑖𝑎𝑠𝑒𝑑 𝑎𝑛𝑑 ℎ𝑒𝑎𝑑</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𝑢𝑛𝑏𝑖𝑎𝑠𝑒𝑑 𝑎𝑛𝑑 ℎ𝑒𝑎𝑑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𝑏𝑖𝑎𝑠𝑒𝑑 𝑎𝑛𝑑 ℎ𝑒𝑎𝑑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21</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Required probability </a:t>
                </a:r>
                <a:r>
                  <a:rPr lang="en-IN" sz="2400">
                    <a:solidFill>
                      <a:srgbClr val="111827"/>
                    </a:solidFill>
                    <a:latin typeface="Cambria Math" panose="02040503050406030204" pitchFamily="18" charset="0"/>
                  </a:rPr>
                  <a:t>$=\frac{P(\text{unbiased and head})}{P(\text{biased and head})+P(\text{unbiased and head})}$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$P(\text{unbiased and head})=\frac{19}{20}\cdot\frac12$</a:t>
                </a:r>
                <a:r>
                  <a:rPr sz="2400" b="0">
                    <a:solidFill>
                      <a:srgbClr val="111827"/>
                    </a:solidFill>
                    <a:latin typeface="Arial"/>
                  </a:rPr>
                  <a:t> and </a:t>
                </a:r>
                <a:r>
                  <a:rPr lang="en-IN" sz="2400">
                    <a:solidFill>
                      <a:srgbClr val="111827"/>
                    </a:solidFill>
                    <a:latin typeface="Cambria Math" panose="02040503050406030204" pitchFamily="18" charset="0"/>
                  </a:rPr>
                  <a:t>$P(\text{biased and head})=\frac{1}{20}\cdot1$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r>
                  <a:rPr lang="en-IN" sz="2400">
                    <a:solidFill>
                      <a:srgbClr val="111827"/>
                    </a:solidFill>
                    <a:latin typeface="Cambria Math" panose="02040503050406030204" pitchFamily="18" charset="0"/>
                  </a:rPr>
                  <a:t>$=\frac{\frac{19}{20}\cdot\frac12}{\frac{19}{20}\cdot\frac12+\frac1{20}\cdot1}=\frac{19}{19+2}=\frac{19}{21}$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(coprime).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19</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$m=19,\ n=21$</a:t>
                </a:r>
                <a:r>
                  <a:rPr sz="2400" b="0">
                    <a:solidFill>
                      <a:srgbClr val="111827"/>
                    </a:solidFill>
                    <a:latin typeface="Arial"/>
                  </a:rPr>
                  <a:t> (coprime).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$n^2-m^2=21^2-19^2=441-361=80$</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80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$80$</a:t>
                </a:r>
                <a:endParaRPr sz="2800">
                  <a:solidFill>
                    <a:srgbClr val="15803D"/>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Natural frequencies: list all </a:t>
                </a:r>
                <a14:m>
                  <m:oMath xmlns:m="http://schemas.openxmlformats.org/officeDocument/2006/math">
                    <m:r>
                      <a:rPr lang="en-IN" sz="2400" i="1">
                        <a:solidFill>
                          <a:srgbClr val="78350F"/>
                        </a:solidFill>
                        <a:latin typeface="Cambria Math" panose="02040503050406030204" pitchFamily="18" charset="0"/>
                      </a:rPr>
                      <m:t>40</m:t>
                    </m:r>
                  </m:oMath>
                </a14:m>
                <a:r>
                  <a:rPr sz="2400" b="0">
                    <a:solidFill>
                      <a:srgbClr val="78350F"/>
                    </a:solidFill>
                    <a:latin typeface="Arial"/>
                  </a:rPr>
                  <a:t> equally likely (coin, face) outcomes and count the heads.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Natural frequencies: list all </a:t>
                </a:r>
                <a:r>
                  <a:rPr lang="en-IN" sz="2400">
                    <a:solidFill>
                      <a:srgbClr val="78350F"/>
                    </a:solidFill>
                    <a:latin typeface="Cambria Math" panose="02040503050406030204" pitchFamily="18" charset="0"/>
                  </a:rPr>
                  <a:t>$40$</a:t>
                </a:r>
                <a:r>
                  <a:rPr sz="2400" b="0">
                    <a:solidFill>
                      <a:srgbClr val="78350F"/>
                    </a:solidFill>
                    <a:latin typeface="Arial"/>
                  </a:rPr>
                  <a:t> equally likely (coin, face) outcomes and count the heads.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of the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coins has two faces; the </a:t>
                </a:r>
                <a14:m>
                  <m:oMath xmlns:m="http://schemas.openxmlformats.org/officeDocument/2006/math">
                    <m:r>
                      <a:rPr lang="en-IN" sz="2400" i="1">
                        <a:solidFill>
                          <a:srgbClr val="111827"/>
                        </a:solidFill>
                        <a:latin typeface="Cambria Math" panose="02040503050406030204" pitchFamily="18" charset="0"/>
                      </a:rPr>
                      <m:t>40</m:t>
                    </m:r>
                  </m:oMath>
                </a14:m>
                <a:r>
                  <a:rPr sz="2400" b="0">
                    <a:solidFill>
                      <a:srgbClr val="111827"/>
                    </a:solidFill>
                    <a:latin typeface="Arial"/>
                  </a:rPr>
                  <a:t> (coin, face) pairs are equally likely.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r>
                      <a:rPr lang="en-IN" sz="2400" i="1">
                        <a:solidFill>
                          <a:srgbClr val="111827"/>
                        </a:solidFill>
                        <a:latin typeface="Cambria Math" panose="02040503050406030204" pitchFamily="18" charset="0"/>
                      </a:rPr>
                      <m:t>19</m:t>
                    </m:r>
                  </m:oMath>
                </a14:m>
                <a:r>
                  <a:rPr sz="2400" b="0">
                    <a:solidFill>
                      <a:srgbClr val="111827"/>
                    </a:solidFill>
                    <a:latin typeface="Arial"/>
                  </a:rPr>
                  <a:t> fair coins contribute </a:t>
                </a:r>
                <a14:m>
                  <m:oMath xmlns:m="http://schemas.openxmlformats.org/officeDocument/2006/math">
                    <m:r>
                      <a:rPr lang="en-IN" sz="2400" i="1">
                        <a:solidFill>
                          <a:srgbClr val="111827"/>
                        </a:solidFill>
                        <a:latin typeface="Cambria Math" panose="02040503050406030204" pitchFamily="18" charset="0"/>
                      </a:rPr>
                      <m:t>19</m:t>
                    </m:r>
                  </m:oMath>
                </a14:m>
                <a:r>
                  <a:rPr sz="2400" b="0">
                    <a:solidFill>
                      <a:srgbClr val="111827"/>
                    </a:solidFill>
                    <a:latin typeface="Arial"/>
                  </a:rPr>
                  <a:t> heads and </a:t>
                </a:r>
                <a14:m>
                  <m:oMath xmlns:m="http://schemas.openxmlformats.org/officeDocument/2006/math">
                    <m:r>
                      <a:rPr lang="en-IN" sz="2400" i="1">
                        <a:solidFill>
                          <a:srgbClr val="111827"/>
                        </a:solidFill>
                        <a:latin typeface="Cambria Math" panose="02040503050406030204" pitchFamily="18" charset="0"/>
                      </a:rPr>
                      <m:t>19</m:t>
                    </m:r>
                  </m:oMath>
                </a14:m>
                <a:r>
                  <a:rPr sz="2400" b="0">
                    <a:solidFill>
                      <a:srgbClr val="111827"/>
                    </a:solidFill>
                    <a:latin typeface="Arial"/>
                  </a:rPr>
                  <a:t> tails; the double-headed coin contributes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heads.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Heads in total: </a:t>
                </a:r>
                <a14:m>
                  <m:oMath xmlns:m="http://schemas.openxmlformats.org/officeDocument/2006/math">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of these </a:t>
                </a:r>
                <a14:m>
                  <m:oMath xmlns:m="http://schemas.openxmlformats.org/officeDocument/2006/math">
                    <m:r>
                      <a:rPr lang="en-IN" sz="2400" i="1">
                        <a:solidFill>
                          <a:srgbClr val="111827"/>
                        </a:solidFill>
                        <a:latin typeface="Cambria Math" panose="02040503050406030204" pitchFamily="18" charset="0"/>
                      </a:rPr>
                      <m:t>19</m:t>
                    </m:r>
                  </m:oMath>
                </a14:m>
                <a:r>
                  <a:rPr sz="2400" b="0">
                    <a:solidFill>
                      <a:srgbClr val="111827"/>
                    </a:solidFill>
                    <a:latin typeface="Arial"/>
                  </a:rPr>
                  <a:t> belong to fair coins.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21</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of the </a:t>
                </a:r>
                <a:r>
                  <a:rPr lang="en-IN" sz="2400">
                    <a:solidFill>
                      <a:srgbClr val="111827"/>
                    </a:solidFill>
                    <a:latin typeface="Cambria Math" panose="02040503050406030204" pitchFamily="18" charset="0"/>
                  </a:rPr>
                  <a:t>$20$</a:t>
                </a:r>
                <a:r>
                  <a:rPr sz="2400" b="0">
                    <a:solidFill>
                      <a:srgbClr val="111827"/>
                    </a:solidFill>
                    <a:latin typeface="Arial"/>
                  </a:rPr>
                  <a:t> coins has two faces; the </a:t>
                </a:r>
                <a:r>
                  <a:rPr lang="en-IN" sz="2400">
                    <a:solidFill>
                      <a:srgbClr val="111827"/>
                    </a:solidFill>
                    <a:latin typeface="Cambria Math" panose="02040503050406030204" pitchFamily="18" charset="0"/>
                  </a:rPr>
                  <a:t>$40$</a:t>
                </a:r>
                <a:r>
                  <a:rPr sz="2400" b="0">
                    <a:solidFill>
                      <a:srgbClr val="111827"/>
                    </a:solidFill>
                    <a:latin typeface="Arial"/>
                  </a:rPr>
                  <a:t> (coin, face) pairs are equally likely.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$19$</a:t>
                </a:r>
                <a:r>
                  <a:rPr sz="2400" b="0">
                    <a:solidFill>
                      <a:srgbClr val="111827"/>
                    </a:solidFill>
                    <a:latin typeface="Arial"/>
                  </a:rPr>
                  <a:t> fair coins contribute </a:t>
                </a:r>
                <a:r>
                  <a:rPr lang="en-IN" sz="2400">
                    <a:solidFill>
                      <a:srgbClr val="111827"/>
                    </a:solidFill>
                    <a:latin typeface="Cambria Math" panose="02040503050406030204" pitchFamily="18" charset="0"/>
                  </a:rPr>
                  <a:t>$19$</a:t>
                </a:r>
                <a:r>
                  <a:rPr sz="2400" b="0">
                    <a:solidFill>
                      <a:srgbClr val="111827"/>
                    </a:solidFill>
                    <a:latin typeface="Arial"/>
                  </a:rPr>
                  <a:t> heads and </a:t>
                </a:r>
                <a:r>
                  <a:rPr lang="en-IN" sz="2400">
                    <a:solidFill>
                      <a:srgbClr val="111827"/>
                    </a:solidFill>
                    <a:latin typeface="Cambria Math" panose="02040503050406030204" pitchFamily="18" charset="0"/>
                  </a:rPr>
                  <a:t>$19$</a:t>
                </a:r>
                <a:r>
                  <a:rPr sz="2400" b="0">
                    <a:solidFill>
                      <a:srgbClr val="111827"/>
                    </a:solidFill>
                    <a:latin typeface="Arial"/>
                  </a:rPr>
                  <a:t> tails; the double-headed coin contributes </a:t>
                </a:r>
                <a:r>
                  <a:rPr lang="en-IN" sz="2400">
                    <a:solidFill>
                      <a:srgbClr val="111827"/>
                    </a:solidFill>
                    <a:latin typeface="Cambria Math" panose="02040503050406030204" pitchFamily="18" charset="0"/>
                  </a:rPr>
                  <a:t>$2$</a:t>
                </a:r>
                <a:r>
                  <a:rPr sz="2400" b="0">
                    <a:solidFill>
                      <a:srgbClr val="111827"/>
                    </a:solidFill>
                    <a:latin typeface="Arial"/>
                  </a:rPr>
                  <a:t> heads.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Heads in total: </a:t>
                </a:r>
                <a:r>
                  <a:rPr lang="en-IN" sz="2400">
                    <a:solidFill>
                      <a:srgbClr val="111827"/>
                    </a:solidFill>
                    <a:latin typeface="Cambria Math" panose="02040503050406030204" pitchFamily="18" charset="0"/>
                  </a:rPr>
                  <a:t>$19+2=21$</a:t>
                </a:r>
                <a:r>
                  <a:rPr sz="2400" b="0">
                    <a:solidFill>
                      <a:srgbClr val="111827"/>
                    </a:solidFill>
                    <a:latin typeface="Arial"/>
                  </a:rPr>
                  <a:t>; of these </a:t>
                </a:r>
                <a:r>
                  <a:rPr lang="en-IN" sz="2400">
                    <a:solidFill>
                      <a:srgbClr val="111827"/>
                    </a:solidFill>
                    <a:latin typeface="Cambria Math" panose="02040503050406030204" pitchFamily="18" charset="0"/>
                  </a:rPr>
                  <a:t>$19$</a:t>
                </a:r>
                <a:r>
                  <a:rPr sz="2400" b="0">
                    <a:solidFill>
                      <a:srgbClr val="111827"/>
                    </a:solidFill>
                    <a:latin typeface="Arial"/>
                  </a:rPr>
                  <a:t> belong to fair coins.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r>
                  <a:rPr lang="en-IN" sz="2400">
                    <a:solidFill>
                      <a:srgbClr val="111827"/>
                    </a:solidFill>
                    <a:latin typeface="Cambria Math" panose="02040503050406030204" pitchFamily="18" charset="0"/>
                  </a:rPr>
                  <a:t>$=\frac{19}{21}$</a:t>
                </a:r>
                <a:r>
                  <a:rPr sz="2400" b="0">
                    <a:solidFill>
                      <a:srgbClr val="111827"/>
                    </a:solidFill>
                    <a:latin typeface="Arial"/>
                  </a:rPr>
                  <a:t>, so </a:t>
                </a:r>
                <a:r>
                  <a:rPr lang="en-IN" sz="2400">
                    <a:solidFill>
                      <a:srgbClr val="111827"/>
                    </a:solidFill>
                    <a:latin typeface="Cambria Math" panose="02040503050406030204" pitchFamily="18" charset="0"/>
                  </a:rPr>
                  <a:t>$n^2-m^2=441-361=80$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80</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$80$</a:t>
                </a:r>
                <a:endParaRPr sz="2800">
                  <a:solidFill>
                    <a:srgbClr val="15803D"/>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coin with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ℎ𝑒𝑎𝑑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multiplies the odds: posterior odds (fair : two-headed)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prior odds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likelihood ratio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equally likely sides/outcomes (natural frequencies) avoids fractions in Bayes problems.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 gives a quick finish.</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coin with </a:t>
                </a:r>
                <a:r>
                  <a:rPr lang="en-IN" sz="2400">
                    <a:solidFill>
                      <a:srgbClr val="111827"/>
                    </a:solidFill>
                    <a:latin typeface="Cambria Math" panose="02040503050406030204" pitchFamily="18" charset="0"/>
                  </a:rPr>
                  <a:t>$P(\text{head})=h$</a:t>
                </a:r>
                <a:r>
                  <a:rPr sz="2400" b="0">
                    <a:solidFill>
                      <a:srgbClr val="111827"/>
                    </a:solidFill>
                    <a:latin typeface="Arial"/>
                  </a:rPr>
                  <a:t> multiplies the odds: posterior odds (fair : two-headed) </a:t>
                </a:r>
                <a:r>
                  <a:rPr lang="en-IN" sz="2400">
                    <a:solidFill>
                      <a:srgbClr val="111827"/>
                    </a:solidFill>
                    <a:latin typeface="Cambria Math" panose="02040503050406030204" pitchFamily="18" charset="0"/>
                  </a:rPr>
                  <a:t>$=$</a:t>
                </a:r>
                <a:r>
                  <a:rPr sz="2400" b="0">
                    <a:solidFill>
                      <a:srgbClr val="111827"/>
                    </a:solidFill>
                    <a:latin typeface="Arial"/>
                  </a:rPr>
                  <a:t> prior odds </a:t>
                </a:r>
                <a:r>
                  <a:rPr lang="en-IN" sz="2400">
                    <a:solidFill>
                      <a:srgbClr val="111827"/>
                    </a:solidFill>
                    <a:latin typeface="Cambria Math" panose="02040503050406030204" pitchFamily="18" charset="0"/>
                  </a:rPr>
                  <a:t>$\times$</a:t>
                </a:r>
                <a:r>
                  <a:rPr sz="2400" b="0">
                    <a:solidFill>
                      <a:srgbClr val="111827"/>
                    </a:solidFill>
                    <a:latin typeface="Arial"/>
                  </a:rPr>
                  <a:t> likelihood ratio </a:t>
                </a:r>
                <a:r>
                  <a:rPr lang="en-IN" sz="2400">
                    <a:solidFill>
                      <a:srgbClr val="111827"/>
                    </a:solidFill>
                    <a:latin typeface="Cambria Math" panose="02040503050406030204" pitchFamily="18" charset="0"/>
                  </a:rPr>
                  <a:t>$=19:1\times\frac12:1=19:2$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equally likely sides/outcomes (natural frequencies) avoids fractions in Bayes problems.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$n^2-m^2=(n-m)(n+m)=2\cdot40=80$</a:t>
                </a:r>
                <a:r>
                  <a:rPr sz="2400" b="0">
                    <a:solidFill>
                      <a:srgbClr val="111827"/>
                    </a:solidFill>
                    <a:latin typeface="Arial"/>
                  </a:rPr>
                  <a:t> gives a quick finish.</a:t>
                </a:r>
                <a:endParaRPr sz="2400">
                  <a:solidFill>
                    <a:srgbClr val="111827"/>
                  </a:solidFill>
                </a:endParaRP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random variable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take values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value of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random variable </a:t>
                </a:r>
                <a:r>
                  <a:rPr lang="en-IN" sz="2400">
                    <a:solidFill>
                      <a:srgbClr val="111827"/>
                    </a:solidFill>
                    <a:latin typeface="Cambria Math" panose="02040503050406030204" pitchFamily="18" charset="0"/>
                  </a:rPr>
                  <a:t>$X$</a:t>
                </a:r>
                <a:r>
                  <a:rPr sz="2400" b="0">
                    <a:solidFill>
                      <a:srgbClr val="111827"/>
                    </a:solidFill>
                    <a:latin typeface="Arial"/>
                  </a:rPr>
                  <a:t> take values </a:t>
                </a:r>
                <a:r>
                  <a:rPr lang="en-IN" sz="2400">
                    <a:solidFill>
                      <a:srgbClr val="111827"/>
                    </a:solidFill>
                    <a:latin typeface="Cambria Math" panose="02040503050406030204" pitchFamily="18" charset="0"/>
                  </a:rPr>
                  <a:t>$0,1,2,3$</a:t>
                </a:r>
                <a:r>
                  <a:rPr sz="2400" b="0">
                    <a:solidFill>
                      <a:srgbClr val="111827"/>
                    </a:solidFill>
                    <a:latin typeface="Arial"/>
                  </a:rPr>
                  <a:t> with </a:t>
                </a:r>
                <a:r>
                  <a:rPr lang="en-IN" sz="2400">
                    <a:solidFill>
                      <a:srgbClr val="111827"/>
                    </a:solidFill>
                    <a:latin typeface="Cambria Math" panose="02040503050406030204" pitchFamily="18" charset="0"/>
                  </a:rPr>
                  <a:t>$P(X=0)=P(X=1)=p$</a:t>
                </a:r>
                <a:r>
                  <a:rPr sz="2400" b="0">
                    <a:solidFill>
                      <a:srgbClr val="111827"/>
                    </a:solidFill>
                    <a:latin typeface="Arial"/>
                  </a:rPr>
                  <a:t>, </a:t>
                </a:r>
                <a:r>
                  <a:rPr lang="en-IN" sz="2400">
                    <a:solidFill>
                      <a:srgbClr val="111827"/>
                    </a:solidFill>
                    <a:latin typeface="Cambria Math" panose="02040503050406030204" pitchFamily="18" charset="0"/>
                  </a:rPr>
                  <a:t>$P(X=2)=P(X=3)$</a:t>
                </a:r>
                <a:r>
                  <a:rPr sz="2400" b="0">
                    <a:solidFill>
                      <a:srgbClr val="111827"/>
                    </a:solidFill>
                    <a:latin typeface="Arial"/>
                  </a:rPr>
                  <a:t> and </a:t>
                </a:r>
                <a:r>
                  <a:rPr lang="en-IN" sz="2400">
                    <a:solidFill>
                      <a:srgbClr val="111827"/>
                    </a:solidFill>
                    <a:latin typeface="Cambria Math" panose="02040503050406030204" pitchFamily="18" charset="0"/>
                  </a:rPr>
                  <a:t>$E(X^2)=2E(X)$</a:t>
                </a:r>
                <a:r>
                  <a:rPr sz="2400" b="0">
                    <a:solidFill>
                      <a:srgbClr val="111827"/>
                    </a:solidFill>
                    <a:latin typeface="Arial"/>
                  </a:rPr>
                  <a:t>. Then the value of </a:t>
                </a:r>
                <a:r>
                  <a:rPr lang="en-IN" sz="2400">
                    <a:solidFill>
                      <a:srgbClr val="111827"/>
                    </a:solidFill>
                    <a:latin typeface="Cambria Math" panose="02040503050406030204" pitchFamily="18" charset="0"/>
                  </a:rPr>
                  <a:t>$8p-1$</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a:t>
                </a:r>
                <a:r>
                  <a:rPr sz="2400" b="0">
                    <a:solidFill>
                      <a:srgbClr val="111827"/>
                    </a:solidFill>
                    <a:latin typeface="Arial"/>
                  </a:rPr>
                  <a:t>   (B) </a:t>
                </a:r>
                <a:r>
                  <a:rPr lang="en-IN" sz="2400">
                    <a:solidFill>
                      <a:srgbClr val="111827"/>
                    </a:solidFill>
                    <a:latin typeface="Cambria Math" panose="02040503050406030204" pitchFamily="18" charset="0"/>
                  </a:rPr>
                  <a:t>$0$</a:t>
                </a:r>
                <a:r>
                  <a:rPr sz="2400" b="0">
                    <a:solidFill>
                      <a:srgbClr val="111827"/>
                    </a:solidFill>
                    <a:latin typeface="Arial"/>
                  </a:rPr>
                  <a:t>   (C) </a:t>
                </a:r>
                <a:r>
                  <a:rPr lang="en-IN" sz="2400">
                    <a:solidFill>
                      <a:srgbClr val="111827"/>
                    </a:solidFill>
                    <a:latin typeface="Cambria Math" panose="02040503050406030204" pitchFamily="18" charset="0"/>
                  </a:rPr>
                  <a:t>$1$</a:t>
                </a:r>
                <a:r>
                  <a:rPr sz="2400" b="0">
                    <a:solidFill>
                      <a:srgbClr val="111827"/>
                    </a:solidFill>
                    <a:latin typeface="Arial"/>
                  </a:rPr>
                  <a:t>   (D) </a:t>
                </a:r>
                <a:r>
                  <a:rPr lang="en-IN" sz="2400">
                    <a:solidFill>
                      <a:srgbClr val="111827"/>
                    </a:solidFill>
                    <a:latin typeface="Cambria Math" panose="02040503050406030204" pitchFamily="18" charset="0"/>
                  </a:rPr>
                  <a:t>$2$</a:t>
                </a:r>
                <a:endParaRPr sz="2400">
                  <a:solidFill>
                    <a:srgbClr val="111827"/>
                  </a:solidFill>
                </a:endParaRPr>
              </a:p>
            </p:txBody>
          </p:sp>
        </mc:Fallback>
      </mc:AlternateContent>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expectation of a random variable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𝑋</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the probabilities and solve the two linear equations.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r>
                  <a:rPr lang="en-IN" sz="2400">
                    <a:solidFill>
                      <a:srgbClr val="78350F"/>
                    </a:solidFill>
                    <a:latin typeface="Cambria Math" panose="02040503050406030204" pitchFamily="18" charset="0"/>
                  </a:rPr>
                  <a:t>$E(X^2)=2E(X)$</a:t>
                </a:r>
                <a:r>
                  <a:rPr sz="2400" b="0">
                    <a:solidFill>
                      <a:srgbClr val="78350F"/>
                    </a:solidFill>
                    <a:latin typeface="Arial"/>
                  </a:rPr>
                  <a:t> with the probabilities and solve the two linear equations.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Total probability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𝑖</m:t>
                        </m:r>
                      </m:sub>
                    </m:sSub>
                    <m:sSubSup>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$P(X=2)=P(X=3)=q$</a:t>
                </a:r>
                <a:r>
                  <a:rPr sz="2400" b="0">
                    <a:solidFill>
                      <a:srgbClr val="111827"/>
                    </a:solidFill>
                    <a:latin typeface="Arial"/>
                  </a:rPr>
                  <a:t>. Total probability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$2p+2q=1$</a:t>
                </a:r>
                <a:r>
                  <a:rPr sz="2400" b="0">
                    <a:solidFill>
                      <a:srgbClr val="111827"/>
                    </a:solidFill>
                    <a:latin typeface="Arial"/>
                  </a:rPr>
                  <a:t>, so </a:t>
                </a:r>
                <a:r>
                  <a:rPr lang="en-IN" sz="2400">
                    <a:solidFill>
                      <a:srgbClr val="111827"/>
                    </a:solidFill>
                    <a:latin typeface="Cambria Math" panose="02040503050406030204" pitchFamily="18" charset="0"/>
                  </a:rPr>
                  <a:t>$p+q=\frac12$</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$E(X^2)=2E(X)$</a:t>
                </a:r>
                <a:r>
                  <a:rPr sz="2400" b="0">
                    <a:solidFill>
                      <a:srgbClr val="111827"/>
                    </a:solidFill>
                    <a:latin typeface="Arial"/>
                  </a:rPr>
                  <a:t>, i.e. </a:t>
                </a:r>
                <a:r>
                  <a:rPr lang="en-IN" sz="2400">
                    <a:solidFill>
                      <a:srgbClr val="111827"/>
                    </a:solidFill>
                    <a:latin typeface="Cambria Math" panose="02040503050406030204" pitchFamily="18" charset="0"/>
                  </a:rPr>
                  <a:t>$\sum P_iX_i^2=2\sum P_iX_i$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$p(0)^2+p(1)^2+q(2)^2+q(3)^2=2\left(p(0)+p(1)+q(2)+q(3)\right)$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𝑞</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𝑞</m:t>
                    </m:r>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$p+13q=2p+10q$</a:t>
                </a:r>
                <a:r>
                  <a:rPr sz="2400" b="0">
                    <a:solidFill>
                      <a:srgbClr val="111827"/>
                    </a:solidFill>
                    <a:latin typeface="Arial"/>
                  </a:rPr>
                  <a:t>, so </a:t>
                </a:r>
                <a:r>
                  <a:rPr lang="en-IN" sz="2400">
                    <a:solidFill>
                      <a:srgbClr val="111827"/>
                    </a:solidFill>
                    <a:latin typeface="Cambria Math" panose="02040503050406030204" pitchFamily="18" charset="0"/>
                  </a:rPr>
                  <a:t>$p=3q$</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r>
                  <a:rPr lang="en-IN" sz="2400">
                    <a:solidFill>
                      <a:srgbClr val="111827"/>
                    </a:solidFill>
                    <a:latin typeface="Cambria Math" panose="02040503050406030204" pitchFamily="18" charset="0"/>
                  </a:rPr>
                  <a:t>$p=\frac38,\ q=\frac18$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$8p-1=3-1=2$</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$2$</a:t>
                </a:r>
                <a:endParaRPr sz="2800">
                  <a:solidFill>
                    <a:srgbClr val="15803D"/>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𝑋</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𝐸</m:t>
                    </m:r>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only the values where </a:t>
                </a:r>
                <a14:m>
                  <m:oMath xmlns:m="http://schemas.openxmlformats.org/officeDocument/2006/math">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matter.</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$E(X^2)-2E(X)=E\big(X(X-2)\big)=0$</a:t>
                </a:r>
                <a:r>
                  <a:rPr sz="2400" b="0">
                    <a:solidFill>
                      <a:srgbClr val="78350F"/>
                    </a:solidFill>
                    <a:latin typeface="Arial"/>
                  </a:rPr>
                  <a:t>: only the values where </a:t>
                </a:r>
                <a:r>
                  <a:rPr lang="en-IN" sz="2400">
                    <a:solidFill>
                      <a:srgbClr val="78350F"/>
                    </a:solidFill>
                    <a:latin typeface="Cambria Math" panose="02040503050406030204" pitchFamily="18" charset="0"/>
                  </a:rPr>
                  <a:t>$X(X-2)\neq0$</a:t>
                </a:r>
                <a:r>
                  <a:rPr sz="2400" b="0">
                    <a:solidFill>
                      <a:srgbClr val="78350F"/>
                    </a:solidFill>
                    <a:latin typeface="Arial"/>
                  </a:rPr>
                  <a:t> matter.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equals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𝑞</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$E(X^2)=2E(X)\iff E\big(X(X-2)\big)=0$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$X(X-2)$</a:t>
                </a:r>
                <a:r>
                  <a:rPr sz="2400" b="0">
                    <a:solidFill>
                      <a:srgbClr val="111827"/>
                    </a:solidFill>
                    <a:latin typeface="Arial"/>
                  </a:rPr>
                  <a:t> equals </a:t>
                </a:r>
                <a:r>
                  <a:rPr lang="en-IN" sz="2400">
                    <a:solidFill>
                      <a:srgbClr val="111827"/>
                    </a:solidFill>
                    <a:latin typeface="Cambria Math" panose="02040503050406030204" pitchFamily="18" charset="0"/>
                  </a:rPr>
                  <a:t>$0,-1,0,3$</a:t>
                </a:r>
                <a:r>
                  <a:rPr sz="2400" b="0">
                    <a:solidFill>
                      <a:srgbClr val="111827"/>
                    </a:solidFill>
                    <a:latin typeface="Arial"/>
                  </a:rPr>
                  <a:t> for </a:t>
                </a:r>
                <a:r>
                  <a:rPr lang="en-IN" sz="2400">
                    <a:solidFill>
                      <a:srgbClr val="111827"/>
                    </a:solidFill>
                    <a:latin typeface="Cambria Math" panose="02040503050406030204" pitchFamily="18" charset="0"/>
                  </a:rPr>
                  <a:t>$X=0,1,2,3$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$-p+3q=0$</a:t>
                </a:r>
                <a:r>
                  <a:rPr sz="2400" b="0">
                    <a:solidFill>
                      <a:srgbClr val="111827"/>
                    </a:solidFill>
                    <a:latin typeface="Arial"/>
                  </a:rPr>
                  <a:t>, i.e. </a:t>
                </a:r>
                <a:r>
                  <a:rPr lang="en-IN" sz="2400">
                    <a:solidFill>
                      <a:srgbClr val="111827"/>
                    </a:solidFill>
                    <a:latin typeface="Cambria Math" panose="02040503050406030204" pitchFamily="18" charset="0"/>
                  </a:rPr>
                  <a:t>$p=3q$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$2p+2q=1$</a:t>
                </a:r>
                <a:r>
                  <a:rPr sz="2400" b="0">
                    <a:solidFill>
                      <a:srgbClr val="111827"/>
                    </a:solidFill>
                    <a:latin typeface="Arial"/>
                  </a:rPr>
                  <a:t>: </a:t>
                </a:r>
                <a:r>
                  <a:rPr lang="en-IN" sz="2400">
                    <a:solidFill>
                      <a:srgbClr val="111827"/>
                    </a:solidFill>
                    <a:latin typeface="Cambria Math" panose="02040503050406030204" pitchFamily="18" charset="0"/>
                  </a:rPr>
                  <a:t>$8q=1$</a:t>
                </a:r>
                <a:r>
                  <a:rPr sz="2400" b="0">
                    <a:solidFill>
                      <a:srgbClr val="111827"/>
                    </a:solidFill>
                    <a:latin typeface="Arial"/>
                  </a:rPr>
                  <a:t> so </a:t>
                </a:r>
                <a:r>
                  <a:rPr lang="en-IN" sz="2400">
                    <a:solidFill>
                      <a:srgbClr val="111827"/>
                    </a:solidFill>
                    <a:latin typeface="Cambria Math" panose="02040503050406030204" pitchFamily="18" charset="0"/>
                  </a:rPr>
                  <a:t>$p=\frac38$</a:t>
                </a:r>
                <a:r>
                  <a:rPr sz="2400" b="0">
                    <a:solidFill>
                      <a:srgbClr val="111827"/>
                    </a:solidFill>
                    <a:latin typeface="Arial"/>
                  </a:rPr>
                  <a:t> and </a:t>
                </a:r>
                <a:r>
                  <a:rPr lang="en-IN" sz="2400">
                    <a:solidFill>
                      <a:srgbClr val="111827"/>
                    </a:solidFill>
                    <a:latin typeface="Cambria Math" panose="02040503050406030204" pitchFamily="18" charset="0"/>
                  </a:rPr>
                  <a:t>$8p-1=2$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$2$</a:t>
                </a:r>
                <a:endParaRPr sz="2800">
                  <a:solidFill>
                    <a:srgbClr val="15803D"/>
                  </a:solidFill>
                </a:endParaRP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values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drop out, leaving a one-line equation.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probability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together with one moment condition fixes two unknown probabilities.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$E(X^2)=kE(X)\iff E\big(X(X-k)\big)=0$</a:t>
                </a:r>
                <a:r>
                  <a:rPr sz="2400" b="0">
                    <a:solidFill>
                      <a:srgbClr val="111827"/>
                    </a:solidFill>
                    <a:latin typeface="Arial"/>
                  </a:rPr>
                  <a:t>: values </a:t>
                </a:r>
                <a:r>
                  <a:rPr lang="en-IN" sz="2400">
                    <a:solidFill>
                      <a:srgbClr val="111827"/>
                    </a:solidFill>
                    <a:latin typeface="Cambria Math" panose="02040503050406030204" pitchFamily="18" charset="0"/>
                  </a:rPr>
                  <a:t>$0$</a:t>
                </a:r>
                <a:r>
                  <a:rPr sz="2400" b="0">
                    <a:solidFill>
                      <a:srgbClr val="111827"/>
                    </a:solidFill>
                    <a:latin typeface="Arial"/>
                  </a:rPr>
                  <a:t> and </a:t>
                </a:r>
                <a:r>
                  <a:rPr lang="en-IN" sz="2400">
                    <a:solidFill>
                      <a:srgbClr val="111827"/>
                    </a:solidFill>
                    <a:latin typeface="Cambria Math" panose="02040503050406030204" pitchFamily="18" charset="0"/>
                  </a:rPr>
                  <a:t>$k$</a:t>
                </a:r>
                <a:r>
                  <a:rPr sz="2400" b="0">
                    <a:solidFill>
                      <a:srgbClr val="111827"/>
                    </a:solidFill>
                    <a:latin typeface="Arial"/>
                  </a:rPr>
                  <a:t> drop out, leaving a one-line equation.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probability </a:t>
                </a:r>
                <a:r>
                  <a:rPr lang="en-IN" sz="2400">
                    <a:solidFill>
                      <a:srgbClr val="111827"/>
                    </a:solidFill>
                    <a:latin typeface="Cambria Math" panose="02040503050406030204" pitchFamily="18" charset="0"/>
                  </a:rPr>
                  <a:t>$=1$</a:t>
                </a:r>
                <a:r>
                  <a:rPr sz="2400" b="0">
                    <a:solidFill>
                      <a:srgbClr val="111827"/>
                    </a:solidFill>
                    <a:latin typeface="Arial"/>
                  </a:rPr>
                  <a:t> together with one moment condition fixes two unknown probabilities.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$E(X)=p+5q=\frac38+\frac58=1$</a:t>
                </a:r>
                <a:r>
                  <a:rPr sz="2400" b="0">
                    <a:solidFill>
                      <a:srgbClr val="111827"/>
                    </a:solidFill>
                    <a:latin typeface="Arial"/>
                  </a:rPr>
                  <a:t> and </a:t>
                </a:r>
                <a:r>
                  <a:rPr lang="en-IN" sz="2400">
                    <a:solidFill>
                      <a:srgbClr val="111827"/>
                    </a:solidFill>
                    <a:latin typeface="Cambria Math" panose="02040503050406030204" pitchFamily="18" charset="0"/>
                  </a:rPr>
                  <a:t>$E(X^2)=p+13q=\frac38+\frac{13}8=2=2E(X)$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are two events such that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oMath>
                </a14:m>
                <a:r>
                  <a:rPr sz="2400" b="0">
                    <a:solidFill>
                      <a:srgbClr val="111827"/>
                    </a:solidFill>
                    <a:latin typeface="Arial"/>
                  </a:rPr>
                  <a:t>, where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oMath>
                </a14:m>
                <a:r>
                  <a:rPr sz="2400" b="0">
                    <a:solidFill>
                      <a:srgbClr val="111827"/>
                    </a:solidFill>
                    <a:latin typeface="Arial"/>
                  </a:rPr>
                  <a:t> denotes the complement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𝑃</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e>
                    </m:d>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are two events such that </a:t>
                </a:r>
                <a:r>
                  <a:rPr lang="en-IN" sz="2400">
                    <a:solidFill>
                      <a:srgbClr val="111827"/>
                    </a:solidFill>
                    <a:latin typeface="Cambria Math" panose="02040503050406030204" pitchFamily="18" charset="0"/>
                  </a:rPr>
                  <a:t>$P(A)=0.7$</a:t>
                </a:r>
                <a:r>
                  <a:rPr sz="2400" b="0">
                    <a:solidFill>
                      <a:srgbClr val="111827"/>
                    </a:solidFill>
                    <a:latin typeface="Arial"/>
                  </a:rPr>
                  <a:t>, </a:t>
                </a:r>
                <a:r>
                  <a:rPr lang="en-IN" sz="2400">
                    <a:solidFill>
                      <a:srgbClr val="111827"/>
                    </a:solidFill>
                    <a:latin typeface="Cambria Math" panose="02040503050406030204" pitchFamily="18" charset="0"/>
                  </a:rPr>
                  <a:t>$P(B)=0.4$</a:t>
                </a:r>
                <a:r>
                  <a:rPr sz="2400" b="0">
                    <a:solidFill>
                      <a:srgbClr val="111827"/>
                    </a:solidFill>
                    <a:latin typeface="Arial"/>
                  </a:rPr>
                  <a:t> and </a:t>
                </a:r>
                <a:r>
                  <a:rPr lang="en-IN" sz="2400">
                    <a:solidFill>
                      <a:srgbClr val="111827"/>
                    </a:solidFill>
                    <a:latin typeface="Cambria Math" panose="02040503050406030204" pitchFamily="18" charset="0"/>
                  </a:rPr>
                  <a:t>$P(A\cap\bar{B})=0.5$</a:t>
                </a:r>
                <a:r>
                  <a:rPr sz="2400" b="0">
                    <a:solidFill>
                      <a:srgbClr val="111827"/>
                    </a:solidFill>
                    <a:latin typeface="Arial"/>
                  </a:rPr>
                  <a:t>, where </a:t>
                </a:r>
                <a:r>
                  <a:rPr lang="en-IN" sz="2400">
                    <a:solidFill>
                      <a:srgbClr val="111827"/>
                    </a:solidFill>
                    <a:latin typeface="Cambria Math" panose="02040503050406030204" pitchFamily="18" charset="0"/>
                  </a:rPr>
                  <a:t>$\bar{B}$</a:t>
                </a:r>
                <a:r>
                  <a:rPr sz="2400" b="0">
                    <a:solidFill>
                      <a:srgbClr val="111827"/>
                    </a:solidFill>
                    <a:latin typeface="Arial"/>
                  </a:rPr>
                  <a:t> denotes the complement of </a:t>
                </a:r>
                <a:r>
                  <a:rPr lang="en-IN" sz="2400">
                    <a:solidFill>
                      <a:srgbClr val="111827"/>
                    </a:solidFill>
                    <a:latin typeface="Cambria Math" panose="02040503050406030204" pitchFamily="18" charset="0"/>
                  </a:rPr>
                  <a:t>$B$</a:t>
                </a:r>
                <a:r>
                  <a:rPr sz="2400" b="0">
                    <a:solidFill>
                      <a:srgbClr val="111827"/>
                    </a:solidFill>
                    <a:latin typeface="Arial"/>
                  </a:rPr>
                  <a:t>, then </a:t>
                </a:r>
                <a:r>
                  <a:rPr lang="en-IN" sz="2400">
                    <a:solidFill>
                      <a:srgbClr val="111827"/>
                    </a:solidFill>
                    <a:latin typeface="Cambria Math" panose="02040503050406030204" pitchFamily="18" charset="0"/>
                  </a:rPr>
                  <a:t>$P\left(B\mid A\cup\bar{B}\right)$</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$\frac16$</a:t>
                </a:r>
                <a:r>
                  <a:rPr sz="2400" b="0">
                    <a:solidFill>
                      <a:srgbClr val="111827"/>
                    </a:solidFill>
                    <a:latin typeface="Arial"/>
                  </a:rPr>
                  <a:t>   (B) </a:t>
                </a:r>
                <a:r>
                  <a:rPr lang="en-IN" sz="2400">
                    <a:solidFill>
                      <a:srgbClr val="111827"/>
                    </a:solidFill>
                    <a:latin typeface="Cambria Math" panose="02040503050406030204" pitchFamily="18" charset="0"/>
                  </a:rPr>
                  <a:t>$\frac12$</a:t>
                </a:r>
                <a:r>
                  <a:rPr sz="2400" b="0">
                    <a:solidFill>
                      <a:srgbClr val="111827"/>
                    </a:solidFill>
                    <a:latin typeface="Arial"/>
                  </a:rPr>
                  <a:t>   (C) </a:t>
                </a:r>
                <a:r>
                  <a:rPr lang="en-IN" sz="2400">
                    <a:solidFill>
                      <a:srgbClr val="111827"/>
                    </a:solidFill>
                    <a:latin typeface="Cambria Math" panose="02040503050406030204" pitchFamily="18" charset="0"/>
                  </a:rPr>
                  <a:t>$\frac14$</a:t>
                </a:r>
                <a:r>
                  <a:rPr sz="2400" b="0">
                    <a:solidFill>
                      <a:srgbClr val="111827"/>
                    </a:solidFill>
                    <a:latin typeface="Arial"/>
                  </a:rPr>
                  <a:t>   (D) </a:t>
                </a:r>
                <a:r>
                  <a:rPr lang="en-IN" sz="2400">
                    <a:solidFill>
                      <a:srgbClr val="111827"/>
                    </a:solidFill>
                    <a:latin typeface="Cambria Math" panose="02040503050406030204" pitchFamily="18" charset="0"/>
                  </a:rPr>
                  <a:t>$\frac13$</a:t>
                </a:r>
                <a:endParaRPr sz="2400">
                  <a:solidFill>
                    <a:srgbClr val="111827"/>
                  </a:solidFill>
                </a:endParaRPr>
              </a:p>
            </p:txBody>
          </p:sp>
        </mc:Fallback>
      </mc:AlternateContent>
      <p:sp>
        <p:nvSpPr>
          <p:cNvPr id="5" name="Rectangle 4"/>
          <p:cNvSpPr/>
          <p:nvPr/>
        </p:nvSpPr>
        <p:spPr>
          <a:xfrm>
            <a:off x="731520" y="369011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Conditional probability and set operations on events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𝐵</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𝐵</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$B\cap(A\cup\bar B)=A\cap B$</a:t>
                </a:r>
                <a:r>
                  <a:rPr sz="2400" b="0">
                    <a:solidFill>
                      <a:srgbClr val="78350F"/>
                    </a:solidFill>
                    <a:latin typeface="Arial"/>
                  </a:rPr>
                  <a:t>, and </a:t>
                </a:r>
                <a:r>
                  <a:rPr lang="en-IN" sz="2400">
                    <a:solidFill>
                      <a:srgbClr val="78350F"/>
                    </a:solidFill>
                    <a:latin typeface="Cambria Math" panose="02040503050406030204" pitchFamily="18" charset="0"/>
                  </a:rPr>
                  <a:t>$P(A\cap B)=P(A)-P(A\cap\bar 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e>
                        </m:d>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so the numerator is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$P\left(B\mid A\cup\bar B\right)=\frac{P\left(B\cap(A\cup\bar B)\right)}{P(A\cup\bar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$B\cap(A\cup\bar B)=(B\cap A)\cup(B\cap\bar B)=A\cap B$</a:t>
                </a:r>
                <a:r>
                  <a:rPr sz="2400" b="0">
                    <a:solidFill>
                      <a:srgbClr val="111827"/>
                    </a:solidFill>
                    <a:latin typeface="Arial"/>
                  </a:rPr>
                  <a:t>, so the numerator is </a:t>
                </a:r>
                <a:r>
                  <a:rPr lang="en-IN" sz="2400">
                    <a:solidFill>
                      <a:srgbClr val="111827"/>
                    </a:solidFill>
                    <a:latin typeface="Cambria Math" panose="02040503050406030204" pitchFamily="18" charset="0"/>
                  </a:rPr>
                  <a:t>$P(A\cap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$P(A\cap\bar B)=P(A)-P(A\cap B)$</a:t>
                </a:r>
                <a:r>
                  <a:rPr sz="2400" b="0">
                    <a:solidFill>
                      <a:srgbClr val="111827"/>
                    </a:solidFill>
                    <a:latin typeface="Arial"/>
                  </a:rPr>
                  <a:t>, i.e. </a:t>
                </a:r>
                <a:r>
                  <a:rPr lang="en-IN" sz="2400">
                    <a:solidFill>
                      <a:srgbClr val="111827"/>
                    </a:solidFill>
                    <a:latin typeface="Cambria Math" panose="02040503050406030204" pitchFamily="18" charset="0"/>
                  </a:rPr>
                  <a:t>$0.5=0.7-P(A\cap B)$</a:t>
                </a:r>
                <a:r>
                  <a:rPr sz="2400" b="0">
                    <a:solidFill>
                      <a:srgbClr val="111827"/>
                    </a:solidFill>
                    <a:latin typeface="Arial"/>
                  </a:rPr>
                  <a:t>, so </a:t>
                </a:r>
                <a:r>
                  <a:rPr lang="en-IN" sz="2400">
                    <a:solidFill>
                      <a:srgbClr val="111827"/>
                    </a:solidFill>
                    <a:latin typeface="Cambria Math" panose="02040503050406030204" pitchFamily="18" charset="0"/>
                  </a:rPr>
                  <a:t>$P(A\cap B)=0.2$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bar>
                      <m:barPr>
                        <m:pos m:val="top"/>
                        <m:ctrlPr>
                          <a:rPr lang="en-IN" sz="2400" i="1">
                            <a:solidFill>
                              <a:srgbClr val="111827"/>
                            </a:solidFill>
                            <a:latin typeface="Cambria Math" panose="02040503050406030204" pitchFamily="18" charset="0"/>
                          </a:rPr>
                        </m:ctrlPr>
                      </m:barPr>
                      <m:e>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e>
                    </m:ba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by De Morgan.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0.2</m:t>
                        </m:r>
                      </m:num>
                      <m:den>
                        <m:r>
                          <a:rPr lang="en-IN" sz="2400" i="1">
                            <a:solidFill>
                              <a:srgbClr val="111827"/>
                            </a:solidFill>
                            <a:latin typeface="Cambria Math" panose="02040503050406030204" pitchFamily="18" charset="0"/>
                          </a:rPr>
                          <m:t>0.8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$P(A\cup\bar B)=1-P(\overline{A\cup\bar B})=1-P(\bar A\cap B)$</a:t>
                </a:r>
                <a:r>
                  <a:rPr sz="2400" b="0">
                    <a:solidFill>
                      <a:srgbClr val="111827"/>
                    </a:solidFill>
                    <a:latin typeface="Arial"/>
                  </a:rPr>
                  <a:t> by De Morgan.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$P(\bar A\cap B)=P(B)-P(A\cap B)=0.4-0.2=0.2$</a:t>
                </a:r>
                <a:r>
                  <a:rPr sz="2400" b="0">
                    <a:solidFill>
                      <a:srgbClr val="111827"/>
                    </a:solidFill>
                    <a:latin typeface="Arial"/>
                  </a:rPr>
                  <a:t>, so </a:t>
                </a:r>
                <a:r>
                  <a:rPr lang="en-IN" sz="2400">
                    <a:solidFill>
                      <a:srgbClr val="111827"/>
                    </a:solidFill>
                    <a:latin typeface="Cambria Math" panose="02040503050406030204" pitchFamily="18" charset="0"/>
                  </a:rPr>
                  <a:t>$P(A\cup\bar B)=1-0.2=0.8$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$P\left(B\mid A\cup\bar B\right)=\frac{0.2}{0.8}=\frac14$</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$\frac14$</a:t>
                </a:r>
                <a:endParaRPr sz="2800">
                  <a:solidFill>
                    <a:srgbClr val="15803D"/>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Split the sample space into four disjoint regions and read the probabilities off the table.</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Regions: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adding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Regions: </a:t>
                </a:r>
                <a:r>
                  <a:rPr lang="en-IN" sz="2400">
                    <a:solidFill>
                      <a:srgbClr val="111827"/>
                    </a:solidFill>
                    <a:latin typeface="Cambria Math" panose="02040503050406030204" pitchFamily="18" charset="0"/>
                  </a:rPr>
                  <a:t>$A\cap B=x$</a:t>
                </a:r>
                <a:r>
                  <a:rPr sz="2400" b="0">
                    <a:solidFill>
                      <a:srgbClr val="111827"/>
                    </a:solidFill>
                    <a:latin typeface="Arial"/>
                  </a:rPr>
                  <a:t>, </a:t>
                </a:r>
                <a:r>
                  <a:rPr lang="en-IN" sz="2400">
                    <a:solidFill>
                      <a:srgbClr val="111827"/>
                    </a:solidFill>
                    <a:latin typeface="Cambria Math" panose="02040503050406030204" pitchFamily="18" charset="0"/>
                  </a:rPr>
                  <a:t>$A\cap\bar B=0.5$</a:t>
                </a:r>
                <a:r>
                  <a:rPr sz="2400" b="0">
                    <a:solidFill>
                      <a:srgbClr val="111827"/>
                    </a:solidFill>
                    <a:latin typeface="Arial"/>
                  </a:rPr>
                  <a:t>, </a:t>
                </a:r>
                <a:r>
                  <a:rPr lang="en-IN" sz="2400">
                    <a:solidFill>
                      <a:srgbClr val="111827"/>
                    </a:solidFill>
                    <a:latin typeface="Cambria Math" panose="02040503050406030204" pitchFamily="18" charset="0"/>
                  </a:rPr>
                  <a:t>$\bar A\cap B=y$</a:t>
                </a:r>
                <a:r>
                  <a:rPr sz="2400" b="0">
                    <a:solidFill>
                      <a:srgbClr val="111827"/>
                    </a:solidFill>
                    <a:latin typeface="Arial"/>
                  </a:rPr>
                  <a:t>, </a:t>
                </a:r>
                <a:r>
                  <a:rPr lang="en-IN" sz="2400">
                    <a:solidFill>
                      <a:srgbClr val="111827"/>
                    </a:solidFill>
                    <a:latin typeface="Cambria Math" panose="02040503050406030204" pitchFamily="18" charset="0"/>
                  </a:rPr>
                  <a:t>$\bar A\cap\bar B=z$</a:t>
                </a:r>
                <a:r>
                  <a:rPr sz="2400" b="0">
                    <a:solidFill>
                      <a:srgbClr val="111827"/>
                    </a:solidFill>
                    <a:latin typeface="Arial"/>
                  </a:rPr>
                  <a:t>, adding to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$P(A)=x+0.5=0.7\Rightarrow x=0.2$</a:t>
                </a:r>
                <a:r>
                  <a:rPr sz="2400" b="0">
                    <a:solidFill>
                      <a:srgbClr val="111827"/>
                    </a:solidFill>
                    <a:latin typeface="Arial"/>
                  </a:rPr>
                  <a:t>; </a:t>
                </a:r>
                <a:r>
                  <a:rPr lang="en-IN" sz="2400">
                    <a:solidFill>
                      <a:srgbClr val="111827"/>
                    </a:solidFill>
                    <a:latin typeface="Cambria Math" panose="02040503050406030204" pitchFamily="18" charset="0"/>
                  </a:rPr>
                  <a:t>$P(B)=x+y=0.4\Rightarrow y=0.2$</a:t>
                </a:r>
                <a:r>
                  <a:rPr sz="2400" b="0">
                    <a:solidFill>
                      <a:srgbClr val="111827"/>
                    </a:solidFill>
                    <a:latin typeface="Arial"/>
                  </a:rPr>
                  <a:t>; then </a:t>
                </a:r>
                <a:r>
                  <a:rPr lang="en-IN" sz="2400">
                    <a:solidFill>
                      <a:srgbClr val="111827"/>
                    </a:solidFill>
                    <a:latin typeface="Cambria Math" panose="02040503050406030204" pitchFamily="18" charset="0"/>
                  </a:rPr>
                  <a:t>$z=1-0.5-0.2-0.2=0.1$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oMath>
                </a14:m>
                <a:r>
                  <a:rPr sz="2400" b="0">
                    <a:solidFill>
                      <a:srgbClr val="111827"/>
                    </a:solidFill>
                    <a:latin typeface="Arial"/>
                  </a:rPr>
                  <a:t> consists of every region except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Of these, the part inside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m:t>
                    </m:r>
                  </m:oMath>
                </a14:m>
                <a:r>
                  <a:rPr sz="2400" b="0">
                    <a:solidFill>
                      <a:srgbClr val="111827"/>
                    </a:solidFill>
                    <a:latin typeface="Arial"/>
                  </a:rPr>
                  <a:t>, so the answer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0.2</m:t>
                        </m:r>
                      </m:num>
                      <m:den>
                        <m:r>
                          <a:rPr lang="en-IN" sz="2400" i="1">
                            <a:solidFill>
                              <a:srgbClr val="111827"/>
                            </a:solidFill>
                            <a:latin typeface="Cambria Math" panose="02040503050406030204" pitchFamily="18" charset="0"/>
                          </a:rPr>
                          <m:t>0.8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$A\cup\bar B$</a:t>
                </a:r>
                <a:r>
                  <a:rPr sz="2400" b="0">
                    <a:solidFill>
                      <a:srgbClr val="111827"/>
                    </a:solidFill>
                    <a:latin typeface="Arial"/>
                  </a:rPr>
                  <a:t> consists of every region except </a:t>
                </a:r>
                <a:r>
                  <a:rPr lang="en-IN" sz="2400">
                    <a:solidFill>
                      <a:srgbClr val="111827"/>
                    </a:solidFill>
                    <a:latin typeface="Cambria Math" panose="02040503050406030204" pitchFamily="18" charset="0"/>
                  </a:rPr>
                  <a:t>$\bar A\cap B$</a:t>
                </a:r>
                <a:r>
                  <a:rPr sz="2400" b="0">
                    <a:solidFill>
                      <a:srgbClr val="111827"/>
                    </a:solidFill>
                    <a:latin typeface="Arial"/>
                  </a:rPr>
                  <a:t>: </a:t>
                </a:r>
                <a:r>
                  <a:rPr lang="en-IN" sz="2400">
                    <a:solidFill>
                      <a:srgbClr val="111827"/>
                    </a:solidFill>
                    <a:latin typeface="Cambria Math" panose="02040503050406030204" pitchFamily="18" charset="0"/>
                  </a:rPr>
                  <a:t>$0.5+0.2+0.1=0.8$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Of these, the part inside </a:t>
                </a:r>
                <a:r>
                  <a:rPr lang="en-IN" sz="2400">
                    <a:solidFill>
                      <a:srgbClr val="111827"/>
                    </a:solidFill>
                    <a:latin typeface="Cambria Math" panose="02040503050406030204" pitchFamily="18" charset="0"/>
                  </a:rPr>
                  <a:t>$B$</a:t>
                </a:r>
                <a:r>
                  <a:rPr sz="2400" b="0">
                    <a:solidFill>
                      <a:srgbClr val="111827"/>
                    </a:solidFill>
                    <a:latin typeface="Arial"/>
                  </a:rPr>
                  <a:t> is </a:t>
                </a:r>
                <a:r>
                  <a:rPr lang="en-IN" sz="2400">
                    <a:solidFill>
                      <a:srgbClr val="111827"/>
                    </a:solidFill>
                    <a:latin typeface="Cambria Math" panose="02040503050406030204" pitchFamily="18" charset="0"/>
                  </a:rPr>
                  <a:t>$A\cap B=0.2$</a:t>
                </a:r>
                <a:r>
                  <a:rPr sz="2400" b="0">
                    <a:solidFill>
                      <a:srgbClr val="111827"/>
                    </a:solidFill>
                    <a:latin typeface="Arial"/>
                  </a:rPr>
                  <a:t>, so the answer is </a:t>
                </a:r>
                <a:r>
                  <a:rPr lang="en-IN" sz="2400">
                    <a:solidFill>
                      <a:srgbClr val="111827"/>
                    </a:solidFill>
                    <a:latin typeface="Cambria Math" panose="02040503050406030204" pitchFamily="18" charset="0"/>
                  </a:rPr>
                  <a:t>$\frac{0.2}{0.8}=\frac14$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$\frac14$</a:t>
                </a:r>
                <a:endParaRPr sz="2800">
                  <a:solidFill>
                    <a:srgbClr val="15803D"/>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events split the sample space into four disjoint regions;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one more number determine all of them.</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bar>
                      <m:barPr>
                        <m:pos m:val="top"/>
                        <m:ctrlPr>
                          <a:rPr lang="en-IN" sz="2400" i="1">
                            <a:solidFill>
                              <a:srgbClr val="111827"/>
                            </a:solidFill>
                            <a:latin typeface="Cambria Math" panose="02040503050406030204" pitchFamily="18" charset="0"/>
                          </a:rPr>
                        </m:ctrlPr>
                      </m:barPr>
                      <m:e>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e>
                    </m:ba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(De Morgan);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𝑌</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conditioning on a union often collapses to an intersection.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events split the sample space into four disjoint regions; </a:t>
                </a:r>
                <a:r>
                  <a:rPr lang="en-IN" sz="2400">
                    <a:solidFill>
                      <a:srgbClr val="111827"/>
                    </a:solidFill>
                    <a:latin typeface="Cambria Math" panose="02040503050406030204" pitchFamily="18" charset="0"/>
                  </a:rPr>
                  <a:t>$P(A),P(B)$</a:t>
                </a:r>
                <a:r>
                  <a:rPr sz="2400" b="0">
                    <a:solidFill>
                      <a:srgbClr val="111827"/>
                    </a:solidFill>
                    <a:latin typeface="Arial"/>
                  </a:rPr>
                  <a:t> and one more number determine all of them.</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$\overline{A\cup\bar B}=\bar A\cap B$</a:t>
                </a:r>
                <a:r>
                  <a:rPr sz="2400" b="0">
                    <a:solidFill>
                      <a:srgbClr val="111827"/>
                    </a:solidFill>
                    <a:latin typeface="Arial"/>
                  </a:rPr>
                  <a:t> (De Morgan); </a:t>
                </a:r>
                <a:r>
                  <a:rPr lang="en-IN" sz="2400">
                    <a:solidFill>
                      <a:srgbClr val="111827"/>
                    </a:solidFill>
                    <a:latin typeface="Cambria Math" panose="02040503050406030204" pitchFamily="18" charset="0"/>
                  </a:rPr>
                  <a:t>$P(X\cup Y)=1-P(\bar X\cap\bar 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$P(A\cap\bar B)=P(A)-P(A\cap B)$</a:t>
                </a:r>
                <a:r>
                  <a:rPr sz="2400" b="0">
                    <a:solidFill>
                      <a:srgbClr val="111827"/>
                    </a:solidFill>
                    <a:latin typeface="Arial"/>
                  </a:rPr>
                  <a:t> and </a:t>
                </a:r>
                <a:r>
                  <a:rPr lang="en-IN" sz="2400">
                    <a:solidFill>
                      <a:srgbClr val="111827"/>
                    </a:solidFill>
                    <a:latin typeface="Cambria Math" panose="02040503050406030204" pitchFamily="18" charset="0"/>
                  </a:rPr>
                  <a:t>$B\cap(A\cup\bar B)=A\cap B$</a:t>
                </a:r>
                <a:r>
                  <a:rPr sz="2400" b="0">
                    <a:solidFill>
                      <a:srgbClr val="111827"/>
                    </a:solidFill>
                    <a:latin typeface="Arial"/>
                  </a:rPr>
                  <a:t>: conditioning on a union often collapses to an intersection.</a:t>
                </a:r>
                <a:endParaRPr sz="2400">
                  <a:solidFill>
                    <a:srgbClr val="111827"/>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balls are selected at random one by one without replacement from a bag containing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white and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black balls. If the probability that the first selected ball is black, given that the second selected ball is also black,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where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13</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11</m:t>
                    </m:r>
                  </m:oMath>
                </a14:m>
                <a:endParaRPr sz="2400">
                  <a:solidFill>
                    <a:srgbClr val="111827"/>
                  </a:solidFill>
                </a:endParaRPr>
              </a:p>
            </p:txBody>
          </p:sp>
        </mc:Choice>
        <mc:Fallback>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balls are selected at random one by one without replacement from a bag containing </a:t>
                </a:r>
                <a:r>
                  <a:rPr lang="en-IN" sz="2400">
                    <a:solidFill>
                      <a:srgbClr val="111827"/>
                    </a:solidFill>
                    <a:latin typeface="Cambria Math" panose="02040503050406030204" pitchFamily="18" charset="0"/>
                  </a:rPr>
                  <a:t>$4$</a:t>
                </a:r>
                <a:r>
                  <a:rPr sz="2400" b="0">
                    <a:solidFill>
                      <a:srgbClr val="111827"/>
                    </a:solidFill>
                    <a:latin typeface="Arial"/>
                  </a:rPr>
                  <a:t> white and </a:t>
                </a:r>
                <a:r>
                  <a:rPr lang="en-IN" sz="2400">
                    <a:solidFill>
                      <a:srgbClr val="111827"/>
                    </a:solidFill>
                    <a:latin typeface="Cambria Math" panose="02040503050406030204" pitchFamily="18" charset="0"/>
                  </a:rPr>
                  <a:t>$6$</a:t>
                </a:r>
                <a:r>
                  <a:rPr sz="2400" b="0">
                    <a:solidFill>
                      <a:srgbClr val="111827"/>
                    </a:solidFill>
                    <a:latin typeface="Arial"/>
                  </a:rPr>
                  <a:t> black balls. If the probability that the first selected ball is black, given that the second selected ball is also black, is </a:t>
                </a:r>
                <a:r>
                  <a:rPr lang="en-IN" sz="2400">
                    <a:solidFill>
                      <a:srgbClr val="111827"/>
                    </a:solidFill>
                    <a:latin typeface="Cambria Math" panose="02040503050406030204" pitchFamily="18" charset="0"/>
                  </a:rPr>
                  <a:t>$\frac mn$</a:t>
                </a:r>
                <a:r>
                  <a:rPr sz="2400" b="0">
                    <a:solidFill>
                      <a:srgbClr val="111827"/>
                    </a:solidFill>
                    <a:latin typeface="Arial"/>
                  </a:rPr>
                  <a:t>, where </a:t>
                </a:r>
                <a:r>
                  <a:rPr lang="en-IN" sz="2400">
                    <a:solidFill>
                      <a:srgbClr val="111827"/>
                    </a:solidFill>
                    <a:latin typeface="Cambria Math" panose="02040503050406030204" pitchFamily="18" charset="0"/>
                  </a:rPr>
                  <a:t>$\gcd(m,n)=1$</a:t>
                </a:r>
                <a:r>
                  <a:rPr sz="2400" b="0">
                    <a:solidFill>
                      <a:srgbClr val="111827"/>
                    </a:solidFill>
                    <a:latin typeface="Arial"/>
                  </a:rPr>
                  <a:t>, then </a:t>
                </a:r>
                <a:r>
                  <a:rPr lang="en-IN" sz="2400">
                    <a:solidFill>
                      <a:srgbClr val="111827"/>
                    </a:solidFill>
                    <a:latin typeface="Cambria Math" panose="02040503050406030204" pitchFamily="18" charset="0"/>
                  </a:rPr>
                  <a:t>$m+n$</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$4$</a:t>
                </a:r>
                <a:r>
                  <a:rPr sz="2400" b="0">
                    <a:solidFill>
                      <a:srgbClr val="111827"/>
                    </a:solidFill>
                    <a:latin typeface="Arial"/>
                  </a:rPr>
                  <a:t>   (B) </a:t>
                </a:r>
                <a:r>
                  <a:rPr lang="en-IN" sz="2400">
                    <a:solidFill>
                      <a:srgbClr val="111827"/>
                    </a:solidFill>
                    <a:latin typeface="Cambria Math" panose="02040503050406030204" pitchFamily="18" charset="0"/>
                  </a:rPr>
                  <a:t>$14$</a:t>
                </a:r>
                <a:r>
                  <a:rPr sz="2400" b="0">
                    <a:solidFill>
                      <a:srgbClr val="111827"/>
                    </a:solidFill>
                    <a:latin typeface="Arial"/>
                  </a:rPr>
                  <a:t>   (C) </a:t>
                </a:r>
                <a:r>
                  <a:rPr lang="en-IN" sz="2400">
                    <a:solidFill>
                      <a:srgbClr val="111827"/>
                    </a:solidFill>
                    <a:latin typeface="Cambria Math" panose="02040503050406030204" pitchFamily="18" charset="0"/>
                  </a:rPr>
                  <a:t>$13$</a:t>
                </a:r>
                <a:r>
                  <a:rPr sz="2400" b="0">
                    <a:solidFill>
                      <a:srgbClr val="111827"/>
                    </a:solidFill>
                    <a:latin typeface="Arial"/>
                  </a:rPr>
                  <a:t>   (D) </a:t>
                </a:r>
                <a:r>
                  <a:rPr lang="en-IN" sz="2400">
                    <a:solidFill>
                      <a:srgbClr val="111827"/>
                    </a:solidFill>
                    <a:latin typeface="Cambria Math" panose="02040503050406030204" pitchFamily="18" charset="0"/>
                  </a:rPr>
                  <a:t>$11$</a:t>
                </a:r>
                <a:endParaRPr sz="2400">
                  <a:solidFill>
                    <a:srgbClr val="111827"/>
                  </a:solidFill>
                </a:endParaRPr>
              </a:p>
            </p:txBody>
          </p:sp>
        </mc:Fallback>
      </mc:AlternateContent>
      <p:sp>
        <p:nvSpPr>
          <p:cNvPr id="5" name="Rectangle 4"/>
          <p:cNvSpPr/>
          <p:nvPr/>
        </p:nvSpPr>
        <p:spPr>
          <a:xfrm>
            <a:off x="731520" y="443382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Conditional probability (sampling without replacement)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1𝑠𝑡 𝑏𝑙𝑎𝑐𝑘</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2𝑛𝑑 𝑏𝑙𝑎𝑐𝑘</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𝑏𝑜𝑡ℎ 𝑏𝑙𝑎𝑐𝑘</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2𝑛𝑑 𝑏𝑙𝑎𝑐𝑘</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splitting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2𝑛𝑑 𝑏𝑙𝑎𝑐𝑘</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by the first ball.</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$P(\text{1st black}\mid\text{2nd black})=\frac{P(\text{both black})}{P(\text{2nd black})}$</a:t>
                </a:r>
                <a:r>
                  <a:rPr sz="2400" b="0">
                    <a:solidFill>
                      <a:srgbClr val="78350F"/>
                    </a:solidFill>
                    <a:latin typeface="Arial"/>
                  </a:rPr>
                  <a:t>, splitting </a:t>
                </a:r>
                <a:r>
                  <a:rPr lang="en-IN" sz="2400">
                    <a:solidFill>
                      <a:srgbClr val="78350F"/>
                    </a:solidFill>
                    <a:latin typeface="Cambria Math" panose="02040503050406030204" pitchFamily="18" charset="0"/>
                  </a:rPr>
                  <a:t>$P(\text{2nd black})$</a:t>
                </a:r>
                <a:r>
                  <a:rPr sz="2400" b="0">
                    <a:solidFill>
                      <a:srgbClr val="78350F"/>
                    </a:solidFill>
                    <a:latin typeface="Arial"/>
                  </a:rPr>
                  <a:t> by the first ball.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be the events that the first and second ball are black. Required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𝑊</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$B_1,B_2$</a:t>
                </a:r>
                <a:r>
                  <a:rPr sz="2400" b="0">
                    <a:solidFill>
                      <a:srgbClr val="111827"/>
                    </a:solidFill>
                    <a:latin typeface="Arial"/>
                  </a:rPr>
                  <a:t> be the events that the first and second ball are black. Required </a:t>
                </a:r>
                <a:r>
                  <a:rPr lang="en-IN" sz="2400">
                    <a:solidFill>
                      <a:srgbClr val="111827"/>
                    </a:solidFill>
                    <a:latin typeface="Cambria Math" panose="02040503050406030204" pitchFamily="18" charset="0"/>
                  </a:rPr>
                  <a:t>$=\frac{P(B_1\cap B_2)}{P(B_2)}$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$P(B_1\cap B_2)=\frac{6}{10}\cdot\frac59$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$P(B_2)=P(B_1B_2)+P(W_1B_2)=\frac6{10}\cdot\frac59+\frac4{10}\cdot\frac69$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Required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Required </a:t>
                </a:r>
                <a:r>
                  <a:rPr lang="en-IN" sz="2400">
                    <a:solidFill>
                      <a:srgbClr val="111827"/>
                    </a:solidFill>
                    <a:latin typeface="Cambria Math" panose="02040503050406030204" pitchFamily="18" charset="0"/>
                  </a:rPr>
                  <a:t>$=\frac{\frac{6}{10}\cdot\frac{5}{9}}{\frac{4}{10}\cdot\frac69+\frac{6}{10}\cdot\frac59}=\frac{30}{24+30}=\frac59$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$m=5,\ n=9$</a:t>
                </a:r>
                <a:r>
                  <a:rPr sz="2400" b="0">
                    <a:solidFill>
                      <a:srgbClr val="111827"/>
                    </a:solidFill>
                    <a:latin typeface="Arial"/>
                  </a:rPr>
                  <a:t>, so </a:t>
                </a:r>
                <a:r>
                  <a:rPr lang="en-IN" sz="2400">
                    <a:solidFill>
                      <a:srgbClr val="111827"/>
                    </a:solidFill>
                    <a:latin typeface="Cambria Math" panose="02040503050406030204" pitchFamily="18" charset="0"/>
                  </a:rPr>
                  <a:t>$m+n=14$</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14</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$14$</a:t>
                </a:r>
                <a:endParaRPr sz="2800">
                  <a:solidFill>
                    <a:srgbClr val="15803D"/>
                  </a:solidFill>
                </a:endParaRP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Exchangeability: given the second ball is black, the first is a uniformly random one of the other </a:t>
                </a:r>
                <a14:m>
                  <m:oMath xmlns:m="http://schemas.openxmlformats.org/officeDocument/2006/math">
                    <m:r>
                      <a:rPr lang="en-IN" sz="2400" i="1">
                        <a:solidFill>
                          <a:srgbClr val="78350F"/>
                        </a:solidFill>
                        <a:latin typeface="Cambria Math" panose="02040503050406030204" pitchFamily="18" charset="0"/>
                      </a:rPr>
                      <m:t>9</m:t>
                    </m:r>
                  </m:oMath>
                </a14:m>
                <a:r>
                  <a:rPr sz="2400" b="0">
                    <a:solidFill>
                      <a:srgbClr val="78350F"/>
                    </a:solidFill>
                    <a:latin typeface="Arial"/>
                  </a:rPr>
                  <a:t> balls.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Exchangeability: given the second ball is black, the first is a uniformly random one of the other </a:t>
                </a:r>
                <a:r>
                  <a:rPr lang="en-IN" sz="2400">
                    <a:solidFill>
                      <a:srgbClr val="78350F"/>
                    </a:solidFill>
                    <a:latin typeface="Cambria Math" panose="02040503050406030204" pitchFamily="18" charset="0"/>
                  </a:rPr>
                  <a:t>$9$</a:t>
                </a:r>
                <a:r>
                  <a:rPr sz="2400" b="0">
                    <a:solidFill>
                      <a:srgbClr val="78350F"/>
                    </a:solidFill>
                    <a:latin typeface="Arial"/>
                  </a:rPr>
                  <a:t> balls.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Draws without replacement are exchangeable: fix the second ball as a particular black ball.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ball is then equally likely to be any of the remaining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balls.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Those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contain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black balls, so the probability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Draws without replacement are exchangeable: fix the second ball as a particular black ball.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ball is then equally likely to be any of the remaining </a:t>
                </a:r>
                <a:r>
                  <a:rPr lang="en-IN" sz="2400">
                    <a:solidFill>
                      <a:srgbClr val="111827"/>
                    </a:solidFill>
                    <a:latin typeface="Cambria Math" panose="02040503050406030204" pitchFamily="18" charset="0"/>
                  </a:rPr>
                  <a:t>$9$</a:t>
                </a:r>
                <a:r>
                  <a:rPr sz="2400" b="0">
                    <a:solidFill>
                      <a:srgbClr val="111827"/>
                    </a:solidFill>
                    <a:latin typeface="Arial"/>
                  </a:rPr>
                  <a:t> balls.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Those </a:t>
                </a:r>
                <a:r>
                  <a:rPr lang="en-IN" sz="2400">
                    <a:solidFill>
                      <a:srgbClr val="111827"/>
                    </a:solidFill>
                    <a:latin typeface="Cambria Math" panose="02040503050406030204" pitchFamily="18" charset="0"/>
                  </a:rPr>
                  <a:t>$9$</a:t>
                </a:r>
                <a:r>
                  <a:rPr sz="2400" b="0">
                    <a:solidFill>
                      <a:srgbClr val="111827"/>
                    </a:solidFill>
                    <a:latin typeface="Arial"/>
                  </a:rPr>
                  <a:t> contain </a:t>
                </a:r>
                <a:r>
                  <a:rPr lang="en-IN" sz="2400">
                    <a:solidFill>
                      <a:srgbClr val="111827"/>
                    </a:solidFill>
                    <a:latin typeface="Cambria Math" panose="02040503050406030204" pitchFamily="18" charset="0"/>
                  </a:rPr>
                  <a:t>$5$</a:t>
                </a:r>
                <a:r>
                  <a:rPr sz="2400" b="0">
                    <a:solidFill>
                      <a:srgbClr val="111827"/>
                    </a:solidFill>
                    <a:latin typeface="Arial"/>
                  </a:rPr>
                  <a:t> black balls, so the probability is </a:t>
                </a:r>
                <a:r>
                  <a:rPr lang="en-IN" sz="2400">
                    <a:solidFill>
                      <a:srgbClr val="111827"/>
                    </a:solidFill>
                    <a:latin typeface="Cambria Math" panose="02040503050406030204" pitchFamily="18" charset="0"/>
                  </a:rPr>
                  <a:t>$\frac59$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$m+n=5+9=14$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14</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$14$</a:t>
                </a:r>
                <a:endParaRPr sz="2800">
                  <a:solidFill>
                    <a:srgbClr val="15803D"/>
                  </a:solidFill>
                </a:endParaRP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Without replacement, the draws are exchangeable: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𝑘-𝑡ℎ 𝑏𝑎𝑙𝑙 ℎ𝑎𝑠 𝑎 𝑝𝑟𝑜𝑝𝑒𝑟𝑡𝑦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1𝑠𝑡 𝑏𝑎𝑙𝑙 ℎ𝑎𝑠 𝑖𝑡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conditioning on a later draw leaves the earlier ones uniform on the rest.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Reverse conditioning: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1𝑠𝑡 𝑏𝑙𝑎𝑐𝑘</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2𝑛𝑑 𝑏𝑙𝑎𝑐𝑘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black out of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``backward'' probability equals the ``forward'' one: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Without replacement, the draws are exchangeable: </a:t>
                </a:r>
                <a:r>
                  <a:rPr lang="en-IN" sz="2400">
                    <a:solidFill>
                      <a:srgbClr val="111827"/>
                    </a:solidFill>
                    <a:latin typeface="Cambria Math" panose="02040503050406030204" pitchFamily="18" charset="0"/>
                  </a:rPr>
                  <a:t>$P(\text{k-th ball has a property})=P(\text{1st ball has it})$</a:t>
                </a:r>
                <a:r>
                  <a:rPr sz="2400" b="0">
                    <a:solidFill>
                      <a:srgbClr val="111827"/>
                    </a:solidFill>
                    <a:latin typeface="Arial"/>
                  </a:rPr>
                  <a:t>, and conditioning on a later draw leaves the earlier ones uniform on the rest.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Reverse conditioning: </a:t>
                </a:r>
                <a:r>
                  <a:rPr lang="en-IN" sz="2400">
                    <a:solidFill>
                      <a:srgbClr val="111827"/>
                    </a:solidFill>
                    <a:latin typeface="Cambria Math" panose="02040503050406030204" pitchFamily="18" charset="0"/>
                  </a:rPr>
                  <a:t>$P(\text{1st black}\mid\text{2nd black})=\frac{b-1}{N-1}$</a:t>
                </a:r>
                <a:r>
                  <a:rPr sz="2400" b="0">
                    <a:solidFill>
                      <a:srgbClr val="111827"/>
                    </a:solidFill>
                    <a:latin typeface="Arial"/>
                  </a:rPr>
                  <a:t> for </a:t>
                </a:r>
                <a:r>
                  <a:rPr lang="en-IN" sz="2400">
                    <a:solidFill>
                      <a:srgbClr val="111827"/>
                    </a:solidFill>
                    <a:latin typeface="Cambria Math" panose="02040503050406030204" pitchFamily="18" charset="0"/>
                  </a:rPr>
                  <a:t>$b$</a:t>
                </a:r>
                <a:r>
                  <a:rPr sz="2400" b="0">
                    <a:solidFill>
                      <a:srgbClr val="111827"/>
                    </a:solidFill>
                    <a:latin typeface="Arial"/>
                  </a:rPr>
                  <a:t> black out of </a:t>
                </a:r>
                <a:r>
                  <a:rPr lang="en-IN" sz="2400">
                    <a:solidFill>
                      <a:srgbClr val="111827"/>
                    </a:solidFill>
                    <a:latin typeface="Cambria Math" panose="02040503050406030204" pitchFamily="18" charset="0"/>
                  </a:rPr>
                  <a:t>$N$</a:t>
                </a:r>
                <a:r>
                  <a:rPr sz="2400" b="0">
                    <a:solidFill>
                      <a:srgbClr val="111827"/>
                    </a:solidFill>
                    <a:latin typeface="Arial"/>
                  </a:rPr>
                  <a:t>; here </a:t>
                </a:r>
                <a:r>
                  <a:rPr lang="en-IN" sz="2400">
                    <a:solidFill>
                      <a:srgbClr val="111827"/>
                    </a:solidFill>
                    <a:latin typeface="Cambria Math" panose="02040503050406030204" pitchFamily="18" charset="0"/>
                  </a:rPr>
                  <a:t>$\frac{5}{9}$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``backward'' probability equals the ``forward'' one: </a:t>
                </a:r>
                <a:r>
                  <a:rPr lang="en-IN" sz="2400">
                    <a:solidFill>
                      <a:srgbClr val="111827"/>
                    </a:solidFill>
                    <a:latin typeface="Cambria Math" panose="02040503050406030204" pitchFamily="18" charset="0"/>
                  </a:rPr>
                  <a:t>$P(B_2\mid B_1)=P(B_1\mid B_2)=\frac59$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coin is tossed three times. Let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denote the number of times a tail follows a head. If </a:t>
                </a:r>
                <a14:m>
                  <m:oMath xmlns:m="http://schemas.openxmlformats.org/officeDocument/2006/math">
                    <m:r>
                      <a:rPr lang="en-IN" sz="2400" i="1">
                        <a:solidFill>
                          <a:srgbClr val="111827"/>
                        </a:solidFill>
                        <a:latin typeface="Cambria Math" panose="02040503050406030204" pitchFamily="18" charset="0"/>
                      </a:rPr>
                      <m:t>μ</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denote the mean and variance of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then the value of </a:t>
                </a:r>
                <a14:m>
                  <m:oMath xmlns:m="http://schemas.openxmlformats.org/officeDocument/2006/math">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64</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48</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32</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51</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coin is tossed three times. Let </a:t>
                </a:r>
                <a:r>
                  <a:rPr lang="en-IN" sz="2400">
                    <a:solidFill>
                      <a:srgbClr val="111827"/>
                    </a:solidFill>
                    <a:latin typeface="Cambria Math" panose="02040503050406030204" pitchFamily="18" charset="0"/>
                  </a:rPr>
                  <a:t>$X$</a:t>
                </a:r>
                <a:r>
                  <a:rPr sz="2400" b="0">
                    <a:solidFill>
                      <a:srgbClr val="111827"/>
                    </a:solidFill>
                    <a:latin typeface="Arial"/>
                  </a:rPr>
                  <a:t> denote the number of times a tail follows a head. If </a:t>
                </a:r>
                <a:r>
                  <a:rPr lang="en-IN" sz="2400">
                    <a:solidFill>
                      <a:srgbClr val="111827"/>
                    </a:solidFill>
                    <a:latin typeface="Cambria Math" panose="02040503050406030204" pitchFamily="18" charset="0"/>
                  </a:rPr>
                  <a:t>$\mu$</a:t>
                </a:r>
                <a:r>
                  <a:rPr sz="2400" b="0">
                    <a:solidFill>
                      <a:srgbClr val="111827"/>
                    </a:solidFill>
                    <a:latin typeface="Arial"/>
                  </a:rPr>
                  <a:t> and </a:t>
                </a:r>
                <a:r>
                  <a:rPr lang="en-IN" sz="2400">
                    <a:solidFill>
                      <a:srgbClr val="111827"/>
                    </a:solidFill>
                    <a:latin typeface="Cambria Math" panose="02040503050406030204" pitchFamily="18" charset="0"/>
                  </a:rPr>
                  <a:t>$\sigma^2$</a:t>
                </a:r>
                <a:r>
                  <a:rPr sz="2400" b="0">
                    <a:solidFill>
                      <a:srgbClr val="111827"/>
                    </a:solidFill>
                    <a:latin typeface="Arial"/>
                  </a:rPr>
                  <a:t> denote the mean and variance of </a:t>
                </a:r>
                <a:r>
                  <a:rPr lang="en-IN" sz="2400">
                    <a:solidFill>
                      <a:srgbClr val="111827"/>
                    </a:solidFill>
                    <a:latin typeface="Cambria Math" panose="02040503050406030204" pitchFamily="18" charset="0"/>
                  </a:rPr>
                  <a:t>$X$</a:t>
                </a:r>
                <a:r>
                  <a:rPr sz="2400" b="0">
                    <a:solidFill>
                      <a:srgbClr val="111827"/>
                    </a:solidFill>
                    <a:latin typeface="Arial"/>
                  </a:rPr>
                  <a:t>, then the value of </a:t>
                </a:r>
                <a:r>
                  <a:rPr lang="en-IN" sz="2400">
                    <a:solidFill>
                      <a:srgbClr val="111827"/>
                    </a:solidFill>
                    <a:latin typeface="Cambria Math" panose="02040503050406030204" pitchFamily="18" charset="0"/>
                  </a:rPr>
                  <a:t>$64(\mu+\sigma^2)$</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$64$</a:t>
                </a:r>
                <a:r>
                  <a:rPr sz="2400" b="0">
                    <a:solidFill>
                      <a:srgbClr val="111827"/>
                    </a:solidFill>
                    <a:latin typeface="Arial"/>
                  </a:rPr>
                  <a:t>   (B) </a:t>
                </a:r>
                <a:r>
                  <a:rPr lang="en-IN" sz="2400">
                    <a:solidFill>
                      <a:srgbClr val="111827"/>
                    </a:solidFill>
                    <a:latin typeface="Cambria Math" panose="02040503050406030204" pitchFamily="18" charset="0"/>
                  </a:rPr>
                  <a:t>$48$</a:t>
                </a:r>
                <a:r>
                  <a:rPr sz="2400" b="0">
                    <a:solidFill>
                      <a:srgbClr val="111827"/>
                    </a:solidFill>
                    <a:latin typeface="Arial"/>
                  </a:rPr>
                  <a:t>   (C) </a:t>
                </a:r>
                <a:r>
                  <a:rPr lang="en-IN" sz="2400">
                    <a:solidFill>
                      <a:srgbClr val="111827"/>
                    </a:solidFill>
                    <a:latin typeface="Cambria Math" panose="02040503050406030204" pitchFamily="18" charset="0"/>
                  </a:rPr>
                  <a:t>$32$</a:t>
                </a:r>
                <a:r>
                  <a:rPr sz="2400" b="0">
                    <a:solidFill>
                      <a:srgbClr val="111827"/>
                    </a:solidFill>
                    <a:latin typeface="Arial"/>
                  </a:rPr>
                  <a:t>   (D) </a:t>
                </a:r>
                <a:r>
                  <a:rPr lang="en-IN" sz="2400">
                    <a:solidFill>
                      <a:srgbClr val="111827"/>
                    </a:solidFill>
                    <a:latin typeface="Cambria Math" panose="02040503050406030204" pitchFamily="18" charset="0"/>
                  </a:rPr>
                  <a:t>$51$</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variance of a random variable, Classical probability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 3 tosses ``H immediately followed by T'' can occur at most once, so </a:t>
                </a:r>
                <a14:m>
                  <m:oMath xmlns:m="http://schemas.openxmlformats.org/officeDocument/2006/math">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 3 tosses ``H immediately followed by T'' can occur at most once, so </a:t>
                </a:r>
                <a:r>
                  <a:rPr lang="en-IN" sz="2400">
                    <a:solidFill>
                      <a:srgbClr val="78350F"/>
                    </a:solidFill>
                    <a:latin typeface="Cambria Math" panose="02040503050406030204" pitchFamily="18" charset="0"/>
                  </a:rPr>
                  <a:t>$X\in\{0,1\}$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List the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outcomes and count the occurrences of ``HT'' (tail right after a head).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TTT, HHH, THH, TTH, which 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outcomes, 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HHT, HTH, THT, HTT, which 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outcomes, 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List the </a:t>
                </a:r>
                <a:r>
                  <a:rPr lang="en-IN" sz="2400">
                    <a:solidFill>
                      <a:srgbClr val="111827"/>
                    </a:solidFill>
                    <a:latin typeface="Cambria Math" panose="02040503050406030204" pitchFamily="18" charset="0"/>
                  </a:rPr>
                  <a:t>$8$</a:t>
                </a:r>
                <a:r>
                  <a:rPr sz="2400" b="0">
                    <a:solidFill>
                      <a:srgbClr val="111827"/>
                    </a:solidFill>
                    <a:latin typeface="Arial"/>
                  </a:rPr>
                  <a:t> outcomes and count the occurrences of ``HT'' (tail right after a head).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$X=0$</a:t>
                </a:r>
                <a:r>
                  <a:rPr sz="2400" b="0">
                    <a:solidFill>
                      <a:srgbClr val="111827"/>
                    </a:solidFill>
                    <a:latin typeface="Arial"/>
                  </a:rPr>
                  <a:t>: TTT, HHH, THH, TTH, which is </a:t>
                </a:r>
                <a:r>
                  <a:rPr lang="en-IN" sz="2400">
                    <a:solidFill>
                      <a:srgbClr val="111827"/>
                    </a:solidFill>
                    <a:latin typeface="Cambria Math" panose="02040503050406030204" pitchFamily="18" charset="0"/>
                  </a:rPr>
                  <a:t>$4$</a:t>
                </a:r>
                <a:r>
                  <a:rPr sz="2400" b="0">
                    <a:solidFill>
                      <a:srgbClr val="111827"/>
                    </a:solidFill>
                    <a:latin typeface="Arial"/>
                  </a:rPr>
                  <a:t> outcomes, so </a:t>
                </a:r>
                <a:r>
                  <a:rPr lang="en-IN" sz="2400">
                    <a:solidFill>
                      <a:srgbClr val="111827"/>
                    </a:solidFill>
                    <a:latin typeface="Cambria Math" panose="02040503050406030204" pitchFamily="18" charset="0"/>
                  </a:rPr>
                  <a:t>$P(X=0)=\frac12$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a:t>
                </a:r>
                <a:r>
                  <a:rPr sz="2400" b="0">
                    <a:solidFill>
                      <a:srgbClr val="111827"/>
                    </a:solidFill>
                    <a:latin typeface="Arial"/>
                  </a:rPr>
                  <a:t>: HHT, HTH, THT, HTT, which is </a:t>
                </a:r>
                <a:r>
                  <a:rPr lang="en-IN" sz="2400">
                    <a:solidFill>
                      <a:srgbClr val="111827"/>
                    </a:solidFill>
                    <a:latin typeface="Cambria Math" panose="02040503050406030204" pitchFamily="18" charset="0"/>
                  </a:rPr>
                  <a:t>$4$</a:t>
                </a:r>
                <a:r>
                  <a:rPr sz="2400" b="0">
                    <a:solidFill>
                      <a:srgbClr val="111827"/>
                    </a:solidFill>
                    <a:latin typeface="Arial"/>
                  </a:rPr>
                  <a:t> outcomes, so </a:t>
                </a:r>
                <a:r>
                  <a:rPr lang="en-IN" sz="2400">
                    <a:solidFill>
                      <a:srgbClr val="111827"/>
                    </a:solidFill>
                    <a:latin typeface="Cambria Math" panose="02040503050406030204" pitchFamily="18" charset="0"/>
                  </a:rPr>
                  <a:t>$P(X=1)=\frac12$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μ</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$\mu=\sum xP(x)=0\cdot\frac12+1\cdot\frac12=\frac12$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$\sigma^2=\sum x^2P(x)-\mu^2=0^2\cdot\frac12+1^2\cdot\frac12-\frac14=\frac14$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$64(\mu+\sigma^2)=64\left(\frac12+\frac14\right)=16\cdot3=48$</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48</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$48$</a:t>
                </a:r>
                <a:endParaRPr sz="2800">
                  <a:solidFill>
                    <a:srgbClr val="15803D"/>
                  </a:solidFill>
                </a:endParaRPr>
              </a:p>
            </p:txBody>
          </p:sp>
        </mc:Fallback>
      </mc:AlternateContent>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𝐼</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𝐼</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for the two adjacent pairs; the indicators cannot both be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𝑋</m:t>
                    </m:r>
                  </m:oMath>
                </a14:m>
                <a:r>
                  <a:rPr sz="2400" b="0">
                    <a:solidFill>
                      <a:srgbClr val="78350F"/>
                    </a:solidFill>
                    <a:latin typeface="Arial"/>
                  </a:rPr>
                  <a:t> is itself an indicator.</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$X=I_1+I_2$</a:t>
                </a:r>
                <a:r>
                  <a:rPr sz="2400" b="0">
                    <a:solidFill>
                      <a:srgbClr val="78350F"/>
                    </a:solidFill>
                    <a:latin typeface="Arial"/>
                  </a:rPr>
                  <a:t> for the two adjacent pairs; the indicators cannot both be </a:t>
                </a:r>
                <a:r>
                  <a:rPr lang="en-IN" sz="2400">
                    <a:solidFill>
                      <a:srgbClr val="78350F"/>
                    </a:solidFill>
                    <a:latin typeface="Cambria Math" panose="02040503050406030204" pitchFamily="18" charset="0"/>
                  </a:rPr>
                  <a:t>$1$</a:t>
                </a:r>
                <a:r>
                  <a:rPr sz="2400" b="0">
                    <a:solidFill>
                      <a:srgbClr val="78350F"/>
                    </a:solidFill>
                    <a:latin typeface="Arial"/>
                  </a:rPr>
                  <a:t>, so </a:t>
                </a:r>
                <a:r>
                  <a:rPr lang="en-IN" sz="2400">
                    <a:solidFill>
                      <a:srgbClr val="78350F"/>
                    </a:solidFill>
                    <a:latin typeface="Cambria Math" panose="02040503050406030204" pitchFamily="18" charset="0"/>
                  </a:rPr>
                  <a:t>$X$</a:t>
                </a:r>
                <a:r>
                  <a:rPr sz="2400" b="0">
                    <a:solidFill>
                      <a:srgbClr val="78350F"/>
                    </a:solidFill>
                    <a:latin typeface="Arial"/>
                  </a:rPr>
                  <a:t> is itself an indicator.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 [toss 1 is H, toss 2 is T] and </a:t>
                </a:r>
                <a14:m>
                  <m:oMath xmlns:m="http://schemas.openxmlformats.org/officeDocument/2006/math">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 [toss 2 is H, toss 3 is 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by linearity.</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because toss 2 cannot be both T and H; so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$I_1$</a:t>
                </a:r>
                <a:r>
                  <a:rPr sz="2400" b="0">
                    <a:solidFill>
                      <a:srgbClr val="111827"/>
                    </a:solidFill>
                    <a:latin typeface="Arial"/>
                  </a:rPr>
                  <a:t> = [toss 1 is H, toss 2 is T] and </a:t>
                </a:r>
                <a:r>
                  <a:rPr lang="en-IN" sz="2400">
                    <a:solidFill>
                      <a:srgbClr val="111827"/>
                    </a:solidFill>
                    <a:latin typeface="Cambria Math" panose="02040503050406030204" pitchFamily="18" charset="0"/>
                  </a:rPr>
                  <a:t>$I_2$</a:t>
                </a:r>
                <a:r>
                  <a:rPr sz="2400" b="0">
                    <a:solidFill>
                      <a:srgbClr val="111827"/>
                    </a:solidFill>
                    <a:latin typeface="Arial"/>
                  </a:rPr>
                  <a:t> = [toss 2 is H, toss 3 is T]; </a:t>
                </a:r>
                <a:r>
                  <a:rPr lang="en-IN" sz="2400">
                    <a:solidFill>
                      <a:srgbClr val="111827"/>
                    </a:solidFill>
                    <a:latin typeface="Cambria Math" panose="02040503050406030204" pitchFamily="18" charset="0"/>
                  </a:rPr>
                  <a:t>$X=I_1+I_2$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$E(I_1)=E(I_2)=\frac14$</a:t>
                </a:r>
                <a:r>
                  <a:rPr sz="2400" b="0">
                    <a:solidFill>
                      <a:srgbClr val="111827"/>
                    </a:solidFill>
                    <a:latin typeface="Arial"/>
                  </a:rPr>
                  <a:t>, so </a:t>
                </a:r>
                <a:r>
                  <a:rPr lang="en-IN" sz="2400">
                    <a:solidFill>
                      <a:srgbClr val="111827"/>
                    </a:solidFill>
                    <a:latin typeface="Cambria Math" panose="02040503050406030204" pitchFamily="18" charset="0"/>
                  </a:rPr>
                  <a:t>$\mu=\frac12$</a:t>
                </a:r>
                <a:r>
                  <a:rPr sz="2400" b="0">
                    <a:solidFill>
                      <a:srgbClr val="111827"/>
                    </a:solidFill>
                    <a:latin typeface="Arial"/>
                  </a:rPr>
                  <a:t> by linearity.</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$I_1I_2=0$</a:t>
                </a:r>
                <a:r>
                  <a:rPr sz="2400" b="0">
                    <a:solidFill>
                      <a:srgbClr val="111827"/>
                    </a:solidFill>
                    <a:latin typeface="Arial"/>
                  </a:rPr>
                  <a:t> because toss 2 cannot be both T and H; so </a:t>
                </a:r>
                <a:r>
                  <a:rPr lang="en-IN" sz="2400">
                    <a:solidFill>
                      <a:srgbClr val="111827"/>
                    </a:solidFill>
                    <a:latin typeface="Cambria Math" panose="02040503050406030204" pitchFamily="18" charset="0"/>
                  </a:rPr>
                  <a:t>$X\in\{0,1\}$</a:t>
                </a:r>
                <a:r>
                  <a:rPr sz="2400" b="0">
                    <a:solidFill>
                      <a:srgbClr val="111827"/>
                    </a:solidFill>
                    <a:latin typeface="Arial"/>
                  </a:rPr>
                  <a:t> and </a:t>
                </a:r>
                <a:r>
                  <a:rPr lang="en-IN" sz="2400">
                    <a:solidFill>
                      <a:srgbClr val="111827"/>
                    </a:solidFill>
                    <a:latin typeface="Cambria Math" panose="02040503050406030204" pitchFamily="18" charset="0"/>
                  </a:rPr>
                  <a:t>$P(X=1)=\frac12$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variable with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has variance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64</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$0/1$</a:t>
                </a:r>
                <a:r>
                  <a:rPr sz="2400" b="0">
                    <a:solidFill>
                      <a:srgbClr val="111827"/>
                    </a:solidFill>
                    <a:latin typeface="Arial"/>
                  </a:rPr>
                  <a:t> variable with </a:t>
                </a:r>
                <a:r>
                  <a:rPr lang="en-IN" sz="2400">
                    <a:solidFill>
                      <a:srgbClr val="111827"/>
                    </a:solidFill>
                    <a:latin typeface="Cambria Math" panose="02040503050406030204" pitchFamily="18" charset="0"/>
                  </a:rPr>
                  <a:t>$P(1)=\frac12$</a:t>
                </a:r>
                <a:r>
                  <a:rPr sz="2400" b="0">
                    <a:solidFill>
                      <a:srgbClr val="111827"/>
                    </a:solidFill>
                    <a:latin typeface="Arial"/>
                  </a:rPr>
                  <a:t> has variance </a:t>
                </a:r>
                <a:r>
                  <a:rPr lang="en-IN" sz="2400">
                    <a:solidFill>
                      <a:srgbClr val="111827"/>
                    </a:solidFill>
                    <a:latin typeface="Cambria Math" panose="02040503050406030204" pitchFamily="18" charset="0"/>
                  </a:rPr>
                  <a:t>$\frac12\cdot\frac12=\frac14$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$64\left(\frac12+\frac14\right)=48$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48</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$48$</a:t>
                </a:r>
                <a:endParaRPr sz="2800">
                  <a:solidFill>
                    <a:srgbClr val="15803D"/>
                  </a:solidFill>
                </a:endParaRPr>
              </a:p>
            </p:txBody>
          </p:sp>
        </mc:Fallback>
      </mc:AlternateContent>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Linearity of expectation with indicators: the expected number of occurrences of a pattern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(number of positions)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(probability of the pattern at one position).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variable taking only values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has mean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and variance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Overlap check: patterns such as HT cannot start at adjacent positions (the middle toss would have to be both), so the indicators are mutually exclusive.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Linearity of expectation with indicators: the expected number of occurrences of a pattern </a:t>
                </a:r>
                <a:r>
                  <a:rPr lang="en-IN" sz="2400">
                    <a:solidFill>
                      <a:srgbClr val="111827"/>
                    </a:solidFill>
                    <a:latin typeface="Cambria Math" panose="02040503050406030204" pitchFamily="18" charset="0"/>
                  </a:rPr>
                  <a:t>$=$</a:t>
                </a:r>
                <a:r>
                  <a:rPr sz="2400" b="0">
                    <a:solidFill>
                      <a:srgbClr val="111827"/>
                    </a:solidFill>
                    <a:latin typeface="Arial"/>
                  </a:rPr>
                  <a:t> (number of positions) </a:t>
                </a:r>
                <a:r>
                  <a:rPr lang="en-IN" sz="2400">
                    <a:solidFill>
                      <a:srgbClr val="111827"/>
                    </a:solidFill>
                    <a:latin typeface="Cambria Math" panose="02040503050406030204" pitchFamily="18" charset="0"/>
                  </a:rPr>
                  <a:t>$\times$</a:t>
                </a:r>
                <a:r>
                  <a:rPr sz="2400" b="0">
                    <a:solidFill>
                      <a:srgbClr val="111827"/>
                    </a:solidFill>
                    <a:latin typeface="Arial"/>
                  </a:rPr>
                  <a:t> (probability of the pattern at one position).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variable taking only values </a:t>
                </a:r>
                <a:r>
                  <a:rPr lang="en-IN" sz="2400">
                    <a:solidFill>
                      <a:srgbClr val="111827"/>
                    </a:solidFill>
                    <a:latin typeface="Cambria Math" panose="02040503050406030204" pitchFamily="18" charset="0"/>
                  </a:rPr>
                  <a:t>$0,1$</a:t>
                </a:r>
                <a:r>
                  <a:rPr sz="2400" b="0">
                    <a:solidFill>
                      <a:srgbClr val="111827"/>
                    </a:solidFill>
                    <a:latin typeface="Arial"/>
                  </a:rPr>
                  <a:t> with </a:t>
                </a:r>
                <a:r>
                  <a:rPr lang="en-IN" sz="2400">
                    <a:solidFill>
                      <a:srgbClr val="111827"/>
                    </a:solidFill>
                    <a:latin typeface="Cambria Math" panose="02040503050406030204" pitchFamily="18" charset="0"/>
                  </a:rPr>
                  <a:t>$P(1)=p$</a:t>
                </a:r>
                <a:r>
                  <a:rPr sz="2400" b="0">
                    <a:solidFill>
                      <a:srgbClr val="111827"/>
                    </a:solidFill>
                    <a:latin typeface="Arial"/>
                  </a:rPr>
                  <a:t> has mean </a:t>
                </a:r>
                <a:r>
                  <a:rPr lang="en-IN" sz="2400">
                    <a:solidFill>
                      <a:srgbClr val="111827"/>
                    </a:solidFill>
                    <a:latin typeface="Cambria Math" panose="02040503050406030204" pitchFamily="18" charset="0"/>
                  </a:rPr>
                  <a:t>$p$</a:t>
                </a:r>
                <a:r>
                  <a:rPr sz="2400" b="0">
                    <a:solidFill>
                      <a:srgbClr val="111827"/>
                    </a:solidFill>
                    <a:latin typeface="Arial"/>
                  </a:rPr>
                  <a:t> and variance </a:t>
                </a:r>
                <a:r>
                  <a:rPr lang="en-IN" sz="2400">
                    <a:solidFill>
                      <a:srgbClr val="111827"/>
                    </a:solidFill>
                    <a:latin typeface="Cambria Math" panose="02040503050406030204" pitchFamily="18" charset="0"/>
                  </a:rPr>
                  <a:t>$p(1-p)$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Overlap check: patterns such as HT cannot start at adjacent positions (the middle toss would have to be both), so the indicators are mutually exclusive.</a:t>
                </a:r>
                <a:endParaRPr sz="2400">
                  <a:solidFill>
                    <a:srgbClr val="111827"/>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are two events such that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the roots of the equation </a:t>
                </a:r>
                <a14:m>
                  <m:oMath xmlns:m="http://schemas.openxmlformats.org/officeDocument/2006/math">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the value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are two events such that </a:t>
                </a:r>
                <a:r>
                  <a:rPr lang="en-IN" sz="2400">
                    <a:solidFill>
                      <a:srgbClr val="111827"/>
                    </a:solidFill>
                    <a:latin typeface="Cambria Math" panose="02040503050406030204" pitchFamily="18" charset="0"/>
                  </a:rPr>
                  <a:t>$P(A\cap B)=0.1$</a:t>
                </a:r>
                <a:r>
                  <a:rPr sz="2400" b="0">
                    <a:solidFill>
                      <a:srgbClr val="111827"/>
                    </a:solidFill>
                    <a:latin typeface="Arial"/>
                  </a:rPr>
                  <a:t>, and </a:t>
                </a:r>
                <a:r>
                  <a:rPr lang="en-IN" sz="2400">
                    <a:solidFill>
                      <a:srgbClr val="111827"/>
                    </a:solidFill>
                    <a:latin typeface="Cambria Math" panose="02040503050406030204" pitchFamily="18" charset="0"/>
                  </a:rPr>
                  <a:t>$P(A\mid B)$</a:t>
                </a:r>
                <a:r>
                  <a:rPr sz="2400" b="0">
                    <a:solidFill>
                      <a:srgbClr val="111827"/>
                    </a:solidFill>
                    <a:latin typeface="Arial"/>
                  </a:rPr>
                  <a:t> and </a:t>
                </a:r>
                <a:r>
                  <a:rPr lang="en-IN" sz="2400">
                    <a:solidFill>
                      <a:srgbClr val="111827"/>
                    </a:solidFill>
                    <a:latin typeface="Cambria Math" panose="02040503050406030204" pitchFamily="18" charset="0"/>
                  </a:rPr>
                  <a:t>$P(B\mid A)$</a:t>
                </a:r>
                <a:r>
                  <a:rPr sz="2400" b="0">
                    <a:solidFill>
                      <a:srgbClr val="111827"/>
                    </a:solidFill>
                    <a:latin typeface="Arial"/>
                  </a:rPr>
                  <a:t> are the roots of the equation </a:t>
                </a:r>
                <a:r>
                  <a:rPr lang="en-IN" sz="2400">
                    <a:solidFill>
                      <a:srgbClr val="111827"/>
                    </a:solidFill>
                    <a:latin typeface="Cambria Math" panose="02040503050406030204" pitchFamily="18" charset="0"/>
                  </a:rPr>
                  <a:t>$12x^2-7x+1=0$</a:t>
                </a:r>
                <a:r>
                  <a:rPr sz="2400" b="0">
                    <a:solidFill>
                      <a:srgbClr val="111827"/>
                    </a:solidFill>
                    <a:latin typeface="Arial"/>
                  </a:rPr>
                  <a:t>, then the value of </a:t>
                </a:r>
                <a:r>
                  <a:rPr lang="en-IN" sz="2400">
                    <a:solidFill>
                      <a:srgbClr val="111827"/>
                    </a:solidFill>
                    <a:latin typeface="Cambria Math" panose="02040503050406030204" pitchFamily="18" charset="0"/>
                  </a:rPr>
                  <a:t>$\frac{P(\bar A\cup\bar B)}{P(\bar A\cap\bar B)}$</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$\frac94$</a:t>
                </a:r>
                <a:r>
                  <a:rPr sz="2400" b="0">
                    <a:solidFill>
                      <a:srgbClr val="111827"/>
                    </a:solidFill>
                    <a:latin typeface="Arial"/>
                  </a:rPr>
                  <a:t>   (B) </a:t>
                </a:r>
                <a:r>
                  <a:rPr lang="en-IN" sz="2400">
                    <a:solidFill>
                      <a:srgbClr val="111827"/>
                    </a:solidFill>
                    <a:latin typeface="Cambria Math" panose="02040503050406030204" pitchFamily="18" charset="0"/>
                  </a:rPr>
                  <a:t>$\frac53$</a:t>
                </a:r>
                <a:r>
                  <a:rPr sz="2400" b="0">
                    <a:solidFill>
                      <a:srgbClr val="111827"/>
                    </a:solidFill>
                    <a:latin typeface="Arial"/>
                  </a:rPr>
                  <a:t>   (C) </a:t>
                </a:r>
                <a:r>
                  <a:rPr lang="en-IN" sz="2400">
                    <a:solidFill>
                      <a:srgbClr val="111827"/>
                    </a:solidFill>
                    <a:latin typeface="Cambria Math" panose="02040503050406030204" pitchFamily="18" charset="0"/>
                  </a:rPr>
                  <a:t>$\frac74$</a:t>
                </a:r>
                <a:r>
                  <a:rPr sz="2400" b="0">
                    <a:solidFill>
                      <a:srgbClr val="111827"/>
                    </a:solidFill>
                    <a:latin typeface="Arial"/>
                  </a:rPr>
                  <a:t>   (D) </a:t>
                </a:r>
                <a:r>
                  <a:rPr lang="en-IN" sz="2400">
                    <a:solidFill>
                      <a:srgbClr val="111827"/>
                    </a:solidFill>
                    <a:latin typeface="Cambria Math" panose="02040503050406030204" pitchFamily="18" charset="0"/>
                  </a:rPr>
                  <a:t>$\frac43$</a:t>
                </a:r>
                <a:endParaRPr sz="2400">
                  <a:solidFill>
                    <a:srgbClr val="111827"/>
                  </a:solidFill>
                </a:endParaRPr>
              </a:p>
            </p:txBody>
          </p:sp>
        </mc:Fallback>
      </mc:AlternateContent>
      <p:sp>
        <p:nvSpPr>
          <p:cNvPr id="5" name="Rectangle 4"/>
          <p:cNvSpPr/>
          <p:nvPr/>
        </p:nvSpPr>
        <p:spPr>
          <a:xfrm>
            <a:off x="731520" y="41716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Conditional probability and Vieta's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Factor the quadratic to get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hence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then De Morgan on the ratio.</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Factor the quadratic to get </a:t>
                </a:r>
                <a:r>
                  <a:rPr lang="en-IN" sz="2400">
                    <a:solidFill>
                      <a:srgbClr val="78350F"/>
                    </a:solidFill>
                    <a:latin typeface="Cambria Math" panose="02040503050406030204" pitchFamily="18" charset="0"/>
                  </a:rPr>
                  <a:t>$P(A|B),P(B|A)$</a:t>
                </a:r>
                <a:r>
                  <a:rPr sz="2400" b="0">
                    <a:solidFill>
                      <a:srgbClr val="78350F"/>
                    </a:solidFill>
                    <a:latin typeface="Arial"/>
                  </a:rPr>
                  <a:t>, hence </a:t>
                </a:r>
                <a:r>
                  <a:rPr lang="en-IN" sz="2400">
                    <a:solidFill>
                      <a:srgbClr val="78350F"/>
                    </a:solidFill>
                    <a:latin typeface="Cambria Math" panose="02040503050406030204" pitchFamily="18" charset="0"/>
                  </a:rPr>
                  <a:t>$P(A),P(B)$</a:t>
                </a:r>
                <a:r>
                  <a:rPr sz="2400" b="0">
                    <a:solidFill>
                      <a:srgbClr val="78350F"/>
                    </a:solidFill>
                    <a:latin typeface="Arial"/>
                  </a:rPr>
                  <a:t>; then De Morgan on the ratio.</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the roots are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0.3</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$12x^2-7x+1=0\Rightarrow(3x-1)(4x-1)=0$</a:t>
                </a:r>
                <a:r>
                  <a:rPr sz="2400" b="0">
                    <a:solidFill>
                      <a:srgbClr val="111827"/>
                    </a:solidFill>
                    <a:latin typeface="Arial"/>
                  </a:rPr>
                  <a:t>, so the roots are </a:t>
                </a:r>
                <a:r>
                  <a:rPr lang="en-IN" sz="2400">
                    <a:solidFill>
                      <a:srgbClr val="111827"/>
                    </a:solidFill>
                    <a:latin typeface="Cambria Math" panose="02040503050406030204" pitchFamily="18" charset="0"/>
                  </a:rPr>
                  <a:t>$\frac13$</a:t>
                </a:r>
                <a:r>
                  <a:rPr sz="2400" b="0">
                    <a:solidFill>
                      <a:srgbClr val="111827"/>
                    </a:solidFill>
                    <a:latin typeface="Arial"/>
                  </a:rPr>
                  <a:t> and </a:t>
                </a:r>
                <a:r>
                  <a:rPr lang="en-IN" sz="2400">
                    <a:solidFill>
                      <a:srgbClr val="111827"/>
                    </a:solidFill>
                    <a:latin typeface="Cambria Math" panose="02040503050406030204" pitchFamily="18" charset="0"/>
                  </a:rPr>
                  <a:t>$\frac14$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$P(A\mid B)=\frac13$</a:t>
                </a:r>
                <a:r>
                  <a:rPr sz="2400" b="0">
                    <a:solidFill>
                      <a:srgbClr val="111827"/>
                    </a:solidFill>
                    <a:latin typeface="Arial"/>
                  </a:rPr>
                  <a:t> and </a:t>
                </a:r>
                <a:r>
                  <a:rPr lang="en-IN" sz="2400">
                    <a:solidFill>
                      <a:srgbClr val="111827"/>
                    </a:solidFill>
                    <a:latin typeface="Cambria Math" panose="02040503050406030204" pitchFamily="18" charset="0"/>
                  </a:rPr>
                  <a:t>$P(B\mid A)=\frac14$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$\frac{P(A\cap B)}{P(B)}=\frac13\Rightarrow P(B)=0.3$</a:t>
                </a:r>
                <a:r>
                  <a:rPr sz="2400" b="0">
                    <a:solidFill>
                      <a:srgbClr val="111827"/>
                    </a:solidFill>
                    <a:latin typeface="Arial"/>
                  </a:rPr>
                  <a:t> and </a:t>
                </a:r>
                <a:r>
                  <a:rPr lang="en-IN" sz="2400">
                    <a:solidFill>
                      <a:srgbClr val="111827"/>
                    </a:solidFill>
                    <a:latin typeface="Cambria Math" panose="02040503050406030204" pitchFamily="18" charset="0"/>
                  </a:rPr>
                  <a:t>$\frac{P(A\cap B)}{P(A)}=\frac14\Rightarrow P(A)=0.4$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bar>
                          <m:barPr>
                            <m:pos m:val="top"/>
                            <m:ctrlPr>
                              <a:rPr lang="en-IN" sz="2400" i="1">
                                <a:solidFill>
                                  <a:srgbClr val="111827"/>
                                </a:solidFill>
                                <a:latin typeface="Cambria Math" panose="02040503050406030204" pitchFamily="18" charset="0"/>
                              </a:rPr>
                            </m:ctrlPr>
                          </m:barPr>
                          <m:e>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e>
                        </m:ba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bar>
                          <m:barPr>
                            <m:pos m:val="top"/>
                            <m:ctrlPr>
                              <a:rPr lang="en-IN" sz="2400" i="1">
                                <a:solidFill>
                                  <a:srgbClr val="111827"/>
                                </a:solidFill>
                                <a:latin typeface="Cambria Math" panose="02040503050406030204" pitchFamily="18" charset="0"/>
                              </a:rPr>
                            </m:ctrlPr>
                          </m:barPr>
                          <m:e>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e>
                        </m:ba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by De Morgan.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0.9</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0.9</m:t>
                        </m:r>
                      </m:num>
                      <m:den>
                        <m:r>
                          <a:rPr lang="en-IN" sz="2400" i="1">
                            <a:solidFill>
                              <a:srgbClr val="111827"/>
                            </a:solidFill>
                            <a:latin typeface="Cambria Math" panose="02040503050406030204" pitchFamily="18" charset="0"/>
                          </a:rPr>
                          <m:t>0.4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option (A). (Swapping the two roots gives the same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$\frac{P(\bar A\cup\bar B)}{P(\bar A\cap\bar B)}=\frac{P(\overline{A\cap B})}{P(\overline{A\cup B})}=\frac{1-P(A\cap B)}{1-P(A\cup B)}$</a:t>
                </a:r>
                <a:r>
                  <a:rPr sz="2400" b="0">
                    <a:solidFill>
                      <a:srgbClr val="111827"/>
                    </a:solidFill>
                    <a:latin typeface="Arial"/>
                  </a:rPr>
                  <a:t> by De Morgan.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$P(A\cup B)=P(A)+P(B)-P(A\cap B)=0.4+0.3-0.1=0.6$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a:t>
                </a:r>
                <a:r>
                  <a:rPr lang="en-IN" sz="2400">
                    <a:solidFill>
                      <a:srgbClr val="111827"/>
                    </a:solidFill>
                    <a:latin typeface="Cambria Math" panose="02040503050406030204" pitchFamily="18" charset="0"/>
                  </a:rPr>
                  <a:t>$=\frac{0.9}{1-0.6}=\frac{0.9}{0.4}=\frac94$</a:t>
                </a:r>
                <a:r>
                  <a:rPr sz="2400" b="0">
                    <a:solidFill>
                      <a:srgbClr val="111827"/>
                    </a:solidFill>
                    <a:latin typeface="Arial"/>
                  </a:rPr>
                  <a:t>, option (A). (Swapping the two roots gives the same </a:t>
                </a:r>
                <a:r>
                  <a:rPr lang="en-IN" sz="2400">
                    <a:solidFill>
                      <a:srgbClr val="111827"/>
                    </a:solidFill>
                    <a:latin typeface="Cambria Math" panose="02040503050406030204" pitchFamily="18" charset="0"/>
                  </a:rPr>
                  <a:t>$P(A\cup B)$</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9</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$\frac94$</a:t>
                </a:r>
                <a:endParaRPr sz="2800">
                  <a:solidFill>
                    <a:srgbClr val="15803D"/>
                  </a:solidFill>
                </a:endParaRP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Vieta's sum and product of the roots directly to get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without finding the roots.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Vieta's sum and product of the roots directly to get </a:t>
                </a:r>
                <a:r>
                  <a:rPr lang="en-IN" sz="2400">
                    <a:solidFill>
                      <a:srgbClr val="78350F"/>
                    </a:solidFill>
                    <a:latin typeface="Cambria Math" panose="02040503050406030204" pitchFamily="18" charset="0"/>
                  </a:rPr>
                  <a:t>$P(A)P(B)$</a:t>
                </a:r>
                <a:r>
                  <a:rPr sz="2400" b="0">
                    <a:solidFill>
                      <a:srgbClr val="78350F"/>
                    </a:solidFill>
                    <a:latin typeface="Arial"/>
                  </a:rPr>
                  <a:t> and </a:t>
                </a:r>
                <a:r>
                  <a:rPr lang="en-IN" sz="2400">
                    <a:solidFill>
                      <a:srgbClr val="78350F"/>
                    </a:solidFill>
                    <a:latin typeface="Cambria Math" panose="02040503050406030204" pitchFamily="18" charset="0"/>
                  </a:rPr>
                  <a:t>$P(A)+P(B)$</a:t>
                </a:r>
                <a:r>
                  <a:rPr sz="2400" b="0">
                    <a:solidFill>
                      <a:srgbClr val="78350F"/>
                    </a:solidFill>
                    <a:latin typeface="Arial"/>
                  </a:rPr>
                  <a:t>, without finding the roots.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0.1</m:t>
                    </m:r>
                  </m:oMath>
                </a14:m>
                <a:r>
                  <a:rPr sz="2400" b="0">
                    <a:solidFill>
                      <a:srgbClr val="111827"/>
                    </a:solidFill>
                    <a:latin typeface="Arial"/>
                  </a:rPr>
                  <a:t>: roots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product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0.12</m:t>
                        </m:r>
                      </m:num>
                      <m:den>
                        <m:r>
                          <a:rPr lang="en-IN" sz="2400" i="1">
                            <a:solidFill>
                              <a:srgbClr val="111827"/>
                            </a:solidFill>
                            <a:latin typeface="Cambria Math" panose="02040503050406030204" pitchFamily="18" charset="0"/>
                          </a:rPr>
                          <m:t>0.1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0.7</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$c=P(A\cap B)=0.1$</a:t>
                </a:r>
                <a:r>
                  <a:rPr sz="2400" b="0">
                    <a:solidFill>
                      <a:srgbClr val="111827"/>
                    </a:solidFill>
                    <a:latin typeface="Arial"/>
                  </a:rPr>
                  <a:t>: roots </a:t>
                </a:r>
                <a:r>
                  <a:rPr lang="en-IN" sz="2400">
                    <a:solidFill>
                      <a:srgbClr val="111827"/>
                    </a:solidFill>
                    <a:latin typeface="Cambria Math" panose="02040503050406030204" pitchFamily="18" charset="0"/>
                  </a:rPr>
                  <a:t>$\frac{c}{P(B)}$</a:t>
                </a:r>
                <a:r>
                  <a:rPr sz="2400" b="0">
                    <a:solidFill>
                      <a:srgbClr val="111827"/>
                    </a:solidFill>
                    <a:latin typeface="Arial"/>
                  </a:rPr>
                  <a:t> and </a:t>
                </a:r>
                <a:r>
                  <a:rPr lang="en-IN" sz="2400">
                    <a:solidFill>
                      <a:srgbClr val="111827"/>
                    </a:solidFill>
                    <a:latin typeface="Cambria Math" panose="02040503050406030204" pitchFamily="18" charset="0"/>
                  </a:rPr>
                  <a:t>$\frac{c}{P(A)}$</a:t>
                </a:r>
                <a:r>
                  <a:rPr sz="2400" b="0">
                    <a:solidFill>
                      <a:srgbClr val="111827"/>
                    </a:solidFill>
                    <a:latin typeface="Arial"/>
                  </a:rPr>
                  <a:t>; product </a:t>
                </a:r>
                <a:r>
                  <a:rPr lang="en-IN" sz="2400">
                    <a:solidFill>
                      <a:srgbClr val="111827"/>
                    </a:solidFill>
                    <a:latin typeface="Cambria Math" panose="02040503050406030204" pitchFamily="18" charset="0"/>
                  </a:rPr>
                  <a:t>$=\frac{1}{12}$</a:t>
                </a:r>
                <a:r>
                  <a:rPr sz="2400" b="0">
                    <a:solidFill>
                      <a:srgbClr val="111827"/>
                    </a:solidFill>
                    <a:latin typeface="Arial"/>
                  </a:rPr>
                  <a:t> gives </a:t>
                </a:r>
                <a:r>
                  <a:rPr lang="en-IN" sz="2400">
                    <a:solidFill>
                      <a:srgbClr val="111827"/>
                    </a:solidFill>
                    <a:latin typeface="Cambria Math" panose="02040503050406030204" pitchFamily="18" charset="0"/>
                  </a:rPr>
                  <a:t>$P(A)P(B)=12c^2=0.12$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$=\frac7{12}$</a:t>
                </a:r>
                <a:r>
                  <a:rPr sz="2400" b="0">
                    <a:solidFill>
                      <a:srgbClr val="111827"/>
                    </a:solidFill>
                    <a:latin typeface="Arial"/>
                  </a:rPr>
                  <a:t>: </a:t>
                </a:r>
                <a:r>
                  <a:rPr lang="en-IN" sz="2400">
                    <a:solidFill>
                      <a:srgbClr val="111827"/>
                    </a:solidFill>
                    <a:latin typeface="Cambria Math" panose="02040503050406030204" pitchFamily="18" charset="0"/>
                  </a:rPr>
                  <a:t>$c\cdot\frac{P(A)+P(B)}{P(A)P(B)}=\frac7{12}$</a:t>
                </a:r>
                <a:r>
                  <a:rPr sz="2400" b="0">
                    <a:solidFill>
                      <a:srgbClr val="111827"/>
                    </a:solidFill>
                    <a:latin typeface="Arial"/>
                  </a:rPr>
                  <a:t>, so </a:t>
                </a:r>
                <a:r>
                  <a:rPr lang="en-IN" sz="2400">
                    <a:solidFill>
                      <a:srgbClr val="111827"/>
                    </a:solidFill>
                    <a:latin typeface="Cambria Math" panose="02040503050406030204" pitchFamily="18" charset="0"/>
                  </a:rPr>
                  <a:t>$P(A)+P(B)=\frac{7}{12}\cdot\frac{0.12}{0.1}=0.7$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ratio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$P(A\cup B)=0.7-0.1=0.6$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ratio is </a:t>
                </a:r>
                <a:r>
                  <a:rPr lang="en-IN" sz="2400">
                    <a:solidFill>
                      <a:srgbClr val="111827"/>
                    </a:solidFill>
                    <a:latin typeface="Cambria Math" panose="02040503050406030204" pitchFamily="18" charset="0"/>
                  </a:rPr>
                  <a:t>$\frac{1-0.1}{1-0.6}=\frac94$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9</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$\frac94$</a:t>
                </a:r>
                <a:endParaRPr sz="2800">
                  <a:solidFill>
                    <a:srgbClr val="15803D"/>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 Morgan: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bar>
                      <m:barPr>
                        <m:pos m:val="top"/>
                        <m:ctrlPr>
                          <a:rPr lang="en-IN" sz="2400" i="1">
                            <a:solidFill>
                              <a:srgbClr val="111827"/>
                            </a:solidFill>
                            <a:latin typeface="Cambria Math" panose="02040503050406030204" pitchFamily="18" charset="0"/>
                          </a:rPr>
                        </m:ctrlPr>
                      </m:barPr>
                      <m:e>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e>
                    </m:ba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bar>
                      <m:barPr>
                        <m:pos m:val="top"/>
                        <m:ctrlPr>
                          <a:rPr lang="en-IN" sz="2400" i="1">
                            <a:solidFill>
                              <a:srgbClr val="111827"/>
                            </a:solidFill>
                            <a:latin typeface="Cambria Math" panose="02040503050406030204" pitchFamily="18" charset="0"/>
                          </a:rPr>
                        </m:ctrlPr>
                      </m:barPr>
                      <m:e>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e>
                    </m:ba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conditional probabilities share the numerator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their reciprocals are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symmetric functions of the roots give symmetric functions of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Whenever only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needed, the labelling of which root is which does not matter.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 Morgan: </a:t>
                </a:r>
                <a:r>
                  <a:rPr lang="en-IN" sz="2400">
                    <a:solidFill>
                      <a:srgbClr val="111827"/>
                    </a:solidFill>
                    <a:latin typeface="Cambria Math" panose="02040503050406030204" pitchFamily="18" charset="0"/>
                  </a:rPr>
                  <a:t>$\bar A\cup\bar B=\overline{A\cap B}$</a:t>
                </a:r>
                <a:r>
                  <a:rPr sz="2400" b="0">
                    <a:solidFill>
                      <a:srgbClr val="111827"/>
                    </a:solidFill>
                    <a:latin typeface="Arial"/>
                  </a:rPr>
                  <a:t> and </a:t>
                </a:r>
                <a:r>
                  <a:rPr lang="en-IN" sz="2400">
                    <a:solidFill>
                      <a:srgbClr val="111827"/>
                    </a:solidFill>
                    <a:latin typeface="Cambria Math" panose="02040503050406030204" pitchFamily="18" charset="0"/>
                  </a:rPr>
                  <a:t>$\bar A\cap\bar B=\overline{A\cup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conditional probabilities share the numerator </a:t>
                </a:r>
                <a:r>
                  <a:rPr lang="en-IN" sz="2400">
                    <a:solidFill>
                      <a:srgbClr val="111827"/>
                    </a:solidFill>
                    <a:latin typeface="Cambria Math" panose="02040503050406030204" pitchFamily="18" charset="0"/>
                  </a:rPr>
                  <a:t>$P(A\cap B)$</a:t>
                </a:r>
                <a:r>
                  <a:rPr sz="2400" b="0">
                    <a:solidFill>
                      <a:srgbClr val="111827"/>
                    </a:solidFill>
                    <a:latin typeface="Arial"/>
                  </a:rPr>
                  <a:t>, so their reciprocals are </a:t>
                </a:r>
                <a:r>
                  <a:rPr lang="en-IN" sz="2400">
                    <a:solidFill>
                      <a:srgbClr val="111827"/>
                    </a:solidFill>
                    <a:latin typeface="Cambria Math" panose="02040503050406030204" pitchFamily="18" charset="0"/>
                  </a:rPr>
                  <a:t>$\frac{P(B)}{P(A\cap B)}$</a:t>
                </a:r>
                <a:r>
                  <a:rPr sz="2400" b="0">
                    <a:solidFill>
                      <a:srgbClr val="111827"/>
                    </a:solidFill>
                    <a:latin typeface="Arial"/>
                  </a:rPr>
                  <a:t> and </a:t>
                </a:r>
                <a:r>
                  <a:rPr lang="en-IN" sz="2400">
                    <a:solidFill>
                      <a:srgbClr val="111827"/>
                    </a:solidFill>
                    <a:latin typeface="Cambria Math" panose="02040503050406030204" pitchFamily="18" charset="0"/>
                  </a:rPr>
                  <a:t>$\frac{P(A)}{P(A\cap B)}$</a:t>
                </a:r>
                <a:r>
                  <a:rPr sz="2400" b="0">
                    <a:solidFill>
                      <a:srgbClr val="111827"/>
                    </a:solidFill>
                    <a:latin typeface="Arial"/>
                  </a:rPr>
                  <a:t>; symmetric functions of the roots give symmetric functions of </a:t>
                </a:r>
                <a:r>
                  <a:rPr lang="en-IN" sz="2400">
                    <a:solidFill>
                      <a:srgbClr val="111827"/>
                    </a:solidFill>
                    <a:latin typeface="Cambria Math" panose="02040503050406030204" pitchFamily="18" charset="0"/>
                  </a:rPr>
                  <a:t>$P(A),P(B)$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Whenever only </a:t>
                </a:r>
                <a:r>
                  <a:rPr lang="en-IN" sz="2400">
                    <a:solidFill>
                      <a:srgbClr val="111827"/>
                    </a:solidFill>
                    <a:latin typeface="Cambria Math" panose="02040503050406030204" pitchFamily="18" charset="0"/>
                  </a:rPr>
                  <a:t>$P(A\cup B)$</a:t>
                </a:r>
                <a:r>
                  <a:rPr sz="2400" b="0">
                    <a:solidFill>
                      <a:srgbClr val="111827"/>
                    </a:solidFill>
                    <a:latin typeface="Arial"/>
                  </a:rPr>
                  <a:t> and </a:t>
                </a:r>
                <a:r>
                  <a:rPr lang="en-IN" sz="2400">
                    <a:solidFill>
                      <a:srgbClr val="111827"/>
                    </a:solidFill>
                    <a:latin typeface="Cambria Math" panose="02040503050406030204" pitchFamily="18" charset="0"/>
                  </a:rPr>
                  <a:t>$P(A\cap B)$</a:t>
                </a:r>
                <a:r>
                  <a:rPr sz="2400" b="0">
                    <a:solidFill>
                      <a:srgbClr val="111827"/>
                    </a:solidFill>
                    <a:latin typeface="Arial"/>
                  </a:rPr>
                  <a:t> are needed, the labelling of which root is which does not matter.</a:t>
                </a:r>
                <a:endParaRPr sz="2400">
                  <a:solidFill>
                    <a:srgbClr val="111827"/>
                  </a:solidFill>
                </a:endParaRP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One die has two faces marked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two faces marked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one face marked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one face marked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Another die has one face marked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two faces marked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two faces marked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one face marked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The probability of getting the sum of numbers to be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when both the dice are thrown together,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oMath>
                </a14:m>
                <a:endParaRPr sz="2400">
                  <a:solidFill>
                    <a:srgbClr val="111827"/>
                  </a:solidFill>
                </a:endParaRPr>
              </a:p>
            </p:txBody>
          </p:sp>
        </mc:Choice>
        <mc:Fallback>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One die has two faces marked </a:t>
                </a:r>
                <a:r>
                  <a:rPr lang="en-IN" sz="2400">
                    <a:solidFill>
                      <a:srgbClr val="111827"/>
                    </a:solidFill>
                    <a:latin typeface="Cambria Math" panose="02040503050406030204" pitchFamily="18" charset="0"/>
                  </a:rPr>
                  <a:t>$1$</a:t>
                </a:r>
                <a:r>
                  <a:rPr sz="2400" b="0">
                    <a:solidFill>
                      <a:srgbClr val="111827"/>
                    </a:solidFill>
                    <a:latin typeface="Arial"/>
                  </a:rPr>
                  <a:t>, two faces marked </a:t>
                </a:r>
                <a:r>
                  <a:rPr lang="en-IN" sz="2400">
                    <a:solidFill>
                      <a:srgbClr val="111827"/>
                    </a:solidFill>
                    <a:latin typeface="Cambria Math" panose="02040503050406030204" pitchFamily="18" charset="0"/>
                  </a:rPr>
                  <a:t>$2$</a:t>
                </a:r>
                <a:r>
                  <a:rPr sz="2400" b="0">
                    <a:solidFill>
                      <a:srgbClr val="111827"/>
                    </a:solidFill>
                    <a:latin typeface="Arial"/>
                  </a:rPr>
                  <a:t>, one face marked </a:t>
                </a:r>
                <a:r>
                  <a:rPr lang="en-IN" sz="2400">
                    <a:solidFill>
                      <a:srgbClr val="111827"/>
                    </a:solidFill>
                    <a:latin typeface="Cambria Math" panose="02040503050406030204" pitchFamily="18" charset="0"/>
                  </a:rPr>
                  <a:t>$3$</a:t>
                </a:r>
                <a:r>
                  <a:rPr sz="2400" b="0">
                    <a:solidFill>
                      <a:srgbClr val="111827"/>
                    </a:solidFill>
                    <a:latin typeface="Arial"/>
                  </a:rPr>
                  <a:t> and one face marked </a:t>
                </a:r>
                <a:r>
                  <a:rPr lang="en-IN" sz="2400">
                    <a:solidFill>
                      <a:srgbClr val="111827"/>
                    </a:solidFill>
                    <a:latin typeface="Cambria Math" panose="02040503050406030204" pitchFamily="18" charset="0"/>
                  </a:rPr>
                  <a:t>$4$</a:t>
                </a:r>
                <a:r>
                  <a:rPr sz="2400" b="0">
                    <a:solidFill>
                      <a:srgbClr val="111827"/>
                    </a:solidFill>
                    <a:latin typeface="Arial"/>
                  </a:rPr>
                  <a:t>. Another die has one face marked </a:t>
                </a:r>
                <a:r>
                  <a:rPr lang="en-IN" sz="2400">
                    <a:solidFill>
                      <a:srgbClr val="111827"/>
                    </a:solidFill>
                    <a:latin typeface="Cambria Math" panose="02040503050406030204" pitchFamily="18" charset="0"/>
                  </a:rPr>
                  <a:t>$1$</a:t>
                </a:r>
                <a:r>
                  <a:rPr sz="2400" b="0">
                    <a:solidFill>
                      <a:srgbClr val="111827"/>
                    </a:solidFill>
                    <a:latin typeface="Arial"/>
                  </a:rPr>
                  <a:t>, two faces marked </a:t>
                </a:r>
                <a:r>
                  <a:rPr lang="en-IN" sz="2400">
                    <a:solidFill>
                      <a:srgbClr val="111827"/>
                    </a:solidFill>
                    <a:latin typeface="Cambria Math" panose="02040503050406030204" pitchFamily="18" charset="0"/>
                  </a:rPr>
                  <a:t>$2$</a:t>
                </a:r>
                <a:r>
                  <a:rPr sz="2400" b="0">
                    <a:solidFill>
                      <a:srgbClr val="111827"/>
                    </a:solidFill>
                    <a:latin typeface="Arial"/>
                  </a:rPr>
                  <a:t>, two faces marked </a:t>
                </a:r>
                <a:r>
                  <a:rPr lang="en-IN" sz="2400">
                    <a:solidFill>
                      <a:srgbClr val="111827"/>
                    </a:solidFill>
                    <a:latin typeface="Cambria Math" panose="02040503050406030204" pitchFamily="18" charset="0"/>
                  </a:rPr>
                  <a:t>$3$</a:t>
                </a:r>
                <a:r>
                  <a:rPr sz="2400" b="0">
                    <a:solidFill>
                      <a:srgbClr val="111827"/>
                    </a:solidFill>
                    <a:latin typeface="Arial"/>
                  </a:rPr>
                  <a:t> and one face marked </a:t>
                </a:r>
                <a:r>
                  <a:rPr lang="en-IN" sz="2400">
                    <a:solidFill>
                      <a:srgbClr val="111827"/>
                    </a:solidFill>
                    <a:latin typeface="Cambria Math" panose="02040503050406030204" pitchFamily="18" charset="0"/>
                  </a:rPr>
                  <a:t>$4$</a:t>
                </a:r>
                <a:r>
                  <a:rPr sz="2400" b="0">
                    <a:solidFill>
                      <a:srgbClr val="111827"/>
                    </a:solidFill>
                    <a:latin typeface="Arial"/>
                  </a:rPr>
                  <a:t>. The probability of getting the sum of numbers to be </a:t>
                </a:r>
                <a:r>
                  <a:rPr lang="en-IN" sz="2400">
                    <a:solidFill>
                      <a:srgbClr val="111827"/>
                    </a:solidFill>
                    <a:latin typeface="Cambria Math" panose="02040503050406030204" pitchFamily="18" charset="0"/>
                  </a:rPr>
                  <a:t>$4$</a:t>
                </a:r>
                <a:r>
                  <a:rPr sz="2400" b="0">
                    <a:solidFill>
                      <a:srgbClr val="111827"/>
                    </a:solidFill>
                    <a:latin typeface="Arial"/>
                  </a:rPr>
                  <a:t> or </a:t>
                </a:r>
                <a:r>
                  <a:rPr lang="en-IN" sz="2400">
                    <a:solidFill>
                      <a:srgbClr val="111827"/>
                    </a:solidFill>
                    <a:latin typeface="Cambria Math" panose="02040503050406030204" pitchFamily="18" charset="0"/>
                  </a:rPr>
                  <a:t>$5$</a:t>
                </a:r>
                <a:r>
                  <a:rPr sz="2400" b="0">
                    <a:solidFill>
                      <a:srgbClr val="111827"/>
                    </a:solidFill>
                    <a:latin typeface="Arial"/>
                  </a:rPr>
                  <a:t>, when both the dice are thrown together,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$\frac49$</a:t>
                </a:r>
                <a:r>
                  <a:rPr sz="2400" b="0">
                    <a:solidFill>
                      <a:srgbClr val="111827"/>
                    </a:solidFill>
                    <a:latin typeface="Arial"/>
                  </a:rPr>
                  <a:t>   (B) </a:t>
                </a:r>
                <a:r>
                  <a:rPr lang="en-IN" sz="2400">
                    <a:solidFill>
                      <a:srgbClr val="111827"/>
                    </a:solidFill>
                    <a:latin typeface="Cambria Math" panose="02040503050406030204" pitchFamily="18" charset="0"/>
                  </a:rPr>
                  <a:t>$\frac23$</a:t>
                </a:r>
                <a:r>
                  <a:rPr sz="2400" b="0">
                    <a:solidFill>
                      <a:srgbClr val="111827"/>
                    </a:solidFill>
                    <a:latin typeface="Arial"/>
                  </a:rPr>
                  <a:t>   (C) </a:t>
                </a:r>
                <a:r>
                  <a:rPr lang="en-IN" sz="2400">
                    <a:solidFill>
                      <a:srgbClr val="111827"/>
                    </a:solidFill>
                    <a:latin typeface="Cambria Math" panose="02040503050406030204" pitchFamily="18" charset="0"/>
                  </a:rPr>
                  <a:t>$\frac12$</a:t>
                </a:r>
                <a:r>
                  <a:rPr sz="2400" b="0">
                    <a:solidFill>
                      <a:srgbClr val="111827"/>
                    </a:solidFill>
                    <a:latin typeface="Arial"/>
                  </a:rPr>
                  <a:t>   (D) </a:t>
                </a:r>
                <a:r>
                  <a:rPr lang="en-IN" sz="2400">
                    <a:solidFill>
                      <a:srgbClr val="111827"/>
                    </a:solidFill>
                    <a:latin typeface="Cambria Math" panose="02040503050406030204" pitchFamily="18" charset="0"/>
                  </a:rPr>
                  <a:t>$\frac35$</a:t>
                </a:r>
                <a:endParaRPr sz="2400">
                  <a:solidFill>
                    <a:srgbClr val="111827"/>
                  </a:solidFill>
                </a:endParaRPr>
              </a:p>
            </p:txBody>
          </p:sp>
        </mc:Fallback>
      </mc:AlternateContent>
      <p:sp>
        <p:nvSpPr>
          <p:cNvPr id="5" name="Rectangle 4"/>
          <p:cNvSpPr/>
          <p:nvPr/>
        </p:nvSpPr>
        <p:spPr>
          <a:xfrm>
            <a:off x="731520" y="443382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Classical probability with two unfair dice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List the face pairs with sum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and with sum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weighting each by the product of the face probabilities.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List the face pairs with sum </a:t>
                </a:r>
                <a:r>
                  <a:rPr lang="en-IN" sz="2400">
                    <a:solidFill>
                      <a:srgbClr val="78350F"/>
                    </a:solidFill>
                    <a:latin typeface="Cambria Math" panose="02040503050406030204" pitchFamily="18" charset="0"/>
                  </a:rPr>
                  <a:t>$4$</a:t>
                </a:r>
                <a:r>
                  <a:rPr sz="2400" b="0">
                    <a:solidFill>
                      <a:srgbClr val="78350F"/>
                    </a:solidFill>
                    <a:latin typeface="Arial"/>
                  </a:rPr>
                  <a:t> and with sum </a:t>
                </a:r>
                <a:r>
                  <a:rPr lang="en-IN" sz="2400">
                    <a:solidFill>
                      <a:srgbClr val="78350F"/>
                    </a:solidFill>
                    <a:latin typeface="Cambria Math" panose="02040503050406030204" pitchFamily="18" charset="0"/>
                  </a:rPr>
                  <a:t>$5$</a:t>
                </a:r>
                <a:r>
                  <a:rPr sz="2400" b="0">
                    <a:solidFill>
                      <a:srgbClr val="78350F"/>
                    </a:solidFill>
                    <a:latin typeface="Arial"/>
                  </a:rPr>
                  <a:t>, weighting each by the product of the face probabilities.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Die 1 faces: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Die 2 faces: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each face has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for sum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Die 1 faces: </a:t>
                </a:r>
                <a:r>
                  <a:rPr lang="en-IN" sz="2400">
                    <a:solidFill>
                      <a:srgbClr val="111827"/>
                    </a:solidFill>
                    <a:latin typeface="Cambria Math" panose="02040503050406030204" pitchFamily="18" charset="0"/>
                  </a:rPr>
                  <a:t>$1,1,2,2,3,4$</a:t>
                </a:r>
                <a:r>
                  <a:rPr sz="2400" b="0">
                    <a:solidFill>
                      <a:srgbClr val="111827"/>
                    </a:solidFill>
                    <a:latin typeface="Arial"/>
                  </a:rPr>
                  <a:t>; Die 2 faces: </a:t>
                </a:r>
                <a:r>
                  <a:rPr lang="en-IN" sz="2400">
                    <a:solidFill>
                      <a:srgbClr val="111827"/>
                    </a:solidFill>
                    <a:latin typeface="Cambria Math" panose="02040503050406030204" pitchFamily="18" charset="0"/>
                  </a:rPr>
                  <a:t>$1,2,2,3,3,4$</a:t>
                </a:r>
                <a:r>
                  <a:rPr sz="2400" b="0">
                    <a:solidFill>
                      <a:srgbClr val="111827"/>
                    </a:solidFill>
                    <a:latin typeface="Arial"/>
                  </a:rPr>
                  <a:t>; each face has probability </a:t>
                </a:r>
                <a:r>
                  <a:rPr lang="en-IN" sz="2400">
                    <a:solidFill>
                      <a:srgbClr val="111827"/>
                    </a:solidFill>
                    <a:latin typeface="Cambria Math" panose="02040503050406030204" pitchFamily="18" charset="0"/>
                  </a:rPr>
                  <a:t>$\frac16$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$(1,3)$</a:t>
                </a:r>
                <a:r>
                  <a:rPr sz="2400" b="0">
                    <a:solidFill>
                      <a:srgbClr val="111827"/>
                    </a:solidFill>
                    <a:latin typeface="Arial"/>
                  </a:rPr>
                  <a:t> gives </a:t>
                </a:r>
                <a:r>
                  <a:rPr lang="en-IN" sz="2400">
                    <a:solidFill>
                      <a:srgbClr val="111827"/>
                    </a:solidFill>
                    <a:latin typeface="Cambria Math" panose="02040503050406030204" pitchFamily="18" charset="0"/>
                  </a:rPr>
                  <a:t>$\frac26\cdot\frac26$</a:t>
                </a:r>
                <a:r>
                  <a:rPr sz="2400" b="0">
                    <a:solidFill>
                      <a:srgbClr val="111827"/>
                    </a:solidFill>
                    <a:latin typeface="Arial"/>
                  </a:rPr>
                  <a:t>; </a:t>
                </a:r>
                <a:r>
                  <a:rPr lang="en-IN" sz="2400">
                    <a:solidFill>
                      <a:srgbClr val="111827"/>
                    </a:solidFill>
                    <a:latin typeface="Cambria Math" panose="02040503050406030204" pitchFamily="18" charset="0"/>
                  </a:rPr>
                  <a:t>$(2,2)$</a:t>
                </a:r>
                <a:r>
                  <a:rPr sz="2400" b="0">
                    <a:solidFill>
                      <a:srgbClr val="111827"/>
                    </a:solidFill>
                    <a:latin typeface="Arial"/>
                  </a:rPr>
                  <a:t> gives </a:t>
                </a:r>
                <a:r>
                  <a:rPr lang="en-IN" sz="2400">
                    <a:solidFill>
                      <a:srgbClr val="111827"/>
                    </a:solidFill>
                    <a:latin typeface="Cambria Math" panose="02040503050406030204" pitchFamily="18" charset="0"/>
                  </a:rPr>
                  <a:t>$\frac26\cdot\frac26$</a:t>
                </a:r>
                <a:r>
                  <a:rPr sz="2400" b="0">
                    <a:solidFill>
                      <a:srgbClr val="111827"/>
                    </a:solidFill>
                    <a:latin typeface="Arial"/>
                  </a:rPr>
                  <a:t>; </a:t>
                </a:r>
                <a:r>
                  <a:rPr lang="en-IN" sz="2400">
                    <a:solidFill>
                      <a:srgbClr val="111827"/>
                    </a:solidFill>
                    <a:latin typeface="Cambria Math" panose="02040503050406030204" pitchFamily="18" charset="0"/>
                  </a:rPr>
                  <a:t>$(3,1)$</a:t>
                </a:r>
                <a:r>
                  <a:rPr sz="2400" b="0">
                    <a:solidFill>
                      <a:srgbClr val="111827"/>
                    </a:solidFill>
                    <a:latin typeface="Arial"/>
                  </a:rPr>
                  <a:t> gives </a:t>
                </a:r>
                <a:r>
                  <a:rPr lang="en-IN" sz="2400">
                    <a:solidFill>
                      <a:srgbClr val="111827"/>
                    </a:solidFill>
                    <a:latin typeface="Cambria Math" panose="02040503050406030204" pitchFamily="18" charset="0"/>
                  </a:rPr>
                  <a:t>$\frac16\cdot\frac16$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for sum </a:t>
                </a:r>
                <a:r>
                  <a:rPr lang="en-IN" sz="2400">
                    <a:solidFill>
                      <a:srgbClr val="111827"/>
                    </a:solidFill>
                    <a:latin typeface="Cambria Math" panose="02040503050406030204" pitchFamily="18" charset="0"/>
                  </a:rPr>
                  <a:t>$4=\frac{4+4+1}{36}=\frac{9}{36}=\frac14$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for sum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𝑠𝑢𝑚 </m:t>
                    </m:r>
                    <m:r>
                      <a:rPr lang="en-IN" sz="2400" i="1">
                        <a:solidFill>
                          <a:srgbClr val="111827"/>
                        </a:solidFill>
                        <a:latin typeface="Cambria Math" panose="02040503050406030204" pitchFamily="18" charset="0"/>
                      </a:rPr>
                      <m:t>4</m:t>
                    </m:r>
                    <m:r>
                      <m:rPr>
                        <m:nor/>
                      </m:rPr>
                      <a:rPr lang="en-IN" sz="2400" i="1">
                        <a:solidFill>
                          <a:srgbClr val="111827"/>
                        </a:solidFill>
                        <a:latin typeface="Cambria Math" panose="02040503050406030204" pitchFamily="18" charset="0"/>
                      </a:rPr>
                      <m:t> 𝑜𝑟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$(1,4)$</a:t>
                </a:r>
                <a:r>
                  <a:rPr sz="2400" b="0">
                    <a:solidFill>
                      <a:srgbClr val="111827"/>
                    </a:solidFill>
                    <a:latin typeface="Arial"/>
                  </a:rPr>
                  <a:t> gives </a:t>
                </a:r>
                <a:r>
                  <a:rPr lang="en-IN" sz="2400">
                    <a:solidFill>
                      <a:srgbClr val="111827"/>
                    </a:solidFill>
                    <a:latin typeface="Cambria Math" panose="02040503050406030204" pitchFamily="18" charset="0"/>
                  </a:rPr>
                  <a:t>$\frac26\cdot\frac16$</a:t>
                </a:r>
                <a:r>
                  <a:rPr sz="2400" b="0">
                    <a:solidFill>
                      <a:srgbClr val="111827"/>
                    </a:solidFill>
                    <a:latin typeface="Arial"/>
                  </a:rPr>
                  <a:t>; </a:t>
                </a:r>
                <a:r>
                  <a:rPr lang="en-IN" sz="2400">
                    <a:solidFill>
                      <a:srgbClr val="111827"/>
                    </a:solidFill>
                    <a:latin typeface="Cambria Math" panose="02040503050406030204" pitchFamily="18" charset="0"/>
                  </a:rPr>
                  <a:t>$(2,3)$</a:t>
                </a:r>
                <a:r>
                  <a:rPr sz="2400" b="0">
                    <a:solidFill>
                      <a:srgbClr val="111827"/>
                    </a:solidFill>
                    <a:latin typeface="Arial"/>
                  </a:rPr>
                  <a:t> gives </a:t>
                </a:r>
                <a:r>
                  <a:rPr lang="en-IN" sz="2400">
                    <a:solidFill>
                      <a:srgbClr val="111827"/>
                    </a:solidFill>
                    <a:latin typeface="Cambria Math" panose="02040503050406030204" pitchFamily="18" charset="0"/>
                  </a:rPr>
                  <a:t>$\frac26\cdot\frac26$</a:t>
                </a:r>
                <a:r>
                  <a:rPr sz="2400" b="0">
                    <a:solidFill>
                      <a:srgbClr val="111827"/>
                    </a:solidFill>
                    <a:latin typeface="Arial"/>
                  </a:rPr>
                  <a:t>; </a:t>
                </a:r>
                <a:r>
                  <a:rPr lang="en-IN" sz="2400">
                    <a:solidFill>
                      <a:srgbClr val="111827"/>
                    </a:solidFill>
                    <a:latin typeface="Cambria Math" panose="02040503050406030204" pitchFamily="18" charset="0"/>
                  </a:rPr>
                  <a:t>$(3,2)$</a:t>
                </a:r>
                <a:r>
                  <a:rPr sz="2400" b="0">
                    <a:solidFill>
                      <a:srgbClr val="111827"/>
                    </a:solidFill>
                    <a:latin typeface="Arial"/>
                  </a:rPr>
                  <a:t> gives </a:t>
                </a:r>
                <a:r>
                  <a:rPr lang="en-IN" sz="2400">
                    <a:solidFill>
                      <a:srgbClr val="111827"/>
                    </a:solidFill>
                    <a:latin typeface="Cambria Math" panose="02040503050406030204" pitchFamily="18" charset="0"/>
                  </a:rPr>
                  <a:t>$\frac16\cdot\frac26$</a:t>
                </a:r>
                <a:r>
                  <a:rPr sz="2400" b="0">
                    <a:solidFill>
                      <a:srgbClr val="111827"/>
                    </a:solidFill>
                    <a:latin typeface="Arial"/>
                  </a:rPr>
                  <a:t>; </a:t>
                </a:r>
                <a:r>
                  <a:rPr lang="en-IN" sz="2400">
                    <a:solidFill>
                      <a:srgbClr val="111827"/>
                    </a:solidFill>
                    <a:latin typeface="Cambria Math" panose="02040503050406030204" pitchFamily="18" charset="0"/>
                  </a:rPr>
                  <a:t>$(4,1)$</a:t>
                </a:r>
                <a:r>
                  <a:rPr sz="2400" b="0">
                    <a:solidFill>
                      <a:srgbClr val="111827"/>
                    </a:solidFill>
                    <a:latin typeface="Arial"/>
                  </a:rPr>
                  <a:t> gives </a:t>
                </a:r>
                <a:r>
                  <a:rPr lang="en-IN" sz="2400">
                    <a:solidFill>
                      <a:srgbClr val="111827"/>
                    </a:solidFill>
                    <a:latin typeface="Cambria Math" panose="02040503050406030204" pitchFamily="18" charset="0"/>
                  </a:rPr>
                  <a:t>$\frac16\cdot\frac16$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for sum </a:t>
                </a:r>
                <a:r>
                  <a:rPr lang="en-IN" sz="2400">
                    <a:solidFill>
                      <a:srgbClr val="111827"/>
                    </a:solidFill>
                    <a:latin typeface="Cambria Math" panose="02040503050406030204" pitchFamily="18" charset="0"/>
                  </a:rPr>
                  <a:t>$5=\frac{2+4+2+1}{36}=\frac{9}{36}=\frac14$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$P(\text{sum }4\text{ or }5)=\frac14+\frac14=\frac12$</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$\frac12$</a:t>
                </a:r>
                <a:endParaRPr sz="2800">
                  <a:solidFill>
                    <a:srgbClr val="15803D"/>
                  </a:solidFill>
                </a:endParaRPr>
              </a:p>
            </p:txBody>
          </p:sp>
        </mc:Fallback>
      </mc:AlternateContent>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Encode each die by a generating polynomial; the product's coefficients are the pair counts for each sum.</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Die 1: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Die 2: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(coefficient = number of faces).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in the product: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Die 1: </a:t>
                </a:r>
                <a:r>
                  <a:rPr lang="en-IN" sz="2400">
                    <a:solidFill>
                      <a:srgbClr val="111827"/>
                    </a:solidFill>
                    <a:latin typeface="Cambria Math" panose="02040503050406030204" pitchFamily="18" charset="0"/>
                  </a:rPr>
                  <a:t>$2x+2x^2+x^3+x^4$</a:t>
                </a:r>
                <a:r>
                  <a:rPr sz="2400" b="0">
                    <a:solidFill>
                      <a:srgbClr val="111827"/>
                    </a:solidFill>
                    <a:latin typeface="Arial"/>
                  </a:rPr>
                  <a:t>; Die 2: </a:t>
                </a:r>
                <a:r>
                  <a:rPr lang="en-IN" sz="2400">
                    <a:solidFill>
                      <a:srgbClr val="111827"/>
                    </a:solidFill>
                    <a:latin typeface="Cambria Math" panose="02040503050406030204" pitchFamily="18" charset="0"/>
                  </a:rPr>
                  <a:t>$x+2x^2+2x^3+x^4$</a:t>
                </a:r>
                <a:r>
                  <a:rPr sz="2400" b="0">
                    <a:solidFill>
                      <a:srgbClr val="111827"/>
                    </a:solidFill>
                    <a:latin typeface="Arial"/>
                  </a:rPr>
                  <a:t> (coefficient = number of faces).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$x^4$</a:t>
                </a:r>
                <a:r>
                  <a:rPr sz="2400" b="0">
                    <a:solidFill>
                      <a:srgbClr val="111827"/>
                    </a:solidFill>
                    <a:latin typeface="Arial"/>
                  </a:rPr>
                  <a:t> in the product: </a:t>
                </a:r>
                <a:r>
                  <a:rPr lang="en-IN" sz="2400">
                    <a:solidFill>
                      <a:srgbClr val="111827"/>
                    </a:solidFill>
                    <a:latin typeface="Cambria Math" panose="02040503050406030204" pitchFamily="18" charset="0"/>
                  </a:rPr>
                  <a:t>$2\cdot2+2\cdot2+1\cdot1=9$</a:t>
                </a:r>
                <a:r>
                  <a:rPr sz="2400" b="0">
                    <a:solidFill>
                      <a:srgbClr val="111827"/>
                    </a:solidFill>
                    <a:latin typeface="Arial"/>
                  </a:rPr>
                  <a:t> (from </a:t>
                </a:r>
                <a:r>
                  <a:rPr lang="en-IN" sz="2400">
                    <a:solidFill>
                      <a:srgbClr val="111827"/>
                    </a:solidFill>
                    <a:latin typeface="Cambria Math" panose="02040503050406030204" pitchFamily="18" charset="0"/>
                  </a:rPr>
                  <a:t>$x\!\cdot\!x^3,\ x^2\!\cdot\!x^2,\ x^3\!\cdot\!x$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out of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equally likely face pairs, so the probability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$x^5$</a:t>
                </a:r>
                <a:r>
                  <a:rPr sz="2400" b="0">
                    <a:solidFill>
                      <a:srgbClr val="111827"/>
                    </a:solidFill>
                    <a:latin typeface="Arial"/>
                  </a:rPr>
                  <a:t>: </a:t>
                </a:r>
                <a:r>
                  <a:rPr lang="en-IN" sz="2400">
                    <a:solidFill>
                      <a:srgbClr val="111827"/>
                    </a:solidFill>
                    <a:latin typeface="Cambria Math" panose="02040503050406030204" pitchFamily="18" charset="0"/>
                  </a:rPr>
                  <a:t>$2\cdot1+2\cdot2+1\cdot2+1\cdot1=9$</a:t>
                </a:r>
                <a:r>
                  <a:rPr sz="2400" b="0">
                    <a:solidFill>
                      <a:srgbClr val="111827"/>
                    </a:solidFill>
                    <a:latin typeface="Arial"/>
                  </a:rPr>
                  <a:t> (from </a:t>
                </a:r>
                <a:r>
                  <a:rPr lang="en-IN" sz="2400">
                    <a:solidFill>
                      <a:srgbClr val="111827"/>
                    </a:solidFill>
                    <a:latin typeface="Cambria Math" panose="02040503050406030204" pitchFamily="18" charset="0"/>
                  </a:rPr>
                  <a:t>$x\!\cdot\!x^4,\ x^2x^3,\ x^3x^2,\ x^4x$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a:t>
                </a:r>
                <a:r>
                  <a:rPr lang="en-IN" sz="2400">
                    <a:solidFill>
                      <a:srgbClr val="111827"/>
                    </a:solidFill>
                    <a:latin typeface="Cambria Math" panose="02040503050406030204" pitchFamily="18" charset="0"/>
                  </a:rPr>
                  <a:t>$=9+9=18$</a:t>
                </a:r>
                <a:r>
                  <a:rPr sz="2400" b="0">
                    <a:solidFill>
                      <a:srgbClr val="111827"/>
                    </a:solidFill>
                    <a:latin typeface="Arial"/>
                  </a:rPr>
                  <a:t> out of </a:t>
                </a:r>
                <a:r>
                  <a:rPr lang="en-IN" sz="2400">
                    <a:solidFill>
                      <a:srgbClr val="111827"/>
                    </a:solidFill>
                    <a:latin typeface="Cambria Math" panose="02040503050406030204" pitchFamily="18" charset="0"/>
                  </a:rPr>
                  <a:t>$6\times6=36$</a:t>
                </a:r>
                <a:r>
                  <a:rPr sz="2400" b="0">
                    <a:solidFill>
                      <a:srgbClr val="111827"/>
                    </a:solidFill>
                    <a:latin typeface="Arial"/>
                  </a:rPr>
                  <a:t> equally likely face pairs, so the probability is </a:t>
                </a:r>
                <a:r>
                  <a:rPr lang="en-IN" sz="2400">
                    <a:solidFill>
                      <a:srgbClr val="111827"/>
                    </a:solidFill>
                    <a:latin typeface="Cambria Math" panose="02040503050406030204" pitchFamily="18" charset="0"/>
                  </a:rPr>
                  <a:t>$\frac12$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$\frac12$</a:t>
                </a:r>
                <a:endParaRPr sz="2800">
                  <a:solidFill>
                    <a:srgbClr val="15803D"/>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sums of independent discrete variables, multiply their generating polynomials;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𝑠</m:t>
                        </m:r>
                      </m:sup>
                    </m:sSup>
                  </m:oMath>
                </a14:m>
                <a:r>
                  <a:rPr sz="2400" b="0">
                    <a:solidFill>
                      <a:srgbClr val="111827"/>
                    </a:solidFill>
                    <a:latin typeface="Arial"/>
                  </a:rPr>
                  <a:t> counts (or weights) the ways to get sum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Unequal faces on the dice: treat the </a:t>
                </a:r>
                <a14:m>
                  <m:oMath xmlns:m="http://schemas.openxmlformats.org/officeDocument/2006/math">
                    <m:r>
                      <a:rPr lang="en-IN" sz="2400" i="1">
                        <a:solidFill>
                          <a:srgbClr val="111827"/>
                        </a:solidFill>
                        <a:latin typeface="Cambria Math" panose="02040503050406030204" pitchFamily="18" charset="0"/>
                      </a:rPr>
                      <m:t>36</m:t>
                    </m:r>
                  </m:oMath>
                </a14:m>
                <a:r>
                  <a:rPr sz="2400" b="0">
                    <a:solidFill>
                      <a:srgbClr val="111827"/>
                    </a:solidFill>
                    <a:latin typeface="Arial"/>
                  </a:rPr>
                  <a:t> ordered face pairs (die faces are distinguishable) as equally likely.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all coefficients of the product must add to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sums of independent discrete variables, multiply their generating polynomials; the coefficient of </a:t>
                </a:r>
                <a:r>
                  <a:rPr lang="en-IN" sz="2400">
                    <a:solidFill>
                      <a:srgbClr val="111827"/>
                    </a:solidFill>
                    <a:latin typeface="Cambria Math" panose="02040503050406030204" pitchFamily="18" charset="0"/>
                  </a:rPr>
                  <a:t>$x^s$</a:t>
                </a:r>
                <a:r>
                  <a:rPr sz="2400" b="0">
                    <a:solidFill>
                      <a:srgbClr val="111827"/>
                    </a:solidFill>
                    <a:latin typeface="Arial"/>
                  </a:rPr>
                  <a:t> counts (or weights) the ways to get sum </a:t>
                </a:r>
                <a:r>
                  <a:rPr lang="en-IN" sz="2400">
                    <a:solidFill>
                      <a:srgbClr val="111827"/>
                    </a:solidFill>
                    <a:latin typeface="Cambria Math" panose="02040503050406030204" pitchFamily="18" charset="0"/>
                  </a:rPr>
                  <a: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Unequal faces on the dice: treat the </a:t>
                </a:r>
                <a:r>
                  <a:rPr lang="en-IN" sz="2400">
                    <a:solidFill>
                      <a:srgbClr val="111827"/>
                    </a:solidFill>
                    <a:latin typeface="Cambria Math" panose="02040503050406030204" pitchFamily="18" charset="0"/>
                  </a:rPr>
                  <a:t>$36$</a:t>
                </a:r>
                <a:r>
                  <a:rPr sz="2400" b="0">
                    <a:solidFill>
                      <a:srgbClr val="111827"/>
                    </a:solidFill>
                    <a:latin typeface="Arial"/>
                  </a:rPr>
                  <a:t> ordered face pairs (die faces are distinguishable) as equally likely.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all coefficients of the product must add to </a:t>
                </a:r>
                <a:r>
                  <a:rPr lang="en-IN" sz="2400">
                    <a:solidFill>
                      <a:srgbClr val="111827"/>
                    </a:solidFill>
                    <a:latin typeface="Cambria Math" panose="02040503050406030204" pitchFamily="18" charset="0"/>
                  </a:rPr>
                  <a:t>$6\times6=36$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board has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squares arranged as a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grid. Out of these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squares, two squares are chosen at random. The probability that they have no side in common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30</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10</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board has </a:t>
                </a:r>
                <a:r>
                  <a:rPr lang="en-IN" sz="2400">
                    <a:solidFill>
                      <a:srgbClr val="111827"/>
                    </a:solidFill>
                    <a:latin typeface="Cambria Math" panose="02040503050406030204" pitchFamily="18" charset="0"/>
                  </a:rPr>
                  <a:t>$16$</a:t>
                </a:r>
                <a:r>
                  <a:rPr sz="2400" b="0">
                    <a:solidFill>
                      <a:srgbClr val="111827"/>
                    </a:solidFill>
                    <a:latin typeface="Arial"/>
                  </a:rPr>
                  <a:t> squares arranged as a </a:t>
                </a:r>
                <a:r>
                  <a:rPr lang="en-IN" sz="2400">
                    <a:solidFill>
                      <a:srgbClr val="111827"/>
                    </a:solidFill>
                    <a:latin typeface="Cambria Math" panose="02040503050406030204" pitchFamily="18" charset="0"/>
                  </a:rPr>
                  <a:t>$4\times4$</a:t>
                </a:r>
                <a:r>
                  <a:rPr sz="2400" b="0">
                    <a:solidFill>
                      <a:srgbClr val="111827"/>
                    </a:solidFill>
                    <a:latin typeface="Arial"/>
                  </a:rPr>
                  <a:t> grid. Out of these </a:t>
                </a:r>
                <a:r>
                  <a:rPr lang="en-IN" sz="2400">
                    <a:solidFill>
                      <a:srgbClr val="111827"/>
                    </a:solidFill>
                    <a:latin typeface="Cambria Math" panose="02040503050406030204" pitchFamily="18" charset="0"/>
                  </a:rPr>
                  <a:t>$16$</a:t>
                </a:r>
                <a:r>
                  <a:rPr sz="2400" b="0">
                    <a:solidFill>
                      <a:srgbClr val="111827"/>
                    </a:solidFill>
                    <a:latin typeface="Arial"/>
                  </a:rPr>
                  <a:t> squares, two squares are chosen at random. The probability that they have no side in common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$\frac45$</a:t>
                </a:r>
                <a:r>
                  <a:rPr sz="2400" b="0">
                    <a:solidFill>
                      <a:srgbClr val="111827"/>
                    </a:solidFill>
                    <a:latin typeface="Arial"/>
                  </a:rPr>
                  <a:t>   (B) </a:t>
                </a:r>
                <a:r>
                  <a:rPr lang="en-IN" sz="2400">
                    <a:solidFill>
                      <a:srgbClr val="111827"/>
                    </a:solidFill>
                    <a:latin typeface="Cambria Math" panose="02040503050406030204" pitchFamily="18" charset="0"/>
                  </a:rPr>
                  <a:t>$\frac35$</a:t>
                </a:r>
                <a:r>
                  <a:rPr sz="2400" b="0">
                    <a:solidFill>
                      <a:srgbClr val="111827"/>
                    </a:solidFill>
                    <a:latin typeface="Arial"/>
                  </a:rPr>
                  <a:t>   (C) </a:t>
                </a:r>
                <a:r>
                  <a:rPr lang="en-IN" sz="2400">
                    <a:solidFill>
                      <a:srgbClr val="111827"/>
                    </a:solidFill>
                    <a:latin typeface="Cambria Math" panose="02040503050406030204" pitchFamily="18" charset="0"/>
                  </a:rPr>
                  <a:t>$\frac{23}{30}$</a:t>
                </a:r>
                <a:r>
                  <a:rPr sz="2400" b="0">
                    <a:solidFill>
                      <a:srgbClr val="111827"/>
                    </a:solidFill>
                    <a:latin typeface="Arial"/>
                  </a:rPr>
                  <a:t>   (D) </a:t>
                </a:r>
                <a:r>
                  <a:rPr lang="en-IN" sz="2400">
                    <a:solidFill>
                      <a:srgbClr val="111827"/>
                    </a:solidFill>
                    <a:latin typeface="Cambria Math" panose="02040503050406030204" pitchFamily="18" charset="0"/>
                  </a:rPr>
                  <a:t>$\frac{7}{10}$</a:t>
                </a:r>
                <a:endParaRPr sz="2400">
                  <a:solidFill>
                    <a:srgbClr val="111827"/>
                  </a:solidFill>
                </a:endParaRPr>
              </a:p>
            </p:txBody>
          </p:sp>
        </mc:Fallback>
      </mc:AlternateContent>
      <p:sp>
        <p:nvSpPr>
          <p:cNvPr id="5" name="Rectangle 4"/>
          <p:cNvSpPr/>
          <p:nvPr/>
        </p:nvSpPr>
        <p:spPr>
          <a:xfrm>
            <a:off x="731520" y="41716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Classical probability (counting adjacent pairs on a grid)</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the complement: count the pairs sharing a side (adjacent cells) in the grid.</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ways to choose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squares: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that share a side: horizontal neighbours: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per row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oMath>
                </a14:m>
                <a:r>
                  <a:rPr sz="2400" b="0">
                    <a:solidFill>
                      <a:srgbClr val="111827"/>
                    </a:solidFill>
                    <a:latin typeface="Arial"/>
                  </a:rPr>
                  <a:t> rows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Vertical neighbours: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per column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oMath>
                </a14:m>
                <a:r>
                  <a:rPr sz="2400" b="0">
                    <a:solidFill>
                      <a:srgbClr val="111827"/>
                    </a:solidFill>
                    <a:latin typeface="Arial"/>
                  </a:rPr>
                  <a:t> columns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total sharing a side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ways to choose </a:t>
                </a:r>
                <a:r>
                  <a:rPr lang="en-IN" sz="2400">
                    <a:solidFill>
                      <a:srgbClr val="111827"/>
                    </a:solidFill>
                    <a:latin typeface="Cambria Math" panose="02040503050406030204" pitchFamily="18" charset="0"/>
                  </a:rPr>
                  <a:t>$2$</a:t>
                </a:r>
                <a:r>
                  <a:rPr sz="2400" b="0">
                    <a:solidFill>
                      <a:srgbClr val="111827"/>
                    </a:solidFill>
                    <a:latin typeface="Arial"/>
                  </a:rPr>
                  <a:t> squares: </a:t>
                </a:r>
                <a:r>
                  <a:rPr lang="en-IN" sz="2400">
                    <a:solidFill>
                      <a:srgbClr val="111827"/>
                    </a:solidFill>
                    <a:latin typeface="Cambria Math" panose="02040503050406030204" pitchFamily="18" charset="0"/>
                  </a:rPr>
                  <a:t>${}^{16}C_2=120$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that share a side: horizontal neighbours: </a:t>
                </a:r>
                <a:r>
                  <a:rPr lang="en-IN" sz="2400">
                    <a:solidFill>
                      <a:srgbClr val="111827"/>
                    </a:solidFill>
                    <a:latin typeface="Cambria Math" panose="02040503050406030204" pitchFamily="18" charset="0"/>
                  </a:rPr>
                  <a:t>$3$</a:t>
                </a:r>
                <a:r>
                  <a:rPr sz="2400" b="0">
                    <a:solidFill>
                      <a:srgbClr val="111827"/>
                    </a:solidFill>
                    <a:latin typeface="Arial"/>
                  </a:rPr>
                  <a:t> per row </a:t>
                </a:r>
                <a:r>
                  <a:rPr lang="en-IN" sz="2400">
                    <a:solidFill>
                      <a:srgbClr val="111827"/>
                    </a:solidFill>
                    <a:latin typeface="Cambria Math" panose="02040503050406030204" pitchFamily="18" charset="0"/>
                  </a:rPr>
                  <a:t>$\times\,4$</a:t>
                </a:r>
                <a:r>
                  <a:rPr sz="2400" b="0">
                    <a:solidFill>
                      <a:srgbClr val="111827"/>
                    </a:solidFill>
                    <a:latin typeface="Arial"/>
                  </a:rPr>
                  <a:t> rows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Vertical neighbours: </a:t>
                </a:r>
                <a:r>
                  <a:rPr lang="en-IN" sz="2400">
                    <a:solidFill>
                      <a:srgbClr val="111827"/>
                    </a:solidFill>
                    <a:latin typeface="Cambria Math" panose="02040503050406030204" pitchFamily="18" charset="0"/>
                  </a:rPr>
                  <a:t>$3$</a:t>
                </a:r>
                <a:r>
                  <a:rPr sz="2400" b="0">
                    <a:solidFill>
                      <a:srgbClr val="111827"/>
                    </a:solidFill>
                    <a:latin typeface="Arial"/>
                  </a:rPr>
                  <a:t> per column </a:t>
                </a:r>
                <a:r>
                  <a:rPr lang="en-IN" sz="2400">
                    <a:solidFill>
                      <a:srgbClr val="111827"/>
                    </a:solidFill>
                    <a:latin typeface="Cambria Math" panose="02040503050406030204" pitchFamily="18" charset="0"/>
                  </a:rPr>
                  <a:t>$\times\,4$</a:t>
                </a:r>
                <a:r>
                  <a:rPr sz="2400" b="0">
                    <a:solidFill>
                      <a:srgbClr val="111827"/>
                    </a:solidFill>
                    <a:latin typeface="Arial"/>
                  </a:rPr>
                  <a:t> columns </a:t>
                </a:r>
                <a:r>
                  <a:rPr lang="en-IN" sz="2400">
                    <a:solidFill>
                      <a:srgbClr val="111827"/>
                    </a:solidFill>
                    <a:latin typeface="Cambria Math" panose="02040503050406030204" pitchFamily="18" charset="0"/>
                  </a:rPr>
                  <a:t>$=12$</a:t>
                </a:r>
                <a:r>
                  <a:rPr sz="2400" b="0">
                    <a:solidFill>
                      <a:srgbClr val="111827"/>
                    </a:solidFill>
                    <a:latin typeface="Arial"/>
                  </a:rPr>
                  <a:t>; total sharing a side </a:t>
                </a:r>
                <a:r>
                  <a:rPr lang="en-IN" sz="2400">
                    <a:solidFill>
                      <a:srgbClr val="111827"/>
                    </a:solidFill>
                    <a:latin typeface="Cambria Math" panose="02040503050406030204" pitchFamily="18" charset="0"/>
                  </a:rPr>
                  <a:t>$=24$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Required probability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num>
                      <m:den>
                        <m:r>
                          <a:rPr lang="en-IN" sz="2400" i="1">
                            <a:solidFill>
                              <a:srgbClr val="111827"/>
                            </a:solidFill>
                            <a:latin typeface="Cambria Math" panose="02040503050406030204" pitchFamily="18" charset="0"/>
                          </a:rPr>
                          <m:t>120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Required probability </a:t>
                </a:r>
                <a:r>
                  <a:rPr lang="en-IN" sz="2400">
                    <a:solidFill>
                      <a:srgbClr val="111827"/>
                    </a:solidFill>
                    <a:latin typeface="Cambria Math" panose="02040503050406030204" pitchFamily="18" charset="0"/>
                  </a:rPr>
                  <a:t>$=1-\frac{24}{{}^{16}C_2}=1-\frac{24}{120}$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$=1-\frac15=\frac45$</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4</m:t>
                        </m:r>
                      </m:num>
                      <m:den>
                        <m:r>
                          <a:rPr lang="en-IN" sz="2800" i="1">
                            <a:solidFill>
                              <a:srgbClr val="15803D"/>
                            </a:solidFill>
                            <a:latin typeface="Cambria Math" panose="02040503050406030204" pitchFamily="18" charset="0"/>
                          </a:rPr>
                          <m:t>5</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$\frac45$</a:t>
                </a:r>
                <a:endParaRPr sz="2800">
                  <a:solidFill>
                    <a:srgbClr val="15803D"/>
                  </a:solidFill>
                </a:endParaRP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directly: for each square, the number of squares not sharing a side with it depends only on its position.</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Fix the first square; the second must be one of the other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squares that is not a side-neighbour.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Corner squares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of them) have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neighbours: </a:t>
                </a: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choices each.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Edge non-corner squares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have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neighbours: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choices; interior squares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have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neighbours: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choices.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Fix the first square; the second must be one of the other </a:t>
                </a:r>
                <a:r>
                  <a:rPr lang="en-IN" sz="2400">
                    <a:solidFill>
                      <a:srgbClr val="111827"/>
                    </a:solidFill>
                    <a:latin typeface="Cambria Math" panose="02040503050406030204" pitchFamily="18" charset="0"/>
                  </a:rPr>
                  <a:t>$15$</a:t>
                </a:r>
                <a:r>
                  <a:rPr sz="2400" b="0">
                    <a:solidFill>
                      <a:srgbClr val="111827"/>
                    </a:solidFill>
                    <a:latin typeface="Arial"/>
                  </a:rPr>
                  <a:t> squares that is not a side-neighbour.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Corner squares (</a:t>
                </a:r>
                <a:r>
                  <a:rPr lang="en-IN" sz="2400">
                    <a:solidFill>
                      <a:srgbClr val="111827"/>
                    </a:solidFill>
                    <a:latin typeface="Cambria Math" panose="02040503050406030204" pitchFamily="18" charset="0"/>
                  </a:rPr>
                  <a:t>$4$</a:t>
                </a:r>
                <a:r>
                  <a:rPr sz="2400" b="0">
                    <a:solidFill>
                      <a:srgbClr val="111827"/>
                    </a:solidFill>
                    <a:latin typeface="Arial"/>
                  </a:rPr>
                  <a:t> of them) have </a:t>
                </a:r>
                <a:r>
                  <a:rPr lang="en-IN" sz="2400">
                    <a:solidFill>
                      <a:srgbClr val="111827"/>
                    </a:solidFill>
                    <a:latin typeface="Cambria Math" panose="02040503050406030204" pitchFamily="18" charset="0"/>
                  </a:rPr>
                  <a:t>$2$</a:t>
                </a:r>
                <a:r>
                  <a:rPr sz="2400" b="0">
                    <a:solidFill>
                      <a:srgbClr val="111827"/>
                    </a:solidFill>
                    <a:latin typeface="Arial"/>
                  </a:rPr>
                  <a:t> neighbours: </a:t>
                </a:r>
                <a:r>
                  <a:rPr lang="en-IN" sz="2400">
                    <a:solidFill>
                      <a:srgbClr val="111827"/>
                    </a:solidFill>
                    <a:latin typeface="Cambria Math" panose="02040503050406030204" pitchFamily="18" charset="0"/>
                  </a:rPr>
                  <a:t>$15-2=13$</a:t>
                </a:r>
                <a:r>
                  <a:rPr sz="2400" b="0">
                    <a:solidFill>
                      <a:srgbClr val="111827"/>
                    </a:solidFill>
                    <a:latin typeface="Arial"/>
                  </a:rPr>
                  <a:t> choices each.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Edge non-corner squares (</a:t>
                </a:r>
                <a:r>
                  <a:rPr lang="en-IN" sz="2400">
                    <a:solidFill>
                      <a:srgbClr val="111827"/>
                    </a:solidFill>
                    <a:latin typeface="Cambria Math" panose="02040503050406030204" pitchFamily="18" charset="0"/>
                  </a:rPr>
                  <a:t>$8$</a:t>
                </a:r>
                <a:r>
                  <a:rPr sz="2400" b="0">
                    <a:solidFill>
                      <a:srgbClr val="111827"/>
                    </a:solidFill>
                    <a:latin typeface="Arial"/>
                  </a:rPr>
                  <a:t>) have </a:t>
                </a:r>
                <a:r>
                  <a:rPr lang="en-IN" sz="2400">
                    <a:solidFill>
                      <a:srgbClr val="111827"/>
                    </a:solidFill>
                    <a:latin typeface="Cambria Math" panose="02040503050406030204" pitchFamily="18" charset="0"/>
                  </a:rPr>
                  <a:t>$3$</a:t>
                </a:r>
                <a:r>
                  <a:rPr sz="2400" b="0">
                    <a:solidFill>
                      <a:srgbClr val="111827"/>
                    </a:solidFill>
                    <a:latin typeface="Arial"/>
                  </a:rPr>
                  <a:t> neighbours: </a:t>
                </a:r>
                <a:r>
                  <a:rPr lang="en-IN" sz="2400">
                    <a:solidFill>
                      <a:srgbClr val="111827"/>
                    </a:solidFill>
                    <a:latin typeface="Cambria Math" panose="02040503050406030204" pitchFamily="18" charset="0"/>
                  </a:rPr>
                  <a:t>$12$</a:t>
                </a:r>
                <a:r>
                  <a:rPr sz="2400" b="0">
                    <a:solidFill>
                      <a:srgbClr val="111827"/>
                    </a:solidFill>
                    <a:latin typeface="Arial"/>
                  </a:rPr>
                  <a:t> choices; interior squares (</a:t>
                </a:r>
                <a:r>
                  <a:rPr lang="en-IN" sz="2400">
                    <a:solidFill>
                      <a:srgbClr val="111827"/>
                    </a:solidFill>
                    <a:latin typeface="Cambria Math" panose="02040503050406030204" pitchFamily="18" charset="0"/>
                  </a:rPr>
                  <a:t>$4$</a:t>
                </a:r>
                <a:r>
                  <a:rPr sz="2400" b="0">
                    <a:solidFill>
                      <a:srgbClr val="111827"/>
                    </a:solidFill>
                    <a:latin typeface="Arial"/>
                  </a:rPr>
                  <a:t>) have </a:t>
                </a:r>
                <a:r>
                  <a:rPr lang="en-IN" sz="2400">
                    <a:solidFill>
                      <a:srgbClr val="111827"/>
                    </a:solidFill>
                    <a:latin typeface="Cambria Math" panose="02040503050406030204" pitchFamily="18" charset="0"/>
                  </a:rPr>
                  <a:t>$4$</a:t>
                </a:r>
                <a:r>
                  <a:rPr sz="2400" b="0">
                    <a:solidFill>
                      <a:srgbClr val="111827"/>
                    </a:solidFill>
                    <a:latin typeface="Arial"/>
                  </a:rPr>
                  <a:t> neighbours: </a:t>
                </a:r>
                <a:r>
                  <a:rPr lang="en-IN" sz="2400">
                    <a:solidFill>
                      <a:srgbClr val="111827"/>
                    </a:solidFill>
                    <a:latin typeface="Cambria Math" panose="02040503050406030204" pitchFamily="18" charset="0"/>
                  </a:rPr>
                  <a:t>$11$</a:t>
                </a:r>
                <a:r>
                  <a:rPr sz="2400" b="0">
                    <a:solidFill>
                      <a:srgbClr val="111827"/>
                    </a:solidFill>
                    <a:latin typeface="Arial"/>
                  </a:rPr>
                  <a:t> choices.</a:t>
                </a:r>
                <a:endParaRPr sz="2400">
                  <a:solidFill>
                    <a:srgbClr val="111827"/>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Ordered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192</m:t>
                    </m:r>
                  </m:oMath>
                </a14:m>
                <a:r>
                  <a:rPr sz="2400" b="0">
                    <a:solidFill>
                      <a:srgbClr val="111827"/>
                    </a:solidFill>
                    <a:latin typeface="Arial"/>
                  </a:rPr>
                  <a:t>, so unordered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96</m:t>
                        </m:r>
                      </m:num>
                      <m:den>
                        <m:r>
                          <a:rPr lang="en-IN" sz="2400" i="1">
                            <a:solidFill>
                              <a:srgbClr val="111827"/>
                            </a:solidFill>
                            <a:latin typeface="Cambria Math" panose="02040503050406030204" pitchFamily="18" charset="0"/>
                          </a:rPr>
                          <m:t>120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Ordered pairs </a:t>
                </a:r>
                <a:r>
                  <a:rPr lang="en-IN" sz="2400">
                    <a:solidFill>
                      <a:srgbClr val="111827"/>
                    </a:solidFill>
                    <a:latin typeface="Cambria Math" panose="02040503050406030204" pitchFamily="18" charset="0"/>
                  </a:rPr>
                  <a:t>$=4\cdot13+8\cdot12+4\cdot11=52+96+44=192$</a:t>
                </a:r>
                <a:r>
                  <a:rPr sz="2400" b="0">
                    <a:solidFill>
                      <a:srgbClr val="111827"/>
                    </a:solidFill>
                    <a:latin typeface="Arial"/>
                  </a:rPr>
                  <a:t>, so unordered pairs </a:t>
                </a:r>
                <a:r>
                  <a:rPr lang="en-IN" sz="2400">
                    <a:solidFill>
                      <a:srgbClr val="111827"/>
                    </a:solidFill>
                    <a:latin typeface="Cambria Math" panose="02040503050406030204" pitchFamily="18" charset="0"/>
                  </a:rPr>
                  <a:t>$=96$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r>
                  <a:rPr lang="en-IN" sz="2400">
                    <a:solidFill>
                      <a:srgbClr val="111827"/>
                    </a:solidFill>
                    <a:latin typeface="Cambria Math" panose="02040503050406030204" pitchFamily="18" charset="0"/>
                  </a:rPr>
                  <a:t>$=\frac{96}{120}=\frac45$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4</m:t>
                        </m:r>
                      </m:num>
                      <m:den>
                        <m:r>
                          <a:rPr lang="en-IN" sz="2800" i="1">
                            <a:solidFill>
                              <a:srgbClr val="15803D"/>
                            </a:solidFill>
                            <a:latin typeface="Cambria Math" panose="02040503050406030204" pitchFamily="18" charset="0"/>
                          </a:rPr>
                          <m:t>5</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$\frac45$</a:t>
                </a:r>
                <a:endParaRPr sz="2800">
                  <a:solidFill>
                    <a:srgbClr val="15803D"/>
                  </a:solidFill>
                </a:endParaRPr>
              </a:p>
            </p:txBody>
          </p:sp>
        </mc:Fallback>
      </mc:AlternateContent>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adjacent pairs in an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grid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it is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Degree-sum (handshake) check: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deg</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 side in common'' problems: complement first, since adjacent pairs are easier to count than non-adjacent ones.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adjacent pairs in an </a:t>
                </a:r>
                <a:r>
                  <a:rPr lang="en-IN" sz="2400">
                    <a:solidFill>
                      <a:srgbClr val="111827"/>
                    </a:solidFill>
                    <a:latin typeface="Cambria Math" panose="02040503050406030204" pitchFamily="18" charset="0"/>
                  </a:rPr>
                  <a:t>$m\times n$</a:t>
                </a:r>
                <a:r>
                  <a:rPr sz="2400" b="0">
                    <a:solidFill>
                      <a:srgbClr val="111827"/>
                    </a:solidFill>
                    <a:latin typeface="Arial"/>
                  </a:rPr>
                  <a:t> grid </a:t>
                </a:r>
                <a:r>
                  <a:rPr lang="en-IN" sz="2400">
                    <a:solidFill>
                      <a:srgbClr val="111827"/>
                    </a:solidFill>
                    <a:latin typeface="Cambria Math" panose="02040503050406030204" pitchFamily="18" charset="0"/>
                  </a:rPr>
                  <a:t>$=m(n-1)+n(m-1)$</a:t>
                </a:r>
                <a:r>
                  <a:rPr sz="2400" b="0">
                    <a:solidFill>
                      <a:srgbClr val="111827"/>
                    </a:solidFill>
                    <a:latin typeface="Arial"/>
                  </a:rPr>
                  <a:t>; for </a:t>
                </a:r>
                <a:r>
                  <a:rPr lang="en-IN" sz="2400">
                    <a:solidFill>
                      <a:srgbClr val="111827"/>
                    </a:solidFill>
                    <a:latin typeface="Cambria Math" panose="02040503050406030204" pitchFamily="18" charset="0"/>
                  </a:rPr>
                  <a:t>$4\times4$</a:t>
                </a:r>
                <a:r>
                  <a:rPr sz="2400" b="0">
                    <a:solidFill>
                      <a:srgbClr val="111827"/>
                    </a:solidFill>
                    <a:latin typeface="Arial"/>
                  </a:rPr>
                  <a:t> it is </a:t>
                </a:r>
                <a:r>
                  <a:rPr lang="en-IN" sz="2400">
                    <a:solidFill>
                      <a:srgbClr val="111827"/>
                    </a:solidFill>
                    <a:latin typeface="Cambria Math" panose="02040503050406030204" pitchFamily="18" charset="0"/>
                  </a:rPr>
                  <a:t>$24$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Degree-sum (handshake) check: </a:t>
                </a:r>
                <a:r>
                  <a:rPr lang="en-IN" sz="2400">
                    <a:solidFill>
                      <a:srgbClr val="111827"/>
                    </a:solidFill>
                    <a:latin typeface="Cambria Math" panose="02040503050406030204" pitchFamily="18" charset="0"/>
                  </a:rPr>
                  <a:t>$\sum\deg=2\times24=48=4\cdot2+8\cdot3+4\cdot4$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 side in common'' problems: complement first, since adjacent pairs are easier to count than non-adjacent ones.</a:t>
                </a:r>
                <a:endParaRPr sz="2400">
                  <a:solidFill>
                    <a:srgbClr val="111827"/>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alternately throw a pair of dice.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wins if he throws a sum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before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throws a sum of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wins if he throws a sum of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before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throws a sum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The probability that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wins if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makes the first throw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19</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19</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17</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17</m:t>
                        </m:r>
                      </m:den>
                    </m:f>
                  </m:oMath>
                </a14:m>
                <a:endParaRPr sz="2400">
                  <a:solidFill>
                    <a:srgbClr val="111827"/>
                  </a:solidFill>
                </a:endParaRPr>
              </a:p>
            </p:txBody>
          </p:sp>
        </mc:Choice>
        <mc:Fallback>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alternately throw a pair of dice. </a:t>
                </a:r>
                <a:r>
                  <a:rPr lang="en-IN" sz="2400">
                    <a:solidFill>
                      <a:srgbClr val="111827"/>
                    </a:solidFill>
                    <a:latin typeface="Cambria Math" panose="02040503050406030204" pitchFamily="18" charset="0"/>
                  </a:rPr>
                  <a:t>$A$</a:t>
                </a:r>
                <a:r>
                  <a:rPr sz="2400" b="0">
                    <a:solidFill>
                      <a:srgbClr val="111827"/>
                    </a:solidFill>
                    <a:latin typeface="Arial"/>
                  </a:rPr>
                  <a:t> wins if he throws a sum of </a:t>
                </a:r>
                <a:r>
                  <a:rPr lang="en-IN" sz="2400">
                    <a:solidFill>
                      <a:srgbClr val="111827"/>
                    </a:solidFill>
                    <a:latin typeface="Cambria Math" panose="02040503050406030204" pitchFamily="18" charset="0"/>
                  </a:rPr>
                  <a:t>$5$</a:t>
                </a:r>
                <a:r>
                  <a:rPr sz="2400" b="0">
                    <a:solidFill>
                      <a:srgbClr val="111827"/>
                    </a:solidFill>
                    <a:latin typeface="Arial"/>
                  </a:rPr>
                  <a:t> before </a:t>
                </a:r>
                <a:r>
                  <a:rPr lang="en-IN" sz="2400">
                    <a:solidFill>
                      <a:srgbClr val="111827"/>
                    </a:solidFill>
                    <a:latin typeface="Cambria Math" panose="02040503050406030204" pitchFamily="18" charset="0"/>
                  </a:rPr>
                  <a:t>$B$</a:t>
                </a:r>
                <a:r>
                  <a:rPr sz="2400" b="0">
                    <a:solidFill>
                      <a:srgbClr val="111827"/>
                    </a:solidFill>
                    <a:latin typeface="Arial"/>
                  </a:rPr>
                  <a:t> throws a sum of </a:t>
                </a:r>
                <a:r>
                  <a:rPr lang="en-IN" sz="2400">
                    <a:solidFill>
                      <a:srgbClr val="111827"/>
                    </a:solidFill>
                    <a:latin typeface="Cambria Math" panose="02040503050406030204" pitchFamily="18" charset="0"/>
                  </a:rPr>
                  <a:t>$8$</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wins if he throws a sum of </a:t>
                </a:r>
                <a:r>
                  <a:rPr lang="en-IN" sz="2400">
                    <a:solidFill>
                      <a:srgbClr val="111827"/>
                    </a:solidFill>
                    <a:latin typeface="Cambria Math" panose="02040503050406030204" pitchFamily="18" charset="0"/>
                  </a:rPr>
                  <a:t>$8$</a:t>
                </a:r>
                <a:r>
                  <a:rPr sz="2400" b="0">
                    <a:solidFill>
                      <a:srgbClr val="111827"/>
                    </a:solidFill>
                    <a:latin typeface="Arial"/>
                  </a:rPr>
                  <a:t> before </a:t>
                </a:r>
                <a:r>
                  <a:rPr lang="en-IN" sz="2400">
                    <a:solidFill>
                      <a:srgbClr val="111827"/>
                    </a:solidFill>
                    <a:latin typeface="Cambria Math" panose="02040503050406030204" pitchFamily="18" charset="0"/>
                  </a:rPr>
                  <a:t>$A$</a:t>
                </a:r>
                <a:r>
                  <a:rPr sz="2400" b="0">
                    <a:solidFill>
                      <a:srgbClr val="111827"/>
                    </a:solidFill>
                    <a:latin typeface="Arial"/>
                  </a:rPr>
                  <a:t> throws a sum of </a:t>
                </a:r>
                <a:r>
                  <a:rPr lang="en-IN" sz="2400">
                    <a:solidFill>
                      <a:srgbClr val="111827"/>
                    </a:solidFill>
                    <a:latin typeface="Cambria Math" panose="02040503050406030204" pitchFamily="18" charset="0"/>
                  </a:rPr>
                  <a:t>$5$</a:t>
                </a:r>
                <a:r>
                  <a:rPr sz="2400" b="0">
                    <a:solidFill>
                      <a:srgbClr val="111827"/>
                    </a:solidFill>
                    <a:latin typeface="Arial"/>
                  </a:rPr>
                  <a:t>. The probability that </a:t>
                </a:r>
                <a:r>
                  <a:rPr lang="en-IN" sz="2400">
                    <a:solidFill>
                      <a:srgbClr val="111827"/>
                    </a:solidFill>
                    <a:latin typeface="Cambria Math" panose="02040503050406030204" pitchFamily="18" charset="0"/>
                  </a:rPr>
                  <a:t>$A$</a:t>
                </a:r>
                <a:r>
                  <a:rPr sz="2400" b="0">
                    <a:solidFill>
                      <a:srgbClr val="111827"/>
                    </a:solidFill>
                    <a:latin typeface="Arial"/>
                  </a:rPr>
                  <a:t> wins if </a:t>
                </a:r>
                <a:r>
                  <a:rPr lang="en-IN" sz="2400">
                    <a:solidFill>
                      <a:srgbClr val="111827"/>
                    </a:solidFill>
                    <a:latin typeface="Cambria Math" panose="02040503050406030204" pitchFamily="18" charset="0"/>
                  </a:rPr>
                  <a:t>$A$</a:t>
                </a:r>
                <a:r>
                  <a:rPr sz="2400" b="0">
                    <a:solidFill>
                      <a:srgbClr val="111827"/>
                    </a:solidFill>
                    <a:latin typeface="Arial"/>
                  </a:rPr>
                  <a:t> makes the first throw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$\frac{9}{19}$</a:t>
                </a:r>
                <a:r>
                  <a:rPr sz="2400" b="0">
                    <a:solidFill>
                      <a:srgbClr val="111827"/>
                    </a:solidFill>
                    <a:latin typeface="Arial"/>
                  </a:rPr>
                  <a:t>   (B) </a:t>
                </a:r>
                <a:r>
                  <a:rPr lang="en-IN" sz="2400">
                    <a:solidFill>
                      <a:srgbClr val="111827"/>
                    </a:solidFill>
                    <a:latin typeface="Cambria Math" panose="02040503050406030204" pitchFamily="18" charset="0"/>
                  </a:rPr>
                  <a:t>$\frac{8}{19}$</a:t>
                </a:r>
                <a:r>
                  <a:rPr sz="2400" b="0">
                    <a:solidFill>
                      <a:srgbClr val="111827"/>
                    </a:solidFill>
                    <a:latin typeface="Arial"/>
                  </a:rPr>
                  <a:t>   (C) </a:t>
                </a:r>
                <a:r>
                  <a:rPr lang="en-IN" sz="2400">
                    <a:solidFill>
                      <a:srgbClr val="111827"/>
                    </a:solidFill>
                    <a:latin typeface="Cambria Math" panose="02040503050406030204" pitchFamily="18" charset="0"/>
                  </a:rPr>
                  <a:t>$\frac{8}{17}$</a:t>
                </a:r>
                <a:r>
                  <a:rPr sz="2400" b="0">
                    <a:solidFill>
                      <a:srgbClr val="111827"/>
                    </a:solidFill>
                    <a:latin typeface="Arial"/>
                  </a:rPr>
                  <a:t>   (D) </a:t>
                </a:r>
                <a:r>
                  <a:rPr lang="en-IN" sz="2400">
                    <a:solidFill>
                      <a:srgbClr val="111827"/>
                    </a:solidFill>
                    <a:latin typeface="Cambria Math" panose="02040503050406030204" pitchFamily="18" charset="0"/>
                  </a:rPr>
                  <a:t>$\frac{9}{17}$</a:t>
                </a:r>
                <a:endParaRPr sz="2400">
                  <a:solidFill>
                    <a:srgbClr val="111827"/>
                  </a:solidFill>
                </a:endParaRPr>
              </a:p>
            </p:txBody>
          </p:sp>
        </mc:Fallback>
      </mc:AlternateContent>
      <p:sp>
        <p:nvSpPr>
          <p:cNvPr id="5" name="Rectangle 4"/>
          <p:cNvSpPr/>
          <p:nvPr/>
        </p:nvSpPr>
        <p:spPr>
          <a:xfrm>
            <a:off x="731520" y="454355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Geometric-series probability (alternating trials)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wins on throw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sum an infinite G.P. with common ratio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a:t>
                </a:r>
                <a:r>
                  <a:rPr sz="2400" b="0">
                    <a:solidFill>
                      <a:srgbClr val="78350F"/>
                    </a:solidFill>
                    <a:latin typeface="Arial"/>
                  </a:rPr>
                  <a:t> wins on throw </a:t>
                </a:r>
                <a:r>
                  <a:rPr lang="en-IN" sz="2400">
                    <a:solidFill>
                      <a:srgbClr val="78350F"/>
                    </a:solidFill>
                    <a:latin typeface="Cambria Math" panose="02040503050406030204" pitchFamily="18" charset="0"/>
                  </a:rPr>
                  <a:t>$1,3,5,\dots$</a:t>
                </a:r>
                <a:r>
                  <a:rPr sz="2400" b="0">
                    <a:solidFill>
                      <a:srgbClr val="78350F"/>
                    </a:solidFill>
                    <a:latin typeface="Arial"/>
                  </a:rPr>
                  <a:t>: sum an infinite G.P. with common ratio </a:t>
                </a:r>
                <a:r>
                  <a:rPr lang="en-IN" sz="2400">
                    <a:solidFill>
                      <a:srgbClr val="78350F"/>
                    </a:solidFill>
                    <a:latin typeface="Cambria Math" panose="02040503050406030204" pitchFamily="18" charset="0"/>
                  </a:rPr>
                  <a:t>$(1-p)(1-q)$</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𝑠𝑢𝑚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36</m:t>
                        </m:r>
                      </m:den>
                    </m:f>
                  </m:oMath>
                </a14:m>
                <a:r>
                  <a:rPr sz="2400" b="0">
                    <a:solidFill>
                      <a:srgbClr val="111827"/>
                    </a:solidFill>
                    <a:latin typeface="Arial"/>
                  </a:rPr>
                  <a:t> (outcomes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𝑠𝑢𝑚 </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wins if he gets his sum on throw 1, or both miss and he gets it on his 2nd throw, and so 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nor/>
                      </m:rPr>
                      <a:rPr lang="en-IN" sz="2400" i="1">
                        <a:solidFill>
                          <a:srgbClr val="111827"/>
                        </a:solidFill>
                        <a:latin typeface="Cambria Math" panose="02040503050406030204" pitchFamily="18" charset="0"/>
                      </a:rPr>
                      <m:t> 𝑤𝑖𝑛𝑠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$P(\text{sum }5)=\frac{4}{36}$</a:t>
                </a:r>
                <a:r>
                  <a:rPr sz="2400" b="0">
                    <a:solidFill>
                      <a:srgbClr val="111827"/>
                    </a:solidFill>
                    <a:latin typeface="Arial"/>
                  </a:rPr>
                  <a:t> (outcomes </a:t>
                </a:r>
                <a:r>
                  <a:rPr lang="en-IN" sz="2400">
                    <a:solidFill>
                      <a:srgbClr val="111827"/>
                    </a:solidFill>
                    <a:latin typeface="Cambria Math" panose="02040503050406030204" pitchFamily="18" charset="0"/>
                  </a:rPr>
                  <a:t>$(1,4),(2,3),(3,2),(4,1)$</a:t>
                </a:r>
                <a:r>
                  <a:rPr sz="2400" b="0">
                    <a:solidFill>
                      <a:srgbClr val="111827"/>
                    </a:solidFill>
                    <a:latin typeface="Arial"/>
                  </a:rPr>
                  <a:t>) and </a:t>
                </a:r>
                <a:r>
                  <a:rPr lang="en-IN" sz="2400">
                    <a:solidFill>
                      <a:srgbClr val="111827"/>
                    </a:solidFill>
                    <a:latin typeface="Cambria Math" panose="02040503050406030204" pitchFamily="18" charset="0"/>
                  </a:rPr>
                  <a:t>$P(\text{sum }8)=\frac{5}{36}$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wins if he gets his sum on throw 1, or both miss and he gets it on his 2nd throw, and so 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$P(A\text{ wins})=P(A)+P(\bar A\bar BA)+P(\bar A\bar B\bar A\bar BA)+\dots$</a:t>
                </a:r>
                <a:endParaRPr sz="2400">
                  <a:solidFill>
                    <a:srgbClr val="111827"/>
                  </a:solidFill>
                </a:endParaRPr>
              </a:p>
            </p:txBody>
          </p:sp>
        </mc:Fallback>
      </mc:AlternateContent>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31</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 infinite G.P. with first term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36</m:t>
                        </m:r>
                      </m:den>
                    </m:f>
                  </m:oMath>
                </a14:m>
                <a:r>
                  <a:rPr sz="2400" b="0">
                    <a:solidFill>
                      <a:srgbClr val="111827"/>
                    </a:solidFill>
                    <a:latin typeface="Arial"/>
                  </a:rPr>
                  <a:t> and ratio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31</m:t>
                        </m:r>
                      </m:num>
                      <m:den>
                        <m:r>
                          <a:rPr lang="en-IN" sz="2400" i="1">
                            <a:solidFill>
                              <a:srgbClr val="111827"/>
                            </a:solidFill>
                            <a:latin typeface="Cambria Math" panose="02040503050406030204" pitchFamily="18" charset="0"/>
                          </a:rPr>
                          <m:t>36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36</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num>
                          <m:den>
                            <m:sSup>
                              <m:e>
                                <m:r>
                                  <a:rPr lang="en-IN" sz="2400" i="1">
                                    <a:solidFill>
                                      <a:srgbClr val="111827"/>
                                    </a:solidFill>
                                    <a:latin typeface="Cambria Math" panose="02040503050406030204" pitchFamily="18" charset="0"/>
                                  </a:rPr>
                                  <m:t>36</m:t>
                                </m:r>
                              </m:e>
                              <m:sup>
                                <m:r>
                                  <a:rPr lang="en-IN" sz="2400" i="1">
                                    <a:solidFill>
                                      <a:srgbClr val="111827"/>
                                    </a:solidFill>
                                    <a:latin typeface="Cambria Math" panose="02040503050406030204" pitchFamily="18" charset="0"/>
                                  </a:rPr>
                                  <m:t>2</m:t>
                                </m:r>
                              </m:sup>
                            </m:sSup>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36</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1296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144</m:t>
                        </m:r>
                      </m:num>
                      <m:den>
                        <m:r>
                          <a:rPr lang="en-IN" sz="2400" i="1">
                            <a:solidFill>
                              <a:srgbClr val="111827"/>
                            </a:solidFill>
                            <a:latin typeface="Cambria Math" panose="02040503050406030204" pitchFamily="18" charset="0"/>
                          </a:rPr>
                          <m:t>304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19</m:t>
                        </m:r>
                      </m:den>
                    </m:f>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$=\frac{4}{36}+\frac{32}{36}\cdot\frac{31}{36}\cdot\frac{4}{36}+\dots$</a:t>
                </a:r>
                <a:r>
                  <a:rPr sz="2400" b="0">
                    <a:solidFill>
                      <a:srgbClr val="111827"/>
                    </a:solidFill>
                    <a:latin typeface="Arial"/>
                  </a:rPr>
                  <a:t>, an infinite G.P. with first term </a:t>
                </a:r>
                <a:r>
                  <a:rPr lang="en-IN" sz="2400">
                    <a:solidFill>
                      <a:srgbClr val="111827"/>
                    </a:solidFill>
                    <a:latin typeface="Cambria Math" panose="02040503050406030204" pitchFamily="18" charset="0"/>
                  </a:rPr>
                  <a:t>$\frac{4}{36}$</a:t>
                </a:r>
                <a:r>
                  <a:rPr sz="2400" b="0">
                    <a:solidFill>
                      <a:srgbClr val="111827"/>
                    </a:solidFill>
                    <a:latin typeface="Arial"/>
                  </a:rPr>
                  <a:t> and ratio </a:t>
                </a:r>
                <a:r>
                  <a:rPr lang="en-IN" sz="2400">
                    <a:solidFill>
                      <a:srgbClr val="111827"/>
                    </a:solidFill>
                    <a:latin typeface="Cambria Math" panose="02040503050406030204" pitchFamily="18" charset="0"/>
                  </a:rPr>
                  <a:t>$\frac{32}{36}\cdot\frac{31}{36}$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$=\frac{\frac4{36}}{1-\frac{32\cdot31}{36^2}}=\frac{4}{36}\cdot\frac{36^2}{1296-992}$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$=\frac{144}{304}=\frac{9}{19}$</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9</m:t>
                        </m:r>
                      </m:num>
                      <m:den>
                        <m:r>
                          <a:rPr lang="en-IN" sz="2800" i="1">
                            <a:solidFill>
                              <a:srgbClr val="15803D"/>
                            </a:solidFill>
                            <a:latin typeface="Cambria Math" panose="02040503050406030204" pitchFamily="18" charset="0"/>
                          </a:rPr>
                          <m:t>19</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$\frac{9}{19}$</a:t>
                </a:r>
                <a:endParaRPr sz="2800">
                  <a:solidFill>
                    <a:srgbClr val="15803D"/>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round that ends the game restarts the game, so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nor/>
                      </m:rPr>
                      <a:rPr lang="en-IN" sz="2400" i="1">
                        <a:solidFill>
                          <a:srgbClr val="78350F"/>
                        </a:solidFill>
                        <a:latin typeface="Cambria Math" panose="02040503050406030204" pitchFamily="18" charset="0"/>
                      </a:rPr>
                      <m:t> 𝑤𝑖𝑛𝑠</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nor/>
                      </m:rPr>
                      <a:rPr lang="en-IN" sz="2400" i="1">
                        <a:solidFill>
                          <a:srgbClr val="78350F"/>
                        </a:solidFill>
                        <a:latin typeface="Cambria Math" panose="02040503050406030204" pitchFamily="18" charset="0"/>
                      </a:rPr>
                      <m:t> 𝑤𝑖𝑛𝑠</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the ratio of their ``first-success'' chances in one round.</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round that ends the game restarts the game, so </a:t>
                </a:r>
                <a:r>
                  <a:rPr lang="en-IN" sz="2400">
                    <a:solidFill>
                      <a:srgbClr val="78350F"/>
                    </a:solidFill>
                    <a:latin typeface="Cambria Math" panose="02040503050406030204" pitchFamily="18" charset="0"/>
                  </a:rPr>
                  <a:t>$P(A\text{ wins}):P(B\text{ wins})$</a:t>
                </a:r>
                <a:r>
                  <a:rPr sz="2400" b="0">
                    <a:solidFill>
                      <a:srgbClr val="78350F"/>
                    </a:solidFill>
                    <a:latin typeface="Arial"/>
                  </a:rPr>
                  <a:t> is the ratio of their ``first-success'' chances in one round.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any round,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wins with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36</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wins with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36</m:t>
                        </m:r>
                      </m:den>
                    </m:f>
                  </m:oMath>
                </a14:m>
                <a:r>
                  <a:rPr sz="2400" b="0">
                    <a:solidFill>
                      <a:srgbClr val="111827"/>
                    </a:solidFill>
                    <a:latin typeface="Arial"/>
                  </a:rPr>
                  <a:t>; otherwise the game restarts identically.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nor/>
                      </m:rPr>
                      <a:rPr lang="en-IN" sz="2400" i="1">
                        <a:solidFill>
                          <a:srgbClr val="111827"/>
                        </a:solidFill>
                        <a:latin typeface="Cambria Math" panose="02040503050406030204" pitchFamily="18" charset="0"/>
                      </a:rPr>
                      <m:t> 𝑤𝑖𝑛𝑠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nor/>
                      </m:rPr>
                      <a:rPr lang="en-IN" sz="2400" i="1">
                        <a:solidFill>
                          <a:srgbClr val="111827"/>
                        </a:solidFill>
                        <a:latin typeface="Cambria Math" panose="02040503050406030204" pitchFamily="18" charset="0"/>
                      </a:rPr>
                      <m:t> 𝑤𝑖𝑛𝑠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sSup>
                          <m:e>
                            <m:r>
                              <a:rPr lang="en-IN" sz="2400" i="1">
                                <a:solidFill>
                                  <a:srgbClr val="111827"/>
                                </a:solidFill>
                                <a:latin typeface="Cambria Math" panose="02040503050406030204" pitchFamily="18" charset="0"/>
                              </a:rPr>
                              <m:t>36</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any round, </a:t>
                </a:r>
                <a:r>
                  <a:rPr lang="en-IN" sz="2400">
                    <a:solidFill>
                      <a:srgbClr val="111827"/>
                    </a:solidFill>
                    <a:latin typeface="Cambria Math" panose="02040503050406030204" pitchFamily="18" charset="0"/>
                  </a:rPr>
                  <a:t>$A$</a:t>
                </a:r>
                <a:r>
                  <a:rPr sz="2400" b="0">
                    <a:solidFill>
                      <a:srgbClr val="111827"/>
                    </a:solidFill>
                    <a:latin typeface="Arial"/>
                  </a:rPr>
                  <a:t> wins with </a:t>
                </a:r>
                <a:r>
                  <a:rPr lang="en-IN" sz="2400">
                    <a:solidFill>
                      <a:srgbClr val="111827"/>
                    </a:solidFill>
                    <a:latin typeface="Cambria Math" panose="02040503050406030204" pitchFamily="18" charset="0"/>
                  </a:rPr>
                  <a:t>$\frac4{36}$</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wins with </a:t>
                </a:r>
                <a:r>
                  <a:rPr lang="en-IN" sz="2400">
                    <a:solidFill>
                      <a:srgbClr val="111827"/>
                    </a:solidFill>
                    <a:latin typeface="Cambria Math" panose="02040503050406030204" pitchFamily="18" charset="0"/>
                  </a:rPr>
                  <a:t>$\frac{32}{36}\cdot\frac{5}{36}$</a:t>
                </a:r>
                <a:r>
                  <a:rPr sz="2400" b="0">
                    <a:solidFill>
                      <a:srgbClr val="111827"/>
                    </a:solidFill>
                    <a:latin typeface="Arial"/>
                  </a:rPr>
                  <a:t>; otherwise the game restarts identically.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$P(A\text{ wins}):P(B\text{ wins})=\frac{4}{36}:\frac{32\cdot5}{36^2}=144:160=9:10$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game ends with probability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nor/>
                      </m:rPr>
                      <a:rPr lang="en-IN" sz="2400" i="1">
                        <a:solidFill>
                          <a:srgbClr val="111827"/>
                        </a:solidFill>
                        <a:latin typeface="Cambria Math" panose="02040503050406030204" pitchFamily="18" charset="0"/>
                      </a:rPr>
                      <m:t> 𝑤𝑖𝑛𝑠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19</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game ends with probability </a:t>
                </a:r>
                <a:r>
                  <a:rPr lang="en-IN" sz="2400">
                    <a:solidFill>
                      <a:srgbClr val="111827"/>
                    </a:solidFill>
                    <a:latin typeface="Cambria Math" panose="02040503050406030204" pitchFamily="18" charset="0"/>
                  </a:rPr>
                  <a:t>$1$</a:t>
                </a:r>
                <a:r>
                  <a:rPr sz="2400" b="0">
                    <a:solidFill>
                      <a:srgbClr val="111827"/>
                    </a:solidFill>
                    <a:latin typeface="Arial"/>
                  </a:rPr>
                  <a:t>, so </a:t>
                </a:r>
                <a:r>
                  <a:rPr lang="en-IN" sz="2400">
                    <a:solidFill>
                      <a:srgbClr val="111827"/>
                    </a:solidFill>
                    <a:latin typeface="Cambria Math" panose="02040503050406030204" pitchFamily="18" charset="0"/>
                  </a:rPr>
                  <a:t>$P(A\text{ wins})=\frac{9}{9+10}=\frac9{19}$</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9</m:t>
                        </m:r>
                      </m:num>
                      <m:den>
                        <m:r>
                          <a:rPr lang="en-IN" sz="2800" i="1">
                            <a:solidFill>
                              <a:srgbClr val="15803D"/>
                            </a:solidFill>
                            <a:latin typeface="Cambria Math" panose="02040503050406030204" pitchFamily="18" charset="0"/>
                          </a:rPr>
                          <m:t>19</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$\frac{9}{19}$</a:t>
                </a:r>
                <a:endParaRPr sz="2800">
                  <a:solidFill>
                    <a:srgbClr val="15803D"/>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throws first with success probabilities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nor/>
                      </m:rPr>
                      <a:rPr lang="en-IN" sz="2400" i="1">
                        <a:solidFill>
                          <a:srgbClr val="111827"/>
                        </a:solidFill>
                        <a:latin typeface="Cambria Math" panose="02040503050406030204" pitchFamily="18" charset="0"/>
                      </a:rPr>
                      <m:t> 𝑤𝑖𝑛𝑠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probabilities of two dice: sum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ways, sum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ways, out of </a:t>
                </a:r>
                <a14:m>
                  <m:oMath xmlns:m="http://schemas.openxmlformats.org/officeDocument/2006/math">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Restart argument: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the same result without a series.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a:t>
                </a:r>
                <a:r>
                  <a:rPr sz="2400" b="0">
                    <a:solidFill>
                      <a:srgbClr val="111827"/>
                    </a:solidFill>
                    <a:latin typeface="Arial"/>
                  </a:rPr>
                  <a:t> throws first with success probabilities </a:t>
                </a:r>
                <a:r>
                  <a:rPr lang="en-IN" sz="2400">
                    <a:solidFill>
                      <a:srgbClr val="111827"/>
                    </a:solidFill>
                    <a:latin typeface="Cambria Math" panose="02040503050406030204" pitchFamily="18" charset="0"/>
                  </a:rPr>
                  <a:t>$p$</a:t>
                </a:r>
                <a:r>
                  <a:rPr sz="2400" b="0">
                    <a:solidFill>
                      <a:srgbClr val="111827"/>
                    </a:solidFill>
                    <a:latin typeface="Arial"/>
                  </a:rPr>
                  <a:t> (for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$q$</a:t>
                </a:r>
                <a:r>
                  <a:rPr sz="2400" b="0">
                    <a:solidFill>
                      <a:srgbClr val="111827"/>
                    </a:solidFill>
                    <a:latin typeface="Arial"/>
                  </a:rPr>
                  <a:t> (for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$P(A\text{ wins})=\frac{p}{1-(1-p)(1-q)}=\frac{p}{p+q-pq}$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probabilities of two dice: sum </a:t>
                </a:r>
                <a:r>
                  <a:rPr lang="en-IN" sz="2400">
                    <a:solidFill>
                      <a:srgbClr val="111827"/>
                    </a:solidFill>
                    <a:latin typeface="Cambria Math" panose="02040503050406030204" pitchFamily="18" charset="0"/>
                  </a:rPr>
                  <a:t>$5$</a:t>
                </a:r>
                <a:r>
                  <a:rPr sz="2400" b="0">
                    <a:solidFill>
                      <a:srgbClr val="111827"/>
                    </a:solidFill>
                    <a:latin typeface="Arial"/>
                  </a:rPr>
                  <a:t> has </a:t>
                </a:r>
                <a:r>
                  <a:rPr lang="en-IN" sz="2400">
                    <a:solidFill>
                      <a:srgbClr val="111827"/>
                    </a:solidFill>
                    <a:latin typeface="Cambria Math" panose="02040503050406030204" pitchFamily="18" charset="0"/>
                  </a:rPr>
                  <a:t>$4$</a:t>
                </a:r>
                <a:r>
                  <a:rPr sz="2400" b="0">
                    <a:solidFill>
                      <a:srgbClr val="111827"/>
                    </a:solidFill>
                    <a:latin typeface="Arial"/>
                  </a:rPr>
                  <a:t> ways, sum </a:t>
                </a:r>
                <a:r>
                  <a:rPr lang="en-IN" sz="2400">
                    <a:solidFill>
                      <a:srgbClr val="111827"/>
                    </a:solidFill>
                    <a:latin typeface="Cambria Math" panose="02040503050406030204" pitchFamily="18" charset="0"/>
                  </a:rPr>
                  <a:t>$8$</a:t>
                </a:r>
                <a:r>
                  <a:rPr sz="2400" b="0">
                    <a:solidFill>
                      <a:srgbClr val="111827"/>
                    </a:solidFill>
                    <a:latin typeface="Arial"/>
                  </a:rPr>
                  <a:t> has </a:t>
                </a:r>
                <a:r>
                  <a:rPr lang="en-IN" sz="2400">
                    <a:solidFill>
                      <a:srgbClr val="111827"/>
                    </a:solidFill>
                    <a:latin typeface="Cambria Math" panose="02040503050406030204" pitchFamily="18" charset="0"/>
                  </a:rPr>
                  <a:t>$5$</a:t>
                </a:r>
                <a:r>
                  <a:rPr sz="2400" b="0">
                    <a:solidFill>
                      <a:srgbClr val="111827"/>
                    </a:solidFill>
                    <a:latin typeface="Arial"/>
                  </a:rPr>
                  <a:t> ways, out of </a:t>
                </a:r>
                <a:r>
                  <a:rPr lang="en-IN" sz="2400">
                    <a:solidFill>
                      <a:srgbClr val="111827"/>
                    </a:solidFill>
                    <a:latin typeface="Cambria Math" panose="02040503050406030204" pitchFamily="18" charset="0"/>
                  </a:rPr>
                  <a:t>$36$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Restart argument: </a:t>
                </a:r>
                <a:r>
                  <a:rPr lang="en-IN" sz="2400">
                    <a:solidFill>
                      <a:srgbClr val="111827"/>
                    </a:solidFill>
                    <a:latin typeface="Cambria Math" panose="02040503050406030204" pitchFamily="18" charset="0"/>
                  </a:rPr>
                  <a:t>$P(A)=p+(1-p)(1-q)P(A)$</a:t>
                </a:r>
                <a:r>
                  <a:rPr sz="2400" b="0">
                    <a:solidFill>
                      <a:srgbClr val="111827"/>
                    </a:solidFill>
                    <a:latin typeface="Arial"/>
                  </a:rPr>
                  <a:t> gives the same result without a series.</a:t>
                </a:r>
                <a:endParaRPr sz="2400">
                  <a:solidFill>
                    <a:srgbClr val="111827"/>
                  </a:solidFill>
                </a:endParaRP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square matrix of order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with entries either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be the event that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an invertible matrix. Then the probability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oMath>
                </a14:m>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$A=[a_{ij}]$</a:t>
                </a:r>
                <a:r>
                  <a:rPr sz="2400" b="0">
                    <a:solidFill>
                      <a:srgbClr val="111827"/>
                    </a:solidFill>
                    <a:latin typeface="Arial"/>
                  </a:rPr>
                  <a:t> be a square matrix of order </a:t>
                </a:r>
                <a:r>
                  <a:rPr lang="en-IN" sz="2400">
                    <a:solidFill>
                      <a:srgbClr val="111827"/>
                    </a:solidFill>
                    <a:latin typeface="Cambria Math" panose="02040503050406030204" pitchFamily="18" charset="0"/>
                  </a:rPr>
                  <a:t>$2$</a:t>
                </a:r>
                <a:r>
                  <a:rPr sz="2400" b="0">
                    <a:solidFill>
                      <a:srgbClr val="111827"/>
                    </a:solidFill>
                    <a:latin typeface="Arial"/>
                  </a:rPr>
                  <a:t> with entries either </a:t>
                </a:r>
                <a:r>
                  <a:rPr lang="en-IN" sz="2400">
                    <a:solidFill>
                      <a:srgbClr val="111827"/>
                    </a:solidFill>
                    <a:latin typeface="Cambria Math" panose="02040503050406030204" pitchFamily="18" charset="0"/>
                  </a:rPr>
                  <a:t>$0$</a:t>
                </a:r>
                <a:r>
                  <a:rPr sz="2400" b="0">
                    <a:solidFill>
                      <a:srgbClr val="111827"/>
                    </a:solidFill>
                    <a:latin typeface="Arial"/>
                  </a:rPr>
                  <a:t> or </a:t>
                </a:r>
                <a:r>
                  <a:rPr lang="en-IN" sz="2400">
                    <a:solidFill>
                      <a:srgbClr val="111827"/>
                    </a:solidFill>
                    <a:latin typeface="Cambria Math" panose="02040503050406030204" pitchFamily="18" charset="0"/>
                  </a:rPr>
                  <a:t>$1$</a:t>
                </a:r>
                <a:r>
                  <a:rPr sz="2400" b="0">
                    <a:solidFill>
                      <a:srgbClr val="111827"/>
                    </a:solidFill>
                    <a:latin typeface="Arial"/>
                  </a:rPr>
                  <a:t>. Let </a:t>
                </a:r>
                <a:r>
                  <a:rPr lang="en-IN" sz="2400">
                    <a:solidFill>
                      <a:srgbClr val="111827"/>
                    </a:solidFill>
                    <a:latin typeface="Cambria Math" panose="02040503050406030204" pitchFamily="18" charset="0"/>
                  </a:rPr>
                  <a:t>$E$</a:t>
                </a:r>
                <a:r>
                  <a:rPr sz="2400" b="0">
                    <a:solidFill>
                      <a:srgbClr val="111827"/>
                    </a:solidFill>
                    <a:latin typeface="Arial"/>
                  </a:rPr>
                  <a:t> be the event that </a:t>
                </a:r>
                <a:r>
                  <a:rPr lang="en-IN" sz="2400">
                    <a:solidFill>
                      <a:srgbClr val="111827"/>
                    </a:solidFill>
                    <a:latin typeface="Cambria Math" panose="02040503050406030204" pitchFamily="18" charset="0"/>
                  </a:rPr>
                  <a:t>$A$</a:t>
                </a:r>
                <a:r>
                  <a:rPr sz="2400" b="0">
                    <a:solidFill>
                      <a:srgbClr val="111827"/>
                    </a:solidFill>
                    <a:latin typeface="Arial"/>
                  </a:rPr>
                  <a:t> is an invertible matrix. Then the probability </a:t>
                </a:r>
                <a:r>
                  <a:rPr lang="en-IN" sz="2400">
                    <a:solidFill>
                      <a:srgbClr val="111827"/>
                    </a:solidFill>
                    <a:latin typeface="Cambria Math" panose="02040503050406030204" pitchFamily="18" charset="0"/>
                  </a:rPr>
                  <a:t>$P(E)$</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$\frac18$</a:t>
                </a:r>
                <a:r>
                  <a:rPr sz="2400" b="0">
                    <a:solidFill>
                      <a:srgbClr val="111827"/>
                    </a:solidFill>
                    <a:latin typeface="Arial"/>
                  </a:rPr>
                  <a:t>   (B) </a:t>
                </a:r>
                <a:r>
                  <a:rPr lang="en-IN" sz="2400">
                    <a:solidFill>
                      <a:srgbClr val="111827"/>
                    </a:solidFill>
                    <a:latin typeface="Cambria Math" panose="02040503050406030204" pitchFamily="18" charset="0"/>
                  </a:rPr>
                  <a:t>$\frac58$</a:t>
                </a:r>
                <a:r>
                  <a:rPr sz="2400" b="0">
                    <a:solidFill>
                      <a:srgbClr val="111827"/>
                    </a:solidFill>
                    <a:latin typeface="Arial"/>
                  </a:rPr>
                  <a:t>   (C) </a:t>
                </a:r>
                <a:r>
                  <a:rPr lang="en-IN" sz="2400">
                    <a:solidFill>
                      <a:srgbClr val="111827"/>
                    </a:solidFill>
                    <a:latin typeface="Cambria Math" panose="02040503050406030204" pitchFamily="18" charset="0"/>
                  </a:rPr>
                  <a:t>$\frac3{16}$</a:t>
                </a:r>
                <a:r>
                  <a:rPr sz="2400" b="0">
                    <a:solidFill>
                      <a:srgbClr val="111827"/>
                    </a:solidFill>
                    <a:latin typeface="Arial"/>
                  </a:rPr>
                  <a:t>   (D) </a:t>
                </a:r>
                <a:r>
                  <a:rPr lang="en-IN" sz="2400">
                    <a:solidFill>
                      <a:srgbClr val="111827"/>
                    </a:solidFill>
                    <a:latin typeface="Cambria Math" panose="02040503050406030204" pitchFamily="18" charset="0"/>
                  </a:rPr>
                  <a:t>$\frac38$</a:t>
                </a:r>
                <a:endParaRPr sz="2400">
                  <a:solidFill>
                    <a:srgbClr val="111827"/>
                  </a:solidFill>
                </a:endParaRPr>
              </a:p>
            </p:txBody>
          </p:sp>
        </mc:Fallback>
      </mc:AlternateContent>
      <p:sp>
        <p:nvSpPr>
          <p:cNvPr id="5" name="Rectangle 4"/>
          <p:cNvSpPr/>
          <p:nvPr/>
        </p:nvSpPr>
        <p:spPr>
          <a:xfrm>
            <a:off x="731520" y="369011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Probability: counting favourable outcomes with matrices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Invertible means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11</m:t>
                        </m:r>
                      </m:sub>
                    </m:sSub>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22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12</m:t>
                        </m:r>
                      </m:sub>
                    </m:sSub>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21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count the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matrices that satisfy it among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4</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Invertible means </a:t>
                </a:r>
                <a:r>
                  <a:rPr lang="en-IN" sz="2400">
                    <a:solidFill>
                      <a:srgbClr val="78350F"/>
                    </a:solidFill>
                    <a:latin typeface="Cambria Math" panose="02040503050406030204" pitchFamily="18" charset="0"/>
                  </a:rPr>
                  <a:t>$a_{11}a_{22}-a_{12}a_{21}\neq0$</a:t>
                </a:r>
                <a:r>
                  <a:rPr sz="2400" b="0">
                    <a:solidFill>
                      <a:srgbClr val="78350F"/>
                    </a:solidFill>
                    <a:latin typeface="Arial"/>
                  </a:rPr>
                  <a:t>; count the </a:t>
                </a:r>
                <a:r>
                  <a:rPr lang="en-IN" sz="2400">
                    <a:solidFill>
                      <a:srgbClr val="78350F"/>
                    </a:solidFill>
                    <a:latin typeface="Cambria Math" panose="02040503050406030204" pitchFamily="18" charset="0"/>
                  </a:rPr>
                  <a:t>$0$</a:t>
                </a:r>
                <a:r>
                  <a:rPr sz="2400" b="0">
                    <a:solidFill>
                      <a:srgbClr val="78350F"/>
                    </a:solidFill>
                    <a:latin typeface="Arial"/>
                  </a:rPr>
                  <a:t>-</a:t>
                </a:r>
                <a:r>
                  <a:rPr lang="en-IN" sz="2400">
                    <a:solidFill>
                      <a:srgbClr val="78350F"/>
                    </a:solidFill>
                    <a:latin typeface="Cambria Math" panose="02040503050406030204" pitchFamily="18" charset="0"/>
                  </a:rPr>
                  <a:t>$1$</a:t>
                </a:r>
                <a:r>
                  <a:rPr sz="2400" b="0">
                    <a:solidFill>
                      <a:srgbClr val="78350F"/>
                    </a:solidFill>
                    <a:latin typeface="Arial"/>
                  </a:rPr>
                  <a:t> matrices that satisfy it among </a:t>
                </a:r>
                <a:r>
                  <a:rPr lang="en-IN" sz="2400">
                    <a:solidFill>
                      <a:srgbClr val="78350F"/>
                    </a:solidFill>
                    <a:latin typeface="Cambria Math" panose="02040503050406030204" pitchFamily="18" charset="0"/>
                  </a:rPr>
                  <a:t>$2^4$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of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entries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so the total number of matrices is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invertible exactly when </a:t>
                </a:r>
                <a14:m>
                  <m:oMath xmlns:m="http://schemas.openxmlformats.org/officeDocument/2006/math">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11</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12</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of the </a:t>
                </a:r>
                <a:r>
                  <a:rPr lang="en-IN" sz="2400">
                    <a:solidFill>
                      <a:srgbClr val="111827"/>
                    </a:solidFill>
                    <a:latin typeface="Cambria Math" panose="02040503050406030204" pitchFamily="18" charset="0"/>
                  </a:rPr>
                  <a:t>$4$</a:t>
                </a:r>
                <a:r>
                  <a:rPr sz="2400" b="0">
                    <a:solidFill>
                      <a:srgbClr val="111827"/>
                    </a:solidFill>
                    <a:latin typeface="Arial"/>
                  </a:rPr>
                  <a:t> entries is </a:t>
                </a:r>
                <a:r>
                  <a:rPr lang="en-IN" sz="2400">
                    <a:solidFill>
                      <a:srgbClr val="111827"/>
                    </a:solidFill>
                    <a:latin typeface="Cambria Math" panose="02040503050406030204" pitchFamily="18" charset="0"/>
                  </a:rPr>
                  <a:t>$0$</a:t>
                </a:r>
                <a:r>
                  <a:rPr sz="2400" b="0">
                    <a:solidFill>
                      <a:srgbClr val="111827"/>
                    </a:solidFill>
                    <a:latin typeface="Arial"/>
                  </a:rPr>
                  <a:t> or </a:t>
                </a:r>
                <a:r>
                  <a:rPr lang="en-IN" sz="2400">
                    <a:solidFill>
                      <a:srgbClr val="111827"/>
                    </a:solidFill>
                    <a:latin typeface="Cambria Math" panose="02040503050406030204" pitchFamily="18" charset="0"/>
                  </a:rPr>
                  <a:t>$1$</a:t>
                </a:r>
                <a:r>
                  <a:rPr sz="2400" b="0">
                    <a:solidFill>
                      <a:srgbClr val="111827"/>
                    </a:solidFill>
                    <a:latin typeface="Arial"/>
                  </a:rPr>
                  <a:t>, so the total number of matrices is </a:t>
                </a:r>
                <a:r>
                  <a:rPr lang="en-IN" sz="2400">
                    <a:solidFill>
                      <a:srgbClr val="111827"/>
                    </a:solidFill>
                    <a:latin typeface="Cambria Math" panose="02040503050406030204" pitchFamily="18" charset="0"/>
                  </a:rPr>
                  <a:t>$2^4=16$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is invertible exactly when </a:t>
                </a:r>
                <a:r>
                  <a:rPr lang="en-IN" sz="2400">
                    <a:solidFill>
                      <a:srgbClr val="111827"/>
                    </a:solidFill>
                    <a:latin typeface="Cambria Math" panose="02040503050406030204" pitchFamily="18" charset="0"/>
                  </a:rPr>
                  <a:t>$\det A=a_{11}a_{22}-a_{12}a_{21}\neq0$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favourable matrices are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m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mr>
                        </m:m>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mr>
                        </m:m>
                      </m:e>
                    </m:d>
                  </m:oMath>
                </a14:m>
                <a:r>
                  <a:rPr sz="2400" b="0">
                    <a:solidFill>
                      <a:srgbClr val="111827"/>
                    </a:solidFill>
                    <a:latin typeface="Arial"/>
                  </a:rPr>
                  <a:t> (their determinants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 are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favourable matrices, 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favourable matrices are </a:t>
                </a:r>
                <a:r>
                  <a:rPr lang="en-IN" sz="2400">
                    <a:solidFill>
                      <a:srgbClr val="111827"/>
                    </a:solidFill>
                    <a:latin typeface="Cambria Math" panose="02040503050406030204" pitchFamily="18" charset="0"/>
                  </a:rPr>
                  <a:t>$\begin{pmatrix}1&amp;1\\0&amp;1\end{pmatrix},\begin{pmatrix}1&amp;0\\1&amp;1\end{pmatrix},\begin{pmatrix}1&amp;0\\0&amp;1\end{pmatrix},\begin{pmatrix}1&amp;1\\1&amp;0\end{pmatrix},\begin{pmatrix}0&amp;1\\1&amp;1\end{pmatrix},\begin{pmatrix}0&amp;1\\1&amp;0\end{pmatrix}$</a:t>
                </a:r>
                <a:r>
                  <a:rPr sz="2400" b="0">
                    <a:solidFill>
                      <a:srgbClr val="111827"/>
                    </a:solidFill>
                    <a:latin typeface="Arial"/>
                  </a:rPr>
                  <a:t> (their determinants are </a:t>
                </a:r>
                <a:r>
                  <a:rPr lang="en-IN" sz="2400">
                    <a:solidFill>
                      <a:srgbClr val="111827"/>
                    </a:solidFill>
                    <a:latin typeface="Cambria Math" panose="02040503050406030204" pitchFamily="18" charset="0"/>
                  </a:rPr>
                  <a:t>$\pm1$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 are </a:t>
                </a:r>
                <a:r>
                  <a:rPr lang="en-IN" sz="2400">
                    <a:solidFill>
                      <a:srgbClr val="111827"/>
                    </a:solidFill>
                    <a:latin typeface="Cambria Math" panose="02040503050406030204" pitchFamily="18" charset="0"/>
                  </a:rPr>
                  <a:t>$6$</a:t>
                </a:r>
                <a:r>
                  <a:rPr sz="2400" b="0">
                    <a:solidFill>
                      <a:srgbClr val="111827"/>
                    </a:solidFill>
                    <a:latin typeface="Arial"/>
                  </a:rPr>
                  <a:t> favourable matrices, so </a:t>
                </a:r>
                <a:r>
                  <a:rPr lang="en-IN" sz="2400">
                    <a:solidFill>
                      <a:srgbClr val="111827"/>
                    </a:solidFill>
                    <a:latin typeface="Cambria Math" panose="02040503050406030204" pitchFamily="18" charset="0"/>
                  </a:rPr>
                  <a:t>$P(E)=\frac{6}{16}=\frac38$</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8</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$\frac38$</a:t>
                </a:r>
                <a:endParaRPr sz="2800">
                  <a:solidFill>
                    <a:srgbClr val="15803D"/>
                  </a:solidFill>
                </a:endParaRPr>
              </a:p>
            </p:txBody>
          </p:sp>
        </mc:Fallback>
      </mc:AlternateContent>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m:rPr>
                        <m:sty m:val="p"/>
                      </m:rPr>
                      <a:rPr lang="en-IN" sz="2400">
                        <a:solidFill>
                          <a:srgbClr val="78350F"/>
                        </a:solidFill>
                        <a:latin typeface="Cambria Math" panose="02040503050406030204" pitchFamily="18" charset="0"/>
                      </a:rPr>
                      <m:t>det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iff exactly one of the products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11</m:t>
                        </m:r>
                      </m:sub>
                    </m:sSub>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22</m:t>
                        </m:r>
                      </m:sub>
                    </m:sSub>
                  </m:oMath>
                </a14:m>
                <a:r>
                  <a:rPr sz="2400" b="0">
                    <a:solidFill>
                      <a:srgbClr val="78350F"/>
                    </a:solidFill>
                    <a:latin typeface="Arial"/>
                  </a:rPr>
                  <a:t> and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12</m:t>
                        </m:r>
                      </m:sub>
                    </m:sSub>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21</m:t>
                        </m:r>
                      </m:sub>
                    </m:sSub>
                  </m:oMath>
                </a14:m>
                <a:r>
                  <a:rPr sz="2400" b="0">
                    <a:solidFill>
                      <a:srgbClr val="78350F"/>
                    </a:solidFill>
                    <a:latin typeface="Arial"/>
                  </a:rPr>
                  <a:t> equals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the two products are independent.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$\det\neq0$</a:t>
                </a:r>
                <a:r>
                  <a:rPr sz="2400" b="0">
                    <a:solidFill>
                      <a:srgbClr val="78350F"/>
                    </a:solidFill>
                    <a:latin typeface="Arial"/>
                  </a:rPr>
                  <a:t> iff exactly one of the products </a:t>
                </a:r>
                <a:r>
                  <a:rPr lang="en-IN" sz="2400">
                    <a:solidFill>
                      <a:srgbClr val="78350F"/>
                    </a:solidFill>
                    <a:latin typeface="Cambria Math" panose="02040503050406030204" pitchFamily="18" charset="0"/>
                  </a:rPr>
                  <a:t>$a_{11}a_{22}$</a:t>
                </a:r>
                <a:r>
                  <a:rPr sz="2400" b="0">
                    <a:solidFill>
                      <a:srgbClr val="78350F"/>
                    </a:solidFill>
                    <a:latin typeface="Arial"/>
                  </a:rPr>
                  <a:t> and </a:t>
                </a:r>
                <a:r>
                  <a:rPr lang="en-IN" sz="2400">
                    <a:solidFill>
                      <a:srgbClr val="78350F"/>
                    </a:solidFill>
                    <a:latin typeface="Cambria Math" panose="02040503050406030204" pitchFamily="18" charset="0"/>
                  </a:rPr>
                  <a:t>$a_{12}a_{21}$</a:t>
                </a:r>
                <a:r>
                  <a:rPr sz="2400" b="0">
                    <a:solidFill>
                      <a:srgbClr val="78350F"/>
                    </a:solidFill>
                    <a:latin typeface="Arial"/>
                  </a:rPr>
                  <a:t> equals </a:t>
                </a:r>
                <a:r>
                  <a:rPr lang="en-IN" sz="2400">
                    <a:solidFill>
                      <a:srgbClr val="78350F"/>
                    </a:solidFill>
                    <a:latin typeface="Cambria Math" panose="02040503050406030204" pitchFamily="18" charset="0"/>
                  </a:rPr>
                  <a:t>$1$</a:t>
                </a:r>
                <a:r>
                  <a:rPr sz="2400" b="0">
                    <a:solidFill>
                      <a:srgbClr val="78350F"/>
                    </a:solidFill>
                    <a:latin typeface="Arial"/>
                  </a:rPr>
                  <a:t>; the two products are independent.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product of two independent fair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entries equals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with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products use disjoint entries, so they are independent.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two products differ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exactly one equals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product of two independent fair </a:t>
                </a:r>
                <a:r>
                  <a:rPr lang="en-IN" sz="2400">
                    <a:solidFill>
                      <a:srgbClr val="111827"/>
                    </a:solidFill>
                    <a:latin typeface="Cambria Math" panose="02040503050406030204" pitchFamily="18" charset="0"/>
                  </a:rPr>
                  <a:t>$0/1$</a:t>
                </a:r>
                <a:r>
                  <a:rPr sz="2400" b="0">
                    <a:solidFill>
                      <a:srgbClr val="111827"/>
                    </a:solidFill>
                    <a:latin typeface="Arial"/>
                  </a:rPr>
                  <a:t> entries equals </a:t>
                </a:r>
                <a:r>
                  <a:rPr lang="en-IN" sz="2400">
                    <a:solidFill>
                      <a:srgbClr val="111827"/>
                    </a:solidFill>
                    <a:latin typeface="Cambria Math" panose="02040503050406030204" pitchFamily="18" charset="0"/>
                  </a:rPr>
                  <a:t>$1$</a:t>
                </a:r>
                <a:r>
                  <a:rPr sz="2400" b="0">
                    <a:solidFill>
                      <a:srgbClr val="111827"/>
                    </a:solidFill>
                    <a:latin typeface="Arial"/>
                  </a:rPr>
                  <a:t> with probability </a:t>
                </a:r>
                <a:r>
                  <a:rPr lang="en-IN" sz="2400">
                    <a:solidFill>
                      <a:srgbClr val="111827"/>
                    </a:solidFill>
                    <a:latin typeface="Cambria Math" panose="02040503050406030204" pitchFamily="18" charset="0"/>
                  </a:rPr>
                  <a:t>$\frac14$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products use disjoint entries, so they are independent.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$\det\neq0\iff$</a:t>
                </a:r>
                <a:r>
                  <a:rPr sz="2400" b="0">
                    <a:solidFill>
                      <a:srgbClr val="111827"/>
                    </a:solidFill>
                    <a:latin typeface="Arial"/>
                  </a:rPr>
                  <a:t> the two products differ </a:t>
                </a:r>
                <a:r>
                  <a:rPr lang="en-IN" sz="2400">
                    <a:solidFill>
                      <a:srgbClr val="111827"/>
                    </a:solidFill>
                    <a:latin typeface="Cambria Math" panose="02040503050406030204" pitchFamily="18" charset="0"/>
                  </a:rPr>
                  <a:t>$\iff$</a:t>
                </a:r>
                <a:r>
                  <a:rPr sz="2400" b="0">
                    <a:solidFill>
                      <a:srgbClr val="111827"/>
                    </a:solidFill>
                    <a:latin typeface="Arial"/>
                  </a:rPr>
                  <a:t> exactly one equals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$P=2\cdot\frac14\cdot\frac34=\frac{6}{16}=\frac38$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8</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$\frac38$</a:t>
                </a:r>
                <a:endParaRPr sz="2800">
                  <a:solidFill>
                    <a:srgbClr val="15803D"/>
                  </a:solidFill>
                </a:endParaRPr>
              </a:p>
            </p:txBody>
          </p:sp>
        </mc:Fallback>
      </mc:AlternateContent>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matrices with entries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in all,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invertible,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singular (determinant values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counts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entries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(both products are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same count over </a:t>
                </a:r>
                <a14:m>
                  <m:oMath xmlns:m="http://schemas.openxmlformats.org/officeDocument/2006/math">
                    <m:sSub>
                      <m:e>
                        <m:r>
                          <m:rPr>
                            <m:scr m:val="double-struck"/>
                            <m:sty m:val="p"/>
                          </m:rPr>
                          <a:rPr lang="en-IN" sz="2400">
                            <a:solidFill>
                              <a:srgbClr val="111827"/>
                            </a:solidFill>
                            <a:latin typeface="Cambria Math" panose="02040503050406030204" pitchFamily="18" charset="0"/>
                          </a:rPr>
                          <m:t>F</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m:rPr>
                            <m:scr m:val="double-struck"/>
                            <m:sty m:val="p"/>
                          </m:rPr>
                          <a:rPr lang="en-IN" sz="2400">
                            <a:solidFill>
                              <a:srgbClr val="111827"/>
                            </a:solidFill>
                            <a:latin typeface="Cambria Math" panose="02040503050406030204" pitchFamily="18" charset="0"/>
                          </a:rPr>
                          <m:t>F</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$2\times2$</a:t>
                </a:r>
                <a:r>
                  <a:rPr sz="2400" b="0">
                    <a:solidFill>
                      <a:srgbClr val="111827"/>
                    </a:solidFill>
                    <a:latin typeface="Arial"/>
                  </a:rPr>
                  <a:t> matrices with entries in </a:t>
                </a:r>
                <a:r>
                  <a:rPr lang="en-IN" sz="2400">
                    <a:solidFill>
                      <a:srgbClr val="111827"/>
                    </a:solidFill>
                    <a:latin typeface="Cambria Math" panose="02040503050406030204" pitchFamily="18" charset="0"/>
                  </a:rPr>
                  <a:t>$\{0,1\}$</a:t>
                </a:r>
                <a:r>
                  <a:rPr sz="2400" b="0">
                    <a:solidFill>
                      <a:srgbClr val="111827"/>
                    </a:solidFill>
                    <a:latin typeface="Arial"/>
                  </a:rPr>
                  <a:t>: </a:t>
                </a:r>
                <a:r>
                  <a:rPr lang="en-IN" sz="2400">
                    <a:solidFill>
                      <a:srgbClr val="111827"/>
                    </a:solidFill>
                    <a:latin typeface="Cambria Math" panose="02040503050406030204" pitchFamily="18" charset="0"/>
                  </a:rPr>
                  <a:t>$16$</a:t>
                </a:r>
                <a:r>
                  <a:rPr sz="2400" b="0">
                    <a:solidFill>
                      <a:srgbClr val="111827"/>
                    </a:solidFill>
                    <a:latin typeface="Arial"/>
                  </a:rPr>
                  <a:t> in all, </a:t>
                </a:r>
                <a:r>
                  <a:rPr lang="en-IN" sz="2400">
                    <a:solidFill>
                      <a:srgbClr val="111827"/>
                    </a:solidFill>
                    <a:latin typeface="Cambria Math" panose="02040503050406030204" pitchFamily="18" charset="0"/>
                  </a:rPr>
                  <a:t>$6$</a:t>
                </a:r>
                <a:r>
                  <a:rPr sz="2400" b="0">
                    <a:solidFill>
                      <a:srgbClr val="111827"/>
                    </a:solidFill>
                    <a:latin typeface="Arial"/>
                  </a:rPr>
                  <a:t> invertible, </a:t>
                </a:r>
                <a:r>
                  <a:rPr lang="en-IN" sz="2400">
                    <a:solidFill>
                      <a:srgbClr val="111827"/>
                    </a:solidFill>
                    <a:latin typeface="Cambria Math" panose="02040503050406030204" pitchFamily="18" charset="0"/>
                  </a:rPr>
                  <a:t>$10$</a:t>
                </a:r>
                <a:r>
                  <a:rPr sz="2400" b="0">
                    <a:solidFill>
                      <a:srgbClr val="111827"/>
                    </a:solidFill>
                    <a:latin typeface="Arial"/>
                  </a:rPr>
                  <a:t> singular (determinant values </a:t>
                </a:r>
                <a:r>
                  <a:rPr lang="en-IN" sz="2400">
                    <a:solidFill>
                      <a:srgbClr val="111827"/>
                    </a:solidFill>
                    <a:latin typeface="Cambria Math" panose="02040503050406030204" pitchFamily="18" charset="0"/>
                  </a:rPr>
                  <a:t>$-1,0,1$</a:t>
                </a:r>
                <a:r>
                  <a:rPr sz="2400" b="0">
                    <a:solidFill>
                      <a:srgbClr val="111827"/>
                    </a:solidFill>
                    <a:latin typeface="Arial"/>
                  </a:rPr>
                  <a:t> with counts </a:t>
                </a:r>
                <a:r>
                  <a:rPr lang="en-IN" sz="2400">
                    <a:solidFill>
                      <a:srgbClr val="111827"/>
                    </a:solidFill>
                    <a:latin typeface="Cambria Math" panose="02040503050406030204" pitchFamily="18" charset="0"/>
                  </a:rPr>
                  <a:t>$3,10,3$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entries in </a:t>
                </a:r>
                <a:r>
                  <a:rPr lang="en-IN" sz="2400">
                    <a:solidFill>
                      <a:srgbClr val="111827"/>
                    </a:solidFill>
                    <a:latin typeface="Cambria Math" panose="02040503050406030204" pitchFamily="18" charset="0"/>
                  </a:rPr>
                  <a:t>$\{0,1\}$</a:t>
                </a:r>
                <a:r>
                  <a:rPr sz="2400" b="0">
                    <a:solidFill>
                      <a:srgbClr val="111827"/>
                    </a:solidFill>
                    <a:latin typeface="Arial"/>
                  </a:rPr>
                  <a:t>, </a:t>
                </a:r>
                <a:r>
                  <a:rPr lang="en-IN" sz="2400">
                    <a:solidFill>
                      <a:srgbClr val="111827"/>
                    </a:solidFill>
                    <a:latin typeface="Cambria Math" panose="02040503050406030204" pitchFamily="18" charset="0"/>
                  </a:rPr>
                  <a:t>$\det=ad-bc\neq0\iff ad\neq bc$</a:t>
                </a:r>
                <a:r>
                  <a:rPr sz="2400" b="0">
                    <a:solidFill>
                      <a:srgbClr val="111827"/>
                    </a:solidFill>
                    <a:latin typeface="Arial"/>
                  </a:rPr>
                  <a:t> (both products are </a:t>
                </a:r>
                <a:r>
                  <a:rPr lang="en-IN" sz="2400">
                    <a:solidFill>
                      <a:srgbClr val="111827"/>
                    </a:solidFill>
                    <a:latin typeface="Cambria Math" panose="02040503050406030204" pitchFamily="18" charset="0"/>
                  </a:rPr>
                  <a:t>$0$</a:t>
                </a:r>
                <a:r>
                  <a:rPr sz="2400" b="0">
                    <a:solidFill>
                      <a:srgbClr val="111827"/>
                    </a:solidFill>
                    <a:latin typeface="Arial"/>
                  </a:rPr>
                  <a:t> or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same count over </a:t>
                </a:r>
                <a:r>
                  <a:rPr lang="en-IN" sz="2400">
                    <a:solidFill>
                      <a:srgbClr val="111827"/>
                    </a:solidFill>
                    <a:latin typeface="Cambria Math" panose="02040503050406030204" pitchFamily="18" charset="0"/>
                  </a:rPr>
                  <a:t>$\mathbb{F}_2$</a:t>
                </a:r>
                <a:r>
                  <a:rPr sz="2400" b="0">
                    <a:solidFill>
                      <a:srgbClr val="111827"/>
                    </a:solidFill>
                    <a:latin typeface="Arial"/>
                  </a:rPr>
                  <a:t> gives </a:t>
                </a:r>
                <a:r>
                  <a:rPr lang="en-IN" sz="2400">
                    <a:solidFill>
                      <a:srgbClr val="111827"/>
                    </a:solidFill>
                    <a:latin typeface="Cambria Math" panose="02040503050406030204" pitchFamily="18" charset="0"/>
                  </a:rPr>
                  <a:t>$|GL_2(\mathbb{F}_2)|=(4-1)(4-2)=6$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numbers </a:t>
                </a:r>
                <a14:m>
                  <m:oMath xmlns:m="http://schemas.openxmlformats.org/officeDocument/2006/math">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randomly chosen from the set of natural numbers. Then the probability that the value of </a:t>
                </a:r>
                <a14:m>
                  <m:oMath xmlns:m="http://schemas.openxmlformats.org/officeDocument/2006/math">
                    <m:sSup>
                      <m:e>
                        <m:r>
                          <a:rPr lang="en-IN" sz="2400" i="1">
                            <a:solidFill>
                              <a:srgbClr val="111827"/>
                            </a:solidFill>
                            <a:latin typeface="Cambria Math" panose="02040503050406030204" pitchFamily="18" charset="0"/>
                          </a:rPr>
                          <m:t>𝑖</m:t>
                        </m:r>
                      </m:e>
                      <m:sup>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𝑖</m:t>
                        </m:r>
                      </m:e>
                      <m:sup>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sup>
                    </m:sSup>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e>
                    </m:d>
                  </m:oMath>
                </a14:m>
                <a:r>
                  <a:rPr sz="2400" b="0">
                    <a:solidFill>
                      <a:srgbClr val="111827"/>
                    </a:solidFill>
                    <a:latin typeface="Arial"/>
                  </a:rPr>
                  <a:t>, is non-zero equals: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numbers </a:t>
                </a:r>
                <a:r>
                  <a:rPr lang="en-IN" sz="2400">
                    <a:solidFill>
                      <a:srgbClr val="111827"/>
                    </a:solidFill>
                    <a:latin typeface="Cambria Math" panose="02040503050406030204" pitchFamily="18" charset="0"/>
                  </a:rPr>
                  <a:t>$k_1$</a:t>
                </a:r>
                <a:r>
                  <a:rPr sz="2400" b="0">
                    <a:solidFill>
                      <a:srgbClr val="111827"/>
                    </a:solidFill>
                    <a:latin typeface="Arial"/>
                  </a:rPr>
                  <a:t> and </a:t>
                </a:r>
                <a:r>
                  <a:rPr lang="en-IN" sz="2400">
                    <a:solidFill>
                      <a:srgbClr val="111827"/>
                    </a:solidFill>
                    <a:latin typeface="Cambria Math" panose="02040503050406030204" pitchFamily="18" charset="0"/>
                  </a:rPr>
                  <a:t>$k_2$</a:t>
                </a:r>
                <a:r>
                  <a:rPr sz="2400" b="0">
                    <a:solidFill>
                      <a:srgbClr val="111827"/>
                    </a:solidFill>
                    <a:latin typeface="Arial"/>
                  </a:rPr>
                  <a:t> are randomly chosen from the set of natural numbers. Then the probability that the value of </a:t>
                </a:r>
                <a:r>
                  <a:rPr lang="en-IN" sz="2400">
                    <a:solidFill>
                      <a:srgbClr val="111827"/>
                    </a:solidFill>
                    <a:latin typeface="Cambria Math" panose="02040503050406030204" pitchFamily="18" charset="0"/>
                  </a:rPr>
                  <a:t>$i^{k_1}+i^{k_2}$</a:t>
                </a:r>
                <a:r>
                  <a:rPr sz="2400" b="0">
                    <a:solidFill>
                      <a:srgbClr val="111827"/>
                    </a:solidFill>
                    <a:latin typeface="Arial"/>
                  </a:rPr>
                  <a:t>, </a:t>
                </a:r>
                <a:r>
                  <a:rPr lang="en-IN" sz="2400">
                    <a:solidFill>
                      <a:srgbClr val="111827"/>
                    </a:solidFill>
                    <a:latin typeface="Cambria Math" panose="02040503050406030204" pitchFamily="18" charset="0"/>
                  </a:rPr>
                  <a:t>$\left(i=\sqrt{-1}\right)$</a:t>
                </a:r>
                <a:r>
                  <a:rPr sz="2400" b="0">
                    <a:solidFill>
                      <a:srgbClr val="111827"/>
                    </a:solidFill>
                    <a:latin typeface="Arial"/>
                  </a:rPr>
                  <a:t>, is non-zero equals: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$\frac12$</a:t>
                </a:r>
                <a:r>
                  <a:rPr sz="2400" b="0">
                    <a:solidFill>
                      <a:srgbClr val="111827"/>
                    </a:solidFill>
                    <a:latin typeface="Arial"/>
                  </a:rPr>
                  <a:t>   (B) </a:t>
                </a:r>
                <a:r>
                  <a:rPr lang="en-IN" sz="2400">
                    <a:solidFill>
                      <a:srgbClr val="111827"/>
                    </a:solidFill>
                    <a:latin typeface="Cambria Math" panose="02040503050406030204" pitchFamily="18" charset="0"/>
                  </a:rPr>
                  <a:t>$\frac34$</a:t>
                </a:r>
                <a:r>
                  <a:rPr sz="2400" b="0">
                    <a:solidFill>
                      <a:srgbClr val="111827"/>
                    </a:solidFill>
                    <a:latin typeface="Arial"/>
                  </a:rPr>
                  <a:t>   (C) </a:t>
                </a:r>
                <a:r>
                  <a:rPr lang="en-IN" sz="2400">
                    <a:solidFill>
                      <a:srgbClr val="111827"/>
                    </a:solidFill>
                    <a:latin typeface="Cambria Math" panose="02040503050406030204" pitchFamily="18" charset="0"/>
                  </a:rPr>
                  <a:t>$\frac23$</a:t>
                </a:r>
                <a:r>
                  <a:rPr sz="2400" b="0">
                    <a:solidFill>
                      <a:srgbClr val="111827"/>
                    </a:solidFill>
                    <a:latin typeface="Arial"/>
                  </a:rPr>
                  <a:t>   (D) </a:t>
                </a:r>
                <a:r>
                  <a:rPr lang="en-IN" sz="2400">
                    <a:solidFill>
                      <a:srgbClr val="111827"/>
                    </a:solidFill>
                    <a:latin typeface="Cambria Math" panose="02040503050406030204" pitchFamily="18" charset="0"/>
                  </a:rPr>
                  <a:t>$\frac14$</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69011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Complex numbers: powers of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Classical probability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69011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Complex numbers: powers of </a:t>
                </a:r>
                <a:r>
                  <a:rPr lang="en-IN" sz="2400">
                    <a:solidFill>
                      <a:srgbClr val="111827"/>
                    </a:solidFill>
                    <a:latin typeface="Cambria Math" panose="02040503050406030204" pitchFamily="18" charset="0"/>
                  </a:rPr>
                  <a:t>$i$</a:t>
                </a:r>
                <a:r>
                  <a:rPr sz="2400" b="0">
                    <a:solidFill>
                      <a:srgbClr val="111827"/>
                    </a:solidFill>
                    <a:latin typeface="Arial"/>
                  </a:rPr>
                  <a:t>, Classical probability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Only </a:t>
                </a:r>
                <a14:m>
                  <m:oMath xmlns:m="http://schemas.openxmlformats.org/officeDocument/2006/math">
                    <m:r>
                      <a:rPr lang="en-IN" sz="2400" i="1">
                        <a:solidFill>
                          <a:srgbClr val="78350F"/>
                        </a:solidFill>
                        <a:latin typeface="Cambria Math" panose="02040503050406030204" pitchFamily="18" charset="0"/>
                      </a:rPr>
                      <m:t>𝑘</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4</m:t>
                    </m:r>
                  </m:oMath>
                </a14:m>
                <a:r>
                  <a:rPr sz="2400" b="0">
                    <a:solidFill>
                      <a:srgbClr val="78350F"/>
                    </a:solidFill>
                    <a:latin typeface="Arial"/>
                  </a:rPr>
                  <a:t> matters: </a:t>
                </a:r>
                <a14:m>
                  <m:oMath xmlns:m="http://schemas.openxmlformats.org/officeDocument/2006/math">
                    <m:sSup>
                      <m:e>
                        <m:r>
                          <a:rPr lang="en-IN" sz="2400" i="1">
                            <a:solidFill>
                              <a:srgbClr val="78350F"/>
                            </a:solidFill>
                            <a:latin typeface="Cambria Math" panose="02040503050406030204" pitchFamily="18" charset="0"/>
                          </a:rPr>
                          <m:t>𝑖</m:t>
                        </m:r>
                      </m:e>
                      <m:sup>
                        <m:r>
                          <a:rPr lang="en-IN" sz="2400" i="1">
                            <a:solidFill>
                              <a:srgbClr val="78350F"/>
                            </a:solidFill>
                            <a:latin typeface="Cambria Math" panose="02040503050406030204" pitchFamily="18" charset="0"/>
                          </a:rPr>
                          <m:t>𝑘</m:t>
                        </m:r>
                      </m:sup>
                    </m:sSup>
                  </m:oMath>
                </a14:m>
                <a:r>
                  <a:rPr sz="2400" b="0">
                    <a:solidFill>
                      <a:srgbClr val="78350F"/>
                    </a:solidFill>
                    <a:latin typeface="Arial"/>
                  </a:rPr>
                  <a:t> takes the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values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oMath>
                </a14:m>
                <a:r>
                  <a:rPr sz="2400" b="0">
                    <a:solidFill>
                      <a:srgbClr val="78350F"/>
                    </a:solidFill>
                    <a:latin typeface="Arial"/>
                  </a:rPr>
                  <a:t> equally often; count the pairs that cancel.</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Only </a:t>
                </a:r>
                <a:r>
                  <a:rPr lang="en-IN" sz="2400">
                    <a:solidFill>
                      <a:srgbClr val="78350F"/>
                    </a:solidFill>
                    <a:latin typeface="Cambria Math" panose="02040503050406030204" pitchFamily="18" charset="0"/>
                  </a:rPr>
                  <a:t>$k\bmod4$</a:t>
                </a:r>
                <a:r>
                  <a:rPr sz="2400" b="0">
                    <a:solidFill>
                      <a:srgbClr val="78350F"/>
                    </a:solidFill>
                    <a:latin typeface="Arial"/>
                  </a:rPr>
                  <a:t> matters: </a:t>
                </a:r>
                <a:r>
                  <a:rPr lang="en-IN" sz="2400">
                    <a:solidFill>
                      <a:srgbClr val="78350F"/>
                    </a:solidFill>
                    <a:latin typeface="Cambria Math" panose="02040503050406030204" pitchFamily="18" charset="0"/>
                  </a:rPr>
                  <a:t>$i^k$</a:t>
                </a:r>
                <a:r>
                  <a:rPr sz="2400" b="0">
                    <a:solidFill>
                      <a:srgbClr val="78350F"/>
                    </a:solidFill>
                    <a:latin typeface="Arial"/>
                  </a:rPr>
                  <a:t> takes the </a:t>
                </a:r>
                <a:r>
                  <a:rPr lang="en-IN" sz="2400">
                    <a:solidFill>
                      <a:srgbClr val="78350F"/>
                    </a:solidFill>
                    <a:latin typeface="Cambria Math" panose="02040503050406030204" pitchFamily="18" charset="0"/>
                  </a:rPr>
                  <a:t>$4$</a:t>
                </a:r>
                <a:r>
                  <a:rPr sz="2400" b="0">
                    <a:solidFill>
                      <a:srgbClr val="78350F"/>
                    </a:solidFill>
                    <a:latin typeface="Arial"/>
                  </a:rPr>
                  <a:t> values </a:t>
                </a:r>
                <a:r>
                  <a:rPr lang="en-IN" sz="2400">
                    <a:solidFill>
                      <a:srgbClr val="78350F"/>
                    </a:solidFill>
                    <a:latin typeface="Cambria Math" panose="02040503050406030204" pitchFamily="18" charset="0"/>
                  </a:rPr>
                  <a:t>$1,i,-1,-i$</a:t>
                </a:r>
                <a:r>
                  <a:rPr sz="2400" b="0">
                    <a:solidFill>
                      <a:srgbClr val="78350F"/>
                    </a:solidFill>
                    <a:latin typeface="Arial"/>
                  </a:rPr>
                  <a:t> equally often; count the pairs that cancel.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takes one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values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according to </a:t>
                </a:r>
                <a14:m>
                  <m:oMath xmlns:m="http://schemas.openxmlformats.org/officeDocument/2006/math">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oMath>
                </a14:m>
                <a:r>
                  <a:rPr sz="2400" b="0">
                    <a:solidFill>
                      <a:srgbClr val="111827"/>
                    </a:solidFill>
                    <a:latin typeface="Arial"/>
                  </a:rPr>
                  <a:t>, each equally likely.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cases for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𝑖</m:t>
                        </m:r>
                      </m:e>
                      <m:sup>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𝑖</m:t>
                        </m:r>
                      </m:e>
                      <m:sup>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Unfavourable cases are those with </a:t>
                </a:r>
                <a14:m>
                  <m:oMath xmlns:m="http://schemas.openxmlformats.org/officeDocument/2006/math">
                    <m:sSup>
                      <m:e>
                        <m:r>
                          <a:rPr lang="en-IN" sz="2400" i="1">
                            <a:solidFill>
                              <a:srgbClr val="111827"/>
                            </a:solidFill>
                            <a:latin typeface="Cambria Math" panose="02040503050406030204" pitchFamily="18" charset="0"/>
                          </a:rPr>
                          <m:t>𝑖</m:t>
                        </m:r>
                      </m:e>
                      <m:sup>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𝑖</m:t>
                        </m:r>
                      </m:e>
                      <m:sup>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the two values are negatives of each other.</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$i^{k}$</a:t>
                </a:r>
                <a:r>
                  <a:rPr sz="2400" b="0">
                    <a:solidFill>
                      <a:srgbClr val="111827"/>
                    </a:solidFill>
                    <a:latin typeface="Arial"/>
                  </a:rPr>
                  <a:t> takes one of </a:t>
                </a:r>
                <a:r>
                  <a:rPr lang="en-IN" sz="2400">
                    <a:solidFill>
                      <a:srgbClr val="111827"/>
                    </a:solidFill>
                    <a:latin typeface="Cambria Math" panose="02040503050406030204" pitchFamily="18" charset="0"/>
                  </a:rPr>
                  <a:t>$4$</a:t>
                </a:r>
                <a:r>
                  <a:rPr sz="2400" b="0">
                    <a:solidFill>
                      <a:srgbClr val="111827"/>
                    </a:solidFill>
                    <a:latin typeface="Arial"/>
                  </a:rPr>
                  <a:t> values </a:t>
                </a:r>
                <a:r>
                  <a:rPr lang="en-IN" sz="2400">
                    <a:solidFill>
                      <a:srgbClr val="111827"/>
                    </a:solidFill>
                    <a:latin typeface="Cambria Math" panose="02040503050406030204" pitchFamily="18" charset="0"/>
                  </a:rPr>
                  <a:t>$i,-1,-i,1$</a:t>
                </a:r>
                <a:r>
                  <a:rPr sz="2400" b="0">
                    <a:solidFill>
                      <a:srgbClr val="111827"/>
                    </a:solidFill>
                    <a:latin typeface="Arial"/>
                  </a:rPr>
                  <a:t>, according to </a:t>
                </a:r>
                <a:r>
                  <a:rPr lang="en-IN" sz="2400">
                    <a:solidFill>
                      <a:srgbClr val="111827"/>
                    </a:solidFill>
                    <a:latin typeface="Cambria Math" panose="02040503050406030204" pitchFamily="18" charset="0"/>
                  </a:rPr>
                  <a:t>$k\bmod4$</a:t>
                </a:r>
                <a:r>
                  <a:rPr sz="2400" b="0">
                    <a:solidFill>
                      <a:srgbClr val="111827"/>
                    </a:solidFill>
                    <a:latin typeface="Arial"/>
                  </a:rPr>
                  <a:t>, each equally likely.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cases for </a:t>
                </a:r>
                <a:r>
                  <a:rPr lang="en-IN" sz="2400">
                    <a:solidFill>
                      <a:srgbClr val="111827"/>
                    </a:solidFill>
                    <a:latin typeface="Cambria Math" panose="02040503050406030204" pitchFamily="18" charset="0"/>
                  </a:rPr>
                  <a:t>$(i^{k_1},i^{k_2})$</a:t>
                </a:r>
                <a:r>
                  <a:rPr sz="2400" b="0">
                    <a:solidFill>
                      <a:srgbClr val="111827"/>
                    </a:solidFill>
                    <a:latin typeface="Arial"/>
                  </a:rPr>
                  <a:t>: </a:t>
                </a:r>
                <a:r>
                  <a:rPr lang="en-IN" sz="2400">
                    <a:solidFill>
                      <a:srgbClr val="111827"/>
                    </a:solidFill>
                    <a:latin typeface="Cambria Math" panose="02040503050406030204" pitchFamily="18" charset="0"/>
                  </a:rPr>
                  <a:t>$4\times4=16$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Unfavourable cases are those with </a:t>
                </a:r>
                <a:r>
                  <a:rPr lang="en-IN" sz="2400">
                    <a:solidFill>
                      <a:srgbClr val="111827"/>
                    </a:solidFill>
                    <a:latin typeface="Cambria Math" panose="02040503050406030204" pitchFamily="18" charset="0"/>
                  </a:rPr>
                  <a:t>$i^{k_1}+i^{k_2}=0$</a:t>
                </a:r>
                <a:r>
                  <a:rPr sz="2400" b="0">
                    <a:solidFill>
                      <a:srgbClr val="111827"/>
                    </a:solidFill>
                    <a:latin typeface="Arial"/>
                  </a:rPr>
                  <a:t>, i.e. the two values are negatives of each other.</a:t>
                </a:r>
                <a:endParaRPr sz="2400">
                  <a:solidFill>
                    <a:srgbClr val="111827"/>
                  </a:solidFill>
                </a:endParaRPr>
              </a:p>
            </p:txBody>
          </p:sp>
        </mc:Fallback>
      </mc:AlternateContent>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These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of a non-zero value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These are </a:t>
                </a:r>
                <a:r>
                  <a:rPr lang="en-IN" sz="2400">
                    <a:solidFill>
                      <a:srgbClr val="111827"/>
                    </a:solidFill>
                    <a:latin typeface="Cambria Math" panose="02040503050406030204" pitchFamily="18" charset="0"/>
                  </a:rPr>
                  <a:t>$(1,-1),(-1,1),(i,-i),(-i,i)$</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of a non-zero value </a:t>
                </a:r>
                <a:r>
                  <a:rPr lang="en-IN" sz="2400">
                    <a:solidFill>
                      <a:srgbClr val="111827"/>
                    </a:solidFill>
                    <a:latin typeface="Cambria Math" panose="02040503050406030204" pitchFamily="18" charset="0"/>
                  </a:rPr>
                  <a:t>$=\frac{16-4}{16}=\frac34$</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$\frac34$</a:t>
                </a:r>
                <a:endParaRPr sz="2800">
                  <a:solidFill>
                    <a:srgbClr val="15803D"/>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Fix </a:t>
                </a:r>
                <a14:m>
                  <m:oMath xmlns:m="http://schemas.openxmlformats.org/officeDocument/2006/math">
                    <m:sSub>
                      <m:e>
                        <m:r>
                          <a:rPr lang="en-IN" sz="2400" i="1">
                            <a:solidFill>
                              <a:srgbClr val="78350F"/>
                            </a:solidFill>
                            <a:latin typeface="Cambria Math" panose="02040503050406030204" pitchFamily="18" charset="0"/>
                          </a:rPr>
                          <m:t>𝑘</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the sum vanishes iff </a:t>
                </a:r>
                <a14:m>
                  <m:oMath xmlns:m="http://schemas.openxmlformats.org/officeDocument/2006/math">
                    <m:sSup>
                      <m:e>
                        <m:r>
                          <a:rPr lang="en-IN" sz="2400" i="1">
                            <a:solidFill>
                              <a:srgbClr val="78350F"/>
                            </a:solidFill>
                            <a:latin typeface="Cambria Math" panose="02040503050406030204" pitchFamily="18" charset="0"/>
                          </a:rPr>
                          <m:t>𝑖</m:t>
                        </m:r>
                      </m:e>
                      <m:sup>
                        <m:sSub>
                          <m:e>
                            <m:r>
                              <a:rPr lang="en-IN" sz="2400" i="1">
                                <a:solidFill>
                                  <a:srgbClr val="78350F"/>
                                </a:solidFill>
                                <a:latin typeface="Cambria Math" panose="02040503050406030204" pitchFamily="18" charset="0"/>
                              </a:rPr>
                              <m:t>𝑘</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𝑘</m:t>
                            </m:r>
                          </m:e>
                          <m:sub>
                            <m:r>
                              <a:rPr lang="en-IN" sz="2400" i="1">
                                <a:solidFill>
                                  <a:srgbClr val="78350F"/>
                                </a:solidFill>
                                <a:latin typeface="Cambria Math" panose="02040503050406030204" pitchFamily="18" charset="0"/>
                              </a:rPr>
                              <m:t>2</m:t>
                            </m:r>
                          </m:sub>
                        </m:sSub>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which singles out exactly one residue of </a:t>
                </a:r>
                <a14:m>
                  <m:oMath xmlns:m="http://schemas.openxmlformats.org/officeDocument/2006/math">
                    <m:sSub>
                      <m:e>
                        <m:r>
                          <a:rPr lang="en-IN" sz="2400" i="1">
                            <a:solidFill>
                              <a:srgbClr val="78350F"/>
                            </a:solidFill>
                            <a:latin typeface="Cambria Math" panose="02040503050406030204" pitchFamily="18" charset="0"/>
                          </a:rPr>
                          <m:t>𝑘</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out of four.</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Fix </a:t>
                </a:r>
                <a:r>
                  <a:rPr lang="en-IN" sz="2400">
                    <a:solidFill>
                      <a:srgbClr val="78350F"/>
                    </a:solidFill>
                    <a:latin typeface="Cambria Math" panose="02040503050406030204" pitchFamily="18" charset="0"/>
                  </a:rPr>
                  <a:t>$k_2$</a:t>
                </a:r>
                <a:r>
                  <a:rPr sz="2400" b="0">
                    <a:solidFill>
                      <a:srgbClr val="78350F"/>
                    </a:solidFill>
                    <a:latin typeface="Arial"/>
                  </a:rPr>
                  <a:t>; the sum vanishes iff </a:t>
                </a:r>
                <a:r>
                  <a:rPr lang="en-IN" sz="2400">
                    <a:solidFill>
                      <a:srgbClr val="78350F"/>
                    </a:solidFill>
                    <a:latin typeface="Cambria Math" panose="02040503050406030204" pitchFamily="18" charset="0"/>
                  </a:rPr>
                  <a:t>$i^{k_1-k_2}=-1$</a:t>
                </a:r>
                <a:r>
                  <a:rPr sz="2400" b="0">
                    <a:solidFill>
                      <a:srgbClr val="78350F"/>
                    </a:solidFill>
                    <a:latin typeface="Arial"/>
                  </a:rPr>
                  <a:t>, which singles out exactly one residue of </a:t>
                </a:r>
                <a:r>
                  <a:rPr lang="en-IN" sz="2400">
                    <a:solidFill>
                      <a:srgbClr val="78350F"/>
                    </a:solidFill>
                    <a:latin typeface="Cambria Math" panose="02040503050406030204" pitchFamily="18" charset="0"/>
                  </a:rPr>
                  <a:t>$k_1$</a:t>
                </a:r>
                <a:r>
                  <a:rPr sz="2400" b="0">
                    <a:solidFill>
                      <a:srgbClr val="78350F"/>
                    </a:solidFill>
                    <a:latin typeface="Arial"/>
                  </a:rPr>
                  <a:t> out of four.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𝑖</m:t>
                        </m:r>
                      </m:e>
                      <m:sup>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𝑖</m:t>
                        </m:r>
                      </m:e>
                      <m:sup>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𝑖</m:t>
                        </m:r>
                      </m:e>
                      <m:sup>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𝑖</m:t>
                        </m:r>
                      </m:e>
                      <m:sup>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𝑖</m:t>
                        </m:r>
                      </m:e>
                      <m:sup>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given </a:t>
                </a:r>
                <a14:m>
                  <m:oMath xmlns:m="http://schemas.openxmlformats.org/officeDocument/2006/math">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exactly one of the four residues of </a:t>
                </a:r>
                <a14:m>
                  <m:oMath xmlns:m="http://schemas.openxmlformats.org/officeDocument/2006/math">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mod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gives </a:t>
                </a:r>
                <a14:m>
                  <m:oMath xmlns:m="http://schemas.openxmlformats.org/officeDocument/2006/math">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the probability of zero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Non-zero probability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$i^{k_1}+i^{k_2}=0\iff i^{k_1}=-i^{k_2}\iff i^{k_1-k_2}=-1$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$i^m=-1\iff m\equiv2\pmod4$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given </a:t>
                </a:r>
                <a:r>
                  <a:rPr lang="en-IN" sz="2400">
                    <a:solidFill>
                      <a:srgbClr val="111827"/>
                    </a:solidFill>
                    <a:latin typeface="Cambria Math" panose="02040503050406030204" pitchFamily="18" charset="0"/>
                  </a:rPr>
                  <a:t>$k_2$</a:t>
                </a:r>
                <a:r>
                  <a:rPr sz="2400" b="0">
                    <a:solidFill>
                      <a:srgbClr val="111827"/>
                    </a:solidFill>
                    <a:latin typeface="Arial"/>
                  </a:rPr>
                  <a:t>, exactly one of the four residues of </a:t>
                </a:r>
                <a:r>
                  <a:rPr lang="en-IN" sz="2400">
                    <a:solidFill>
                      <a:srgbClr val="111827"/>
                    </a:solidFill>
                    <a:latin typeface="Cambria Math" panose="02040503050406030204" pitchFamily="18" charset="0"/>
                  </a:rPr>
                  <a:t>$k_1$</a:t>
                </a:r>
                <a:r>
                  <a:rPr sz="2400" b="0">
                    <a:solidFill>
                      <a:srgbClr val="111827"/>
                    </a:solidFill>
                    <a:latin typeface="Arial"/>
                  </a:rPr>
                  <a:t> mod </a:t>
                </a:r>
                <a:r>
                  <a:rPr lang="en-IN" sz="2400">
                    <a:solidFill>
                      <a:srgbClr val="111827"/>
                    </a:solidFill>
                    <a:latin typeface="Cambria Math" panose="02040503050406030204" pitchFamily="18" charset="0"/>
                  </a:rPr>
                  <a:t>$4$</a:t>
                </a:r>
                <a:r>
                  <a:rPr sz="2400" b="0">
                    <a:solidFill>
                      <a:srgbClr val="111827"/>
                    </a:solidFill>
                    <a:latin typeface="Arial"/>
                  </a:rPr>
                  <a:t> gives </a:t>
                </a:r>
                <a:r>
                  <a:rPr lang="en-IN" sz="2400">
                    <a:solidFill>
                      <a:srgbClr val="111827"/>
                    </a:solidFill>
                    <a:latin typeface="Cambria Math" panose="02040503050406030204" pitchFamily="18" charset="0"/>
                  </a:rPr>
                  <a:t>$k_1-k_2\equiv2$</a:t>
                </a:r>
                <a:r>
                  <a:rPr sz="2400" b="0">
                    <a:solidFill>
                      <a:srgbClr val="111827"/>
                    </a:solidFill>
                    <a:latin typeface="Arial"/>
                  </a:rPr>
                  <a:t>, so the probability of zero is </a:t>
                </a:r>
                <a:r>
                  <a:rPr lang="en-IN" sz="2400">
                    <a:solidFill>
                      <a:srgbClr val="111827"/>
                    </a:solidFill>
                    <a:latin typeface="Cambria Math" panose="02040503050406030204" pitchFamily="18" charset="0"/>
                  </a:rPr>
                  <a:t>$\frac14$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Non-zero probability </a:t>
                </a:r>
                <a:r>
                  <a:rPr lang="en-IN" sz="2400">
                    <a:solidFill>
                      <a:srgbClr val="111827"/>
                    </a:solidFill>
                    <a:latin typeface="Cambria Math" panose="02040503050406030204" pitchFamily="18" charset="0"/>
                  </a:rPr>
                  <a:t>$=1-\frac14=\frac34$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$\frac34$</a:t>
                </a:r>
                <a:endParaRPr sz="2800">
                  <a:solidFill>
                    <a:srgbClr val="15803D"/>
                  </a:solidFill>
                </a:endParaRPr>
              </a:p>
            </p:txBody>
          </p:sp>
        </mc:Fallback>
      </mc:AlternateContent>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Powers of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are periodic with period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``randomly chosen natural number'' is interpreted as </a:t>
                </a:r>
                <a14:m>
                  <m:oMath xmlns:m="http://schemas.openxmlformats.org/officeDocument/2006/math">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oMath>
                </a14:m>
                <a:r>
                  <a:rPr sz="2400" b="0">
                    <a:solidFill>
                      <a:srgbClr val="111827"/>
                    </a:solidFill>
                    <a:latin typeface="Arial"/>
                  </a:rPr>
                  <a:t> uniform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pattern: </a:t>
                </a:r>
                <a14:m>
                  <m:oMath xmlns:m="http://schemas.openxmlformats.org/officeDocument/2006/math">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𝑎</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𝑏</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-th root of unity </a:t>
                </a:r>
                <a14:m>
                  <m:oMath xmlns:m="http://schemas.openxmlformats.org/officeDocument/2006/math">
                    <m:r>
                      <a:rPr lang="en-IN" sz="2400" i="1">
                        <a:solidFill>
                          <a:srgbClr val="111827"/>
                        </a:solidFill>
                        <a:latin typeface="Cambria Math" panose="02040503050406030204" pitchFamily="18" charset="0"/>
                      </a:rPr>
                      <m:t>ω</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even) iff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Powers of </a:t>
                </a:r>
                <a:r>
                  <a:rPr lang="en-IN" sz="2400">
                    <a:solidFill>
                      <a:srgbClr val="111827"/>
                    </a:solidFill>
                    <a:latin typeface="Cambria Math" panose="02040503050406030204" pitchFamily="18" charset="0"/>
                  </a:rPr>
                  <a:t>$i$</a:t>
                </a:r>
                <a:r>
                  <a:rPr sz="2400" b="0">
                    <a:solidFill>
                      <a:srgbClr val="111827"/>
                    </a:solidFill>
                    <a:latin typeface="Arial"/>
                  </a:rPr>
                  <a:t> are periodic with period </a:t>
                </a:r>
                <a:r>
                  <a:rPr lang="en-IN" sz="2400">
                    <a:solidFill>
                      <a:srgbClr val="111827"/>
                    </a:solidFill>
                    <a:latin typeface="Cambria Math" panose="02040503050406030204" pitchFamily="18" charset="0"/>
                  </a:rPr>
                  <a:t>$4$</a:t>
                </a:r>
                <a:r>
                  <a:rPr sz="2400" b="0">
                    <a:solidFill>
                      <a:srgbClr val="111827"/>
                    </a:solidFill>
                    <a:latin typeface="Arial"/>
                  </a:rPr>
                  <a:t>; ``randomly chosen natural number'' is interpreted as </a:t>
                </a:r>
                <a:r>
                  <a:rPr lang="en-IN" sz="2400">
                    <a:solidFill>
                      <a:srgbClr val="111827"/>
                    </a:solidFill>
                    <a:latin typeface="Cambria Math" panose="02040503050406030204" pitchFamily="18" charset="0"/>
                  </a:rPr>
                  <a:t>$k\bmod4$</a:t>
                </a:r>
                <a:r>
                  <a:rPr sz="2400" b="0">
                    <a:solidFill>
                      <a:srgbClr val="111827"/>
                    </a:solidFill>
                    <a:latin typeface="Arial"/>
                  </a:rPr>
                  <a:t> uniform on </a:t>
                </a:r>
                <a:r>
                  <a:rPr lang="en-IN" sz="2400">
                    <a:solidFill>
                      <a:srgbClr val="111827"/>
                    </a:solidFill>
                    <a:latin typeface="Cambria Math" panose="02040503050406030204" pitchFamily="18" charset="0"/>
                  </a:rPr>
                  <a:t>$\{0,1,2,3\}$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$i^m=-1\iff m\equiv2\pmod4$</a:t>
                </a:r>
                <a:r>
                  <a:rPr sz="2400" b="0">
                    <a:solidFill>
                      <a:srgbClr val="111827"/>
                    </a:solidFill>
                    <a:latin typeface="Arial"/>
                  </a:rPr>
                  <a:t>; </a:t>
                </a:r>
                <a:r>
                  <a:rPr lang="en-IN" sz="2400">
                    <a:solidFill>
                      <a:srgbClr val="111827"/>
                    </a:solidFill>
                    <a:latin typeface="Cambria Math" panose="02040503050406030204" pitchFamily="18" charset="0"/>
                  </a:rPr>
                  <a:t>$i^m=1\iff m\equiv0\pmod4$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pattern: </a:t>
                </a:r>
                <a:r>
                  <a:rPr lang="en-IN" sz="2400">
                    <a:solidFill>
                      <a:srgbClr val="111827"/>
                    </a:solidFill>
                    <a:latin typeface="Cambria Math" panose="02040503050406030204" pitchFamily="18" charset="0"/>
                  </a:rPr>
                  <a:t>$\omega^{a}+\omega^{b}=0$</a:t>
                </a:r>
                <a:r>
                  <a:rPr sz="2400" b="0">
                    <a:solidFill>
                      <a:srgbClr val="111827"/>
                    </a:solidFill>
                    <a:latin typeface="Arial"/>
                  </a:rPr>
                  <a:t> for an </a:t>
                </a:r>
                <a:r>
                  <a:rPr lang="en-IN" sz="2400">
                    <a:solidFill>
                      <a:srgbClr val="111827"/>
                    </a:solidFill>
                    <a:latin typeface="Cambria Math" panose="02040503050406030204" pitchFamily="18" charset="0"/>
                  </a:rPr>
                  <a:t>$n$</a:t>
                </a:r>
                <a:r>
                  <a:rPr sz="2400" b="0">
                    <a:solidFill>
                      <a:srgbClr val="111827"/>
                    </a:solidFill>
                    <a:latin typeface="Arial"/>
                  </a:rPr>
                  <a:t>-th root of unity </a:t>
                </a:r>
                <a:r>
                  <a:rPr lang="en-IN" sz="2400">
                    <a:solidFill>
                      <a:srgbClr val="111827"/>
                    </a:solidFill>
                    <a:latin typeface="Cambria Math" panose="02040503050406030204" pitchFamily="18" charset="0"/>
                  </a:rPr>
                  <a:t>$\omega$</a:t>
                </a:r>
                <a:r>
                  <a:rPr sz="2400" b="0">
                    <a:solidFill>
                      <a:srgbClr val="111827"/>
                    </a:solidFill>
                    <a:latin typeface="Arial"/>
                  </a:rPr>
                  <a:t> (</a:t>
                </a:r>
                <a:r>
                  <a:rPr lang="en-IN" sz="2400">
                    <a:solidFill>
                      <a:srgbClr val="111827"/>
                    </a:solidFill>
                    <a:latin typeface="Cambria Math" panose="02040503050406030204" pitchFamily="18" charset="0"/>
                  </a:rPr>
                  <a:t>$n$</a:t>
                </a:r>
                <a:r>
                  <a:rPr sz="2400" b="0">
                    <a:solidFill>
                      <a:srgbClr val="111827"/>
                    </a:solidFill>
                    <a:latin typeface="Arial"/>
                  </a:rPr>
                  <a:t> even) iff </a:t>
                </a:r>
                <a:r>
                  <a:rPr lang="en-IN" sz="2400">
                    <a:solidFill>
                      <a:srgbClr val="111827"/>
                    </a:solidFill>
                    <a:latin typeface="Cambria Math" panose="02040503050406030204" pitchFamily="18" charset="0"/>
                  </a:rPr>
                  <a:t>$a-b\equiv\frac n2\pmod n$</a:t>
                </a:r>
                <a:r>
                  <a:rPr sz="2400" b="0">
                    <a:solidFill>
                      <a:srgbClr val="111827"/>
                    </a:solidFill>
                    <a:latin typeface="Arial"/>
                  </a:rPr>
                  <a:t>, probability </a:t>
                </a:r>
                <a:r>
                  <a:rPr lang="en-IN" sz="2400">
                    <a:solidFill>
                      <a:srgbClr val="111827"/>
                    </a:solidFill>
                    <a:latin typeface="Cambria Math" panose="02040503050406030204" pitchFamily="18" charset="0"/>
                  </a:rPr>
                  <a:t>$\frac1n$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Three defective oranges are accidentally mixed with seven good ones and on looking at them, it is not possible to differentiate between them. Two oranges are drawn at random from the lot. If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denotes the number of defective oranges, then the variance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26</m:t>
                        </m:r>
                      </m:num>
                      <m:den>
                        <m:r>
                          <a:rPr lang="en-IN" sz="2400" i="1">
                            <a:solidFill>
                              <a:srgbClr val="111827"/>
                            </a:solidFill>
                            <a:latin typeface="Cambria Math" panose="02040503050406030204" pitchFamily="18" charset="0"/>
                          </a:rPr>
                          <m:t>75</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m:t>
                        </m:r>
                      </m:num>
                      <m:den>
                        <m:r>
                          <a:rPr lang="en-IN" sz="2400" i="1">
                            <a:solidFill>
                              <a:srgbClr val="111827"/>
                            </a:solidFill>
                            <a:latin typeface="Cambria Math" panose="02040503050406030204" pitchFamily="18" charset="0"/>
                          </a:rPr>
                          <m:t>75</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25</m:t>
                        </m:r>
                      </m:den>
                    </m:f>
                  </m:oMath>
                </a14:m>
                <a:endParaRPr sz="2400">
                  <a:solidFill>
                    <a:srgbClr val="111827"/>
                  </a:solidFill>
                </a:endParaRPr>
              </a:p>
            </p:txBody>
          </p:sp>
        </mc:Choice>
        <mc:Fallback>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Three defective oranges are accidentally mixed with seven good ones and on looking at them, it is not possible to differentiate between them. Two oranges are drawn at random from the lot. If </a:t>
                </a:r>
                <a:r>
                  <a:rPr lang="en-IN" sz="2400">
                    <a:solidFill>
                      <a:srgbClr val="111827"/>
                    </a:solidFill>
                    <a:latin typeface="Cambria Math" panose="02040503050406030204" pitchFamily="18" charset="0"/>
                  </a:rPr>
                  <a:t>$x$</a:t>
                </a:r>
                <a:r>
                  <a:rPr sz="2400" b="0">
                    <a:solidFill>
                      <a:srgbClr val="111827"/>
                    </a:solidFill>
                    <a:latin typeface="Arial"/>
                  </a:rPr>
                  <a:t> denotes the number of defective oranges, then the variance of </a:t>
                </a:r>
                <a:r>
                  <a:rPr lang="en-IN" sz="2400">
                    <a:solidFill>
                      <a:srgbClr val="111827"/>
                    </a:solidFill>
                    <a:latin typeface="Cambria Math" panose="02040503050406030204" pitchFamily="18" charset="0"/>
                  </a:rPr>
                  <a:t>$x$</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$\frac{26}{75}$</a:t>
                </a:r>
                <a:r>
                  <a:rPr sz="2400" b="0">
                    <a:solidFill>
                      <a:srgbClr val="111827"/>
                    </a:solidFill>
                    <a:latin typeface="Arial"/>
                  </a:rPr>
                  <a:t>   (B) </a:t>
                </a:r>
                <a:r>
                  <a:rPr lang="en-IN" sz="2400">
                    <a:solidFill>
                      <a:srgbClr val="111827"/>
                    </a:solidFill>
                    <a:latin typeface="Cambria Math" panose="02040503050406030204" pitchFamily="18" charset="0"/>
                  </a:rPr>
                  <a:t>$\frac{28}{75}$</a:t>
                </a:r>
                <a:r>
                  <a:rPr sz="2400" b="0">
                    <a:solidFill>
                      <a:srgbClr val="111827"/>
                    </a:solidFill>
                    <a:latin typeface="Arial"/>
                  </a:rPr>
                  <a:t>   (C) </a:t>
                </a:r>
                <a:r>
                  <a:rPr lang="en-IN" sz="2400">
                    <a:solidFill>
                      <a:srgbClr val="111827"/>
                    </a:solidFill>
                    <a:latin typeface="Cambria Math" panose="02040503050406030204" pitchFamily="18" charset="0"/>
                  </a:rPr>
                  <a:t>$\frac{18}{25}$</a:t>
                </a:r>
                <a:r>
                  <a:rPr sz="2400" b="0">
                    <a:solidFill>
                      <a:srgbClr val="111827"/>
                    </a:solidFill>
                    <a:latin typeface="Arial"/>
                  </a:rPr>
                  <a:t>   (D) </a:t>
                </a:r>
                <a:r>
                  <a:rPr lang="en-IN" sz="2400">
                    <a:solidFill>
                      <a:srgbClr val="111827"/>
                    </a:solidFill>
                    <a:latin typeface="Cambria Math" panose="02040503050406030204" pitchFamily="18" charset="0"/>
                  </a:rPr>
                  <a:t>$\frac{14}{25}$</a:t>
                </a:r>
                <a:endParaRPr sz="2400">
                  <a:solidFill>
                    <a:srgbClr val="111827"/>
                  </a:solidFill>
                </a:endParaRPr>
              </a:p>
            </p:txBody>
          </p:sp>
        </mc:Fallback>
      </mc:AlternateContent>
      <p:sp>
        <p:nvSpPr>
          <p:cNvPr id="5" name="Rectangle 4"/>
          <p:cNvSpPr/>
          <p:nvPr/>
        </p:nvSpPr>
        <p:spPr>
          <a:xfrm>
            <a:off x="731520" y="443382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variance of a random variable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Tabulate the law of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combinations, then </a:t>
                </a:r>
                <a14:m>
                  <m:oMath xmlns:m="http://schemas.openxmlformats.org/officeDocument/2006/math">
                    <m:sSup>
                      <m:e>
                        <m:r>
                          <a:rPr lang="en-IN" sz="2400" i="1">
                            <a:solidFill>
                              <a:srgbClr val="78350F"/>
                            </a:solidFill>
                            <a:latin typeface="Cambria Math" panose="02040503050406030204" pitchFamily="18" charset="0"/>
                          </a:rPr>
                          <m:t>σ</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𝑝</m:t>
                        </m:r>
                      </m:e>
                      <m:sub>
                        <m:r>
                          <a:rPr lang="en-IN" sz="2400" i="1">
                            <a:solidFill>
                              <a:srgbClr val="78350F"/>
                            </a:solidFill>
                            <a:latin typeface="Cambria Math" panose="02040503050406030204" pitchFamily="18" charset="0"/>
                          </a:rPr>
                          <m:t>𝑖</m:t>
                        </m:r>
                      </m:sub>
                    </m:sSub>
                    <m:sSubSup>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μ</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Tabulate the law of </a:t>
                </a:r>
                <a:r>
                  <a:rPr lang="en-IN" sz="2400">
                    <a:solidFill>
                      <a:srgbClr val="78350F"/>
                    </a:solidFill>
                    <a:latin typeface="Cambria Math" panose="02040503050406030204" pitchFamily="18" charset="0"/>
                  </a:rPr>
                  <a:t>$x\in\{0,1,2\}$</a:t>
                </a:r>
                <a:r>
                  <a:rPr sz="2400" b="0">
                    <a:solidFill>
                      <a:srgbClr val="78350F"/>
                    </a:solidFill>
                    <a:latin typeface="Arial"/>
                  </a:rPr>
                  <a:t> with combinations, then </a:t>
                </a:r>
                <a:r>
                  <a:rPr lang="en-IN" sz="2400">
                    <a:solidFill>
                      <a:srgbClr val="78350F"/>
                    </a:solidFill>
                    <a:latin typeface="Cambria Math" panose="02040503050406030204" pitchFamily="18" charset="0"/>
                  </a:rPr>
                  <a:t>$\sigma^2=\sum p_ix_i^2-\mu^2$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lot has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oranges: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good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defective;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45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42</m:t>
                        </m:r>
                      </m:num>
                      <m:den>
                        <m:r>
                          <a:rPr lang="en-IN" sz="2400" i="1">
                            <a:solidFill>
                              <a:srgbClr val="111827"/>
                            </a:solidFill>
                            <a:latin typeface="Cambria Math" panose="02040503050406030204" pitchFamily="18" charset="0"/>
                          </a:rPr>
                          <m:t>90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45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42</m:t>
                        </m:r>
                      </m:num>
                      <m:den>
                        <m:r>
                          <a:rPr lang="en-IN" sz="2400" i="1">
                            <a:solidFill>
                              <a:srgbClr val="111827"/>
                            </a:solidFill>
                            <a:latin typeface="Cambria Math" panose="02040503050406030204" pitchFamily="18" charset="0"/>
                          </a:rPr>
                          <m:t>90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90</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lot has </a:t>
                </a:r>
                <a:r>
                  <a:rPr lang="en-IN" sz="2400">
                    <a:solidFill>
                      <a:srgbClr val="111827"/>
                    </a:solidFill>
                    <a:latin typeface="Cambria Math" panose="02040503050406030204" pitchFamily="18" charset="0"/>
                  </a:rPr>
                  <a:t>$10$</a:t>
                </a:r>
                <a:r>
                  <a:rPr sz="2400" b="0">
                    <a:solidFill>
                      <a:srgbClr val="111827"/>
                    </a:solidFill>
                    <a:latin typeface="Arial"/>
                  </a:rPr>
                  <a:t> oranges: </a:t>
                </a:r>
                <a:r>
                  <a:rPr lang="en-IN" sz="2400">
                    <a:solidFill>
                      <a:srgbClr val="111827"/>
                    </a:solidFill>
                    <a:latin typeface="Cambria Math" panose="02040503050406030204" pitchFamily="18" charset="0"/>
                  </a:rPr>
                  <a:t>$7$</a:t>
                </a:r>
                <a:r>
                  <a:rPr sz="2400" b="0">
                    <a:solidFill>
                      <a:srgbClr val="111827"/>
                    </a:solidFill>
                    <a:latin typeface="Arial"/>
                  </a:rPr>
                  <a:t> good and </a:t>
                </a:r>
                <a:r>
                  <a:rPr lang="en-IN" sz="2400">
                    <a:solidFill>
                      <a:srgbClr val="111827"/>
                    </a:solidFill>
                    <a:latin typeface="Cambria Math" panose="02040503050406030204" pitchFamily="18" charset="0"/>
                  </a:rPr>
                  <a:t>$3$</a:t>
                </a:r>
                <a:r>
                  <a:rPr sz="2400" b="0">
                    <a:solidFill>
                      <a:srgbClr val="111827"/>
                    </a:solidFill>
                    <a:latin typeface="Arial"/>
                  </a:rPr>
                  <a:t> defective; </a:t>
                </a:r>
                <a:r>
                  <a:rPr lang="en-IN" sz="2400">
                    <a:solidFill>
                      <a:srgbClr val="111827"/>
                    </a:solidFill>
                    <a:latin typeface="Cambria Math" panose="02040503050406030204" pitchFamily="18" charset="0"/>
                  </a:rPr>
                  <a:t>$x\in\{0,1,2\}$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$P(x=0)=\frac{{}^7C_2}{{}^{10}C_2}=\frac{21}{45}=\frac{42}{90}$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$P(x=1)=\frac{{}^7C_1\cdot{}^3C_1}{{}^{10}C_2}=\frac{21}{45}=\frac{42}{90}$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$P(x=2)=\frac{{}^3C_2}{{}^{10}C_2}=\frac{3}{45}=\frac{6}{90}$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42</m:t>
                        </m:r>
                      </m:num>
                      <m:den>
                        <m:r>
                          <a:rPr lang="en-IN" sz="2400" i="1">
                            <a:solidFill>
                              <a:srgbClr val="111827"/>
                            </a:solidFill>
                            <a:latin typeface="Cambria Math" panose="02040503050406030204" pitchFamily="18" charset="0"/>
                          </a:rPr>
                          <m:t>90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90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54</m:t>
                        </m:r>
                      </m:num>
                      <m:den>
                        <m:r>
                          <a:rPr lang="en-IN" sz="2400" i="1">
                            <a:solidFill>
                              <a:srgbClr val="111827"/>
                            </a:solidFill>
                            <a:latin typeface="Cambria Math" panose="02040503050406030204" pitchFamily="18" charset="0"/>
                          </a:rPr>
                          <m:t>90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𝑖</m:t>
                        </m:r>
                      </m:sub>
                    </m:sSub>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42</m:t>
                        </m:r>
                      </m:num>
                      <m:den>
                        <m:r>
                          <a:rPr lang="en-IN" sz="2400" i="1">
                            <a:solidFill>
                              <a:srgbClr val="111827"/>
                            </a:solidFill>
                            <a:latin typeface="Cambria Math" panose="02040503050406030204" pitchFamily="18" charset="0"/>
                          </a:rPr>
                          <m:t>90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num>
                      <m:den>
                        <m:r>
                          <a:rPr lang="en-IN" sz="2400" i="1">
                            <a:solidFill>
                              <a:srgbClr val="111827"/>
                            </a:solidFill>
                            <a:latin typeface="Cambria Math" panose="02040503050406030204" pitchFamily="18" charset="0"/>
                          </a:rPr>
                          <m:t>90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90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90</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54</m:t>
                                </m:r>
                              </m:num>
                              <m:den>
                                <m:r>
                                  <a:rPr lang="en-IN" sz="2400" i="1">
                                    <a:solidFill>
                                      <a:srgbClr val="111827"/>
                                    </a:solidFill>
                                    <a:latin typeface="Cambria Math" panose="02040503050406030204" pitchFamily="18" charset="0"/>
                                  </a:rPr>
                                  <m:t>90</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m:t>
                        </m:r>
                      </m:num>
                      <m:den>
                        <m:r>
                          <a:rPr lang="en-IN" sz="2400" i="1">
                            <a:solidFill>
                              <a:srgbClr val="111827"/>
                            </a:solidFill>
                            <a:latin typeface="Cambria Math" panose="02040503050406030204" pitchFamily="18" charset="0"/>
                          </a:rPr>
                          <m:t>75</m:t>
                        </m:r>
                      </m:den>
                    </m:f>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$\mu=\sum x_iP_i=\frac{42}{90}+\frac{12}{90}=\frac{54}{90}$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P_ix_i^2=\frac{42}{90}+\frac{24}{90}=\frac{66}{90}$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$\sigma^2=\frac{66}{90}-\left(\frac{54}{90}\right)^2=\frac{11}{15}-\frac{9}{25}=\frac{28}{75}$</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28</m:t>
                        </m:r>
                      </m:num>
                      <m:den>
                        <m:r>
                          <a:rPr lang="en-IN" sz="2800" i="1">
                            <a:solidFill>
                              <a:srgbClr val="15803D"/>
                            </a:solidFill>
                            <a:latin typeface="Cambria Math" panose="02040503050406030204" pitchFamily="18" charset="0"/>
                          </a:rPr>
                          <m:t>75</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$\frac{28}{75}$</a:t>
                </a:r>
                <a:endParaRPr sz="2800">
                  <a:solidFill>
                    <a:srgbClr val="15803D"/>
                  </a:solidFill>
                </a:endParaRPr>
              </a:p>
            </p:txBody>
          </p:sp>
        </mc:Fallback>
      </mc:AlternateContent>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𝐼</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𝐼</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(indicator for each drawn orange being defective) and use </a:t>
                </a:r>
                <a14:m>
                  <m:oMath xmlns:m="http://schemas.openxmlformats.org/officeDocument/2006/math">
                    <m:r>
                      <m:rPr>
                        <m:sty m:val="p"/>
                      </m:rPr>
                      <a:rPr lang="en-IN" sz="2400">
                        <a:solidFill>
                          <a:srgbClr val="78350F"/>
                        </a:solidFill>
                        <a:latin typeface="Cambria Math" panose="02040503050406030204" pitchFamily="18" charset="0"/>
                      </a:rPr>
                      <m:t>V</m:t>
                    </m:r>
                    <m:r>
                      <m:rPr>
                        <m:sty m:val="p"/>
                      </m:rPr>
                      <a:rPr lang="en-IN" sz="2400">
                        <a:solidFill>
                          <a:srgbClr val="78350F"/>
                        </a:solidFill>
                        <a:latin typeface="Cambria Math" panose="02040503050406030204" pitchFamily="18" charset="0"/>
                      </a:rPr>
                      <m:t>a</m:t>
                    </m:r>
                    <m:r>
                      <m:rPr>
                        <m:sty m:val="p"/>
                      </m:rPr>
                      <a:rPr lang="en-IN" sz="2400">
                        <a:solidFill>
                          <a:srgbClr val="78350F"/>
                        </a:solidFill>
                        <a:latin typeface="Cambria Math" panose="02040503050406030204" pitchFamily="18" charset="0"/>
                      </a:rPr>
                      <m:t>r</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V</m:t>
                    </m:r>
                    <m:r>
                      <m:rPr>
                        <m:sty m:val="p"/>
                      </m:rPr>
                      <a:rPr lang="en-IN" sz="2400">
                        <a:solidFill>
                          <a:srgbClr val="78350F"/>
                        </a:solidFill>
                        <a:latin typeface="Cambria Math" panose="02040503050406030204" pitchFamily="18" charset="0"/>
                      </a:rPr>
                      <m:t>a</m:t>
                    </m:r>
                    <m:r>
                      <m:rPr>
                        <m:sty m:val="p"/>
                      </m:rPr>
                      <a:rPr lang="en-IN" sz="2400">
                        <a:solidFill>
                          <a:srgbClr val="78350F"/>
                        </a:solidFill>
                        <a:latin typeface="Cambria Math" panose="02040503050406030204" pitchFamily="18" charset="0"/>
                      </a:rPr>
                      <m:t>r</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𝐼</m:t>
                        </m:r>
                      </m:e>
                      <m:sub>
                        <m:r>
                          <a:rPr lang="en-IN" sz="2400" i="1">
                            <a:solidFill>
                              <a:srgbClr val="78350F"/>
                            </a:solidFill>
                            <a:latin typeface="Cambria Math" panose="02040503050406030204" pitchFamily="18" charset="0"/>
                          </a:rPr>
                          <m:t>𝑗</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C</m:t>
                    </m:r>
                    <m:r>
                      <m:rPr>
                        <m:sty m:val="p"/>
                      </m:rPr>
                      <a:rPr lang="en-IN" sz="2400">
                        <a:solidFill>
                          <a:srgbClr val="78350F"/>
                        </a:solidFill>
                        <a:latin typeface="Cambria Math" panose="02040503050406030204" pitchFamily="18" charset="0"/>
                      </a:rPr>
                      <m:t>o</m:t>
                    </m:r>
                    <m:r>
                      <m:rPr>
                        <m:sty m:val="p"/>
                      </m:rPr>
                      <a:rPr lang="en-IN" sz="2400">
                        <a:solidFill>
                          <a:srgbClr val="78350F"/>
                        </a:solidFill>
                        <a:latin typeface="Cambria Math" panose="02040503050406030204" pitchFamily="18" charset="0"/>
                      </a:rPr>
                      <m:t>v</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$x=I_1+I_2$</a:t>
                </a:r>
                <a:r>
                  <a:rPr sz="2400" b="0">
                    <a:solidFill>
                      <a:srgbClr val="78350F"/>
                    </a:solidFill>
                    <a:latin typeface="Arial"/>
                  </a:rPr>
                  <a:t> (indicator for each drawn orange being defective) and use </a:t>
                </a:r>
                <a:r>
                  <a:rPr lang="en-IN" sz="2400">
                    <a:solidFill>
                      <a:srgbClr val="78350F"/>
                    </a:solidFill>
                    <a:latin typeface="Cambria Math" panose="02040503050406030204" pitchFamily="18" charset="0"/>
                  </a:rPr>
                  <a:t>$\mathrm{Var}=\sum\mathrm{Var}(I_j)+2\,\mathrm{Cov}$</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if the </a:t>
                </a:r>
                <a14:m>
                  <m:oMath xmlns:m="http://schemas.openxmlformats.org/officeDocument/2006/math">
                    <m:r>
                      <a:rPr lang="en-IN" sz="2400" i="1">
                        <a:solidFill>
                          <a:srgbClr val="111827"/>
                        </a:solidFill>
                        <a:latin typeface="Cambria Math" panose="02040503050406030204" pitchFamily="18" charset="0"/>
                      </a:rPr>
                      <m:t>𝑗</m:t>
                    </m:r>
                  </m:oMath>
                </a14:m>
                <a:r>
                  <a:rPr sz="2400" b="0">
                    <a:solidFill>
                      <a:srgbClr val="111827"/>
                    </a:solidFill>
                    <a:latin typeface="Arial"/>
                  </a:rPr>
                  <a:t>-th drawn orange is defective;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100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m:t>
                    </m:r>
                    <m:r>
                      <m:rPr>
                        <m:sty m:val="p"/>
                      </m:rPr>
                      <a:rPr lang="en-IN" sz="2400">
                        <a:solidFill>
                          <a:srgbClr val="111827"/>
                        </a:solidFill>
                        <a:latin typeface="Cambria Math" panose="02040503050406030204" pitchFamily="18" charset="0"/>
                      </a:rPr>
                      <m:t>o</m:t>
                    </m:r>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100</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300</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$I_j=1$</a:t>
                </a:r>
                <a:r>
                  <a:rPr sz="2400" b="0">
                    <a:solidFill>
                      <a:srgbClr val="111827"/>
                    </a:solidFill>
                    <a:latin typeface="Arial"/>
                  </a:rPr>
                  <a:t> if the </a:t>
                </a:r>
                <a:r>
                  <a:rPr lang="en-IN" sz="2400">
                    <a:solidFill>
                      <a:srgbClr val="111827"/>
                    </a:solidFill>
                    <a:latin typeface="Cambria Math" panose="02040503050406030204" pitchFamily="18" charset="0"/>
                  </a:rPr>
                  <a:t>$j$</a:t>
                </a:r>
                <a:r>
                  <a:rPr sz="2400" b="0">
                    <a:solidFill>
                      <a:srgbClr val="111827"/>
                    </a:solidFill>
                    <a:latin typeface="Arial"/>
                  </a:rPr>
                  <a:t>-th drawn orange is defective; </a:t>
                </a:r>
                <a:r>
                  <a:rPr lang="en-IN" sz="2400">
                    <a:solidFill>
                      <a:srgbClr val="111827"/>
                    </a:solidFill>
                    <a:latin typeface="Cambria Math" panose="02040503050406030204" pitchFamily="18" charset="0"/>
                  </a:rPr>
                  <a:t>$P(I_j=1)=\frac3{10}$</a:t>
                </a:r>
                <a:r>
                  <a:rPr sz="2400" b="0">
                    <a:solidFill>
                      <a:srgbClr val="111827"/>
                    </a:solidFill>
                    <a:latin typeface="Arial"/>
                  </a:rPr>
                  <a:t>, so </a:t>
                </a:r>
                <a:r>
                  <a:rPr lang="en-IN" sz="2400">
                    <a:solidFill>
                      <a:srgbClr val="111827"/>
                    </a:solidFill>
                    <a:latin typeface="Cambria Math" panose="02040503050406030204" pitchFamily="18" charset="0"/>
                  </a:rPr>
                  <a:t>$\mathrm{Var}(I_j)=\frac3{10}\cdot\frac7{10}=\frac{21}{100}$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$P(I_1I_2=1)=\frac3{10}\cdot\frac29=\frac1{15}$</a:t>
                </a:r>
                <a:r>
                  <a:rPr sz="2400" b="0">
                    <a:solidFill>
                      <a:srgbClr val="111827"/>
                    </a:solidFill>
                    <a:latin typeface="Arial"/>
                  </a:rPr>
                  <a:t>, so </a:t>
                </a:r>
                <a:r>
                  <a:rPr lang="en-IN" sz="2400">
                    <a:solidFill>
                      <a:srgbClr val="111827"/>
                    </a:solidFill>
                    <a:latin typeface="Cambria Math" panose="02040503050406030204" pitchFamily="18" charset="0"/>
                  </a:rPr>
                  <a:t>$\mathrm{Cov}(I_1,I_2)=\frac1{15}-\frac{9}{100}=-\frac{7}{300}$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100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300</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300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112</m:t>
                        </m:r>
                      </m:num>
                      <m:den>
                        <m:r>
                          <a:rPr lang="en-IN" sz="2400" i="1">
                            <a:solidFill>
                              <a:srgbClr val="111827"/>
                            </a:solidFill>
                            <a:latin typeface="Cambria Math" panose="02040503050406030204" pitchFamily="18" charset="0"/>
                          </a:rPr>
                          <m:t>300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m:t>
                        </m:r>
                      </m:num>
                      <m:den>
                        <m:r>
                          <a:rPr lang="en-IN" sz="2400" i="1">
                            <a:solidFill>
                              <a:srgbClr val="111827"/>
                            </a:solidFill>
                            <a:latin typeface="Cambria Math" panose="02040503050406030204" pitchFamily="18" charset="0"/>
                          </a:rPr>
                          <m:t>75</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$\mathrm{Var}(x)=2\cdot\frac{21}{100}+2\cdot\left(-\frac7{300}\right)=\frac{126-14}{300}=\frac{112}{300}$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$=\frac{28}{75}$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28</m:t>
                        </m:r>
                      </m:num>
                      <m:den>
                        <m:r>
                          <a:rPr lang="en-IN" sz="2800" i="1">
                            <a:solidFill>
                              <a:srgbClr val="15803D"/>
                            </a:solidFill>
                            <a:latin typeface="Cambria Math" panose="02040503050406030204" pitchFamily="18" charset="0"/>
                          </a:rPr>
                          <m:t>75</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$\frac{28}{75}$</a:t>
                </a:r>
                <a:endParaRPr sz="2800">
                  <a:solidFill>
                    <a:srgbClr val="15803D"/>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Sampling without replacement makes the indicators negatively correlated: </a:t>
                </a:r>
                <a14:m>
                  <m:oMath xmlns:m="http://schemas.openxmlformats.org/officeDocument/2006/math">
                    <m:r>
                      <m:rPr>
                        <m:sty m:val="p"/>
                      </m:rPr>
                      <a:rPr lang="en-IN" sz="2400">
                        <a:solidFill>
                          <a:srgbClr val="111827"/>
                        </a:solidFill>
                        <a:latin typeface="Cambria Math" panose="02040503050406030204" pitchFamily="18" charset="0"/>
                      </a:rPr>
                      <m:t>C</m:t>
                    </m:r>
                    <m:r>
                      <m:rPr>
                        <m:sty m:val="p"/>
                      </m:rPr>
                      <a:rPr lang="en-IN" sz="2400">
                        <a:solidFill>
                          <a:srgbClr val="111827"/>
                        </a:solidFill>
                        <a:latin typeface="Cambria Math" panose="02040503050406030204" pitchFamily="18" charset="0"/>
                      </a:rPr>
                      <m:t>o</m:t>
                    </m:r>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(here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300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Hypergeometric variance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𝐾</m:t>
                        </m:r>
                      </m:num>
                      <m:den>
                        <m:r>
                          <a:rPr lang="en-IN" sz="2400" i="1">
                            <a:solidFill>
                              <a:srgbClr val="111827"/>
                            </a:solidFill>
                            <a:latin typeface="Cambria Math" panose="02040503050406030204" pitchFamily="18" charset="0"/>
                          </a:rPr>
                          <m:t>𝑁</m:t>
                        </m:r>
                      </m:den>
                    </m:f>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𝐾</m:t>
                        </m:r>
                      </m:num>
                      <m:den>
                        <m:r>
                          <a:rPr lang="en-IN" sz="2400" i="1">
                            <a:solidFill>
                              <a:srgbClr val="111827"/>
                            </a:solidFill>
                            <a:latin typeface="Cambria Math" panose="02040503050406030204" pitchFamily="18" charset="0"/>
                          </a:rPr>
                          <m:t>𝑁</m:t>
                        </m:r>
                      </m:den>
                    </m:f>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this question is identical in data to Q3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𝑛</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𝐾</m:t>
                        </m:r>
                      </m:num>
                      <m:den>
                        <m:r>
                          <a:rPr lang="en-IN" sz="2400" i="1">
                            <a:solidFill>
                              <a:srgbClr val="111827"/>
                            </a:solidFill>
                            <a:latin typeface="Cambria Math" panose="02040503050406030204" pitchFamily="18" charset="0"/>
                          </a:rPr>
                          <m:t>𝑁</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whichever way the sample is drawn.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Sampling without replacement makes the indicators negatively correlated: </a:t>
                </a:r>
                <a:r>
                  <a:rPr lang="en-IN" sz="2400">
                    <a:solidFill>
                      <a:srgbClr val="111827"/>
                    </a:solidFill>
                    <a:latin typeface="Cambria Math" panose="02040503050406030204" pitchFamily="18" charset="0"/>
                  </a:rPr>
                  <a:t>$\mathrm{Cov}(I_1,I_2)=-\frac{p(1-p)}{N-1}$</a:t>
                </a:r>
                <a:r>
                  <a:rPr sz="2400" b="0">
                    <a:solidFill>
                      <a:srgbClr val="111827"/>
                    </a:solidFill>
                    <a:latin typeface="Arial"/>
                  </a:rPr>
                  <a:t> (here </a:t>
                </a:r>
                <a:r>
                  <a:rPr lang="en-IN" sz="2400">
                    <a:solidFill>
                      <a:srgbClr val="111827"/>
                    </a:solidFill>
                    <a:latin typeface="Cambria Math" panose="02040503050406030204" pitchFamily="18" charset="0"/>
                  </a:rPr>
                  <a:t>$-\frac{21/100}{9}=-\frac7{300}$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Hypergeometric variance </a:t>
                </a:r>
                <a:r>
                  <a:rPr lang="en-IN" sz="2400">
                    <a:solidFill>
                      <a:srgbClr val="111827"/>
                    </a:solidFill>
                    <a:latin typeface="Cambria Math" panose="02040503050406030204" pitchFamily="18" charset="0"/>
                  </a:rPr>
                  <a:t>$=n\frac KN\frac{N-K}{N}\frac{N-n}{N-1}$</a:t>
                </a:r>
                <a:r>
                  <a:rPr sz="2400" b="0">
                    <a:solidFill>
                      <a:srgbClr val="111827"/>
                    </a:solidFill>
                    <a:latin typeface="Arial"/>
                  </a:rPr>
                  <a:t>; this question is identical in data to Q3 (</a:t>
                </a:r>
                <a:r>
                  <a:rPr lang="en-IN" sz="2400">
                    <a:solidFill>
                      <a:srgbClr val="111827"/>
                    </a:solidFill>
                    <a:latin typeface="Cambria Math" panose="02040503050406030204" pitchFamily="18" charset="0"/>
                  </a:rPr>
                  <a:t>$N=10,K=3,n=2$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of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$n\frac KN=\frac35$</a:t>
                </a:r>
                <a:r>
                  <a:rPr sz="2400" b="0">
                    <a:solidFill>
                      <a:srgbClr val="111827"/>
                    </a:solidFill>
                    <a:latin typeface="Arial"/>
                  </a:rPr>
                  <a:t> whichever way the sample is drawn.</a:t>
                </a:r>
                <a:endParaRPr sz="2400">
                  <a:solidFill>
                    <a:srgbClr val="111827"/>
                  </a:solidFill>
                </a:endParaRP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Bag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contains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white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blue balls, Bag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contains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white and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blue balls, and Bag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contains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white and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blue balls. One of the bags is selected at random and a ball is drawn from it. If the ball is white, then the probability that the ball is drawn from Bag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endParaRPr sz="2400">
                  <a:solidFill>
                    <a:srgbClr val="111827"/>
                  </a:solidFill>
                </a:endParaRPr>
              </a:p>
            </p:txBody>
          </p:sp>
        </mc:Choice>
        <mc:Fallback>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Bag </a:t>
                </a:r>
                <a:r>
                  <a:rPr lang="en-IN" sz="2400">
                    <a:solidFill>
                      <a:srgbClr val="111827"/>
                    </a:solidFill>
                    <a:latin typeface="Cambria Math" panose="02040503050406030204" pitchFamily="18" charset="0"/>
                  </a:rPr>
                  <a:t>$B_1$</a:t>
                </a:r>
                <a:r>
                  <a:rPr sz="2400" b="0">
                    <a:solidFill>
                      <a:srgbClr val="111827"/>
                    </a:solidFill>
                    <a:latin typeface="Arial"/>
                  </a:rPr>
                  <a:t> contains </a:t>
                </a:r>
                <a:r>
                  <a:rPr lang="en-IN" sz="2400">
                    <a:solidFill>
                      <a:srgbClr val="111827"/>
                    </a:solidFill>
                    <a:latin typeface="Cambria Math" panose="02040503050406030204" pitchFamily="18" charset="0"/>
                  </a:rPr>
                  <a:t>$6$</a:t>
                </a:r>
                <a:r>
                  <a:rPr sz="2400" b="0">
                    <a:solidFill>
                      <a:srgbClr val="111827"/>
                    </a:solidFill>
                    <a:latin typeface="Arial"/>
                  </a:rPr>
                  <a:t> white and </a:t>
                </a:r>
                <a:r>
                  <a:rPr lang="en-IN" sz="2400">
                    <a:solidFill>
                      <a:srgbClr val="111827"/>
                    </a:solidFill>
                    <a:latin typeface="Cambria Math" panose="02040503050406030204" pitchFamily="18" charset="0"/>
                  </a:rPr>
                  <a:t>$4$</a:t>
                </a:r>
                <a:r>
                  <a:rPr sz="2400" b="0">
                    <a:solidFill>
                      <a:srgbClr val="111827"/>
                    </a:solidFill>
                    <a:latin typeface="Arial"/>
                  </a:rPr>
                  <a:t> blue balls, Bag </a:t>
                </a:r>
                <a:r>
                  <a:rPr lang="en-IN" sz="2400">
                    <a:solidFill>
                      <a:srgbClr val="111827"/>
                    </a:solidFill>
                    <a:latin typeface="Cambria Math" panose="02040503050406030204" pitchFamily="18" charset="0"/>
                  </a:rPr>
                  <a:t>$B_2$</a:t>
                </a:r>
                <a:r>
                  <a:rPr sz="2400" b="0">
                    <a:solidFill>
                      <a:srgbClr val="111827"/>
                    </a:solidFill>
                    <a:latin typeface="Arial"/>
                  </a:rPr>
                  <a:t> contains </a:t>
                </a:r>
                <a:r>
                  <a:rPr lang="en-IN" sz="2400">
                    <a:solidFill>
                      <a:srgbClr val="111827"/>
                    </a:solidFill>
                    <a:latin typeface="Cambria Math" panose="02040503050406030204" pitchFamily="18" charset="0"/>
                  </a:rPr>
                  <a:t>$4$</a:t>
                </a:r>
                <a:r>
                  <a:rPr sz="2400" b="0">
                    <a:solidFill>
                      <a:srgbClr val="111827"/>
                    </a:solidFill>
                    <a:latin typeface="Arial"/>
                  </a:rPr>
                  <a:t> white and </a:t>
                </a:r>
                <a:r>
                  <a:rPr lang="en-IN" sz="2400">
                    <a:solidFill>
                      <a:srgbClr val="111827"/>
                    </a:solidFill>
                    <a:latin typeface="Cambria Math" panose="02040503050406030204" pitchFamily="18" charset="0"/>
                  </a:rPr>
                  <a:t>$6$</a:t>
                </a:r>
                <a:r>
                  <a:rPr sz="2400" b="0">
                    <a:solidFill>
                      <a:srgbClr val="111827"/>
                    </a:solidFill>
                    <a:latin typeface="Arial"/>
                  </a:rPr>
                  <a:t> blue balls, and Bag </a:t>
                </a:r>
                <a:r>
                  <a:rPr lang="en-IN" sz="2400">
                    <a:solidFill>
                      <a:srgbClr val="111827"/>
                    </a:solidFill>
                    <a:latin typeface="Cambria Math" panose="02040503050406030204" pitchFamily="18" charset="0"/>
                  </a:rPr>
                  <a:t>$B_3$</a:t>
                </a:r>
                <a:r>
                  <a:rPr sz="2400" b="0">
                    <a:solidFill>
                      <a:srgbClr val="111827"/>
                    </a:solidFill>
                    <a:latin typeface="Arial"/>
                  </a:rPr>
                  <a:t> contains </a:t>
                </a:r>
                <a:r>
                  <a:rPr lang="en-IN" sz="2400">
                    <a:solidFill>
                      <a:srgbClr val="111827"/>
                    </a:solidFill>
                    <a:latin typeface="Cambria Math" panose="02040503050406030204" pitchFamily="18" charset="0"/>
                  </a:rPr>
                  <a:t>$5$</a:t>
                </a:r>
                <a:r>
                  <a:rPr sz="2400" b="0">
                    <a:solidFill>
                      <a:srgbClr val="111827"/>
                    </a:solidFill>
                    <a:latin typeface="Arial"/>
                  </a:rPr>
                  <a:t> white and </a:t>
                </a:r>
                <a:r>
                  <a:rPr lang="en-IN" sz="2400">
                    <a:solidFill>
                      <a:srgbClr val="111827"/>
                    </a:solidFill>
                    <a:latin typeface="Cambria Math" panose="02040503050406030204" pitchFamily="18" charset="0"/>
                  </a:rPr>
                  <a:t>$5$</a:t>
                </a:r>
                <a:r>
                  <a:rPr sz="2400" b="0">
                    <a:solidFill>
                      <a:srgbClr val="111827"/>
                    </a:solidFill>
                    <a:latin typeface="Arial"/>
                  </a:rPr>
                  <a:t> blue balls. One of the bags is selected at random and a ball is drawn from it. If the ball is white, then the probability that the ball is drawn from Bag </a:t>
                </a:r>
                <a:r>
                  <a:rPr lang="en-IN" sz="2400">
                    <a:solidFill>
                      <a:srgbClr val="111827"/>
                    </a:solidFill>
                    <a:latin typeface="Cambria Math" panose="02040503050406030204" pitchFamily="18" charset="0"/>
                  </a:rPr>
                  <a:t>$B_2$</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$\frac25$</a:t>
                </a:r>
                <a:r>
                  <a:rPr sz="2400" b="0">
                    <a:solidFill>
                      <a:srgbClr val="111827"/>
                    </a:solidFill>
                    <a:latin typeface="Arial"/>
                  </a:rPr>
                  <a:t>   (B) </a:t>
                </a:r>
                <a:r>
                  <a:rPr lang="en-IN" sz="2400">
                    <a:solidFill>
                      <a:srgbClr val="111827"/>
                    </a:solidFill>
                    <a:latin typeface="Cambria Math" panose="02040503050406030204" pitchFamily="18" charset="0"/>
                  </a:rPr>
                  <a:t>$\frac13$</a:t>
                </a:r>
                <a:r>
                  <a:rPr sz="2400" b="0">
                    <a:solidFill>
                      <a:srgbClr val="111827"/>
                    </a:solidFill>
                    <a:latin typeface="Arial"/>
                  </a:rPr>
                  <a:t>   (C) </a:t>
                </a:r>
                <a:r>
                  <a:rPr lang="en-IN" sz="2400">
                    <a:solidFill>
                      <a:srgbClr val="111827"/>
                    </a:solidFill>
                    <a:latin typeface="Cambria Math" panose="02040503050406030204" pitchFamily="18" charset="0"/>
                  </a:rPr>
                  <a:t>$\frac4{15}$</a:t>
                </a:r>
                <a:r>
                  <a:rPr sz="2400" b="0">
                    <a:solidFill>
                      <a:srgbClr val="111827"/>
                    </a:solidFill>
                    <a:latin typeface="Arial"/>
                  </a:rPr>
                  <a:t>   (D) </a:t>
                </a:r>
                <a:r>
                  <a:rPr lang="en-IN" sz="2400">
                    <a:solidFill>
                      <a:srgbClr val="111827"/>
                    </a:solidFill>
                    <a:latin typeface="Cambria Math" panose="02040503050406030204" pitchFamily="18" charset="0"/>
                  </a:rPr>
                  <a:t>$\frac23$</a:t>
                </a:r>
                <a:endParaRPr sz="2400">
                  <a:solidFill>
                    <a:srgbClr val="111827"/>
                  </a:solidFill>
                </a:endParaRPr>
              </a:p>
            </p:txBody>
          </p:sp>
        </mc:Fallback>
      </mc:AlternateContent>
      <p:sp>
        <p:nvSpPr>
          <p:cNvPr id="5" name="Rectangle 4"/>
          <p:cNvSpPr/>
          <p:nvPr/>
        </p:nvSpPr>
        <p:spPr>
          <a:xfrm>
            <a:off x="731520" y="443382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Total probability and Bayes'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Bayes: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𝑊</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𝑊</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num>
                      <m:den>
                        <m:nary>
                          <m:naryPr>
                            <m:chr m:val="∑"/>
                            <m:limLoc m:val="undOvr"/>
                            <m:subHide m:val="off"/>
                            <m:supHide m:val="on"/>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𝑖</m:t>
                            </m:r>
                          </m:sub>
                          <m:sup>
                            <m:r>
                              <a:rPr lang="en-IN" sz="2400" i="1">
                                <a:solidFill>
                                  <a:srgbClr val="78350F"/>
                                </a:solidFill>
                                <a:latin typeface="Cambria Math" panose="02040503050406030204" pitchFamily="18" charset="0"/>
                              </a:rPr>
                              <m:t>​</m:t>
                            </m:r>
                          </m:sup>
                          <m:e>
                            <m:r>
                              <a:rPr lang="en-IN" sz="2400" i="1">
                                <a:solidFill>
                                  <a:srgbClr val="78350F"/>
                                </a:solidFill>
                                <a:latin typeface="Cambria Math" panose="02040503050406030204" pitchFamily="18" charset="0"/>
                              </a:rPr>
                              <m:t>𝑃</m:t>
                            </m:r>
                          </m:e>
                        </m:nary>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𝑊</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with equal priors.</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Bayes: </a:t>
                </a:r>
                <a:r>
                  <a:rPr lang="en-IN" sz="2400">
                    <a:solidFill>
                      <a:srgbClr val="78350F"/>
                    </a:solidFill>
                    <a:latin typeface="Cambria Math" panose="02040503050406030204" pitchFamily="18" charset="0"/>
                  </a:rPr>
                  <a:t>$P(B_2\mid W)=\frac{P(B_2)P(W\mid B_2)}{\sum_iP(B_i)P(W\mid B_i)}$</a:t>
                </a:r>
                <a:r>
                  <a:rPr sz="2400" b="0">
                    <a:solidFill>
                      <a:srgbClr val="78350F"/>
                    </a:solidFill>
                    <a:latin typeface="Arial"/>
                  </a:rPr>
                  <a:t> with equal priors.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bag is chosen with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𝑊</m:t>
                    </m:r>
                  </m:oMath>
                </a14:m>
                <a:r>
                  <a:rPr sz="2400" b="0">
                    <a:solidFill>
                      <a:srgbClr val="111827"/>
                    </a:solidFill>
                    <a:latin typeface="Arial"/>
                  </a:rPr>
                  <a:t> is the event that the ball is white.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Numerator: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bag is chosen with probability </a:t>
                </a:r>
                <a:r>
                  <a:rPr lang="en-IN" sz="2400">
                    <a:solidFill>
                      <a:srgbClr val="111827"/>
                    </a:solidFill>
                    <a:latin typeface="Cambria Math" panose="02040503050406030204" pitchFamily="18" charset="0"/>
                  </a:rPr>
                  <a:t>$\frac13$</a:t>
                </a:r>
                <a:r>
                  <a:rPr sz="2400" b="0">
                    <a:solidFill>
                      <a:srgbClr val="111827"/>
                    </a:solidFill>
                    <a:latin typeface="Arial"/>
                  </a:rPr>
                  <a:t>; </a:t>
                </a:r>
                <a:r>
                  <a:rPr lang="en-IN" sz="2400">
                    <a:solidFill>
                      <a:srgbClr val="111827"/>
                    </a:solidFill>
                    <a:latin typeface="Cambria Math" panose="02040503050406030204" pitchFamily="18" charset="0"/>
                  </a:rPr>
                  <a:t>$W$</a:t>
                </a:r>
                <a:r>
                  <a:rPr sz="2400" b="0">
                    <a:solidFill>
                      <a:srgbClr val="111827"/>
                    </a:solidFill>
                    <a:latin typeface="Arial"/>
                  </a:rPr>
                  <a:t> is the event that the ball is white.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$P(B_2\mid W)=\frac{P(B_2\cap W)}{P(W)}$</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Numerator: </a:t>
                </a:r>
                <a:r>
                  <a:rPr lang="en-IN" sz="2400">
                    <a:solidFill>
                      <a:srgbClr val="111827"/>
                    </a:solidFill>
                    <a:latin typeface="Cambria Math" panose="02040503050406030204" pitchFamily="18" charset="0"/>
                  </a:rPr>
                  <a:t>$\frac13\cdot\frac4{10}$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Denominator: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10</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10</m:t>
                            </m:r>
                          </m:den>
                        </m:f>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10</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Denominator: </a:t>
                </a:r>
                <a:r>
                  <a:rPr lang="en-IN" sz="2400">
                    <a:solidFill>
                      <a:srgbClr val="111827"/>
                    </a:solidFill>
                    <a:latin typeface="Cambria Math" panose="02040503050406030204" pitchFamily="18" charset="0"/>
                  </a:rPr>
                  <a:t>$P(W)=\frac13\left(\frac6{10}+\frac4{10}+\frac5{10}\right)$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$P(B_2\mid W)=\frac{\frac{4}{10}}{\frac{15}{10}}=\frac{4}{15}$</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4</m:t>
                        </m:r>
                      </m:num>
                      <m:den>
                        <m:r>
                          <a:rPr lang="en-IN" sz="2800" i="1">
                            <a:solidFill>
                              <a:srgbClr val="15803D"/>
                            </a:solidFill>
                            <a:latin typeface="Cambria Math" panose="02040503050406030204" pitchFamily="18" charset="0"/>
                          </a:rPr>
                          <m:t>15</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$\frac{4}{15}$</a:t>
                </a:r>
                <a:endParaRPr sz="2800">
                  <a:solidFill>
                    <a:srgbClr val="15803D"/>
                  </a:solidFill>
                </a:endParaRPr>
              </a:p>
            </p:txBody>
          </p:sp>
        </mc:Fallback>
      </mc:AlternateContent>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bags have equal size and equal chance, so the draw is uniform over all </a:t>
                </a:r>
                <a14:m>
                  <m:oMath xmlns:m="http://schemas.openxmlformats.org/officeDocument/2006/math">
                    <m:r>
                      <a:rPr lang="en-IN" sz="2400" i="1">
                        <a:solidFill>
                          <a:srgbClr val="78350F"/>
                        </a:solidFill>
                        <a:latin typeface="Cambria Math" panose="02040503050406030204" pitchFamily="18" charset="0"/>
                      </a:rPr>
                      <m:t>30</m:t>
                    </m:r>
                  </m:oMath>
                </a14:m>
                <a:r>
                  <a:rPr sz="2400" b="0">
                    <a:solidFill>
                      <a:srgbClr val="78350F"/>
                    </a:solidFill>
                    <a:latin typeface="Arial"/>
                  </a:rPr>
                  <a:t> balls: count white balls.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bags have equal size and equal chance, so the draw is uniform over all </a:t>
                </a:r>
                <a:r>
                  <a:rPr lang="en-IN" sz="2400">
                    <a:solidFill>
                      <a:srgbClr val="78350F"/>
                    </a:solidFill>
                    <a:latin typeface="Cambria Math" panose="02040503050406030204" pitchFamily="18" charset="0"/>
                  </a:rPr>
                  <a:t>$30$</a:t>
                </a:r>
                <a:r>
                  <a:rPr sz="2400" b="0">
                    <a:solidFill>
                      <a:srgbClr val="78350F"/>
                    </a:solidFill>
                    <a:latin typeface="Arial"/>
                  </a:rPr>
                  <a:t> balls: count white balls.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Choosing a bag uniformly and then a ball uniformly from a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-ball bag is the same as choosing one of the </a:t>
                </a:r>
                <a14:m>
                  <m:oMath xmlns:m="http://schemas.openxmlformats.org/officeDocument/2006/math">
                    <m:r>
                      <a:rPr lang="en-IN" sz="2400" i="1">
                        <a:solidFill>
                          <a:srgbClr val="111827"/>
                        </a:solidFill>
                        <a:latin typeface="Cambria Math" panose="02040503050406030204" pitchFamily="18" charset="0"/>
                      </a:rPr>
                      <m:t>30</m:t>
                    </m:r>
                  </m:oMath>
                </a14:m>
                <a:r>
                  <a:rPr sz="2400" b="0">
                    <a:solidFill>
                      <a:srgbClr val="111827"/>
                    </a:solidFill>
                    <a:latin typeface="Arial"/>
                  </a:rPr>
                  <a:t> balls uniformly.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White balls in all: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White balls belonging to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 white ball, the probability it came from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Choosing a bag uniformly and then a ball uniformly from a </a:t>
                </a:r>
                <a:r>
                  <a:rPr lang="en-IN" sz="2400">
                    <a:solidFill>
                      <a:srgbClr val="111827"/>
                    </a:solidFill>
                    <a:latin typeface="Cambria Math" panose="02040503050406030204" pitchFamily="18" charset="0"/>
                  </a:rPr>
                  <a:t>$10$</a:t>
                </a:r>
                <a:r>
                  <a:rPr sz="2400" b="0">
                    <a:solidFill>
                      <a:srgbClr val="111827"/>
                    </a:solidFill>
                    <a:latin typeface="Arial"/>
                  </a:rPr>
                  <a:t>-ball bag is the same as choosing one of the </a:t>
                </a:r>
                <a:r>
                  <a:rPr lang="en-IN" sz="2400">
                    <a:solidFill>
                      <a:srgbClr val="111827"/>
                    </a:solidFill>
                    <a:latin typeface="Cambria Math" panose="02040503050406030204" pitchFamily="18" charset="0"/>
                  </a:rPr>
                  <a:t>$30$</a:t>
                </a:r>
                <a:r>
                  <a:rPr sz="2400" b="0">
                    <a:solidFill>
                      <a:srgbClr val="111827"/>
                    </a:solidFill>
                    <a:latin typeface="Arial"/>
                  </a:rPr>
                  <a:t> balls uniformly.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White balls in all: </a:t>
                </a:r>
                <a:r>
                  <a:rPr lang="en-IN" sz="2400">
                    <a:solidFill>
                      <a:srgbClr val="111827"/>
                    </a:solidFill>
                    <a:latin typeface="Cambria Math" panose="02040503050406030204" pitchFamily="18" charset="0"/>
                  </a:rPr>
                  <a:t>$6+4+5=15$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White balls belonging to </a:t>
                </a:r>
                <a:r>
                  <a:rPr lang="en-IN" sz="2400">
                    <a:solidFill>
                      <a:srgbClr val="111827"/>
                    </a:solidFill>
                    <a:latin typeface="Cambria Math" panose="02040503050406030204" pitchFamily="18" charset="0"/>
                  </a:rPr>
                  <a:t>$B_2$</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 white ball, the probability it came from </a:t>
                </a:r>
                <a:r>
                  <a:rPr lang="en-IN" sz="2400">
                    <a:solidFill>
                      <a:srgbClr val="111827"/>
                    </a:solidFill>
                    <a:latin typeface="Cambria Math" panose="02040503050406030204" pitchFamily="18" charset="0"/>
                  </a:rPr>
                  <a:t>$B_2$</a:t>
                </a:r>
                <a:r>
                  <a:rPr sz="2400" b="0">
                    <a:solidFill>
                      <a:srgbClr val="111827"/>
                    </a:solidFill>
                    <a:latin typeface="Arial"/>
                  </a:rPr>
                  <a:t> is </a:t>
                </a:r>
                <a:r>
                  <a:rPr lang="en-IN" sz="2400">
                    <a:solidFill>
                      <a:srgbClr val="111827"/>
                    </a:solidFill>
                    <a:latin typeface="Cambria Math" panose="02040503050406030204" pitchFamily="18" charset="0"/>
                  </a:rPr>
                  <a:t>$\frac{4}{15}$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4</m:t>
                        </m:r>
                      </m:num>
                      <m:den>
                        <m:r>
                          <a:rPr lang="en-IN" sz="2800" i="1">
                            <a:solidFill>
                              <a:srgbClr val="15803D"/>
                            </a:solidFill>
                            <a:latin typeface="Cambria Math" panose="02040503050406030204" pitchFamily="18" charset="0"/>
                          </a:rPr>
                          <m:t>15</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$\frac{4}{15}$</a:t>
                </a:r>
                <a:endParaRPr sz="2800">
                  <a:solidFill>
                    <a:srgbClr val="15803D"/>
                  </a:solidFill>
                </a:endParaRPr>
              </a:p>
            </p:txBody>
          </p:sp>
        </mc:Fallback>
      </mc:AlternateContent>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 priors and equal bag sizes: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𝑓𝑎𝑣𝑜𝑢𝑟𝑎𝑏𝑙𝑒 𝑏𝑎𝑙𝑙𝑠 𝑖𝑛 </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𝑖</m:t>
                            </m:r>
                          </m:sub>
                        </m:sSub>
                      </m:num>
                      <m:den>
                        <m:r>
                          <m:rPr>
                            <m:nor/>
                          </m:rPr>
                          <a:rPr lang="en-IN" sz="2400" i="1">
                            <a:solidFill>
                              <a:srgbClr val="111827"/>
                            </a:solidFill>
                            <a:latin typeface="Cambria Math" panose="02040503050406030204" pitchFamily="18" charset="0"/>
                          </a:rPr>
                          <m:t>𝑎𝑙𝑙 𝑓𝑎𝑣𝑜𝑢𝑟𝑎𝑏𝑙𝑒 𝑏𝑎𝑙𝑙𝑠</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Law of total probability: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𝑃</m:t>
                        </m:r>
                      </m:e>
                    </m:nary>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Posteriors for the three bags: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which add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 priors and equal bag sizes: </a:t>
                </a:r>
                <a:r>
                  <a:rPr lang="en-IN" sz="2400">
                    <a:solidFill>
                      <a:srgbClr val="111827"/>
                    </a:solidFill>
                    <a:latin typeface="Cambria Math" panose="02040503050406030204" pitchFamily="18" charset="0"/>
                  </a:rPr>
                  <a:t>$P(B_i\mid E)=\frac{\text{favourable balls in }B_i}{\text{all favourable balls}}$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Law of total probability: </a:t>
                </a:r>
                <a:r>
                  <a:rPr lang="en-IN" sz="2400">
                    <a:solidFill>
                      <a:srgbClr val="111827"/>
                    </a:solidFill>
                    <a:latin typeface="Cambria Math" panose="02040503050406030204" pitchFamily="18" charset="0"/>
                  </a:rPr>
                  <a:t>$P(W)=\sum_iP(B_i)P(W\mid B_i)=\frac13\cdot\frac{15}{10}=\frac12$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Posteriors for the three bags: </a:t>
                </a:r>
                <a:r>
                  <a:rPr lang="en-IN" sz="2400">
                    <a:solidFill>
                      <a:srgbClr val="111827"/>
                    </a:solidFill>
                    <a:latin typeface="Cambria Math" panose="02040503050406030204" pitchFamily="18" charset="0"/>
                  </a:rPr>
                  <a:t>$\frac{6}{15},\frac{4}{15},\frac{5}{15}$</a:t>
                </a:r>
                <a:r>
                  <a:rPr sz="2400" b="0">
                    <a:solidFill>
                      <a:srgbClr val="111827"/>
                    </a:solidFill>
                    <a:latin typeface="Arial"/>
                  </a:rPr>
                  <a:t>, which add to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Bag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contains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white balls and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black balls, and Bag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contains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white balls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black balls. One ball is drawn randomly from Bag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transferred to Bag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 ball is then drawn randomly from Bag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If the probability that the ball drawn is white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45</m:t>
                        </m:r>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m:t>
                    </m:r>
                  </m:oMath>
                </a14:m>
                <a:endParaRPr sz="2400">
                  <a:solidFill>
                    <a:srgbClr val="111827"/>
                  </a:solidFill>
                </a:endParaRPr>
              </a:p>
            </p:txBody>
          </p:sp>
        </mc:Choice>
        <mc:Fallback>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Bag </a:t>
                </a:r>
                <a:r>
                  <a:rPr lang="en-IN" sz="2400">
                    <a:solidFill>
                      <a:srgbClr val="111827"/>
                    </a:solidFill>
                    <a:latin typeface="Cambria Math" panose="02040503050406030204" pitchFamily="18" charset="0"/>
                  </a:rPr>
                  <a:t>$1$</a:t>
                </a:r>
                <a:r>
                  <a:rPr sz="2400" b="0">
                    <a:solidFill>
                      <a:srgbClr val="111827"/>
                    </a:solidFill>
                    <a:latin typeface="Arial"/>
                  </a:rPr>
                  <a:t> contains </a:t>
                </a:r>
                <a:r>
                  <a:rPr lang="en-IN" sz="2400">
                    <a:solidFill>
                      <a:srgbClr val="111827"/>
                    </a:solidFill>
                    <a:latin typeface="Cambria Math" panose="02040503050406030204" pitchFamily="18" charset="0"/>
                  </a:rPr>
                  <a:t>$4$</a:t>
                </a:r>
                <a:r>
                  <a:rPr sz="2400" b="0">
                    <a:solidFill>
                      <a:srgbClr val="111827"/>
                    </a:solidFill>
                    <a:latin typeface="Arial"/>
                  </a:rPr>
                  <a:t> white balls and </a:t>
                </a:r>
                <a:r>
                  <a:rPr lang="en-IN" sz="2400">
                    <a:solidFill>
                      <a:srgbClr val="111827"/>
                    </a:solidFill>
                    <a:latin typeface="Cambria Math" panose="02040503050406030204" pitchFamily="18" charset="0"/>
                  </a:rPr>
                  <a:t>$5$</a:t>
                </a:r>
                <a:r>
                  <a:rPr sz="2400" b="0">
                    <a:solidFill>
                      <a:srgbClr val="111827"/>
                    </a:solidFill>
                    <a:latin typeface="Arial"/>
                  </a:rPr>
                  <a:t> black balls, and Bag </a:t>
                </a:r>
                <a:r>
                  <a:rPr lang="en-IN" sz="2400">
                    <a:solidFill>
                      <a:srgbClr val="111827"/>
                    </a:solidFill>
                    <a:latin typeface="Cambria Math" panose="02040503050406030204" pitchFamily="18" charset="0"/>
                  </a:rPr>
                  <a:t>$2$</a:t>
                </a:r>
                <a:r>
                  <a:rPr sz="2400" b="0">
                    <a:solidFill>
                      <a:srgbClr val="111827"/>
                    </a:solidFill>
                    <a:latin typeface="Arial"/>
                  </a:rPr>
                  <a:t> contains </a:t>
                </a:r>
                <a:r>
                  <a:rPr lang="en-IN" sz="2400">
                    <a:solidFill>
                      <a:srgbClr val="111827"/>
                    </a:solidFill>
                    <a:latin typeface="Cambria Math" panose="02040503050406030204" pitchFamily="18" charset="0"/>
                  </a:rPr>
                  <a:t>$n$</a:t>
                </a:r>
                <a:r>
                  <a:rPr sz="2400" b="0">
                    <a:solidFill>
                      <a:srgbClr val="111827"/>
                    </a:solidFill>
                    <a:latin typeface="Arial"/>
                  </a:rPr>
                  <a:t> white balls and </a:t>
                </a:r>
                <a:r>
                  <a:rPr lang="en-IN" sz="2400">
                    <a:solidFill>
                      <a:srgbClr val="111827"/>
                    </a:solidFill>
                    <a:latin typeface="Cambria Math" panose="02040503050406030204" pitchFamily="18" charset="0"/>
                  </a:rPr>
                  <a:t>$3$</a:t>
                </a:r>
                <a:r>
                  <a:rPr sz="2400" b="0">
                    <a:solidFill>
                      <a:srgbClr val="111827"/>
                    </a:solidFill>
                    <a:latin typeface="Arial"/>
                  </a:rPr>
                  <a:t> black balls. One ball is drawn randomly from Bag </a:t>
                </a:r>
                <a:r>
                  <a:rPr lang="en-IN" sz="2400">
                    <a:solidFill>
                      <a:srgbClr val="111827"/>
                    </a:solidFill>
                    <a:latin typeface="Cambria Math" panose="02040503050406030204" pitchFamily="18" charset="0"/>
                  </a:rPr>
                  <a:t>$1$</a:t>
                </a:r>
                <a:r>
                  <a:rPr sz="2400" b="0">
                    <a:solidFill>
                      <a:srgbClr val="111827"/>
                    </a:solidFill>
                    <a:latin typeface="Arial"/>
                  </a:rPr>
                  <a:t> and transferred to Bag </a:t>
                </a:r>
                <a:r>
                  <a:rPr lang="en-IN" sz="2400">
                    <a:solidFill>
                      <a:srgbClr val="111827"/>
                    </a:solidFill>
                    <a:latin typeface="Cambria Math" panose="02040503050406030204" pitchFamily="18" charset="0"/>
                  </a:rPr>
                  <a:t>$2$</a:t>
                </a:r>
                <a:r>
                  <a:rPr sz="2400" b="0">
                    <a:solidFill>
                      <a:srgbClr val="111827"/>
                    </a:solidFill>
                    <a:latin typeface="Arial"/>
                  </a:rPr>
                  <a:t>. A ball is then drawn randomly from Bag </a:t>
                </a:r>
                <a:r>
                  <a:rPr lang="en-IN" sz="2400">
                    <a:solidFill>
                      <a:srgbClr val="111827"/>
                    </a:solidFill>
                    <a:latin typeface="Cambria Math" panose="02040503050406030204" pitchFamily="18" charset="0"/>
                  </a:rPr>
                  <a:t>$2$</a:t>
                </a:r>
                <a:r>
                  <a:rPr sz="2400" b="0">
                    <a:solidFill>
                      <a:srgbClr val="111827"/>
                    </a:solidFill>
                    <a:latin typeface="Arial"/>
                  </a:rPr>
                  <a:t>. If the probability that the ball drawn is white is </a:t>
                </a:r>
                <a:r>
                  <a:rPr lang="en-IN" sz="2400">
                    <a:solidFill>
                      <a:srgbClr val="111827"/>
                    </a:solidFill>
                    <a:latin typeface="Cambria Math" panose="02040503050406030204" pitchFamily="18" charset="0"/>
                  </a:rPr>
                  <a:t>$\frac{29}{45}$</a:t>
                </a:r>
                <a:r>
                  <a:rPr sz="2400" b="0">
                    <a:solidFill>
                      <a:srgbClr val="111827"/>
                    </a:solidFill>
                    <a:latin typeface="Arial"/>
                  </a:rPr>
                  <a:t>, then </a:t>
                </a:r>
                <a:r>
                  <a:rPr lang="en-IN" sz="2400">
                    <a:solidFill>
                      <a:srgbClr val="111827"/>
                    </a:solidFill>
                    <a:latin typeface="Cambria Math" panose="02040503050406030204" pitchFamily="18" charset="0"/>
                  </a:rPr>
                  <a:t>$n$</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a:t>
                </a:r>
                <a:r>
                  <a:rPr sz="2400" b="0">
                    <a:solidFill>
                      <a:srgbClr val="111827"/>
                    </a:solidFill>
                    <a:latin typeface="Arial"/>
                  </a:rPr>
                  <a:t>   (B) </a:t>
                </a:r>
                <a:r>
                  <a:rPr lang="en-IN" sz="2400">
                    <a:solidFill>
                      <a:srgbClr val="111827"/>
                    </a:solidFill>
                    <a:latin typeface="Cambria Math" panose="02040503050406030204" pitchFamily="18" charset="0"/>
                  </a:rPr>
                  <a:t>$5$</a:t>
                </a:r>
                <a:r>
                  <a:rPr sz="2400" b="0">
                    <a:solidFill>
                      <a:srgbClr val="111827"/>
                    </a:solidFill>
                    <a:latin typeface="Arial"/>
                  </a:rPr>
                  <a:t>   (C) </a:t>
                </a:r>
                <a:r>
                  <a:rPr lang="en-IN" sz="2400">
                    <a:solidFill>
                      <a:srgbClr val="111827"/>
                    </a:solidFill>
                    <a:latin typeface="Cambria Math" panose="02040503050406030204" pitchFamily="18" charset="0"/>
                  </a:rPr>
                  <a:t>$4$</a:t>
                </a:r>
                <a:r>
                  <a:rPr sz="2400" b="0">
                    <a:solidFill>
                      <a:srgbClr val="111827"/>
                    </a:solidFill>
                    <a:latin typeface="Arial"/>
                  </a:rPr>
                  <a:t>   (D) </a:t>
                </a:r>
                <a:r>
                  <a:rPr lang="en-IN" sz="2400">
                    <a:solidFill>
                      <a:srgbClr val="111827"/>
                    </a:solidFill>
                    <a:latin typeface="Cambria Math" panose="02040503050406030204" pitchFamily="18" charset="0"/>
                  </a:rPr>
                  <a:t>$6$</a:t>
                </a:r>
                <a:endParaRPr sz="2400">
                  <a:solidFill>
                    <a:srgbClr val="111827"/>
                  </a:solidFill>
                </a:endParaRPr>
              </a:p>
            </p:txBody>
          </p:sp>
        </mc:Fallback>
      </mc:AlternateContent>
      <p:sp>
        <p:nvSpPr>
          <p:cNvPr id="5" name="Rectangle 4"/>
          <p:cNvSpPr/>
          <p:nvPr/>
        </p:nvSpPr>
        <p:spPr>
          <a:xfrm>
            <a:off x="731520" y="443382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Total probability (ball transfer between bags)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Condition on the colour transferred: Bag 2 then has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or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white balls out of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Condition on the colour transferred: Bag 2 then has </a:t>
                </a:r>
                <a:r>
                  <a:rPr lang="en-IN" sz="2400">
                    <a:solidFill>
                      <a:srgbClr val="78350F"/>
                    </a:solidFill>
                    <a:latin typeface="Cambria Math" panose="02040503050406030204" pitchFamily="18" charset="0"/>
                  </a:rPr>
                  <a:t>$n+1$</a:t>
                </a:r>
                <a:r>
                  <a:rPr sz="2400" b="0">
                    <a:solidFill>
                      <a:srgbClr val="78350F"/>
                    </a:solidFill>
                    <a:latin typeface="Arial"/>
                  </a:rPr>
                  <a:t> or </a:t>
                </a:r>
                <a:r>
                  <a:rPr lang="en-IN" sz="2400">
                    <a:solidFill>
                      <a:srgbClr val="78350F"/>
                    </a:solidFill>
                    <a:latin typeface="Cambria Math" panose="02040503050406030204" pitchFamily="18" charset="0"/>
                  </a:rPr>
                  <a:t>$n$</a:t>
                </a:r>
                <a:r>
                  <a:rPr sz="2400" b="0">
                    <a:solidFill>
                      <a:srgbClr val="78350F"/>
                    </a:solidFill>
                    <a:latin typeface="Arial"/>
                  </a:rPr>
                  <a:t> white balls out of </a:t>
                </a:r>
                <a:r>
                  <a:rPr lang="en-IN" sz="2400">
                    <a:solidFill>
                      <a:srgbClr val="78350F"/>
                    </a:solidFill>
                    <a:latin typeface="Cambria Math" panose="02040503050406030204" pitchFamily="18" charset="0"/>
                  </a:rPr>
                  <a:t>$n+4$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Bag 1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Bag 2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Let the transferred ball be white (</a:t>
                </a:r>
                <a14:m>
                  <m:oMath xmlns:m="http://schemas.openxmlformats.org/officeDocument/2006/math">
                    <m:sSub>
                      <m:e>
                        <m:r>
                          <a:rPr lang="en-IN" sz="2400" i="1">
                            <a:solidFill>
                              <a:srgbClr val="111827"/>
                            </a:solidFill>
                            <a:latin typeface="Cambria Math" panose="02040503050406030204" pitchFamily="18" charset="0"/>
                          </a:rPr>
                          <m:t>𝑊</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or black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𝑊</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𝑊</m:t>
                            </m:r>
                          </m:e>
                          <m:sub>
                            <m:r>
                              <a:rPr lang="en-IN" sz="2400" i="1">
                                <a:solidFill>
                                  <a:srgbClr val="111827"/>
                                </a:solidFill>
                                <a:latin typeface="Cambria Math" panose="02040503050406030204" pitchFamily="18" charset="0"/>
                              </a:rPr>
                              <m:t>1</m:t>
                            </m:r>
                          </m:sub>
                        </m:sSub>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45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white ball is moved, Bag 2 has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white among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𝑊</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oMath>
                </a14:m>
                <a:r>
                  <a:rPr sz="2400" b="0">
                    <a:solidFill>
                      <a:srgbClr val="111827"/>
                    </a:solidFill>
                    <a:latin typeface="Arial"/>
                  </a:rPr>
                  <a:t>; if black,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Bag 1 </a:t>
                </a:r>
                <a:r>
                  <a:rPr lang="en-IN" sz="2400">
                    <a:solidFill>
                      <a:srgbClr val="111827"/>
                    </a:solidFill>
                    <a:latin typeface="Cambria Math" panose="02040503050406030204" pitchFamily="18" charset="0"/>
                  </a:rPr>
                  <a:t>$=\{4W,5B\}$</a:t>
                </a:r>
                <a:r>
                  <a:rPr sz="2400" b="0">
                    <a:solidFill>
                      <a:srgbClr val="111827"/>
                    </a:solidFill>
                    <a:latin typeface="Arial"/>
                  </a:rPr>
                  <a:t> and Bag 2 </a:t>
                </a:r>
                <a:r>
                  <a:rPr lang="en-IN" sz="2400">
                    <a:solidFill>
                      <a:srgbClr val="111827"/>
                    </a:solidFill>
                    <a:latin typeface="Cambria Math" panose="02040503050406030204" pitchFamily="18" charset="0"/>
                  </a:rPr>
                  <a:t>$=\{nW,3B\}$</a:t>
                </a:r>
                <a:r>
                  <a:rPr sz="2400" b="0">
                    <a:solidFill>
                      <a:srgbClr val="111827"/>
                    </a:solidFill>
                    <a:latin typeface="Arial"/>
                  </a:rPr>
                  <a:t>. Let the transferred ball be white (</a:t>
                </a:r>
                <a:r>
                  <a:rPr lang="en-IN" sz="2400">
                    <a:solidFill>
                      <a:srgbClr val="111827"/>
                    </a:solidFill>
                    <a:latin typeface="Cambria Math" panose="02040503050406030204" pitchFamily="18" charset="0"/>
                  </a:rPr>
                  <a:t>$W_1$</a:t>
                </a:r>
                <a:r>
                  <a:rPr sz="2400" b="0">
                    <a:solidFill>
                      <a:srgbClr val="111827"/>
                    </a:solidFill>
                    <a:latin typeface="Arial"/>
                  </a:rPr>
                  <a:t>) or black (</a:t>
                </a:r>
                <a:r>
                  <a:rPr lang="en-IN" sz="2400">
                    <a:solidFill>
                      <a:srgbClr val="111827"/>
                    </a:solidFill>
                    <a:latin typeface="Cambria Math" panose="02040503050406030204" pitchFamily="18" charset="0"/>
                  </a:rPr>
                  <a:t>$B_1$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$P(W)=P(W_1)P\left(W\mid W_1\right)+P(B_1)P\left(W\mid B_1\right)=\frac{29}{45}$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white ball is moved, Bag 2 has </a:t>
                </a:r>
                <a:r>
                  <a:rPr lang="en-IN" sz="2400">
                    <a:solidFill>
                      <a:srgbClr val="111827"/>
                    </a:solidFill>
                    <a:latin typeface="Cambria Math" panose="02040503050406030204" pitchFamily="18" charset="0"/>
                  </a:rPr>
                  <a:t>$n+1$</a:t>
                </a:r>
                <a:r>
                  <a:rPr sz="2400" b="0">
                    <a:solidFill>
                      <a:srgbClr val="111827"/>
                    </a:solidFill>
                    <a:latin typeface="Arial"/>
                  </a:rPr>
                  <a:t> white among </a:t>
                </a: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$P(W\mid W_1)=\frac{n+1}{n+4}$</a:t>
                </a:r>
                <a:r>
                  <a:rPr sz="2400" b="0">
                    <a:solidFill>
                      <a:srgbClr val="111827"/>
                    </a:solidFill>
                    <a:latin typeface="Arial"/>
                  </a:rPr>
                  <a:t>; if black, </a:t>
                </a:r>
                <a:r>
                  <a:rPr lang="en-IN" sz="2400">
                    <a:solidFill>
                      <a:srgbClr val="111827"/>
                    </a:solidFill>
                    <a:latin typeface="Cambria Math" panose="02040503050406030204" pitchFamily="18" charset="0"/>
                  </a:rPr>
                  <a:t>$\frac{n}{n+4}$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45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45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45</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$\frac49\cdot\frac{n+1}{n+4}+\frac59\cdot\frac{n}{n+4}=\frac{29}{45}$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$\frac{9n+4}{9(n+4)}=\frac{29}{45}\Rightarrow5(9n+4)=29(n+4)$</a:t>
                </a:r>
                <a:r>
                  <a:rPr sz="2400" b="0">
                    <a:solidFill>
                      <a:srgbClr val="111827"/>
                    </a:solidFill>
                    <a:latin typeface="Arial"/>
                  </a:rPr>
                  <a:t>, so </a:t>
                </a:r>
                <a:r>
                  <a:rPr lang="en-IN" sz="2400">
                    <a:solidFill>
                      <a:srgbClr val="111827"/>
                    </a:solidFill>
                    <a:latin typeface="Cambria Math" panose="02040503050406030204" pitchFamily="18" charset="0"/>
                  </a:rPr>
                  <a:t>$45n+20=29n+116$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$16n=96$</a:t>
                </a:r>
                <a:r>
                  <a:rPr sz="2400" b="0">
                    <a:solidFill>
                      <a:srgbClr val="111827"/>
                    </a:solidFill>
                    <a:latin typeface="Arial"/>
                  </a:rPr>
                  <a:t>, so </a:t>
                </a:r>
                <a:r>
                  <a:rPr lang="en-IN" sz="2400">
                    <a:solidFill>
                      <a:srgbClr val="111827"/>
                    </a:solidFill>
                    <a:latin typeface="Cambria Math" panose="02040503050406030204" pitchFamily="18" charset="0"/>
                  </a:rPr>
                  <a:t>$n=6$</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6</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$6$</a:t>
                </a:r>
                <a:endParaRPr sz="2800">
                  <a:solidFill>
                    <a:srgbClr val="15803D"/>
                  </a:solidFill>
                </a:endParaRPr>
              </a:p>
            </p:txBody>
          </p:sp>
        </mc:Fallback>
      </mc:AlternateContent>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Bag 2 always has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balls; the probability a random ball is white is the expected white count divided by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Bag 2 always has </a:t>
                </a:r>
                <a:r>
                  <a:rPr lang="en-IN" sz="2400">
                    <a:solidFill>
                      <a:srgbClr val="78350F"/>
                    </a:solidFill>
                    <a:latin typeface="Cambria Math" panose="02040503050406030204" pitchFamily="18" charset="0"/>
                  </a:rPr>
                  <a:t>$n+4$</a:t>
                </a:r>
                <a:r>
                  <a:rPr sz="2400" b="0">
                    <a:solidFill>
                      <a:srgbClr val="78350F"/>
                    </a:solidFill>
                    <a:latin typeface="Arial"/>
                  </a:rPr>
                  <a:t> balls; the probability a random ball is white is the expected white count divided by </a:t>
                </a:r>
                <a:r>
                  <a:rPr lang="en-IN" sz="2400">
                    <a:solidFill>
                      <a:srgbClr val="78350F"/>
                    </a:solidFill>
                    <a:latin typeface="Cambria Math" panose="02040503050406030204" pitchFamily="18" charset="0"/>
                  </a:rPr>
                  <a:t>$n+4$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After the transfer Bag 2 has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balls; its white count is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plus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if a white ball was moved.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Expected white count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𝑤ℎ𝑖𝑡𝑒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𝑤ℎ𝑖𝑡𝑒 𝑐𝑜𝑢𝑛𝑡</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45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45</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After the transfer Bag 2 has </a:t>
                </a:r>
                <a:r>
                  <a:rPr lang="en-IN" sz="2400">
                    <a:solidFill>
                      <a:srgbClr val="111827"/>
                    </a:solidFill>
                    <a:latin typeface="Cambria Math" panose="02040503050406030204" pitchFamily="18" charset="0"/>
                  </a:rPr>
                  <a:t>$n+4$</a:t>
                </a:r>
                <a:r>
                  <a:rPr sz="2400" b="0">
                    <a:solidFill>
                      <a:srgbClr val="111827"/>
                    </a:solidFill>
                    <a:latin typeface="Arial"/>
                  </a:rPr>
                  <a:t> balls; its white count is </a:t>
                </a:r>
                <a:r>
                  <a:rPr lang="en-IN" sz="2400">
                    <a:solidFill>
                      <a:srgbClr val="111827"/>
                    </a:solidFill>
                    <a:latin typeface="Cambria Math" panose="02040503050406030204" pitchFamily="18" charset="0"/>
                  </a:rPr>
                  <a:t>$n$</a:t>
                </a:r>
                <a:r>
                  <a:rPr sz="2400" b="0">
                    <a:solidFill>
                      <a:srgbClr val="111827"/>
                    </a:solidFill>
                    <a:latin typeface="Arial"/>
                  </a:rPr>
                  <a:t> plus </a:t>
                </a:r>
                <a:r>
                  <a:rPr lang="en-IN" sz="2400">
                    <a:solidFill>
                      <a:srgbClr val="111827"/>
                    </a:solidFill>
                    <a:latin typeface="Cambria Math" panose="02040503050406030204" pitchFamily="18" charset="0"/>
                  </a:rPr>
                  <a:t>$1$</a:t>
                </a:r>
                <a:r>
                  <a:rPr sz="2400" b="0">
                    <a:solidFill>
                      <a:srgbClr val="111827"/>
                    </a:solidFill>
                    <a:latin typeface="Arial"/>
                  </a:rPr>
                  <a:t> if a white ball was moved.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Expected white count </a:t>
                </a:r>
                <a:r>
                  <a:rPr lang="en-IN" sz="2400">
                    <a:solidFill>
                      <a:srgbClr val="111827"/>
                    </a:solidFill>
                    <a:latin typeface="Cambria Math" panose="02040503050406030204" pitchFamily="18" charset="0"/>
                  </a:rPr>
                  <a:t>$=n+\frac49$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$P(\text{white})=\frac{E[\text{white count}]}{n+4}=\frac{n+\frac49}{n+4}=\frac{29}{45}$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$45n+20=29n+116\Rightarrow n=6$</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6</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$6$</a:t>
                </a:r>
                <a:endParaRPr sz="2800">
                  <a:solidFill>
                    <a:srgbClr val="15803D"/>
                  </a:solidFill>
                </a:endParaRPr>
              </a:p>
            </p:txBody>
          </p:sp>
        </mc:Fallback>
      </mc:AlternateContent>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𝑤ℎ𝑖𝑡𝑒 𝑓𝑟𝑜𝑚 𝑎 𝑏𝑎𝑔 𝑜𝑓 𝑓𝑖𝑥𝑒𝑑 𝑠𝑖𝑧𝑒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𝑤ℎ𝑖𝑡𝑒</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expectation replaces the case split when the bag size does not depend on the transfer.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Transfer problems: condition on what moved (here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white,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black).</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Result: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oMath>
                </a14:m>
                <a:r>
                  <a:rPr sz="2400" b="0">
                    <a:solidFill>
                      <a:srgbClr val="111827"/>
                    </a:solidFill>
                    <a:latin typeface="Arial"/>
                  </a:rPr>
                  <a:t> is increasing in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45</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$P(\text{white from a bag of fixed size }m)=\frac{E[\#\text{white}]}{m}$</a:t>
                </a:r>
                <a:r>
                  <a:rPr sz="2400" b="0">
                    <a:solidFill>
                      <a:srgbClr val="111827"/>
                    </a:solidFill>
                    <a:latin typeface="Arial"/>
                  </a:rPr>
                  <a:t>: expectation replaces the case split when the bag size does not depend on the transfer.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Transfer problems: condition on what moved (here </a:t>
                </a:r>
                <a:r>
                  <a:rPr lang="en-IN" sz="2400">
                    <a:solidFill>
                      <a:srgbClr val="111827"/>
                    </a:solidFill>
                    <a:latin typeface="Cambria Math" panose="02040503050406030204" pitchFamily="18" charset="0"/>
                  </a:rPr>
                  <a:t>$4/9$</a:t>
                </a:r>
                <a:r>
                  <a:rPr sz="2400" b="0">
                    <a:solidFill>
                      <a:srgbClr val="111827"/>
                    </a:solidFill>
                    <a:latin typeface="Arial"/>
                  </a:rPr>
                  <a:t> white, </a:t>
                </a:r>
                <a:r>
                  <a:rPr lang="en-IN" sz="2400">
                    <a:solidFill>
                      <a:srgbClr val="111827"/>
                    </a:solidFill>
                    <a:latin typeface="Cambria Math" panose="02040503050406030204" pitchFamily="18" charset="0"/>
                  </a:rPr>
                  <a:t>$5/9$</a:t>
                </a:r>
                <a:r>
                  <a:rPr sz="2400" b="0">
                    <a:solidFill>
                      <a:srgbClr val="111827"/>
                    </a:solidFill>
                    <a:latin typeface="Arial"/>
                  </a:rPr>
                  <a:t> black).</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Result: </a:t>
                </a:r>
                <a:r>
                  <a:rPr lang="en-IN" sz="2400">
                    <a:solidFill>
                      <a:srgbClr val="111827"/>
                    </a:solidFill>
                    <a:latin typeface="Cambria Math" panose="02040503050406030204" pitchFamily="18" charset="0"/>
                  </a:rPr>
                  <a:t>$P=\frac{n+\frac49}{n+4}$</a:t>
                </a:r>
                <a:r>
                  <a:rPr sz="2400" b="0">
                    <a:solidFill>
                      <a:srgbClr val="111827"/>
                    </a:solidFill>
                    <a:latin typeface="Arial"/>
                  </a:rPr>
                  <a:t> is increasing in </a:t>
                </a:r>
                <a:r>
                  <a:rPr lang="en-IN" sz="2400">
                    <a:solidFill>
                      <a:srgbClr val="111827"/>
                    </a:solidFill>
                    <a:latin typeface="Cambria Math" panose="02040503050406030204" pitchFamily="18" charset="0"/>
                  </a:rPr>
                  <a:t>$n$</a:t>
                </a:r>
                <a:r>
                  <a:rPr sz="2400" b="0">
                    <a:solidFill>
                      <a:srgbClr val="111827"/>
                    </a:solidFill>
                    <a:latin typeface="Arial"/>
                  </a:rPr>
                  <a:t>; check </a:t>
                </a:r>
                <a:r>
                  <a:rPr lang="en-IN" sz="2400">
                    <a:solidFill>
                      <a:srgbClr val="111827"/>
                    </a:solidFill>
                    <a:latin typeface="Cambria Math" panose="02040503050406030204" pitchFamily="18" charset="0"/>
                  </a:rPr>
                  <a:t>$n=6$</a:t>
                </a:r>
                <a:r>
                  <a:rPr sz="2400" b="0">
                    <a:solidFill>
                      <a:srgbClr val="111827"/>
                    </a:solidFill>
                    <a:latin typeface="Arial"/>
                  </a:rPr>
                  <a:t> gives </a:t>
                </a:r>
                <a:r>
                  <a:rPr lang="en-IN" sz="2400">
                    <a:solidFill>
                      <a:srgbClr val="111827"/>
                    </a:solidFill>
                    <a:latin typeface="Cambria Math" panose="02040503050406030204" pitchFamily="18" charset="0"/>
                  </a:rPr>
                  <a:t>$\frac{58/9}{10}=\frac{29}{45}$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matrix such that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𝑗</m:t>
                    </m:r>
                  </m:oMath>
                </a14:m>
                <a:r>
                  <a:rPr sz="2400" b="0">
                    <a:solidFill>
                      <a:srgbClr val="111827"/>
                    </a:solidFill>
                    <a:latin typeface="Arial"/>
                  </a:rPr>
                  <a:t>. Let the random variable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denote the possible values of the determinant of the matrix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Then, the variance of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oMath>
                </a14:m>
                <a:endParaRPr sz="2400">
                  <a:solidFill>
                    <a:srgbClr val="111827"/>
                  </a:solidFill>
                </a:endParaRPr>
              </a:p>
            </p:txBody>
          </p:sp>
        </mc:Choice>
        <mc:Fallback>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$A=[a_{ij}]$</a:t>
                </a:r>
                <a:r>
                  <a:rPr sz="2400" b="0">
                    <a:solidFill>
                      <a:srgbClr val="111827"/>
                    </a:solidFill>
                    <a:latin typeface="Arial"/>
                  </a:rPr>
                  <a:t> be a </a:t>
                </a:r>
                <a:r>
                  <a:rPr lang="en-IN" sz="2400">
                    <a:solidFill>
                      <a:srgbClr val="111827"/>
                    </a:solidFill>
                    <a:latin typeface="Cambria Math" panose="02040503050406030204" pitchFamily="18" charset="0"/>
                  </a:rPr>
                  <a:t>$2\times2$</a:t>
                </a:r>
                <a:r>
                  <a:rPr sz="2400" b="0">
                    <a:solidFill>
                      <a:srgbClr val="111827"/>
                    </a:solidFill>
                    <a:latin typeface="Arial"/>
                  </a:rPr>
                  <a:t> matrix such that </a:t>
                </a:r>
                <a:r>
                  <a:rPr lang="en-IN" sz="2400">
                    <a:solidFill>
                      <a:srgbClr val="111827"/>
                    </a:solidFill>
                    <a:latin typeface="Cambria Math" panose="02040503050406030204" pitchFamily="18" charset="0"/>
                  </a:rPr>
                  <a:t>$a_{ij}\in\{0,1\}$</a:t>
                </a:r>
                <a:r>
                  <a:rPr sz="2400" b="0">
                    <a:solidFill>
                      <a:srgbClr val="111827"/>
                    </a:solidFill>
                    <a:latin typeface="Arial"/>
                  </a:rPr>
                  <a:t> for all </a:t>
                </a:r>
                <a:r>
                  <a:rPr lang="en-IN" sz="2400">
                    <a:solidFill>
                      <a:srgbClr val="111827"/>
                    </a:solidFill>
                    <a:latin typeface="Cambria Math" panose="02040503050406030204" pitchFamily="18" charset="0"/>
                  </a:rPr>
                  <a:t>$i$</a:t>
                </a:r>
                <a:r>
                  <a:rPr sz="2400" b="0">
                    <a:solidFill>
                      <a:srgbClr val="111827"/>
                    </a:solidFill>
                    <a:latin typeface="Arial"/>
                  </a:rPr>
                  <a:t> and </a:t>
                </a:r>
                <a:r>
                  <a:rPr lang="en-IN" sz="2400">
                    <a:solidFill>
                      <a:srgbClr val="111827"/>
                    </a:solidFill>
                    <a:latin typeface="Cambria Math" panose="02040503050406030204" pitchFamily="18" charset="0"/>
                  </a:rPr>
                  <a:t>$j$</a:t>
                </a:r>
                <a:r>
                  <a:rPr sz="2400" b="0">
                    <a:solidFill>
                      <a:srgbClr val="111827"/>
                    </a:solidFill>
                    <a:latin typeface="Arial"/>
                  </a:rPr>
                  <a:t>. Let the random variable </a:t>
                </a:r>
                <a:r>
                  <a:rPr lang="en-IN" sz="2400">
                    <a:solidFill>
                      <a:srgbClr val="111827"/>
                    </a:solidFill>
                    <a:latin typeface="Cambria Math" panose="02040503050406030204" pitchFamily="18" charset="0"/>
                  </a:rPr>
                  <a:t>$X$</a:t>
                </a:r>
                <a:r>
                  <a:rPr sz="2400" b="0">
                    <a:solidFill>
                      <a:srgbClr val="111827"/>
                    </a:solidFill>
                    <a:latin typeface="Arial"/>
                  </a:rPr>
                  <a:t> denote the possible values of the determinant of the matrix </a:t>
                </a:r>
                <a:r>
                  <a:rPr lang="en-IN" sz="2400">
                    <a:solidFill>
                      <a:srgbClr val="111827"/>
                    </a:solidFill>
                    <a:latin typeface="Cambria Math" panose="02040503050406030204" pitchFamily="18" charset="0"/>
                  </a:rPr>
                  <a:t>$A$</a:t>
                </a:r>
                <a:r>
                  <a:rPr sz="2400" b="0">
                    <a:solidFill>
                      <a:srgbClr val="111827"/>
                    </a:solidFill>
                    <a:latin typeface="Arial"/>
                  </a:rPr>
                  <a:t>. Then, the variance of </a:t>
                </a:r>
                <a:r>
                  <a:rPr lang="en-IN" sz="2400">
                    <a:solidFill>
                      <a:srgbClr val="111827"/>
                    </a:solidFill>
                    <a:latin typeface="Cambria Math" panose="02040503050406030204" pitchFamily="18" charset="0"/>
                  </a:rPr>
                  <a:t>$X$</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$\frac58$</a:t>
                </a:r>
                <a:r>
                  <a:rPr sz="2400" b="0">
                    <a:solidFill>
                      <a:srgbClr val="111827"/>
                    </a:solidFill>
                    <a:latin typeface="Arial"/>
                  </a:rPr>
                  <a:t>   (B) </a:t>
                </a:r>
                <a:r>
                  <a:rPr lang="en-IN" sz="2400">
                    <a:solidFill>
                      <a:srgbClr val="111827"/>
                    </a:solidFill>
                    <a:latin typeface="Cambria Math" panose="02040503050406030204" pitchFamily="18" charset="0"/>
                  </a:rPr>
                  <a:t>$\frac34$</a:t>
                </a:r>
                <a:r>
                  <a:rPr sz="2400" b="0">
                    <a:solidFill>
                      <a:srgbClr val="111827"/>
                    </a:solidFill>
                    <a:latin typeface="Arial"/>
                  </a:rPr>
                  <a:t>   (C) </a:t>
                </a:r>
                <a:r>
                  <a:rPr lang="en-IN" sz="2400">
                    <a:solidFill>
                      <a:srgbClr val="111827"/>
                    </a:solidFill>
                    <a:latin typeface="Cambria Math" panose="02040503050406030204" pitchFamily="18" charset="0"/>
                  </a:rPr>
                  <a:t>$\frac14$</a:t>
                </a:r>
                <a:r>
                  <a:rPr sz="2400" b="0">
                    <a:solidFill>
                      <a:srgbClr val="111827"/>
                    </a:solidFill>
                    <a:latin typeface="Arial"/>
                  </a:rPr>
                  <a:t>   (D) </a:t>
                </a:r>
                <a:r>
                  <a:rPr lang="en-IN" sz="2400">
                    <a:solidFill>
                      <a:srgbClr val="111827"/>
                    </a:solidFill>
                    <a:latin typeface="Cambria Math" panose="02040503050406030204" pitchFamily="18" charset="0"/>
                  </a:rPr>
                  <a:t>$\frac38$</a:t>
                </a:r>
                <a:endParaRPr sz="2400">
                  <a:solidFill>
                    <a:srgbClr val="111827"/>
                  </a:solidFill>
                </a:endParaRPr>
              </a:p>
            </p:txBody>
          </p:sp>
        </mc:Fallback>
      </mc:AlternateContent>
      <p:sp>
        <p:nvSpPr>
          <p:cNvPr id="5" name="Rectangle 4"/>
          <p:cNvSpPr/>
          <p:nvPr/>
        </p:nvSpPr>
        <p:spPr>
          <a:xfrm>
            <a:off x="731520" y="4061968"/>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variance of a random variable, Determinants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det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11</m:t>
                        </m:r>
                      </m:sub>
                    </m:sSub>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22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21</m:t>
                        </m:r>
                      </m:sub>
                    </m:sSub>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12</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find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among the </a:t>
                </a:r>
                <a14:m>
                  <m:oMath xmlns:m="http://schemas.openxmlformats.org/officeDocument/2006/math">
                    <m:r>
                      <a:rPr lang="en-IN" sz="2400" i="1">
                        <a:solidFill>
                          <a:srgbClr val="78350F"/>
                        </a:solidFill>
                        <a:latin typeface="Cambria Math" panose="02040503050406030204" pitchFamily="18" charset="0"/>
                      </a:rPr>
                      <m:t>16</m:t>
                    </m:r>
                  </m:oMath>
                </a14:m>
                <a:r>
                  <a:rPr sz="2400" b="0">
                    <a:solidFill>
                      <a:srgbClr val="78350F"/>
                    </a:solidFill>
                    <a:latin typeface="Arial"/>
                  </a:rPr>
                  <a:t> matrices.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$\det A=a_{11}a_{22}-a_{21}a_{12}\in\{-1,0,1\}$</a:t>
                </a:r>
                <a:r>
                  <a:rPr sz="2400" b="0">
                    <a:solidFill>
                      <a:srgbClr val="78350F"/>
                    </a:solidFill>
                    <a:latin typeface="Arial"/>
                  </a:rPr>
                  <a:t>; find </a:t>
                </a:r>
                <a:r>
                  <a:rPr lang="en-IN" sz="2400">
                    <a:solidFill>
                      <a:srgbClr val="78350F"/>
                    </a:solidFill>
                    <a:latin typeface="Cambria Math" panose="02040503050406030204" pitchFamily="18" charset="0"/>
                  </a:rPr>
                  <a:t>$P(-1),P(0),P(1)$</a:t>
                </a:r>
                <a:r>
                  <a:rPr sz="2400" b="0">
                    <a:solidFill>
                      <a:srgbClr val="78350F"/>
                    </a:solidFill>
                    <a:latin typeface="Arial"/>
                  </a:rPr>
                  <a:t> among the </a:t>
                </a:r>
                <a:r>
                  <a:rPr lang="en-IN" sz="2400">
                    <a:solidFill>
                      <a:srgbClr val="78350F"/>
                    </a:solidFill>
                    <a:latin typeface="Cambria Math" panose="02040503050406030204" pitchFamily="18" charset="0"/>
                  </a:rPr>
                  <a:t>$16$</a:t>
                </a:r>
                <a:r>
                  <a:rPr sz="2400" b="0">
                    <a:solidFill>
                      <a:srgbClr val="78350F"/>
                    </a:solidFill>
                    <a:latin typeface="Arial"/>
                  </a:rPr>
                  <a:t> matrices.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11</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21</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12</m:t>
                        </m:r>
                      </m:sub>
                    </m:sSub>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 (the matrices with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11</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12</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 by symmetry,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$\det A=a_{11}a_{22}-a_{21}a_{12}$</a:t>
                </a:r>
                <a:r>
                  <a:rPr sz="2400" b="0">
                    <a:solidFill>
                      <a:srgbClr val="111827"/>
                    </a:solidFill>
                    <a:latin typeface="Arial"/>
                  </a:rPr>
                  <a:t>, so </a:t>
                </a:r>
                <a:r>
                  <a:rPr lang="en-IN" sz="2400">
                    <a:solidFill>
                      <a:srgbClr val="111827"/>
                    </a:solidFill>
                    <a:latin typeface="Cambria Math" panose="02040503050406030204" pitchFamily="18" charset="0"/>
                  </a:rPr>
                  <a:t>$X\in\{-1,0,1\}$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$P(X=-1)=\frac3{16}$</a:t>
                </a:r>
                <a:r>
                  <a:rPr sz="2400" b="0">
                    <a:solidFill>
                      <a:srgbClr val="111827"/>
                    </a:solidFill>
                    <a:latin typeface="Arial"/>
                  </a:rPr>
                  <a:t> (the matrices with </a:t>
                </a:r>
                <a:r>
                  <a:rPr lang="en-IN" sz="2400">
                    <a:solidFill>
                      <a:srgbClr val="111827"/>
                    </a:solidFill>
                    <a:latin typeface="Cambria Math" panose="02040503050406030204" pitchFamily="18" charset="0"/>
                  </a:rPr>
                  <a:t>$a_{11}a_{22}=0$</a:t>
                </a:r>
                <a:r>
                  <a:rPr sz="2400" b="0">
                    <a:solidFill>
                      <a:srgbClr val="111827"/>
                    </a:solidFill>
                    <a:latin typeface="Arial"/>
                  </a:rPr>
                  <a:t> and </a:t>
                </a:r>
                <a:r>
                  <a:rPr lang="en-IN" sz="2400">
                    <a:solidFill>
                      <a:srgbClr val="111827"/>
                    </a:solidFill>
                    <a:latin typeface="Cambria Math" panose="02040503050406030204" pitchFamily="18" charset="0"/>
                  </a:rPr>
                  <a:t>$a_{12}a_{21}=1$</a:t>
                </a:r>
                <a:r>
                  <a:rPr sz="2400" b="0">
                    <a:solidFill>
                      <a:srgbClr val="111827"/>
                    </a:solidFill>
                    <a:latin typeface="Arial"/>
                  </a:rPr>
                  <a:t>), </a:t>
                </a:r>
                <a:r>
                  <a:rPr lang="en-IN" sz="2400">
                    <a:solidFill>
                      <a:srgbClr val="111827"/>
                    </a:solidFill>
                    <a:latin typeface="Cambria Math" panose="02040503050406030204" pitchFamily="18" charset="0"/>
                  </a:rPr>
                  <a:t>$P(X=1)=\frac3{16}$</a:t>
                </a:r>
                <a:r>
                  <a:rPr sz="2400" b="0">
                    <a:solidFill>
                      <a:srgbClr val="111827"/>
                    </a:solidFill>
                    <a:latin typeface="Arial"/>
                  </a:rPr>
                  <a:t> by symmetry, </a:t>
                </a:r>
                <a:r>
                  <a:rPr lang="en-IN" sz="2400">
                    <a:solidFill>
                      <a:srgbClr val="111827"/>
                    </a:solidFill>
                    <a:latin typeface="Cambria Math" panose="02040503050406030204" pitchFamily="18" charset="0"/>
                  </a:rPr>
                  <a:t>$P(X=0)=\frac{10}{16}$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P_iX_i=-\frac3{16}+0+\frac3{16}=0$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𝑖</m:t>
                        </m:r>
                      </m:sub>
                    </m:sSub>
                    <m:sSubSup>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𝑖</m:t>
                        </m:r>
                      </m:sub>
                    </m:sSub>
                    <m:sSubSup>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𝑖</m:t>
                                </m:r>
                              </m:sub>
                            </m:sSub>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P_iX_i^2=\frac3{16}+0+\frac3{16}=\frac38$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$\mathrm{var}(X)=\sum P_iX_i^2-\left(\sum P_iX_i\right)^2=\frac38-0=\frac38$</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8</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$\frac38$</a:t>
                </a:r>
                <a:endParaRPr sz="2800">
                  <a:solidFill>
                    <a:srgbClr val="15803D"/>
                  </a:solidFill>
                </a:endParaRPr>
              </a:p>
            </p:txBody>
          </p:sp>
        </mc:Fallback>
      </mc:AlternateContent>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𝑈</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𝑉</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𝑈</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11</m:t>
                        </m:r>
                      </m:sub>
                    </m:sSub>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22</m:t>
                        </m:r>
                      </m:sub>
                    </m:sSub>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𝑉</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12</m:t>
                        </m:r>
                      </m:sub>
                    </m:sSub>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21</m:t>
                        </m:r>
                      </m:sub>
                    </m:sSub>
                  </m:oMath>
                </a14:m>
                <a:r>
                  <a:rPr sz="2400" b="0">
                    <a:solidFill>
                      <a:srgbClr val="78350F"/>
                    </a:solidFill>
                    <a:latin typeface="Arial"/>
                  </a:rPr>
                  <a:t> independent Bernoulli</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4</m:t>
                            </m:r>
                          </m:den>
                        </m:f>
                      </m:e>
                    </m:d>
                  </m:oMath>
                </a14:m>
                <a:r>
                  <a:rPr sz="2400" b="0">
                    <a:solidFill>
                      <a:srgbClr val="78350F"/>
                    </a:solidFill>
                    <a:latin typeface="Arial"/>
                  </a:rPr>
                  <a:t> variables, so variances add.</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$X=U-V$</a:t>
                </a:r>
                <a:r>
                  <a:rPr sz="2400" b="0">
                    <a:solidFill>
                      <a:srgbClr val="78350F"/>
                    </a:solidFill>
                    <a:latin typeface="Arial"/>
                  </a:rPr>
                  <a:t> with </a:t>
                </a:r>
                <a:r>
                  <a:rPr lang="en-IN" sz="2400">
                    <a:solidFill>
                      <a:srgbClr val="78350F"/>
                    </a:solidFill>
                    <a:latin typeface="Cambria Math" panose="02040503050406030204" pitchFamily="18" charset="0"/>
                  </a:rPr>
                  <a:t>$U=a_{11}a_{22}$</a:t>
                </a:r>
                <a:r>
                  <a:rPr sz="2400" b="0">
                    <a:solidFill>
                      <a:srgbClr val="78350F"/>
                    </a:solidFill>
                    <a:latin typeface="Arial"/>
                  </a:rPr>
                  <a:t> and </a:t>
                </a:r>
                <a:r>
                  <a:rPr lang="en-IN" sz="2400">
                    <a:solidFill>
                      <a:srgbClr val="78350F"/>
                    </a:solidFill>
                    <a:latin typeface="Cambria Math" panose="02040503050406030204" pitchFamily="18" charset="0"/>
                  </a:rPr>
                  <a:t>$V=a_{12}a_{21}$</a:t>
                </a:r>
                <a:r>
                  <a:rPr sz="2400" b="0">
                    <a:solidFill>
                      <a:srgbClr val="78350F"/>
                    </a:solidFill>
                    <a:latin typeface="Arial"/>
                  </a:rPr>
                  <a:t> independent Bernoulli</a:t>
                </a:r>
                <a:r>
                  <a:rPr lang="en-IN" sz="2400">
                    <a:solidFill>
                      <a:srgbClr val="78350F"/>
                    </a:solidFill>
                    <a:latin typeface="Cambria Math" panose="02040503050406030204" pitchFamily="18" charset="0"/>
                  </a:rPr>
                  <a:t>$\left(\frac14\right)$</a:t>
                </a:r>
                <a:r>
                  <a:rPr sz="2400" b="0">
                    <a:solidFill>
                      <a:srgbClr val="78350F"/>
                    </a:solidFill>
                    <a:latin typeface="Arial"/>
                  </a:rPr>
                  <a:t> variables, so variances add.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𝑈</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𝑉</m:t>
                    </m:r>
                  </m:oMath>
                </a14:m>
                <a:r>
                  <a:rPr sz="2400" b="0">
                    <a:solidFill>
                      <a:srgbClr val="111827"/>
                    </a:solidFill>
                    <a:latin typeface="Arial"/>
                  </a:rPr>
                  <a:t> involve disjoint entries, so they are independent; each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with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independent variables </a:t>
                </a:r>
                <a14:m>
                  <m:oMath xmlns:m="http://schemas.openxmlformats.org/officeDocument/2006/math">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$U$</a:t>
                </a:r>
                <a:r>
                  <a:rPr sz="2400" b="0">
                    <a:solidFill>
                      <a:srgbClr val="111827"/>
                    </a:solidFill>
                    <a:latin typeface="Arial"/>
                  </a:rPr>
                  <a:t> and </a:t>
                </a:r>
                <a:r>
                  <a:rPr lang="en-IN" sz="2400">
                    <a:solidFill>
                      <a:srgbClr val="111827"/>
                    </a:solidFill>
                    <a:latin typeface="Cambria Math" panose="02040503050406030204" pitchFamily="18" charset="0"/>
                  </a:rPr>
                  <a:t>$V$</a:t>
                </a:r>
                <a:r>
                  <a:rPr sz="2400" b="0">
                    <a:solidFill>
                      <a:srgbClr val="111827"/>
                    </a:solidFill>
                    <a:latin typeface="Arial"/>
                  </a:rPr>
                  <a:t> involve disjoint entries, so they are independent; each is </a:t>
                </a:r>
                <a:r>
                  <a:rPr lang="en-IN" sz="2400">
                    <a:solidFill>
                      <a:srgbClr val="111827"/>
                    </a:solidFill>
                    <a:latin typeface="Cambria Math" panose="02040503050406030204" pitchFamily="18" charset="0"/>
                  </a:rPr>
                  <a:t>$1$</a:t>
                </a:r>
                <a:r>
                  <a:rPr sz="2400" b="0">
                    <a:solidFill>
                      <a:srgbClr val="111827"/>
                    </a:solidFill>
                    <a:latin typeface="Arial"/>
                  </a:rPr>
                  <a:t> with probability </a:t>
                </a:r>
                <a:r>
                  <a:rPr lang="en-IN" sz="2400">
                    <a:solidFill>
                      <a:srgbClr val="111827"/>
                    </a:solidFill>
                    <a:latin typeface="Cambria Math" panose="02040503050406030204" pitchFamily="18" charset="0"/>
                  </a:rPr>
                  <a:t>$\frac14$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$\mathrm{Var}(U)=\mathrm{Var}(V)=\frac14\cdot\frac34=\frac3{16}$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independent variables </a:t>
                </a:r>
                <a:r>
                  <a:rPr lang="en-IN" sz="2400">
                    <a:solidFill>
                      <a:srgbClr val="111827"/>
                    </a:solidFill>
                    <a:latin typeface="Cambria Math" panose="02040503050406030204" pitchFamily="18" charset="0"/>
                  </a:rPr>
                  <a:t>$\mathrm{Var}(U-V)=\mathrm{Var}(U)+\mathrm{Var}(V)=\frac3{16}+\frac3{16}=\frac38$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8</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$\frac38$</a:t>
                </a:r>
                <a:endParaRPr sz="2800">
                  <a:solidFill>
                    <a:srgbClr val="15803D"/>
                  </a:solidFill>
                </a:endParaRPr>
              </a:p>
            </p:txBody>
          </p:sp>
        </mc:Fallback>
      </mc:AlternateContent>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independent </a:t>
                </a:r>
                <a14:m>
                  <m:oMath xmlns:m="http://schemas.openxmlformats.org/officeDocument/2006/math">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𝑉</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sign does not matter).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matrix,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Bernoulli</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variance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product of two independent fair bits is Bernoulli</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independent </a:t>
                </a:r>
                <a:r>
                  <a:rPr lang="en-IN" sz="2400">
                    <a:solidFill>
                      <a:srgbClr val="111827"/>
                    </a:solidFill>
                    <a:latin typeface="Cambria Math" panose="02040503050406030204" pitchFamily="18" charset="0"/>
                  </a:rPr>
                  <a:t>$U,V$</a:t>
                </a:r>
                <a:r>
                  <a:rPr sz="2400" b="0">
                    <a:solidFill>
                      <a:srgbClr val="111827"/>
                    </a:solidFill>
                    <a:latin typeface="Arial"/>
                  </a:rPr>
                  <a:t>: </a:t>
                </a:r>
                <a:r>
                  <a:rPr lang="en-IN" sz="2400">
                    <a:solidFill>
                      <a:srgbClr val="111827"/>
                    </a:solidFill>
                    <a:latin typeface="Cambria Math" panose="02040503050406030204" pitchFamily="18" charset="0"/>
                  </a:rPr>
                  <a:t>$\mathrm{Var}(U\pm V)=\mathrm{Var}(U)+\mathrm{Var}(V)$</a:t>
                </a:r>
                <a:r>
                  <a:rPr sz="2400" b="0">
                    <a:solidFill>
                      <a:srgbClr val="111827"/>
                    </a:solidFill>
                    <a:latin typeface="Arial"/>
                  </a:rPr>
                  <a:t> (the sign does not matter).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a:t>
                </a:r>
                <a:r>
                  <a:rPr lang="en-IN" sz="2400">
                    <a:solidFill>
                      <a:srgbClr val="111827"/>
                    </a:solidFill>
                    <a:latin typeface="Cambria Math" panose="02040503050406030204" pitchFamily="18" charset="0"/>
                  </a:rPr>
                  <a:t>$2\times2$</a:t>
                </a:r>
                <a:r>
                  <a:rPr sz="2400" b="0">
                    <a:solidFill>
                      <a:srgbClr val="111827"/>
                    </a:solidFill>
                    <a:latin typeface="Arial"/>
                  </a:rPr>
                  <a:t> </a:t>
                </a:r>
                <a:r>
                  <a:rPr lang="en-IN" sz="2400">
                    <a:solidFill>
                      <a:srgbClr val="111827"/>
                    </a:solidFill>
                    <a:latin typeface="Cambria Math" panose="02040503050406030204" pitchFamily="18" charset="0"/>
                  </a:rPr>
                  <a:t>$0$</a:t>
                </a:r>
                <a:r>
                  <a:rPr sz="2400" b="0">
                    <a:solidFill>
                      <a:srgbClr val="111827"/>
                    </a:solidFill>
                    <a:latin typeface="Arial"/>
                  </a:rPr>
                  <a:t>-</a:t>
                </a:r>
                <a:r>
                  <a:rPr lang="en-IN" sz="2400">
                    <a:solidFill>
                      <a:srgbClr val="111827"/>
                    </a:solidFill>
                    <a:latin typeface="Cambria Math" panose="02040503050406030204" pitchFamily="18" charset="0"/>
                  </a:rPr>
                  <a:t>$1$</a:t>
                </a:r>
                <a:r>
                  <a:rPr sz="2400" b="0">
                    <a:solidFill>
                      <a:srgbClr val="111827"/>
                    </a:solidFill>
                    <a:latin typeface="Arial"/>
                  </a:rPr>
                  <a:t> matrix, </a:t>
                </a:r>
                <a:r>
                  <a:rPr lang="en-IN" sz="2400">
                    <a:solidFill>
                      <a:srgbClr val="111827"/>
                    </a:solidFill>
                    <a:latin typeface="Cambria Math" panose="02040503050406030204" pitchFamily="18" charset="0"/>
                  </a:rPr>
                  <a:t>$P(\det=1)=P(\det=-1)=\frac3{16}$</a:t>
                </a:r>
                <a:r>
                  <a:rPr sz="2400" b="0">
                    <a:solidFill>
                      <a:srgbClr val="111827"/>
                    </a:solidFill>
                    <a:latin typeface="Arial"/>
                  </a:rPr>
                  <a:t> and </a:t>
                </a:r>
                <a:r>
                  <a:rPr lang="en-IN" sz="2400">
                    <a:solidFill>
                      <a:srgbClr val="111827"/>
                    </a:solidFill>
                    <a:latin typeface="Cambria Math" panose="02040503050406030204" pitchFamily="18" charset="0"/>
                  </a:rPr>
                  <a:t>$P(\det=0)=\frac58$</a:t>
                </a:r>
                <a:r>
                  <a:rPr sz="2400" b="0">
                    <a:solidFill>
                      <a:srgbClr val="111827"/>
                    </a:solidFill>
                    <a:latin typeface="Arial"/>
                  </a:rPr>
                  <a:t>, so </a:t>
                </a:r>
                <a:r>
                  <a:rPr lang="en-IN" sz="2400">
                    <a:solidFill>
                      <a:srgbClr val="111827"/>
                    </a:solidFill>
                    <a:latin typeface="Cambria Math" panose="02040503050406030204" pitchFamily="18" charset="0"/>
                  </a:rPr>
                  <a:t>$E(\det)=0$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Bernoulli</a:t>
                </a:r>
                <a:r>
                  <a:rPr lang="en-IN" sz="2400">
                    <a:solidFill>
                      <a:srgbClr val="111827"/>
                    </a:solidFill>
                    <a:latin typeface="Cambria Math" panose="02040503050406030204" pitchFamily="18" charset="0"/>
                  </a:rPr>
                  <a:t>$(p)$</a:t>
                </a:r>
                <a:r>
                  <a:rPr sz="2400" b="0">
                    <a:solidFill>
                      <a:srgbClr val="111827"/>
                    </a:solidFill>
                    <a:latin typeface="Arial"/>
                  </a:rPr>
                  <a:t> has variance </a:t>
                </a:r>
                <a:r>
                  <a:rPr lang="en-IN" sz="2400">
                    <a:solidFill>
                      <a:srgbClr val="111827"/>
                    </a:solidFill>
                    <a:latin typeface="Cambria Math" panose="02040503050406030204" pitchFamily="18" charset="0"/>
                  </a:rPr>
                  <a:t>$p(1-p)$</a:t>
                </a:r>
                <a:r>
                  <a:rPr sz="2400" b="0">
                    <a:solidFill>
                      <a:srgbClr val="111827"/>
                    </a:solidFill>
                    <a:latin typeface="Arial"/>
                  </a:rPr>
                  <a:t>; a product of two independent fair bits is Bernoulli</a:t>
                </a:r>
                <a:r>
                  <a:rPr lang="en-IN" sz="2400">
                    <a:solidFill>
                      <a:srgbClr val="111827"/>
                    </a:solidFill>
                    <a:latin typeface="Cambria Math" panose="02040503050406030204" pitchFamily="18" charset="0"/>
                  </a:rPr>
                  <a:t>$\left(\frac14\right)$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264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of the following probability distribution of a random variable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then the variance of the distribution is:</a:t>
                </a:r>
                <a:endParaRPr sz="2400">
                  <a:solidFill>
                    <a:srgbClr val="111827"/>
                  </a:solidFill>
                </a:endParaRPr>
              </a:p>
              <a:p>
                <a:pPr algn="l">
                  <a:spcAft>
                    <a:spcPts val="500"/>
                  </a:spcAft>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oMath>
                </a14:m>
                <a:r>
                  <a:rPr sz="2400" b="0">
                    <a:solidFill>
                      <a:srgbClr val="111827"/>
                    </a:solidFill>
                    <a:latin typeface="Arial"/>
                  </a:rPr>
                  <a:t> respectively.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173</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566</m:t>
                        </m:r>
                      </m:num>
                      <m:den>
                        <m:r>
                          <a:rPr lang="en-IN" sz="2400" i="1">
                            <a:solidFill>
                              <a:srgbClr val="111827"/>
                            </a:solidFill>
                            <a:latin typeface="Cambria Math" panose="02040503050406030204" pitchFamily="18" charset="0"/>
                          </a:rPr>
                          <m:t>81</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581</m:t>
                        </m:r>
                      </m:num>
                      <m:den>
                        <m:r>
                          <a:rPr lang="en-IN" sz="2400" i="1">
                            <a:solidFill>
                              <a:srgbClr val="111827"/>
                            </a:solidFill>
                            <a:latin typeface="Cambria Math" panose="02040503050406030204" pitchFamily="18" charset="0"/>
                          </a:rPr>
                          <m:t>81</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151</m:t>
                        </m:r>
                      </m:num>
                      <m:den>
                        <m:r>
                          <a:rPr lang="en-IN" sz="2400" i="1">
                            <a:solidFill>
                              <a:srgbClr val="111827"/>
                            </a:solidFill>
                            <a:latin typeface="Cambria Math" panose="02040503050406030204" pitchFamily="18" charset="0"/>
                          </a:rPr>
                          <m:t>27</m:t>
                        </m:r>
                      </m:den>
                    </m:f>
                  </m:oMath>
                </a14:m>
                <a:endParaRPr sz="2400">
                  <a:solidFill>
                    <a:srgbClr val="111827"/>
                  </a:solidFill>
                </a:endParaRPr>
              </a:p>
            </p:txBody>
          </p:sp>
        </mc:Choice>
        <mc:Fallback>
          <p:sp>
            <p:nvSpPr>
              <p:cNvPr id="4" name="Rounded Rectangle 3"/>
              <p:cNvSpPr/>
              <p:nvPr/>
            </p:nvSpPr>
            <p:spPr>
              <a:xfrm>
                <a:off x="731520" y="1280160"/>
                <a:ext cx="10725912" cy="27264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mean of the following probability distribution of a random variable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$\frac{46}{9}$</a:t>
                </a:r>
                <a:r>
                  <a:rPr sz="2400" b="0">
                    <a:solidFill>
                      <a:srgbClr val="111827"/>
                    </a:solidFill>
                    <a:latin typeface="Arial"/>
                  </a:rPr>
                  <a:t>, then the variance of the distribution is:</a:t>
                </a:r>
                <a:endParaRPr sz="2400">
                  <a:solidFill>
                    <a:srgbClr val="111827"/>
                  </a:solidFill>
                </a:endParaRPr>
              </a:p>
              <a:p>
                <a:pPr algn="l">
                  <a:spcAft>
                    <a:spcPts val="500"/>
                  </a:spcAft>
                  <a:defRPr sz="2400">
                    <a:solidFill>
                      <a:srgbClr val="111827"/>
                    </a:solidFill>
                  </a:defRPr>
                </a:pP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$0,\ 2,\ 4,\ 6,\ 8$</a:t>
                </a:r>
                <a:r>
                  <a:rPr sz="2400" b="0">
                    <a:solidFill>
                      <a:srgbClr val="111827"/>
                    </a:solidFill>
                    <a:latin typeface="Arial"/>
                  </a:rPr>
                  <a:t> with </a:t>
                </a:r>
                <a:r>
                  <a:rPr lang="en-IN" sz="2400">
                    <a:solidFill>
                      <a:srgbClr val="111827"/>
                    </a:solidFill>
                    <a:latin typeface="Cambria Math" panose="02040503050406030204" pitchFamily="18" charset="0"/>
                  </a:rPr>
                  <a:t>$P(X)$</a:t>
                </a:r>
                <a:r>
                  <a:rPr sz="2400" b="0">
                    <a:solidFill>
                      <a:srgbClr val="111827"/>
                    </a:solidFill>
                    <a:latin typeface="Arial"/>
                  </a:rPr>
                  <a:t>: </a:t>
                </a:r>
                <a:r>
                  <a:rPr lang="en-IN" sz="2400">
                    <a:solidFill>
                      <a:srgbClr val="111827"/>
                    </a:solidFill>
                    <a:latin typeface="Cambria Math" panose="02040503050406030204" pitchFamily="18" charset="0"/>
                  </a:rPr>
                  <a:t>$a,\ 2a,\ a+b,\ 2b,\ 3b$</a:t>
                </a:r>
                <a:r>
                  <a:rPr sz="2400" b="0">
                    <a:solidFill>
                      <a:srgbClr val="111827"/>
                    </a:solidFill>
                    <a:latin typeface="Arial"/>
                  </a:rPr>
                  <a:t> respectively.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$\frac{173}{27}$</a:t>
                </a:r>
                <a:r>
                  <a:rPr sz="2400" b="0">
                    <a:solidFill>
                      <a:srgbClr val="111827"/>
                    </a:solidFill>
                    <a:latin typeface="Arial"/>
                  </a:rPr>
                  <a:t>   (B) </a:t>
                </a:r>
                <a:r>
                  <a:rPr lang="en-IN" sz="2400">
                    <a:solidFill>
                      <a:srgbClr val="111827"/>
                    </a:solidFill>
                    <a:latin typeface="Cambria Math" panose="02040503050406030204" pitchFamily="18" charset="0"/>
                  </a:rPr>
                  <a:t>$\frac{566}{81}$</a:t>
                </a:r>
                <a:r>
                  <a:rPr sz="2400" b="0">
                    <a:solidFill>
                      <a:srgbClr val="111827"/>
                    </a:solidFill>
                    <a:latin typeface="Arial"/>
                  </a:rPr>
                  <a:t>   (C) </a:t>
                </a:r>
                <a:r>
                  <a:rPr lang="en-IN" sz="2400">
                    <a:solidFill>
                      <a:srgbClr val="111827"/>
                    </a:solidFill>
                    <a:latin typeface="Cambria Math" panose="02040503050406030204" pitchFamily="18" charset="0"/>
                  </a:rPr>
                  <a:t>$\frac{581}{81}$</a:t>
                </a:r>
                <a:r>
                  <a:rPr sz="2400" b="0">
                    <a:solidFill>
                      <a:srgbClr val="111827"/>
                    </a:solidFill>
                    <a:latin typeface="Arial"/>
                  </a:rPr>
                  <a:t>   (D) </a:t>
                </a:r>
                <a:r>
                  <a:rPr lang="en-IN" sz="2400">
                    <a:solidFill>
                      <a:srgbClr val="111827"/>
                    </a:solidFill>
                    <a:latin typeface="Cambria Math" panose="02040503050406030204" pitchFamily="18" charset="0"/>
                  </a:rPr>
                  <a:t>$\frac{151}{27}$</a:t>
                </a:r>
                <a:endParaRPr sz="2400">
                  <a:solidFill>
                    <a:srgbClr val="111827"/>
                  </a:solidFill>
                </a:endParaRPr>
              </a:p>
            </p:txBody>
          </p:sp>
        </mc:Fallback>
      </mc:AlternateContent>
      <p:sp>
        <p:nvSpPr>
          <p:cNvPr id="5" name="Rectangle 4"/>
          <p:cNvSpPr/>
          <p:nvPr/>
        </p:nvSpPr>
        <p:spPr>
          <a:xfrm>
            <a:off x="731520" y="42351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variance of a random variable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Two equations,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the given mean, fix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 then variance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𝑝</m:t>
                        </m:r>
                      </m:e>
                      <m:sub>
                        <m:r>
                          <a:rPr lang="en-IN" sz="2400" i="1">
                            <a:solidFill>
                              <a:srgbClr val="78350F"/>
                            </a:solidFill>
                            <a:latin typeface="Cambria Math" panose="02040503050406030204" pitchFamily="18" charset="0"/>
                          </a:rPr>
                          <m:t>𝑖</m:t>
                        </m:r>
                      </m:sub>
                    </m:sSub>
                    <m:sSubSup>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sSup>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𝑥</m:t>
                            </m:r>
                          </m:e>
                        </m:acc>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Two equations, </a:t>
                </a:r>
                <a:r>
                  <a:rPr lang="en-IN" sz="2400">
                    <a:solidFill>
                      <a:srgbClr val="78350F"/>
                    </a:solidFill>
                    <a:latin typeface="Cambria Math" panose="02040503050406030204" pitchFamily="18" charset="0"/>
                  </a:rPr>
                  <a:t>$\sum P=1$</a:t>
                </a:r>
                <a:r>
                  <a:rPr sz="2400" b="0">
                    <a:solidFill>
                      <a:srgbClr val="78350F"/>
                    </a:solidFill>
                    <a:latin typeface="Arial"/>
                  </a:rPr>
                  <a:t> and the given mean, fix </a:t>
                </a:r>
                <a:r>
                  <a:rPr lang="en-IN" sz="2400">
                    <a:solidFill>
                      <a:srgbClr val="78350F"/>
                    </a:solidFill>
                    <a:latin typeface="Cambria Math" panose="02040503050406030204" pitchFamily="18" charset="0"/>
                  </a:rPr>
                  <a:t>$a$</a:t>
                </a:r>
                <a:r>
                  <a:rPr sz="2400" b="0">
                    <a:solidFill>
                      <a:srgbClr val="78350F"/>
                    </a:solidFill>
                    <a:latin typeface="Arial"/>
                  </a:rPr>
                  <a:t> and </a:t>
                </a:r>
                <a:r>
                  <a:rPr lang="en-IN" sz="2400">
                    <a:solidFill>
                      <a:srgbClr val="78350F"/>
                    </a:solidFill>
                    <a:latin typeface="Cambria Math" panose="02040503050406030204" pitchFamily="18" charset="0"/>
                  </a:rPr>
                  <a:t>$b$</a:t>
                </a:r>
                <a:r>
                  <a:rPr sz="2400" b="0">
                    <a:solidFill>
                      <a:srgbClr val="78350F"/>
                    </a:solidFill>
                    <a:latin typeface="Arial"/>
                  </a:rPr>
                  <a:t>; then variance </a:t>
                </a:r>
                <a:r>
                  <a:rPr lang="en-IN" sz="2400">
                    <a:solidFill>
                      <a:srgbClr val="78350F"/>
                    </a:solidFill>
                    <a:latin typeface="Cambria Math" panose="02040503050406030204" pitchFamily="18" charset="0"/>
                  </a:rPr>
                  <a:t>$=\sum p_ix_i^2-\bar x^2$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(1) from (2): </a:t>
                </a:r>
                <a14:m>
                  <m:oMath xmlns:m="http://schemas.openxmlformats.org/officeDocument/2006/math">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and then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9</m:t>
                            </m:r>
                          </m:den>
                        </m:f>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P_i=1\Rightarrow a+2a+(a+b)+2b+3b=1$</a:t>
                </a:r>
                <a:r>
                  <a:rPr sz="2400" b="0">
                    <a:solidFill>
                      <a:srgbClr val="111827"/>
                    </a:solidFill>
                    <a:latin typeface="Arial"/>
                  </a:rPr>
                  <a:t>, i.e. </a:t>
                </a:r>
                <a:r>
                  <a:rPr lang="en-IN" sz="2400">
                    <a:solidFill>
                      <a:srgbClr val="111827"/>
                    </a:solidFill>
                    <a:latin typeface="Cambria Math" panose="02040503050406030204" pitchFamily="18" charset="0"/>
                  </a:rPr>
                  <a:t>$4a+6b=1$</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$\sum p_ix_i=4a+4(a+b)+12b+24b=8a+40b=\frac{46}{9}$</a:t>
                </a:r>
                <a:r>
                  <a:rPr sz="2400" b="0">
                    <a:solidFill>
                      <a:srgbClr val="111827"/>
                    </a:solidFill>
                    <a:latin typeface="Arial"/>
                  </a:rPr>
                  <a:t>, i.e. </a:t>
                </a:r>
                <a:r>
                  <a:rPr lang="en-IN" sz="2400">
                    <a:solidFill>
                      <a:srgbClr val="111827"/>
                    </a:solidFill>
                    <a:latin typeface="Cambria Math" panose="02040503050406030204" pitchFamily="18" charset="0"/>
                  </a:rPr>
                  <a:t>$4a+20b=\frac{23}{9}$</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(1) from (2): </a:t>
                </a:r>
                <a:r>
                  <a:rPr lang="en-IN" sz="2400">
                    <a:solidFill>
                      <a:srgbClr val="111827"/>
                    </a:solidFill>
                    <a:latin typeface="Cambria Math" panose="02040503050406030204" pitchFamily="18" charset="0"/>
                  </a:rPr>
                  <a:t>$14b=\frac{23}{9}-1=\frac{14}{9}$</a:t>
                </a:r>
                <a:r>
                  <a:rPr sz="2400" b="0">
                    <a:solidFill>
                      <a:srgbClr val="111827"/>
                    </a:solidFill>
                    <a:latin typeface="Arial"/>
                  </a:rPr>
                  <a:t>, so </a:t>
                </a:r>
                <a:r>
                  <a:rPr lang="en-IN" sz="2400">
                    <a:solidFill>
                      <a:srgbClr val="111827"/>
                    </a:solidFill>
                    <a:latin typeface="Cambria Math" panose="02040503050406030204" pitchFamily="18" charset="0"/>
                  </a:rPr>
                  <a:t>$b=\frac19$</a:t>
                </a:r>
                <a:r>
                  <a:rPr sz="2400" b="0">
                    <a:solidFill>
                      <a:srgbClr val="111827"/>
                    </a:solidFill>
                    <a:latin typeface="Arial"/>
                  </a:rPr>
                  <a:t>, and then </a:t>
                </a:r>
                <a:r>
                  <a:rPr lang="en-IN" sz="2400">
                    <a:solidFill>
                      <a:srgbClr val="111827"/>
                    </a:solidFill>
                    <a:latin typeface="Cambria Math" panose="02040503050406030204" pitchFamily="18" charset="0"/>
                  </a:rPr>
                  <a:t>$a=\frac{1-\frac69}{4}=\frac1{12}$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𝑖</m:t>
                        </m:r>
                      </m:sub>
                    </m:sSub>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280</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𝑖</m:t>
                        </m:r>
                      </m:sub>
                    </m:sSub>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280</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298</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298</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9</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2682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2116</m:t>
                        </m:r>
                      </m:num>
                      <m:den>
                        <m:r>
                          <a:rPr lang="en-IN" sz="2400" i="1">
                            <a:solidFill>
                              <a:srgbClr val="111827"/>
                            </a:solidFill>
                            <a:latin typeface="Cambria Math" panose="02040503050406030204" pitchFamily="18" charset="0"/>
                          </a:rPr>
                          <m:t>81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566</m:t>
                        </m:r>
                      </m:num>
                      <m:den>
                        <m:r>
                          <a:rPr lang="en-IN" sz="2400" i="1">
                            <a:solidFill>
                              <a:srgbClr val="111827"/>
                            </a:solidFill>
                            <a:latin typeface="Cambria Math" panose="02040503050406030204" pitchFamily="18" charset="0"/>
                          </a:rPr>
                          <m:t>81</m:t>
                        </m:r>
                      </m:den>
                    </m:f>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p_ix_i^2=2a\cdot4+(a+b)\cdot16+2b\cdot36+3b\cdot64=24a+280b$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p_ix_i^2=24\cdot\frac1{12}+280\cdot\frac19=2+\frac{280}{9}=\frac{298}{9}$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$=\frac{298}{9}-\left(\frac{46}{9}\right)^2=\frac{2682-2116}{81}=\frac{566}{81}$</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566</m:t>
                        </m:r>
                      </m:num>
                      <m:den>
                        <m:r>
                          <a:rPr lang="en-IN" sz="2800" i="1">
                            <a:solidFill>
                              <a:srgbClr val="15803D"/>
                            </a:solidFill>
                            <a:latin typeface="Cambria Math" panose="02040503050406030204" pitchFamily="18" charset="0"/>
                          </a:rPr>
                          <m:t>81</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$\frac{566}{81}$</a:t>
                </a:r>
                <a:endParaRPr sz="2800">
                  <a:solidFill>
                    <a:srgbClr val="15803D"/>
                  </a:solidFill>
                </a:endParaRPr>
              </a:p>
            </p:txBody>
          </p:sp>
        </mc:Fallback>
      </mc:AlternateContent>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𝑌</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𝑋</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smaller numbers, and </a:t>
                </a:r>
                <a14:m>
                  <m:oMath xmlns:m="http://schemas.openxmlformats.org/officeDocument/2006/math">
                    <m:r>
                      <m:rPr>
                        <m:sty m:val="p"/>
                      </m:rPr>
                      <a:rPr lang="en-IN" sz="2400">
                        <a:solidFill>
                          <a:srgbClr val="78350F"/>
                        </a:solidFill>
                        <a:latin typeface="Cambria Math" panose="02040503050406030204" pitchFamily="18" charset="0"/>
                      </a:rPr>
                      <m:t>V</m:t>
                    </m:r>
                    <m:r>
                      <m:rPr>
                        <m:sty m:val="p"/>
                      </m:rPr>
                      <a:rPr lang="en-IN" sz="2400">
                        <a:solidFill>
                          <a:srgbClr val="78350F"/>
                        </a:solidFill>
                        <a:latin typeface="Cambria Math" panose="02040503050406030204" pitchFamily="18" charset="0"/>
                      </a:rPr>
                      <m:t>a</m:t>
                    </m:r>
                    <m:r>
                      <m:rPr>
                        <m:sty m:val="p"/>
                      </m:rPr>
                      <a:rPr lang="en-IN" sz="2400">
                        <a:solidFill>
                          <a:srgbClr val="78350F"/>
                        </a:solidFill>
                        <a:latin typeface="Cambria Math" panose="02040503050406030204" pitchFamily="18" charset="0"/>
                      </a:rPr>
                      <m:t>r</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V</m:t>
                    </m:r>
                    <m:r>
                      <m:rPr>
                        <m:sty m:val="p"/>
                      </m:rPr>
                      <a:rPr lang="en-IN" sz="2400">
                        <a:solidFill>
                          <a:srgbClr val="78350F"/>
                        </a:solidFill>
                        <a:latin typeface="Cambria Math" panose="02040503050406030204" pitchFamily="18" charset="0"/>
                      </a:rPr>
                      <m:t>a</m:t>
                    </m:r>
                    <m:r>
                      <m:rPr>
                        <m:sty m:val="p"/>
                      </m:rPr>
                      <a:rPr lang="en-IN" sz="2400">
                        <a:solidFill>
                          <a:srgbClr val="78350F"/>
                        </a:solidFill>
                        <a:latin typeface="Cambria Math" panose="02040503050406030204" pitchFamily="18" charset="0"/>
                      </a:rPr>
                      <m:t>r</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𝑌</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r>
                  <a:rPr lang="en-IN" sz="2400">
                    <a:solidFill>
                      <a:srgbClr val="78350F"/>
                    </a:solidFill>
                    <a:latin typeface="Cambria Math" panose="02040503050406030204" pitchFamily="18" charset="0"/>
                  </a:rPr>
                  <a:t>$Y=\frac X2\in\{0,1,2,3,4\}$</a:t>
                </a:r>
                <a:r>
                  <a:rPr sz="2400" b="0">
                    <a:solidFill>
                      <a:srgbClr val="78350F"/>
                    </a:solidFill>
                    <a:latin typeface="Arial"/>
                  </a:rPr>
                  <a:t>: smaller numbers, and </a:t>
                </a:r>
                <a:r>
                  <a:rPr lang="en-IN" sz="2400">
                    <a:solidFill>
                      <a:srgbClr val="78350F"/>
                    </a:solidFill>
                    <a:latin typeface="Cambria Math" panose="02040503050406030204" pitchFamily="18" charset="0"/>
                  </a:rPr>
                  <a:t>$\mathrm{Var}(X)=4\,\mathrm{Var}(Y)$</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𝑋</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has the same probabilities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$Y=\frac X2$</a:t>
                </a:r>
                <a:r>
                  <a:rPr sz="2400" b="0">
                    <a:solidFill>
                      <a:srgbClr val="111827"/>
                    </a:solidFill>
                    <a:latin typeface="Arial"/>
                  </a:rPr>
                  <a:t> has the same probabilities </a:t>
                </a:r>
                <a:r>
                  <a:rPr lang="en-IN" sz="2400">
                    <a:solidFill>
                      <a:srgbClr val="111827"/>
                    </a:solidFill>
                    <a:latin typeface="Cambria Math" panose="02040503050406030204" pitchFamily="18" charset="0"/>
                  </a:rPr>
                  <a:t>$a,2a,a+b,2b,3b$</a:t>
                </a:r>
                <a:r>
                  <a:rPr sz="2400" b="0">
                    <a:solidFill>
                      <a:srgbClr val="111827"/>
                    </a:solidFill>
                    <a:latin typeface="Arial"/>
                  </a:rPr>
                  <a:t> on </a:t>
                </a:r>
                <a:r>
                  <a:rPr lang="en-IN" sz="2400">
                    <a:solidFill>
                      <a:srgbClr val="111827"/>
                    </a:solidFill>
                    <a:latin typeface="Cambria Math" panose="02040503050406030204" pitchFamily="18" charset="0"/>
                  </a:rPr>
                  <a:t>$0,1,2,3,4$</a:t>
                </a:r>
                <a:r>
                  <a:rPr sz="2400" b="0">
                    <a:solidFill>
                      <a:srgbClr val="111827"/>
                    </a:solidFill>
                    <a:latin typeface="Arial"/>
                  </a:rPr>
                  <a:t>; </a:t>
                </a:r>
                <a:r>
                  <a:rPr lang="en-IN" sz="2400">
                    <a:solidFill>
                      <a:srgbClr val="111827"/>
                    </a:solidFill>
                    <a:latin typeface="Cambria Math" panose="02040503050406030204" pitchFamily="18" charset="0"/>
                  </a:rPr>
                  <a:t>$E(Y)=\frac{23}{9}$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$4a+6b=1$</a:t>
                </a:r>
                <a:r>
                  <a:rPr sz="2400" b="0">
                    <a:solidFill>
                      <a:srgbClr val="111827"/>
                    </a:solidFill>
                    <a:latin typeface="Arial"/>
                  </a:rPr>
                  <a:t> and </a:t>
                </a:r>
                <a:r>
                  <a:rPr lang="en-IN" sz="2400">
                    <a:solidFill>
                      <a:srgbClr val="111827"/>
                    </a:solidFill>
                    <a:latin typeface="Cambria Math" panose="02040503050406030204" pitchFamily="18" charset="0"/>
                  </a:rPr>
                  <a:t>$4a+20b=\frac{23}9$</a:t>
                </a:r>
                <a:r>
                  <a:rPr sz="2400" b="0">
                    <a:solidFill>
                      <a:srgbClr val="111827"/>
                    </a:solidFill>
                    <a:latin typeface="Arial"/>
                  </a:rPr>
                  <a:t> we get </a:t>
                </a:r>
                <a:r>
                  <a:rPr lang="en-IN" sz="2400">
                    <a:solidFill>
                      <a:srgbClr val="111827"/>
                    </a:solidFill>
                    <a:latin typeface="Cambria Math" panose="02040503050406030204" pitchFamily="18" charset="0"/>
                  </a:rPr>
                  <a:t>$b=\frac19,\ a=\frac1{12}$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$E(Y^2)=1\cdot2a+4(a+b)+9\cdot2b+16\cdot3b=6a+70b$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70</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149</m:t>
                        </m:r>
                      </m:num>
                      <m:den>
                        <m:r>
                          <a:rPr lang="en-IN" sz="2400" i="1">
                            <a:solidFill>
                              <a:srgbClr val="111827"/>
                            </a:solidFill>
                            <a:latin typeface="Cambria Math" panose="02040503050406030204" pitchFamily="18" charset="0"/>
                          </a:rPr>
                          <m:t>18</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149</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9</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1341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1058</m:t>
                        </m:r>
                      </m:num>
                      <m:den>
                        <m:r>
                          <a:rPr lang="en-IN" sz="2400" i="1">
                            <a:solidFill>
                              <a:srgbClr val="111827"/>
                            </a:solidFill>
                            <a:latin typeface="Cambria Math" panose="02040503050406030204" pitchFamily="18" charset="0"/>
                          </a:rPr>
                          <m:t>162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283</m:t>
                        </m:r>
                      </m:num>
                      <m:den>
                        <m:r>
                          <a:rPr lang="en-IN" sz="2400" i="1">
                            <a:solidFill>
                              <a:srgbClr val="111827"/>
                            </a:solidFill>
                            <a:latin typeface="Cambria Math" panose="02040503050406030204" pitchFamily="18" charset="0"/>
                          </a:rPr>
                          <m:t>162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283</m:t>
                        </m:r>
                      </m:num>
                      <m:den>
                        <m:r>
                          <a:rPr lang="en-IN" sz="2400" i="1">
                            <a:solidFill>
                              <a:srgbClr val="111827"/>
                            </a:solidFill>
                            <a:latin typeface="Cambria Math" panose="02040503050406030204" pitchFamily="18" charset="0"/>
                          </a:rPr>
                          <m:t>162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566</m:t>
                        </m:r>
                      </m:num>
                      <m:den>
                        <m:r>
                          <a:rPr lang="en-IN" sz="2400" i="1">
                            <a:solidFill>
                              <a:srgbClr val="111827"/>
                            </a:solidFill>
                            <a:latin typeface="Cambria Math" panose="02040503050406030204" pitchFamily="18" charset="0"/>
                          </a:rPr>
                          <m:t>81</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$6a+70b=\frac12+\frac{70}9=\frac{149}{18}$</a:t>
                </a:r>
                <a:r>
                  <a:rPr sz="2400" b="0">
                    <a:solidFill>
                      <a:srgbClr val="111827"/>
                    </a:solidFill>
                    <a:latin typeface="Arial"/>
                  </a:rPr>
                  <a:t>, so </a:t>
                </a:r>
                <a:r>
                  <a:rPr lang="en-IN" sz="2400">
                    <a:solidFill>
                      <a:srgbClr val="111827"/>
                    </a:solidFill>
                    <a:latin typeface="Cambria Math" panose="02040503050406030204" pitchFamily="18" charset="0"/>
                  </a:rPr>
                  <a:t>$\mathrm{Var}(Y)=\frac{149}{18}-\left(\frac{23}{9}\right)^2=\frac{1341-1058}{162}=\frac{283}{162}$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$\mathrm{Var}(X)=4\cdot\frac{283}{162}=\frac{566}{81}$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566</m:t>
                        </m:r>
                      </m:num>
                      <m:den>
                        <m:r>
                          <a:rPr lang="en-IN" sz="2800" i="1">
                            <a:solidFill>
                              <a:srgbClr val="15803D"/>
                            </a:solidFill>
                            <a:latin typeface="Cambria Math" panose="02040503050406030204" pitchFamily="18" charset="0"/>
                          </a:rPr>
                          <m:t>81</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$\frac{566}{81}$</a:t>
                </a:r>
                <a:endParaRPr sz="2800">
                  <a:solidFill>
                    <a:srgbClr val="15803D"/>
                  </a:solidFill>
                </a:endParaRPr>
              </a:p>
            </p:txBody>
          </p:sp>
        </mc:Fallback>
      </mc:AlternateContent>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V</m:t>
                    </m:r>
                    <m:r>
                      <m:rPr>
                        <m:sty m:val="p"/>
                      </m:rPr>
                      <a:rPr lang="en-IN" sz="2400">
                        <a:solidFill>
                          <a:srgbClr val="111827"/>
                        </a:solidFill>
                        <a:latin typeface="Cambria Math" panose="02040503050406030204" pitchFamily="18" charset="0"/>
                      </a:rPr>
                      <m:t>a</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rescale a distribution on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before computing.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table with unknown parameters: use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given mean as two linear equations; verify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afterwards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both positive).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by recomputing the mean: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$\mathrm{Var}(cX)=c^2\mathrm{Var}(X)$</a:t>
                </a:r>
                <a:r>
                  <a:rPr sz="2400" b="0">
                    <a:solidFill>
                      <a:srgbClr val="111827"/>
                    </a:solidFill>
                    <a:latin typeface="Arial"/>
                  </a:rPr>
                  <a:t> and </a:t>
                </a:r>
                <a:r>
                  <a:rPr lang="en-IN" sz="2400">
                    <a:solidFill>
                      <a:srgbClr val="111827"/>
                    </a:solidFill>
                    <a:latin typeface="Cambria Math" panose="02040503050406030204" pitchFamily="18" charset="0"/>
                  </a:rPr>
                  <a:t>$\mathrm{Var}(X+d)=\mathrm{Var}(X)$</a:t>
                </a:r>
                <a:r>
                  <a:rPr sz="2400" b="0">
                    <a:solidFill>
                      <a:srgbClr val="111827"/>
                    </a:solidFill>
                    <a:latin typeface="Arial"/>
                  </a:rPr>
                  <a:t>: rescale a distribution on </a:t>
                </a:r>
                <a:r>
                  <a:rPr lang="en-IN" sz="2400">
                    <a:solidFill>
                      <a:srgbClr val="111827"/>
                    </a:solidFill>
                    <a:latin typeface="Cambria Math" panose="02040503050406030204" pitchFamily="18" charset="0"/>
                  </a:rPr>
                  <a:t>$0,2,4,\dots$</a:t>
                </a:r>
                <a:r>
                  <a:rPr sz="2400" b="0">
                    <a:solidFill>
                      <a:srgbClr val="111827"/>
                    </a:solidFill>
                    <a:latin typeface="Arial"/>
                  </a:rPr>
                  <a:t> to </a:t>
                </a:r>
                <a:r>
                  <a:rPr lang="en-IN" sz="2400">
                    <a:solidFill>
                      <a:srgbClr val="111827"/>
                    </a:solidFill>
                    <a:latin typeface="Cambria Math" panose="02040503050406030204" pitchFamily="18" charset="0"/>
                  </a:rPr>
                  <a:t>$0,1,2,\dots$</a:t>
                </a:r>
                <a:r>
                  <a:rPr sz="2400" b="0">
                    <a:solidFill>
                      <a:srgbClr val="111827"/>
                    </a:solidFill>
                    <a:latin typeface="Arial"/>
                  </a:rPr>
                  <a:t> before computing.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table with unknown parameters: use </a:t>
                </a:r>
                <a:r>
                  <a:rPr lang="en-IN" sz="2400">
                    <a:solidFill>
                      <a:srgbClr val="111827"/>
                    </a:solidFill>
                    <a:latin typeface="Cambria Math" panose="02040503050406030204" pitchFamily="18" charset="0"/>
                  </a:rPr>
                  <a:t>$\sum p=1$</a:t>
                </a:r>
                <a:r>
                  <a:rPr sz="2400" b="0">
                    <a:solidFill>
                      <a:srgbClr val="111827"/>
                    </a:solidFill>
                    <a:latin typeface="Arial"/>
                  </a:rPr>
                  <a:t> and the given mean as two linear equations; verify </a:t>
                </a:r>
                <a:r>
                  <a:rPr lang="en-IN" sz="2400">
                    <a:solidFill>
                      <a:srgbClr val="111827"/>
                    </a:solidFill>
                    <a:latin typeface="Cambria Math" panose="02040503050406030204" pitchFamily="18" charset="0"/>
                  </a:rPr>
                  <a:t>$p_i\ge0$</a:t>
                </a:r>
                <a:r>
                  <a:rPr sz="2400" b="0">
                    <a:solidFill>
                      <a:srgbClr val="111827"/>
                    </a:solidFill>
                    <a:latin typeface="Arial"/>
                  </a:rPr>
                  <a:t> afterwards (</a:t>
                </a:r>
                <a:r>
                  <a:rPr lang="en-IN" sz="2400">
                    <a:solidFill>
                      <a:srgbClr val="111827"/>
                    </a:solidFill>
                    <a:latin typeface="Cambria Math" panose="02040503050406030204" pitchFamily="18" charset="0"/>
                  </a:rPr>
                  <a:t>$a=\frac1{12},b=\frac19$</a:t>
                </a:r>
                <a:r>
                  <a:rPr sz="2400" b="0">
                    <a:solidFill>
                      <a:srgbClr val="111827"/>
                    </a:solidFill>
                    <a:latin typeface="Arial"/>
                  </a:rPr>
                  <a:t> both positive).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by recomputing the mean: </a:t>
                </a:r>
                <a:r>
                  <a:rPr lang="en-IN" sz="2400">
                    <a:solidFill>
                      <a:srgbClr val="111827"/>
                    </a:solidFill>
                    <a:latin typeface="Cambria Math" panose="02040503050406030204" pitchFamily="18" charset="0"/>
                  </a:rPr>
                  <a:t>$8a+40b=\frac23+\frac{40}9=\frac{46}9$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1.70</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6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14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0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0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20 questions, 80 marks.  Index = Σ(marks × level) ÷ Σ marks, on the 0-5 scale.</a:t>
            </a:r>
            <a:endParaRPr sz="2400">
              <a:solidFill>
                <a:srgbClr val="111827"/>
              </a:solidFill>
            </a:endParaRP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QB 01 Algebra 11</a:t>
                      </a:r>
                    </a:p>
                  </a:txBody>
                  <a:tcPr anchor="ctr" marL="137160" marR="137160">
                    <a:solidFill>
                      <a:srgbClr val="E0ECFF"/>
                    </a:solidFill>
                  </a:tcPr>
                </a:tc>
                <a:tc>
                  <a:txBody>
                    <a:bodyPr/>
                    <a:lstStyle/>
                    <a:p>
                      <a:pPr algn="ctr"/>
                      <a:r>
                        <a:rPr sz="2600" b="1">
                          <a:solidFill>
                            <a:srgbClr val="0B1F3A"/>
                          </a:solidFill>
                          <a:latin typeface="Arial"/>
                        </a:rPr>
                        <a:t>1.70</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